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comments/modernComment_13E_C4AD3767.xml" ContentType="application/vnd.ms-powerpoint.comments+xml"/>
  <Override PartName="/ppt/comments/modernComment_10C_42F4997E.xml" ContentType="application/vnd.ms-powerpoint.comments+xml"/>
  <Override PartName="/ppt/comments/modernComment_10D_4598D58B.xml" ContentType="application/vnd.ms-powerpoint.comments+xml"/>
  <Override PartName="/ppt/comments/modernComment_186_39B43AD2.xml" ContentType="application/vnd.ms-powerpoint.comments+xml"/>
  <Override PartName="/ppt/notesSlides/notesSlide1.xml" ContentType="application/vnd.openxmlformats-officedocument.presentationml.notesSlide+xml"/>
  <Override PartName="/ppt/comments/modernComment_160_8DEB3796.xml" ContentType="application/vnd.ms-powerpoint.comments+xml"/>
  <Override PartName="/ppt/comments/modernComment_1D6_8EE70F4E.xml" ContentType="application/vnd.ms-powerpoint.comments+xml"/>
  <Override PartName="/ppt/comments/modernComment_161_E754106.xml" ContentType="application/vnd.ms-powerpoint.comments+xml"/>
  <Override PartName="/ppt/comments/modernComment_1D7_8DF06954.xml" ContentType="application/vnd.ms-powerpoint.comments+xml"/>
  <Override PartName="/ppt/comments/modernComment_1C4_27C778E0.xml" ContentType="application/vnd.ms-powerpoint.comments+xml"/>
  <Override PartName="/ppt/comments/modernComment_11A_A21E868.xml" ContentType="application/vnd.ms-powerpoint.comments+xml"/>
  <Override PartName="/ppt/comments/modernComment_11B_C162B4CB.xml" ContentType="application/vnd.ms-powerpoint.comments+xml"/>
  <Override PartName="/ppt/comments/modernComment_11F_680D73F.xml" ContentType="application/vnd.ms-powerpoint.comments+xml"/>
  <Override PartName="/ppt/notesSlides/notesSlide2.xml" ContentType="application/vnd.openxmlformats-officedocument.presentationml.notesSlide+xml"/>
  <Override PartName="/ppt/notesSlides/notesSlide3.xml" ContentType="application/vnd.openxmlformats-officedocument.presentationml.notesSlide+xml"/>
  <Override PartName="/ppt/comments/modernComment_1A4_74C1FCDD.xml" ContentType="application/vnd.ms-powerpoint.comment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omments/modernComment_127_734A67A9.xml" ContentType="application/vnd.ms-powerpoint.comments+xml"/>
  <Override PartName="/ppt/notesSlides/notesSlide7.xml" ContentType="application/vnd.openxmlformats-officedocument.presentationml.notesSlide+xml"/>
  <Override PartName="/ppt/comments/modernComment_13C_B6A54D25.xml" ContentType="application/vnd.ms-powerpoint.comments+xml"/>
  <Override PartName="/ppt/comments/modernComment_12A_9CDD1145.xml" ContentType="application/vnd.ms-powerpoint.comments+xml"/>
  <Override PartName="/ppt/comments/modernComment_14E_DE111233.xml" ContentType="application/vnd.ms-powerpoint.comments+xml"/>
  <Override PartName="/ppt/comments/modernComment_14F_78CF064.xml" ContentType="application/vnd.ms-powerpoint.comments+xml"/>
  <Override PartName="/ppt/comments/modernComment_15B_23499294.xml" ContentType="application/vnd.ms-powerpoint.comments+xml"/>
  <Override PartName="/ppt/comments/modernComment_158_E25EF15E.xml" ContentType="application/vnd.ms-powerpoint.comment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45"/>
  </p:notesMasterIdLst>
  <p:sldIdLst>
    <p:sldId id="264" r:id="rId5"/>
    <p:sldId id="266" r:id="rId6"/>
    <p:sldId id="265" r:id="rId7"/>
    <p:sldId id="320" r:id="rId8"/>
    <p:sldId id="318" r:id="rId9"/>
    <p:sldId id="267" r:id="rId10"/>
    <p:sldId id="268" r:id="rId11"/>
    <p:sldId id="269" r:id="rId12"/>
    <p:sldId id="415" r:id="rId13"/>
    <p:sldId id="382" r:id="rId14"/>
    <p:sldId id="390" r:id="rId15"/>
    <p:sldId id="395" r:id="rId16"/>
    <p:sldId id="391" r:id="rId17"/>
    <p:sldId id="392" r:id="rId18"/>
    <p:sldId id="321" r:id="rId19"/>
    <p:sldId id="322" r:id="rId20"/>
    <p:sldId id="323" r:id="rId21"/>
    <p:sldId id="414" r:id="rId22"/>
    <p:sldId id="274" r:id="rId23"/>
    <p:sldId id="378" r:id="rId24"/>
    <p:sldId id="447" r:id="rId25"/>
    <p:sldId id="398" r:id="rId26"/>
    <p:sldId id="469" r:id="rId27"/>
    <p:sldId id="364" r:id="rId28"/>
    <p:sldId id="448" r:id="rId29"/>
    <p:sldId id="365" r:id="rId30"/>
    <p:sldId id="379" r:id="rId31"/>
    <p:sldId id="370" r:id="rId32"/>
    <p:sldId id="449" r:id="rId33"/>
    <p:sldId id="399" r:id="rId34"/>
    <p:sldId id="400" r:id="rId35"/>
    <p:sldId id="401" r:id="rId36"/>
    <p:sldId id="403" r:id="rId37"/>
    <p:sldId id="444" r:id="rId38"/>
    <p:sldId id="445" r:id="rId39"/>
    <p:sldId id="372" r:id="rId40"/>
    <p:sldId id="371" r:id="rId41"/>
    <p:sldId id="404" r:id="rId42"/>
    <p:sldId id="351" r:id="rId43"/>
    <p:sldId id="276" r:id="rId44"/>
    <p:sldId id="406" r:id="rId45"/>
    <p:sldId id="450" r:id="rId46"/>
    <p:sldId id="405" r:id="rId47"/>
    <p:sldId id="409" r:id="rId48"/>
    <p:sldId id="352" r:id="rId49"/>
    <p:sldId id="470" r:id="rId50"/>
    <p:sldId id="451" r:id="rId51"/>
    <p:sldId id="413" r:id="rId52"/>
    <p:sldId id="412" r:id="rId53"/>
    <p:sldId id="410" r:id="rId54"/>
    <p:sldId id="353" r:id="rId55"/>
    <p:sldId id="471" r:id="rId56"/>
    <p:sldId id="408" r:id="rId57"/>
    <p:sldId id="452" r:id="rId58"/>
    <p:sldId id="407" r:id="rId59"/>
    <p:sldId id="411" r:id="rId60"/>
    <p:sldId id="279" r:id="rId61"/>
    <p:sldId id="282" r:id="rId62"/>
    <p:sldId id="283" r:id="rId63"/>
    <p:sldId id="284" r:id="rId64"/>
    <p:sldId id="286" r:id="rId65"/>
    <p:sldId id="285" r:id="rId66"/>
    <p:sldId id="287" r:id="rId67"/>
    <p:sldId id="288" r:id="rId68"/>
    <p:sldId id="289" r:id="rId69"/>
    <p:sldId id="290" r:id="rId70"/>
    <p:sldId id="291" r:id="rId71"/>
    <p:sldId id="317" r:id="rId72"/>
    <p:sldId id="292" r:id="rId73"/>
    <p:sldId id="325" r:id="rId74"/>
    <p:sldId id="293" r:id="rId75"/>
    <p:sldId id="319" r:id="rId76"/>
    <p:sldId id="420" r:id="rId77"/>
    <p:sldId id="416" r:id="rId78"/>
    <p:sldId id="417" r:id="rId79"/>
    <p:sldId id="419" r:id="rId80"/>
    <p:sldId id="294" r:id="rId81"/>
    <p:sldId id="295" r:id="rId82"/>
    <p:sldId id="296" r:id="rId83"/>
    <p:sldId id="326" r:id="rId84"/>
    <p:sldId id="327" r:id="rId85"/>
    <p:sldId id="328" r:id="rId86"/>
    <p:sldId id="316" r:id="rId87"/>
    <p:sldId id="297" r:id="rId88"/>
    <p:sldId id="329" r:id="rId89"/>
    <p:sldId id="332" r:id="rId90"/>
    <p:sldId id="330" r:id="rId91"/>
    <p:sldId id="331" r:id="rId92"/>
    <p:sldId id="298" r:id="rId93"/>
    <p:sldId id="299" r:id="rId94"/>
    <p:sldId id="301" r:id="rId95"/>
    <p:sldId id="453" r:id="rId96"/>
    <p:sldId id="457" r:id="rId97"/>
    <p:sldId id="431" r:id="rId98"/>
    <p:sldId id="459" r:id="rId99"/>
    <p:sldId id="423" r:id="rId100"/>
    <p:sldId id="458" r:id="rId101"/>
    <p:sldId id="422" r:id="rId102"/>
    <p:sldId id="421" r:id="rId103"/>
    <p:sldId id="354" r:id="rId104"/>
    <p:sldId id="454" r:id="rId105"/>
    <p:sldId id="460" r:id="rId106"/>
    <p:sldId id="432" r:id="rId107"/>
    <p:sldId id="461" r:id="rId108"/>
    <p:sldId id="426" r:id="rId109"/>
    <p:sldId id="462" r:id="rId110"/>
    <p:sldId id="425" r:id="rId111"/>
    <p:sldId id="430" r:id="rId112"/>
    <p:sldId id="435" r:id="rId113"/>
    <p:sldId id="455" r:id="rId114"/>
    <p:sldId id="463" r:id="rId115"/>
    <p:sldId id="434" r:id="rId116"/>
    <p:sldId id="465" r:id="rId117"/>
    <p:sldId id="429" r:id="rId118"/>
    <p:sldId id="464" r:id="rId119"/>
    <p:sldId id="428" r:id="rId120"/>
    <p:sldId id="436" r:id="rId121"/>
    <p:sldId id="443" r:id="rId122"/>
    <p:sldId id="456" r:id="rId123"/>
    <p:sldId id="467" r:id="rId124"/>
    <p:sldId id="442" r:id="rId125"/>
    <p:sldId id="468" r:id="rId126"/>
    <p:sldId id="439" r:id="rId127"/>
    <p:sldId id="466" r:id="rId128"/>
    <p:sldId id="438" r:id="rId129"/>
    <p:sldId id="437" r:id="rId130"/>
    <p:sldId id="333" r:id="rId131"/>
    <p:sldId id="334" r:id="rId132"/>
    <p:sldId id="335" r:id="rId133"/>
    <p:sldId id="336" r:id="rId134"/>
    <p:sldId id="337" r:id="rId135"/>
    <p:sldId id="338" r:id="rId136"/>
    <p:sldId id="339" r:id="rId137"/>
    <p:sldId id="340" r:id="rId138"/>
    <p:sldId id="341" r:id="rId139"/>
    <p:sldId id="342" r:id="rId140"/>
    <p:sldId id="343" r:id="rId141"/>
    <p:sldId id="347" r:id="rId142"/>
    <p:sldId id="344" r:id="rId143"/>
    <p:sldId id="345" r:id="rId14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05"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9CE6DA1-5603-A163-D825-40CE4672BE6B}" name="Borislava Stoikova" initials="BS" userId="S::borislava.stoikova@easycredit.bg::cebf6b0d-0bd8-4282-bf55-a3db852fdc9d" providerId="AD"/>
  <p188:author id="{0C1DCDB4-8A79-A5BB-E1F2-7D1C717CEBCD}" name="ninachupetlovska" initials="ni" userId="S::ninachupetlovska_gmail.com#ext#@businesseffectbg130.onmicrosoft.com::d91112ff-79d9-4777-99f9-ae4cb6af54c5" providerId="AD"/>
  <p188:author id="{693104D8-A417-0142-464E-1B4A922B139C}" name="Nina Stankova" initials="NS" userId="S::nina.chupetlovska_immersica.io#ext#@businesseffectbg130.onmicrosoft.com::3b567046-be95-42aa-9fb3-8b73c03d243d"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A5A5A5"/>
    <a:srgbClr val="4472C4"/>
    <a:srgbClr val="3E3E3E"/>
    <a:srgbClr val="F5F5F5"/>
    <a:srgbClr val="042459"/>
    <a:srgbClr val="2F5597"/>
    <a:srgbClr val="04204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3AEA0A0-CF8D-4CBB-80DD-6D28D5CE768F}" v="1" dt="2026-06-02T11:37:48.449"/>
  </p1510:revLst>
</p1510:revInfo>
</file>

<file path=ppt/tableStyles.xml><?xml version="1.0" encoding="utf-8"?>
<a:tblStyleLst xmlns:a="http://schemas.openxmlformats.org/drawingml/2006/main" def="{5C22544A-7EE6-4342-B048-85BDC9FD1C3A}">
  <a:tblStyle styleId="{5C22544A-7EE6-4342-B048-85BDC9FD1C3A}" styleName="Среден стил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Среден стил 2 - Акцент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8D230F3-CF80-4859-8CE7-A43EE81993B5}" styleName="Светъл стил 1 - Акцент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16D9F66E-5EB9-4882-86FB-DCBF35E3C3E4}" styleName="Среден стил 4 - Акцент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BDBED569-4797-4DF1-A0F4-6AAB3CD982D8}" styleName="Светъл стил 3 - Акцент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7" d="100"/>
          <a:sy n="77" d="100"/>
        </p:scale>
        <p:origin x="72" y="82"/>
      </p:cViewPr>
      <p:guideLst>
        <p:guide orient="horz" pos="2205"/>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3.xml"/><Relationship Id="rId21" Type="http://schemas.openxmlformats.org/officeDocument/2006/relationships/slide" Target="slides/slide17.xml"/><Relationship Id="rId42" Type="http://schemas.openxmlformats.org/officeDocument/2006/relationships/slide" Target="slides/slide38.xml"/><Relationship Id="rId63" Type="http://schemas.openxmlformats.org/officeDocument/2006/relationships/slide" Target="slides/slide59.xml"/><Relationship Id="rId84" Type="http://schemas.openxmlformats.org/officeDocument/2006/relationships/slide" Target="slides/slide80.xml"/><Relationship Id="rId138" Type="http://schemas.openxmlformats.org/officeDocument/2006/relationships/slide" Target="slides/slide134.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53" Type="http://schemas.openxmlformats.org/officeDocument/2006/relationships/slide" Target="slides/slide49.xml"/><Relationship Id="rId74" Type="http://schemas.openxmlformats.org/officeDocument/2006/relationships/slide" Target="slides/slide70.xml"/><Relationship Id="rId128" Type="http://schemas.openxmlformats.org/officeDocument/2006/relationships/slide" Target="slides/slide124.xml"/><Relationship Id="rId149" Type="http://schemas.openxmlformats.org/officeDocument/2006/relationships/tableStyles" Target="tableStyles.xml"/><Relationship Id="rId5" Type="http://schemas.openxmlformats.org/officeDocument/2006/relationships/slide" Target="slides/slide1.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113" Type="http://schemas.openxmlformats.org/officeDocument/2006/relationships/slide" Target="slides/slide109.xml"/><Relationship Id="rId118" Type="http://schemas.openxmlformats.org/officeDocument/2006/relationships/slide" Target="slides/slide114.xml"/><Relationship Id="rId134" Type="http://schemas.openxmlformats.org/officeDocument/2006/relationships/slide" Target="slides/slide130.xml"/><Relationship Id="rId139" Type="http://schemas.openxmlformats.org/officeDocument/2006/relationships/slide" Target="slides/slide135.xml"/><Relationship Id="rId80" Type="http://schemas.openxmlformats.org/officeDocument/2006/relationships/slide" Target="slides/slide76.xml"/><Relationship Id="rId85" Type="http://schemas.openxmlformats.org/officeDocument/2006/relationships/slide" Target="slides/slide81.xml"/><Relationship Id="rId150" Type="http://schemas.microsoft.com/office/2016/11/relationships/changesInfo" Target="changesInfos/changesInfo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08" Type="http://schemas.openxmlformats.org/officeDocument/2006/relationships/slide" Target="slides/slide104.xml"/><Relationship Id="rId124" Type="http://schemas.openxmlformats.org/officeDocument/2006/relationships/slide" Target="slides/slide120.xml"/><Relationship Id="rId129" Type="http://schemas.openxmlformats.org/officeDocument/2006/relationships/slide" Target="slides/slide125.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40" Type="http://schemas.openxmlformats.org/officeDocument/2006/relationships/slide" Target="slides/slide136.xml"/><Relationship Id="rId145"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23" Type="http://schemas.openxmlformats.org/officeDocument/2006/relationships/slide" Target="slides/slide19.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119" Type="http://schemas.openxmlformats.org/officeDocument/2006/relationships/slide" Target="slides/slide115.xml"/><Relationship Id="rId44" Type="http://schemas.openxmlformats.org/officeDocument/2006/relationships/slide" Target="slides/slide40.xml"/><Relationship Id="rId60" Type="http://schemas.openxmlformats.org/officeDocument/2006/relationships/slide" Target="slides/slide56.xml"/><Relationship Id="rId65" Type="http://schemas.openxmlformats.org/officeDocument/2006/relationships/slide" Target="slides/slide61.xml"/><Relationship Id="rId81" Type="http://schemas.openxmlformats.org/officeDocument/2006/relationships/slide" Target="slides/slide77.xml"/><Relationship Id="rId86" Type="http://schemas.openxmlformats.org/officeDocument/2006/relationships/slide" Target="slides/slide82.xml"/><Relationship Id="rId130" Type="http://schemas.openxmlformats.org/officeDocument/2006/relationships/slide" Target="slides/slide126.xml"/><Relationship Id="rId135" Type="http://schemas.openxmlformats.org/officeDocument/2006/relationships/slide" Target="slides/slide131.xml"/><Relationship Id="rId151" Type="http://schemas.microsoft.com/office/2015/10/relationships/revisionInfo" Target="revisionInfo.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120" Type="http://schemas.openxmlformats.org/officeDocument/2006/relationships/slide" Target="slides/slide116.xml"/><Relationship Id="rId125" Type="http://schemas.openxmlformats.org/officeDocument/2006/relationships/slide" Target="slides/slide121.xml"/><Relationship Id="rId141" Type="http://schemas.openxmlformats.org/officeDocument/2006/relationships/slide" Target="slides/slide137.xml"/><Relationship Id="rId146" Type="http://schemas.openxmlformats.org/officeDocument/2006/relationships/presProps" Target="presProps.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15" Type="http://schemas.openxmlformats.org/officeDocument/2006/relationships/slide" Target="slides/slide111.xml"/><Relationship Id="rId131" Type="http://schemas.openxmlformats.org/officeDocument/2006/relationships/slide" Target="slides/slide127.xml"/><Relationship Id="rId136" Type="http://schemas.openxmlformats.org/officeDocument/2006/relationships/slide" Target="slides/slide132.xml"/><Relationship Id="rId61" Type="http://schemas.openxmlformats.org/officeDocument/2006/relationships/slide" Target="slides/slide57.xml"/><Relationship Id="rId82" Type="http://schemas.openxmlformats.org/officeDocument/2006/relationships/slide" Target="slides/slide78.xml"/><Relationship Id="rId152" Type="http://schemas.microsoft.com/office/2018/10/relationships/authors" Target="authors.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126" Type="http://schemas.openxmlformats.org/officeDocument/2006/relationships/slide" Target="slides/slide122.xml"/><Relationship Id="rId147"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121" Type="http://schemas.openxmlformats.org/officeDocument/2006/relationships/slide" Target="slides/slide117.xml"/><Relationship Id="rId142" Type="http://schemas.openxmlformats.org/officeDocument/2006/relationships/slide" Target="slides/slide138.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slide" Target="slides/slide112.xml"/><Relationship Id="rId137" Type="http://schemas.openxmlformats.org/officeDocument/2006/relationships/slide" Target="slides/slide133.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slide" Target="slides/slide107.xml"/><Relationship Id="rId132" Type="http://schemas.openxmlformats.org/officeDocument/2006/relationships/slide" Target="slides/slide128.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 Id="rId127" Type="http://schemas.openxmlformats.org/officeDocument/2006/relationships/slide" Target="slides/slide123.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78" Type="http://schemas.openxmlformats.org/officeDocument/2006/relationships/slide" Target="slides/slide74.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slide" Target="slides/slide118.xml"/><Relationship Id="rId143" Type="http://schemas.openxmlformats.org/officeDocument/2006/relationships/slide" Target="slides/slide139.xml"/><Relationship Id="rId148"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26" Type="http://schemas.openxmlformats.org/officeDocument/2006/relationships/slide" Target="slides/slide22.xml"/><Relationship Id="rId47" Type="http://schemas.openxmlformats.org/officeDocument/2006/relationships/slide" Target="slides/slide43.xml"/><Relationship Id="rId68" Type="http://schemas.openxmlformats.org/officeDocument/2006/relationships/slide" Target="slides/slide64.xml"/><Relationship Id="rId89" Type="http://schemas.openxmlformats.org/officeDocument/2006/relationships/slide" Target="slides/slide85.xml"/><Relationship Id="rId112" Type="http://schemas.openxmlformats.org/officeDocument/2006/relationships/slide" Target="slides/slide108.xml"/><Relationship Id="rId133" Type="http://schemas.openxmlformats.org/officeDocument/2006/relationships/slide" Target="slides/slide129.xml"/><Relationship Id="rId16" Type="http://schemas.openxmlformats.org/officeDocument/2006/relationships/slide" Target="slides/slide12.xml"/><Relationship Id="rId37" Type="http://schemas.openxmlformats.org/officeDocument/2006/relationships/slide" Target="slides/slide33.xml"/><Relationship Id="rId58" Type="http://schemas.openxmlformats.org/officeDocument/2006/relationships/slide" Target="slides/slide54.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slide" Target="slides/slide119.xml"/><Relationship Id="rId144" Type="http://schemas.openxmlformats.org/officeDocument/2006/relationships/slide" Target="slides/slide140.xml"/><Relationship Id="rId90" Type="http://schemas.openxmlformats.org/officeDocument/2006/relationships/slide" Target="slides/slide8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nachupetlovska" userId="S::ninachupetlovska_gmail.com#ext#@businesseffectbg130.onmicrosoft.com::d91112ff-79d9-4777-99f9-ae4cb6af54c5" providerId="AD" clId="Web-{606D0D01-272E-7396-8AC8-25CCC28D3871}"/>
    <pc:docChg chg="modSld">
      <pc:chgData name="ninachupetlovska" userId="S::ninachupetlovska_gmail.com#ext#@businesseffectbg130.onmicrosoft.com::d91112ff-79d9-4777-99f9-ae4cb6af54c5" providerId="AD" clId="Web-{606D0D01-272E-7396-8AC8-25CCC28D3871}" dt="2026-05-20T08:28:01.080" v="3"/>
      <pc:docMkLst>
        <pc:docMk/>
      </pc:docMkLst>
      <pc:sldChg chg="modSp">
        <pc:chgData name="ninachupetlovska" userId="S::ninachupetlovska_gmail.com#ext#@businesseffectbg130.onmicrosoft.com::d91112ff-79d9-4777-99f9-ae4cb6af54c5" providerId="AD" clId="Web-{606D0D01-272E-7396-8AC8-25CCC28D3871}" dt="2026-05-20T08:28:01.080" v="3"/>
        <pc:sldMkLst>
          <pc:docMk/>
          <pc:sldMk cId="968112850" sldId="390"/>
        </pc:sldMkLst>
        <pc:graphicFrameChg chg="mod modGraphic">
          <ac:chgData name="ninachupetlovska" userId="S::ninachupetlovska_gmail.com#ext#@businesseffectbg130.onmicrosoft.com::d91112ff-79d9-4777-99f9-ae4cb6af54c5" providerId="AD" clId="Web-{606D0D01-272E-7396-8AC8-25CCC28D3871}" dt="2026-05-20T08:28:01.080" v="3"/>
          <ac:graphicFrameMkLst>
            <pc:docMk/>
            <pc:sldMk cId="968112850" sldId="390"/>
            <ac:graphicFrameMk id="7" creationId="{0209200C-3726-24CC-CA6B-8871EC8CB8B8}"/>
          </ac:graphicFrameMkLst>
        </pc:graphicFrameChg>
      </pc:sldChg>
    </pc:docChg>
  </pc:docChgLst>
  <pc:docChgLst>
    <pc:chgData name="ninachupetlovska" userId="S::ninachupetlovska_gmail.com#ext#@businesseffectbg130.onmicrosoft.com::d91112ff-79d9-4777-99f9-ae4cb6af54c5" providerId="AD" clId="Web-{CBB4E396-D110-678B-5BDC-1A81A1EAC382}"/>
    <pc:docChg chg="mod">
      <pc:chgData name="ninachupetlovska" userId="S::ninachupetlovska_gmail.com#ext#@businesseffectbg130.onmicrosoft.com::d91112ff-79d9-4777-99f9-ae4cb6af54c5" providerId="AD" clId="Web-{CBB4E396-D110-678B-5BDC-1A81A1EAC382}" dt="2026-05-27T06:50:40.817" v="0"/>
      <pc:docMkLst>
        <pc:docMk/>
      </pc:docMkLst>
    </pc:docChg>
  </pc:docChgLst>
  <pc:docChgLst>
    <pc:chgData name="Stefi" userId="S::perryskg_gmail.com#ext#@businesseffectbg130.onmicrosoft.com::77b977dc-0798-40f9-8a40-b88d04d1897f" providerId="AD" clId="Web-{43AEA0A0-CF8D-4CBB-80DD-6D28D5CE768F}"/>
    <pc:docChg chg="modSld">
      <pc:chgData name="Stefi" userId="S::perryskg_gmail.com#ext#@businesseffectbg130.onmicrosoft.com::77b977dc-0798-40f9-8a40-b88d04d1897f" providerId="AD" clId="Web-{43AEA0A0-CF8D-4CBB-80DD-6D28D5CE768F}" dt="2026-06-02T11:37:48.449" v="0"/>
      <pc:docMkLst>
        <pc:docMk/>
      </pc:docMkLst>
      <pc:sldChg chg="modSp">
        <pc:chgData name="Stefi" userId="S::perryskg_gmail.com#ext#@businesseffectbg130.onmicrosoft.com::77b977dc-0798-40f9-8a40-b88d04d1897f" providerId="AD" clId="Web-{43AEA0A0-CF8D-4CBB-80DD-6D28D5CE768F}" dt="2026-06-02T11:37:48.449" v="0"/>
        <pc:sldMkLst>
          <pc:docMk/>
          <pc:sldMk cId="191132677" sldId="382"/>
        </pc:sldMkLst>
        <pc:spChg chg="mod">
          <ac:chgData name="Stefi" userId="S::perryskg_gmail.com#ext#@businesseffectbg130.onmicrosoft.com::77b977dc-0798-40f9-8a40-b88d04d1897f" providerId="AD" clId="Web-{43AEA0A0-CF8D-4CBB-80DD-6D28D5CE768F}" dt="2026-06-02T11:37:48.449" v="0"/>
          <ac:spMkLst>
            <pc:docMk/>
            <pc:sldMk cId="191132677" sldId="382"/>
            <ac:spMk id="35" creationId="{BC410C68-0D71-A578-CFCA-52B3FA2258CF}"/>
          </ac:spMkLst>
        </pc:spChg>
      </pc:sldChg>
    </pc:docChg>
  </pc:docChgLst>
</pc:chgInfo>
</file>

<file path=ppt/comments/modernComment_1A4_74C1FCDD.xml><?xml version="1.0" encoding="utf-8"?>
<p188:cmLst xmlns:a="http://schemas.openxmlformats.org/drawingml/2006/main" xmlns:r="http://schemas.openxmlformats.org/officeDocument/2006/relationships" xmlns:p188="http://schemas.microsoft.com/office/powerpoint/2018/8/main">
  <p188:cm id="{F3F50084-3EEF-498D-AF94-62D8B6A80AF1}" authorId="{A9CE6DA1-5603-A163-D825-40CE4672BE6B}" status="resolved" created="2026-05-15T12:23:12.937" complete="100000">
    <ac:deMkLst xmlns:ac="http://schemas.microsoft.com/office/drawing/2013/main/command">
      <pc:docMk xmlns:pc="http://schemas.microsoft.com/office/powerpoint/2013/main/command"/>
      <pc:sldMk xmlns:pc="http://schemas.microsoft.com/office/powerpoint/2013/main/command" cId="1958870237" sldId="420"/>
      <ac:spMk id="2" creationId="{BD114B6E-6EF1-BA34-599D-B482C55D201E}"/>
    </ac:deMkLst>
    <p188:txBody>
      <a:bodyPr/>
      <a:lstStyle/>
      <a:p>
        <a:r>
          <a:rPr lang="bg-BG"/>
          <a:t>Помислил ли съм за възможни възражения от страна на Клиента? - като булет</a:t>
        </a:r>
      </a:p>
    </p188:txBody>
  </p188:cm>
</p188:cmLst>
</file>

<file path=ppt/comments/modernComment_1C4_27C778E0.xml><?xml version="1.0" encoding="utf-8"?>
<p188:cmLst xmlns:a="http://schemas.openxmlformats.org/drawingml/2006/main" xmlns:r="http://schemas.openxmlformats.org/officeDocument/2006/relationships" xmlns:p188="http://schemas.microsoft.com/office/powerpoint/2018/8/main">
  <p188:cm id="{EA30041E-A4F0-44E8-9854-F9F22CFEFD63}" authorId="{A9CE6DA1-5603-A163-D825-40CE4672BE6B}" created="2026-05-15T12:01:10.522">
    <ac:deMkLst xmlns:ac="http://schemas.microsoft.com/office/drawing/2013/main/command">
      <pc:docMk xmlns:pc="http://schemas.microsoft.com/office/powerpoint/2013/main/command"/>
      <pc:sldMk xmlns:pc="http://schemas.microsoft.com/office/powerpoint/2013/main/command" cId="667384032" sldId="452"/>
      <ac:picMk id="2" creationId="{77658E78-9923-BC41-D37F-765D3778E0FC}"/>
    </ac:deMkLst>
    <p188:replyLst>
      <p188:reply id="{1F90D35B-E354-4B60-AEE2-6947A8F63389}" authorId="{0C1DCDB4-8A79-A5BB-E1F2-7D1C717CEBCD}" created="2026-05-27T06:54:33.410">
        <p188:txBody>
          <a:bodyPr/>
          <a:lstStyle/>
          <a:p>
            <a:r>
              <a:rPr lang="en-US"/>
              <a:t>Тази част се сменя всеки път спрямо конкретният сценарий. Тази визия е поставена, за да покаже примерна визия на това, как изглеждало.</a:t>
            </a:r>
          </a:p>
        </p188:txBody>
      </p188:reply>
    </p188:replyLst>
    <p188:txBody>
      <a:bodyPr/>
      <a:lstStyle/>
      <a:p>
        <a:r>
          <a:rPr lang="bg-BG"/>
          <a:t>Това ще се промени ли или винаги ще е едно и също?</a:t>
        </a:r>
      </a:p>
    </p188:txBody>
  </p188:cm>
</p188:cmLst>
</file>

<file path=ppt/comments/modernComment_1D6_8EE70F4E.xml><?xml version="1.0" encoding="utf-8"?>
<p188:cmLst xmlns:a="http://schemas.openxmlformats.org/drawingml/2006/main" xmlns:r="http://schemas.openxmlformats.org/officeDocument/2006/relationships" xmlns:p188="http://schemas.microsoft.com/office/powerpoint/2018/8/main">
  <p188:cm id="{404604B9-80CA-470A-896A-9A617143BE41}" authorId="{693104D8-A417-0142-464E-1B4A922B139C}" status="resolved" created="2026-04-08T08:11:16.047" complete="100000">
    <ac:deMkLst xmlns:ac="http://schemas.microsoft.com/office/drawing/2013/main/command">
      <pc:docMk xmlns:pc="http://schemas.microsoft.com/office/powerpoint/2013/main/command"/>
      <pc:sldMk xmlns:pc="http://schemas.microsoft.com/office/powerpoint/2013/main/command" cId="2397507406" sldId="470"/>
      <ac:spMk id="40" creationId="{E62CD558-61F5-79B8-1722-B558334C09AB}"/>
    </ac:deMkLst>
    <p188:replyLst>
      <p188:reply id="{ECFF0391-41E5-4AF1-8CB3-91733F30349F}" authorId="{A9CE6DA1-5603-A163-D825-40CE4672BE6B}" created="2026-05-18T13:23:57.876">
        <p188:txBody>
          <a:bodyPr/>
          <a:lstStyle/>
          <a:p>
            <a:r>
              <a:rPr lang="bg-BG"/>
              <a:t>-Добър ден, търся г-н/г-жа (две имена на клиента).
 -Да (на телефона, аз съм).
 -Здравейте г-н/г-жо (фамилия на клиента), обаждам се от Изи Кредит, във връзка със специално изготвено предложение за Вас. Предложението е валидно само за нашите пенсионери  . Удобно ли е да ми отделите една, две минути, за да Ви запозная? 
-Да (слушам Ви).
 (Представяне на предложнието)
 -Как Ви се струва моето предложение?</a:t>
            </a:r>
          </a:p>
        </p188:txBody>
      </p188:reply>
    </p188:replyLst>
    <p188:txBody>
      <a:bodyPr/>
      <a:lstStyle/>
      <a:p>
        <a:r>
          <a:rPr lang="en-US"/>
          <a:t>За тази част ще ни трябва потвърждение, дали това отваряне е ок за сценарии ,,Продукт Пенсионер'', оформени като разговор, както е във файла с дървото.</a:t>
        </a:r>
      </a:p>
    </p188:txBody>
  </p188:cm>
  <p188:cm id="{48C3AB31-7648-4750-ABD7-BC8E55BA8330}" authorId="{693104D8-A417-0142-464E-1B4A922B139C}" status="resolved" created="2026-04-08T08:18:40.777" complete="100000">
    <ac:deMkLst xmlns:ac="http://schemas.microsoft.com/office/drawing/2013/main/command">
      <pc:docMk xmlns:pc="http://schemas.microsoft.com/office/powerpoint/2013/main/command"/>
      <pc:sldMk xmlns:pc="http://schemas.microsoft.com/office/powerpoint/2013/main/command" cId="2397507406" sldId="470"/>
      <ac:spMk id="2" creationId="{6B8B64F0-DF31-E8B4-825E-C4DA13A6629D}"/>
    </ac:deMkLst>
    <p188:replyLst>
      <p188:reply id="{4B125998-DDBC-41C8-A9BA-5AE4073A7B2B}" authorId="{A9CE6DA1-5603-A163-D825-40CE4672BE6B}" created="2026-05-18T13:38:42.128">
        <p188:txBody>
          <a:bodyPr/>
          <a:lstStyle/>
          <a:p>
            <a:r>
              <a:rPr lang="bg-BG"/>
              <a:t>От файла Кампании продажби - Лист възражение-Трябва да говоря със семейството си</a:t>
            </a:r>
          </a:p>
        </p188:txBody>
      </p188:reply>
    </p188:replyLst>
    <p188:txBody>
      <a:bodyPr/>
      <a:lstStyle/>
      <a:p>
        <a:r>
          <a:rPr lang="en-US"/>
          <a:t>За тази част но е нужно да имаме подобно разписан разговор с реплики и възражение, както и възможните изходи от разговора, както и колко възможни сценарии има.</a:t>
        </a:r>
      </a:p>
    </p188:txBody>
  </p188:cm>
  <p188:cm id="{67E242D7-77C8-4A1E-9536-1D046F46F384}" authorId="{693104D8-A417-0142-464E-1B4A922B139C}" status="resolved" created="2026-04-08T08:24:58.157" complete="100000">
    <ac:deMkLst xmlns:ac="http://schemas.microsoft.com/office/drawing/2013/main/command">
      <pc:docMk xmlns:pc="http://schemas.microsoft.com/office/powerpoint/2013/main/command"/>
      <pc:sldMk xmlns:pc="http://schemas.microsoft.com/office/powerpoint/2013/main/command" cId="2381002646" sldId="352"/>
      <ac:spMk id="43" creationId="{17ADCD6A-471F-963F-2C3A-AEF882464180}"/>
    </ac:deMkLst>
    <p188:replyLst/>
    <p188:txBody>
      <a:bodyPr/>
      <a:lstStyle/>
      <a:p>
        <a:r>
          <a:rPr lang="en-US"/>
          <a:t>За тази част но е нужно да имаме подобно разписан разговор с реплики и възражение, както и възможните изходи от разговора, както и колко възможни сценарии има.</a:t>
        </a:r>
      </a:p>
    </p188:txBody>
  </p188:cm>
</p188:cmLst>
</file>

<file path=ppt/comments/modernComment_1D7_8DF06954.xml><?xml version="1.0" encoding="utf-8"?>
<p188:cmLst xmlns:a="http://schemas.openxmlformats.org/drawingml/2006/main" xmlns:r="http://schemas.openxmlformats.org/officeDocument/2006/relationships" xmlns:p188="http://schemas.microsoft.com/office/powerpoint/2018/8/main">
  <p188:cm id="{ADD6EBC5-61DA-42F3-8703-5776FEF251A2}" authorId="{693104D8-A417-0142-464E-1B4A922B139C}" status="resolved" created="2026-04-08T08:35:21.080" complete="100000">
    <ac:deMkLst xmlns:ac="http://schemas.microsoft.com/office/drawing/2013/main/command">
      <pc:docMk xmlns:pc="http://schemas.microsoft.com/office/powerpoint/2013/main/command"/>
      <pc:sldMk xmlns:pc="http://schemas.microsoft.com/office/powerpoint/2013/main/command" cId="2381343060" sldId="471"/>
      <ac:spMk id="19" creationId="{975F2210-911A-F68C-B127-FC7AD5B3F131}"/>
    </ac:deMkLst>
    <p188:replyLst>
      <p188:reply id="{456D19DC-18A0-48F6-B8AB-464BC9313005}" authorId="{A9CE6DA1-5603-A163-D825-40CE4672BE6B}" created="2026-05-18T13:40:24.839">
        <p188:txBody>
          <a:bodyPr/>
          <a:lstStyle/>
          <a:p>
            <a:r>
              <a:rPr lang="bg-BG"/>
              <a:t>Добър ден, търся г-н/г-жа (две имена на клиента).
 -Да (на телефона, аз съм).
 -Здравейте г-н/г-жо (фамилия на клиента), обаждам се от Изи Кредит. Имам Вашия телефон от /Име на наш клиент/  Изготвихме специално предложение за Вас. Удобно ли е да ми отделите една, две минути, за да Ви запозная? 
-Да (слушам Ви).
 (Представяне на предложнието)
 -Как Ви се струва моето предложение?</a:t>
            </a:r>
          </a:p>
        </p188:txBody>
      </p188:reply>
    </p188:replyLst>
    <p188:txBody>
      <a:bodyPr/>
      <a:lstStyle/>
      <a:p>
        <a:r>
          <a:rPr lang="en-US"/>
          <a:t>За тази част ще ни трябва потвърждение, дали това отваряне е ок за сценарии ,,Продукт Пенсионер'', оформени като разговор, както е във файла с дървото.</a:t>
        </a:r>
      </a:p>
    </p188:txBody>
  </p188:cm>
  <p188:cm id="{15080064-130A-4054-A644-F4E1466BE205}" authorId="{693104D8-A417-0142-464E-1B4A922B139C}" status="resolved" created="2026-04-08T08:35:42.471" complete="100000">
    <ac:deMkLst xmlns:ac="http://schemas.microsoft.com/office/drawing/2013/main/command">
      <pc:docMk xmlns:pc="http://schemas.microsoft.com/office/powerpoint/2013/main/command"/>
      <pc:sldMk xmlns:pc="http://schemas.microsoft.com/office/powerpoint/2013/main/command" cId="2381343060" sldId="471"/>
      <ac:spMk id="26" creationId="{FDC87991-6308-5A8A-DABE-0424F8653E65}"/>
    </ac:deMkLst>
    <p188:replyLst>
      <p188:reply id="{1FFC2E99-28D4-4D02-815E-449016236666}" authorId="{A9CE6DA1-5603-A163-D825-40CE4672BE6B}" created="2026-05-18T13:40:14.878">
        <p188:txBody>
          <a:bodyPr/>
          <a:lstStyle/>
          <a:p>
            <a:r>
              <a:rPr lang="bg-BG"/>
              <a:t>От файла Кампании продажби - Лист възражение-Нямам нужда</a:t>
            </a:r>
          </a:p>
        </p188:txBody>
      </p188:reply>
    </p188:replyLst>
    <p188:txBody>
      <a:bodyPr/>
      <a:lstStyle/>
      <a:p>
        <a:r>
          <a:rPr lang="en-US"/>
          <a:t>За тази част но е нужно да имаме подобно разписан разговор с реплики и възражение, както и възможните изходи от разговора, както и колко възможни сценарии има.</a:t>
        </a:r>
      </a:p>
    </p188:txBody>
  </p188:cm>
  <p188:cm id="{2B111B79-4695-4417-81C2-117328561DB4}" authorId="{693104D8-A417-0142-464E-1B4A922B139C}" status="resolved" created="2026-04-08T08:35:48.721" complete="100000">
    <ac:deMkLst xmlns:ac="http://schemas.microsoft.com/office/drawing/2013/main/command">
      <pc:docMk xmlns:pc="http://schemas.microsoft.com/office/powerpoint/2013/main/command"/>
      <pc:sldMk xmlns:pc="http://schemas.microsoft.com/office/powerpoint/2013/main/command" cId="2381343060" sldId="471"/>
      <ac:spMk id="21" creationId="{D4796AD3-9E6A-9B10-19D3-F04B5CFA2619}"/>
    </ac:deMkLst>
    <p188:replyLst>
      <p188:reply id="{11083ED3-3CB4-40D4-8AD9-DA24015A8D1B}" authorId="{A9CE6DA1-5603-A163-D825-40CE4672BE6B}" created="2026-05-18T13:41:31.961">
        <p188:txBody>
          <a:bodyPr/>
          <a:lstStyle/>
          <a:p>
            <a:r>
              <a:rPr lang="bg-BG"/>
              <a:t>От файла Кампании продажби - Лист възражение - Много са ви високи лихвите</a:t>
            </a:r>
          </a:p>
        </p188:txBody>
      </p188:reply>
    </p188:replyLst>
    <p188:txBody>
      <a:bodyPr/>
      <a:lstStyle/>
      <a:p>
        <a:r>
          <a:rPr lang="en-US"/>
          <a:t>За тази част но е нужно да имаме подобно разписан разговор с реплики и възражение, както и възможните изходи от разговора, както и колко възможни сценарии има.</a:t>
        </a:r>
      </a:p>
    </p188:txBody>
  </p188:cm>
</p188:cmLst>
</file>

<file path=ppt/comments/modernComment_10C_42F4997E.xml><?xml version="1.0" encoding="utf-8"?>
<p188:cmLst xmlns:a="http://schemas.openxmlformats.org/drawingml/2006/main" xmlns:r="http://schemas.openxmlformats.org/officeDocument/2006/relationships" xmlns:p188="http://schemas.microsoft.com/office/powerpoint/2018/8/main">
  <p188:cm id="{0C74E74F-4C52-492E-AB70-101B8C9F74DE}" authorId="{A9CE6DA1-5603-A163-D825-40CE4672BE6B}" status="resolved" created="2026-05-15T11:26:34.494" complete="100000">
    <ac:txMkLst xmlns:ac="http://schemas.microsoft.com/office/drawing/2013/main/command">
      <pc:docMk xmlns:pc="http://schemas.microsoft.com/office/powerpoint/2013/main/command"/>
      <pc:sldMk xmlns:pc="http://schemas.microsoft.com/office/powerpoint/2013/main/command" cId="1123326334" sldId="268"/>
      <ac:spMk id="11" creationId="{A3778F23-102F-D67F-0F52-0B088512A2DB}"/>
      <ac:txMk cp="133" len="1">
        <ac:context len="285" hash="1004192769"/>
      </ac:txMk>
    </ac:txMkLst>
    <p188:pos x="1020417" y="2216307"/>
    <p188:txBody>
      <a:bodyPr/>
      <a:lstStyle/>
      <a:p>
        <a:r>
          <a:rPr lang="bg-BG"/>
          <a:t>Вместо банка - Името на компанията</a:t>
        </a:r>
      </a:p>
    </p188:txBody>
  </p188:cm>
</p188:cmLst>
</file>

<file path=ppt/comments/modernComment_10D_4598D58B.xml><?xml version="1.0" encoding="utf-8"?>
<p188:cmLst xmlns:a="http://schemas.openxmlformats.org/drawingml/2006/main" xmlns:r="http://schemas.openxmlformats.org/officeDocument/2006/relationships" xmlns:p188="http://schemas.microsoft.com/office/powerpoint/2018/8/main">
  <p188:cm id="{5EF0E734-DA48-4E52-920A-4CFCCFF0B411}" authorId="{A9CE6DA1-5603-A163-D825-40CE4672BE6B}" created="2026-05-15T11:28:04.947">
    <pc:sldMkLst xmlns:pc="http://schemas.microsoft.com/office/powerpoint/2013/main/command">
      <pc:docMk/>
      <pc:sldMk cId="1167644043" sldId="269"/>
    </pc:sldMkLst>
    <p188:replyLst>
      <p188:reply id="{440825E4-A0AC-41AC-B340-6697F98A3360}" authorId="{0C1DCDB4-8A79-A5BB-E1F2-7D1C717CEBCD}" created="2026-05-27T06:50:40.817">
        <p188:txBody>
          <a:bodyPr/>
          <a:lstStyle/>
          <a:p>
            <a:r>
              <a:rPr lang="en-US"/>
              <a:t>Не, могат да бъдат разместени по ваша преценка. </a:t>
            </a:r>
          </a:p>
        </p188:txBody>
      </p188:reply>
    </p188:replyLst>
    <p188:txBody>
      <a:bodyPr/>
      <a:lstStyle/>
      <a:p>
        <a:r>
          <a:rPr lang="bg-BG"/>
          <a:t>Има ли значение как са подредени булетите?</a:t>
        </a:r>
      </a:p>
    </p188:txBody>
  </p188:cm>
</p188:cmLst>
</file>

<file path=ppt/comments/modernComment_11A_A21E868.xml><?xml version="1.0" encoding="utf-8"?>
<p188:cmLst xmlns:a="http://schemas.openxmlformats.org/drawingml/2006/main" xmlns:r="http://schemas.openxmlformats.org/officeDocument/2006/relationships" xmlns:p188="http://schemas.microsoft.com/office/powerpoint/2018/8/main">
  <p188:cm id="{1A8DA9AA-F807-45CF-980D-F9C9ACC69BCE}" authorId="{A9CE6DA1-5603-A163-D825-40CE4672BE6B}" status="resolved" created="2026-05-15T12:09:26.834" complete="100000">
    <ac:deMkLst xmlns:ac="http://schemas.microsoft.com/office/drawing/2013/main/command">
      <pc:docMk xmlns:pc="http://schemas.microsoft.com/office/powerpoint/2013/main/command"/>
      <pc:sldMk xmlns:pc="http://schemas.microsoft.com/office/powerpoint/2013/main/command" cId="169994344" sldId="282"/>
      <ac:spMk id="20" creationId="{5BC17B9A-A21D-8981-8FA2-97DB9DFD425D}"/>
    </ac:deMkLst>
    <p188:txBody>
      <a:bodyPr/>
      <a:lstStyle/>
      <a:p>
        <a:r>
          <a:rPr lang="bg-BG"/>
          <a:t>Това описание е за Аналитичен клиент</a:t>
        </a:r>
      </a:p>
    </p188:txBody>
  </p188:cm>
</p188:cmLst>
</file>

<file path=ppt/comments/modernComment_11B_C162B4CB.xml><?xml version="1.0" encoding="utf-8"?>
<p188:cmLst xmlns:a="http://schemas.openxmlformats.org/drawingml/2006/main" xmlns:r="http://schemas.openxmlformats.org/officeDocument/2006/relationships" xmlns:p188="http://schemas.microsoft.com/office/powerpoint/2018/8/main">
  <p188:cm id="{F96A0A5C-A990-46BA-BEFC-A8E69F3EE78D}" authorId="{A9CE6DA1-5603-A163-D825-40CE4672BE6B}" status="resolved" created="2026-05-15T12:06:36.628" complete="100000">
    <ac:deMkLst xmlns:ac="http://schemas.microsoft.com/office/drawing/2013/main/command">
      <pc:docMk xmlns:pc="http://schemas.microsoft.com/office/powerpoint/2013/main/command"/>
      <pc:sldMk xmlns:pc="http://schemas.microsoft.com/office/powerpoint/2013/main/command" cId="3244471499" sldId="283"/>
      <ac:spMk id="22" creationId="{1F7C0750-64F9-486A-A372-68C400335B69}"/>
    </ac:deMkLst>
    <p188:txBody>
      <a:bodyPr/>
      <a:lstStyle/>
      <a:p>
        <a:r>
          <a:rPr lang="bg-BG"/>
          <a:t>Описанието е за Агресивен клиент.</a:t>
        </a:r>
      </a:p>
    </p188:txBody>
  </p188:cm>
</p188:cmLst>
</file>

<file path=ppt/comments/modernComment_11F_680D73F.xml><?xml version="1.0" encoding="utf-8"?>
<p188:cmLst xmlns:a="http://schemas.openxmlformats.org/drawingml/2006/main" xmlns:r="http://schemas.openxmlformats.org/officeDocument/2006/relationships" xmlns:p188="http://schemas.microsoft.com/office/powerpoint/2018/8/main">
  <p188:cm id="{F6731B6A-8C40-43D1-923A-231FC768EE55}" authorId="{A9CE6DA1-5603-A163-D825-40CE4672BE6B}" status="resolved" created="2026-05-15T12:10:21.580" complete="100000">
    <ac:deMkLst xmlns:ac="http://schemas.microsoft.com/office/drawing/2013/main/command">
      <pc:docMk xmlns:pc="http://schemas.microsoft.com/office/powerpoint/2013/main/command"/>
      <pc:sldMk xmlns:pc="http://schemas.microsoft.com/office/powerpoint/2013/main/command" cId="109107007" sldId="287"/>
      <ac:spMk id="20" creationId="{BF7DBCBF-B1BA-0D84-1458-FB4C20A6DDF7}"/>
    </ac:deMkLst>
    <p188:txBody>
      <a:bodyPr/>
      <a:lstStyle/>
      <a:p>
        <a:r>
          <a:rPr lang="bg-BG"/>
          <a:t>Това не е за манипулативен клиент. По-долу имате за такъв тип.</a:t>
        </a:r>
      </a:p>
    </p188:txBody>
  </p188:cm>
</p188:cmLst>
</file>

<file path=ppt/comments/modernComment_12A_9CDD1145.xml><?xml version="1.0" encoding="utf-8"?>
<p188:cmLst xmlns:a="http://schemas.openxmlformats.org/drawingml/2006/main" xmlns:r="http://schemas.openxmlformats.org/officeDocument/2006/relationships" xmlns:p188="http://schemas.microsoft.com/office/powerpoint/2018/8/main">
  <p188:cm id="{00C61944-15D3-489E-8929-6BF1CDB34E92}" authorId="{A9CE6DA1-5603-A163-D825-40CE4672BE6B}" status="resolved" created="2026-05-15T12:45:24.993" complete="100000">
    <ac:deMkLst xmlns:ac="http://schemas.microsoft.com/office/drawing/2013/main/command">
      <pc:docMk xmlns:pc="http://schemas.microsoft.com/office/powerpoint/2013/main/command"/>
      <pc:sldMk xmlns:pc="http://schemas.microsoft.com/office/powerpoint/2013/main/command" cId="2631733573" sldId="298"/>
      <ac:spMk id="11" creationId="{32C7B0E5-4852-A4C9-0137-83CF78C1BCDB}"/>
    </ac:deMkLst>
    <p188:txBody>
      <a:bodyPr/>
      <a:lstStyle/>
      <a:p>
        <a:r>
          <a:rPr lang="bg-BG"/>
          <a:t>Оставяме визитка, ако вече не сме го направили.</a:t>
        </a:r>
      </a:p>
    </p188:txBody>
  </p188:cm>
</p188:cmLst>
</file>

<file path=ppt/comments/modernComment_13C_B6A54D25.xml><?xml version="1.0" encoding="utf-8"?>
<p188:cmLst xmlns:a="http://schemas.openxmlformats.org/drawingml/2006/main" xmlns:r="http://schemas.openxmlformats.org/officeDocument/2006/relationships" xmlns:p188="http://schemas.microsoft.com/office/powerpoint/2018/8/main">
  <p188:cm id="{A635B94D-CD14-4BAD-8A7D-39EA5F826B3A}" authorId="{A9CE6DA1-5603-A163-D825-40CE4672BE6B}" status="resolved" created="2026-05-15T12:38:49.554" complete="100000">
    <ac:deMkLst xmlns:ac="http://schemas.microsoft.com/office/drawing/2013/main/command">
      <pc:docMk xmlns:pc="http://schemas.microsoft.com/office/powerpoint/2013/main/command"/>
      <pc:sldMk xmlns:pc="http://schemas.microsoft.com/office/powerpoint/2013/main/command" cId="3064286501" sldId="316"/>
      <ac:spMk id="20" creationId="{2DA05113-AC96-C070-6C79-786649F18079}"/>
    </ac:deMkLst>
    <p188:txBody>
      <a:bodyPr/>
      <a:lstStyle/>
      <a:p>
        <a:r>
          <a:rPr lang="bg-BG"/>
          <a:t>Да променим малко примера. Нещо като: Предлагам за обмисилим добре възможните варианти и да съобразим сумата и срока на кредита с вас, за да не изпитвате финансов дискомфорт.</a:t>
        </a:r>
      </a:p>
    </p188:txBody>
  </p188:cm>
  <p188:cm id="{AC528539-62A3-49F7-8360-7F083F5C2171}" authorId="{A9CE6DA1-5603-A163-D825-40CE4672BE6B}" status="resolved" created="2026-05-15T12:42:21.821" complete="100000">
    <ac:deMkLst xmlns:ac="http://schemas.microsoft.com/office/drawing/2013/main/command">
      <pc:docMk xmlns:pc="http://schemas.microsoft.com/office/powerpoint/2013/main/command"/>
      <pc:sldMk xmlns:pc="http://schemas.microsoft.com/office/powerpoint/2013/main/command" cId="3064286501" sldId="316"/>
      <ac:spMk id="20" creationId="{2DA05113-AC96-C070-6C79-786649F18079}"/>
    </ac:deMkLst>
    <p188:txBody>
      <a:bodyPr/>
      <a:lstStyle/>
      <a:p>
        <a:r>
          <a:rPr lang="bg-BG"/>
          <a:t>Примера :За разлика от обикновените потребителски кредити, ние можем да предложим изключително гъвкаво плащане, съобразено с доходите в домакинството и датите на получаване на средствата, вашето лично време.
</a:t>
        </a:r>
      </a:p>
    </p188:txBody>
  </p188:cm>
</p188:cmLst>
</file>

<file path=ppt/comments/modernComment_13E_C4AD3767.xml><?xml version="1.0" encoding="utf-8"?>
<p188:cmLst xmlns:a="http://schemas.openxmlformats.org/drawingml/2006/main" xmlns:r="http://schemas.openxmlformats.org/officeDocument/2006/relationships" xmlns:p188="http://schemas.microsoft.com/office/powerpoint/2018/8/main">
  <p188:cm id="{325C6287-D418-4FEF-BD66-ECD47AE109E8}" authorId="{A9CE6DA1-5603-A163-D825-40CE4672BE6B}" status="resolved" created="2026-05-15T11:18:45.680" complete="100000">
    <ac:txMkLst xmlns:ac="http://schemas.microsoft.com/office/drawing/2013/main/command">
      <pc:docMk xmlns:pc="http://schemas.microsoft.com/office/powerpoint/2013/main/command"/>
      <pc:sldMk xmlns:pc="http://schemas.microsoft.com/office/powerpoint/2013/main/command" cId="3299686247" sldId="318"/>
      <ac:spMk id="3" creationId="{00167B3E-5EE3-F7D4-7E53-5C4A7646EDA7}"/>
      <ac:txMk cp="26" len="69">
        <ac:context len="873" hash="3004205364"/>
      </ac:txMk>
    </ac:txMkLst>
    <p188:pos x="6243376" y="501835"/>
    <p188:txBody>
      <a:bodyPr/>
      <a:lstStyle/>
      <a:p>
        <a:r>
          <a:rPr lang="bg-BG"/>
          <a:t>Провери с кого говориш, какъв е поводът и каква е целта на разговора. Помисли за възможните възражения.</a:t>
        </a:r>
      </a:p>
    </p188:txBody>
  </p188:cm>
  <p188:cm id="{6F5379FC-3808-4791-A883-8156C4D5021B}" authorId="{A9CE6DA1-5603-A163-D825-40CE4672BE6B}" status="resolved" created="2026-05-15T11:20:44.371" complete="100000">
    <ac:deMkLst xmlns:ac="http://schemas.microsoft.com/office/drawing/2013/main/command">
      <pc:docMk xmlns:pc="http://schemas.microsoft.com/office/powerpoint/2013/main/command"/>
      <pc:sldMk xmlns:pc="http://schemas.microsoft.com/office/powerpoint/2013/main/command" cId="3299686247" sldId="318"/>
      <ac:spMk id="3" creationId="{00167B3E-5EE3-F7D4-7E53-5C4A7646EDA7}"/>
    </ac:deMkLst>
    <p188:txBody>
      <a:bodyPr/>
      <a:lstStyle/>
      <a:p>
        <a:r>
          <a:rPr lang="bg-BG"/>
          <a:t>Бъди конкретен в предложението.</a:t>
        </a:r>
      </a:p>
    </p188:txBody>
  </p188:cm>
  <p188:cm id="{91262355-2B4D-4119-B0AE-EEC801C58484}" authorId="{A9CE6DA1-5603-A163-D825-40CE4672BE6B}" status="resolved" created="2026-05-15T11:21:08.619" complete="100000">
    <ac:deMkLst xmlns:ac="http://schemas.microsoft.com/office/drawing/2013/main/command">
      <pc:docMk xmlns:pc="http://schemas.microsoft.com/office/powerpoint/2013/main/command"/>
      <pc:sldMk xmlns:pc="http://schemas.microsoft.com/office/powerpoint/2013/main/command" cId="3299686247" sldId="318"/>
      <ac:spMk id="3" creationId="{00167B3E-5EE3-F7D4-7E53-5C4A7646EDA7}"/>
    </ac:deMkLst>
    <p188:txBody>
      <a:bodyPr/>
      <a:lstStyle/>
      <a:p>
        <a:r>
          <a:rPr lang="bg-BG"/>
          <a:t>Слушай повече, записвай/опитай да запомниш малките детайли, ключовите послания, скритите желания.
</a:t>
        </a:r>
      </a:p>
    </p188:txBody>
  </p188:cm>
  <p188:cm id="{880C6801-3363-4087-8D41-5333221AF09B}" authorId="{A9CE6DA1-5603-A163-D825-40CE4672BE6B}" status="resolved" created="2026-05-18T11:11:17.693" complete="100000">
    <ac:txMkLst xmlns:ac="http://schemas.microsoft.com/office/drawing/2013/main/command">
      <pc:docMk xmlns:pc="http://schemas.microsoft.com/office/powerpoint/2013/main/command"/>
      <pc:sldMk xmlns:pc="http://schemas.microsoft.com/office/powerpoint/2013/main/command" cId="3299686247" sldId="318"/>
      <ac:spMk id="3" creationId="{00167B3E-5EE3-F7D4-7E53-5C4A7646EDA7}"/>
      <ac:txMk cp="592" len="97">
        <ac:context len="873" hash="3004205364"/>
      </ac:txMk>
    </ac:txMkLst>
    <p188:pos x="7774002" y="3274852"/>
    <p188:txBody>
      <a:bodyPr/>
      <a:lstStyle/>
      <a:p>
        <a:r>
          <a:rPr lang="bg-BG"/>
          <a:t>Остави си вратичка за следващо обаждане, което да се приеме без възражение.</a:t>
        </a:r>
      </a:p>
    </p188:txBody>
  </p188:cm>
</p188:cmLst>
</file>

<file path=ppt/comments/modernComment_14E_DE111233.xml><?xml version="1.0" encoding="utf-8"?>
<p188:cmLst xmlns:a="http://schemas.openxmlformats.org/drawingml/2006/main" xmlns:r="http://schemas.openxmlformats.org/officeDocument/2006/relationships" xmlns:p188="http://schemas.microsoft.com/office/powerpoint/2018/8/main">
  <p188:cm id="{51A7C93F-BE58-4FD2-9A32-A7EAA7BD5D8E}" authorId="{A9CE6DA1-5603-A163-D825-40CE4672BE6B}" status="resolved" created="2026-05-15T12:49:14.567" complete="100000">
    <pc:sldMkLst xmlns:pc="http://schemas.microsoft.com/office/powerpoint/2013/main/command">
      <pc:docMk/>
      <pc:sldMk cId="3725660723" sldId="334"/>
    </pc:sldMkLst>
    <p188:txBody>
      <a:bodyPr/>
      <a:lstStyle/>
      <a:p>
        <a:r>
          <a:rPr lang="bg-BG"/>
          <a:t>Описанието е за аналитичен</a:t>
        </a:r>
      </a:p>
    </p188:txBody>
  </p188:cm>
</p188:cmLst>
</file>

<file path=ppt/comments/modernComment_14F_78CF064.xml><?xml version="1.0" encoding="utf-8"?>
<p188:cmLst xmlns:a="http://schemas.openxmlformats.org/drawingml/2006/main" xmlns:r="http://schemas.openxmlformats.org/officeDocument/2006/relationships" xmlns:p188="http://schemas.microsoft.com/office/powerpoint/2018/8/main">
  <p188:cm id="{7392B9C1-A827-47C6-9A59-2CDF131F6BB2}" authorId="{A9CE6DA1-5603-A163-D825-40CE4672BE6B}" status="resolved" created="2026-05-15T12:49:36.653" complete="100000">
    <ac:deMkLst xmlns:ac="http://schemas.microsoft.com/office/drawing/2013/main/command">
      <pc:docMk xmlns:pc="http://schemas.microsoft.com/office/powerpoint/2013/main/command"/>
      <pc:sldMk xmlns:pc="http://schemas.microsoft.com/office/powerpoint/2013/main/command" cId="126677092" sldId="335"/>
      <ac:spMk id="20" creationId="{59854236-1A39-19FA-B62E-5768065F6D5E}"/>
    </ac:deMkLst>
    <p188:txBody>
      <a:bodyPr/>
      <a:lstStyle/>
      <a:p>
        <a:r>
          <a:rPr lang="bg-BG"/>
          <a:t>Описанието е за агресивен.</a:t>
        </a:r>
      </a:p>
    </p188:txBody>
  </p188:cm>
</p188:cmLst>
</file>

<file path=ppt/comments/modernComment_15B_23499294.xml><?xml version="1.0" encoding="utf-8"?>
<p188:cmLst xmlns:a="http://schemas.openxmlformats.org/drawingml/2006/main" xmlns:r="http://schemas.openxmlformats.org/officeDocument/2006/relationships" xmlns:p188="http://schemas.microsoft.com/office/powerpoint/2018/8/main">
  <p188:cm id="{04B71D88-FE0B-4DC2-81AC-CB801FA308AF}" authorId="{A9CE6DA1-5603-A163-D825-40CE4672BE6B}" created="2026-05-15T12:52:12.551">
    <pc:sldMkLst xmlns:pc="http://schemas.microsoft.com/office/powerpoint/2013/main/command">
      <pc:docMk/>
      <pc:sldMk cId="592024212" sldId="347"/>
    </pc:sldMkLst>
    <p188:replyLst>
      <p188:reply id="{8E478579-DBD9-4375-9C3D-142F32E575AA}" authorId="{0C1DCDB4-8A79-A5BB-E1F2-7D1C717CEBCD}" created="2026-05-27T06:58:43.801">
        <p188:txBody>
          <a:bodyPr/>
          <a:lstStyle/>
          <a:p>
            <a:r>
              <a:rPr lang="en-US"/>
              <a:t>Визията, на която се спряха ващи колеги от Изи Кредит беше тази с червеното, сивото и бялото, която съм оставила на този слайд.
По-долу са поставени различни страници, както и мобилната версия, които също ще са с вашите корпоративни цветове. </a:t>
            </a:r>
          </a:p>
        </p188:txBody>
      </p188:reply>
    </p188:replyLst>
    <p188:txBody>
      <a:bodyPr/>
      <a:lstStyle/>
      <a:p>
        <a:r>
          <a:rPr lang="bg-BG"/>
          <a:t>Цветовете това ли ще са? Прозореца в синьо не е ли по-добре да е в свежо сиво?</a:t>
        </a:r>
      </a:p>
    </p188:txBody>
  </p188:cm>
</p188:cmLst>
</file>

<file path=ppt/comments/modernComment_127_734A67A9.xml><?xml version="1.0" encoding="utf-8"?>
<p188:cmLst xmlns:a="http://schemas.openxmlformats.org/drawingml/2006/main" xmlns:r="http://schemas.openxmlformats.org/officeDocument/2006/relationships" xmlns:p188="http://schemas.microsoft.com/office/powerpoint/2018/8/main">
  <p188:cm id="{BC69DB73-6590-4A2F-A238-11A1F5B78036}" authorId="{A9CE6DA1-5603-A163-D825-40CE4672BE6B}" status="resolved" created="2026-05-15T12:25:02.006" complete="100000">
    <ac:deMkLst xmlns:ac="http://schemas.microsoft.com/office/drawing/2013/main/command">
      <pc:docMk xmlns:pc="http://schemas.microsoft.com/office/powerpoint/2013/main/command"/>
      <pc:sldMk xmlns:pc="http://schemas.microsoft.com/office/powerpoint/2013/main/command" cId="1934256041" sldId="295"/>
      <ac:spMk id="11" creationId="{B50730C0-4AA8-32D4-8E7F-6AC4ACE87C03}"/>
    </ac:deMkLst>
    <p188:txBody>
      <a:bodyPr/>
      <a:lstStyle/>
      <a:p>
        <a:r>
          <a:rPr lang="bg-BG"/>
          <a:t>Вместо банка - името на компанията и регионален офис.</a:t>
        </a:r>
      </a:p>
    </p188:txBody>
  </p188:cm>
  <p188:cm id="{B61E8640-364A-4DA3-BD85-E96ED4B0B50A}" authorId="{A9CE6DA1-5603-A163-D825-40CE4672BE6B}" status="resolved" created="2026-05-15T12:31:37.466" complete="100000">
    <ac:deMkLst xmlns:ac="http://schemas.microsoft.com/office/drawing/2013/main/command">
      <pc:docMk xmlns:pc="http://schemas.microsoft.com/office/powerpoint/2013/main/command"/>
      <pc:sldMk xmlns:pc="http://schemas.microsoft.com/office/powerpoint/2013/main/command" cId="1934256041" sldId="295"/>
      <ac:spMk id="11" creationId="{B50730C0-4AA8-32D4-8E7F-6AC4ACE87C03}"/>
    </ac:deMkLst>
    <p188:txBody>
      <a:bodyPr/>
      <a:lstStyle/>
      <a:p>
        <a:r>
          <a:rPr lang="bg-BG"/>
          <a:t>Този пример може ли да се смени с нещо като: Разкажете ни, имате ли предишен опит в използването на финансови услуги? Ние ще ви разкажем за нас и нашите предложения, както и ще и ви дадем полезни съвети.</a:t>
        </a:r>
      </a:p>
    </p188:txBody>
  </p188:cm>
</p188:cmLst>
</file>

<file path=ppt/comments/modernComment_158_E25EF15E.xml><?xml version="1.0" encoding="utf-8"?>
<p188:cmLst xmlns:a="http://schemas.openxmlformats.org/drawingml/2006/main" xmlns:r="http://schemas.openxmlformats.org/officeDocument/2006/relationships" xmlns:p188="http://schemas.microsoft.com/office/powerpoint/2018/8/main">
  <p188:cm id="{1515802F-96F0-4A28-AB39-CA3A09083733}" authorId="{A9CE6DA1-5603-A163-D825-40CE4672BE6B}" status="resolved" created="2026-05-15T12:52:38.741" complete="100000">
    <pc:sldMkLst xmlns:pc="http://schemas.microsoft.com/office/powerpoint/2013/main/command">
      <pc:docMk/>
      <pc:sldMk cId="3797872990" sldId="344"/>
    </pc:sldMkLst>
    <p188:txBody>
      <a:bodyPr/>
      <a:lstStyle/>
      <a:p>
        <a:r>
          <a:rPr lang="bg-BG"/>
          <a:t>Пак за цветовете, не е ли добре да са си корпоративните?</a:t>
        </a:r>
      </a:p>
    </p188:txBody>
  </p188:cm>
</p188:cmLst>
</file>

<file path=ppt/comments/modernComment_160_8DEB3796.xml><?xml version="1.0" encoding="utf-8"?>
<p188:cmLst xmlns:a="http://schemas.openxmlformats.org/drawingml/2006/main" xmlns:r="http://schemas.openxmlformats.org/officeDocument/2006/relationships" xmlns:p188="http://schemas.microsoft.com/office/powerpoint/2018/8/main">
  <p188:cm id="{9D0D7C52-412F-407F-9360-32BE71FAA2F0}" authorId="{693104D8-A417-0142-464E-1B4A922B139C}" status="resolved" created="2026-04-08T08:11:16.047" complete="100000">
    <ac:deMkLst xmlns:ac="http://schemas.microsoft.com/office/drawing/2013/main/command">
      <pc:docMk xmlns:pc="http://schemas.microsoft.com/office/powerpoint/2013/main/command"/>
      <pc:sldMk xmlns:pc="http://schemas.microsoft.com/office/powerpoint/2013/main/command" cId="2381002646" sldId="352"/>
      <ac:spMk id="40" creationId="{AA8337D0-9D3F-3563-C0FE-10EECFC71E2D}"/>
    </ac:deMkLst>
    <p188:replyLst>
      <p188:reply id="{ECFF0391-41E5-4AF1-8CB3-91733F30349F}" authorId="{A9CE6DA1-5603-A163-D825-40CE4672BE6B}" created="2026-05-18T13:23:57.876">
        <p188:txBody>
          <a:bodyPr/>
          <a:lstStyle/>
          <a:p>
            <a:r>
              <a:rPr lang="bg-BG"/>
              <a:t>-Добър ден, търся г-н/г-жа (две имена на клиента).
 -Да (на телефона, аз съм).
 -Здравейте г-н/г-жо (фамилия на клиента), обаждам се от Изи Кредит, във връзка със специално изготвено предложение за Вас. Предложението е валидно само за нашите пенсионери  . Удобно ли е да ми отделите една, две минути, за да Ви запозная? 
-Да (слушам Ви).
 (Представяне на предложнието)
 -Как Ви се струва моето предложение?</a:t>
            </a:r>
          </a:p>
        </p188:txBody>
      </p188:reply>
    </p188:replyLst>
    <p188:txBody>
      <a:bodyPr/>
      <a:lstStyle/>
      <a:p>
        <a:r>
          <a:rPr lang="en-US"/>
          <a:t>За тази част ще ни трябва потвърждение, дали това отваряне е ок за сценарии ,,Продукт Пенсионер'', оформени като разговор, както е във файла с дървото.</a:t>
        </a:r>
      </a:p>
    </p188:txBody>
  </p188:cm>
  <p188:cm id="{3D795199-FA79-4E3F-B9AD-1C991C2857B7}" authorId="{693104D8-A417-0142-464E-1B4A922B139C}" status="resolved" created="2026-04-08T08:18:40.777" complete="100000">
    <ac:deMkLst xmlns:ac="http://schemas.microsoft.com/office/drawing/2013/main/command">
      <pc:docMk xmlns:pc="http://schemas.microsoft.com/office/powerpoint/2013/main/command"/>
      <pc:sldMk xmlns:pc="http://schemas.microsoft.com/office/powerpoint/2013/main/command" cId="2381002646" sldId="352"/>
      <ac:spMk id="2" creationId="{8EBAE91A-0CA8-300A-43A5-451F10D9AB4D}"/>
    </ac:deMkLst>
    <p188:replyLst>
      <p188:reply id="{4B125998-DDBC-41C8-A9BA-5AE4073A7B2B}" authorId="{A9CE6DA1-5603-A163-D825-40CE4672BE6B}" created="2026-05-18T13:38:42.128">
        <p188:txBody>
          <a:bodyPr/>
          <a:lstStyle/>
          <a:p>
            <a:r>
              <a:rPr lang="bg-BG"/>
              <a:t>От файла Кампании продажби - Лист възражение-Трябва да говоря със семейството си</a:t>
            </a:r>
          </a:p>
        </p188:txBody>
      </p188:reply>
    </p188:replyLst>
    <p188:txBody>
      <a:bodyPr/>
      <a:lstStyle/>
      <a:p>
        <a:r>
          <a:rPr lang="en-US"/>
          <a:t>За тази част но е нужно да имаме подобно разписан разговор с реплики и възражение, както и възможните изходи от разговора, както и колко възможни сценарии има.</a:t>
        </a:r>
      </a:p>
    </p188:txBody>
  </p188:cm>
  <p188:cm id="{84A44E3C-C4A7-42B1-84AC-DD977A2D69B5}" authorId="{693104D8-A417-0142-464E-1B4A922B139C}" status="resolved" created="2026-04-08T08:24:58.157" complete="100000">
    <ac:deMkLst xmlns:ac="http://schemas.microsoft.com/office/drawing/2013/main/command">
      <pc:docMk xmlns:pc="http://schemas.microsoft.com/office/powerpoint/2013/main/command"/>
      <pc:sldMk xmlns:pc="http://schemas.microsoft.com/office/powerpoint/2013/main/command" cId="2381002646" sldId="352"/>
      <ac:spMk id="43" creationId="{17ADCD6A-471F-963F-2C3A-AEF882464180}"/>
    </ac:deMkLst>
    <p188:replyLst/>
    <p188:txBody>
      <a:bodyPr/>
      <a:lstStyle/>
      <a:p>
        <a:r>
          <a:rPr lang="en-US"/>
          <a:t>За тази част но е нужно да имаме подобно разписан разговор с реплики и възражение, както и възможните изходи от разговора, както и колко възможни сценарии има.</a:t>
        </a:r>
      </a:p>
    </p188:txBody>
  </p188:cm>
</p188:cmLst>
</file>

<file path=ppt/comments/modernComment_161_E754106.xml><?xml version="1.0" encoding="utf-8"?>
<p188:cmLst xmlns:a="http://schemas.openxmlformats.org/drawingml/2006/main" xmlns:r="http://schemas.openxmlformats.org/officeDocument/2006/relationships" xmlns:p188="http://schemas.microsoft.com/office/powerpoint/2018/8/main">
  <p188:cm id="{49BA6E66-4524-4DD8-9593-FD75D3789F81}" authorId="{693104D8-A417-0142-464E-1B4A922B139C}" status="resolved" created="2026-04-08T08:35:21.080" complete="100000">
    <ac:deMkLst xmlns:ac="http://schemas.microsoft.com/office/drawing/2013/main/command">
      <pc:docMk xmlns:pc="http://schemas.microsoft.com/office/powerpoint/2013/main/command"/>
      <pc:sldMk xmlns:pc="http://schemas.microsoft.com/office/powerpoint/2013/main/command" cId="242565382" sldId="353"/>
      <ac:spMk id="19" creationId="{EB0A7509-5F70-684C-30F3-8B45A5F1855E}"/>
    </ac:deMkLst>
    <p188:replyLst>
      <p188:reply id="{456D19DC-18A0-48F6-B8AB-464BC9313005}" authorId="{A9CE6DA1-5603-A163-D825-40CE4672BE6B}" created="2026-05-18T13:40:24.839">
        <p188:txBody>
          <a:bodyPr/>
          <a:lstStyle/>
          <a:p>
            <a:r>
              <a:rPr lang="bg-BG"/>
              <a:t>Добър ден, търся г-н/г-жа (две имена на клиента).
 -Да (на телефона, аз съм).
 -Здравейте г-н/г-жо (фамилия на клиента), обаждам се от Изи Кредит. Имам Вашия телефон от /Име на наш клиент/  Изготвихме специално предложение за Вас. Удобно ли е да ми отделите една, две минути, за да Ви запозная? 
-Да (слушам Ви).
 (Представяне на предложнието)
 -Как Ви се струва моето предложение?</a:t>
            </a:r>
          </a:p>
        </p188:txBody>
      </p188:reply>
    </p188:replyLst>
    <p188:txBody>
      <a:bodyPr/>
      <a:lstStyle/>
      <a:p>
        <a:r>
          <a:rPr lang="en-US"/>
          <a:t>За тази част ще ни трябва потвърждение, дали това отваряне е ок за сценарии ,,Продукт Пенсионер'', оформени като разговор, както е във файла с дървото.</a:t>
        </a:r>
      </a:p>
    </p188:txBody>
  </p188:cm>
  <p188:cm id="{927AD28E-BF91-4C0C-A5CF-C7EFFED03C61}" authorId="{693104D8-A417-0142-464E-1B4A922B139C}" status="resolved" created="2026-04-08T08:35:42.471" complete="100000">
    <ac:deMkLst xmlns:ac="http://schemas.microsoft.com/office/drawing/2013/main/command">
      <pc:docMk xmlns:pc="http://schemas.microsoft.com/office/powerpoint/2013/main/command"/>
      <pc:sldMk xmlns:pc="http://schemas.microsoft.com/office/powerpoint/2013/main/command" cId="242565382" sldId="353"/>
      <ac:spMk id="26" creationId="{900E442A-2680-294D-7868-8B578A0DAA97}"/>
    </ac:deMkLst>
    <p188:replyLst>
      <p188:reply id="{1FFC2E99-28D4-4D02-815E-449016236666}" authorId="{A9CE6DA1-5603-A163-D825-40CE4672BE6B}" created="2026-05-18T13:40:14.878">
        <p188:txBody>
          <a:bodyPr/>
          <a:lstStyle/>
          <a:p>
            <a:r>
              <a:rPr lang="bg-BG"/>
              <a:t>От файла Кампании продажби - Лист възражение-Нямам нужда</a:t>
            </a:r>
          </a:p>
        </p188:txBody>
      </p188:reply>
    </p188:replyLst>
    <p188:txBody>
      <a:bodyPr/>
      <a:lstStyle/>
      <a:p>
        <a:r>
          <a:rPr lang="en-US"/>
          <a:t>За тази част но е нужно да имаме подобно разписан разговор с реплики и възражение, както и възможните изходи от разговора, както и колко възможни сценарии има.</a:t>
        </a:r>
      </a:p>
    </p188:txBody>
  </p188:cm>
  <p188:cm id="{826B38C8-82B3-46DE-B1E8-FD2B3590F53B}" authorId="{693104D8-A417-0142-464E-1B4A922B139C}" status="resolved" created="2026-04-08T08:35:48.721" complete="100000">
    <ac:deMkLst xmlns:ac="http://schemas.microsoft.com/office/drawing/2013/main/command">
      <pc:docMk xmlns:pc="http://schemas.microsoft.com/office/powerpoint/2013/main/command"/>
      <pc:sldMk xmlns:pc="http://schemas.microsoft.com/office/powerpoint/2013/main/command" cId="242565382" sldId="353"/>
      <ac:spMk id="21" creationId="{B95A585F-6577-C540-FC5D-9B21682BFBDE}"/>
    </ac:deMkLst>
    <p188:replyLst>
      <p188:reply id="{11083ED3-3CB4-40D4-8AD9-DA24015A8D1B}" authorId="{A9CE6DA1-5603-A163-D825-40CE4672BE6B}" created="2026-05-18T13:41:31.961">
        <p188:txBody>
          <a:bodyPr/>
          <a:lstStyle/>
          <a:p>
            <a:r>
              <a:rPr lang="bg-BG"/>
              <a:t>От файла Кампании продажби - Лист възражение - Много са ви високи лихвите</a:t>
            </a:r>
          </a:p>
        </p188:txBody>
      </p188:reply>
    </p188:replyLst>
    <p188:txBody>
      <a:bodyPr/>
      <a:lstStyle/>
      <a:p>
        <a:r>
          <a:rPr lang="en-US"/>
          <a:t>За тази част но е нужно да имаме подобно разписан разговор с реплики и възражение, както и възможните изходи от разговора, както и колко възможни сценарии има.</a:t>
        </a:r>
      </a:p>
    </p188:txBody>
  </p188:cm>
</p188:cmLst>
</file>

<file path=ppt/comments/modernComment_186_39B43AD2.xml><?xml version="1.0" encoding="utf-8"?>
<p188:cmLst xmlns:a="http://schemas.openxmlformats.org/drawingml/2006/main" xmlns:r="http://schemas.openxmlformats.org/officeDocument/2006/relationships" xmlns:p188="http://schemas.microsoft.com/office/powerpoint/2018/8/main">
  <p188:cm id="{CC47888C-0D1B-4FAA-85A4-4E9309A49FAA}" authorId="{A9CE6DA1-5603-A163-D825-40CE4672BE6B}" status="resolved" created="2026-05-15T11:36:25.465" complete="100000">
    <ac:deMkLst xmlns:ac="http://schemas.microsoft.com/office/drawing/2013/main/command">
      <pc:docMk xmlns:pc="http://schemas.microsoft.com/office/powerpoint/2013/main/command"/>
      <pc:sldMk xmlns:pc="http://schemas.microsoft.com/office/powerpoint/2013/main/command" cId="968112850" sldId="390"/>
      <ac:graphicFrameMk id="7" creationId="{0209200C-3726-24CC-CA6B-8871EC8CB8B8}"/>
    </ac:deMkLst>
    <p188:txBody>
      <a:bodyPr/>
      <a:lstStyle/>
      <a:p>
        <a:r>
          <a:rPr lang="bg-BG"/>
          <a:t>Поздравления за новия Ви ангажимент!? Може ли да се промени на - Радваме се, че вече сте успели да се справите с важна ситуация.  Вече спокойно можете да стъпите на опит, заради това чуйте и нашето предложение.</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04795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Контейнер за изображение на слайда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Контейнер за бележки 2"/>
          <p:cNvSpPr>
            <a:spLocks noGrp="1"/>
          </p:cNvSpPr>
          <p:nvPr>
            <p:ph type="body" idx="1"/>
          </p:nvPr>
        </p:nvSpPr>
        <p:spPr>
          <a:xfrm>
            <a:off x="685800" y="5867400"/>
            <a:ext cx="5486400" cy="4800600"/>
          </a:xfrm>
          <a:prstGeom prst="rect">
            <a:avLst/>
          </a:prstGeom>
        </p:spPr>
        <p:txBody>
          <a:bodyPr/>
          <a:lstStyle/>
          <a:p>
            <a:endParaRPr lang="bg-BG" dirty="0"/>
          </a:p>
        </p:txBody>
      </p:sp>
    </p:spTree>
    <p:extLst>
      <p:ext uri="{BB962C8B-B14F-4D97-AF65-F5344CB8AC3E}">
        <p14:creationId xmlns:p14="http://schemas.microsoft.com/office/powerpoint/2010/main" val="5781016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GB"/>
          </a:p>
        </p:txBody>
      </p:sp>
    </p:spTree>
    <p:extLst>
      <p:ext uri="{BB962C8B-B14F-4D97-AF65-F5344CB8AC3E}">
        <p14:creationId xmlns:p14="http://schemas.microsoft.com/office/powerpoint/2010/main" val="1313949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2CCDE1-AF3A-E788-8AB3-1277365BC2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ADA2F2-DF3C-4C84-DBAF-2A50628CE502}"/>
              </a:ext>
            </a:extLst>
          </p:cNvPr>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475F74DF-B921-C629-BB3C-8794273CAF60}"/>
              </a:ext>
            </a:extLst>
          </p:cNvPr>
          <p:cNvSpPr>
            <a:spLocks noGrp="1"/>
          </p:cNvSpPr>
          <p:nvPr>
            <p:ph type="body" idx="1"/>
          </p:nvPr>
        </p:nvSpPr>
        <p:spPr>
          <a:xfrm>
            <a:off x="685800" y="5867400"/>
            <a:ext cx="5486400" cy="4800600"/>
          </a:xfrm>
          <a:prstGeom prst="rect">
            <a:avLst/>
          </a:prstGeom>
        </p:spPr>
        <p:txBody>
          <a:bodyPr/>
          <a:lstStyle/>
          <a:p>
            <a:endParaRPr lang="en-GB"/>
          </a:p>
        </p:txBody>
      </p:sp>
    </p:spTree>
    <p:extLst>
      <p:ext uri="{BB962C8B-B14F-4D97-AF65-F5344CB8AC3E}">
        <p14:creationId xmlns:p14="http://schemas.microsoft.com/office/powerpoint/2010/main" val="40895634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7936D9-B020-4406-F954-6E489F8AEB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0646BE-454F-550F-5098-A2A90FA4034B}"/>
              </a:ext>
            </a:extLst>
          </p:cNvPr>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5737BC0E-8BF3-5672-6753-CD75DE99DA54}"/>
              </a:ext>
            </a:extLst>
          </p:cNvPr>
          <p:cNvSpPr>
            <a:spLocks noGrp="1"/>
          </p:cNvSpPr>
          <p:nvPr>
            <p:ph type="body" idx="1"/>
          </p:nvPr>
        </p:nvSpPr>
        <p:spPr>
          <a:xfrm>
            <a:off x="685800" y="5867400"/>
            <a:ext cx="5486400" cy="4800600"/>
          </a:xfrm>
          <a:prstGeom prst="rect">
            <a:avLst/>
          </a:prstGeom>
        </p:spPr>
        <p:txBody>
          <a:bodyPr/>
          <a:lstStyle/>
          <a:p>
            <a:endParaRPr lang="en-GB"/>
          </a:p>
        </p:txBody>
      </p:sp>
    </p:spTree>
    <p:extLst>
      <p:ext uri="{BB962C8B-B14F-4D97-AF65-F5344CB8AC3E}">
        <p14:creationId xmlns:p14="http://schemas.microsoft.com/office/powerpoint/2010/main" val="39832667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E88ADE-AB1C-C80B-F12A-343D958F73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5A1E4A-74A1-8E77-0BC0-9B8665519BCF}"/>
              </a:ext>
            </a:extLst>
          </p:cNvPr>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3916BB04-4E52-7509-8C09-6CDB79071763}"/>
              </a:ext>
            </a:extLst>
          </p:cNvPr>
          <p:cNvSpPr>
            <a:spLocks noGrp="1"/>
          </p:cNvSpPr>
          <p:nvPr>
            <p:ph type="body" idx="1"/>
          </p:nvPr>
        </p:nvSpPr>
        <p:spPr>
          <a:xfrm>
            <a:off x="685800" y="5867400"/>
            <a:ext cx="5486400" cy="4800600"/>
          </a:xfrm>
          <a:prstGeom prst="rect">
            <a:avLst/>
          </a:prstGeom>
        </p:spPr>
        <p:txBody>
          <a:bodyPr/>
          <a:lstStyle/>
          <a:p>
            <a:endParaRPr lang="en-GB"/>
          </a:p>
        </p:txBody>
      </p:sp>
    </p:spTree>
    <p:extLst>
      <p:ext uri="{BB962C8B-B14F-4D97-AF65-F5344CB8AC3E}">
        <p14:creationId xmlns:p14="http://schemas.microsoft.com/office/powerpoint/2010/main" val="2924974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0E2B7D-E110-B6CF-C29F-4D8D6E58C3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389D66-C656-4526-D508-F176EC5D242D}"/>
              </a:ext>
            </a:extLst>
          </p:cNvPr>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2DABAC0F-9E4E-966E-1F30-716BA75A491E}"/>
              </a:ext>
            </a:extLst>
          </p:cNvPr>
          <p:cNvSpPr>
            <a:spLocks noGrp="1"/>
          </p:cNvSpPr>
          <p:nvPr>
            <p:ph type="body" idx="1"/>
          </p:nvPr>
        </p:nvSpPr>
        <p:spPr>
          <a:xfrm>
            <a:off x="685800" y="5867400"/>
            <a:ext cx="5486400" cy="4800600"/>
          </a:xfrm>
          <a:prstGeom prst="rect">
            <a:avLst/>
          </a:prstGeom>
        </p:spPr>
        <p:txBody>
          <a:bodyPr/>
          <a:lstStyle/>
          <a:p>
            <a:endParaRPr lang="en-GB"/>
          </a:p>
        </p:txBody>
      </p:sp>
    </p:spTree>
    <p:extLst>
      <p:ext uri="{BB962C8B-B14F-4D97-AF65-F5344CB8AC3E}">
        <p14:creationId xmlns:p14="http://schemas.microsoft.com/office/powerpoint/2010/main" val="24356382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lang="bg-BG"/>
              <a:t>Може упражнението с продажбата през ХПП да го включим тук</a:t>
            </a:r>
            <a:endParaRPr lang="en-GB"/>
          </a:p>
        </p:txBody>
      </p:sp>
    </p:spTree>
    <p:extLst>
      <p:ext uri="{BB962C8B-B14F-4D97-AF65-F5344CB8AC3E}">
        <p14:creationId xmlns:p14="http://schemas.microsoft.com/office/powerpoint/2010/main" val="37730568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microsoft.com/office/2018/10/relationships/comments" Target="../comments/modernComment_13E_C4AD3767.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microsoft.com/office/2018/10/relationships/comments" Target="../comments/modernComment_10C_42F4997E.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microsoft.com/office/2018/10/relationships/comments" Target="../comments/modernComment_10D_4598D58B.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microsoft.com/office/2018/10/relationships/comments" Target="../comments/modernComment_186_39B43AD2.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microsoft.com/office/2018/10/relationships/comments" Target="../comments/modernComment_160_8DEB3796.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microsoft.com/office/2018/10/relationships/comments" Target="../comments/modernComment_1D6_8EE70F4E.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1.png"/><Relationship Id="rId2" Type="http://schemas.microsoft.com/office/2018/10/relationships/comments" Target="../comments/modernComment_161_E754106.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1.png"/><Relationship Id="rId2" Type="http://schemas.microsoft.com/office/2018/10/relationships/comments" Target="../comments/modernComment_1D7_8DF06954.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2.png"/><Relationship Id="rId2" Type="http://schemas.microsoft.com/office/2018/10/relationships/comments" Target="../comments/modernComment_1C4_27C778E0.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1.png"/><Relationship Id="rId2" Type="http://schemas.microsoft.com/office/2018/10/relationships/comments" Target="../comments/modernComment_11A_A21E86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1.png"/><Relationship Id="rId2" Type="http://schemas.microsoft.com/office/2018/10/relationships/comments" Target="../comments/modernComment_11B_C162B4CB.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1.png"/><Relationship Id="rId2" Type="http://schemas.microsoft.com/office/2018/10/relationships/comments" Target="../comments/modernComment_11F_680D73F.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3" Type="http://schemas.microsoft.com/office/2018/10/relationships/comments" Target="../comments/modernComment_1A4_74C1FCDD.xml"/><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7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3" Type="http://schemas.openxmlformats.org/officeDocument/2006/relationships/image" Target="../media/image1.png"/><Relationship Id="rId2" Type="http://schemas.microsoft.com/office/2018/10/relationships/comments" Target="../comments/modernComment_127_734A67A9.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3" Type="http://schemas.microsoft.com/office/2018/10/relationships/comments" Target="../comments/modernComment_13C_B6A54D25.xml"/><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8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3" Type="http://schemas.openxmlformats.org/officeDocument/2006/relationships/image" Target="../media/image1.png"/><Relationship Id="rId2" Type="http://schemas.microsoft.com/office/2018/10/relationships/comments" Target="../comments/modernComment_12A_9CDD1145.xml"/><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3" Type="http://schemas.openxmlformats.org/officeDocument/2006/relationships/image" Target="../media/image1.png"/><Relationship Id="rId2" Type="http://schemas.microsoft.com/office/2018/10/relationships/comments" Target="../comments/modernComment_14E_DE111233.xml"/><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3" Type="http://schemas.openxmlformats.org/officeDocument/2006/relationships/image" Target="../media/image1.png"/><Relationship Id="rId2" Type="http://schemas.microsoft.com/office/2018/10/relationships/comments" Target="../comments/modernComment_14F_78CF064.xml"/><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3" Type="http://schemas.openxmlformats.org/officeDocument/2006/relationships/image" Target="../media/image7.png"/><Relationship Id="rId2" Type="http://schemas.microsoft.com/office/2018/10/relationships/comments" Target="../comments/modernComment_15B_23499294.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39.xml.rels><?xml version="1.0" encoding="UTF-8" standalone="yes"?>
<Relationships xmlns="http://schemas.openxmlformats.org/package/2006/relationships"><Relationship Id="rId3" Type="http://schemas.openxmlformats.org/officeDocument/2006/relationships/image" Target="../media/image8.png"/><Relationship Id="rId2" Type="http://schemas.microsoft.com/office/2018/10/relationships/comments" Target="../comments/modernComment_158_E25EF15E.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9.png"/></Relationships>
</file>

<file path=ppt/slides/_rels/slide14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png"/><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png"/><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781BD0D-3120-9D66-065B-6861AF1C87F5}"/>
              </a:ext>
            </a:extLst>
          </p:cNvPr>
          <p:cNvSpPr/>
          <p:nvPr/>
        </p:nvSpPr>
        <p:spPr>
          <a:xfrm>
            <a:off x="1988598" y="1775534"/>
            <a:ext cx="3533313" cy="3107184"/>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5" name="Rectangle 4">
            <a:extLst>
              <a:ext uri="{FF2B5EF4-FFF2-40B4-BE49-F238E27FC236}">
                <a16:creationId xmlns:a16="http://schemas.microsoft.com/office/drawing/2014/main" id="{9241186E-22F3-A240-6E8A-772D1F53C361}"/>
              </a:ext>
            </a:extLst>
          </p:cNvPr>
          <p:cNvSpPr/>
          <p:nvPr/>
        </p:nvSpPr>
        <p:spPr>
          <a:xfrm>
            <a:off x="6096000" y="1775534"/>
            <a:ext cx="3533313" cy="3107184"/>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pic>
        <p:nvPicPr>
          <p:cNvPr id="3" name="Picture 2">
            <a:extLst>
              <a:ext uri="{FF2B5EF4-FFF2-40B4-BE49-F238E27FC236}">
                <a16:creationId xmlns:a16="http://schemas.microsoft.com/office/drawing/2014/main" id="{BDDB5DAA-F329-451D-9628-D39BD42EC879}"/>
              </a:ext>
            </a:extLst>
          </p:cNvPr>
          <p:cNvPicPr>
            <a:picLocks noChangeAspect="1"/>
          </p:cNvPicPr>
          <p:nvPr/>
        </p:nvPicPr>
        <p:blipFill>
          <a:blip r:embed="rId2"/>
          <a:stretch>
            <a:fillRect/>
          </a:stretch>
        </p:blipFill>
        <p:spPr>
          <a:xfrm>
            <a:off x="10883590" y="5621341"/>
            <a:ext cx="982751" cy="995681"/>
          </a:xfrm>
          <a:prstGeom prst="rect">
            <a:avLst/>
          </a:prstGeom>
        </p:spPr>
      </p:pic>
    </p:spTree>
    <p:extLst>
      <p:ext uri="{BB962C8B-B14F-4D97-AF65-F5344CB8AC3E}">
        <p14:creationId xmlns:p14="http://schemas.microsoft.com/office/powerpoint/2010/main" val="2767353524"/>
      </p:ext>
    </p:extLst>
  </p:cSld>
  <p:clrMapOvr>
    <a:masterClrMapping/>
  </p:clrMapOvr>
  <mc:AlternateContent xmlns:mc="http://schemas.openxmlformats.org/markup-compatibility/2006" xmlns:p14="http://schemas.microsoft.com/office/powerpoint/2010/main">
    <mc:Choice Requires="p14">
      <p:transition spd="slow" p14:dur="2000" advTm="30384"/>
    </mc:Choice>
    <mc:Fallback xmlns="">
      <p:transition spd="slow" advTm="30384"/>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EF86F9-6C2D-589A-FB12-B77DD062A47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A088A8A-DD45-CE94-15DE-AF36F7E728BF}"/>
              </a:ext>
            </a:extLst>
          </p:cNvPr>
          <p:cNvSpPr/>
          <p:nvPr/>
        </p:nvSpPr>
        <p:spPr>
          <a:xfrm>
            <a:off x="7398" y="4245"/>
            <a:ext cx="6063728" cy="67724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5" name="Rectangle 4">
            <a:extLst>
              <a:ext uri="{FF2B5EF4-FFF2-40B4-BE49-F238E27FC236}">
                <a16:creationId xmlns:a16="http://schemas.microsoft.com/office/drawing/2014/main" id="{DBFF6E80-33B9-79B7-1C20-ADF4907B4E68}"/>
              </a:ext>
            </a:extLst>
          </p:cNvPr>
          <p:cNvSpPr/>
          <p:nvPr/>
        </p:nvSpPr>
        <p:spPr>
          <a:xfrm>
            <a:off x="6055743" y="4245"/>
            <a:ext cx="6149992" cy="677242"/>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3" name="Rectangle 2">
            <a:extLst>
              <a:ext uri="{FF2B5EF4-FFF2-40B4-BE49-F238E27FC236}">
                <a16:creationId xmlns:a16="http://schemas.microsoft.com/office/drawing/2014/main" id="{FFE53217-4CFA-2D55-C616-D217270EEE76}"/>
              </a:ext>
            </a:extLst>
          </p:cNvPr>
          <p:cNvSpPr/>
          <p:nvPr/>
        </p:nvSpPr>
        <p:spPr>
          <a:xfrm>
            <a:off x="719623" y="1209064"/>
            <a:ext cx="2446662" cy="3230662"/>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600">
                <a:latin typeface="Aptos"/>
                <a:ea typeface="Calibri"/>
                <a:cs typeface="Calibri"/>
              </a:rPr>
              <a:t>Подготовка</a:t>
            </a:r>
            <a:endParaRPr lang="en-GB" sz="1600">
              <a:latin typeface="Aptos"/>
              <a:ea typeface="Calibri"/>
              <a:cs typeface="Calibri"/>
            </a:endParaRPr>
          </a:p>
        </p:txBody>
      </p:sp>
      <p:sp>
        <p:nvSpPr>
          <p:cNvPr id="6" name="Rectangle 5">
            <a:extLst>
              <a:ext uri="{FF2B5EF4-FFF2-40B4-BE49-F238E27FC236}">
                <a16:creationId xmlns:a16="http://schemas.microsoft.com/office/drawing/2014/main" id="{18729A5C-AD3F-0B06-FEAA-25B547C215D7}"/>
              </a:ext>
            </a:extLst>
          </p:cNvPr>
          <p:cNvSpPr/>
          <p:nvPr/>
        </p:nvSpPr>
        <p:spPr>
          <a:xfrm>
            <a:off x="9003188" y="1209064"/>
            <a:ext cx="2446662" cy="3230662"/>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600">
                <a:latin typeface="Aptos"/>
                <a:ea typeface="Calibri"/>
                <a:cs typeface="Calibri"/>
              </a:rPr>
              <a:t>Типове клиенти</a:t>
            </a:r>
            <a:endParaRPr lang="en-GB" sz="1600">
              <a:latin typeface="Aptos"/>
              <a:ea typeface="Calibri"/>
              <a:cs typeface="Calibri"/>
            </a:endParaRPr>
          </a:p>
        </p:txBody>
      </p:sp>
      <p:sp>
        <p:nvSpPr>
          <p:cNvPr id="7" name="Rectangle 6">
            <a:extLst>
              <a:ext uri="{FF2B5EF4-FFF2-40B4-BE49-F238E27FC236}">
                <a16:creationId xmlns:a16="http://schemas.microsoft.com/office/drawing/2014/main" id="{3152421A-6309-6392-260E-B6728571E7C9}"/>
              </a:ext>
            </a:extLst>
          </p:cNvPr>
          <p:cNvSpPr/>
          <p:nvPr/>
        </p:nvSpPr>
        <p:spPr>
          <a:xfrm>
            <a:off x="6242000" y="1209064"/>
            <a:ext cx="2446662" cy="3230662"/>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600">
                <a:latin typeface="Aptos"/>
                <a:ea typeface="Calibri"/>
                <a:cs typeface="Calibri"/>
              </a:rPr>
              <a:t>Сценарии</a:t>
            </a:r>
            <a:endParaRPr lang="en-GB" sz="1600">
              <a:latin typeface="Aptos"/>
              <a:ea typeface="Calibri"/>
              <a:cs typeface="Calibri"/>
            </a:endParaRPr>
          </a:p>
        </p:txBody>
      </p:sp>
      <p:sp>
        <p:nvSpPr>
          <p:cNvPr id="8" name="Rectangle 7">
            <a:extLst>
              <a:ext uri="{FF2B5EF4-FFF2-40B4-BE49-F238E27FC236}">
                <a16:creationId xmlns:a16="http://schemas.microsoft.com/office/drawing/2014/main" id="{17450D10-06DF-FB36-4753-54B6B8A1E4D2}"/>
              </a:ext>
            </a:extLst>
          </p:cNvPr>
          <p:cNvSpPr/>
          <p:nvPr/>
        </p:nvSpPr>
        <p:spPr>
          <a:xfrm>
            <a:off x="3480811" y="1209064"/>
            <a:ext cx="2446662" cy="3230662"/>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600">
                <a:latin typeface="Aptos"/>
                <a:ea typeface="Calibri"/>
                <a:cs typeface="Calibri"/>
              </a:rPr>
              <a:t>Стъпки в обаждането</a:t>
            </a:r>
            <a:endParaRPr lang="en-GB" sz="1600">
              <a:latin typeface="Aptos"/>
              <a:ea typeface="Calibri"/>
              <a:cs typeface="Calibri"/>
            </a:endParaRPr>
          </a:p>
        </p:txBody>
      </p:sp>
      <p:pic>
        <p:nvPicPr>
          <p:cNvPr id="9" name="Picture 8">
            <a:extLst>
              <a:ext uri="{FF2B5EF4-FFF2-40B4-BE49-F238E27FC236}">
                <a16:creationId xmlns:a16="http://schemas.microsoft.com/office/drawing/2014/main" id="{6E079A9B-7BA4-4712-AF60-319A87039B18}"/>
              </a:ext>
            </a:extLst>
          </p:cNvPr>
          <p:cNvPicPr>
            <a:picLocks noChangeAspect="1"/>
          </p:cNvPicPr>
          <p:nvPr/>
        </p:nvPicPr>
        <p:blipFill>
          <a:blip r:embed="rId2"/>
          <a:stretch>
            <a:fillRect/>
          </a:stretch>
        </p:blipFill>
        <p:spPr>
          <a:xfrm>
            <a:off x="10883590" y="5621341"/>
            <a:ext cx="982751" cy="995681"/>
          </a:xfrm>
          <a:prstGeom prst="rect">
            <a:avLst/>
          </a:prstGeom>
        </p:spPr>
      </p:pic>
    </p:spTree>
    <p:extLst>
      <p:ext uri="{BB962C8B-B14F-4D97-AF65-F5344CB8AC3E}">
        <p14:creationId xmlns:p14="http://schemas.microsoft.com/office/powerpoint/2010/main" val="3317912314"/>
      </p:ext>
    </p:extLst>
  </p:cSld>
  <p:clrMapOvr>
    <a:masterClrMapping/>
  </p:clrMapOvr>
  <mc:AlternateContent xmlns:mc="http://schemas.openxmlformats.org/markup-compatibility/2006" xmlns:p14="http://schemas.microsoft.com/office/powerpoint/2010/main">
    <mc:Choice Requires="p14">
      <p:transition spd="slow" p14:dur="2000" advTm="9009"/>
    </mc:Choice>
    <mc:Fallback xmlns="">
      <p:transition spd="slow" advTm="9009"/>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655708-0867-E6D7-F065-ACE254FADF07}"/>
            </a:ext>
          </a:extLst>
        </p:cNvPr>
        <p:cNvGrpSpPr/>
        <p:nvPr/>
      </p:nvGrpSpPr>
      <p:grpSpPr>
        <a:xfrm>
          <a:off x="0" y="0"/>
          <a:ext cx="0" cy="0"/>
          <a:chOff x="0" y="0"/>
          <a:chExt cx="0" cy="0"/>
        </a:xfrm>
      </p:grpSpPr>
      <p:sp>
        <p:nvSpPr>
          <p:cNvPr id="29" name="Rectangle 28">
            <a:extLst>
              <a:ext uri="{FF2B5EF4-FFF2-40B4-BE49-F238E27FC236}">
                <a16:creationId xmlns:a16="http://schemas.microsoft.com/office/drawing/2014/main" id="{9602CE81-7B71-B8F8-E0DC-CF735797B6E0}"/>
              </a:ext>
            </a:extLst>
          </p:cNvPr>
          <p:cNvSpPr/>
          <p:nvPr/>
        </p:nvSpPr>
        <p:spPr>
          <a:xfrm>
            <a:off x="6156" y="1599"/>
            <a:ext cx="1443340" cy="6866954"/>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200">
              <a:latin typeface="Aptos"/>
              <a:ea typeface="Calibri"/>
              <a:cs typeface="Calibri"/>
            </a:endParaRPr>
          </a:p>
        </p:txBody>
      </p:sp>
      <p:sp>
        <p:nvSpPr>
          <p:cNvPr id="30" name="Rectangle 29">
            <a:extLst>
              <a:ext uri="{FF2B5EF4-FFF2-40B4-BE49-F238E27FC236}">
                <a16:creationId xmlns:a16="http://schemas.microsoft.com/office/drawing/2014/main" id="{6B139CA7-0916-233D-C676-793BCE36BD83}"/>
              </a:ext>
            </a:extLst>
          </p:cNvPr>
          <p:cNvSpPr/>
          <p:nvPr/>
        </p:nvSpPr>
        <p:spPr>
          <a:xfrm>
            <a:off x="-1671" y="2528038"/>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Типове клиенти</a:t>
            </a:r>
            <a:endParaRPr lang="en-GB" sz="1400">
              <a:latin typeface="Aptos"/>
              <a:ea typeface="Calibri"/>
              <a:cs typeface="Calibri"/>
            </a:endParaRPr>
          </a:p>
        </p:txBody>
      </p:sp>
      <p:sp>
        <p:nvSpPr>
          <p:cNvPr id="31" name="Rectangle 30">
            <a:extLst>
              <a:ext uri="{FF2B5EF4-FFF2-40B4-BE49-F238E27FC236}">
                <a16:creationId xmlns:a16="http://schemas.microsoft.com/office/drawing/2014/main" id="{A27EB7D5-C378-4B6C-B18B-36EC28024F61}"/>
              </a:ext>
            </a:extLst>
          </p:cNvPr>
          <p:cNvSpPr/>
          <p:nvPr/>
        </p:nvSpPr>
        <p:spPr>
          <a:xfrm>
            <a:off x="8626" y="1913210"/>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Сценарии</a:t>
            </a:r>
            <a:endParaRPr lang="en-GB" sz="1400">
              <a:latin typeface="Aptos"/>
              <a:ea typeface="Calibri"/>
              <a:cs typeface="Calibri"/>
            </a:endParaRPr>
          </a:p>
        </p:txBody>
      </p:sp>
      <p:sp>
        <p:nvSpPr>
          <p:cNvPr id="32" name="Rectangle 31">
            <a:extLst>
              <a:ext uri="{FF2B5EF4-FFF2-40B4-BE49-F238E27FC236}">
                <a16:creationId xmlns:a16="http://schemas.microsoft.com/office/drawing/2014/main" id="{160C3EC6-363B-A42D-1143-A4A8A9B1F35C}"/>
              </a:ext>
            </a:extLst>
          </p:cNvPr>
          <p:cNvSpPr/>
          <p:nvPr/>
        </p:nvSpPr>
        <p:spPr>
          <a:xfrm>
            <a:off x="-1671" y="1298382"/>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Стъпки в обаждането</a:t>
            </a:r>
            <a:endParaRPr lang="en-GB" sz="1400">
              <a:latin typeface="Aptos"/>
              <a:ea typeface="Calibri"/>
              <a:cs typeface="Calibri"/>
            </a:endParaRPr>
          </a:p>
        </p:txBody>
      </p:sp>
      <p:sp>
        <p:nvSpPr>
          <p:cNvPr id="5" name="Rectangle 3">
            <a:extLst>
              <a:ext uri="{FF2B5EF4-FFF2-40B4-BE49-F238E27FC236}">
                <a16:creationId xmlns:a16="http://schemas.microsoft.com/office/drawing/2014/main" id="{5CC442BD-506F-3B00-2DCD-15D2B4A1AE39}"/>
              </a:ext>
            </a:extLst>
          </p:cNvPr>
          <p:cNvSpPr/>
          <p:nvPr/>
        </p:nvSpPr>
        <p:spPr>
          <a:xfrm>
            <a:off x="1443475" y="4245"/>
            <a:ext cx="5338363" cy="67724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7" name="Rectangle 4">
            <a:extLst>
              <a:ext uri="{FF2B5EF4-FFF2-40B4-BE49-F238E27FC236}">
                <a16:creationId xmlns:a16="http://schemas.microsoft.com/office/drawing/2014/main" id="{BFD1EDE3-EF9C-1131-A5D4-F81E683621BE}"/>
              </a:ext>
            </a:extLst>
          </p:cNvPr>
          <p:cNvSpPr/>
          <p:nvPr/>
        </p:nvSpPr>
        <p:spPr>
          <a:xfrm>
            <a:off x="6788435" y="4245"/>
            <a:ext cx="5417300" cy="677242"/>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9" name="Rectangle 28">
            <a:extLst>
              <a:ext uri="{FF2B5EF4-FFF2-40B4-BE49-F238E27FC236}">
                <a16:creationId xmlns:a16="http://schemas.microsoft.com/office/drawing/2014/main" id="{FB60FE6E-9E08-015C-F33F-2647BA711F6D}"/>
              </a:ext>
            </a:extLst>
          </p:cNvPr>
          <p:cNvSpPr/>
          <p:nvPr/>
        </p:nvSpPr>
        <p:spPr>
          <a:xfrm>
            <a:off x="6154" y="690328"/>
            <a:ext cx="1450668" cy="45589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b="1">
                <a:solidFill>
                  <a:srgbClr val="2F5597"/>
                </a:solidFill>
                <a:latin typeface="Aptos"/>
                <a:ea typeface="Calibri"/>
                <a:cs typeface="Calibri"/>
              </a:rPr>
              <a:t>Подготовка</a:t>
            </a:r>
            <a:endParaRPr lang="en-GB" sz="1400" b="1">
              <a:solidFill>
                <a:srgbClr val="2F5597"/>
              </a:solidFill>
              <a:latin typeface="Aptos"/>
              <a:ea typeface="Calibri"/>
              <a:cs typeface="Calibri"/>
            </a:endParaRPr>
          </a:p>
        </p:txBody>
      </p:sp>
      <p:sp>
        <p:nvSpPr>
          <p:cNvPr id="12" name="Rectangle 3">
            <a:extLst>
              <a:ext uri="{FF2B5EF4-FFF2-40B4-BE49-F238E27FC236}">
                <a16:creationId xmlns:a16="http://schemas.microsoft.com/office/drawing/2014/main" id="{F0CC66DF-55E5-1171-1569-96C1ACB56F41}"/>
              </a:ext>
            </a:extLst>
          </p:cNvPr>
          <p:cNvSpPr/>
          <p:nvPr/>
        </p:nvSpPr>
        <p:spPr>
          <a:xfrm>
            <a:off x="2823867" y="1878111"/>
            <a:ext cx="3533313" cy="3107184"/>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a:latin typeface="Aptos"/>
                <a:ea typeface="Calibri"/>
                <a:cs typeface="Calibri"/>
              </a:rPr>
              <a:t>Видове контакти</a:t>
            </a:r>
          </a:p>
        </p:txBody>
      </p:sp>
      <p:sp>
        <p:nvSpPr>
          <p:cNvPr id="16" name="Rectangle 4">
            <a:extLst>
              <a:ext uri="{FF2B5EF4-FFF2-40B4-BE49-F238E27FC236}">
                <a16:creationId xmlns:a16="http://schemas.microsoft.com/office/drawing/2014/main" id="{25A01DE7-1992-BE16-3CC5-A0D9DE9B79DD}"/>
              </a:ext>
            </a:extLst>
          </p:cNvPr>
          <p:cNvSpPr/>
          <p:nvPr/>
        </p:nvSpPr>
        <p:spPr>
          <a:xfrm>
            <a:off x="6931269" y="1878111"/>
            <a:ext cx="3533313" cy="3107184"/>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a:solidFill>
                  <a:schemeClr val="bg1"/>
                </a:solidFill>
                <a:latin typeface="Aptos"/>
                <a:ea typeface="Calibri"/>
                <a:cs typeface="Calibri"/>
              </a:rPr>
              <a:t>Съвети при подготовка за обаждане</a:t>
            </a:r>
          </a:p>
        </p:txBody>
      </p:sp>
      <p:pic>
        <p:nvPicPr>
          <p:cNvPr id="13" name="Picture 12">
            <a:extLst>
              <a:ext uri="{FF2B5EF4-FFF2-40B4-BE49-F238E27FC236}">
                <a16:creationId xmlns:a16="http://schemas.microsoft.com/office/drawing/2014/main" id="{C5935198-DF28-4575-8871-C6284A0C3B87}"/>
              </a:ext>
            </a:extLst>
          </p:cNvPr>
          <p:cNvPicPr>
            <a:picLocks noChangeAspect="1"/>
          </p:cNvPicPr>
          <p:nvPr/>
        </p:nvPicPr>
        <p:blipFill>
          <a:blip r:embed="rId2"/>
          <a:stretch>
            <a:fillRect/>
          </a:stretch>
        </p:blipFill>
        <p:spPr>
          <a:xfrm>
            <a:off x="10883590" y="5621341"/>
            <a:ext cx="982751" cy="995681"/>
          </a:xfrm>
          <a:prstGeom prst="rect">
            <a:avLst/>
          </a:prstGeom>
        </p:spPr>
      </p:pic>
    </p:spTree>
    <p:extLst>
      <p:ext uri="{BB962C8B-B14F-4D97-AF65-F5344CB8AC3E}">
        <p14:creationId xmlns:p14="http://schemas.microsoft.com/office/powerpoint/2010/main" val="1099485406"/>
      </p:ext>
    </p:extLst>
  </p:cSld>
  <p:clrMapOvr>
    <a:masterClrMapping/>
  </p:clrMapOvr>
  <mc:AlternateContent xmlns:mc="http://schemas.openxmlformats.org/markup-compatibility/2006" xmlns:p14="http://schemas.microsoft.com/office/powerpoint/2010/main">
    <mc:Choice Requires="p14">
      <p:transition spd="slow" p14:dur="2000" advTm="6522"/>
    </mc:Choice>
    <mc:Fallback xmlns="">
      <p:transition spd="slow" advTm="6522"/>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292DD-A311-AD4E-9BD6-58419676FFFE}"/>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EC6DA6DA-9CCA-8403-5B5D-84FDE148373E}"/>
              </a:ext>
            </a:extLst>
          </p:cNvPr>
          <p:cNvSpPr txBox="1"/>
          <p:nvPr/>
        </p:nvSpPr>
        <p:spPr>
          <a:xfrm>
            <a:off x="2037604" y="1947314"/>
            <a:ext cx="1878402" cy="307777"/>
          </a:xfrm>
          <a:prstGeom prst="rect">
            <a:avLst/>
          </a:prstGeom>
          <a:noFill/>
        </p:spPr>
        <p:txBody>
          <a:bodyPr wrap="square" lIns="91440" tIns="45720" rIns="91440" bIns="45720" anchor="t">
            <a:spAutoFit/>
          </a:bodyPr>
          <a:lstStyle/>
          <a:p>
            <a:r>
              <a:rPr lang="en-US" sz="1400" b="1" err="1">
                <a:solidFill>
                  <a:schemeClr val="accent1">
                    <a:lumMod val="50000"/>
                  </a:schemeClr>
                </a:solidFill>
                <a:effectLst/>
                <a:latin typeface="Aptos"/>
                <a:ea typeface="Calibri"/>
                <a:cs typeface="Calibri"/>
              </a:rPr>
              <a:t>Студен</a:t>
            </a:r>
            <a:r>
              <a:rPr lang="en-US" sz="1400" b="1">
                <a:solidFill>
                  <a:schemeClr val="accent1">
                    <a:lumMod val="50000"/>
                  </a:schemeClr>
                </a:solidFill>
                <a:effectLst/>
                <a:latin typeface="Aptos"/>
                <a:ea typeface="Calibri"/>
                <a:cs typeface="Calibri"/>
              </a:rPr>
              <a:t> </a:t>
            </a:r>
            <a:r>
              <a:rPr lang="en-US" sz="1400" b="1" err="1">
                <a:solidFill>
                  <a:schemeClr val="accent1">
                    <a:lumMod val="50000"/>
                  </a:schemeClr>
                </a:solidFill>
                <a:effectLst/>
                <a:latin typeface="Aptos"/>
                <a:ea typeface="Calibri"/>
                <a:cs typeface="Calibri"/>
              </a:rPr>
              <a:t>контакт</a:t>
            </a:r>
            <a:endParaRPr lang="en-GB" sz="1400" b="1">
              <a:solidFill>
                <a:schemeClr val="accent1">
                  <a:lumMod val="50000"/>
                </a:schemeClr>
              </a:solidFill>
              <a:latin typeface="Aptos"/>
              <a:ea typeface="Calibri"/>
              <a:cs typeface="Calibri"/>
            </a:endParaRPr>
          </a:p>
        </p:txBody>
      </p:sp>
      <p:sp>
        <p:nvSpPr>
          <p:cNvPr id="13" name="TextBox 12">
            <a:extLst>
              <a:ext uri="{FF2B5EF4-FFF2-40B4-BE49-F238E27FC236}">
                <a16:creationId xmlns:a16="http://schemas.microsoft.com/office/drawing/2014/main" id="{7CA3F184-14B8-A259-1924-8A63FC5EB964}"/>
              </a:ext>
            </a:extLst>
          </p:cNvPr>
          <p:cNvSpPr txBox="1"/>
          <p:nvPr/>
        </p:nvSpPr>
        <p:spPr>
          <a:xfrm>
            <a:off x="5165979" y="1912215"/>
            <a:ext cx="1740379" cy="307777"/>
          </a:xfrm>
          <a:prstGeom prst="rect">
            <a:avLst/>
          </a:prstGeom>
          <a:noFill/>
        </p:spPr>
        <p:txBody>
          <a:bodyPr wrap="square">
            <a:spAutoFit/>
          </a:bodyPr>
          <a:lstStyle/>
          <a:p>
            <a:r>
              <a:rPr lang="en-US" sz="1400" b="1" err="1">
                <a:solidFill>
                  <a:schemeClr val="accent1">
                    <a:lumMod val="50000"/>
                  </a:schemeClr>
                </a:solidFill>
                <a:effectLst/>
                <a:latin typeface="Aptos"/>
                <a:ea typeface="Calibri"/>
                <a:cs typeface="Calibri"/>
              </a:rPr>
              <a:t>Топъл</a:t>
            </a:r>
            <a:r>
              <a:rPr lang="en-US" sz="1400" b="1">
                <a:solidFill>
                  <a:schemeClr val="accent1">
                    <a:lumMod val="50000"/>
                  </a:schemeClr>
                </a:solidFill>
                <a:effectLst/>
                <a:latin typeface="Aptos"/>
                <a:ea typeface="Calibri"/>
                <a:cs typeface="Calibri"/>
              </a:rPr>
              <a:t> </a:t>
            </a:r>
            <a:r>
              <a:rPr lang="en-US" sz="1400" b="1" err="1">
                <a:solidFill>
                  <a:schemeClr val="accent1">
                    <a:lumMod val="50000"/>
                  </a:schemeClr>
                </a:solidFill>
                <a:effectLst/>
                <a:latin typeface="Aptos"/>
                <a:ea typeface="Calibri"/>
                <a:cs typeface="Calibri"/>
              </a:rPr>
              <a:t>контакт</a:t>
            </a:r>
            <a:endParaRPr lang="en-GB" sz="1400" b="1">
              <a:solidFill>
                <a:schemeClr val="accent1">
                  <a:lumMod val="50000"/>
                </a:schemeClr>
              </a:solidFill>
              <a:latin typeface="Aptos"/>
              <a:ea typeface="Calibri"/>
              <a:cs typeface="Calibri"/>
            </a:endParaRPr>
          </a:p>
        </p:txBody>
      </p:sp>
      <p:sp>
        <p:nvSpPr>
          <p:cNvPr id="15" name="TextBox 14">
            <a:extLst>
              <a:ext uri="{FF2B5EF4-FFF2-40B4-BE49-F238E27FC236}">
                <a16:creationId xmlns:a16="http://schemas.microsoft.com/office/drawing/2014/main" id="{DDA8E487-6252-06A6-2437-3F3A2884510D}"/>
              </a:ext>
            </a:extLst>
          </p:cNvPr>
          <p:cNvSpPr txBox="1"/>
          <p:nvPr/>
        </p:nvSpPr>
        <p:spPr>
          <a:xfrm>
            <a:off x="8281524" y="1941523"/>
            <a:ext cx="2223459" cy="307777"/>
          </a:xfrm>
          <a:prstGeom prst="rect">
            <a:avLst/>
          </a:prstGeom>
          <a:noFill/>
        </p:spPr>
        <p:txBody>
          <a:bodyPr wrap="square">
            <a:spAutoFit/>
          </a:bodyPr>
          <a:lstStyle/>
          <a:p>
            <a:r>
              <a:rPr lang="en-US" sz="1400" b="1" err="1">
                <a:solidFill>
                  <a:schemeClr val="accent1">
                    <a:lumMod val="50000"/>
                  </a:schemeClr>
                </a:solidFill>
                <a:effectLst/>
                <a:latin typeface="Aptos"/>
                <a:ea typeface="Calibri"/>
                <a:cs typeface="Calibri"/>
              </a:rPr>
              <a:t>Регулярен</a:t>
            </a:r>
            <a:r>
              <a:rPr lang="en-US" sz="1400" b="1">
                <a:solidFill>
                  <a:schemeClr val="accent1">
                    <a:lumMod val="50000"/>
                  </a:schemeClr>
                </a:solidFill>
                <a:effectLst/>
                <a:latin typeface="Aptos"/>
                <a:ea typeface="Calibri"/>
                <a:cs typeface="Calibri"/>
              </a:rPr>
              <a:t> </a:t>
            </a:r>
            <a:r>
              <a:rPr lang="en-US" sz="1400" b="1" err="1">
                <a:solidFill>
                  <a:schemeClr val="accent1">
                    <a:lumMod val="50000"/>
                  </a:schemeClr>
                </a:solidFill>
                <a:effectLst/>
                <a:latin typeface="Aptos"/>
                <a:ea typeface="Calibri"/>
                <a:cs typeface="Calibri"/>
              </a:rPr>
              <a:t>контакт</a:t>
            </a:r>
            <a:endParaRPr lang="en-GB" sz="1400" b="1">
              <a:solidFill>
                <a:schemeClr val="accent1">
                  <a:lumMod val="50000"/>
                </a:schemeClr>
              </a:solidFill>
              <a:latin typeface="Aptos"/>
              <a:ea typeface="Calibri"/>
              <a:cs typeface="Calibri"/>
            </a:endParaRPr>
          </a:p>
        </p:txBody>
      </p:sp>
      <p:sp>
        <p:nvSpPr>
          <p:cNvPr id="17" name="TextBox 16">
            <a:extLst>
              <a:ext uri="{FF2B5EF4-FFF2-40B4-BE49-F238E27FC236}">
                <a16:creationId xmlns:a16="http://schemas.microsoft.com/office/drawing/2014/main" id="{552601E1-8734-6DD1-3161-ED0FF93C62CA}"/>
              </a:ext>
            </a:extLst>
          </p:cNvPr>
          <p:cNvSpPr txBox="1"/>
          <p:nvPr/>
        </p:nvSpPr>
        <p:spPr>
          <a:xfrm>
            <a:off x="1996490" y="2349248"/>
            <a:ext cx="2499504" cy="738664"/>
          </a:xfrm>
          <a:prstGeom prst="rect">
            <a:avLst/>
          </a:prstGeom>
          <a:noFill/>
        </p:spPr>
        <p:txBody>
          <a:bodyPr wrap="square">
            <a:spAutoFit/>
          </a:bodyPr>
          <a:lstStyle/>
          <a:p>
            <a:r>
              <a:rPr lang="en-US" sz="1400" err="1">
                <a:solidFill>
                  <a:schemeClr val="accent1">
                    <a:lumMod val="50000"/>
                  </a:schemeClr>
                </a:solidFill>
                <a:effectLst/>
                <a:latin typeface="Aptos"/>
                <a:ea typeface="Calibri"/>
                <a:cs typeface="Calibri"/>
              </a:rPr>
              <a:t>Служителят</a:t>
            </a:r>
            <a:r>
              <a:rPr lang="en-US" sz="1400">
                <a:solidFill>
                  <a:schemeClr val="accent1">
                    <a:lumMod val="50000"/>
                  </a:schemeClr>
                </a:solidFill>
                <a:effectLst/>
                <a:latin typeface="Aptos"/>
                <a:ea typeface="Calibri"/>
                <a:cs typeface="Calibri"/>
              </a:rPr>
              <a:t> </a:t>
            </a:r>
            <a:r>
              <a:rPr lang="en-US" sz="1400" err="1">
                <a:solidFill>
                  <a:schemeClr val="accent1">
                    <a:lumMod val="50000"/>
                  </a:schemeClr>
                </a:solidFill>
                <a:effectLst/>
                <a:latin typeface="Aptos"/>
                <a:ea typeface="Calibri"/>
                <a:cs typeface="Calibri"/>
              </a:rPr>
              <a:t>търси</a:t>
            </a:r>
            <a:r>
              <a:rPr lang="en-US" sz="1400">
                <a:solidFill>
                  <a:schemeClr val="accent1">
                    <a:lumMod val="50000"/>
                  </a:schemeClr>
                </a:solidFill>
                <a:effectLst/>
                <a:latin typeface="Aptos"/>
                <a:ea typeface="Calibri"/>
                <a:cs typeface="Calibri"/>
              </a:rPr>
              <a:t> </a:t>
            </a:r>
            <a:r>
              <a:rPr lang="en-US" sz="1400" err="1">
                <a:solidFill>
                  <a:schemeClr val="accent1">
                    <a:lumMod val="50000"/>
                  </a:schemeClr>
                </a:solidFill>
                <a:effectLst/>
                <a:latin typeface="Aptos"/>
                <a:ea typeface="Calibri"/>
                <a:cs typeface="Calibri"/>
              </a:rPr>
              <a:t>клиент</a:t>
            </a:r>
            <a:r>
              <a:rPr lang="en-US" sz="1400">
                <a:solidFill>
                  <a:schemeClr val="accent1">
                    <a:lumMod val="50000"/>
                  </a:schemeClr>
                </a:solidFill>
                <a:effectLst/>
                <a:latin typeface="Aptos"/>
                <a:ea typeface="Calibri"/>
                <a:cs typeface="Calibri"/>
              </a:rPr>
              <a:t>, с </a:t>
            </a:r>
            <a:r>
              <a:rPr lang="en-US" sz="1400" err="1">
                <a:solidFill>
                  <a:schemeClr val="accent1">
                    <a:lumMod val="50000"/>
                  </a:schemeClr>
                </a:solidFill>
                <a:effectLst/>
                <a:latin typeface="Aptos"/>
                <a:ea typeface="Calibri"/>
                <a:cs typeface="Calibri"/>
              </a:rPr>
              <a:t>когото</a:t>
            </a:r>
            <a:r>
              <a:rPr lang="en-US" sz="1400">
                <a:solidFill>
                  <a:schemeClr val="accent1">
                    <a:lumMod val="50000"/>
                  </a:schemeClr>
                </a:solidFill>
                <a:effectLst/>
                <a:latin typeface="Aptos"/>
                <a:ea typeface="Calibri"/>
                <a:cs typeface="Calibri"/>
              </a:rPr>
              <a:t> </a:t>
            </a:r>
            <a:r>
              <a:rPr lang="en-US" sz="1400" err="1">
                <a:solidFill>
                  <a:schemeClr val="accent1">
                    <a:lumMod val="50000"/>
                  </a:schemeClr>
                </a:solidFill>
                <a:effectLst/>
                <a:latin typeface="Aptos"/>
                <a:ea typeface="Calibri"/>
                <a:cs typeface="Calibri"/>
              </a:rPr>
              <a:t>няма</a:t>
            </a:r>
            <a:r>
              <a:rPr lang="en-US" sz="1400">
                <a:solidFill>
                  <a:schemeClr val="accent1">
                    <a:lumMod val="50000"/>
                  </a:schemeClr>
                </a:solidFill>
                <a:effectLst/>
                <a:latin typeface="Aptos"/>
                <a:ea typeface="Calibri"/>
                <a:cs typeface="Calibri"/>
              </a:rPr>
              <a:t> </a:t>
            </a:r>
            <a:r>
              <a:rPr lang="en-US" sz="1400" err="1">
                <a:solidFill>
                  <a:schemeClr val="accent1">
                    <a:lumMod val="50000"/>
                  </a:schemeClr>
                </a:solidFill>
                <a:effectLst/>
                <a:latin typeface="Aptos"/>
                <a:ea typeface="Calibri"/>
                <a:cs typeface="Calibri"/>
              </a:rPr>
              <a:t>предходен</a:t>
            </a:r>
            <a:r>
              <a:rPr lang="en-US" sz="1400">
                <a:solidFill>
                  <a:schemeClr val="accent1">
                    <a:lumMod val="50000"/>
                  </a:schemeClr>
                </a:solidFill>
                <a:effectLst/>
                <a:latin typeface="Aptos"/>
                <a:ea typeface="Calibri"/>
                <a:cs typeface="Calibri"/>
              </a:rPr>
              <a:t> </a:t>
            </a:r>
            <a:r>
              <a:rPr lang="en-US" sz="1400" err="1">
                <a:solidFill>
                  <a:schemeClr val="accent1">
                    <a:lumMod val="50000"/>
                  </a:schemeClr>
                </a:solidFill>
                <a:effectLst/>
                <a:latin typeface="Aptos"/>
                <a:ea typeface="Calibri"/>
                <a:cs typeface="Calibri"/>
              </a:rPr>
              <a:t>пряк</a:t>
            </a:r>
            <a:r>
              <a:rPr lang="en-US" sz="1400">
                <a:solidFill>
                  <a:schemeClr val="accent1">
                    <a:lumMod val="50000"/>
                  </a:schemeClr>
                </a:solidFill>
                <a:effectLst/>
                <a:latin typeface="Aptos"/>
                <a:ea typeface="Calibri"/>
                <a:cs typeface="Calibri"/>
              </a:rPr>
              <a:t> </a:t>
            </a:r>
            <a:r>
              <a:rPr lang="en-US" sz="1400" err="1">
                <a:solidFill>
                  <a:schemeClr val="accent1">
                    <a:lumMod val="50000"/>
                  </a:schemeClr>
                </a:solidFill>
                <a:effectLst/>
                <a:latin typeface="Aptos"/>
                <a:ea typeface="Calibri"/>
                <a:cs typeface="Calibri"/>
              </a:rPr>
              <a:t>контакт</a:t>
            </a:r>
            <a:r>
              <a:rPr lang="en-US" sz="1400">
                <a:solidFill>
                  <a:schemeClr val="accent1">
                    <a:lumMod val="50000"/>
                  </a:schemeClr>
                </a:solidFill>
                <a:effectLst/>
                <a:latin typeface="Aptos"/>
                <a:ea typeface="Calibri"/>
                <a:cs typeface="Calibri"/>
              </a:rPr>
              <a:t>.</a:t>
            </a:r>
            <a:endParaRPr lang="en-GB" sz="1400">
              <a:solidFill>
                <a:schemeClr val="accent1">
                  <a:lumMod val="50000"/>
                </a:schemeClr>
              </a:solidFill>
              <a:latin typeface="Aptos"/>
              <a:ea typeface="Calibri"/>
              <a:cs typeface="Calibri"/>
            </a:endParaRPr>
          </a:p>
        </p:txBody>
      </p:sp>
      <p:sp>
        <p:nvSpPr>
          <p:cNvPr id="19" name="TextBox 18">
            <a:extLst>
              <a:ext uri="{FF2B5EF4-FFF2-40B4-BE49-F238E27FC236}">
                <a16:creationId xmlns:a16="http://schemas.microsoft.com/office/drawing/2014/main" id="{5C4C0465-60E6-F3A7-AF36-B1A8E809A1D4}"/>
              </a:ext>
            </a:extLst>
          </p:cNvPr>
          <p:cNvSpPr txBox="1"/>
          <p:nvPr/>
        </p:nvSpPr>
        <p:spPr>
          <a:xfrm>
            <a:off x="5148394" y="2332279"/>
            <a:ext cx="2792802" cy="738664"/>
          </a:xfrm>
          <a:prstGeom prst="rect">
            <a:avLst/>
          </a:prstGeom>
          <a:noFill/>
        </p:spPr>
        <p:txBody>
          <a:bodyPr wrap="square">
            <a:spAutoFit/>
          </a:bodyPr>
          <a:lstStyle>
            <a:lvl1pPr>
              <a:defRPr sz="1200">
                <a:effectLst/>
                <a:latin typeface="Arial" panose="020B0604020202020204" pitchFamily="34" charset="0"/>
                <a:ea typeface="Arial" panose="020B0604020202020204" pitchFamily="34" charset="0"/>
                <a:cs typeface="Times New Roman" panose="02020603050405020304" pitchFamily="18" charset="0"/>
              </a:defRPr>
            </a:lvl1pPr>
          </a:lstStyle>
          <a:p>
            <a:r>
              <a:rPr lang="en-US" sz="1400" err="1">
                <a:solidFill>
                  <a:schemeClr val="accent1">
                    <a:lumMod val="50000"/>
                  </a:schemeClr>
                </a:solidFill>
                <a:latin typeface="Aptos"/>
                <a:ea typeface="Calibri"/>
                <a:cs typeface="Calibri"/>
              </a:rPr>
              <a:t>Има</a:t>
            </a:r>
            <a:r>
              <a:rPr lang="en-US" sz="1400">
                <a:solidFill>
                  <a:schemeClr val="accent1">
                    <a:lumMod val="50000"/>
                  </a:schemeClr>
                </a:solidFill>
                <a:latin typeface="Aptos"/>
                <a:ea typeface="Calibri"/>
                <a:cs typeface="Calibri"/>
              </a:rPr>
              <a:t> </a:t>
            </a:r>
            <a:r>
              <a:rPr lang="en-US" sz="1400" err="1">
                <a:solidFill>
                  <a:schemeClr val="accent1">
                    <a:lumMod val="50000"/>
                  </a:schemeClr>
                </a:solidFill>
                <a:latin typeface="Aptos"/>
                <a:ea typeface="Calibri"/>
                <a:cs typeface="Calibri"/>
              </a:rPr>
              <a:t>предходен</a:t>
            </a:r>
            <a:r>
              <a:rPr lang="en-US" sz="1400">
                <a:solidFill>
                  <a:schemeClr val="accent1">
                    <a:lumMod val="50000"/>
                  </a:schemeClr>
                </a:solidFill>
                <a:latin typeface="Aptos"/>
                <a:ea typeface="Calibri"/>
                <a:cs typeface="Calibri"/>
              </a:rPr>
              <a:t> </a:t>
            </a:r>
            <a:r>
              <a:rPr lang="en-US" sz="1400" err="1">
                <a:solidFill>
                  <a:schemeClr val="accent1">
                    <a:lumMod val="50000"/>
                  </a:schemeClr>
                </a:solidFill>
                <a:latin typeface="Aptos"/>
                <a:ea typeface="Calibri"/>
                <a:cs typeface="Calibri"/>
              </a:rPr>
              <a:t>контекст</a:t>
            </a:r>
            <a:r>
              <a:rPr lang="en-US" sz="1400">
                <a:solidFill>
                  <a:schemeClr val="accent1">
                    <a:lumMod val="50000"/>
                  </a:schemeClr>
                </a:solidFill>
                <a:latin typeface="Aptos"/>
                <a:ea typeface="Calibri"/>
                <a:cs typeface="Calibri"/>
              </a:rPr>
              <a:t> - </a:t>
            </a:r>
            <a:r>
              <a:rPr lang="en-US" sz="1400" err="1">
                <a:solidFill>
                  <a:schemeClr val="accent1">
                    <a:lumMod val="50000"/>
                  </a:schemeClr>
                </a:solidFill>
                <a:latin typeface="Aptos"/>
                <a:ea typeface="Calibri"/>
                <a:cs typeface="Calibri"/>
              </a:rPr>
              <a:t>препоръка</a:t>
            </a:r>
            <a:r>
              <a:rPr lang="en-US" sz="1400">
                <a:solidFill>
                  <a:schemeClr val="accent1">
                    <a:lumMod val="50000"/>
                  </a:schemeClr>
                </a:solidFill>
                <a:latin typeface="Aptos"/>
                <a:ea typeface="Calibri"/>
                <a:cs typeface="Calibri"/>
              </a:rPr>
              <a:t>, </a:t>
            </a:r>
            <a:r>
              <a:rPr lang="en-US" sz="1400" err="1">
                <a:solidFill>
                  <a:schemeClr val="accent1">
                    <a:lumMod val="50000"/>
                  </a:schemeClr>
                </a:solidFill>
                <a:latin typeface="Aptos"/>
                <a:ea typeface="Calibri"/>
                <a:cs typeface="Calibri"/>
              </a:rPr>
              <a:t>интерес</a:t>
            </a:r>
            <a:r>
              <a:rPr lang="en-US" sz="1400">
                <a:solidFill>
                  <a:schemeClr val="accent1">
                    <a:lumMod val="50000"/>
                  </a:schemeClr>
                </a:solidFill>
                <a:latin typeface="Aptos"/>
                <a:ea typeface="Calibri"/>
                <a:cs typeface="Calibri"/>
              </a:rPr>
              <a:t>, </a:t>
            </a:r>
            <a:r>
              <a:rPr lang="en-US" sz="1400" err="1">
                <a:solidFill>
                  <a:schemeClr val="accent1">
                    <a:lumMod val="50000"/>
                  </a:schemeClr>
                </a:solidFill>
                <a:latin typeface="Aptos"/>
                <a:ea typeface="Calibri"/>
                <a:cs typeface="Calibri"/>
              </a:rPr>
              <a:t>разговор</a:t>
            </a:r>
            <a:r>
              <a:rPr lang="en-US" sz="1400">
                <a:solidFill>
                  <a:schemeClr val="accent1">
                    <a:lumMod val="50000"/>
                  </a:schemeClr>
                </a:solidFill>
                <a:latin typeface="Aptos"/>
                <a:ea typeface="Calibri"/>
                <a:cs typeface="Calibri"/>
              </a:rPr>
              <a:t> </a:t>
            </a:r>
            <a:r>
              <a:rPr lang="en-US" sz="1400" err="1">
                <a:solidFill>
                  <a:schemeClr val="accent1">
                    <a:lumMod val="50000"/>
                  </a:schemeClr>
                </a:solidFill>
                <a:latin typeface="Aptos"/>
                <a:ea typeface="Calibri"/>
                <a:cs typeface="Calibri"/>
              </a:rPr>
              <a:t>или</a:t>
            </a:r>
            <a:r>
              <a:rPr lang="en-US" sz="1400">
                <a:solidFill>
                  <a:schemeClr val="accent1">
                    <a:lumMod val="50000"/>
                  </a:schemeClr>
                </a:solidFill>
                <a:latin typeface="Aptos"/>
                <a:ea typeface="Calibri"/>
                <a:cs typeface="Calibri"/>
              </a:rPr>
              <a:t> </a:t>
            </a:r>
            <a:r>
              <a:rPr lang="en-US" sz="1400" err="1">
                <a:solidFill>
                  <a:schemeClr val="accent1">
                    <a:lumMod val="50000"/>
                  </a:schemeClr>
                </a:solidFill>
                <a:latin typeface="Aptos"/>
                <a:ea typeface="Calibri"/>
                <a:cs typeface="Calibri"/>
              </a:rPr>
              <a:t>конкретен</a:t>
            </a:r>
            <a:r>
              <a:rPr lang="en-US" sz="1400">
                <a:solidFill>
                  <a:schemeClr val="accent1">
                    <a:lumMod val="50000"/>
                  </a:schemeClr>
                </a:solidFill>
                <a:latin typeface="Aptos"/>
                <a:ea typeface="Calibri"/>
                <a:cs typeface="Calibri"/>
              </a:rPr>
              <a:t> </a:t>
            </a:r>
            <a:r>
              <a:rPr lang="en-US" sz="1400" err="1">
                <a:solidFill>
                  <a:schemeClr val="accent1">
                    <a:lumMod val="50000"/>
                  </a:schemeClr>
                </a:solidFill>
                <a:latin typeface="Aptos"/>
                <a:ea typeface="Calibri"/>
                <a:cs typeface="Calibri"/>
              </a:rPr>
              <a:t>повод</a:t>
            </a:r>
            <a:r>
              <a:rPr lang="en-US" sz="1400">
                <a:solidFill>
                  <a:schemeClr val="accent1">
                    <a:lumMod val="50000"/>
                  </a:schemeClr>
                </a:solidFill>
                <a:latin typeface="Aptos"/>
                <a:ea typeface="Calibri"/>
                <a:cs typeface="Calibri"/>
              </a:rPr>
              <a:t>.</a:t>
            </a:r>
            <a:endParaRPr lang="en-GB" sz="1400">
              <a:solidFill>
                <a:schemeClr val="accent1">
                  <a:lumMod val="50000"/>
                </a:schemeClr>
              </a:solidFill>
              <a:latin typeface="Aptos"/>
              <a:ea typeface="Calibri"/>
              <a:cs typeface="Calibri"/>
            </a:endParaRPr>
          </a:p>
        </p:txBody>
      </p:sp>
      <p:sp>
        <p:nvSpPr>
          <p:cNvPr id="21" name="TextBox 20">
            <a:extLst>
              <a:ext uri="{FF2B5EF4-FFF2-40B4-BE49-F238E27FC236}">
                <a16:creationId xmlns:a16="http://schemas.microsoft.com/office/drawing/2014/main" id="{F1F6AC70-7004-0273-0EF5-ED80961D0BA0}"/>
              </a:ext>
            </a:extLst>
          </p:cNvPr>
          <p:cNvSpPr txBox="1"/>
          <p:nvPr/>
        </p:nvSpPr>
        <p:spPr>
          <a:xfrm>
            <a:off x="8276657" y="2356573"/>
            <a:ext cx="2874809" cy="523220"/>
          </a:xfrm>
          <a:prstGeom prst="rect">
            <a:avLst/>
          </a:prstGeom>
          <a:noFill/>
        </p:spPr>
        <p:txBody>
          <a:bodyPr wrap="square">
            <a:spAutoFit/>
          </a:bodyPr>
          <a:lstStyle>
            <a:lvl1pPr>
              <a:defRPr sz="1200">
                <a:effectLst/>
                <a:latin typeface="Arial" panose="020B0604020202020204" pitchFamily="34" charset="0"/>
                <a:ea typeface="Arial" panose="020B0604020202020204" pitchFamily="34" charset="0"/>
                <a:cs typeface="Times New Roman" panose="02020603050405020304" pitchFamily="18" charset="0"/>
              </a:defRPr>
            </a:lvl1pPr>
          </a:lstStyle>
          <a:p>
            <a:r>
              <a:rPr lang="en-US" sz="1400" err="1">
                <a:solidFill>
                  <a:schemeClr val="accent1">
                    <a:lumMod val="50000"/>
                  </a:schemeClr>
                </a:solidFill>
                <a:latin typeface="Aptos"/>
                <a:ea typeface="Calibri"/>
                <a:cs typeface="Calibri"/>
              </a:rPr>
              <a:t>Контактът</a:t>
            </a:r>
            <a:r>
              <a:rPr lang="en-US" sz="1400">
                <a:solidFill>
                  <a:schemeClr val="accent1">
                    <a:lumMod val="50000"/>
                  </a:schemeClr>
                </a:solidFill>
                <a:latin typeface="Aptos"/>
                <a:ea typeface="Calibri"/>
                <a:cs typeface="Calibri"/>
              </a:rPr>
              <a:t> е с </a:t>
            </a:r>
            <a:r>
              <a:rPr lang="en-US" sz="1400" err="1">
                <a:solidFill>
                  <a:schemeClr val="accent1">
                    <a:lumMod val="50000"/>
                  </a:schemeClr>
                </a:solidFill>
                <a:latin typeface="Aptos"/>
                <a:ea typeface="Calibri"/>
                <a:cs typeface="Calibri"/>
              </a:rPr>
              <a:t>вече</a:t>
            </a:r>
            <a:r>
              <a:rPr lang="en-US" sz="1400">
                <a:solidFill>
                  <a:schemeClr val="accent1">
                    <a:lumMod val="50000"/>
                  </a:schemeClr>
                </a:solidFill>
                <a:latin typeface="Aptos"/>
                <a:ea typeface="Calibri"/>
                <a:cs typeface="Calibri"/>
              </a:rPr>
              <a:t> </a:t>
            </a:r>
            <a:r>
              <a:rPr lang="en-US" sz="1400" err="1">
                <a:solidFill>
                  <a:schemeClr val="accent1">
                    <a:lumMod val="50000"/>
                  </a:schemeClr>
                </a:solidFill>
                <a:latin typeface="Aptos"/>
                <a:ea typeface="Calibri"/>
                <a:cs typeface="Calibri"/>
              </a:rPr>
              <a:t>познат</a:t>
            </a:r>
            <a:r>
              <a:rPr lang="en-US" sz="1400">
                <a:solidFill>
                  <a:schemeClr val="accent1">
                    <a:lumMod val="50000"/>
                  </a:schemeClr>
                </a:solidFill>
                <a:latin typeface="Aptos"/>
                <a:ea typeface="Calibri"/>
                <a:cs typeface="Calibri"/>
              </a:rPr>
              <a:t> </a:t>
            </a:r>
            <a:r>
              <a:rPr lang="en-US" sz="1400" err="1">
                <a:solidFill>
                  <a:schemeClr val="accent1">
                    <a:lumMod val="50000"/>
                  </a:schemeClr>
                </a:solidFill>
                <a:latin typeface="Aptos"/>
                <a:ea typeface="Calibri"/>
                <a:cs typeface="Calibri"/>
              </a:rPr>
              <a:t>клиент</a:t>
            </a:r>
            <a:r>
              <a:rPr lang="en-US" sz="1400">
                <a:solidFill>
                  <a:schemeClr val="accent1">
                    <a:lumMod val="50000"/>
                  </a:schemeClr>
                </a:solidFill>
                <a:latin typeface="Aptos"/>
                <a:ea typeface="Calibri"/>
                <a:cs typeface="Calibri"/>
              </a:rPr>
              <a:t> в </a:t>
            </a:r>
            <a:r>
              <a:rPr lang="en-US" sz="1400" err="1">
                <a:solidFill>
                  <a:schemeClr val="accent1">
                    <a:lumMod val="50000"/>
                  </a:schemeClr>
                </a:solidFill>
                <a:latin typeface="Aptos"/>
                <a:ea typeface="Calibri"/>
                <a:cs typeface="Calibri"/>
              </a:rPr>
              <a:t>рамките</a:t>
            </a:r>
            <a:r>
              <a:rPr lang="en-US" sz="1400">
                <a:solidFill>
                  <a:schemeClr val="accent1">
                    <a:lumMod val="50000"/>
                  </a:schemeClr>
                </a:solidFill>
                <a:latin typeface="Aptos"/>
                <a:ea typeface="Calibri"/>
                <a:cs typeface="Calibri"/>
              </a:rPr>
              <a:t> </a:t>
            </a:r>
            <a:r>
              <a:rPr lang="en-US" sz="1400" err="1">
                <a:solidFill>
                  <a:schemeClr val="accent1">
                    <a:lumMod val="50000"/>
                  </a:schemeClr>
                </a:solidFill>
                <a:latin typeface="Aptos"/>
                <a:ea typeface="Calibri"/>
                <a:cs typeface="Calibri"/>
              </a:rPr>
              <a:t>на</a:t>
            </a:r>
            <a:r>
              <a:rPr lang="en-US" sz="1400">
                <a:solidFill>
                  <a:schemeClr val="accent1">
                    <a:lumMod val="50000"/>
                  </a:schemeClr>
                </a:solidFill>
                <a:latin typeface="Aptos"/>
                <a:ea typeface="Calibri"/>
                <a:cs typeface="Calibri"/>
              </a:rPr>
              <a:t> </a:t>
            </a:r>
            <a:r>
              <a:rPr lang="en-US" sz="1400" err="1">
                <a:solidFill>
                  <a:schemeClr val="accent1">
                    <a:lumMod val="50000"/>
                  </a:schemeClr>
                </a:solidFill>
                <a:latin typeface="Aptos"/>
                <a:ea typeface="Calibri"/>
                <a:cs typeface="Calibri"/>
              </a:rPr>
              <a:t>текуща</a:t>
            </a:r>
            <a:r>
              <a:rPr lang="en-US" sz="1400">
                <a:solidFill>
                  <a:schemeClr val="accent1">
                    <a:lumMod val="50000"/>
                  </a:schemeClr>
                </a:solidFill>
                <a:latin typeface="Aptos"/>
                <a:ea typeface="Calibri"/>
                <a:cs typeface="Calibri"/>
              </a:rPr>
              <a:t> </a:t>
            </a:r>
            <a:r>
              <a:rPr lang="en-US" sz="1400" err="1">
                <a:solidFill>
                  <a:schemeClr val="accent1">
                    <a:lumMod val="50000"/>
                  </a:schemeClr>
                </a:solidFill>
                <a:latin typeface="Aptos"/>
                <a:ea typeface="Calibri"/>
                <a:cs typeface="Calibri"/>
              </a:rPr>
              <a:t>връзка</a:t>
            </a:r>
            <a:endParaRPr lang="en-GB" sz="1400">
              <a:solidFill>
                <a:schemeClr val="accent1">
                  <a:lumMod val="50000"/>
                </a:schemeClr>
              </a:solidFill>
              <a:latin typeface="Aptos"/>
              <a:ea typeface="Calibri"/>
              <a:cs typeface="Calibri"/>
            </a:endParaRPr>
          </a:p>
        </p:txBody>
      </p:sp>
      <p:sp>
        <p:nvSpPr>
          <p:cNvPr id="22" name="TextBox 21">
            <a:extLst>
              <a:ext uri="{FF2B5EF4-FFF2-40B4-BE49-F238E27FC236}">
                <a16:creationId xmlns:a16="http://schemas.microsoft.com/office/drawing/2014/main" id="{FB335AF9-AB4E-BB2C-0264-40BD4C805173}"/>
              </a:ext>
            </a:extLst>
          </p:cNvPr>
          <p:cNvSpPr txBox="1"/>
          <p:nvPr/>
        </p:nvSpPr>
        <p:spPr>
          <a:xfrm>
            <a:off x="1996490" y="3375926"/>
            <a:ext cx="2499504" cy="1169551"/>
          </a:xfrm>
          <a:prstGeom prst="rect">
            <a:avLst/>
          </a:prstGeom>
          <a:noFill/>
        </p:spPr>
        <p:txBody>
          <a:bodyPr wrap="square">
            <a:spAutoFit/>
          </a:bodyPr>
          <a:lstStyle/>
          <a:p>
            <a:r>
              <a:rPr lang="bg-BG" sz="1400" b="1">
                <a:solidFill>
                  <a:schemeClr val="accent1">
                    <a:lumMod val="50000"/>
                  </a:schemeClr>
                </a:solidFill>
                <a:effectLst/>
                <a:latin typeface="Aptos"/>
                <a:ea typeface="Calibri"/>
                <a:cs typeface="Calibri"/>
              </a:rPr>
              <a:t>Подход: </a:t>
            </a:r>
          </a:p>
          <a:p>
            <a:r>
              <a:rPr lang="en-US" sz="1400" err="1">
                <a:solidFill>
                  <a:schemeClr val="accent1">
                    <a:lumMod val="50000"/>
                  </a:schemeClr>
                </a:solidFill>
                <a:latin typeface="Aptos"/>
                <a:ea typeface="Calibri"/>
                <a:cs typeface="Calibri"/>
              </a:rPr>
              <a:t>Откриването</a:t>
            </a:r>
            <a:r>
              <a:rPr lang="en-US" sz="1400">
                <a:solidFill>
                  <a:schemeClr val="accent1">
                    <a:lumMod val="50000"/>
                  </a:schemeClr>
                </a:solidFill>
                <a:latin typeface="Aptos"/>
                <a:ea typeface="Calibri"/>
                <a:cs typeface="Calibri"/>
              </a:rPr>
              <a:t> </a:t>
            </a:r>
            <a:r>
              <a:rPr lang="en-US" sz="1400" err="1">
                <a:solidFill>
                  <a:schemeClr val="accent1">
                    <a:lumMod val="50000"/>
                  </a:schemeClr>
                </a:solidFill>
                <a:latin typeface="Aptos"/>
                <a:ea typeface="Calibri"/>
                <a:cs typeface="Calibri"/>
              </a:rPr>
              <a:t>трябва</a:t>
            </a:r>
            <a:r>
              <a:rPr lang="en-US" sz="1400">
                <a:solidFill>
                  <a:schemeClr val="accent1">
                    <a:lumMod val="50000"/>
                  </a:schemeClr>
                </a:solidFill>
                <a:latin typeface="Aptos"/>
                <a:ea typeface="Calibri"/>
                <a:cs typeface="Calibri"/>
              </a:rPr>
              <a:t> </a:t>
            </a:r>
            <a:r>
              <a:rPr lang="en-US" sz="1400" err="1">
                <a:solidFill>
                  <a:schemeClr val="accent1">
                    <a:lumMod val="50000"/>
                  </a:schemeClr>
                </a:solidFill>
                <a:latin typeface="Aptos"/>
                <a:ea typeface="Calibri"/>
                <a:cs typeface="Calibri"/>
              </a:rPr>
              <a:t>бързо</a:t>
            </a:r>
            <a:r>
              <a:rPr lang="en-US" sz="1400">
                <a:solidFill>
                  <a:schemeClr val="accent1">
                    <a:lumMod val="50000"/>
                  </a:schemeClr>
                </a:solidFill>
                <a:latin typeface="Aptos"/>
                <a:ea typeface="Calibri"/>
                <a:cs typeface="Calibri"/>
              </a:rPr>
              <a:t> </a:t>
            </a:r>
            <a:r>
              <a:rPr lang="en-US" sz="1400" err="1">
                <a:solidFill>
                  <a:schemeClr val="accent1">
                    <a:lumMod val="50000"/>
                  </a:schemeClr>
                </a:solidFill>
                <a:latin typeface="Aptos"/>
                <a:ea typeface="Calibri"/>
                <a:cs typeface="Calibri"/>
              </a:rPr>
              <a:t>да</a:t>
            </a:r>
            <a:r>
              <a:rPr lang="en-US" sz="1400">
                <a:solidFill>
                  <a:schemeClr val="accent1">
                    <a:lumMod val="50000"/>
                  </a:schemeClr>
                </a:solidFill>
                <a:latin typeface="Aptos"/>
                <a:ea typeface="Calibri"/>
                <a:cs typeface="Calibri"/>
              </a:rPr>
              <a:t> </a:t>
            </a:r>
            <a:r>
              <a:rPr lang="en-US" sz="1400" err="1">
                <a:solidFill>
                  <a:schemeClr val="accent1">
                    <a:lumMod val="50000"/>
                  </a:schemeClr>
                </a:solidFill>
                <a:latin typeface="Aptos"/>
                <a:ea typeface="Calibri"/>
                <a:cs typeface="Calibri"/>
              </a:rPr>
              <a:t>създаде</a:t>
            </a:r>
            <a:r>
              <a:rPr lang="en-US" sz="1400">
                <a:solidFill>
                  <a:schemeClr val="accent1">
                    <a:lumMod val="50000"/>
                  </a:schemeClr>
                </a:solidFill>
                <a:latin typeface="Aptos"/>
                <a:ea typeface="Calibri"/>
                <a:cs typeface="Calibri"/>
              </a:rPr>
              <a:t> </a:t>
            </a:r>
            <a:r>
              <a:rPr lang="en-US" sz="1400" err="1">
                <a:solidFill>
                  <a:schemeClr val="accent1">
                    <a:lumMod val="50000"/>
                  </a:schemeClr>
                </a:solidFill>
                <a:latin typeface="Aptos"/>
                <a:ea typeface="Calibri"/>
                <a:cs typeface="Calibri"/>
              </a:rPr>
              <a:t>доверие</a:t>
            </a:r>
            <a:r>
              <a:rPr lang="en-US" sz="1400">
                <a:solidFill>
                  <a:schemeClr val="accent1">
                    <a:lumMod val="50000"/>
                  </a:schemeClr>
                </a:solidFill>
                <a:latin typeface="Aptos"/>
                <a:ea typeface="Calibri"/>
                <a:cs typeface="Calibri"/>
              </a:rPr>
              <a:t> и </a:t>
            </a:r>
            <a:r>
              <a:rPr lang="en-US" sz="1400" err="1">
                <a:solidFill>
                  <a:schemeClr val="accent1">
                    <a:lumMod val="50000"/>
                  </a:schemeClr>
                </a:solidFill>
                <a:latin typeface="Aptos"/>
                <a:ea typeface="Calibri"/>
                <a:cs typeface="Calibri"/>
              </a:rPr>
              <a:t>да</a:t>
            </a:r>
            <a:r>
              <a:rPr lang="en-US" sz="1400">
                <a:solidFill>
                  <a:schemeClr val="accent1">
                    <a:lumMod val="50000"/>
                  </a:schemeClr>
                </a:solidFill>
                <a:latin typeface="Aptos"/>
                <a:ea typeface="Calibri"/>
                <a:cs typeface="Calibri"/>
              </a:rPr>
              <a:t> </a:t>
            </a:r>
            <a:r>
              <a:rPr lang="en-US" sz="1400" err="1">
                <a:solidFill>
                  <a:schemeClr val="accent1">
                    <a:lumMod val="50000"/>
                  </a:schemeClr>
                </a:solidFill>
                <a:latin typeface="Aptos"/>
                <a:ea typeface="Calibri"/>
                <a:cs typeface="Calibri"/>
              </a:rPr>
              <a:t>обясни</a:t>
            </a:r>
            <a:r>
              <a:rPr lang="en-US" sz="1400">
                <a:solidFill>
                  <a:schemeClr val="accent1">
                    <a:lumMod val="50000"/>
                  </a:schemeClr>
                </a:solidFill>
                <a:latin typeface="Aptos"/>
                <a:ea typeface="Calibri"/>
                <a:cs typeface="Calibri"/>
              </a:rPr>
              <a:t> </a:t>
            </a:r>
            <a:r>
              <a:rPr lang="en-US" sz="1400" err="1">
                <a:solidFill>
                  <a:schemeClr val="accent1">
                    <a:lumMod val="50000"/>
                  </a:schemeClr>
                </a:solidFill>
                <a:latin typeface="Aptos"/>
                <a:ea typeface="Calibri"/>
                <a:cs typeface="Calibri"/>
              </a:rPr>
              <a:t>защо</a:t>
            </a:r>
            <a:r>
              <a:rPr lang="en-US" sz="1400">
                <a:solidFill>
                  <a:schemeClr val="accent1">
                    <a:lumMod val="50000"/>
                  </a:schemeClr>
                </a:solidFill>
                <a:latin typeface="Aptos"/>
                <a:ea typeface="Calibri"/>
                <a:cs typeface="Calibri"/>
              </a:rPr>
              <a:t> </a:t>
            </a:r>
            <a:r>
              <a:rPr lang="en-US" sz="1400" err="1">
                <a:solidFill>
                  <a:schemeClr val="accent1">
                    <a:lumMod val="50000"/>
                  </a:schemeClr>
                </a:solidFill>
                <a:latin typeface="Aptos"/>
                <a:ea typeface="Calibri"/>
                <a:cs typeface="Calibri"/>
              </a:rPr>
              <a:t>човекът</a:t>
            </a:r>
            <a:r>
              <a:rPr lang="en-US" sz="1400">
                <a:solidFill>
                  <a:schemeClr val="accent1">
                    <a:lumMod val="50000"/>
                  </a:schemeClr>
                </a:solidFill>
                <a:latin typeface="Aptos"/>
                <a:ea typeface="Calibri"/>
                <a:cs typeface="Calibri"/>
              </a:rPr>
              <a:t> </a:t>
            </a:r>
            <a:r>
              <a:rPr lang="en-US" sz="1400" err="1">
                <a:solidFill>
                  <a:schemeClr val="accent1">
                    <a:lumMod val="50000"/>
                  </a:schemeClr>
                </a:solidFill>
                <a:latin typeface="Aptos"/>
                <a:ea typeface="Calibri"/>
                <a:cs typeface="Calibri"/>
              </a:rPr>
              <a:t>получава</a:t>
            </a:r>
            <a:r>
              <a:rPr lang="en-US" sz="1400">
                <a:solidFill>
                  <a:schemeClr val="accent1">
                    <a:lumMod val="50000"/>
                  </a:schemeClr>
                </a:solidFill>
                <a:latin typeface="Aptos"/>
                <a:ea typeface="Calibri"/>
                <a:cs typeface="Calibri"/>
              </a:rPr>
              <a:t> </a:t>
            </a:r>
            <a:r>
              <a:rPr lang="en-US" sz="1400" err="1">
                <a:solidFill>
                  <a:schemeClr val="accent1">
                    <a:lumMod val="50000"/>
                  </a:schemeClr>
                </a:solidFill>
                <a:latin typeface="Aptos"/>
                <a:ea typeface="Calibri"/>
                <a:cs typeface="Calibri"/>
              </a:rPr>
              <a:t>това</a:t>
            </a:r>
            <a:r>
              <a:rPr lang="en-US" sz="1400">
                <a:solidFill>
                  <a:schemeClr val="accent1">
                    <a:lumMod val="50000"/>
                  </a:schemeClr>
                </a:solidFill>
                <a:latin typeface="Aptos"/>
                <a:ea typeface="Calibri"/>
                <a:cs typeface="Calibri"/>
              </a:rPr>
              <a:t> </a:t>
            </a:r>
            <a:r>
              <a:rPr lang="en-US" sz="1400" err="1">
                <a:solidFill>
                  <a:schemeClr val="accent1">
                    <a:lumMod val="50000"/>
                  </a:schemeClr>
                </a:solidFill>
                <a:latin typeface="Aptos"/>
                <a:ea typeface="Calibri"/>
                <a:cs typeface="Calibri"/>
              </a:rPr>
              <a:t>обаждане</a:t>
            </a:r>
            <a:r>
              <a:rPr lang="en-US" sz="1400">
                <a:solidFill>
                  <a:schemeClr val="accent1">
                    <a:lumMod val="50000"/>
                  </a:schemeClr>
                </a:solidFill>
                <a:latin typeface="Aptos"/>
                <a:ea typeface="Calibri"/>
                <a:cs typeface="Calibri"/>
              </a:rPr>
              <a:t>.</a:t>
            </a:r>
            <a:endParaRPr lang="en-GB" sz="1050">
              <a:solidFill>
                <a:schemeClr val="accent1">
                  <a:lumMod val="50000"/>
                </a:schemeClr>
              </a:solidFill>
              <a:latin typeface="Aptos"/>
              <a:ea typeface="Calibri"/>
              <a:cs typeface="Calibri"/>
            </a:endParaRPr>
          </a:p>
        </p:txBody>
      </p:sp>
      <p:sp>
        <p:nvSpPr>
          <p:cNvPr id="24" name="TextBox 23">
            <a:extLst>
              <a:ext uri="{FF2B5EF4-FFF2-40B4-BE49-F238E27FC236}">
                <a16:creationId xmlns:a16="http://schemas.microsoft.com/office/drawing/2014/main" id="{A7AE0AC8-02B9-C6D6-04FC-6A014B877BC3}"/>
              </a:ext>
            </a:extLst>
          </p:cNvPr>
          <p:cNvSpPr txBox="1"/>
          <p:nvPr/>
        </p:nvSpPr>
        <p:spPr>
          <a:xfrm>
            <a:off x="5140763" y="3379557"/>
            <a:ext cx="2486650" cy="1169551"/>
          </a:xfrm>
          <a:prstGeom prst="rect">
            <a:avLst/>
          </a:prstGeom>
          <a:noFill/>
        </p:spPr>
        <p:txBody>
          <a:bodyPr wrap="square">
            <a:spAutoFit/>
          </a:bodyPr>
          <a:lstStyle/>
          <a:p>
            <a:r>
              <a:rPr lang="bg-BG" sz="1400" b="1">
                <a:solidFill>
                  <a:schemeClr val="accent1">
                    <a:lumMod val="50000"/>
                  </a:schemeClr>
                </a:solidFill>
                <a:latin typeface="Aptos"/>
                <a:ea typeface="Calibri"/>
                <a:cs typeface="Calibri"/>
              </a:rPr>
              <a:t>Подход: </a:t>
            </a:r>
            <a:endParaRPr lang="bg-BG" sz="1400">
              <a:solidFill>
                <a:schemeClr val="accent1">
                  <a:lumMod val="50000"/>
                </a:schemeClr>
              </a:solidFill>
              <a:latin typeface="Aptos"/>
              <a:ea typeface="Calibri"/>
              <a:cs typeface="Calibri"/>
            </a:endParaRPr>
          </a:p>
          <a:p>
            <a:r>
              <a:rPr lang="en-US" sz="1400" err="1">
                <a:solidFill>
                  <a:schemeClr val="accent1">
                    <a:lumMod val="50000"/>
                  </a:schemeClr>
                </a:solidFill>
                <a:latin typeface="Aptos"/>
                <a:ea typeface="Calibri"/>
                <a:cs typeface="Calibri"/>
              </a:rPr>
              <a:t>Откриването</a:t>
            </a:r>
            <a:r>
              <a:rPr lang="en-US" sz="1400">
                <a:solidFill>
                  <a:schemeClr val="accent1">
                    <a:lumMod val="50000"/>
                  </a:schemeClr>
                </a:solidFill>
                <a:latin typeface="Aptos"/>
                <a:ea typeface="Calibri"/>
                <a:cs typeface="Calibri"/>
              </a:rPr>
              <a:t> </a:t>
            </a:r>
            <a:r>
              <a:rPr lang="en-US" sz="1400" err="1">
                <a:solidFill>
                  <a:schemeClr val="accent1">
                    <a:lumMod val="50000"/>
                  </a:schemeClr>
                </a:solidFill>
                <a:latin typeface="Aptos"/>
                <a:ea typeface="Calibri"/>
                <a:cs typeface="Calibri"/>
              </a:rPr>
              <a:t>стъпва</a:t>
            </a:r>
            <a:r>
              <a:rPr lang="en-US" sz="1400">
                <a:solidFill>
                  <a:schemeClr val="accent1">
                    <a:lumMod val="50000"/>
                  </a:schemeClr>
                </a:solidFill>
                <a:latin typeface="Aptos"/>
                <a:ea typeface="Calibri"/>
                <a:cs typeface="Calibri"/>
              </a:rPr>
              <a:t> </a:t>
            </a:r>
            <a:r>
              <a:rPr lang="en-US" sz="1400" err="1">
                <a:solidFill>
                  <a:schemeClr val="accent1">
                    <a:lumMod val="50000"/>
                  </a:schemeClr>
                </a:solidFill>
                <a:latin typeface="Aptos"/>
                <a:ea typeface="Calibri"/>
                <a:cs typeface="Calibri"/>
              </a:rPr>
              <a:t>на</a:t>
            </a:r>
            <a:r>
              <a:rPr lang="en-US" sz="1400">
                <a:solidFill>
                  <a:schemeClr val="accent1">
                    <a:lumMod val="50000"/>
                  </a:schemeClr>
                </a:solidFill>
                <a:latin typeface="Aptos"/>
                <a:ea typeface="Calibri"/>
                <a:cs typeface="Calibri"/>
              </a:rPr>
              <a:t> </a:t>
            </a:r>
            <a:r>
              <a:rPr lang="en-US" sz="1400" err="1">
                <a:solidFill>
                  <a:schemeClr val="accent1">
                    <a:lumMod val="50000"/>
                  </a:schemeClr>
                </a:solidFill>
                <a:latin typeface="Aptos"/>
                <a:ea typeface="Calibri"/>
                <a:cs typeface="Calibri"/>
              </a:rPr>
              <a:t>познатия</a:t>
            </a:r>
            <a:r>
              <a:rPr lang="en-US" sz="1400">
                <a:solidFill>
                  <a:schemeClr val="accent1">
                    <a:lumMod val="50000"/>
                  </a:schemeClr>
                </a:solidFill>
                <a:latin typeface="Aptos"/>
                <a:ea typeface="Calibri"/>
                <a:cs typeface="Calibri"/>
              </a:rPr>
              <a:t> </a:t>
            </a:r>
            <a:r>
              <a:rPr lang="en-US" sz="1400" err="1">
                <a:solidFill>
                  <a:schemeClr val="accent1">
                    <a:lumMod val="50000"/>
                  </a:schemeClr>
                </a:solidFill>
                <a:latin typeface="Aptos"/>
                <a:ea typeface="Calibri"/>
                <a:cs typeface="Calibri"/>
              </a:rPr>
              <a:t>контекст</a:t>
            </a:r>
            <a:r>
              <a:rPr lang="en-US" sz="1400">
                <a:solidFill>
                  <a:schemeClr val="accent1">
                    <a:lumMod val="50000"/>
                  </a:schemeClr>
                </a:solidFill>
                <a:latin typeface="Aptos"/>
                <a:ea typeface="Calibri"/>
                <a:cs typeface="Calibri"/>
              </a:rPr>
              <a:t> и </a:t>
            </a:r>
            <a:r>
              <a:rPr lang="en-US" sz="1400" err="1">
                <a:solidFill>
                  <a:schemeClr val="accent1">
                    <a:lumMod val="50000"/>
                  </a:schemeClr>
                </a:solidFill>
                <a:latin typeface="Aptos"/>
                <a:ea typeface="Calibri"/>
                <a:cs typeface="Calibri"/>
              </a:rPr>
              <a:t>намалява</a:t>
            </a:r>
            <a:r>
              <a:rPr lang="en-US" sz="1400">
                <a:solidFill>
                  <a:schemeClr val="accent1">
                    <a:lumMod val="50000"/>
                  </a:schemeClr>
                </a:solidFill>
                <a:latin typeface="Aptos"/>
                <a:ea typeface="Calibri"/>
                <a:cs typeface="Calibri"/>
              </a:rPr>
              <a:t> </a:t>
            </a:r>
            <a:r>
              <a:rPr lang="en-US" sz="1400" err="1">
                <a:solidFill>
                  <a:schemeClr val="accent1">
                    <a:lumMod val="50000"/>
                  </a:schemeClr>
                </a:solidFill>
                <a:latin typeface="Aptos"/>
                <a:ea typeface="Calibri"/>
                <a:cs typeface="Calibri"/>
              </a:rPr>
              <a:t>усещането</a:t>
            </a:r>
            <a:r>
              <a:rPr lang="en-US" sz="1400">
                <a:solidFill>
                  <a:schemeClr val="accent1">
                    <a:lumMod val="50000"/>
                  </a:schemeClr>
                </a:solidFill>
                <a:latin typeface="Aptos"/>
                <a:ea typeface="Calibri"/>
                <a:cs typeface="Calibri"/>
              </a:rPr>
              <a:t> за </a:t>
            </a:r>
            <a:r>
              <a:rPr lang="en-US" sz="1400" err="1">
                <a:solidFill>
                  <a:schemeClr val="accent1">
                    <a:lumMod val="50000"/>
                  </a:schemeClr>
                </a:solidFill>
                <a:latin typeface="Aptos"/>
                <a:ea typeface="Calibri"/>
                <a:cs typeface="Calibri"/>
              </a:rPr>
              <a:t>непоискан</a:t>
            </a:r>
            <a:r>
              <a:rPr lang="en-US" sz="1400">
                <a:solidFill>
                  <a:schemeClr val="accent1">
                    <a:lumMod val="50000"/>
                  </a:schemeClr>
                </a:solidFill>
                <a:latin typeface="Aptos"/>
                <a:ea typeface="Calibri"/>
                <a:cs typeface="Calibri"/>
              </a:rPr>
              <a:t> </a:t>
            </a:r>
            <a:r>
              <a:rPr lang="en-US" sz="1400" err="1">
                <a:solidFill>
                  <a:schemeClr val="accent1">
                    <a:lumMod val="50000"/>
                  </a:schemeClr>
                </a:solidFill>
                <a:latin typeface="Aptos"/>
                <a:ea typeface="Calibri"/>
                <a:cs typeface="Calibri"/>
              </a:rPr>
              <a:t>контакт</a:t>
            </a:r>
            <a:r>
              <a:rPr lang="en-US" sz="1400">
                <a:solidFill>
                  <a:schemeClr val="accent1">
                    <a:lumMod val="50000"/>
                  </a:schemeClr>
                </a:solidFill>
                <a:latin typeface="Aptos"/>
                <a:ea typeface="Calibri"/>
                <a:cs typeface="Calibri"/>
              </a:rPr>
              <a:t>.</a:t>
            </a:r>
            <a:endParaRPr lang="en-GB" sz="1400">
              <a:solidFill>
                <a:schemeClr val="accent1">
                  <a:lumMod val="50000"/>
                </a:schemeClr>
              </a:solidFill>
              <a:latin typeface="Aptos"/>
              <a:ea typeface="Calibri"/>
              <a:cs typeface="Calibri"/>
            </a:endParaRPr>
          </a:p>
        </p:txBody>
      </p:sp>
      <p:sp>
        <p:nvSpPr>
          <p:cNvPr id="26" name="TextBox 25">
            <a:extLst>
              <a:ext uri="{FF2B5EF4-FFF2-40B4-BE49-F238E27FC236}">
                <a16:creationId xmlns:a16="http://schemas.microsoft.com/office/drawing/2014/main" id="{27C2C988-819A-1A04-22FC-B26F3C436B95}"/>
              </a:ext>
            </a:extLst>
          </p:cNvPr>
          <p:cNvSpPr txBox="1"/>
          <p:nvPr/>
        </p:nvSpPr>
        <p:spPr>
          <a:xfrm>
            <a:off x="8266869" y="3386394"/>
            <a:ext cx="2632107" cy="954107"/>
          </a:xfrm>
          <a:prstGeom prst="rect">
            <a:avLst/>
          </a:prstGeom>
          <a:noFill/>
        </p:spPr>
        <p:txBody>
          <a:bodyPr wrap="square">
            <a:spAutoFit/>
          </a:bodyPr>
          <a:lstStyle/>
          <a:p>
            <a:r>
              <a:rPr lang="bg-BG" sz="1400" b="1">
                <a:solidFill>
                  <a:schemeClr val="accent1">
                    <a:lumMod val="50000"/>
                  </a:schemeClr>
                </a:solidFill>
                <a:latin typeface="Aptos"/>
                <a:ea typeface="Calibri"/>
                <a:cs typeface="Calibri"/>
              </a:rPr>
              <a:t>Подход: </a:t>
            </a:r>
            <a:endParaRPr lang="bg-BG" sz="1400">
              <a:solidFill>
                <a:schemeClr val="accent1">
                  <a:lumMod val="50000"/>
                </a:schemeClr>
              </a:solidFill>
              <a:latin typeface="Aptos"/>
              <a:ea typeface="Calibri"/>
              <a:cs typeface="Calibri"/>
            </a:endParaRPr>
          </a:p>
          <a:p>
            <a:r>
              <a:rPr lang="en-US" sz="1400" err="1">
                <a:solidFill>
                  <a:schemeClr val="accent1">
                    <a:lumMod val="50000"/>
                  </a:schemeClr>
                </a:solidFill>
                <a:latin typeface="Aptos"/>
                <a:ea typeface="Calibri"/>
                <a:cs typeface="Calibri"/>
              </a:rPr>
              <a:t>Откриването</a:t>
            </a:r>
            <a:r>
              <a:rPr lang="en-US" sz="1400">
                <a:solidFill>
                  <a:schemeClr val="accent1">
                    <a:lumMod val="50000"/>
                  </a:schemeClr>
                </a:solidFill>
                <a:latin typeface="Aptos"/>
                <a:ea typeface="Calibri"/>
                <a:cs typeface="Calibri"/>
              </a:rPr>
              <a:t> </a:t>
            </a:r>
            <a:r>
              <a:rPr lang="en-US" sz="1400" err="1">
                <a:solidFill>
                  <a:schemeClr val="accent1">
                    <a:lumMod val="50000"/>
                  </a:schemeClr>
                </a:solidFill>
                <a:latin typeface="Aptos"/>
                <a:ea typeface="Calibri"/>
                <a:cs typeface="Calibri"/>
              </a:rPr>
              <a:t>трябва</a:t>
            </a:r>
            <a:r>
              <a:rPr lang="en-US" sz="1400">
                <a:solidFill>
                  <a:schemeClr val="accent1">
                    <a:lumMod val="50000"/>
                  </a:schemeClr>
                </a:solidFill>
                <a:latin typeface="Aptos"/>
                <a:ea typeface="Calibri"/>
                <a:cs typeface="Calibri"/>
              </a:rPr>
              <a:t> </a:t>
            </a:r>
            <a:r>
              <a:rPr lang="en-US" sz="1400" err="1">
                <a:solidFill>
                  <a:schemeClr val="accent1">
                    <a:lumMod val="50000"/>
                  </a:schemeClr>
                </a:solidFill>
                <a:latin typeface="Aptos"/>
                <a:ea typeface="Calibri"/>
                <a:cs typeface="Calibri"/>
              </a:rPr>
              <a:t>да</a:t>
            </a:r>
            <a:r>
              <a:rPr lang="en-US" sz="1400">
                <a:solidFill>
                  <a:schemeClr val="accent1">
                    <a:lumMod val="50000"/>
                  </a:schemeClr>
                </a:solidFill>
                <a:latin typeface="Aptos"/>
                <a:ea typeface="Calibri"/>
                <a:cs typeface="Calibri"/>
              </a:rPr>
              <a:t> </a:t>
            </a:r>
            <a:r>
              <a:rPr lang="en-US" sz="1400" err="1">
                <a:solidFill>
                  <a:schemeClr val="accent1">
                    <a:lumMod val="50000"/>
                  </a:schemeClr>
                </a:solidFill>
                <a:latin typeface="Aptos"/>
                <a:ea typeface="Calibri"/>
                <a:cs typeface="Calibri"/>
              </a:rPr>
              <a:t>показва</a:t>
            </a:r>
            <a:r>
              <a:rPr lang="en-US" sz="1400">
                <a:solidFill>
                  <a:schemeClr val="accent1">
                    <a:lumMod val="50000"/>
                  </a:schemeClr>
                </a:solidFill>
                <a:latin typeface="Aptos"/>
                <a:ea typeface="Calibri"/>
                <a:cs typeface="Calibri"/>
              </a:rPr>
              <a:t> </a:t>
            </a:r>
            <a:r>
              <a:rPr lang="en-US" sz="1400" err="1">
                <a:solidFill>
                  <a:schemeClr val="accent1">
                    <a:lumMod val="50000"/>
                  </a:schemeClr>
                </a:solidFill>
                <a:latin typeface="Aptos"/>
                <a:ea typeface="Calibri"/>
                <a:cs typeface="Calibri"/>
              </a:rPr>
              <a:t>последователност</a:t>
            </a:r>
            <a:r>
              <a:rPr lang="en-US" sz="1400">
                <a:solidFill>
                  <a:schemeClr val="accent1">
                    <a:lumMod val="50000"/>
                  </a:schemeClr>
                </a:solidFill>
                <a:latin typeface="Aptos"/>
                <a:ea typeface="Calibri"/>
                <a:cs typeface="Calibri"/>
              </a:rPr>
              <a:t>, </a:t>
            </a:r>
            <a:r>
              <a:rPr lang="en-US" sz="1400" err="1">
                <a:solidFill>
                  <a:schemeClr val="accent1">
                    <a:lumMod val="50000"/>
                  </a:schemeClr>
                </a:solidFill>
                <a:latin typeface="Aptos"/>
                <a:ea typeface="Calibri"/>
                <a:cs typeface="Calibri"/>
              </a:rPr>
              <a:t>грижа</a:t>
            </a:r>
            <a:r>
              <a:rPr lang="en-US" sz="1400">
                <a:solidFill>
                  <a:schemeClr val="accent1">
                    <a:lumMod val="50000"/>
                  </a:schemeClr>
                </a:solidFill>
                <a:latin typeface="Aptos"/>
                <a:ea typeface="Calibri"/>
                <a:cs typeface="Calibri"/>
              </a:rPr>
              <a:t> и </a:t>
            </a:r>
            <a:r>
              <a:rPr lang="en-US" sz="1400" err="1">
                <a:solidFill>
                  <a:schemeClr val="accent1">
                    <a:lumMod val="50000"/>
                  </a:schemeClr>
                </a:solidFill>
                <a:latin typeface="Aptos"/>
                <a:ea typeface="Calibri"/>
                <a:cs typeface="Calibri"/>
              </a:rPr>
              <a:t>смислен</a:t>
            </a:r>
            <a:r>
              <a:rPr lang="en-US" sz="1400">
                <a:solidFill>
                  <a:schemeClr val="accent1">
                    <a:lumMod val="50000"/>
                  </a:schemeClr>
                </a:solidFill>
                <a:latin typeface="Aptos"/>
                <a:ea typeface="Calibri"/>
                <a:cs typeface="Calibri"/>
              </a:rPr>
              <a:t> </a:t>
            </a:r>
            <a:r>
              <a:rPr lang="en-US" sz="1400" err="1">
                <a:solidFill>
                  <a:schemeClr val="accent1">
                    <a:lumMod val="50000"/>
                  </a:schemeClr>
                </a:solidFill>
                <a:latin typeface="Aptos"/>
                <a:ea typeface="Calibri"/>
                <a:cs typeface="Calibri"/>
              </a:rPr>
              <a:t>повод</a:t>
            </a:r>
            <a:r>
              <a:rPr lang="en-US" sz="1400">
                <a:solidFill>
                  <a:schemeClr val="accent1">
                    <a:lumMod val="50000"/>
                  </a:schemeClr>
                </a:solidFill>
                <a:latin typeface="Aptos"/>
                <a:ea typeface="Calibri"/>
                <a:cs typeface="Calibri"/>
              </a:rPr>
              <a:t>.</a:t>
            </a:r>
            <a:endParaRPr lang="en-GB" sz="1400">
              <a:solidFill>
                <a:schemeClr val="accent1">
                  <a:lumMod val="50000"/>
                </a:schemeClr>
              </a:solidFill>
              <a:latin typeface="Aptos"/>
              <a:ea typeface="Calibri"/>
              <a:cs typeface="Calibri"/>
            </a:endParaRPr>
          </a:p>
        </p:txBody>
      </p:sp>
      <p:sp>
        <p:nvSpPr>
          <p:cNvPr id="29" name="Rectangle 28">
            <a:extLst>
              <a:ext uri="{FF2B5EF4-FFF2-40B4-BE49-F238E27FC236}">
                <a16:creationId xmlns:a16="http://schemas.microsoft.com/office/drawing/2014/main" id="{F297EEBB-899D-EF63-F7C4-0C1E48558EF5}"/>
              </a:ext>
            </a:extLst>
          </p:cNvPr>
          <p:cNvSpPr/>
          <p:nvPr/>
        </p:nvSpPr>
        <p:spPr>
          <a:xfrm>
            <a:off x="6156" y="1599"/>
            <a:ext cx="1443340" cy="6866954"/>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400">
              <a:latin typeface="Aptos"/>
              <a:ea typeface="Calibri"/>
              <a:cs typeface="Calibri"/>
            </a:endParaRPr>
          </a:p>
        </p:txBody>
      </p:sp>
      <p:sp>
        <p:nvSpPr>
          <p:cNvPr id="30" name="Rectangle 29">
            <a:extLst>
              <a:ext uri="{FF2B5EF4-FFF2-40B4-BE49-F238E27FC236}">
                <a16:creationId xmlns:a16="http://schemas.microsoft.com/office/drawing/2014/main" id="{91AD30F2-8574-7E80-7340-D4E91EE26204}"/>
              </a:ext>
            </a:extLst>
          </p:cNvPr>
          <p:cNvSpPr/>
          <p:nvPr/>
        </p:nvSpPr>
        <p:spPr>
          <a:xfrm>
            <a:off x="-1671" y="2528038"/>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Типове клиенти</a:t>
            </a:r>
            <a:endParaRPr lang="en-GB" sz="1400">
              <a:latin typeface="Aptos"/>
              <a:ea typeface="Calibri"/>
              <a:cs typeface="Calibri"/>
            </a:endParaRPr>
          </a:p>
        </p:txBody>
      </p:sp>
      <p:sp>
        <p:nvSpPr>
          <p:cNvPr id="31" name="Rectangle 30">
            <a:extLst>
              <a:ext uri="{FF2B5EF4-FFF2-40B4-BE49-F238E27FC236}">
                <a16:creationId xmlns:a16="http://schemas.microsoft.com/office/drawing/2014/main" id="{D38C46C1-762A-79DE-29E6-238DE5459384}"/>
              </a:ext>
            </a:extLst>
          </p:cNvPr>
          <p:cNvSpPr/>
          <p:nvPr/>
        </p:nvSpPr>
        <p:spPr>
          <a:xfrm>
            <a:off x="8626" y="1913210"/>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Сценарии</a:t>
            </a:r>
            <a:endParaRPr lang="en-GB" sz="1400">
              <a:latin typeface="Aptos"/>
              <a:ea typeface="Calibri"/>
              <a:cs typeface="Calibri"/>
            </a:endParaRPr>
          </a:p>
        </p:txBody>
      </p:sp>
      <p:sp>
        <p:nvSpPr>
          <p:cNvPr id="32" name="Rectangle 31">
            <a:extLst>
              <a:ext uri="{FF2B5EF4-FFF2-40B4-BE49-F238E27FC236}">
                <a16:creationId xmlns:a16="http://schemas.microsoft.com/office/drawing/2014/main" id="{9220EF3C-E891-A1EB-AA9B-ADDF4CE59AB0}"/>
              </a:ext>
            </a:extLst>
          </p:cNvPr>
          <p:cNvSpPr/>
          <p:nvPr/>
        </p:nvSpPr>
        <p:spPr>
          <a:xfrm>
            <a:off x="-1671" y="1298382"/>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Стъпки в обаждането</a:t>
            </a:r>
            <a:endParaRPr lang="en-GB" sz="1400">
              <a:latin typeface="Aptos"/>
              <a:ea typeface="Calibri"/>
              <a:cs typeface="Calibri"/>
            </a:endParaRPr>
          </a:p>
        </p:txBody>
      </p:sp>
      <p:sp>
        <p:nvSpPr>
          <p:cNvPr id="33" name="Rectangle 32">
            <a:extLst>
              <a:ext uri="{FF2B5EF4-FFF2-40B4-BE49-F238E27FC236}">
                <a16:creationId xmlns:a16="http://schemas.microsoft.com/office/drawing/2014/main" id="{A92CC2E7-4009-585C-83F8-60C1B6832D15}"/>
              </a:ext>
            </a:extLst>
          </p:cNvPr>
          <p:cNvSpPr/>
          <p:nvPr/>
        </p:nvSpPr>
        <p:spPr>
          <a:xfrm>
            <a:off x="2037604" y="1126300"/>
            <a:ext cx="4368792" cy="62065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bg-BG" sz="2000" b="1">
                <a:solidFill>
                  <a:srgbClr val="1F3864"/>
                </a:solidFill>
                <a:latin typeface="Aptos"/>
                <a:ea typeface="Calibri"/>
                <a:cs typeface="Calibri"/>
              </a:rPr>
              <a:t>Видове контакти</a:t>
            </a:r>
            <a:endParaRPr lang="en-GB" sz="2000" b="1">
              <a:solidFill>
                <a:srgbClr val="1F3864"/>
              </a:solidFill>
              <a:latin typeface="Aptos"/>
              <a:ea typeface="Calibri"/>
              <a:cs typeface="Calibri"/>
            </a:endParaRPr>
          </a:p>
        </p:txBody>
      </p:sp>
      <p:sp>
        <p:nvSpPr>
          <p:cNvPr id="5" name="Rectangle 3">
            <a:extLst>
              <a:ext uri="{FF2B5EF4-FFF2-40B4-BE49-F238E27FC236}">
                <a16:creationId xmlns:a16="http://schemas.microsoft.com/office/drawing/2014/main" id="{4D8E212F-DDE8-11A0-9D8A-88976870C763}"/>
              </a:ext>
            </a:extLst>
          </p:cNvPr>
          <p:cNvSpPr/>
          <p:nvPr/>
        </p:nvSpPr>
        <p:spPr>
          <a:xfrm>
            <a:off x="1443475" y="4245"/>
            <a:ext cx="5338363" cy="67724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7" name="Rectangle 4">
            <a:extLst>
              <a:ext uri="{FF2B5EF4-FFF2-40B4-BE49-F238E27FC236}">
                <a16:creationId xmlns:a16="http://schemas.microsoft.com/office/drawing/2014/main" id="{852954F1-27D0-1334-685C-AB63B14B4FFD}"/>
              </a:ext>
            </a:extLst>
          </p:cNvPr>
          <p:cNvSpPr/>
          <p:nvPr/>
        </p:nvSpPr>
        <p:spPr>
          <a:xfrm>
            <a:off x="6788435" y="4245"/>
            <a:ext cx="5417300" cy="677242"/>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9" name="Rectangle 28">
            <a:extLst>
              <a:ext uri="{FF2B5EF4-FFF2-40B4-BE49-F238E27FC236}">
                <a16:creationId xmlns:a16="http://schemas.microsoft.com/office/drawing/2014/main" id="{BA852FF6-2D2E-9F0E-ED28-3CACE27BD2BA}"/>
              </a:ext>
            </a:extLst>
          </p:cNvPr>
          <p:cNvSpPr/>
          <p:nvPr/>
        </p:nvSpPr>
        <p:spPr>
          <a:xfrm>
            <a:off x="6154" y="690328"/>
            <a:ext cx="1465322" cy="45589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002060"/>
                </a:solidFill>
                <a:latin typeface="Aptos"/>
                <a:ea typeface="Calibri"/>
                <a:cs typeface="Calibri"/>
              </a:rPr>
              <a:t>Подготовка</a:t>
            </a:r>
            <a:endParaRPr lang="en-GB" sz="1400">
              <a:solidFill>
                <a:srgbClr val="002060"/>
              </a:solidFill>
              <a:latin typeface="Aptos"/>
              <a:ea typeface="Calibri"/>
              <a:cs typeface="Calibri"/>
            </a:endParaRPr>
          </a:p>
        </p:txBody>
      </p:sp>
      <p:pic>
        <p:nvPicPr>
          <p:cNvPr id="20" name="Picture 19">
            <a:extLst>
              <a:ext uri="{FF2B5EF4-FFF2-40B4-BE49-F238E27FC236}">
                <a16:creationId xmlns:a16="http://schemas.microsoft.com/office/drawing/2014/main" id="{9EF31F39-AB97-4AD0-8939-5F488B9662B8}"/>
              </a:ext>
            </a:extLst>
          </p:cNvPr>
          <p:cNvPicPr>
            <a:picLocks noChangeAspect="1"/>
          </p:cNvPicPr>
          <p:nvPr/>
        </p:nvPicPr>
        <p:blipFill>
          <a:blip r:embed="rId2"/>
          <a:stretch>
            <a:fillRect/>
          </a:stretch>
        </p:blipFill>
        <p:spPr>
          <a:xfrm>
            <a:off x="10883590" y="5621341"/>
            <a:ext cx="982751" cy="995681"/>
          </a:xfrm>
          <a:prstGeom prst="rect">
            <a:avLst/>
          </a:prstGeom>
        </p:spPr>
      </p:pic>
    </p:spTree>
    <p:extLst>
      <p:ext uri="{BB962C8B-B14F-4D97-AF65-F5344CB8AC3E}">
        <p14:creationId xmlns:p14="http://schemas.microsoft.com/office/powerpoint/2010/main" val="4116185799"/>
      </p:ext>
    </p:extLst>
  </p:cSld>
  <p:clrMapOvr>
    <a:masterClrMapping/>
  </p:clrMapOvr>
  <mc:AlternateContent xmlns:mc="http://schemas.openxmlformats.org/markup-compatibility/2006" xmlns:p14="http://schemas.microsoft.com/office/powerpoint/2010/main">
    <mc:Choice Requires="p14">
      <p:transition spd="slow" p14:dur="2000" advTm="6522"/>
    </mc:Choice>
    <mc:Fallback xmlns="">
      <p:transition spd="slow" advTm="6522"/>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DAACBC-2C24-7E7A-471D-0E37DDAFEC1A}"/>
            </a:ext>
          </a:extLst>
        </p:cNvPr>
        <p:cNvGrpSpPr/>
        <p:nvPr/>
      </p:nvGrpSpPr>
      <p:grpSpPr>
        <a:xfrm>
          <a:off x="0" y="0"/>
          <a:ext cx="0" cy="0"/>
          <a:chOff x="0" y="0"/>
          <a:chExt cx="0" cy="0"/>
        </a:xfrm>
      </p:grpSpPr>
      <p:sp>
        <p:nvSpPr>
          <p:cNvPr id="3" name="Текстово поле 2">
            <a:extLst>
              <a:ext uri="{FF2B5EF4-FFF2-40B4-BE49-F238E27FC236}">
                <a16:creationId xmlns:a16="http://schemas.microsoft.com/office/drawing/2014/main" id="{00167B3E-5EE3-F7D4-7E53-5C4A7646EDA7}"/>
              </a:ext>
            </a:extLst>
          </p:cNvPr>
          <p:cNvSpPr txBox="1"/>
          <p:nvPr/>
        </p:nvSpPr>
        <p:spPr>
          <a:xfrm>
            <a:off x="1986224" y="1913374"/>
            <a:ext cx="8017119" cy="4893647"/>
          </a:xfrm>
          <a:prstGeom prst="rect">
            <a:avLst/>
          </a:prstGeom>
          <a:noFill/>
        </p:spPr>
        <p:txBody>
          <a:bodyPr wrap="square" lIns="91440" tIns="45720" rIns="91440" bIns="45720" rtlCol="0" anchor="t">
            <a:spAutoFit/>
          </a:bodyPr>
          <a:lstStyle/>
          <a:p>
            <a:pPr marL="342900" indent="-342900">
              <a:buFont typeface="+mj-lt"/>
              <a:buAutoNum type="arabicPeriod"/>
            </a:pPr>
            <a:r>
              <a:rPr lang="bg-BG" sz="1400" b="1" dirty="0">
                <a:solidFill>
                  <a:schemeClr val="accent1">
                    <a:lumMod val="50000"/>
                  </a:schemeClr>
                </a:solidFill>
              </a:rPr>
              <a:t>Подготви се предварително</a:t>
            </a:r>
            <a:br>
              <a:rPr lang="bg-BG" sz="1400" dirty="0">
                <a:solidFill>
                  <a:schemeClr val="accent1">
                    <a:lumMod val="50000"/>
                  </a:schemeClr>
                </a:solidFill>
              </a:rPr>
            </a:br>
            <a:r>
              <a:rPr lang="bg-BG" sz="1400" dirty="0">
                <a:solidFill>
                  <a:schemeClr val="accent1">
                    <a:lumMod val="50000"/>
                  </a:schemeClr>
                </a:solidFill>
              </a:rPr>
              <a:t>Провери с кого говориш, какъв е поводът и каква е целта на разговора.</a:t>
            </a:r>
            <a:r>
              <a:rPr lang="en-US" sz="1400" dirty="0">
                <a:solidFill>
                  <a:schemeClr val="accent1">
                    <a:lumMod val="50000"/>
                  </a:schemeClr>
                </a:solidFill>
              </a:rPr>
              <a:t> </a:t>
            </a:r>
            <a:r>
              <a:rPr lang="bg-BG" sz="1400" dirty="0">
                <a:solidFill>
                  <a:schemeClr val="accent1">
                    <a:lumMod val="50000"/>
                  </a:schemeClr>
                </a:solidFill>
              </a:rPr>
              <a:t> Помисли за възможните възражения, въпроси и отговори.</a:t>
            </a:r>
          </a:p>
          <a:p>
            <a:pPr marL="342900" indent="-342900">
              <a:buAutoNum type="arabicPeriod"/>
            </a:pPr>
            <a:endParaRPr lang="bg-BG" sz="1400" dirty="0">
              <a:solidFill>
                <a:schemeClr val="accent1">
                  <a:lumMod val="50000"/>
                </a:schemeClr>
              </a:solidFill>
            </a:endParaRPr>
          </a:p>
          <a:p>
            <a:pPr marL="342900" indent="-342900">
              <a:buFont typeface="+mj-lt"/>
              <a:buAutoNum type="arabicPeriod"/>
            </a:pPr>
            <a:r>
              <a:rPr lang="bg-BG" sz="1400" b="1" dirty="0">
                <a:solidFill>
                  <a:schemeClr val="accent1">
                    <a:lumMod val="50000"/>
                  </a:schemeClr>
                </a:solidFill>
              </a:rPr>
              <a:t>Започни спокойно и с усмивка в гласа</a:t>
            </a:r>
            <a:br>
              <a:rPr lang="bg-BG" sz="1400" dirty="0">
                <a:solidFill>
                  <a:schemeClr val="accent1">
                    <a:lumMod val="50000"/>
                  </a:schemeClr>
                </a:solidFill>
              </a:rPr>
            </a:br>
            <a:r>
              <a:rPr lang="bg-BG" sz="1400" dirty="0">
                <a:solidFill>
                  <a:schemeClr val="accent1">
                    <a:lumMod val="50000"/>
                  </a:schemeClr>
                </a:solidFill>
              </a:rPr>
              <a:t>Тонът се усеща, дори по телефона. Спокойното начало създава добро впечатление. Усмихни се.</a:t>
            </a:r>
          </a:p>
          <a:p>
            <a:pPr marL="342900" indent="-342900">
              <a:buAutoNum type="arabicPeriod"/>
            </a:pPr>
            <a:endParaRPr lang="bg-BG" sz="1400" dirty="0">
              <a:solidFill>
                <a:schemeClr val="accent1">
                  <a:lumMod val="50000"/>
                </a:schemeClr>
              </a:solidFill>
            </a:endParaRPr>
          </a:p>
          <a:p>
            <a:pPr marL="342900" indent="-342900">
              <a:buFont typeface="+mj-lt"/>
              <a:buAutoNum type="arabicPeriod"/>
            </a:pPr>
            <a:r>
              <a:rPr lang="bg-BG" sz="1400" b="1" dirty="0">
                <a:solidFill>
                  <a:schemeClr val="accent1">
                    <a:lumMod val="50000"/>
                  </a:schemeClr>
                </a:solidFill>
              </a:rPr>
              <a:t>Говори ясно и естествено</a:t>
            </a:r>
            <a:br>
              <a:rPr lang="bg-BG" sz="1400" dirty="0">
                <a:solidFill>
                  <a:schemeClr val="accent1">
                    <a:lumMod val="50000"/>
                  </a:schemeClr>
                </a:solidFill>
              </a:rPr>
            </a:br>
            <a:r>
              <a:rPr lang="bg-BG" sz="1400" dirty="0">
                <a:solidFill>
                  <a:schemeClr val="accent1">
                    <a:lumMod val="50000"/>
                  </a:schemeClr>
                </a:solidFill>
              </a:rPr>
              <a:t>Следвай логиката на разговора, но не </a:t>
            </a:r>
            <a:r>
              <a:rPr lang="bg-BG" sz="1400" dirty="0" err="1">
                <a:solidFill>
                  <a:schemeClr val="accent1">
                    <a:lumMod val="50000"/>
                  </a:schemeClr>
                </a:solidFill>
              </a:rPr>
              <a:t>звучѝ</a:t>
            </a:r>
            <a:r>
              <a:rPr lang="bg-BG" sz="1400" dirty="0">
                <a:solidFill>
                  <a:schemeClr val="accent1">
                    <a:lumMod val="50000"/>
                  </a:schemeClr>
                </a:solidFill>
              </a:rPr>
              <a:t> заучено. Бъди конкретен, точен и ясен. Опитай да се адаптираш към нивото на клиента. Задавай въпроси, които да насочват разговора в желаната от теб посока. </a:t>
            </a:r>
          </a:p>
          <a:p>
            <a:pPr marL="342900" indent="-342900">
              <a:buAutoNum type="arabicPeriod"/>
            </a:pPr>
            <a:endParaRPr lang="bg-BG" sz="1400" dirty="0">
              <a:solidFill>
                <a:schemeClr val="accent1">
                  <a:lumMod val="50000"/>
                </a:schemeClr>
              </a:solidFill>
            </a:endParaRPr>
          </a:p>
          <a:p>
            <a:pPr marL="342900" indent="-342900">
              <a:buFont typeface="+mj-lt"/>
              <a:buAutoNum type="arabicPeriod"/>
            </a:pPr>
            <a:r>
              <a:rPr lang="bg-BG" sz="1400" b="1" dirty="0">
                <a:solidFill>
                  <a:schemeClr val="accent1">
                    <a:lumMod val="50000"/>
                  </a:schemeClr>
                </a:solidFill>
              </a:rPr>
              <a:t>Слушай внимателно клиента</a:t>
            </a:r>
            <a:br>
              <a:rPr lang="bg-BG" sz="1400" dirty="0">
                <a:solidFill>
                  <a:schemeClr val="accent1">
                    <a:lumMod val="50000"/>
                  </a:schemeClr>
                </a:solidFill>
              </a:rPr>
            </a:br>
            <a:r>
              <a:rPr lang="bg-BG" sz="1400" dirty="0">
                <a:solidFill>
                  <a:schemeClr val="accent1">
                    <a:lumMod val="50000"/>
                  </a:schemeClr>
                </a:solidFill>
              </a:rPr>
              <a:t>Не бързай само да говориш — добрият разговор е двустранен.</a:t>
            </a:r>
            <a:r>
              <a:rPr lang="ru-RU" sz="1400" dirty="0">
                <a:solidFill>
                  <a:schemeClr val="accent1">
                    <a:lumMod val="50000"/>
                  </a:schemeClr>
                </a:solidFill>
              </a:rPr>
              <a:t> Слушай повече, </a:t>
            </a:r>
            <a:r>
              <a:rPr lang="ru-RU" sz="1400" dirty="0" err="1">
                <a:solidFill>
                  <a:schemeClr val="accent1">
                    <a:lumMod val="50000"/>
                  </a:schemeClr>
                </a:solidFill>
              </a:rPr>
              <a:t>записвай</a:t>
            </a:r>
            <a:r>
              <a:rPr lang="ru-RU" sz="1400" dirty="0">
                <a:solidFill>
                  <a:schemeClr val="accent1">
                    <a:lumMod val="50000"/>
                  </a:schemeClr>
                </a:solidFill>
              </a:rPr>
              <a:t>/</a:t>
            </a:r>
            <a:r>
              <a:rPr lang="ru-RU" sz="1400" dirty="0" err="1">
                <a:solidFill>
                  <a:schemeClr val="accent1">
                    <a:lumMod val="50000"/>
                  </a:schemeClr>
                </a:solidFill>
              </a:rPr>
              <a:t>опитай</a:t>
            </a:r>
            <a:r>
              <a:rPr lang="ru-RU" sz="1400" dirty="0">
                <a:solidFill>
                  <a:schemeClr val="accent1">
                    <a:lumMod val="50000"/>
                  </a:schemeClr>
                </a:solidFill>
              </a:rPr>
              <a:t> да </a:t>
            </a:r>
            <a:r>
              <a:rPr lang="ru-RU" sz="1400" dirty="0" err="1">
                <a:solidFill>
                  <a:schemeClr val="accent1">
                    <a:lumMod val="50000"/>
                  </a:schemeClr>
                </a:solidFill>
              </a:rPr>
              <a:t>запомниш</a:t>
            </a:r>
            <a:r>
              <a:rPr lang="ru-RU" sz="1400" dirty="0">
                <a:solidFill>
                  <a:schemeClr val="accent1">
                    <a:lumMod val="50000"/>
                  </a:schemeClr>
                </a:solidFill>
              </a:rPr>
              <a:t> </a:t>
            </a:r>
            <a:r>
              <a:rPr lang="ru-RU" sz="1400" dirty="0" err="1">
                <a:solidFill>
                  <a:schemeClr val="accent1">
                    <a:lumMod val="50000"/>
                  </a:schemeClr>
                </a:solidFill>
              </a:rPr>
              <a:t>малките</a:t>
            </a:r>
            <a:r>
              <a:rPr lang="ru-RU" sz="1400" dirty="0">
                <a:solidFill>
                  <a:schemeClr val="accent1">
                    <a:lumMod val="50000"/>
                  </a:schemeClr>
                </a:solidFill>
              </a:rPr>
              <a:t> </a:t>
            </a:r>
            <a:r>
              <a:rPr lang="ru-RU" sz="1400" dirty="0" err="1">
                <a:solidFill>
                  <a:schemeClr val="accent1">
                    <a:lumMod val="50000"/>
                  </a:schemeClr>
                </a:solidFill>
              </a:rPr>
              <a:t>детайли</a:t>
            </a:r>
            <a:r>
              <a:rPr lang="ru-RU" sz="1400" dirty="0">
                <a:solidFill>
                  <a:schemeClr val="accent1">
                    <a:lumMod val="50000"/>
                  </a:schemeClr>
                </a:solidFill>
              </a:rPr>
              <a:t>, </a:t>
            </a:r>
            <a:r>
              <a:rPr lang="ru-RU" sz="1400" dirty="0" err="1">
                <a:solidFill>
                  <a:schemeClr val="accent1">
                    <a:lumMod val="50000"/>
                  </a:schemeClr>
                </a:solidFill>
              </a:rPr>
              <a:t>ключовите</a:t>
            </a:r>
            <a:r>
              <a:rPr lang="ru-RU" sz="1400" dirty="0">
                <a:solidFill>
                  <a:schemeClr val="accent1">
                    <a:lumMod val="50000"/>
                  </a:schemeClr>
                </a:solidFill>
              </a:rPr>
              <a:t> послания, </a:t>
            </a:r>
            <a:r>
              <a:rPr lang="ru-RU" sz="1400" dirty="0" err="1">
                <a:solidFill>
                  <a:schemeClr val="accent1">
                    <a:lumMod val="50000"/>
                  </a:schemeClr>
                </a:solidFill>
              </a:rPr>
              <a:t>скритите</a:t>
            </a:r>
            <a:r>
              <a:rPr lang="ru-RU" sz="1400" dirty="0">
                <a:solidFill>
                  <a:schemeClr val="accent1">
                    <a:lumMod val="50000"/>
                  </a:schemeClr>
                </a:solidFill>
              </a:rPr>
              <a:t> желания.</a:t>
            </a:r>
            <a:endParaRPr lang="ru-RU" dirty="0"/>
          </a:p>
          <a:p>
            <a:pPr marL="342900" indent="-342900">
              <a:buFont typeface="+mj-lt"/>
              <a:buAutoNum type="arabicPeriod"/>
            </a:pPr>
            <a:endParaRPr lang="bg-BG" sz="1400" dirty="0">
              <a:solidFill>
                <a:schemeClr val="accent1">
                  <a:lumMod val="50000"/>
                </a:schemeClr>
              </a:solidFill>
            </a:endParaRPr>
          </a:p>
          <a:p>
            <a:pPr marL="342900" indent="-342900">
              <a:buAutoNum type="arabicPeriod"/>
            </a:pPr>
            <a:endParaRPr lang="bg-BG" sz="1400" dirty="0">
              <a:solidFill>
                <a:schemeClr val="accent1">
                  <a:lumMod val="50000"/>
                </a:schemeClr>
              </a:solidFill>
            </a:endParaRPr>
          </a:p>
          <a:p>
            <a:pPr marL="342900" indent="-342900">
              <a:buFont typeface="+mj-lt"/>
              <a:buAutoNum type="arabicPeriod"/>
            </a:pPr>
            <a:r>
              <a:rPr lang="bg-BG" sz="1400" b="1" dirty="0">
                <a:solidFill>
                  <a:schemeClr val="accent1">
                    <a:lumMod val="50000"/>
                  </a:schemeClr>
                </a:solidFill>
              </a:rPr>
              <a:t>Бъди спокоен при всяка реакция</a:t>
            </a:r>
            <a:br>
              <a:rPr lang="bg-BG" sz="1400" dirty="0">
                <a:solidFill>
                  <a:schemeClr val="accent1">
                    <a:lumMod val="50000"/>
                  </a:schemeClr>
                </a:solidFill>
              </a:rPr>
            </a:br>
            <a:r>
              <a:rPr lang="bg-BG" sz="1400" dirty="0">
                <a:solidFill>
                  <a:schemeClr val="accent1">
                    <a:lumMod val="50000"/>
                  </a:schemeClr>
                </a:solidFill>
              </a:rPr>
              <a:t>Независимо дали клиентът е колеблив, запази добрия тон и увереността си. Остави си вратичка за следващо обаждане, което да се приеме без възражение.</a:t>
            </a:r>
          </a:p>
          <a:p>
            <a:endParaRPr lang="bg-BG" dirty="0">
              <a:solidFill>
                <a:schemeClr val="accent1">
                  <a:lumMod val="50000"/>
                </a:schemeClr>
              </a:solidFill>
            </a:endParaRPr>
          </a:p>
        </p:txBody>
      </p:sp>
      <p:sp>
        <p:nvSpPr>
          <p:cNvPr id="10" name="Rectangle 28">
            <a:extLst>
              <a:ext uri="{FF2B5EF4-FFF2-40B4-BE49-F238E27FC236}">
                <a16:creationId xmlns:a16="http://schemas.microsoft.com/office/drawing/2014/main" id="{E4CEF43E-940D-E17F-BA11-8C3EF74F1DAE}"/>
              </a:ext>
            </a:extLst>
          </p:cNvPr>
          <p:cNvSpPr/>
          <p:nvPr/>
        </p:nvSpPr>
        <p:spPr>
          <a:xfrm>
            <a:off x="-15824" y="1599"/>
            <a:ext cx="1465320" cy="6859628"/>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400">
              <a:latin typeface="Aptos"/>
              <a:ea typeface="Calibri"/>
              <a:cs typeface="Calibri"/>
            </a:endParaRPr>
          </a:p>
        </p:txBody>
      </p:sp>
      <p:sp>
        <p:nvSpPr>
          <p:cNvPr id="12" name="Rectangle 29">
            <a:extLst>
              <a:ext uri="{FF2B5EF4-FFF2-40B4-BE49-F238E27FC236}">
                <a16:creationId xmlns:a16="http://schemas.microsoft.com/office/drawing/2014/main" id="{F28BF916-F276-9C3B-2313-46DA46F702CB}"/>
              </a:ext>
            </a:extLst>
          </p:cNvPr>
          <p:cNvSpPr/>
          <p:nvPr/>
        </p:nvSpPr>
        <p:spPr>
          <a:xfrm>
            <a:off x="-1671" y="2528038"/>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Типове клиенти</a:t>
            </a:r>
            <a:endParaRPr lang="en-GB" sz="1400">
              <a:latin typeface="Aptos"/>
              <a:ea typeface="Calibri"/>
              <a:cs typeface="Calibri"/>
            </a:endParaRPr>
          </a:p>
        </p:txBody>
      </p:sp>
      <p:sp>
        <p:nvSpPr>
          <p:cNvPr id="14" name="Rectangle 30">
            <a:extLst>
              <a:ext uri="{FF2B5EF4-FFF2-40B4-BE49-F238E27FC236}">
                <a16:creationId xmlns:a16="http://schemas.microsoft.com/office/drawing/2014/main" id="{EFDD77FB-C999-029F-C8CC-F12DBE344EE6}"/>
              </a:ext>
            </a:extLst>
          </p:cNvPr>
          <p:cNvSpPr/>
          <p:nvPr/>
        </p:nvSpPr>
        <p:spPr>
          <a:xfrm>
            <a:off x="8626" y="1913210"/>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Сценарии</a:t>
            </a:r>
            <a:endParaRPr lang="en-GB" sz="1400">
              <a:latin typeface="Aptos"/>
              <a:ea typeface="Calibri"/>
              <a:cs typeface="Calibri"/>
            </a:endParaRPr>
          </a:p>
        </p:txBody>
      </p:sp>
      <p:sp>
        <p:nvSpPr>
          <p:cNvPr id="16" name="Rectangle 31">
            <a:extLst>
              <a:ext uri="{FF2B5EF4-FFF2-40B4-BE49-F238E27FC236}">
                <a16:creationId xmlns:a16="http://schemas.microsoft.com/office/drawing/2014/main" id="{AA16666C-8AF0-BFEC-CDBC-1275C0ACA593}"/>
              </a:ext>
            </a:extLst>
          </p:cNvPr>
          <p:cNvSpPr/>
          <p:nvPr/>
        </p:nvSpPr>
        <p:spPr>
          <a:xfrm>
            <a:off x="-1671" y="1298382"/>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Стъпки в обаждането</a:t>
            </a:r>
            <a:endParaRPr lang="en-GB" sz="1400">
              <a:latin typeface="Aptos"/>
              <a:ea typeface="Calibri"/>
              <a:cs typeface="Calibri"/>
            </a:endParaRPr>
          </a:p>
        </p:txBody>
      </p:sp>
      <p:sp>
        <p:nvSpPr>
          <p:cNvPr id="18" name="Rectangle 3">
            <a:extLst>
              <a:ext uri="{FF2B5EF4-FFF2-40B4-BE49-F238E27FC236}">
                <a16:creationId xmlns:a16="http://schemas.microsoft.com/office/drawing/2014/main" id="{D43E089C-BF7D-D75E-771F-B52057D1392D}"/>
              </a:ext>
            </a:extLst>
          </p:cNvPr>
          <p:cNvSpPr/>
          <p:nvPr/>
        </p:nvSpPr>
        <p:spPr>
          <a:xfrm>
            <a:off x="1443475" y="4245"/>
            <a:ext cx="5338363" cy="67724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20" name="Rectangle 4">
            <a:extLst>
              <a:ext uri="{FF2B5EF4-FFF2-40B4-BE49-F238E27FC236}">
                <a16:creationId xmlns:a16="http://schemas.microsoft.com/office/drawing/2014/main" id="{0ECEFA83-9B29-4D13-1E7A-FFDA896054BB}"/>
              </a:ext>
            </a:extLst>
          </p:cNvPr>
          <p:cNvSpPr/>
          <p:nvPr/>
        </p:nvSpPr>
        <p:spPr>
          <a:xfrm>
            <a:off x="6788435" y="4245"/>
            <a:ext cx="5417300" cy="677242"/>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22" name="Rectangle 28">
            <a:extLst>
              <a:ext uri="{FF2B5EF4-FFF2-40B4-BE49-F238E27FC236}">
                <a16:creationId xmlns:a16="http://schemas.microsoft.com/office/drawing/2014/main" id="{561A8E03-074F-ED23-B08F-633872A773E2}"/>
              </a:ext>
            </a:extLst>
          </p:cNvPr>
          <p:cNvSpPr/>
          <p:nvPr/>
        </p:nvSpPr>
        <p:spPr>
          <a:xfrm>
            <a:off x="-15827" y="690328"/>
            <a:ext cx="1465322" cy="45589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002060"/>
                </a:solidFill>
                <a:latin typeface="Aptos"/>
                <a:ea typeface="Calibri"/>
                <a:cs typeface="Calibri"/>
              </a:rPr>
              <a:t>Подготовка</a:t>
            </a:r>
            <a:endParaRPr lang="en-GB" sz="1400">
              <a:solidFill>
                <a:srgbClr val="002060"/>
              </a:solidFill>
              <a:latin typeface="Aptos"/>
              <a:ea typeface="Calibri"/>
              <a:cs typeface="Calibri"/>
            </a:endParaRPr>
          </a:p>
        </p:txBody>
      </p:sp>
      <p:sp>
        <p:nvSpPr>
          <p:cNvPr id="24" name="Rectangle 32">
            <a:extLst>
              <a:ext uri="{FF2B5EF4-FFF2-40B4-BE49-F238E27FC236}">
                <a16:creationId xmlns:a16="http://schemas.microsoft.com/office/drawing/2014/main" id="{EC03B8C6-3FAC-15DC-4CFB-B303D8DF7D27}"/>
              </a:ext>
            </a:extLst>
          </p:cNvPr>
          <p:cNvSpPr/>
          <p:nvPr/>
        </p:nvSpPr>
        <p:spPr>
          <a:xfrm>
            <a:off x="1986543" y="1118147"/>
            <a:ext cx="6061311" cy="59867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bg-BG" sz="2000" b="1">
                <a:solidFill>
                  <a:srgbClr val="002060"/>
                </a:solidFill>
                <a:latin typeface="Aptos"/>
                <a:ea typeface="Calibri"/>
                <a:cs typeface="Calibri"/>
              </a:rPr>
              <a:t>Съвети при подготовка за обаждане</a:t>
            </a:r>
            <a:endParaRPr lang="bg-BG" sz="2000" b="1">
              <a:solidFill>
                <a:srgbClr val="002060"/>
              </a:solidFill>
              <a:latin typeface="Aptos"/>
            </a:endParaRPr>
          </a:p>
        </p:txBody>
      </p:sp>
      <p:pic>
        <p:nvPicPr>
          <p:cNvPr id="13" name="Picture 12">
            <a:extLst>
              <a:ext uri="{FF2B5EF4-FFF2-40B4-BE49-F238E27FC236}">
                <a16:creationId xmlns:a16="http://schemas.microsoft.com/office/drawing/2014/main" id="{7A1C4790-CC82-469C-B7E4-A0A39727D44F}"/>
              </a:ext>
            </a:extLst>
          </p:cNvPr>
          <p:cNvPicPr>
            <a:picLocks noChangeAspect="1"/>
          </p:cNvPicPr>
          <p:nvPr/>
        </p:nvPicPr>
        <p:blipFill>
          <a:blip r:embed="rId3"/>
          <a:stretch>
            <a:fillRect/>
          </a:stretch>
        </p:blipFill>
        <p:spPr>
          <a:xfrm>
            <a:off x="10883590" y="5621341"/>
            <a:ext cx="982751" cy="995681"/>
          </a:xfrm>
          <a:prstGeom prst="rect">
            <a:avLst/>
          </a:prstGeom>
        </p:spPr>
      </p:pic>
    </p:spTree>
    <p:extLst>
      <p:ext uri="{BB962C8B-B14F-4D97-AF65-F5344CB8AC3E}">
        <p14:creationId xmlns:p14="http://schemas.microsoft.com/office/powerpoint/2010/main" val="3299686247"/>
      </p:ext>
    </p:extLst>
  </p:cSld>
  <p:clrMapOvr>
    <a:masterClrMapping/>
  </p:clrMapOvr>
  <mc:AlternateContent xmlns:mc="http://schemas.openxmlformats.org/markup-compatibility/2006" xmlns:p14="http://schemas.microsoft.com/office/powerpoint/2010/main">
    <mc:Choice Requires="p14">
      <p:transition spd="slow" p14:dur="2000" advTm="6522"/>
    </mc:Choice>
    <mc:Fallback xmlns="">
      <p:transition spd="slow" advTm="6522"/>
    </mc:Fallback>
  </mc:AlternateContent>
  <p:extLst>
    <p:ext uri="{6950BFC3-D8DA-4A85-94F7-54DA5524770B}">
      <p188:commentRel xmlns:p188="http://schemas.microsoft.com/office/powerpoint/2018/8/main" r:id="rId2"/>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9E10C4-16AA-8838-AD2A-034DC695C4F7}"/>
            </a:ext>
          </a:extLst>
        </p:cNvPr>
        <p:cNvGrpSpPr/>
        <p:nvPr/>
      </p:nvGrpSpPr>
      <p:grpSpPr>
        <a:xfrm>
          <a:off x="0" y="0"/>
          <a:ext cx="0" cy="0"/>
          <a:chOff x="0" y="0"/>
          <a:chExt cx="0" cy="0"/>
        </a:xfrm>
      </p:grpSpPr>
      <p:sp>
        <p:nvSpPr>
          <p:cNvPr id="8" name="Rectangle 28">
            <a:extLst>
              <a:ext uri="{FF2B5EF4-FFF2-40B4-BE49-F238E27FC236}">
                <a16:creationId xmlns:a16="http://schemas.microsoft.com/office/drawing/2014/main" id="{3702BF79-165D-FDDC-C81E-4DBC713A64C3}"/>
              </a:ext>
            </a:extLst>
          </p:cNvPr>
          <p:cNvSpPr/>
          <p:nvPr/>
        </p:nvSpPr>
        <p:spPr>
          <a:xfrm>
            <a:off x="-15824" y="1599"/>
            <a:ext cx="1465320" cy="6859628"/>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400">
              <a:latin typeface="Aptos"/>
              <a:ea typeface="Calibri"/>
              <a:cs typeface="Calibri"/>
            </a:endParaRPr>
          </a:p>
        </p:txBody>
      </p:sp>
      <p:sp>
        <p:nvSpPr>
          <p:cNvPr id="11" name="Rectangle 29">
            <a:extLst>
              <a:ext uri="{FF2B5EF4-FFF2-40B4-BE49-F238E27FC236}">
                <a16:creationId xmlns:a16="http://schemas.microsoft.com/office/drawing/2014/main" id="{EAE7DFF5-3B18-FF99-932F-5C2678AD5778}"/>
              </a:ext>
            </a:extLst>
          </p:cNvPr>
          <p:cNvSpPr/>
          <p:nvPr/>
        </p:nvSpPr>
        <p:spPr>
          <a:xfrm>
            <a:off x="-1671" y="2528038"/>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Типове клиенти</a:t>
            </a:r>
            <a:endParaRPr lang="en-GB" sz="1400">
              <a:latin typeface="Aptos"/>
              <a:ea typeface="Calibri"/>
              <a:cs typeface="Calibri"/>
            </a:endParaRPr>
          </a:p>
        </p:txBody>
      </p:sp>
      <p:sp>
        <p:nvSpPr>
          <p:cNvPr id="15" name="Rectangle 30">
            <a:extLst>
              <a:ext uri="{FF2B5EF4-FFF2-40B4-BE49-F238E27FC236}">
                <a16:creationId xmlns:a16="http://schemas.microsoft.com/office/drawing/2014/main" id="{9B0D23A7-80F6-D289-FA42-5B7888E118D2}"/>
              </a:ext>
            </a:extLst>
          </p:cNvPr>
          <p:cNvSpPr/>
          <p:nvPr/>
        </p:nvSpPr>
        <p:spPr>
          <a:xfrm>
            <a:off x="8626" y="1913210"/>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Сценарии</a:t>
            </a:r>
            <a:endParaRPr lang="en-GB" sz="1400">
              <a:latin typeface="Aptos"/>
              <a:ea typeface="Calibri"/>
              <a:cs typeface="Calibri"/>
            </a:endParaRPr>
          </a:p>
        </p:txBody>
      </p:sp>
      <p:sp>
        <p:nvSpPr>
          <p:cNvPr id="19" name="Rectangle 31">
            <a:extLst>
              <a:ext uri="{FF2B5EF4-FFF2-40B4-BE49-F238E27FC236}">
                <a16:creationId xmlns:a16="http://schemas.microsoft.com/office/drawing/2014/main" id="{C0022E04-D6EC-A044-3FB7-C64CBE86A0C6}"/>
              </a:ext>
            </a:extLst>
          </p:cNvPr>
          <p:cNvSpPr/>
          <p:nvPr/>
        </p:nvSpPr>
        <p:spPr>
          <a:xfrm>
            <a:off x="-1671" y="1298382"/>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002060"/>
                </a:solidFill>
                <a:latin typeface="Aptos"/>
                <a:ea typeface="Calibri"/>
                <a:cs typeface="Calibri"/>
              </a:rPr>
              <a:t>Стъпки в обаждането</a:t>
            </a:r>
            <a:endParaRPr lang="en-GB" sz="1400">
              <a:solidFill>
                <a:srgbClr val="002060"/>
              </a:solidFill>
              <a:latin typeface="Aptos"/>
              <a:ea typeface="Calibri"/>
              <a:cs typeface="Calibri"/>
            </a:endParaRPr>
          </a:p>
        </p:txBody>
      </p:sp>
      <p:sp>
        <p:nvSpPr>
          <p:cNvPr id="22" name="Rectangle 3">
            <a:extLst>
              <a:ext uri="{FF2B5EF4-FFF2-40B4-BE49-F238E27FC236}">
                <a16:creationId xmlns:a16="http://schemas.microsoft.com/office/drawing/2014/main" id="{6E22F9E9-6C8B-60B0-32BF-B3A67F3C4A59}"/>
              </a:ext>
            </a:extLst>
          </p:cNvPr>
          <p:cNvSpPr/>
          <p:nvPr/>
        </p:nvSpPr>
        <p:spPr>
          <a:xfrm>
            <a:off x="1443475" y="4245"/>
            <a:ext cx="5338363" cy="67724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26" name="Rectangle 4">
            <a:extLst>
              <a:ext uri="{FF2B5EF4-FFF2-40B4-BE49-F238E27FC236}">
                <a16:creationId xmlns:a16="http://schemas.microsoft.com/office/drawing/2014/main" id="{A582C3B9-F3EB-A793-6BD1-781BAF404986}"/>
              </a:ext>
            </a:extLst>
          </p:cNvPr>
          <p:cNvSpPr/>
          <p:nvPr/>
        </p:nvSpPr>
        <p:spPr>
          <a:xfrm>
            <a:off x="6788435" y="4245"/>
            <a:ext cx="5417300" cy="677242"/>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30" name="Rectangle 28">
            <a:extLst>
              <a:ext uri="{FF2B5EF4-FFF2-40B4-BE49-F238E27FC236}">
                <a16:creationId xmlns:a16="http://schemas.microsoft.com/office/drawing/2014/main" id="{06734D8F-1513-F435-E12F-FC8A3E23CE2D}"/>
              </a:ext>
            </a:extLst>
          </p:cNvPr>
          <p:cNvSpPr/>
          <p:nvPr/>
        </p:nvSpPr>
        <p:spPr>
          <a:xfrm>
            <a:off x="-15827" y="690328"/>
            <a:ext cx="1465322"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FFFFFF"/>
                </a:solidFill>
                <a:latin typeface="Aptos"/>
                <a:ea typeface="Calibri"/>
                <a:cs typeface="Calibri"/>
              </a:rPr>
              <a:t>Подготовка</a:t>
            </a:r>
            <a:endParaRPr lang="en-GB" sz="1400">
              <a:solidFill>
                <a:srgbClr val="FFFFFF"/>
              </a:solidFill>
              <a:latin typeface="Aptos"/>
              <a:ea typeface="Calibri"/>
              <a:cs typeface="Calibri"/>
            </a:endParaRPr>
          </a:p>
        </p:txBody>
      </p:sp>
      <p:sp>
        <p:nvSpPr>
          <p:cNvPr id="4" name="Rectangle 9">
            <a:extLst>
              <a:ext uri="{FF2B5EF4-FFF2-40B4-BE49-F238E27FC236}">
                <a16:creationId xmlns:a16="http://schemas.microsoft.com/office/drawing/2014/main" id="{41311BBC-1E0F-176A-7518-C63E9800FC1E}"/>
              </a:ext>
            </a:extLst>
          </p:cNvPr>
          <p:cNvSpPr/>
          <p:nvPr/>
        </p:nvSpPr>
        <p:spPr>
          <a:xfrm>
            <a:off x="2189602" y="2572198"/>
            <a:ext cx="3480247" cy="1090188"/>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Представяне на целта</a:t>
            </a:r>
            <a:endParaRPr lang="en-GB" sz="1600"/>
          </a:p>
        </p:txBody>
      </p:sp>
      <p:sp>
        <p:nvSpPr>
          <p:cNvPr id="6" name="Rectangle 11">
            <a:extLst>
              <a:ext uri="{FF2B5EF4-FFF2-40B4-BE49-F238E27FC236}">
                <a16:creationId xmlns:a16="http://schemas.microsoft.com/office/drawing/2014/main" id="{B49C92AD-09E1-4959-8E4A-5061AA83889E}"/>
              </a:ext>
            </a:extLst>
          </p:cNvPr>
          <p:cNvSpPr/>
          <p:nvPr/>
        </p:nvSpPr>
        <p:spPr>
          <a:xfrm>
            <a:off x="2189602" y="1354345"/>
            <a:ext cx="3480247" cy="1090188"/>
          </a:xfrm>
          <a:prstGeom prst="round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600"/>
              <a:t>Отваряне</a:t>
            </a:r>
            <a:endParaRPr lang="en-GB" sz="1600"/>
          </a:p>
        </p:txBody>
      </p:sp>
      <p:sp>
        <p:nvSpPr>
          <p:cNvPr id="9" name="Rectangle 13">
            <a:extLst>
              <a:ext uri="{FF2B5EF4-FFF2-40B4-BE49-F238E27FC236}">
                <a16:creationId xmlns:a16="http://schemas.microsoft.com/office/drawing/2014/main" id="{3358DFBF-7BDD-7D08-9D26-71CBE20DF070}"/>
              </a:ext>
            </a:extLst>
          </p:cNvPr>
          <p:cNvSpPr/>
          <p:nvPr/>
        </p:nvSpPr>
        <p:spPr>
          <a:xfrm>
            <a:off x="2189602" y="3790051"/>
            <a:ext cx="3480247" cy="1090188"/>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Справяне с възражения</a:t>
            </a:r>
            <a:endParaRPr lang="en-GB" sz="1600"/>
          </a:p>
        </p:txBody>
      </p:sp>
      <p:sp>
        <p:nvSpPr>
          <p:cNvPr id="17" name="Rectangle 15">
            <a:extLst>
              <a:ext uri="{FF2B5EF4-FFF2-40B4-BE49-F238E27FC236}">
                <a16:creationId xmlns:a16="http://schemas.microsoft.com/office/drawing/2014/main" id="{758D8F48-6C12-0E33-8CFE-E316A070B61D}"/>
              </a:ext>
            </a:extLst>
          </p:cNvPr>
          <p:cNvSpPr/>
          <p:nvPr/>
        </p:nvSpPr>
        <p:spPr>
          <a:xfrm>
            <a:off x="2189602" y="5007903"/>
            <a:ext cx="3480247" cy="1090188"/>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Затваряне</a:t>
            </a:r>
            <a:endParaRPr lang="en-GB" sz="1600"/>
          </a:p>
        </p:txBody>
      </p:sp>
      <p:pic>
        <p:nvPicPr>
          <p:cNvPr id="14" name="Picture 13">
            <a:extLst>
              <a:ext uri="{FF2B5EF4-FFF2-40B4-BE49-F238E27FC236}">
                <a16:creationId xmlns:a16="http://schemas.microsoft.com/office/drawing/2014/main" id="{746ECDD3-39AB-4D91-B409-2131D311929B}"/>
              </a:ext>
            </a:extLst>
          </p:cNvPr>
          <p:cNvPicPr>
            <a:picLocks noChangeAspect="1"/>
          </p:cNvPicPr>
          <p:nvPr/>
        </p:nvPicPr>
        <p:blipFill>
          <a:blip r:embed="rId2"/>
          <a:stretch>
            <a:fillRect/>
          </a:stretch>
        </p:blipFill>
        <p:spPr>
          <a:xfrm>
            <a:off x="10883590" y="5621341"/>
            <a:ext cx="982751" cy="995681"/>
          </a:xfrm>
          <a:prstGeom prst="rect">
            <a:avLst/>
          </a:prstGeom>
        </p:spPr>
      </p:pic>
    </p:spTree>
    <p:extLst>
      <p:ext uri="{BB962C8B-B14F-4D97-AF65-F5344CB8AC3E}">
        <p14:creationId xmlns:p14="http://schemas.microsoft.com/office/powerpoint/2010/main" val="1459254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EB8F80-396F-72FD-5DB0-1C960571E6E7}"/>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038886FE-F0CD-4F50-2E25-5380815ACA18}"/>
              </a:ext>
            </a:extLst>
          </p:cNvPr>
          <p:cNvSpPr/>
          <p:nvPr/>
        </p:nvSpPr>
        <p:spPr>
          <a:xfrm>
            <a:off x="2189602" y="2572198"/>
            <a:ext cx="3480247" cy="1090188"/>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dirty="0"/>
              <a:t>Представяне на целта</a:t>
            </a:r>
            <a:endParaRPr lang="en-GB" sz="1600" dirty="0"/>
          </a:p>
        </p:txBody>
      </p:sp>
      <p:sp>
        <p:nvSpPr>
          <p:cNvPr id="12" name="Rectangle 11">
            <a:extLst>
              <a:ext uri="{FF2B5EF4-FFF2-40B4-BE49-F238E27FC236}">
                <a16:creationId xmlns:a16="http://schemas.microsoft.com/office/drawing/2014/main" id="{5781A655-ABD8-1115-7FF7-A01A19404464}"/>
              </a:ext>
            </a:extLst>
          </p:cNvPr>
          <p:cNvSpPr/>
          <p:nvPr/>
        </p:nvSpPr>
        <p:spPr>
          <a:xfrm>
            <a:off x="2189602" y="1354345"/>
            <a:ext cx="3480247" cy="1090188"/>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600"/>
              <a:t>Отваряне</a:t>
            </a:r>
            <a:endParaRPr lang="en-GB" sz="1600"/>
          </a:p>
        </p:txBody>
      </p:sp>
      <p:sp>
        <p:nvSpPr>
          <p:cNvPr id="14" name="Rectangle 13">
            <a:extLst>
              <a:ext uri="{FF2B5EF4-FFF2-40B4-BE49-F238E27FC236}">
                <a16:creationId xmlns:a16="http://schemas.microsoft.com/office/drawing/2014/main" id="{A72D6912-F9A3-4346-5788-0A0A0809DE8A}"/>
              </a:ext>
            </a:extLst>
          </p:cNvPr>
          <p:cNvSpPr/>
          <p:nvPr/>
        </p:nvSpPr>
        <p:spPr>
          <a:xfrm>
            <a:off x="2189602" y="3790051"/>
            <a:ext cx="3480247" cy="1090188"/>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Справяне с възражения</a:t>
            </a:r>
            <a:endParaRPr lang="en-GB" sz="1600"/>
          </a:p>
        </p:txBody>
      </p:sp>
      <p:sp>
        <p:nvSpPr>
          <p:cNvPr id="16" name="Rectangle 15">
            <a:extLst>
              <a:ext uri="{FF2B5EF4-FFF2-40B4-BE49-F238E27FC236}">
                <a16:creationId xmlns:a16="http://schemas.microsoft.com/office/drawing/2014/main" id="{66A04380-44F2-E274-27F1-6405E325A92B}"/>
              </a:ext>
            </a:extLst>
          </p:cNvPr>
          <p:cNvSpPr/>
          <p:nvPr/>
        </p:nvSpPr>
        <p:spPr>
          <a:xfrm>
            <a:off x="2189602" y="5007903"/>
            <a:ext cx="3480247" cy="1090188"/>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Затваряне</a:t>
            </a:r>
            <a:endParaRPr lang="en-GB" sz="1600"/>
          </a:p>
        </p:txBody>
      </p:sp>
      <p:sp>
        <p:nvSpPr>
          <p:cNvPr id="11" name="Rectangle: Rounded Corners 10">
            <a:extLst>
              <a:ext uri="{FF2B5EF4-FFF2-40B4-BE49-F238E27FC236}">
                <a16:creationId xmlns:a16="http://schemas.microsoft.com/office/drawing/2014/main" id="{A3778F23-102F-D67F-0F52-0B088512A2DB}"/>
              </a:ext>
            </a:extLst>
          </p:cNvPr>
          <p:cNvSpPr/>
          <p:nvPr/>
        </p:nvSpPr>
        <p:spPr>
          <a:xfrm>
            <a:off x="6096000" y="1341902"/>
            <a:ext cx="4894555" cy="3666001"/>
          </a:xfrm>
          <a:prstGeom prst="roundRect">
            <a:avLst>
              <a:gd name="adj" fmla="val 5806"/>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Bef>
                <a:spcPts val="1200"/>
              </a:spcBef>
            </a:pPr>
            <a:r>
              <a:rPr lang="ru-RU" sz="1600" b="1" dirty="0" err="1"/>
              <a:t>Отваряне</a:t>
            </a:r>
            <a:r>
              <a:rPr lang="ru-RU" sz="1600" b="1" dirty="0"/>
              <a:t> на разговора</a:t>
            </a:r>
          </a:p>
          <a:p>
            <a:pPr>
              <a:spcBef>
                <a:spcPts val="1200"/>
              </a:spcBef>
            </a:pPr>
            <a:r>
              <a:rPr lang="ru-RU" sz="1600" b="1" dirty="0"/>
              <a:t>Цел:</a:t>
            </a:r>
            <a:r>
              <a:rPr lang="ru-RU" sz="1600" dirty="0"/>
              <a:t> </a:t>
            </a:r>
            <a:r>
              <a:rPr lang="ru-RU" sz="1600" dirty="0" err="1"/>
              <a:t>Създаване</a:t>
            </a:r>
            <a:r>
              <a:rPr lang="ru-RU" sz="1600" dirty="0"/>
              <a:t> на добро впечатление.</a:t>
            </a:r>
          </a:p>
          <a:p>
            <a:pPr>
              <a:spcBef>
                <a:spcPts val="1200"/>
              </a:spcBef>
            </a:pPr>
            <a:r>
              <a:rPr lang="ru-RU" sz="1600" dirty="0" err="1"/>
              <a:t>Какво</a:t>
            </a:r>
            <a:r>
              <a:rPr lang="ru-RU" sz="1600" dirty="0"/>
              <a:t> </a:t>
            </a:r>
            <a:r>
              <a:rPr lang="ru-RU" sz="1600" dirty="0" err="1"/>
              <a:t>включва</a:t>
            </a:r>
            <a:r>
              <a:rPr lang="ru-RU" sz="1600" dirty="0"/>
              <a:t> </a:t>
            </a:r>
            <a:r>
              <a:rPr lang="ru-RU" sz="1600" dirty="0" err="1"/>
              <a:t>този</a:t>
            </a:r>
            <a:r>
              <a:rPr lang="ru-RU" sz="1600" dirty="0"/>
              <a:t> </a:t>
            </a:r>
            <a:r>
              <a:rPr lang="ru-RU" sz="1600" dirty="0" err="1"/>
              <a:t>етап</a:t>
            </a:r>
            <a:r>
              <a:rPr lang="ru-RU" sz="1600" dirty="0"/>
              <a:t>:</a:t>
            </a:r>
          </a:p>
          <a:p>
            <a:pPr marL="285750" indent="-285750">
              <a:spcBef>
                <a:spcPts val="1200"/>
              </a:spcBef>
              <a:buFont typeface="Arial" panose="020B0604020202020204" pitchFamily="34" charset="0"/>
              <a:buChar char="•"/>
            </a:pPr>
            <a:r>
              <a:rPr lang="ru-RU" sz="1600" dirty="0" err="1"/>
              <a:t>Поздрави</a:t>
            </a:r>
            <a:r>
              <a:rPr lang="ru-RU" sz="1600" dirty="0"/>
              <a:t>.</a:t>
            </a:r>
          </a:p>
          <a:p>
            <a:pPr marL="285750" indent="-285750">
              <a:spcBef>
                <a:spcPts val="1200"/>
              </a:spcBef>
              <a:buFont typeface="Arial" panose="020B0604020202020204" pitchFamily="34" charset="0"/>
              <a:buChar char="•"/>
            </a:pPr>
            <a:r>
              <a:rPr lang="ru-RU" sz="1600" dirty="0" err="1"/>
              <a:t>Представи</a:t>
            </a:r>
            <a:r>
              <a:rPr lang="ru-RU" sz="1600" dirty="0"/>
              <a:t> себе си и </a:t>
            </a:r>
            <a:r>
              <a:rPr lang="ru-RU" sz="1600" dirty="0" err="1"/>
              <a:t>позицията</a:t>
            </a:r>
            <a:r>
              <a:rPr lang="ru-RU" sz="1600" dirty="0"/>
              <a:t> си: име, име на </a:t>
            </a:r>
            <a:r>
              <a:rPr lang="ru-RU" sz="1600" dirty="0" err="1"/>
              <a:t>компанията</a:t>
            </a:r>
            <a:r>
              <a:rPr lang="ru-RU" sz="1600" dirty="0"/>
              <a:t>, </a:t>
            </a:r>
            <a:r>
              <a:rPr lang="ru-RU" sz="1600" dirty="0" err="1"/>
              <a:t>длъжност</a:t>
            </a:r>
            <a:r>
              <a:rPr lang="ru-RU" sz="1600" dirty="0"/>
              <a:t>.</a:t>
            </a:r>
          </a:p>
          <a:p>
            <a:pPr marL="285750" indent="-285750">
              <a:spcBef>
                <a:spcPts val="1200"/>
              </a:spcBef>
              <a:buFont typeface="Arial" panose="020B0604020202020204" pitchFamily="34" charset="0"/>
              <a:buChar char="•"/>
            </a:pPr>
            <a:r>
              <a:rPr lang="ru-RU" sz="1600" dirty="0" err="1"/>
              <a:t>Увери</a:t>
            </a:r>
            <a:r>
              <a:rPr lang="ru-RU" sz="1600" dirty="0"/>
              <a:t> се, че </a:t>
            </a:r>
            <a:r>
              <a:rPr lang="ru-RU" sz="1600" dirty="0" err="1"/>
              <a:t>говориш</a:t>
            </a:r>
            <a:r>
              <a:rPr lang="ru-RU" sz="1600" dirty="0"/>
              <a:t> с </a:t>
            </a:r>
            <a:r>
              <a:rPr lang="ru-RU" sz="1600" dirty="0" err="1"/>
              <a:t>правилния</a:t>
            </a:r>
            <a:r>
              <a:rPr lang="ru-RU" sz="1600" dirty="0"/>
              <a:t> </a:t>
            </a:r>
            <a:r>
              <a:rPr lang="ru-RU" sz="1600" dirty="0" err="1"/>
              <a:t>човек</a:t>
            </a:r>
            <a:r>
              <a:rPr lang="ru-RU" sz="1600" dirty="0"/>
              <a:t>.</a:t>
            </a:r>
          </a:p>
          <a:p>
            <a:pPr marL="285750" indent="-285750">
              <a:spcBef>
                <a:spcPts val="1200"/>
              </a:spcBef>
              <a:buFont typeface="Arial" panose="020B0604020202020204" pitchFamily="34" charset="0"/>
              <a:buChar char="•"/>
            </a:pPr>
            <a:r>
              <a:rPr lang="ru-RU" sz="1600" dirty="0"/>
              <a:t>Уточни дали </a:t>
            </a:r>
            <a:r>
              <a:rPr lang="ru-RU" sz="1600" dirty="0" err="1"/>
              <a:t>моментът</a:t>
            </a:r>
            <a:r>
              <a:rPr lang="ru-RU" sz="1600" dirty="0"/>
              <a:t> е </a:t>
            </a:r>
            <a:r>
              <a:rPr lang="ru-RU" sz="1600" dirty="0" err="1"/>
              <a:t>подходящ</a:t>
            </a:r>
            <a:r>
              <a:rPr lang="ru-RU" sz="1600" dirty="0"/>
              <a:t>, като </a:t>
            </a:r>
            <a:r>
              <a:rPr lang="ru-RU" sz="1600" dirty="0" err="1"/>
              <a:t>попиташ</a:t>
            </a:r>
            <a:r>
              <a:rPr lang="ru-RU" sz="1600" dirty="0"/>
              <a:t> дали </a:t>
            </a:r>
            <a:r>
              <a:rPr lang="ru-RU" sz="1600" dirty="0" err="1"/>
              <a:t>човекът</a:t>
            </a:r>
            <a:r>
              <a:rPr lang="ru-RU" sz="1600" dirty="0"/>
              <a:t> има време да </a:t>
            </a:r>
            <a:r>
              <a:rPr lang="ru-RU" sz="1600" dirty="0" err="1"/>
              <a:t>разговаря</a:t>
            </a:r>
            <a:r>
              <a:rPr lang="ru-RU" sz="1600" dirty="0"/>
              <a:t>.</a:t>
            </a:r>
          </a:p>
        </p:txBody>
      </p:sp>
      <p:sp>
        <p:nvSpPr>
          <p:cNvPr id="5" name="Rectangle 28">
            <a:extLst>
              <a:ext uri="{FF2B5EF4-FFF2-40B4-BE49-F238E27FC236}">
                <a16:creationId xmlns:a16="http://schemas.microsoft.com/office/drawing/2014/main" id="{E57EE43A-3FDD-5AF9-59FE-11A88DBC18A6}"/>
              </a:ext>
            </a:extLst>
          </p:cNvPr>
          <p:cNvSpPr/>
          <p:nvPr/>
        </p:nvSpPr>
        <p:spPr>
          <a:xfrm>
            <a:off x="-15824" y="1599"/>
            <a:ext cx="1465320" cy="6859628"/>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400">
              <a:latin typeface="Aptos"/>
              <a:ea typeface="Calibri"/>
              <a:cs typeface="Calibri"/>
            </a:endParaRPr>
          </a:p>
        </p:txBody>
      </p:sp>
      <p:sp>
        <p:nvSpPr>
          <p:cNvPr id="8" name="Rectangle 29">
            <a:extLst>
              <a:ext uri="{FF2B5EF4-FFF2-40B4-BE49-F238E27FC236}">
                <a16:creationId xmlns:a16="http://schemas.microsoft.com/office/drawing/2014/main" id="{270EC156-B7EB-EE27-8888-3191EC464A5C}"/>
              </a:ext>
            </a:extLst>
          </p:cNvPr>
          <p:cNvSpPr/>
          <p:nvPr/>
        </p:nvSpPr>
        <p:spPr>
          <a:xfrm>
            <a:off x="-1671" y="2528038"/>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Типове клиенти</a:t>
            </a:r>
            <a:endParaRPr lang="en-GB" sz="1400">
              <a:latin typeface="Aptos"/>
              <a:ea typeface="Calibri"/>
              <a:cs typeface="Calibri"/>
            </a:endParaRPr>
          </a:p>
        </p:txBody>
      </p:sp>
      <p:sp>
        <p:nvSpPr>
          <p:cNvPr id="13" name="Rectangle 30">
            <a:extLst>
              <a:ext uri="{FF2B5EF4-FFF2-40B4-BE49-F238E27FC236}">
                <a16:creationId xmlns:a16="http://schemas.microsoft.com/office/drawing/2014/main" id="{CC4C4379-1D65-D13E-C9CD-8B4D45DD0F2F}"/>
              </a:ext>
            </a:extLst>
          </p:cNvPr>
          <p:cNvSpPr/>
          <p:nvPr/>
        </p:nvSpPr>
        <p:spPr>
          <a:xfrm>
            <a:off x="8626" y="1913210"/>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Сценарии</a:t>
            </a:r>
            <a:endParaRPr lang="en-GB" sz="1400">
              <a:latin typeface="Aptos"/>
              <a:ea typeface="Calibri"/>
              <a:cs typeface="Calibri"/>
            </a:endParaRPr>
          </a:p>
        </p:txBody>
      </p:sp>
      <p:sp>
        <p:nvSpPr>
          <p:cNvPr id="17" name="Rectangle 31">
            <a:extLst>
              <a:ext uri="{FF2B5EF4-FFF2-40B4-BE49-F238E27FC236}">
                <a16:creationId xmlns:a16="http://schemas.microsoft.com/office/drawing/2014/main" id="{CCBE13FD-FD20-ADD0-E454-A16AA8654D01}"/>
              </a:ext>
            </a:extLst>
          </p:cNvPr>
          <p:cNvSpPr/>
          <p:nvPr/>
        </p:nvSpPr>
        <p:spPr>
          <a:xfrm>
            <a:off x="-1671" y="1298382"/>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dirty="0">
                <a:solidFill>
                  <a:srgbClr val="002060"/>
                </a:solidFill>
                <a:latin typeface="Aptos"/>
                <a:ea typeface="Calibri"/>
                <a:cs typeface="Calibri"/>
              </a:rPr>
              <a:t>Стъпки в обаждането</a:t>
            </a:r>
            <a:endParaRPr lang="en-GB" sz="1400" dirty="0">
              <a:solidFill>
                <a:srgbClr val="002060"/>
              </a:solidFill>
              <a:latin typeface="Aptos"/>
              <a:ea typeface="Calibri"/>
              <a:cs typeface="Calibri"/>
            </a:endParaRPr>
          </a:p>
        </p:txBody>
      </p:sp>
      <p:sp>
        <p:nvSpPr>
          <p:cNvPr id="23" name="Rectangle 3">
            <a:extLst>
              <a:ext uri="{FF2B5EF4-FFF2-40B4-BE49-F238E27FC236}">
                <a16:creationId xmlns:a16="http://schemas.microsoft.com/office/drawing/2014/main" id="{A8B3B9B5-FD0D-52A0-AEA7-7F04E7611D0F}"/>
              </a:ext>
            </a:extLst>
          </p:cNvPr>
          <p:cNvSpPr/>
          <p:nvPr/>
        </p:nvSpPr>
        <p:spPr>
          <a:xfrm>
            <a:off x="1443475" y="4245"/>
            <a:ext cx="5338363" cy="67724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25" name="Rectangle 4">
            <a:extLst>
              <a:ext uri="{FF2B5EF4-FFF2-40B4-BE49-F238E27FC236}">
                <a16:creationId xmlns:a16="http://schemas.microsoft.com/office/drawing/2014/main" id="{14F7C692-7A6D-49C4-ED58-87E1781B6927}"/>
              </a:ext>
            </a:extLst>
          </p:cNvPr>
          <p:cNvSpPr/>
          <p:nvPr/>
        </p:nvSpPr>
        <p:spPr>
          <a:xfrm>
            <a:off x="6788435" y="4245"/>
            <a:ext cx="5417300" cy="677242"/>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27" name="Rectangle 28">
            <a:extLst>
              <a:ext uri="{FF2B5EF4-FFF2-40B4-BE49-F238E27FC236}">
                <a16:creationId xmlns:a16="http://schemas.microsoft.com/office/drawing/2014/main" id="{D703D723-74C3-CE32-D128-0B9E4A4B25F1}"/>
              </a:ext>
            </a:extLst>
          </p:cNvPr>
          <p:cNvSpPr/>
          <p:nvPr/>
        </p:nvSpPr>
        <p:spPr>
          <a:xfrm>
            <a:off x="-15827" y="690328"/>
            <a:ext cx="1465322"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FFFFFF"/>
                </a:solidFill>
                <a:latin typeface="Aptos"/>
                <a:ea typeface="Calibri"/>
                <a:cs typeface="Calibri"/>
              </a:rPr>
              <a:t>Подготовка</a:t>
            </a:r>
            <a:endParaRPr lang="en-GB" sz="1400">
              <a:solidFill>
                <a:srgbClr val="FFFFFF"/>
              </a:solidFill>
              <a:latin typeface="Aptos"/>
              <a:ea typeface="Calibri"/>
              <a:cs typeface="Calibri"/>
            </a:endParaRPr>
          </a:p>
        </p:txBody>
      </p:sp>
      <p:pic>
        <p:nvPicPr>
          <p:cNvPr id="15" name="Picture 14">
            <a:extLst>
              <a:ext uri="{FF2B5EF4-FFF2-40B4-BE49-F238E27FC236}">
                <a16:creationId xmlns:a16="http://schemas.microsoft.com/office/drawing/2014/main" id="{524643E5-3CDF-4993-8DD1-32735D484969}"/>
              </a:ext>
            </a:extLst>
          </p:cNvPr>
          <p:cNvPicPr>
            <a:picLocks noChangeAspect="1"/>
          </p:cNvPicPr>
          <p:nvPr/>
        </p:nvPicPr>
        <p:blipFill>
          <a:blip r:embed="rId3"/>
          <a:stretch>
            <a:fillRect/>
          </a:stretch>
        </p:blipFill>
        <p:spPr>
          <a:xfrm>
            <a:off x="10883590" y="5621341"/>
            <a:ext cx="982751" cy="995681"/>
          </a:xfrm>
          <a:prstGeom prst="rect">
            <a:avLst/>
          </a:prstGeom>
        </p:spPr>
      </p:pic>
    </p:spTree>
    <p:extLst>
      <p:ext uri="{BB962C8B-B14F-4D97-AF65-F5344CB8AC3E}">
        <p14:creationId xmlns:p14="http://schemas.microsoft.com/office/powerpoint/2010/main" val="1123326334"/>
      </p:ext>
    </p:extLst>
  </p:cSld>
  <p:clrMapOvr>
    <a:masterClrMapping/>
  </p:clrMapOvr>
  <p:extLst>
    <p:ext uri="{6950BFC3-D8DA-4A85-94F7-54DA5524770B}">
      <p188:commentRel xmlns:p188="http://schemas.microsoft.com/office/powerpoint/2018/8/main" r:id="rId2"/>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A98226-D126-43EC-9D92-8B8C8F0FAA5B}"/>
            </a:ext>
          </a:extLst>
        </p:cNvPr>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FF5496B8-BE21-5647-1025-80F0DDB12C83}"/>
              </a:ext>
            </a:extLst>
          </p:cNvPr>
          <p:cNvSpPr/>
          <p:nvPr/>
        </p:nvSpPr>
        <p:spPr>
          <a:xfrm>
            <a:off x="6096001" y="1298340"/>
            <a:ext cx="5430012" cy="2607738"/>
          </a:xfrm>
          <a:prstGeom prst="roundRect">
            <a:avLst>
              <a:gd name="adj" fmla="val 4991"/>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285750" indent="-285750">
              <a:spcBef>
                <a:spcPts val="1200"/>
              </a:spcBef>
              <a:buFont typeface="Arial" panose="020B0604020202020204" pitchFamily="34" charset="0"/>
              <a:buChar char="•"/>
            </a:pPr>
            <a:r>
              <a:rPr lang="ru-RU" sz="1400" dirty="0" err="1"/>
              <a:t>Представи</a:t>
            </a:r>
            <a:r>
              <a:rPr lang="ru-RU" sz="1400" dirty="0"/>
              <a:t> </a:t>
            </a:r>
            <a:r>
              <a:rPr lang="ru-RU" sz="1400" dirty="0" err="1"/>
              <a:t>целта</a:t>
            </a:r>
            <a:r>
              <a:rPr lang="ru-RU" sz="1400" dirty="0"/>
              <a:t> на </a:t>
            </a:r>
            <a:r>
              <a:rPr lang="ru-RU" sz="1400" dirty="0" err="1"/>
              <a:t>обаждането</a:t>
            </a:r>
            <a:r>
              <a:rPr lang="ru-RU" sz="1400" dirty="0"/>
              <a:t> си чрез ясна </a:t>
            </a:r>
            <a:r>
              <a:rPr lang="ru-RU" sz="1400" dirty="0" err="1"/>
              <a:t>полза</a:t>
            </a:r>
            <a:r>
              <a:rPr lang="ru-RU" sz="1400" dirty="0"/>
              <a:t> за клиента.</a:t>
            </a:r>
          </a:p>
          <a:p>
            <a:pPr marL="285750" indent="-285750">
              <a:spcBef>
                <a:spcPts val="1200"/>
              </a:spcBef>
              <a:buFont typeface="Arial" panose="020B0604020202020204" pitchFamily="34" charset="0"/>
              <a:buChar char="•"/>
            </a:pPr>
            <a:r>
              <a:rPr lang="ru-RU" sz="1400" dirty="0" err="1"/>
              <a:t>Заинтригува</a:t>
            </a:r>
            <a:r>
              <a:rPr lang="bg-BG" sz="1400" dirty="0"/>
              <a:t>й</a:t>
            </a:r>
            <a:r>
              <a:rPr lang="ru-RU" sz="1400" dirty="0"/>
              <a:t> чрез </a:t>
            </a:r>
            <a:r>
              <a:rPr lang="ru-RU" sz="1400" dirty="0" err="1"/>
              <a:t>предимства</a:t>
            </a:r>
            <a:r>
              <a:rPr lang="ru-RU" sz="1400" dirty="0"/>
              <a:t> и ползи.</a:t>
            </a:r>
          </a:p>
          <a:p>
            <a:pPr marL="285750" indent="-285750">
              <a:spcBef>
                <a:spcPts val="1200"/>
              </a:spcBef>
              <a:buFont typeface="Arial" panose="020B0604020202020204" pitchFamily="34" charset="0"/>
              <a:buChar char="•"/>
            </a:pPr>
            <a:r>
              <a:rPr lang="ru-RU" sz="1400" dirty="0" err="1"/>
              <a:t>Персонализирай</a:t>
            </a:r>
            <a:r>
              <a:rPr lang="ru-RU" sz="1400" dirty="0"/>
              <a:t> – говори </a:t>
            </a:r>
            <a:r>
              <a:rPr lang="ru-RU" sz="1400" dirty="0" err="1"/>
              <a:t>така</a:t>
            </a:r>
            <a:r>
              <a:rPr lang="ru-RU" sz="1400" dirty="0"/>
              <a:t>, че </a:t>
            </a:r>
            <a:r>
              <a:rPr lang="ru-RU" sz="1400" dirty="0" err="1"/>
              <a:t>клиентът</a:t>
            </a:r>
            <a:r>
              <a:rPr lang="ru-RU" sz="1400" dirty="0"/>
              <a:t> да </a:t>
            </a:r>
            <a:r>
              <a:rPr lang="ru-RU" sz="1400" dirty="0" err="1"/>
              <a:t>разбере</a:t>
            </a:r>
            <a:r>
              <a:rPr lang="ru-RU" sz="1400" dirty="0"/>
              <a:t>, че </a:t>
            </a:r>
            <a:r>
              <a:rPr lang="ru-RU" sz="1400" dirty="0" err="1"/>
              <a:t>знаеш</a:t>
            </a:r>
            <a:r>
              <a:rPr lang="ru-RU" sz="1400" dirty="0"/>
              <a:t> за него и </a:t>
            </a:r>
            <a:r>
              <a:rPr lang="ru-RU" sz="1400" dirty="0" err="1"/>
              <a:t>неговите</a:t>
            </a:r>
            <a:r>
              <a:rPr lang="ru-RU" sz="1400" dirty="0"/>
              <a:t> </a:t>
            </a:r>
            <a:r>
              <a:rPr lang="ru-RU" sz="1400" dirty="0" err="1"/>
              <a:t>нужди</a:t>
            </a:r>
            <a:r>
              <a:rPr lang="ru-RU" sz="1400" dirty="0"/>
              <a:t> или е важно за теб </a:t>
            </a:r>
            <a:r>
              <a:rPr lang="ru-RU" sz="1400" dirty="0" err="1"/>
              <a:t>какви</a:t>
            </a:r>
            <a:r>
              <a:rPr lang="ru-RU" sz="1400" dirty="0"/>
              <a:t> </a:t>
            </a:r>
            <a:r>
              <a:rPr lang="ru-RU" sz="1400" dirty="0" err="1"/>
              <a:t>са</a:t>
            </a:r>
            <a:r>
              <a:rPr lang="ru-RU" sz="1400" dirty="0"/>
              <a:t> те.</a:t>
            </a:r>
          </a:p>
          <a:p>
            <a:pPr marL="285750" indent="-285750">
              <a:spcBef>
                <a:spcPts val="1200"/>
              </a:spcBef>
              <a:buFont typeface="Arial" panose="020B0604020202020204" pitchFamily="34" charset="0"/>
              <a:buChar char="•"/>
            </a:pPr>
            <a:r>
              <a:rPr lang="ru-RU" sz="1400" dirty="0" err="1"/>
              <a:t>Изгради</a:t>
            </a:r>
            <a:r>
              <a:rPr lang="ru-RU" sz="1400" dirty="0"/>
              <a:t> доверие – покажи </a:t>
            </a:r>
            <a:r>
              <a:rPr lang="ru-RU" sz="1400" dirty="0" err="1"/>
              <a:t>разбиране</a:t>
            </a:r>
            <a:r>
              <a:rPr lang="ru-RU" sz="1400" dirty="0"/>
              <a:t> </a:t>
            </a:r>
            <a:r>
              <a:rPr lang="ru-RU" sz="1400" dirty="0" err="1"/>
              <a:t>към</a:t>
            </a:r>
            <a:r>
              <a:rPr lang="ru-RU" sz="1400" dirty="0"/>
              <a:t> клиента и подходи с </a:t>
            </a:r>
            <a:r>
              <a:rPr lang="ru-RU" sz="1400" dirty="0" err="1"/>
              <a:t>емпатия</a:t>
            </a:r>
            <a:r>
              <a:rPr lang="ru-RU" sz="1400" dirty="0"/>
              <a:t>. </a:t>
            </a:r>
            <a:r>
              <a:rPr lang="ru-RU" sz="1400" dirty="0" err="1"/>
              <a:t>Съобрази</a:t>
            </a:r>
            <a:r>
              <a:rPr lang="ru-RU" sz="1400" dirty="0"/>
              <a:t> се с </a:t>
            </a:r>
            <a:r>
              <a:rPr lang="ru-RU" sz="1400" dirty="0" err="1"/>
              <a:t>неговите</a:t>
            </a:r>
            <a:r>
              <a:rPr lang="ru-RU" sz="1400" dirty="0"/>
              <a:t> </a:t>
            </a:r>
            <a:r>
              <a:rPr lang="ru-RU" sz="1400" dirty="0" err="1"/>
              <a:t>възможности</a:t>
            </a:r>
            <a:r>
              <a:rPr lang="ru-RU" sz="1400" dirty="0"/>
              <a:t> и желания.</a:t>
            </a:r>
          </a:p>
        </p:txBody>
      </p:sp>
      <p:sp>
        <p:nvSpPr>
          <p:cNvPr id="15" name="Rectangle 28">
            <a:extLst>
              <a:ext uri="{FF2B5EF4-FFF2-40B4-BE49-F238E27FC236}">
                <a16:creationId xmlns:a16="http://schemas.microsoft.com/office/drawing/2014/main" id="{479DFDD8-CEE6-432D-923E-986E95A7E2C1}"/>
              </a:ext>
            </a:extLst>
          </p:cNvPr>
          <p:cNvSpPr/>
          <p:nvPr/>
        </p:nvSpPr>
        <p:spPr>
          <a:xfrm>
            <a:off x="6922" y="1599"/>
            <a:ext cx="1465320" cy="6859628"/>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400">
              <a:latin typeface="Aptos"/>
              <a:ea typeface="Calibri"/>
              <a:cs typeface="Calibri"/>
            </a:endParaRPr>
          </a:p>
        </p:txBody>
      </p:sp>
      <p:sp>
        <p:nvSpPr>
          <p:cNvPr id="17" name="Rectangle 29">
            <a:extLst>
              <a:ext uri="{FF2B5EF4-FFF2-40B4-BE49-F238E27FC236}">
                <a16:creationId xmlns:a16="http://schemas.microsoft.com/office/drawing/2014/main" id="{BB485308-6A63-4685-80B9-5776E59BB9D4}"/>
              </a:ext>
            </a:extLst>
          </p:cNvPr>
          <p:cNvSpPr/>
          <p:nvPr/>
        </p:nvSpPr>
        <p:spPr>
          <a:xfrm>
            <a:off x="-1671" y="2528038"/>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Типове клиенти</a:t>
            </a:r>
            <a:endParaRPr lang="en-GB" sz="1400">
              <a:latin typeface="Aptos"/>
              <a:ea typeface="Calibri"/>
              <a:cs typeface="Calibri"/>
            </a:endParaRPr>
          </a:p>
        </p:txBody>
      </p:sp>
      <p:sp>
        <p:nvSpPr>
          <p:cNvPr id="22" name="Rectangle 30">
            <a:extLst>
              <a:ext uri="{FF2B5EF4-FFF2-40B4-BE49-F238E27FC236}">
                <a16:creationId xmlns:a16="http://schemas.microsoft.com/office/drawing/2014/main" id="{ABEB95E0-3491-455C-AD49-F83474B4BA06}"/>
              </a:ext>
            </a:extLst>
          </p:cNvPr>
          <p:cNvSpPr/>
          <p:nvPr/>
        </p:nvSpPr>
        <p:spPr>
          <a:xfrm>
            <a:off x="8626" y="1913210"/>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Сценарии</a:t>
            </a:r>
            <a:endParaRPr lang="en-GB" sz="1400">
              <a:latin typeface="Aptos"/>
              <a:ea typeface="Calibri"/>
              <a:cs typeface="Calibri"/>
            </a:endParaRPr>
          </a:p>
        </p:txBody>
      </p:sp>
      <p:sp>
        <p:nvSpPr>
          <p:cNvPr id="23" name="Rectangle 31">
            <a:extLst>
              <a:ext uri="{FF2B5EF4-FFF2-40B4-BE49-F238E27FC236}">
                <a16:creationId xmlns:a16="http://schemas.microsoft.com/office/drawing/2014/main" id="{F4D458DB-69B4-41C4-8D89-FDD98F6BBF87}"/>
              </a:ext>
            </a:extLst>
          </p:cNvPr>
          <p:cNvSpPr/>
          <p:nvPr/>
        </p:nvSpPr>
        <p:spPr>
          <a:xfrm>
            <a:off x="9702" y="1298382"/>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002060"/>
                </a:solidFill>
                <a:latin typeface="Aptos"/>
                <a:ea typeface="Calibri"/>
                <a:cs typeface="Calibri"/>
              </a:rPr>
              <a:t>Стъпки в обаждането</a:t>
            </a:r>
            <a:endParaRPr lang="en-GB" sz="1400">
              <a:solidFill>
                <a:srgbClr val="002060"/>
              </a:solidFill>
              <a:latin typeface="Aptos"/>
              <a:ea typeface="Calibri"/>
              <a:cs typeface="Calibri"/>
            </a:endParaRPr>
          </a:p>
        </p:txBody>
      </p:sp>
      <p:sp>
        <p:nvSpPr>
          <p:cNvPr id="24" name="Rectangle 3">
            <a:extLst>
              <a:ext uri="{FF2B5EF4-FFF2-40B4-BE49-F238E27FC236}">
                <a16:creationId xmlns:a16="http://schemas.microsoft.com/office/drawing/2014/main" id="{C196CBF9-AE72-4F29-8A83-5ED2EF314505}"/>
              </a:ext>
            </a:extLst>
          </p:cNvPr>
          <p:cNvSpPr/>
          <p:nvPr/>
        </p:nvSpPr>
        <p:spPr>
          <a:xfrm>
            <a:off x="1443475" y="4245"/>
            <a:ext cx="5338363" cy="67724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25" name="Rectangle 4">
            <a:extLst>
              <a:ext uri="{FF2B5EF4-FFF2-40B4-BE49-F238E27FC236}">
                <a16:creationId xmlns:a16="http://schemas.microsoft.com/office/drawing/2014/main" id="{52B9E263-D0A7-4D51-8FD3-7D59F7A9F082}"/>
              </a:ext>
            </a:extLst>
          </p:cNvPr>
          <p:cNvSpPr/>
          <p:nvPr/>
        </p:nvSpPr>
        <p:spPr>
          <a:xfrm>
            <a:off x="6788435" y="4245"/>
            <a:ext cx="5417300" cy="677242"/>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26" name="Rectangle 28">
            <a:extLst>
              <a:ext uri="{FF2B5EF4-FFF2-40B4-BE49-F238E27FC236}">
                <a16:creationId xmlns:a16="http://schemas.microsoft.com/office/drawing/2014/main" id="{99F91805-B678-492D-9726-416BCDB72BD6}"/>
              </a:ext>
            </a:extLst>
          </p:cNvPr>
          <p:cNvSpPr/>
          <p:nvPr/>
        </p:nvSpPr>
        <p:spPr>
          <a:xfrm>
            <a:off x="6919" y="690328"/>
            <a:ext cx="1465322"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FFFFFF"/>
                </a:solidFill>
                <a:latin typeface="Aptos"/>
                <a:ea typeface="Calibri"/>
                <a:cs typeface="Calibri"/>
              </a:rPr>
              <a:t>Подготовка</a:t>
            </a:r>
            <a:endParaRPr lang="en-GB" sz="1400">
              <a:solidFill>
                <a:srgbClr val="FFFFFF"/>
              </a:solidFill>
              <a:latin typeface="Aptos"/>
              <a:ea typeface="Calibri"/>
              <a:cs typeface="Calibri"/>
            </a:endParaRPr>
          </a:p>
        </p:txBody>
      </p:sp>
      <p:sp>
        <p:nvSpPr>
          <p:cNvPr id="39" name="Rectangle 9">
            <a:extLst>
              <a:ext uri="{FF2B5EF4-FFF2-40B4-BE49-F238E27FC236}">
                <a16:creationId xmlns:a16="http://schemas.microsoft.com/office/drawing/2014/main" id="{CA6BFD2C-6164-442F-9A83-5EE710A4F4A4}"/>
              </a:ext>
            </a:extLst>
          </p:cNvPr>
          <p:cNvSpPr/>
          <p:nvPr/>
        </p:nvSpPr>
        <p:spPr>
          <a:xfrm>
            <a:off x="2189602" y="2540005"/>
            <a:ext cx="3480247" cy="1090188"/>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Представяне на целта</a:t>
            </a:r>
            <a:endParaRPr lang="en-GB" sz="1600"/>
          </a:p>
        </p:txBody>
      </p:sp>
      <p:sp>
        <p:nvSpPr>
          <p:cNvPr id="40" name="Rectangle 11">
            <a:extLst>
              <a:ext uri="{FF2B5EF4-FFF2-40B4-BE49-F238E27FC236}">
                <a16:creationId xmlns:a16="http://schemas.microsoft.com/office/drawing/2014/main" id="{C3A96E39-F598-461C-A322-CF46EF1917F0}"/>
              </a:ext>
            </a:extLst>
          </p:cNvPr>
          <p:cNvSpPr/>
          <p:nvPr/>
        </p:nvSpPr>
        <p:spPr>
          <a:xfrm>
            <a:off x="2189602" y="1322152"/>
            <a:ext cx="3480247" cy="1090188"/>
          </a:xfrm>
          <a:prstGeom prst="round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600"/>
              <a:t>Отваряне</a:t>
            </a:r>
            <a:endParaRPr lang="en-GB" sz="1600"/>
          </a:p>
        </p:txBody>
      </p:sp>
      <p:sp>
        <p:nvSpPr>
          <p:cNvPr id="41" name="Rectangle 13">
            <a:extLst>
              <a:ext uri="{FF2B5EF4-FFF2-40B4-BE49-F238E27FC236}">
                <a16:creationId xmlns:a16="http://schemas.microsoft.com/office/drawing/2014/main" id="{934FB075-0783-4450-ABC9-6835BD5DF655}"/>
              </a:ext>
            </a:extLst>
          </p:cNvPr>
          <p:cNvSpPr/>
          <p:nvPr/>
        </p:nvSpPr>
        <p:spPr>
          <a:xfrm>
            <a:off x="2189602" y="3757858"/>
            <a:ext cx="3480247" cy="1090188"/>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Справяне с възражения</a:t>
            </a:r>
            <a:endParaRPr lang="en-GB" sz="1600"/>
          </a:p>
        </p:txBody>
      </p:sp>
      <p:sp>
        <p:nvSpPr>
          <p:cNvPr id="42" name="Rectangle 15">
            <a:extLst>
              <a:ext uri="{FF2B5EF4-FFF2-40B4-BE49-F238E27FC236}">
                <a16:creationId xmlns:a16="http://schemas.microsoft.com/office/drawing/2014/main" id="{D7C43CEB-D765-475D-A302-91AE9E7FBE26}"/>
              </a:ext>
            </a:extLst>
          </p:cNvPr>
          <p:cNvSpPr/>
          <p:nvPr/>
        </p:nvSpPr>
        <p:spPr>
          <a:xfrm>
            <a:off x="2189602" y="5007903"/>
            <a:ext cx="3480247" cy="1090188"/>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Затваряне</a:t>
            </a:r>
            <a:endParaRPr lang="en-GB" sz="1600"/>
          </a:p>
        </p:txBody>
      </p:sp>
      <p:pic>
        <p:nvPicPr>
          <p:cNvPr id="43" name="Picture 42">
            <a:extLst>
              <a:ext uri="{FF2B5EF4-FFF2-40B4-BE49-F238E27FC236}">
                <a16:creationId xmlns:a16="http://schemas.microsoft.com/office/drawing/2014/main" id="{24213AAC-AFBE-49A5-91D1-3BA59EECFD8C}"/>
              </a:ext>
            </a:extLst>
          </p:cNvPr>
          <p:cNvPicPr>
            <a:picLocks noChangeAspect="1"/>
          </p:cNvPicPr>
          <p:nvPr/>
        </p:nvPicPr>
        <p:blipFill>
          <a:blip r:embed="rId3"/>
          <a:stretch>
            <a:fillRect/>
          </a:stretch>
        </p:blipFill>
        <p:spPr>
          <a:xfrm>
            <a:off x="10883590" y="5621341"/>
            <a:ext cx="982751" cy="995681"/>
          </a:xfrm>
          <a:prstGeom prst="rect">
            <a:avLst/>
          </a:prstGeom>
        </p:spPr>
      </p:pic>
      <p:sp>
        <p:nvSpPr>
          <p:cNvPr id="2" name="Rectangle: Rounded Corners 1">
            <a:extLst>
              <a:ext uri="{FF2B5EF4-FFF2-40B4-BE49-F238E27FC236}">
                <a16:creationId xmlns:a16="http://schemas.microsoft.com/office/drawing/2014/main" id="{658655EF-40B8-3679-6AD3-550E3EBF6AEC}"/>
              </a:ext>
            </a:extLst>
          </p:cNvPr>
          <p:cNvSpPr/>
          <p:nvPr/>
        </p:nvSpPr>
        <p:spPr>
          <a:xfrm>
            <a:off x="6096041" y="4047682"/>
            <a:ext cx="5421858" cy="51202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Ключови</a:t>
            </a:r>
            <a:r>
              <a:rPr lang="en-US" dirty="0"/>
              <a:t> </a:t>
            </a:r>
            <a:r>
              <a:rPr lang="en-US" dirty="0" err="1"/>
              <a:t>послания</a:t>
            </a:r>
            <a:r>
              <a:rPr lang="en-US" dirty="0"/>
              <a:t> </a:t>
            </a:r>
            <a:r>
              <a:rPr lang="en-US" dirty="0" err="1"/>
              <a:t>към</a:t>
            </a:r>
            <a:r>
              <a:rPr lang="en-US" dirty="0"/>
              <a:t> </a:t>
            </a:r>
            <a:r>
              <a:rPr lang="en-US" dirty="0" err="1"/>
              <a:t>кли</a:t>
            </a:r>
            <a:r>
              <a:rPr lang="bg-BG" dirty="0" err="1"/>
              <a:t>ен</a:t>
            </a:r>
            <a:r>
              <a:rPr lang="en-US" dirty="0" err="1"/>
              <a:t>ти</a:t>
            </a:r>
            <a:endParaRPr lang="en-US" dirty="0"/>
          </a:p>
        </p:txBody>
      </p:sp>
    </p:spTree>
    <p:extLst>
      <p:ext uri="{BB962C8B-B14F-4D97-AF65-F5344CB8AC3E}">
        <p14:creationId xmlns:p14="http://schemas.microsoft.com/office/powerpoint/2010/main" val="1167644043"/>
      </p:ext>
    </p:extLst>
  </p:cSld>
  <p:clrMapOvr>
    <a:masterClrMapping/>
  </p:clrMapOvr>
  <p:extLst>
    <p:ext uri="{6950BFC3-D8DA-4A85-94F7-54DA5524770B}">
      <p188:commentRel xmlns:p188="http://schemas.microsoft.com/office/powerpoint/2018/8/main" r:id="rId2"/>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59C321-A836-DB55-F843-F449B074D7B4}"/>
            </a:ext>
          </a:extLst>
        </p:cNvPr>
        <p:cNvGrpSpPr/>
        <p:nvPr/>
      </p:nvGrpSpPr>
      <p:grpSpPr>
        <a:xfrm>
          <a:off x="0" y="0"/>
          <a:ext cx="0" cy="0"/>
          <a:chOff x="0" y="0"/>
          <a:chExt cx="0" cy="0"/>
        </a:xfrm>
      </p:grpSpPr>
      <p:sp>
        <p:nvSpPr>
          <p:cNvPr id="15" name="Rectangle 28">
            <a:extLst>
              <a:ext uri="{FF2B5EF4-FFF2-40B4-BE49-F238E27FC236}">
                <a16:creationId xmlns:a16="http://schemas.microsoft.com/office/drawing/2014/main" id="{3909CC10-2FD8-BB50-88D2-278778CDBBBE}"/>
              </a:ext>
            </a:extLst>
          </p:cNvPr>
          <p:cNvSpPr/>
          <p:nvPr/>
        </p:nvSpPr>
        <p:spPr>
          <a:xfrm>
            <a:off x="6922" y="1599"/>
            <a:ext cx="1465320" cy="6859628"/>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400">
              <a:latin typeface="Aptos"/>
              <a:ea typeface="Calibri"/>
              <a:cs typeface="Calibri"/>
            </a:endParaRPr>
          </a:p>
        </p:txBody>
      </p:sp>
      <p:sp>
        <p:nvSpPr>
          <p:cNvPr id="17" name="Rectangle 29">
            <a:extLst>
              <a:ext uri="{FF2B5EF4-FFF2-40B4-BE49-F238E27FC236}">
                <a16:creationId xmlns:a16="http://schemas.microsoft.com/office/drawing/2014/main" id="{02246742-CF26-DB90-5C0B-60F043C86BBD}"/>
              </a:ext>
            </a:extLst>
          </p:cNvPr>
          <p:cNvSpPr/>
          <p:nvPr/>
        </p:nvSpPr>
        <p:spPr>
          <a:xfrm>
            <a:off x="-1671" y="2528038"/>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Типове клиенти</a:t>
            </a:r>
            <a:endParaRPr lang="en-GB" sz="1400">
              <a:latin typeface="Aptos"/>
              <a:ea typeface="Calibri"/>
              <a:cs typeface="Calibri"/>
            </a:endParaRPr>
          </a:p>
        </p:txBody>
      </p:sp>
      <p:sp>
        <p:nvSpPr>
          <p:cNvPr id="22" name="Rectangle 30">
            <a:extLst>
              <a:ext uri="{FF2B5EF4-FFF2-40B4-BE49-F238E27FC236}">
                <a16:creationId xmlns:a16="http://schemas.microsoft.com/office/drawing/2014/main" id="{7CAAEF58-A8F9-A9EE-4833-5499E00ABA13}"/>
              </a:ext>
            </a:extLst>
          </p:cNvPr>
          <p:cNvSpPr/>
          <p:nvPr/>
        </p:nvSpPr>
        <p:spPr>
          <a:xfrm>
            <a:off x="8626" y="1913210"/>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Сценарии</a:t>
            </a:r>
            <a:endParaRPr lang="en-GB" sz="1400">
              <a:latin typeface="Aptos"/>
              <a:ea typeface="Calibri"/>
              <a:cs typeface="Calibri"/>
            </a:endParaRPr>
          </a:p>
        </p:txBody>
      </p:sp>
      <p:sp>
        <p:nvSpPr>
          <p:cNvPr id="23" name="Rectangle 31">
            <a:extLst>
              <a:ext uri="{FF2B5EF4-FFF2-40B4-BE49-F238E27FC236}">
                <a16:creationId xmlns:a16="http://schemas.microsoft.com/office/drawing/2014/main" id="{D5F873B6-26E7-DFFA-C01F-21439FAFF20F}"/>
              </a:ext>
            </a:extLst>
          </p:cNvPr>
          <p:cNvSpPr/>
          <p:nvPr/>
        </p:nvSpPr>
        <p:spPr>
          <a:xfrm>
            <a:off x="9702" y="1298382"/>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002060"/>
                </a:solidFill>
                <a:latin typeface="Aptos"/>
                <a:ea typeface="Calibri"/>
                <a:cs typeface="Calibri"/>
              </a:rPr>
              <a:t>Стъпки в обаждането</a:t>
            </a:r>
            <a:endParaRPr lang="en-GB" sz="1400">
              <a:solidFill>
                <a:srgbClr val="002060"/>
              </a:solidFill>
              <a:latin typeface="Aptos"/>
              <a:ea typeface="Calibri"/>
              <a:cs typeface="Calibri"/>
            </a:endParaRPr>
          </a:p>
        </p:txBody>
      </p:sp>
      <p:sp>
        <p:nvSpPr>
          <p:cNvPr id="24" name="Rectangle 3">
            <a:extLst>
              <a:ext uri="{FF2B5EF4-FFF2-40B4-BE49-F238E27FC236}">
                <a16:creationId xmlns:a16="http://schemas.microsoft.com/office/drawing/2014/main" id="{26292037-37B5-99FA-2321-DC16411FA43B}"/>
              </a:ext>
            </a:extLst>
          </p:cNvPr>
          <p:cNvSpPr/>
          <p:nvPr/>
        </p:nvSpPr>
        <p:spPr>
          <a:xfrm>
            <a:off x="1443475" y="4245"/>
            <a:ext cx="5338363" cy="67724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25" name="Rectangle 4">
            <a:extLst>
              <a:ext uri="{FF2B5EF4-FFF2-40B4-BE49-F238E27FC236}">
                <a16:creationId xmlns:a16="http://schemas.microsoft.com/office/drawing/2014/main" id="{8EB31571-B425-7C6D-AABB-EF35A26FF4B8}"/>
              </a:ext>
            </a:extLst>
          </p:cNvPr>
          <p:cNvSpPr/>
          <p:nvPr/>
        </p:nvSpPr>
        <p:spPr>
          <a:xfrm>
            <a:off x="6788435" y="4245"/>
            <a:ext cx="5417300" cy="677242"/>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26" name="Rectangle 28">
            <a:extLst>
              <a:ext uri="{FF2B5EF4-FFF2-40B4-BE49-F238E27FC236}">
                <a16:creationId xmlns:a16="http://schemas.microsoft.com/office/drawing/2014/main" id="{C7ED9A72-D2F1-8C67-D19E-D70557B19170}"/>
              </a:ext>
            </a:extLst>
          </p:cNvPr>
          <p:cNvSpPr/>
          <p:nvPr/>
        </p:nvSpPr>
        <p:spPr>
          <a:xfrm>
            <a:off x="6919" y="690328"/>
            <a:ext cx="1465322"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FFFFFF"/>
                </a:solidFill>
                <a:latin typeface="Aptos"/>
                <a:ea typeface="Calibri"/>
                <a:cs typeface="Calibri"/>
              </a:rPr>
              <a:t>Подготовка</a:t>
            </a:r>
            <a:endParaRPr lang="en-GB" sz="1400">
              <a:solidFill>
                <a:srgbClr val="FFFFFF"/>
              </a:solidFill>
              <a:latin typeface="Aptos"/>
              <a:ea typeface="Calibri"/>
              <a:cs typeface="Calibri"/>
            </a:endParaRPr>
          </a:p>
        </p:txBody>
      </p:sp>
      <p:sp>
        <p:nvSpPr>
          <p:cNvPr id="39" name="Rectangle 9">
            <a:extLst>
              <a:ext uri="{FF2B5EF4-FFF2-40B4-BE49-F238E27FC236}">
                <a16:creationId xmlns:a16="http://schemas.microsoft.com/office/drawing/2014/main" id="{197C4725-14BB-D395-EC32-DE8AD2071E7F}"/>
              </a:ext>
            </a:extLst>
          </p:cNvPr>
          <p:cNvSpPr/>
          <p:nvPr/>
        </p:nvSpPr>
        <p:spPr>
          <a:xfrm>
            <a:off x="2189602" y="2540005"/>
            <a:ext cx="3480247" cy="1090188"/>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Представяне на целта</a:t>
            </a:r>
            <a:endParaRPr lang="en-GB" sz="1600"/>
          </a:p>
        </p:txBody>
      </p:sp>
      <p:sp>
        <p:nvSpPr>
          <p:cNvPr id="40" name="Rectangle 11">
            <a:extLst>
              <a:ext uri="{FF2B5EF4-FFF2-40B4-BE49-F238E27FC236}">
                <a16:creationId xmlns:a16="http://schemas.microsoft.com/office/drawing/2014/main" id="{D07896C9-6C82-0423-5EB3-856F0DD02375}"/>
              </a:ext>
            </a:extLst>
          </p:cNvPr>
          <p:cNvSpPr/>
          <p:nvPr/>
        </p:nvSpPr>
        <p:spPr>
          <a:xfrm>
            <a:off x="2189602" y="1322152"/>
            <a:ext cx="3480247" cy="1090188"/>
          </a:xfrm>
          <a:prstGeom prst="round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600"/>
              <a:t>Отваряне</a:t>
            </a:r>
            <a:endParaRPr lang="en-GB" sz="1600"/>
          </a:p>
        </p:txBody>
      </p:sp>
      <p:sp>
        <p:nvSpPr>
          <p:cNvPr id="41" name="Rectangle 13">
            <a:extLst>
              <a:ext uri="{FF2B5EF4-FFF2-40B4-BE49-F238E27FC236}">
                <a16:creationId xmlns:a16="http://schemas.microsoft.com/office/drawing/2014/main" id="{EBBF64E6-F50B-FCEB-C752-53800B328C91}"/>
              </a:ext>
            </a:extLst>
          </p:cNvPr>
          <p:cNvSpPr/>
          <p:nvPr/>
        </p:nvSpPr>
        <p:spPr>
          <a:xfrm>
            <a:off x="2189602" y="3757858"/>
            <a:ext cx="3480247" cy="1090188"/>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Справяне с възражения</a:t>
            </a:r>
            <a:endParaRPr lang="en-GB" sz="1600"/>
          </a:p>
        </p:txBody>
      </p:sp>
      <p:sp>
        <p:nvSpPr>
          <p:cNvPr id="42" name="Rectangle 15">
            <a:extLst>
              <a:ext uri="{FF2B5EF4-FFF2-40B4-BE49-F238E27FC236}">
                <a16:creationId xmlns:a16="http://schemas.microsoft.com/office/drawing/2014/main" id="{D42C67BA-DCDA-F2D4-2EB8-50BD4A57BE42}"/>
              </a:ext>
            </a:extLst>
          </p:cNvPr>
          <p:cNvSpPr/>
          <p:nvPr/>
        </p:nvSpPr>
        <p:spPr>
          <a:xfrm>
            <a:off x="2189602" y="5007903"/>
            <a:ext cx="3480247" cy="1090188"/>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Затваряне</a:t>
            </a:r>
            <a:endParaRPr lang="en-GB" sz="1600"/>
          </a:p>
        </p:txBody>
      </p:sp>
      <p:pic>
        <p:nvPicPr>
          <p:cNvPr id="43" name="Picture 42">
            <a:extLst>
              <a:ext uri="{FF2B5EF4-FFF2-40B4-BE49-F238E27FC236}">
                <a16:creationId xmlns:a16="http://schemas.microsoft.com/office/drawing/2014/main" id="{71C4844F-25BC-3CF6-FB8D-0D212A0AAABF}"/>
              </a:ext>
            </a:extLst>
          </p:cNvPr>
          <p:cNvPicPr>
            <a:picLocks noChangeAspect="1"/>
          </p:cNvPicPr>
          <p:nvPr/>
        </p:nvPicPr>
        <p:blipFill>
          <a:blip r:embed="rId2"/>
          <a:stretch>
            <a:fillRect/>
          </a:stretch>
        </p:blipFill>
        <p:spPr>
          <a:xfrm>
            <a:off x="10883590" y="5621341"/>
            <a:ext cx="982751" cy="995681"/>
          </a:xfrm>
          <a:prstGeom prst="rect">
            <a:avLst/>
          </a:prstGeom>
        </p:spPr>
      </p:pic>
      <p:sp>
        <p:nvSpPr>
          <p:cNvPr id="2" name="Rectangle: Rounded Corners 1">
            <a:extLst>
              <a:ext uri="{FF2B5EF4-FFF2-40B4-BE49-F238E27FC236}">
                <a16:creationId xmlns:a16="http://schemas.microsoft.com/office/drawing/2014/main" id="{0326366E-2946-CFC3-5D1D-1345207B7703}"/>
              </a:ext>
            </a:extLst>
          </p:cNvPr>
          <p:cNvSpPr/>
          <p:nvPr/>
        </p:nvSpPr>
        <p:spPr>
          <a:xfrm>
            <a:off x="5948190" y="1272638"/>
            <a:ext cx="5421858" cy="51202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err="1"/>
              <a:t>Ключови</a:t>
            </a:r>
            <a:r>
              <a:rPr lang="en-US"/>
              <a:t> </a:t>
            </a:r>
            <a:r>
              <a:rPr lang="en-US" err="1"/>
              <a:t>послания</a:t>
            </a:r>
            <a:r>
              <a:rPr lang="en-US"/>
              <a:t> </a:t>
            </a:r>
            <a:r>
              <a:rPr lang="en-US" err="1"/>
              <a:t>към</a:t>
            </a:r>
            <a:r>
              <a:rPr lang="en-US"/>
              <a:t> </a:t>
            </a:r>
            <a:r>
              <a:rPr lang="en-US" err="1"/>
              <a:t>кли</a:t>
            </a:r>
            <a:r>
              <a:rPr lang="bg-BG" err="1"/>
              <a:t>ен</a:t>
            </a:r>
            <a:r>
              <a:rPr lang="en-US" err="1"/>
              <a:t>ти</a:t>
            </a:r>
            <a:endParaRPr lang="en-US"/>
          </a:p>
        </p:txBody>
      </p:sp>
      <p:sp>
        <p:nvSpPr>
          <p:cNvPr id="3" name="TextBox 2">
            <a:extLst>
              <a:ext uri="{FF2B5EF4-FFF2-40B4-BE49-F238E27FC236}">
                <a16:creationId xmlns:a16="http://schemas.microsoft.com/office/drawing/2014/main" id="{80654DC8-0145-FCF1-16AF-B6AA9C619EEB}"/>
              </a:ext>
            </a:extLst>
          </p:cNvPr>
          <p:cNvSpPr txBox="1"/>
          <p:nvPr/>
        </p:nvSpPr>
        <p:spPr>
          <a:xfrm>
            <a:off x="5987903" y="2076564"/>
            <a:ext cx="5404758" cy="38164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az-Cyrl-AZ" b="1" dirty="0"/>
              <a:t>Защо се използват тези послания?</a:t>
            </a:r>
            <a:endParaRPr lang="az-Cyrl-AZ" sz="1400" dirty="0"/>
          </a:p>
          <a:p>
            <a:r>
              <a:rPr lang="az-Cyrl-AZ" sz="1400" dirty="0">
                <a:ea typeface="+mn-lt"/>
                <a:cs typeface="+mn-lt"/>
              </a:rPr>
              <a:t>Тези послания помагат на консултанта още в началото на разговора да изгради доверие, да покаже грижа и да насочи клиента към усещането, че ще получи съдействие за решение, съобразено с неговите нужди.</a:t>
            </a:r>
            <a:endParaRPr lang="az-Cyrl-AZ" dirty="0"/>
          </a:p>
          <a:p>
            <a:endParaRPr lang="az-Cyrl-AZ" sz="1400" dirty="0"/>
          </a:p>
          <a:p>
            <a:r>
              <a:rPr lang="az-Cyrl-AZ" sz="1400" dirty="0"/>
              <a:t>Примери:</a:t>
            </a:r>
          </a:p>
          <a:p>
            <a:endParaRPr lang="az-Cyrl-AZ" sz="1400" dirty="0"/>
          </a:p>
          <a:p>
            <a:pPr>
              <a:buFont typeface=""/>
              <a:buChar char="•"/>
            </a:pPr>
            <a:r>
              <a:rPr lang="az-Cyrl-AZ" sz="1400" dirty="0"/>
              <a:t>Искам да Ви уверя, че сте на правилното място, и аз ще имам грижата да отговоря на всички Ваши въпроси, за да можем да намерим най-доброто решение за Вас. </a:t>
            </a:r>
            <a:endParaRPr lang="az-Cyrl-AZ" dirty="0"/>
          </a:p>
          <a:p>
            <a:pPr>
              <a:buFont typeface=""/>
              <a:buChar char="•"/>
            </a:pPr>
            <a:endParaRPr lang="az-Cyrl-AZ" sz="1400" dirty="0"/>
          </a:p>
          <a:p>
            <a:pPr>
              <a:buFont typeface=""/>
              <a:buChar char="•"/>
            </a:pPr>
            <a:r>
              <a:rPr lang="az-Cyrl-AZ" sz="1400" dirty="0"/>
              <a:t>Моята задача е да Ви обгрижа по най-добрия начин. </a:t>
            </a:r>
          </a:p>
          <a:p>
            <a:pPr>
              <a:buFont typeface=""/>
              <a:buChar char="•"/>
            </a:pPr>
            <a:endParaRPr lang="az-Cyrl-AZ" sz="1400" dirty="0"/>
          </a:p>
          <a:p>
            <a:pPr>
              <a:buFont typeface=""/>
              <a:buChar char="•"/>
            </a:pPr>
            <a:r>
              <a:rPr lang="az-Cyrl-AZ" sz="1400" dirty="0"/>
              <a:t>Нашата работа е да положим максимални усилия, за да намерим решение, което да отговаря на Вашите нужди и желания.</a:t>
            </a:r>
            <a:endParaRPr lang="en-US" sz="1400" dirty="0"/>
          </a:p>
        </p:txBody>
      </p:sp>
    </p:spTree>
    <p:extLst>
      <p:ext uri="{BB962C8B-B14F-4D97-AF65-F5344CB8AC3E}">
        <p14:creationId xmlns:p14="http://schemas.microsoft.com/office/powerpoint/2010/main" val="14810090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5ECB6F-DB12-DCDB-BC4C-806C46AF8220}"/>
            </a:ext>
          </a:extLst>
        </p:cNvPr>
        <p:cNvGrpSpPr/>
        <p:nvPr/>
      </p:nvGrpSpPr>
      <p:grpSpPr>
        <a:xfrm>
          <a:off x="0" y="0"/>
          <a:ext cx="0" cy="0"/>
          <a:chOff x="0" y="0"/>
          <a:chExt cx="0" cy="0"/>
        </a:xfrm>
      </p:grpSpPr>
      <p:sp>
        <p:nvSpPr>
          <p:cNvPr id="35" name="Rectangle 9">
            <a:extLst>
              <a:ext uri="{FF2B5EF4-FFF2-40B4-BE49-F238E27FC236}">
                <a16:creationId xmlns:a16="http://schemas.microsoft.com/office/drawing/2014/main" id="{BC410C68-0D71-A578-CFCA-52B3FA2258CF}"/>
              </a:ext>
            </a:extLst>
          </p:cNvPr>
          <p:cNvSpPr/>
          <p:nvPr/>
        </p:nvSpPr>
        <p:spPr>
          <a:xfrm>
            <a:off x="2189602" y="2540005"/>
            <a:ext cx="3480247" cy="1090188"/>
          </a:xfrm>
          <a:prstGeom prst="roundRect">
            <a:avLst/>
          </a:prstGeom>
          <a:solidFill>
            <a:srgbClr val="A5A5A5"/>
          </a:solidFill>
          <a:ln>
            <a:solidFill>
              <a:srgbClr val="4472C4"/>
            </a:solid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Представяне на целта</a:t>
            </a:r>
            <a:endParaRPr lang="en-GB" sz="1600"/>
          </a:p>
        </p:txBody>
      </p:sp>
      <p:sp>
        <p:nvSpPr>
          <p:cNvPr id="36" name="Rectangle 11">
            <a:extLst>
              <a:ext uri="{FF2B5EF4-FFF2-40B4-BE49-F238E27FC236}">
                <a16:creationId xmlns:a16="http://schemas.microsoft.com/office/drawing/2014/main" id="{7ED76AC7-1EA2-5230-D24F-E750CFFD90D5}"/>
              </a:ext>
            </a:extLst>
          </p:cNvPr>
          <p:cNvSpPr/>
          <p:nvPr/>
        </p:nvSpPr>
        <p:spPr>
          <a:xfrm>
            <a:off x="2189602" y="1322152"/>
            <a:ext cx="3480247" cy="1090188"/>
          </a:xfrm>
          <a:prstGeom prst="round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600"/>
              <a:t>Отваряне</a:t>
            </a:r>
            <a:endParaRPr lang="en-GB" sz="1600"/>
          </a:p>
        </p:txBody>
      </p:sp>
      <p:sp>
        <p:nvSpPr>
          <p:cNvPr id="37" name="Rectangle 13">
            <a:extLst>
              <a:ext uri="{FF2B5EF4-FFF2-40B4-BE49-F238E27FC236}">
                <a16:creationId xmlns:a16="http://schemas.microsoft.com/office/drawing/2014/main" id="{16541FD3-A8CF-8D47-BEFF-9766502C4BBB}"/>
              </a:ext>
            </a:extLst>
          </p:cNvPr>
          <p:cNvSpPr/>
          <p:nvPr/>
        </p:nvSpPr>
        <p:spPr>
          <a:xfrm>
            <a:off x="2189602" y="3757858"/>
            <a:ext cx="3480247" cy="1090188"/>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Справяне с възражения</a:t>
            </a:r>
            <a:endParaRPr lang="en-GB" sz="1600"/>
          </a:p>
        </p:txBody>
      </p:sp>
      <p:sp>
        <p:nvSpPr>
          <p:cNvPr id="38" name="Rectangle 15">
            <a:extLst>
              <a:ext uri="{FF2B5EF4-FFF2-40B4-BE49-F238E27FC236}">
                <a16:creationId xmlns:a16="http://schemas.microsoft.com/office/drawing/2014/main" id="{70B68866-4035-FC10-8FF6-D3735A984D6B}"/>
              </a:ext>
            </a:extLst>
          </p:cNvPr>
          <p:cNvSpPr/>
          <p:nvPr/>
        </p:nvSpPr>
        <p:spPr>
          <a:xfrm>
            <a:off x="2189602" y="5007903"/>
            <a:ext cx="3480247" cy="1090188"/>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Затваряне</a:t>
            </a:r>
            <a:endParaRPr lang="en-GB" sz="1600"/>
          </a:p>
        </p:txBody>
      </p:sp>
      <p:sp>
        <p:nvSpPr>
          <p:cNvPr id="13" name="Rectangle: Rounded Corners 12">
            <a:extLst>
              <a:ext uri="{FF2B5EF4-FFF2-40B4-BE49-F238E27FC236}">
                <a16:creationId xmlns:a16="http://schemas.microsoft.com/office/drawing/2014/main" id="{69949796-F6A5-366E-DA77-DFA559486B15}"/>
              </a:ext>
            </a:extLst>
          </p:cNvPr>
          <p:cNvSpPr/>
          <p:nvPr/>
        </p:nvSpPr>
        <p:spPr>
          <a:xfrm>
            <a:off x="6108394" y="4076382"/>
            <a:ext cx="2245942" cy="521657"/>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600"/>
              <a:t>Огледална</a:t>
            </a:r>
          </a:p>
        </p:txBody>
      </p:sp>
      <p:sp>
        <p:nvSpPr>
          <p:cNvPr id="18" name="Rectangle: Rounded Corners 12">
            <a:extLst>
              <a:ext uri="{FF2B5EF4-FFF2-40B4-BE49-F238E27FC236}">
                <a16:creationId xmlns:a16="http://schemas.microsoft.com/office/drawing/2014/main" id="{79CD6301-07FA-6E54-6D7E-95A8142F34CD}"/>
              </a:ext>
            </a:extLst>
          </p:cNvPr>
          <p:cNvSpPr/>
          <p:nvPr/>
        </p:nvSpPr>
        <p:spPr>
          <a:xfrm>
            <a:off x="8459020" y="4079293"/>
            <a:ext cx="2245942" cy="521657"/>
          </a:xfrm>
          <a:prstGeom prst="roundRect">
            <a:avLst/>
          </a:prstGeom>
          <a:solidFill>
            <a:srgbClr val="4472C4"/>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600"/>
              <a:t>Алтернативна</a:t>
            </a:r>
            <a:endParaRPr lang="bg-BG" sz="2400"/>
          </a:p>
        </p:txBody>
      </p:sp>
      <p:sp>
        <p:nvSpPr>
          <p:cNvPr id="19" name="Текстово поле 18">
            <a:extLst>
              <a:ext uri="{FF2B5EF4-FFF2-40B4-BE49-F238E27FC236}">
                <a16:creationId xmlns:a16="http://schemas.microsoft.com/office/drawing/2014/main" id="{7BBF06BA-E10C-5D2B-BD8F-7FD1451C5F2E}"/>
              </a:ext>
            </a:extLst>
          </p:cNvPr>
          <p:cNvSpPr txBox="1"/>
          <p:nvPr/>
        </p:nvSpPr>
        <p:spPr>
          <a:xfrm>
            <a:off x="6059000" y="3623140"/>
            <a:ext cx="397649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bg-BG" b="1"/>
              <a:t>Техники за справяне с възражения</a:t>
            </a:r>
          </a:p>
        </p:txBody>
      </p:sp>
      <p:sp>
        <p:nvSpPr>
          <p:cNvPr id="20" name="Rectangle: Rounded Corners 12">
            <a:extLst>
              <a:ext uri="{FF2B5EF4-FFF2-40B4-BE49-F238E27FC236}">
                <a16:creationId xmlns:a16="http://schemas.microsoft.com/office/drawing/2014/main" id="{1DD27DF3-0093-9834-33B5-CCD293740139}"/>
              </a:ext>
            </a:extLst>
          </p:cNvPr>
          <p:cNvSpPr/>
          <p:nvPr/>
        </p:nvSpPr>
        <p:spPr>
          <a:xfrm>
            <a:off x="6108394" y="4708264"/>
            <a:ext cx="2245942" cy="521657"/>
          </a:xfrm>
          <a:prstGeom prst="roundRect">
            <a:avLst/>
          </a:prstGeom>
          <a:solidFill>
            <a:srgbClr val="4472C4"/>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600"/>
              <a:t>Относителна</a:t>
            </a:r>
            <a:endParaRPr lang="bg-BG" sz="2400"/>
          </a:p>
        </p:txBody>
      </p:sp>
      <p:sp>
        <p:nvSpPr>
          <p:cNvPr id="22" name="Rectangle: Rounded Corners 12">
            <a:extLst>
              <a:ext uri="{FF2B5EF4-FFF2-40B4-BE49-F238E27FC236}">
                <a16:creationId xmlns:a16="http://schemas.microsoft.com/office/drawing/2014/main" id="{98C048F8-EE18-D3DA-B686-EAACAE2B79AC}"/>
              </a:ext>
            </a:extLst>
          </p:cNvPr>
          <p:cNvSpPr/>
          <p:nvPr/>
        </p:nvSpPr>
        <p:spPr>
          <a:xfrm>
            <a:off x="8459020" y="4706322"/>
            <a:ext cx="2245942" cy="521657"/>
          </a:xfrm>
          <a:prstGeom prst="roundRect">
            <a:avLst/>
          </a:prstGeom>
          <a:solidFill>
            <a:srgbClr val="4472C4"/>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600"/>
              <a:t>Тирбушон</a:t>
            </a:r>
            <a:endParaRPr lang="bg-BG" sz="2400"/>
          </a:p>
        </p:txBody>
      </p:sp>
      <p:sp>
        <p:nvSpPr>
          <p:cNvPr id="27" name="Rectangle 28">
            <a:extLst>
              <a:ext uri="{FF2B5EF4-FFF2-40B4-BE49-F238E27FC236}">
                <a16:creationId xmlns:a16="http://schemas.microsoft.com/office/drawing/2014/main" id="{EF8A2824-1528-7AAE-20F7-F124527A263C}"/>
              </a:ext>
            </a:extLst>
          </p:cNvPr>
          <p:cNvSpPr/>
          <p:nvPr/>
        </p:nvSpPr>
        <p:spPr>
          <a:xfrm>
            <a:off x="-15824" y="1599"/>
            <a:ext cx="1465320" cy="6859628"/>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400">
              <a:latin typeface="Aptos"/>
              <a:ea typeface="Calibri"/>
              <a:cs typeface="Calibri"/>
            </a:endParaRPr>
          </a:p>
        </p:txBody>
      </p:sp>
      <p:sp>
        <p:nvSpPr>
          <p:cNvPr id="29" name="Rectangle 29">
            <a:extLst>
              <a:ext uri="{FF2B5EF4-FFF2-40B4-BE49-F238E27FC236}">
                <a16:creationId xmlns:a16="http://schemas.microsoft.com/office/drawing/2014/main" id="{BA080AE3-C32D-BC34-6B7B-1E612D448DA3}"/>
              </a:ext>
            </a:extLst>
          </p:cNvPr>
          <p:cNvSpPr/>
          <p:nvPr/>
        </p:nvSpPr>
        <p:spPr>
          <a:xfrm>
            <a:off x="-1671" y="2528038"/>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Типове клиенти</a:t>
            </a:r>
            <a:endParaRPr lang="en-GB" sz="1400">
              <a:latin typeface="Aptos"/>
              <a:ea typeface="Calibri"/>
              <a:cs typeface="Calibri"/>
            </a:endParaRPr>
          </a:p>
        </p:txBody>
      </p:sp>
      <p:sp>
        <p:nvSpPr>
          <p:cNvPr id="30" name="Rectangle 30">
            <a:extLst>
              <a:ext uri="{FF2B5EF4-FFF2-40B4-BE49-F238E27FC236}">
                <a16:creationId xmlns:a16="http://schemas.microsoft.com/office/drawing/2014/main" id="{2F22AE14-C78F-4513-015E-18229C62431A}"/>
              </a:ext>
            </a:extLst>
          </p:cNvPr>
          <p:cNvSpPr/>
          <p:nvPr/>
        </p:nvSpPr>
        <p:spPr>
          <a:xfrm>
            <a:off x="8626" y="1913210"/>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Сценарии</a:t>
            </a:r>
            <a:endParaRPr lang="en-GB" sz="1400">
              <a:latin typeface="Aptos"/>
              <a:ea typeface="Calibri"/>
              <a:cs typeface="Calibri"/>
            </a:endParaRPr>
          </a:p>
        </p:txBody>
      </p:sp>
      <p:sp>
        <p:nvSpPr>
          <p:cNvPr id="31" name="Rectangle 31">
            <a:extLst>
              <a:ext uri="{FF2B5EF4-FFF2-40B4-BE49-F238E27FC236}">
                <a16:creationId xmlns:a16="http://schemas.microsoft.com/office/drawing/2014/main" id="{121A0242-A19C-B596-E66B-1355964C616A}"/>
              </a:ext>
            </a:extLst>
          </p:cNvPr>
          <p:cNvSpPr/>
          <p:nvPr/>
        </p:nvSpPr>
        <p:spPr>
          <a:xfrm>
            <a:off x="-1671" y="1298382"/>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002060"/>
                </a:solidFill>
                <a:latin typeface="Aptos"/>
                <a:ea typeface="Calibri"/>
                <a:cs typeface="Calibri"/>
              </a:rPr>
              <a:t>Стъпки в обаждането</a:t>
            </a:r>
            <a:endParaRPr lang="en-GB" sz="1400">
              <a:solidFill>
                <a:srgbClr val="002060"/>
              </a:solidFill>
              <a:latin typeface="Aptos"/>
              <a:ea typeface="Calibri"/>
              <a:cs typeface="Calibri"/>
            </a:endParaRPr>
          </a:p>
        </p:txBody>
      </p:sp>
      <p:sp>
        <p:nvSpPr>
          <p:cNvPr id="32" name="Rectangle 3">
            <a:extLst>
              <a:ext uri="{FF2B5EF4-FFF2-40B4-BE49-F238E27FC236}">
                <a16:creationId xmlns:a16="http://schemas.microsoft.com/office/drawing/2014/main" id="{AFEE51E8-C8D0-3170-4D17-18E7BC78E8D0}"/>
              </a:ext>
            </a:extLst>
          </p:cNvPr>
          <p:cNvSpPr/>
          <p:nvPr/>
        </p:nvSpPr>
        <p:spPr>
          <a:xfrm>
            <a:off x="1443475" y="4245"/>
            <a:ext cx="5338363" cy="67724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33" name="Rectangle 4">
            <a:extLst>
              <a:ext uri="{FF2B5EF4-FFF2-40B4-BE49-F238E27FC236}">
                <a16:creationId xmlns:a16="http://schemas.microsoft.com/office/drawing/2014/main" id="{64D2767A-DA12-E596-01D6-BAC75D6E912E}"/>
              </a:ext>
            </a:extLst>
          </p:cNvPr>
          <p:cNvSpPr/>
          <p:nvPr/>
        </p:nvSpPr>
        <p:spPr>
          <a:xfrm>
            <a:off x="6788435" y="4245"/>
            <a:ext cx="5417300" cy="677242"/>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34" name="Rectangle 28">
            <a:extLst>
              <a:ext uri="{FF2B5EF4-FFF2-40B4-BE49-F238E27FC236}">
                <a16:creationId xmlns:a16="http://schemas.microsoft.com/office/drawing/2014/main" id="{32E29EDF-DAFE-CBAB-8E02-E678BD84B7B2}"/>
              </a:ext>
            </a:extLst>
          </p:cNvPr>
          <p:cNvSpPr/>
          <p:nvPr/>
        </p:nvSpPr>
        <p:spPr>
          <a:xfrm>
            <a:off x="-15827" y="690328"/>
            <a:ext cx="1465322"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FFFFFF"/>
                </a:solidFill>
                <a:latin typeface="Aptos"/>
                <a:ea typeface="Calibri"/>
                <a:cs typeface="Calibri"/>
              </a:rPr>
              <a:t>Подготовка</a:t>
            </a:r>
            <a:endParaRPr lang="en-GB" sz="1400">
              <a:solidFill>
                <a:srgbClr val="FFFFFF"/>
              </a:solidFill>
              <a:latin typeface="Aptos"/>
              <a:ea typeface="Calibri"/>
              <a:cs typeface="Calibri"/>
            </a:endParaRPr>
          </a:p>
        </p:txBody>
      </p:sp>
      <p:pic>
        <p:nvPicPr>
          <p:cNvPr id="24" name="Picture 23">
            <a:extLst>
              <a:ext uri="{FF2B5EF4-FFF2-40B4-BE49-F238E27FC236}">
                <a16:creationId xmlns:a16="http://schemas.microsoft.com/office/drawing/2014/main" id="{42F7FF0B-5FC1-6199-B1C6-1EE7AA163A30}"/>
              </a:ext>
            </a:extLst>
          </p:cNvPr>
          <p:cNvPicPr>
            <a:picLocks noChangeAspect="1"/>
          </p:cNvPicPr>
          <p:nvPr/>
        </p:nvPicPr>
        <p:blipFill>
          <a:blip r:embed="rId2"/>
          <a:stretch>
            <a:fillRect/>
          </a:stretch>
        </p:blipFill>
        <p:spPr>
          <a:xfrm>
            <a:off x="10883590" y="5621341"/>
            <a:ext cx="982751" cy="995681"/>
          </a:xfrm>
          <a:prstGeom prst="rect">
            <a:avLst/>
          </a:prstGeom>
        </p:spPr>
      </p:pic>
      <p:sp>
        <p:nvSpPr>
          <p:cNvPr id="4" name="Rectangle: Rounded Corners 10">
            <a:extLst>
              <a:ext uri="{FF2B5EF4-FFF2-40B4-BE49-F238E27FC236}">
                <a16:creationId xmlns:a16="http://schemas.microsoft.com/office/drawing/2014/main" id="{191E8C7E-B604-4F7B-CE1A-2EAE0F147B2A}"/>
              </a:ext>
            </a:extLst>
          </p:cNvPr>
          <p:cNvSpPr/>
          <p:nvPr/>
        </p:nvSpPr>
        <p:spPr>
          <a:xfrm>
            <a:off x="6068334" y="1547684"/>
            <a:ext cx="5268638" cy="947772"/>
          </a:xfrm>
          <a:prstGeom prst="roundRect">
            <a:avLst>
              <a:gd name="adj" fmla="val 6804"/>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285750" indent="-285750">
              <a:buFont typeface="Arial" panose="020B0604020202020204" pitchFamily="34" charset="0"/>
              <a:buChar char="•"/>
            </a:pPr>
            <a:r>
              <a:rPr lang="ru-RU" sz="1400" dirty="0" err="1"/>
              <a:t>Проява</a:t>
            </a:r>
            <a:r>
              <a:rPr lang="ru-RU" sz="1400" dirty="0"/>
              <a:t> на </a:t>
            </a:r>
            <a:r>
              <a:rPr lang="ru-RU" sz="1400" dirty="0" err="1"/>
              <a:t>разбиране</a:t>
            </a:r>
            <a:r>
              <a:rPr lang="ru-RU" sz="1400" dirty="0"/>
              <a:t>.</a:t>
            </a:r>
          </a:p>
          <a:p>
            <a:pPr marL="285750" indent="-285750">
              <a:buFont typeface="Arial" panose="020B0604020202020204" pitchFamily="34" charset="0"/>
              <a:buChar char="•"/>
            </a:pPr>
            <a:r>
              <a:rPr lang="ru-RU" sz="1400" dirty="0"/>
              <a:t>Отговор с </a:t>
            </a:r>
            <a:r>
              <a:rPr lang="ru-RU" sz="1400" dirty="0" err="1"/>
              <a:t>полза</a:t>
            </a:r>
            <a:r>
              <a:rPr lang="ru-RU" sz="1400" dirty="0"/>
              <a:t> за клиента.</a:t>
            </a:r>
          </a:p>
          <a:p>
            <a:pPr marL="285750" indent="-285750">
              <a:buFont typeface="Arial" panose="020B0604020202020204" pitchFamily="34" charset="0"/>
              <a:buChar char="•"/>
            </a:pPr>
            <a:r>
              <a:rPr lang="ru-RU" sz="1400" dirty="0" err="1"/>
              <a:t>Потвърждение</a:t>
            </a:r>
            <a:r>
              <a:rPr lang="ru-RU" sz="1400" dirty="0"/>
              <a:t>, че </a:t>
            </a:r>
            <a:r>
              <a:rPr lang="ru-RU" sz="1400" dirty="0" err="1"/>
              <a:t>отговорът</a:t>
            </a:r>
            <a:r>
              <a:rPr lang="ru-RU" sz="1400" dirty="0"/>
              <a:t> </a:t>
            </a:r>
            <a:r>
              <a:rPr lang="ru-RU" sz="1400" dirty="0" err="1"/>
              <a:t>ти</a:t>
            </a:r>
            <a:r>
              <a:rPr lang="ru-RU" sz="1400" dirty="0"/>
              <a:t> е бил удовлетворителен и </a:t>
            </a:r>
            <a:r>
              <a:rPr lang="ru-RU" sz="1400" dirty="0" err="1"/>
              <a:t>преминаване</a:t>
            </a:r>
            <a:r>
              <a:rPr lang="ru-RU" sz="1400" dirty="0"/>
              <a:t> </a:t>
            </a:r>
            <a:r>
              <a:rPr lang="ru-RU" sz="1400" dirty="0" err="1"/>
              <a:t>към</a:t>
            </a:r>
            <a:r>
              <a:rPr lang="ru-RU" sz="1400" dirty="0"/>
              <a:t> </a:t>
            </a:r>
            <a:r>
              <a:rPr lang="ru-RU" sz="1400" dirty="0" err="1"/>
              <a:t>затваряне</a:t>
            </a:r>
            <a:r>
              <a:rPr lang="ru-RU" sz="1400" dirty="0"/>
              <a:t>.</a:t>
            </a:r>
          </a:p>
        </p:txBody>
      </p:sp>
      <p:sp>
        <p:nvSpPr>
          <p:cNvPr id="10" name="Текстово поле 9">
            <a:extLst>
              <a:ext uri="{FF2B5EF4-FFF2-40B4-BE49-F238E27FC236}">
                <a16:creationId xmlns:a16="http://schemas.microsoft.com/office/drawing/2014/main" id="{58067653-1C73-C1D6-F357-BF617EEA8648}"/>
              </a:ext>
            </a:extLst>
          </p:cNvPr>
          <p:cNvSpPr txBox="1"/>
          <p:nvPr/>
        </p:nvSpPr>
        <p:spPr>
          <a:xfrm>
            <a:off x="6137935" y="2407103"/>
            <a:ext cx="5417299" cy="462201"/>
          </a:xfrm>
          <a:prstGeom prst="roundRect">
            <a:avLst>
              <a:gd name="adj" fmla="val 34673"/>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lvl1pPr>
              <a:defRPr b="1">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bg-BG"/>
              <a:t>Примерни възражения</a:t>
            </a:r>
          </a:p>
        </p:txBody>
      </p:sp>
      <p:sp>
        <p:nvSpPr>
          <p:cNvPr id="2" name="Rectangle: Rounded Corners 1">
            <a:extLst>
              <a:ext uri="{FF2B5EF4-FFF2-40B4-BE49-F238E27FC236}">
                <a16:creationId xmlns:a16="http://schemas.microsoft.com/office/drawing/2014/main" id="{3634629D-0D8B-E45C-162C-FB17EE19E359}"/>
              </a:ext>
            </a:extLst>
          </p:cNvPr>
          <p:cNvSpPr/>
          <p:nvPr/>
        </p:nvSpPr>
        <p:spPr>
          <a:xfrm>
            <a:off x="6114419" y="2838876"/>
            <a:ext cx="2258337" cy="378045"/>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200" dirty="0">
                <a:ea typeface="+mn-lt"/>
                <a:cs typeface="+mn-lt"/>
              </a:rPr>
              <a:t>Вече </a:t>
            </a:r>
            <a:r>
              <a:rPr lang="ru-RU" sz="1200" dirty="0" err="1">
                <a:ea typeface="+mn-lt"/>
                <a:cs typeface="+mn-lt"/>
              </a:rPr>
              <a:t>изтеглих</a:t>
            </a:r>
            <a:r>
              <a:rPr lang="ru-RU" sz="1200" dirty="0">
                <a:ea typeface="+mn-lt"/>
                <a:cs typeface="+mn-lt"/>
              </a:rPr>
              <a:t> кредит</a:t>
            </a:r>
            <a:endParaRPr lang="bg-BG" sz="1200" dirty="0"/>
          </a:p>
        </p:txBody>
      </p:sp>
      <p:sp>
        <p:nvSpPr>
          <p:cNvPr id="5" name="Rectangle: Rounded Corners 4">
            <a:extLst>
              <a:ext uri="{FF2B5EF4-FFF2-40B4-BE49-F238E27FC236}">
                <a16:creationId xmlns:a16="http://schemas.microsoft.com/office/drawing/2014/main" id="{2DB773B7-1914-81BA-DFBE-91E859FFBA36}"/>
              </a:ext>
            </a:extLst>
          </p:cNvPr>
          <p:cNvSpPr/>
          <p:nvPr/>
        </p:nvSpPr>
        <p:spPr>
          <a:xfrm>
            <a:off x="6132841" y="3282556"/>
            <a:ext cx="2258337" cy="358524"/>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200" dirty="0" err="1">
                <a:ea typeface="+mn-lt"/>
                <a:cs typeface="+mn-lt"/>
              </a:rPr>
              <a:t>Високи</a:t>
            </a:r>
            <a:r>
              <a:rPr lang="ru-RU" sz="1200" dirty="0">
                <a:ea typeface="+mn-lt"/>
                <a:cs typeface="+mn-lt"/>
              </a:rPr>
              <a:t> </a:t>
            </a:r>
            <a:r>
              <a:rPr lang="ru-RU" sz="1200" dirty="0" err="1">
                <a:ea typeface="+mn-lt"/>
                <a:cs typeface="+mn-lt"/>
              </a:rPr>
              <a:t>са</a:t>
            </a:r>
            <a:r>
              <a:rPr lang="ru-RU" sz="1200" dirty="0">
                <a:ea typeface="+mn-lt"/>
                <a:cs typeface="+mn-lt"/>
              </a:rPr>
              <a:t> </a:t>
            </a:r>
            <a:r>
              <a:rPr lang="ru-RU" sz="1200" dirty="0" err="1">
                <a:ea typeface="+mn-lt"/>
                <a:cs typeface="+mn-lt"/>
              </a:rPr>
              <a:t>ви</a:t>
            </a:r>
            <a:r>
              <a:rPr lang="ru-RU" sz="1200" dirty="0">
                <a:ea typeface="+mn-lt"/>
                <a:cs typeface="+mn-lt"/>
              </a:rPr>
              <a:t> </a:t>
            </a:r>
            <a:r>
              <a:rPr lang="ru-RU" sz="1200" dirty="0" err="1">
                <a:ea typeface="+mn-lt"/>
                <a:cs typeface="+mn-lt"/>
              </a:rPr>
              <a:t>лихвите</a:t>
            </a:r>
            <a:endParaRPr lang="bg-BG" sz="1200" dirty="0"/>
          </a:p>
        </p:txBody>
      </p:sp>
      <p:sp>
        <p:nvSpPr>
          <p:cNvPr id="6" name="Rectangle: Rounded Corners 4">
            <a:extLst>
              <a:ext uri="{FF2B5EF4-FFF2-40B4-BE49-F238E27FC236}">
                <a16:creationId xmlns:a16="http://schemas.microsoft.com/office/drawing/2014/main" id="{B28E1D41-9EE2-8280-D5C3-C462482B8A49}"/>
              </a:ext>
            </a:extLst>
          </p:cNvPr>
          <p:cNvSpPr/>
          <p:nvPr/>
        </p:nvSpPr>
        <p:spPr>
          <a:xfrm>
            <a:off x="8513098" y="2846848"/>
            <a:ext cx="2258337" cy="358524"/>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200" dirty="0" err="1">
                <a:ea typeface="+mn-lt"/>
                <a:cs typeface="+mn-lt"/>
              </a:rPr>
              <a:t>Нямам</a:t>
            </a:r>
            <a:r>
              <a:rPr lang="ru-RU" sz="1200" dirty="0">
                <a:ea typeface="+mn-lt"/>
                <a:cs typeface="+mn-lt"/>
              </a:rPr>
              <a:t> нужда</a:t>
            </a:r>
            <a:endParaRPr lang="bg-BG" sz="1200" dirty="0"/>
          </a:p>
        </p:txBody>
      </p:sp>
      <p:sp>
        <p:nvSpPr>
          <p:cNvPr id="7" name="Rectangle: Rounded Corners 4">
            <a:extLst>
              <a:ext uri="{FF2B5EF4-FFF2-40B4-BE49-F238E27FC236}">
                <a16:creationId xmlns:a16="http://schemas.microsoft.com/office/drawing/2014/main" id="{780859A2-50B5-7192-F21E-0D08AAFE61A4}"/>
              </a:ext>
            </a:extLst>
          </p:cNvPr>
          <p:cNvSpPr/>
          <p:nvPr/>
        </p:nvSpPr>
        <p:spPr>
          <a:xfrm>
            <a:off x="8513098" y="3271087"/>
            <a:ext cx="2258337" cy="358524"/>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200">
                <a:ea typeface="+mn-lt"/>
                <a:cs typeface="+mn-lt"/>
              </a:rPr>
              <a:t>Искам да се </a:t>
            </a:r>
            <a:r>
              <a:rPr lang="ru-RU" sz="1200" err="1">
                <a:ea typeface="+mn-lt"/>
                <a:cs typeface="+mn-lt"/>
              </a:rPr>
              <a:t>посъветвам</a:t>
            </a:r>
            <a:endParaRPr lang="bg-BG" sz="1200"/>
          </a:p>
        </p:txBody>
      </p:sp>
      <p:sp>
        <p:nvSpPr>
          <p:cNvPr id="9" name="TextBox 8">
            <a:extLst>
              <a:ext uri="{FF2B5EF4-FFF2-40B4-BE49-F238E27FC236}">
                <a16:creationId xmlns:a16="http://schemas.microsoft.com/office/drawing/2014/main" id="{42FCC1C5-5B13-631F-13C5-D5F0EE3B784B}"/>
              </a:ext>
            </a:extLst>
          </p:cNvPr>
          <p:cNvSpPr txBox="1"/>
          <p:nvPr/>
        </p:nvSpPr>
        <p:spPr>
          <a:xfrm>
            <a:off x="6059000" y="1121232"/>
            <a:ext cx="611124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lvl1pPr>
              <a:defRPr b="1"/>
            </a:lvl1pPr>
          </a:lstStyle>
          <a:p>
            <a:r>
              <a:rPr lang="ru-RU" err="1"/>
              <a:t>Какво</a:t>
            </a:r>
            <a:r>
              <a:rPr lang="ru-RU"/>
              <a:t> </a:t>
            </a:r>
            <a:r>
              <a:rPr lang="ru-RU" err="1"/>
              <a:t>включва</a:t>
            </a:r>
            <a:r>
              <a:rPr lang="ru-RU"/>
              <a:t> </a:t>
            </a:r>
            <a:r>
              <a:rPr lang="ru-RU" err="1"/>
              <a:t>този</a:t>
            </a:r>
            <a:r>
              <a:rPr lang="ru-RU"/>
              <a:t> </a:t>
            </a:r>
            <a:r>
              <a:rPr lang="ru-RU" err="1"/>
              <a:t>етап</a:t>
            </a:r>
            <a:r>
              <a:rPr lang="ru-RU"/>
              <a:t>:</a:t>
            </a:r>
          </a:p>
        </p:txBody>
      </p:sp>
    </p:spTree>
    <p:extLst>
      <p:ext uri="{BB962C8B-B14F-4D97-AF65-F5344CB8AC3E}">
        <p14:creationId xmlns:p14="http://schemas.microsoft.com/office/powerpoint/2010/main" val="1911326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E17D17-1F24-1D1F-2527-AFA638AD63B7}"/>
            </a:ext>
          </a:extLst>
        </p:cNvPr>
        <p:cNvGrpSpPr/>
        <p:nvPr/>
      </p:nvGrpSpPr>
      <p:grpSpPr>
        <a:xfrm>
          <a:off x="0" y="0"/>
          <a:ext cx="0" cy="0"/>
          <a:chOff x="0" y="0"/>
          <a:chExt cx="0" cy="0"/>
        </a:xfrm>
      </p:grpSpPr>
      <p:sp>
        <p:nvSpPr>
          <p:cNvPr id="35" name="Rectangle 9">
            <a:extLst>
              <a:ext uri="{FF2B5EF4-FFF2-40B4-BE49-F238E27FC236}">
                <a16:creationId xmlns:a16="http://schemas.microsoft.com/office/drawing/2014/main" id="{9CF592D6-57B1-418C-A859-6F41D6F3D1FE}"/>
              </a:ext>
            </a:extLst>
          </p:cNvPr>
          <p:cNvSpPr/>
          <p:nvPr/>
        </p:nvSpPr>
        <p:spPr>
          <a:xfrm>
            <a:off x="2189602" y="2540005"/>
            <a:ext cx="3480247" cy="1090188"/>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Представяне на целта</a:t>
            </a:r>
            <a:endParaRPr lang="en-GB" sz="1600"/>
          </a:p>
        </p:txBody>
      </p:sp>
      <p:sp>
        <p:nvSpPr>
          <p:cNvPr id="36" name="Rectangle 11">
            <a:extLst>
              <a:ext uri="{FF2B5EF4-FFF2-40B4-BE49-F238E27FC236}">
                <a16:creationId xmlns:a16="http://schemas.microsoft.com/office/drawing/2014/main" id="{AD01A816-C4F0-A40A-D04F-C4413311B584}"/>
              </a:ext>
            </a:extLst>
          </p:cNvPr>
          <p:cNvSpPr/>
          <p:nvPr/>
        </p:nvSpPr>
        <p:spPr>
          <a:xfrm>
            <a:off x="2189602" y="1322152"/>
            <a:ext cx="3480247" cy="1090188"/>
          </a:xfrm>
          <a:prstGeom prst="round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600"/>
              <a:t>Отваряне</a:t>
            </a:r>
            <a:endParaRPr lang="en-GB" sz="1600"/>
          </a:p>
        </p:txBody>
      </p:sp>
      <p:sp>
        <p:nvSpPr>
          <p:cNvPr id="37" name="Rectangle 13">
            <a:extLst>
              <a:ext uri="{FF2B5EF4-FFF2-40B4-BE49-F238E27FC236}">
                <a16:creationId xmlns:a16="http://schemas.microsoft.com/office/drawing/2014/main" id="{113F9D63-2C9E-FB21-D07C-E32BD8648AC2}"/>
              </a:ext>
            </a:extLst>
          </p:cNvPr>
          <p:cNvSpPr/>
          <p:nvPr/>
        </p:nvSpPr>
        <p:spPr>
          <a:xfrm>
            <a:off x="2189602" y="3757858"/>
            <a:ext cx="3480247" cy="1090188"/>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Справяне с възражения</a:t>
            </a:r>
            <a:endParaRPr lang="en-GB" sz="1600"/>
          </a:p>
        </p:txBody>
      </p:sp>
      <p:sp>
        <p:nvSpPr>
          <p:cNvPr id="38" name="Rectangle 15">
            <a:extLst>
              <a:ext uri="{FF2B5EF4-FFF2-40B4-BE49-F238E27FC236}">
                <a16:creationId xmlns:a16="http://schemas.microsoft.com/office/drawing/2014/main" id="{97D96721-4459-6126-D526-674D52713D4C}"/>
              </a:ext>
            </a:extLst>
          </p:cNvPr>
          <p:cNvSpPr/>
          <p:nvPr/>
        </p:nvSpPr>
        <p:spPr>
          <a:xfrm>
            <a:off x="2189602" y="5007903"/>
            <a:ext cx="3480247" cy="1090188"/>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Затваряне</a:t>
            </a:r>
            <a:endParaRPr lang="en-GB" sz="1600"/>
          </a:p>
        </p:txBody>
      </p:sp>
      <p:sp>
        <p:nvSpPr>
          <p:cNvPr id="27" name="Rectangle 28">
            <a:extLst>
              <a:ext uri="{FF2B5EF4-FFF2-40B4-BE49-F238E27FC236}">
                <a16:creationId xmlns:a16="http://schemas.microsoft.com/office/drawing/2014/main" id="{78683715-5319-18D8-80E5-1D3965165F46}"/>
              </a:ext>
            </a:extLst>
          </p:cNvPr>
          <p:cNvSpPr/>
          <p:nvPr/>
        </p:nvSpPr>
        <p:spPr>
          <a:xfrm>
            <a:off x="-15824" y="1599"/>
            <a:ext cx="1465320" cy="6859628"/>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400">
              <a:latin typeface="Aptos"/>
              <a:ea typeface="Calibri"/>
              <a:cs typeface="Calibri"/>
            </a:endParaRPr>
          </a:p>
        </p:txBody>
      </p:sp>
      <p:sp>
        <p:nvSpPr>
          <p:cNvPr id="29" name="Rectangle 29">
            <a:extLst>
              <a:ext uri="{FF2B5EF4-FFF2-40B4-BE49-F238E27FC236}">
                <a16:creationId xmlns:a16="http://schemas.microsoft.com/office/drawing/2014/main" id="{B5573051-BBFF-C1D0-FB10-044E1C2D3355}"/>
              </a:ext>
            </a:extLst>
          </p:cNvPr>
          <p:cNvSpPr/>
          <p:nvPr/>
        </p:nvSpPr>
        <p:spPr>
          <a:xfrm>
            <a:off x="-1671" y="2528038"/>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Типове клиенти</a:t>
            </a:r>
            <a:endParaRPr lang="en-GB" sz="1400">
              <a:latin typeface="Aptos"/>
              <a:ea typeface="Calibri"/>
              <a:cs typeface="Calibri"/>
            </a:endParaRPr>
          </a:p>
        </p:txBody>
      </p:sp>
      <p:sp>
        <p:nvSpPr>
          <p:cNvPr id="30" name="Rectangle 30">
            <a:extLst>
              <a:ext uri="{FF2B5EF4-FFF2-40B4-BE49-F238E27FC236}">
                <a16:creationId xmlns:a16="http://schemas.microsoft.com/office/drawing/2014/main" id="{9B42B2E6-22FE-F71F-E698-F3E9617489A5}"/>
              </a:ext>
            </a:extLst>
          </p:cNvPr>
          <p:cNvSpPr/>
          <p:nvPr/>
        </p:nvSpPr>
        <p:spPr>
          <a:xfrm>
            <a:off x="8626" y="1913210"/>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Сценарии</a:t>
            </a:r>
            <a:endParaRPr lang="en-GB" sz="1400">
              <a:latin typeface="Aptos"/>
              <a:ea typeface="Calibri"/>
              <a:cs typeface="Calibri"/>
            </a:endParaRPr>
          </a:p>
        </p:txBody>
      </p:sp>
      <p:sp>
        <p:nvSpPr>
          <p:cNvPr id="31" name="Rectangle 31">
            <a:extLst>
              <a:ext uri="{FF2B5EF4-FFF2-40B4-BE49-F238E27FC236}">
                <a16:creationId xmlns:a16="http://schemas.microsoft.com/office/drawing/2014/main" id="{7F13BA93-FBE0-4FFD-6441-B3DC12C000C3}"/>
              </a:ext>
            </a:extLst>
          </p:cNvPr>
          <p:cNvSpPr/>
          <p:nvPr/>
        </p:nvSpPr>
        <p:spPr>
          <a:xfrm>
            <a:off x="-1671" y="1298382"/>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002060"/>
                </a:solidFill>
                <a:latin typeface="Aptos"/>
                <a:ea typeface="Calibri"/>
                <a:cs typeface="Calibri"/>
              </a:rPr>
              <a:t>Стъпки в обаждането</a:t>
            </a:r>
            <a:endParaRPr lang="en-GB" sz="1400">
              <a:solidFill>
                <a:srgbClr val="002060"/>
              </a:solidFill>
              <a:latin typeface="Aptos"/>
              <a:ea typeface="Calibri"/>
              <a:cs typeface="Calibri"/>
            </a:endParaRPr>
          </a:p>
        </p:txBody>
      </p:sp>
      <p:sp>
        <p:nvSpPr>
          <p:cNvPr id="32" name="Rectangle 3">
            <a:extLst>
              <a:ext uri="{FF2B5EF4-FFF2-40B4-BE49-F238E27FC236}">
                <a16:creationId xmlns:a16="http://schemas.microsoft.com/office/drawing/2014/main" id="{703D84DB-9FC0-DD81-46FB-0654A65448C8}"/>
              </a:ext>
            </a:extLst>
          </p:cNvPr>
          <p:cNvSpPr/>
          <p:nvPr/>
        </p:nvSpPr>
        <p:spPr>
          <a:xfrm>
            <a:off x="1443475" y="4245"/>
            <a:ext cx="5338363" cy="67724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33" name="Rectangle 4">
            <a:extLst>
              <a:ext uri="{FF2B5EF4-FFF2-40B4-BE49-F238E27FC236}">
                <a16:creationId xmlns:a16="http://schemas.microsoft.com/office/drawing/2014/main" id="{9B9242FE-32A7-0A6D-22F7-9C5D0E7E511C}"/>
              </a:ext>
            </a:extLst>
          </p:cNvPr>
          <p:cNvSpPr/>
          <p:nvPr/>
        </p:nvSpPr>
        <p:spPr>
          <a:xfrm>
            <a:off x="6788435" y="4245"/>
            <a:ext cx="5417300" cy="677242"/>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34" name="Rectangle 28">
            <a:extLst>
              <a:ext uri="{FF2B5EF4-FFF2-40B4-BE49-F238E27FC236}">
                <a16:creationId xmlns:a16="http://schemas.microsoft.com/office/drawing/2014/main" id="{79B61B6E-C160-D0A2-7EED-8D0AF8A8EEA4}"/>
              </a:ext>
            </a:extLst>
          </p:cNvPr>
          <p:cNvSpPr/>
          <p:nvPr/>
        </p:nvSpPr>
        <p:spPr>
          <a:xfrm>
            <a:off x="-15827" y="690328"/>
            <a:ext cx="1465322"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FFFFFF"/>
                </a:solidFill>
                <a:latin typeface="Aptos"/>
                <a:ea typeface="Calibri"/>
                <a:cs typeface="Calibri"/>
              </a:rPr>
              <a:t>Подготовка</a:t>
            </a:r>
            <a:endParaRPr lang="en-GB" sz="1400">
              <a:solidFill>
                <a:srgbClr val="FFFFFF"/>
              </a:solidFill>
              <a:latin typeface="Aptos"/>
              <a:ea typeface="Calibri"/>
              <a:cs typeface="Calibri"/>
            </a:endParaRPr>
          </a:p>
        </p:txBody>
      </p:sp>
      <p:pic>
        <p:nvPicPr>
          <p:cNvPr id="24" name="Picture 23">
            <a:extLst>
              <a:ext uri="{FF2B5EF4-FFF2-40B4-BE49-F238E27FC236}">
                <a16:creationId xmlns:a16="http://schemas.microsoft.com/office/drawing/2014/main" id="{7536AB8A-A201-0709-6541-BE394C1B9C68}"/>
              </a:ext>
            </a:extLst>
          </p:cNvPr>
          <p:cNvPicPr>
            <a:picLocks noChangeAspect="1"/>
          </p:cNvPicPr>
          <p:nvPr/>
        </p:nvPicPr>
        <p:blipFill>
          <a:blip r:embed="rId3"/>
          <a:stretch>
            <a:fillRect/>
          </a:stretch>
        </p:blipFill>
        <p:spPr>
          <a:xfrm>
            <a:off x="10883590" y="5621341"/>
            <a:ext cx="982751" cy="995681"/>
          </a:xfrm>
          <a:prstGeom prst="rect">
            <a:avLst/>
          </a:prstGeom>
        </p:spPr>
      </p:pic>
      <p:sp>
        <p:nvSpPr>
          <p:cNvPr id="10" name="Текстово поле 9">
            <a:extLst>
              <a:ext uri="{FF2B5EF4-FFF2-40B4-BE49-F238E27FC236}">
                <a16:creationId xmlns:a16="http://schemas.microsoft.com/office/drawing/2014/main" id="{B7F9629F-C615-4F28-3424-99ED3B0A5F34}"/>
              </a:ext>
            </a:extLst>
          </p:cNvPr>
          <p:cNvSpPr txBox="1"/>
          <p:nvPr/>
        </p:nvSpPr>
        <p:spPr>
          <a:xfrm>
            <a:off x="5901715" y="1261473"/>
            <a:ext cx="5417299" cy="462201"/>
          </a:xfrm>
          <a:prstGeom prst="roundRect">
            <a:avLst>
              <a:gd name="adj" fmla="val 34673"/>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lvl1pPr>
              <a:defRPr b="1">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bg-BG"/>
              <a:t>Примерни възражения</a:t>
            </a:r>
          </a:p>
        </p:txBody>
      </p:sp>
      <p:sp>
        <p:nvSpPr>
          <p:cNvPr id="23" name="Rectangle: Rounded Corners 22">
            <a:extLst>
              <a:ext uri="{FF2B5EF4-FFF2-40B4-BE49-F238E27FC236}">
                <a16:creationId xmlns:a16="http://schemas.microsoft.com/office/drawing/2014/main" id="{D277C22D-0EBC-4967-C7E9-1E0B2D07BBEA}"/>
              </a:ext>
            </a:extLst>
          </p:cNvPr>
          <p:cNvSpPr/>
          <p:nvPr/>
        </p:nvSpPr>
        <p:spPr>
          <a:xfrm>
            <a:off x="6064818" y="1948108"/>
            <a:ext cx="2258337" cy="378045"/>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200">
                <a:ea typeface="+mn-lt"/>
                <a:cs typeface="+mn-lt"/>
              </a:rPr>
              <a:t>Вече </a:t>
            </a:r>
            <a:r>
              <a:rPr lang="ru-RU" sz="1200" err="1">
                <a:ea typeface="+mn-lt"/>
                <a:cs typeface="+mn-lt"/>
              </a:rPr>
              <a:t>изтеглих</a:t>
            </a:r>
            <a:r>
              <a:rPr lang="ru-RU" sz="1200">
                <a:ea typeface="+mn-lt"/>
                <a:cs typeface="+mn-lt"/>
              </a:rPr>
              <a:t> кредит</a:t>
            </a:r>
            <a:endParaRPr lang="bg-BG" sz="1200"/>
          </a:p>
        </p:txBody>
      </p:sp>
      <p:sp>
        <p:nvSpPr>
          <p:cNvPr id="25" name="Rectangle: Rounded Corners 24">
            <a:extLst>
              <a:ext uri="{FF2B5EF4-FFF2-40B4-BE49-F238E27FC236}">
                <a16:creationId xmlns:a16="http://schemas.microsoft.com/office/drawing/2014/main" id="{7C10B29F-EDF5-DF5B-A548-FA46595868C8}"/>
              </a:ext>
            </a:extLst>
          </p:cNvPr>
          <p:cNvSpPr/>
          <p:nvPr/>
        </p:nvSpPr>
        <p:spPr>
          <a:xfrm>
            <a:off x="6083240" y="2391788"/>
            <a:ext cx="2258337" cy="358524"/>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200" err="1">
                <a:ea typeface="+mn-lt"/>
                <a:cs typeface="+mn-lt"/>
              </a:rPr>
              <a:t>Високи</a:t>
            </a:r>
            <a:r>
              <a:rPr lang="ru-RU" sz="1200">
                <a:ea typeface="+mn-lt"/>
                <a:cs typeface="+mn-lt"/>
              </a:rPr>
              <a:t> </a:t>
            </a:r>
            <a:r>
              <a:rPr lang="ru-RU" sz="1200" err="1">
                <a:ea typeface="+mn-lt"/>
                <a:cs typeface="+mn-lt"/>
              </a:rPr>
              <a:t>са</a:t>
            </a:r>
            <a:r>
              <a:rPr lang="ru-RU" sz="1200">
                <a:ea typeface="+mn-lt"/>
                <a:cs typeface="+mn-lt"/>
              </a:rPr>
              <a:t> </a:t>
            </a:r>
            <a:r>
              <a:rPr lang="ru-RU" sz="1200" err="1">
                <a:ea typeface="+mn-lt"/>
                <a:cs typeface="+mn-lt"/>
              </a:rPr>
              <a:t>ви</a:t>
            </a:r>
            <a:r>
              <a:rPr lang="ru-RU" sz="1200">
                <a:ea typeface="+mn-lt"/>
                <a:cs typeface="+mn-lt"/>
              </a:rPr>
              <a:t> </a:t>
            </a:r>
            <a:r>
              <a:rPr lang="ru-RU" sz="1200" err="1">
                <a:ea typeface="+mn-lt"/>
                <a:cs typeface="+mn-lt"/>
              </a:rPr>
              <a:t>лихвите</a:t>
            </a:r>
            <a:endParaRPr lang="bg-BG" sz="1200"/>
          </a:p>
        </p:txBody>
      </p:sp>
      <p:sp>
        <p:nvSpPr>
          <p:cNvPr id="26" name="Rectangle: Rounded Corners 4">
            <a:extLst>
              <a:ext uri="{FF2B5EF4-FFF2-40B4-BE49-F238E27FC236}">
                <a16:creationId xmlns:a16="http://schemas.microsoft.com/office/drawing/2014/main" id="{42FE6AF9-A341-9DF1-7240-9B0782C729FB}"/>
              </a:ext>
            </a:extLst>
          </p:cNvPr>
          <p:cNvSpPr/>
          <p:nvPr/>
        </p:nvSpPr>
        <p:spPr>
          <a:xfrm>
            <a:off x="8463497" y="1956080"/>
            <a:ext cx="2258337" cy="358524"/>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200" err="1">
                <a:ea typeface="+mn-lt"/>
                <a:cs typeface="+mn-lt"/>
              </a:rPr>
              <a:t>Нямам</a:t>
            </a:r>
            <a:r>
              <a:rPr lang="ru-RU" sz="1200">
                <a:ea typeface="+mn-lt"/>
                <a:cs typeface="+mn-lt"/>
              </a:rPr>
              <a:t> нужда</a:t>
            </a:r>
            <a:endParaRPr lang="bg-BG" sz="1200"/>
          </a:p>
        </p:txBody>
      </p:sp>
      <p:sp>
        <p:nvSpPr>
          <p:cNvPr id="28" name="Rectangle: Rounded Corners 4">
            <a:extLst>
              <a:ext uri="{FF2B5EF4-FFF2-40B4-BE49-F238E27FC236}">
                <a16:creationId xmlns:a16="http://schemas.microsoft.com/office/drawing/2014/main" id="{DE3B5129-514C-39CF-D78F-234FD7C03A1C}"/>
              </a:ext>
            </a:extLst>
          </p:cNvPr>
          <p:cNvSpPr/>
          <p:nvPr/>
        </p:nvSpPr>
        <p:spPr>
          <a:xfrm>
            <a:off x="8463497" y="2370487"/>
            <a:ext cx="2258337" cy="358524"/>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200">
                <a:ea typeface="+mn-lt"/>
                <a:cs typeface="+mn-lt"/>
              </a:rPr>
              <a:t>Искам да се </a:t>
            </a:r>
            <a:r>
              <a:rPr lang="ru-RU" sz="1200" err="1">
                <a:ea typeface="+mn-lt"/>
                <a:cs typeface="+mn-lt"/>
              </a:rPr>
              <a:t>посъветвам</a:t>
            </a:r>
            <a:endParaRPr lang="bg-BG" sz="1200"/>
          </a:p>
        </p:txBody>
      </p:sp>
      <p:graphicFrame>
        <p:nvGraphicFramePr>
          <p:cNvPr id="7" name="Table 6">
            <a:extLst>
              <a:ext uri="{FF2B5EF4-FFF2-40B4-BE49-F238E27FC236}">
                <a16:creationId xmlns:a16="http://schemas.microsoft.com/office/drawing/2014/main" id="{0209200C-3726-24CC-CA6B-8871EC8CB8B8}"/>
              </a:ext>
            </a:extLst>
          </p:cNvPr>
          <p:cNvGraphicFramePr>
            <a:graphicFrameLocks noGrp="1"/>
          </p:cNvGraphicFramePr>
          <p:nvPr>
            <p:extLst>
              <p:ext uri="{D42A27DB-BD31-4B8C-83A1-F6EECF244321}">
                <p14:modId xmlns:p14="http://schemas.microsoft.com/office/powerpoint/2010/main" val="2716658659"/>
              </p:ext>
            </p:extLst>
          </p:nvPr>
        </p:nvGraphicFramePr>
        <p:xfrm>
          <a:off x="5933661" y="2911844"/>
          <a:ext cx="5932680" cy="3311976"/>
        </p:xfrm>
        <a:graphic>
          <a:graphicData uri="http://schemas.openxmlformats.org/drawingml/2006/table">
            <a:tbl>
              <a:tblPr bandRow="1">
                <a:tableStyleId>{5C22544A-7EE6-4342-B048-85BDC9FD1C3A}</a:tableStyleId>
              </a:tblPr>
              <a:tblGrid>
                <a:gridCol w="5932680">
                  <a:extLst>
                    <a:ext uri="{9D8B030D-6E8A-4147-A177-3AD203B41FA5}">
                      <a16:colId xmlns:a16="http://schemas.microsoft.com/office/drawing/2014/main" val="2569575548"/>
                    </a:ext>
                  </a:extLst>
                </a:gridCol>
              </a:tblGrid>
              <a:tr h="3311976">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ru-RU" sz="1800" kern="1200">
                          <a:solidFill>
                            <a:schemeClr val="dk1"/>
                          </a:solidFill>
                          <a:effectLst/>
                          <a:latin typeface="+mn-lt"/>
                          <a:ea typeface="+mn-ea"/>
                          <a:cs typeface="+mn-cs"/>
                        </a:rPr>
                        <a:t>Радваме</a:t>
                      </a:r>
                      <a:r>
                        <a:rPr lang="ru-RU" sz="1800" kern="1200" dirty="0">
                          <a:solidFill>
                            <a:schemeClr val="dk1"/>
                          </a:solidFill>
                          <a:effectLst/>
                          <a:latin typeface="+mn-lt"/>
                          <a:ea typeface="+mn-ea"/>
                          <a:cs typeface="+mn-cs"/>
                        </a:rPr>
                        <a:t> се, че вече сте успели да намерите решение за вашите нужди. Вече спокойно можете да стъпвате на опит и ще е полезно да чуете различни варианти за кредитиране.</a:t>
                      </a:r>
                    </a:p>
                    <a:p>
                      <a:pPr algn="just">
                        <a:buNone/>
                      </a:pPr>
                      <a:r>
                        <a:rPr lang="az-Cyrl-AZ" dirty="0">
                          <a:effectLst/>
                        </a:rPr>
                        <a:t>Нашето предложение цели да Ви осигури допълнително финансиране при нужда. Както обясних по-рано при усвояване на кредит автоматично участвате и в нашата кампания „Клиент на месеца“, в която всеки месец можете да спечелите истинска златна звезда или един от пет ваучера на стойност 100 лв.</a:t>
                      </a:r>
                    </a:p>
                  </a:txBody>
                  <a:tcPr marL="0" marR="0" marT="0" marB="0" anchor="ctr">
                    <a:lnL>
                      <a:noFill/>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990121217"/>
                  </a:ext>
                </a:extLst>
              </a:tr>
            </a:tbl>
          </a:graphicData>
        </a:graphic>
      </p:graphicFrame>
    </p:spTree>
    <p:extLst>
      <p:ext uri="{BB962C8B-B14F-4D97-AF65-F5344CB8AC3E}">
        <p14:creationId xmlns:p14="http://schemas.microsoft.com/office/powerpoint/2010/main" val="968112850"/>
      </p:ext>
    </p:extLst>
  </p:cSld>
  <p:clrMapOvr>
    <a:masterClrMapping/>
  </p:clrMapOvr>
  <p:extLst>
    <p:ext uri="{6950BFC3-D8DA-4A85-94F7-54DA5524770B}">
      <p188:commentRel xmlns:p188="http://schemas.microsoft.com/office/powerpoint/2018/8/main" r:id="rId2"/>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30AB51-8933-83E6-A2AD-498ECB263C56}"/>
            </a:ext>
          </a:extLst>
        </p:cNvPr>
        <p:cNvGrpSpPr/>
        <p:nvPr/>
      </p:nvGrpSpPr>
      <p:grpSpPr>
        <a:xfrm>
          <a:off x="0" y="0"/>
          <a:ext cx="0" cy="0"/>
          <a:chOff x="0" y="0"/>
          <a:chExt cx="0" cy="0"/>
        </a:xfrm>
      </p:grpSpPr>
      <p:sp>
        <p:nvSpPr>
          <p:cNvPr id="35" name="Rectangle 9">
            <a:extLst>
              <a:ext uri="{FF2B5EF4-FFF2-40B4-BE49-F238E27FC236}">
                <a16:creationId xmlns:a16="http://schemas.microsoft.com/office/drawing/2014/main" id="{5D7FBA6F-1EE8-7130-25E9-578E91F3968B}"/>
              </a:ext>
            </a:extLst>
          </p:cNvPr>
          <p:cNvSpPr/>
          <p:nvPr/>
        </p:nvSpPr>
        <p:spPr>
          <a:xfrm>
            <a:off x="2189602" y="2540005"/>
            <a:ext cx="3480247" cy="1090188"/>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Представяне на целта</a:t>
            </a:r>
            <a:endParaRPr lang="en-GB" sz="1600"/>
          </a:p>
        </p:txBody>
      </p:sp>
      <p:sp>
        <p:nvSpPr>
          <p:cNvPr id="36" name="Rectangle 11">
            <a:extLst>
              <a:ext uri="{FF2B5EF4-FFF2-40B4-BE49-F238E27FC236}">
                <a16:creationId xmlns:a16="http://schemas.microsoft.com/office/drawing/2014/main" id="{7533D476-EE93-A2AA-A51B-210592E9953C}"/>
              </a:ext>
            </a:extLst>
          </p:cNvPr>
          <p:cNvSpPr/>
          <p:nvPr/>
        </p:nvSpPr>
        <p:spPr>
          <a:xfrm>
            <a:off x="2189602" y="1322152"/>
            <a:ext cx="3480247" cy="1090188"/>
          </a:xfrm>
          <a:prstGeom prst="round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600"/>
              <a:t>Отваряне</a:t>
            </a:r>
            <a:endParaRPr lang="en-GB" sz="1600"/>
          </a:p>
        </p:txBody>
      </p:sp>
      <p:sp>
        <p:nvSpPr>
          <p:cNvPr id="37" name="Rectangle 13">
            <a:extLst>
              <a:ext uri="{FF2B5EF4-FFF2-40B4-BE49-F238E27FC236}">
                <a16:creationId xmlns:a16="http://schemas.microsoft.com/office/drawing/2014/main" id="{D9F7E09E-67F5-F587-67D3-76993C1B5775}"/>
              </a:ext>
            </a:extLst>
          </p:cNvPr>
          <p:cNvSpPr/>
          <p:nvPr/>
        </p:nvSpPr>
        <p:spPr>
          <a:xfrm>
            <a:off x="2189602" y="3757858"/>
            <a:ext cx="3480247" cy="1090188"/>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Справяне с възражения</a:t>
            </a:r>
            <a:endParaRPr lang="en-GB" sz="1600"/>
          </a:p>
        </p:txBody>
      </p:sp>
      <p:sp>
        <p:nvSpPr>
          <p:cNvPr id="38" name="Rectangle 15">
            <a:extLst>
              <a:ext uri="{FF2B5EF4-FFF2-40B4-BE49-F238E27FC236}">
                <a16:creationId xmlns:a16="http://schemas.microsoft.com/office/drawing/2014/main" id="{8CDB5647-803F-A78E-1862-137D40100624}"/>
              </a:ext>
            </a:extLst>
          </p:cNvPr>
          <p:cNvSpPr/>
          <p:nvPr/>
        </p:nvSpPr>
        <p:spPr>
          <a:xfrm>
            <a:off x="2189602" y="5007903"/>
            <a:ext cx="3480247" cy="1090188"/>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Затваряне</a:t>
            </a:r>
            <a:endParaRPr lang="en-GB" sz="1600"/>
          </a:p>
        </p:txBody>
      </p:sp>
      <p:sp>
        <p:nvSpPr>
          <p:cNvPr id="27" name="Rectangle 28">
            <a:extLst>
              <a:ext uri="{FF2B5EF4-FFF2-40B4-BE49-F238E27FC236}">
                <a16:creationId xmlns:a16="http://schemas.microsoft.com/office/drawing/2014/main" id="{CC4FDDCD-4979-3D59-1F6F-E3822645882F}"/>
              </a:ext>
            </a:extLst>
          </p:cNvPr>
          <p:cNvSpPr/>
          <p:nvPr/>
        </p:nvSpPr>
        <p:spPr>
          <a:xfrm>
            <a:off x="-15824" y="1599"/>
            <a:ext cx="1465320" cy="6859628"/>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400">
              <a:latin typeface="Aptos"/>
              <a:ea typeface="Calibri"/>
              <a:cs typeface="Calibri"/>
            </a:endParaRPr>
          </a:p>
        </p:txBody>
      </p:sp>
      <p:sp>
        <p:nvSpPr>
          <p:cNvPr id="29" name="Rectangle 29">
            <a:extLst>
              <a:ext uri="{FF2B5EF4-FFF2-40B4-BE49-F238E27FC236}">
                <a16:creationId xmlns:a16="http://schemas.microsoft.com/office/drawing/2014/main" id="{A6B99545-165D-263F-6638-02D04FF875AA}"/>
              </a:ext>
            </a:extLst>
          </p:cNvPr>
          <p:cNvSpPr/>
          <p:nvPr/>
        </p:nvSpPr>
        <p:spPr>
          <a:xfrm>
            <a:off x="-1671" y="2528038"/>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Типове клиенти</a:t>
            </a:r>
            <a:endParaRPr lang="en-GB" sz="1400">
              <a:latin typeface="Aptos"/>
              <a:ea typeface="Calibri"/>
              <a:cs typeface="Calibri"/>
            </a:endParaRPr>
          </a:p>
        </p:txBody>
      </p:sp>
      <p:sp>
        <p:nvSpPr>
          <p:cNvPr id="30" name="Rectangle 30">
            <a:extLst>
              <a:ext uri="{FF2B5EF4-FFF2-40B4-BE49-F238E27FC236}">
                <a16:creationId xmlns:a16="http://schemas.microsoft.com/office/drawing/2014/main" id="{B63059CD-AF44-70B9-C51B-38EFDC5A67AF}"/>
              </a:ext>
            </a:extLst>
          </p:cNvPr>
          <p:cNvSpPr/>
          <p:nvPr/>
        </p:nvSpPr>
        <p:spPr>
          <a:xfrm>
            <a:off x="8626" y="1913210"/>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Сценарии</a:t>
            </a:r>
            <a:endParaRPr lang="en-GB" sz="1400">
              <a:latin typeface="Aptos"/>
              <a:ea typeface="Calibri"/>
              <a:cs typeface="Calibri"/>
            </a:endParaRPr>
          </a:p>
        </p:txBody>
      </p:sp>
      <p:sp>
        <p:nvSpPr>
          <p:cNvPr id="31" name="Rectangle 31">
            <a:extLst>
              <a:ext uri="{FF2B5EF4-FFF2-40B4-BE49-F238E27FC236}">
                <a16:creationId xmlns:a16="http://schemas.microsoft.com/office/drawing/2014/main" id="{9E3669F7-C956-D0D4-D297-2FC0AC21A53F}"/>
              </a:ext>
            </a:extLst>
          </p:cNvPr>
          <p:cNvSpPr/>
          <p:nvPr/>
        </p:nvSpPr>
        <p:spPr>
          <a:xfrm>
            <a:off x="-1671" y="1298382"/>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002060"/>
                </a:solidFill>
                <a:latin typeface="Aptos"/>
                <a:ea typeface="Calibri"/>
                <a:cs typeface="Calibri"/>
              </a:rPr>
              <a:t>Стъпки в обаждането</a:t>
            </a:r>
            <a:endParaRPr lang="en-GB" sz="1400">
              <a:solidFill>
                <a:srgbClr val="002060"/>
              </a:solidFill>
              <a:latin typeface="Aptos"/>
              <a:ea typeface="Calibri"/>
              <a:cs typeface="Calibri"/>
            </a:endParaRPr>
          </a:p>
        </p:txBody>
      </p:sp>
      <p:sp>
        <p:nvSpPr>
          <p:cNvPr id="32" name="Rectangle 3">
            <a:extLst>
              <a:ext uri="{FF2B5EF4-FFF2-40B4-BE49-F238E27FC236}">
                <a16:creationId xmlns:a16="http://schemas.microsoft.com/office/drawing/2014/main" id="{82D30C45-A7F9-E0F7-79A8-0D8B38BCDA62}"/>
              </a:ext>
            </a:extLst>
          </p:cNvPr>
          <p:cNvSpPr/>
          <p:nvPr/>
        </p:nvSpPr>
        <p:spPr>
          <a:xfrm>
            <a:off x="1443475" y="4245"/>
            <a:ext cx="5338363" cy="67724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33" name="Rectangle 4">
            <a:extLst>
              <a:ext uri="{FF2B5EF4-FFF2-40B4-BE49-F238E27FC236}">
                <a16:creationId xmlns:a16="http://schemas.microsoft.com/office/drawing/2014/main" id="{92D1E1CA-0850-E8DD-2A52-88061ECF0B2C}"/>
              </a:ext>
            </a:extLst>
          </p:cNvPr>
          <p:cNvSpPr/>
          <p:nvPr/>
        </p:nvSpPr>
        <p:spPr>
          <a:xfrm>
            <a:off x="6788435" y="4245"/>
            <a:ext cx="5417300" cy="677242"/>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34" name="Rectangle 28">
            <a:extLst>
              <a:ext uri="{FF2B5EF4-FFF2-40B4-BE49-F238E27FC236}">
                <a16:creationId xmlns:a16="http://schemas.microsoft.com/office/drawing/2014/main" id="{869CD79A-9139-2D69-F1F1-A12EDA8F0082}"/>
              </a:ext>
            </a:extLst>
          </p:cNvPr>
          <p:cNvSpPr/>
          <p:nvPr/>
        </p:nvSpPr>
        <p:spPr>
          <a:xfrm>
            <a:off x="-15827" y="690328"/>
            <a:ext cx="1465322"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FFFFFF"/>
                </a:solidFill>
                <a:latin typeface="Aptos"/>
                <a:ea typeface="Calibri"/>
                <a:cs typeface="Calibri"/>
              </a:rPr>
              <a:t>Подготовка</a:t>
            </a:r>
            <a:endParaRPr lang="en-GB" sz="1400">
              <a:solidFill>
                <a:srgbClr val="FFFFFF"/>
              </a:solidFill>
              <a:latin typeface="Aptos"/>
              <a:ea typeface="Calibri"/>
              <a:cs typeface="Calibri"/>
            </a:endParaRPr>
          </a:p>
        </p:txBody>
      </p:sp>
      <p:pic>
        <p:nvPicPr>
          <p:cNvPr id="24" name="Picture 23">
            <a:extLst>
              <a:ext uri="{FF2B5EF4-FFF2-40B4-BE49-F238E27FC236}">
                <a16:creationId xmlns:a16="http://schemas.microsoft.com/office/drawing/2014/main" id="{FE43663F-24CF-9366-FF1E-8565380B21EA}"/>
              </a:ext>
            </a:extLst>
          </p:cNvPr>
          <p:cNvPicPr>
            <a:picLocks noChangeAspect="1"/>
          </p:cNvPicPr>
          <p:nvPr/>
        </p:nvPicPr>
        <p:blipFill>
          <a:blip r:embed="rId2"/>
          <a:stretch>
            <a:fillRect/>
          </a:stretch>
        </p:blipFill>
        <p:spPr>
          <a:xfrm>
            <a:off x="10883590" y="5621341"/>
            <a:ext cx="982751" cy="995681"/>
          </a:xfrm>
          <a:prstGeom prst="rect">
            <a:avLst/>
          </a:prstGeom>
        </p:spPr>
      </p:pic>
      <p:sp>
        <p:nvSpPr>
          <p:cNvPr id="10" name="Текстово поле 9">
            <a:extLst>
              <a:ext uri="{FF2B5EF4-FFF2-40B4-BE49-F238E27FC236}">
                <a16:creationId xmlns:a16="http://schemas.microsoft.com/office/drawing/2014/main" id="{836B8E6B-B05E-BE0D-4FF9-9984688B8A01}"/>
              </a:ext>
            </a:extLst>
          </p:cNvPr>
          <p:cNvSpPr txBox="1"/>
          <p:nvPr/>
        </p:nvSpPr>
        <p:spPr>
          <a:xfrm>
            <a:off x="5901715" y="1261473"/>
            <a:ext cx="5417299" cy="462201"/>
          </a:xfrm>
          <a:prstGeom prst="roundRect">
            <a:avLst>
              <a:gd name="adj" fmla="val 34673"/>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lvl1pPr>
              <a:defRPr b="1">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bg-BG"/>
              <a:t>Примерни възражения</a:t>
            </a:r>
          </a:p>
        </p:txBody>
      </p:sp>
      <p:sp>
        <p:nvSpPr>
          <p:cNvPr id="4" name="Rectangle: Rounded Corners 3">
            <a:extLst>
              <a:ext uri="{FF2B5EF4-FFF2-40B4-BE49-F238E27FC236}">
                <a16:creationId xmlns:a16="http://schemas.microsoft.com/office/drawing/2014/main" id="{040157EF-5442-1F29-3729-9FA0F0DA4DDB}"/>
              </a:ext>
            </a:extLst>
          </p:cNvPr>
          <p:cNvSpPr/>
          <p:nvPr/>
        </p:nvSpPr>
        <p:spPr>
          <a:xfrm>
            <a:off x="6114419" y="1811331"/>
            <a:ext cx="2258337" cy="378045"/>
          </a:xfrm>
          <a:prstGeom prst="roundRect">
            <a:avLst/>
          </a:prstGeom>
          <a:solidFill>
            <a:schemeClr val="bg1">
              <a:lumMod val="65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200">
                <a:ea typeface="+mn-lt"/>
                <a:cs typeface="+mn-lt"/>
              </a:rPr>
              <a:t>Вече </a:t>
            </a:r>
            <a:r>
              <a:rPr lang="ru-RU" sz="1200" err="1">
                <a:ea typeface="+mn-lt"/>
                <a:cs typeface="+mn-lt"/>
              </a:rPr>
              <a:t>изтеглих</a:t>
            </a:r>
            <a:r>
              <a:rPr lang="ru-RU" sz="1200">
                <a:ea typeface="+mn-lt"/>
                <a:cs typeface="+mn-lt"/>
              </a:rPr>
              <a:t> кредит</a:t>
            </a:r>
            <a:endParaRPr lang="bg-BG" sz="1200"/>
          </a:p>
        </p:txBody>
      </p:sp>
      <p:sp>
        <p:nvSpPr>
          <p:cNvPr id="6" name="Rectangle: Rounded Corners 5">
            <a:extLst>
              <a:ext uri="{FF2B5EF4-FFF2-40B4-BE49-F238E27FC236}">
                <a16:creationId xmlns:a16="http://schemas.microsoft.com/office/drawing/2014/main" id="{00397458-5E3E-2E3C-1749-EAF1BC7F4009}"/>
              </a:ext>
            </a:extLst>
          </p:cNvPr>
          <p:cNvSpPr/>
          <p:nvPr/>
        </p:nvSpPr>
        <p:spPr>
          <a:xfrm>
            <a:off x="6132841" y="2255010"/>
            <a:ext cx="2258337" cy="358524"/>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200" err="1">
                <a:ea typeface="+mn-lt"/>
                <a:cs typeface="+mn-lt"/>
              </a:rPr>
              <a:t>Високи</a:t>
            </a:r>
            <a:r>
              <a:rPr lang="ru-RU" sz="1200">
                <a:ea typeface="+mn-lt"/>
                <a:cs typeface="+mn-lt"/>
              </a:rPr>
              <a:t> </a:t>
            </a:r>
            <a:r>
              <a:rPr lang="ru-RU" sz="1200" err="1">
                <a:ea typeface="+mn-lt"/>
                <a:cs typeface="+mn-lt"/>
              </a:rPr>
              <a:t>са</a:t>
            </a:r>
            <a:r>
              <a:rPr lang="ru-RU" sz="1200">
                <a:ea typeface="+mn-lt"/>
                <a:cs typeface="+mn-lt"/>
              </a:rPr>
              <a:t> </a:t>
            </a:r>
            <a:r>
              <a:rPr lang="ru-RU" sz="1200" err="1">
                <a:ea typeface="+mn-lt"/>
                <a:cs typeface="+mn-lt"/>
              </a:rPr>
              <a:t>ви</a:t>
            </a:r>
            <a:r>
              <a:rPr lang="ru-RU" sz="1200">
                <a:ea typeface="+mn-lt"/>
                <a:cs typeface="+mn-lt"/>
              </a:rPr>
              <a:t> </a:t>
            </a:r>
            <a:r>
              <a:rPr lang="ru-RU" sz="1200" err="1">
                <a:ea typeface="+mn-lt"/>
                <a:cs typeface="+mn-lt"/>
              </a:rPr>
              <a:t>лихвите</a:t>
            </a:r>
            <a:endParaRPr lang="bg-BG" sz="1200"/>
          </a:p>
        </p:txBody>
      </p:sp>
      <p:sp>
        <p:nvSpPr>
          <p:cNvPr id="8" name="Rectangle: Rounded Corners 4">
            <a:extLst>
              <a:ext uri="{FF2B5EF4-FFF2-40B4-BE49-F238E27FC236}">
                <a16:creationId xmlns:a16="http://schemas.microsoft.com/office/drawing/2014/main" id="{BD2E23FF-3333-1F1F-3594-CA55CE6AC40C}"/>
              </a:ext>
            </a:extLst>
          </p:cNvPr>
          <p:cNvSpPr/>
          <p:nvPr/>
        </p:nvSpPr>
        <p:spPr>
          <a:xfrm>
            <a:off x="8513098" y="1819303"/>
            <a:ext cx="2258337" cy="358524"/>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200" err="1">
                <a:ea typeface="+mn-lt"/>
                <a:cs typeface="+mn-lt"/>
              </a:rPr>
              <a:t>Нямам</a:t>
            </a:r>
            <a:r>
              <a:rPr lang="ru-RU" sz="1200">
                <a:ea typeface="+mn-lt"/>
                <a:cs typeface="+mn-lt"/>
              </a:rPr>
              <a:t> нужда</a:t>
            </a:r>
            <a:endParaRPr lang="bg-BG" sz="1200"/>
          </a:p>
        </p:txBody>
      </p:sp>
      <p:sp>
        <p:nvSpPr>
          <p:cNvPr id="11" name="Rectangle: Rounded Corners 4">
            <a:extLst>
              <a:ext uri="{FF2B5EF4-FFF2-40B4-BE49-F238E27FC236}">
                <a16:creationId xmlns:a16="http://schemas.microsoft.com/office/drawing/2014/main" id="{68E4AE60-BA8E-E4BC-BC82-5200611DA0C4}"/>
              </a:ext>
            </a:extLst>
          </p:cNvPr>
          <p:cNvSpPr/>
          <p:nvPr/>
        </p:nvSpPr>
        <p:spPr>
          <a:xfrm>
            <a:off x="8513098" y="2233710"/>
            <a:ext cx="2258337" cy="358524"/>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200">
                <a:ea typeface="+mn-lt"/>
                <a:cs typeface="+mn-lt"/>
              </a:rPr>
              <a:t>Искам да се </a:t>
            </a:r>
            <a:r>
              <a:rPr lang="ru-RU" sz="1200" err="1">
                <a:ea typeface="+mn-lt"/>
                <a:cs typeface="+mn-lt"/>
              </a:rPr>
              <a:t>посъветвам</a:t>
            </a:r>
            <a:endParaRPr lang="bg-BG" sz="1200"/>
          </a:p>
        </p:txBody>
      </p:sp>
      <p:graphicFrame>
        <p:nvGraphicFramePr>
          <p:cNvPr id="7" name="Table 6">
            <a:extLst>
              <a:ext uri="{FF2B5EF4-FFF2-40B4-BE49-F238E27FC236}">
                <a16:creationId xmlns:a16="http://schemas.microsoft.com/office/drawing/2014/main" id="{84027D27-B60D-9D40-C07A-2FE7F00B5230}"/>
              </a:ext>
            </a:extLst>
          </p:cNvPr>
          <p:cNvGraphicFramePr>
            <a:graphicFrameLocks noGrp="1"/>
          </p:cNvGraphicFramePr>
          <p:nvPr>
            <p:extLst>
              <p:ext uri="{D42A27DB-BD31-4B8C-83A1-F6EECF244321}">
                <p14:modId xmlns:p14="http://schemas.microsoft.com/office/powerpoint/2010/main" val="2090911606"/>
              </p:ext>
            </p:extLst>
          </p:nvPr>
        </p:nvGraphicFramePr>
        <p:xfrm>
          <a:off x="6232477" y="2786417"/>
          <a:ext cx="4536523" cy="2468880"/>
        </p:xfrm>
        <a:graphic>
          <a:graphicData uri="http://schemas.openxmlformats.org/drawingml/2006/table">
            <a:tbl>
              <a:tblPr bandRow="1">
                <a:tableStyleId>{5C22544A-7EE6-4342-B048-85BDC9FD1C3A}</a:tableStyleId>
              </a:tblPr>
              <a:tblGrid>
                <a:gridCol w="4536523">
                  <a:extLst>
                    <a:ext uri="{9D8B030D-6E8A-4147-A177-3AD203B41FA5}">
                      <a16:colId xmlns:a16="http://schemas.microsoft.com/office/drawing/2014/main" val="2640916451"/>
                    </a:ext>
                  </a:extLst>
                </a:gridCol>
              </a:tblGrid>
              <a:tr h="1832780">
                <a:tc>
                  <a:txBody>
                    <a:bodyPr/>
                    <a:lstStyle/>
                    <a:p>
                      <a:pPr>
                        <a:buNone/>
                      </a:pPr>
                      <a:r>
                        <a:rPr lang="az-Cyrl-AZ" dirty="0">
                          <a:effectLst/>
                        </a:rPr>
                        <a:t> Това е повече от добре, но е полезно да бъдете информирни. Ако сега разполагате със сума например от 1000 лв., за какво бихте я използвали? ............. Това е добро приложение на сумата и ние сме готови  да Ви помогнем да …. (използваме конкретната нужда, която е посочил клиента), като Ви предлагаме допълнително финансиране. </a:t>
                      </a:r>
                    </a:p>
                  </a:txBody>
                  <a:tcPr marL="0" marR="0" marT="0" marB="0" anchor="ctr">
                    <a:lnL>
                      <a:noFill/>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4196329784"/>
                  </a:ext>
                </a:extLst>
              </a:tr>
            </a:tbl>
          </a:graphicData>
        </a:graphic>
      </p:graphicFrame>
    </p:spTree>
    <p:extLst>
      <p:ext uri="{BB962C8B-B14F-4D97-AF65-F5344CB8AC3E}">
        <p14:creationId xmlns:p14="http://schemas.microsoft.com/office/powerpoint/2010/main" val="22360417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EA7DA9-920D-887A-0F7D-347DEB23F964}"/>
            </a:ext>
          </a:extLst>
        </p:cNvPr>
        <p:cNvGrpSpPr/>
        <p:nvPr/>
      </p:nvGrpSpPr>
      <p:grpSpPr>
        <a:xfrm>
          <a:off x="0" y="0"/>
          <a:ext cx="0" cy="0"/>
          <a:chOff x="0" y="0"/>
          <a:chExt cx="0" cy="0"/>
        </a:xfrm>
      </p:grpSpPr>
      <p:sp>
        <p:nvSpPr>
          <p:cNvPr id="35" name="Rectangle 9">
            <a:extLst>
              <a:ext uri="{FF2B5EF4-FFF2-40B4-BE49-F238E27FC236}">
                <a16:creationId xmlns:a16="http://schemas.microsoft.com/office/drawing/2014/main" id="{4F4D127A-9E50-A972-DE0A-9B9B5DD7F79F}"/>
              </a:ext>
            </a:extLst>
          </p:cNvPr>
          <p:cNvSpPr/>
          <p:nvPr/>
        </p:nvSpPr>
        <p:spPr>
          <a:xfrm>
            <a:off x="2189602" y="2540005"/>
            <a:ext cx="3480247" cy="1090188"/>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Представяне на целта</a:t>
            </a:r>
            <a:endParaRPr lang="en-GB" sz="1600"/>
          </a:p>
        </p:txBody>
      </p:sp>
      <p:sp>
        <p:nvSpPr>
          <p:cNvPr id="36" name="Rectangle 11">
            <a:extLst>
              <a:ext uri="{FF2B5EF4-FFF2-40B4-BE49-F238E27FC236}">
                <a16:creationId xmlns:a16="http://schemas.microsoft.com/office/drawing/2014/main" id="{EA64AC4E-FCE3-3E78-4E17-00A201B4281C}"/>
              </a:ext>
            </a:extLst>
          </p:cNvPr>
          <p:cNvSpPr/>
          <p:nvPr/>
        </p:nvSpPr>
        <p:spPr>
          <a:xfrm>
            <a:off x="2189602" y="1322152"/>
            <a:ext cx="3480247" cy="1090188"/>
          </a:xfrm>
          <a:prstGeom prst="round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600"/>
              <a:t>Отваряне</a:t>
            </a:r>
            <a:endParaRPr lang="en-GB" sz="1600"/>
          </a:p>
        </p:txBody>
      </p:sp>
      <p:sp>
        <p:nvSpPr>
          <p:cNvPr id="37" name="Rectangle 13">
            <a:extLst>
              <a:ext uri="{FF2B5EF4-FFF2-40B4-BE49-F238E27FC236}">
                <a16:creationId xmlns:a16="http://schemas.microsoft.com/office/drawing/2014/main" id="{207AA197-0C6B-C265-6C5B-0B0A3BCB3CF3}"/>
              </a:ext>
            </a:extLst>
          </p:cNvPr>
          <p:cNvSpPr/>
          <p:nvPr/>
        </p:nvSpPr>
        <p:spPr>
          <a:xfrm>
            <a:off x="2189602" y="3757858"/>
            <a:ext cx="3480247" cy="1090188"/>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Справяне с възражения</a:t>
            </a:r>
            <a:endParaRPr lang="en-GB" sz="1600"/>
          </a:p>
        </p:txBody>
      </p:sp>
      <p:sp>
        <p:nvSpPr>
          <p:cNvPr id="38" name="Rectangle 15">
            <a:extLst>
              <a:ext uri="{FF2B5EF4-FFF2-40B4-BE49-F238E27FC236}">
                <a16:creationId xmlns:a16="http://schemas.microsoft.com/office/drawing/2014/main" id="{3BFF235C-DE13-675E-37C2-B657219960C3}"/>
              </a:ext>
            </a:extLst>
          </p:cNvPr>
          <p:cNvSpPr/>
          <p:nvPr/>
        </p:nvSpPr>
        <p:spPr>
          <a:xfrm>
            <a:off x="2189602" y="5007903"/>
            <a:ext cx="3480247" cy="1090188"/>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Затваряне</a:t>
            </a:r>
            <a:endParaRPr lang="en-GB" sz="1600"/>
          </a:p>
        </p:txBody>
      </p:sp>
      <p:sp>
        <p:nvSpPr>
          <p:cNvPr id="27" name="Rectangle 28">
            <a:extLst>
              <a:ext uri="{FF2B5EF4-FFF2-40B4-BE49-F238E27FC236}">
                <a16:creationId xmlns:a16="http://schemas.microsoft.com/office/drawing/2014/main" id="{8D1A8507-B1EA-4637-2529-04D02E99B634}"/>
              </a:ext>
            </a:extLst>
          </p:cNvPr>
          <p:cNvSpPr/>
          <p:nvPr/>
        </p:nvSpPr>
        <p:spPr>
          <a:xfrm>
            <a:off x="-15824" y="1599"/>
            <a:ext cx="1465320" cy="6859628"/>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400">
              <a:latin typeface="Aptos"/>
              <a:ea typeface="Calibri"/>
              <a:cs typeface="Calibri"/>
            </a:endParaRPr>
          </a:p>
        </p:txBody>
      </p:sp>
      <p:sp>
        <p:nvSpPr>
          <p:cNvPr id="29" name="Rectangle 29">
            <a:extLst>
              <a:ext uri="{FF2B5EF4-FFF2-40B4-BE49-F238E27FC236}">
                <a16:creationId xmlns:a16="http://schemas.microsoft.com/office/drawing/2014/main" id="{06E1C7DA-EFC7-52A3-05D7-411DECE82041}"/>
              </a:ext>
            </a:extLst>
          </p:cNvPr>
          <p:cNvSpPr/>
          <p:nvPr/>
        </p:nvSpPr>
        <p:spPr>
          <a:xfrm>
            <a:off x="-1671" y="2528038"/>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Типове клиенти</a:t>
            </a:r>
            <a:endParaRPr lang="en-GB" sz="1400">
              <a:latin typeface="Aptos"/>
              <a:ea typeface="Calibri"/>
              <a:cs typeface="Calibri"/>
            </a:endParaRPr>
          </a:p>
        </p:txBody>
      </p:sp>
      <p:sp>
        <p:nvSpPr>
          <p:cNvPr id="30" name="Rectangle 30">
            <a:extLst>
              <a:ext uri="{FF2B5EF4-FFF2-40B4-BE49-F238E27FC236}">
                <a16:creationId xmlns:a16="http://schemas.microsoft.com/office/drawing/2014/main" id="{BEF1B1BD-A48A-587C-8AEB-6D9EBF04A046}"/>
              </a:ext>
            </a:extLst>
          </p:cNvPr>
          <p:cNvSpPr/>
          <p:nvPr/>
        </p:nvSpPr>
        <p:spPr>
          <a:xfrm>
            <a:off x="8626" y="1913210"/>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Сценарии</a:t>
            </a:r>
            <a:endParaRPr lang="en-GB" sz="1400">
              <a:latin typeface="Aptos"/>
              <a:ea typeface="Calibri"/>
              <a:cs typeface="Calibri"/>
            </a:endParaRPr>
          </a:p>
        </p:txBody>
      </p:sp>
      <p:sp>
        <p:nvSpPr>
          <p:cNvPr id="31" name="Rectangle 31">
            <a:extLst>
              <a:ext uri="{FF2B5EF4-FFF2-40B4-BE49-F238E27FC236}">
                <a16:creationId xmlns:a16="http://schemas.microsoft.com/office/drawing/2014/main" id="{E7D7B165-785B-4F31-6E94-FB4B6A30C1C6}"/>
              </a:ext>
            </a:extLst>
          </p:cNvPr>
          <p:cNvSpPr/>
          <p:nvPr/>
        </p:nvSpPr>
        <p:spPr>
          <a:xfrm>
            <a:off x="-1671" y="1298382"/>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002060"/>
                </a:solidFill>
                <a:latin typeface="Aptos"/>
                <a:ea typeface="Calibri"/>
                <a:cs typeface="Calibri"/>
              </a:rPr>
              <a:t>Стъпки в обаждането</a:t>
            </a:r>
            <a:endParaRPr lang="en-GB" sz="1400">
              <a:solidFill>
                <a:srgbClr val="002060"/>
              </a:solidFill>
              <a:latin typeface="Aptos"/>
              <a:ea typeface="Calibri"/>
              <a:cs typeface="Calibri"/>
            </a:endParaRPr>
          </a:p>
        </p:txBody>
      </p:sp>
      <p:sp>
        <p:nvSpPr>
          <p:cNvPr id="32" name="Rectangle 3">
            <a:extLst>
              <a:ext uri="{FF2B5EF4-FFF2-40B4-BE49-F238E27FC236}">
                <a16:creationId xmlns:a16="http://schemas.microsoft.com/office/drawing/2014/main" id="{329A2F38-DC13-4DAB-A66C-98AB6DB8D60C}"/>
              </a:ext>
            </a:extLst>
          </p:cNvPr>
          <p:cNvSpPr/>
          <p:nvPr/>
        </p:nvSpPr>
        <p:spPr>
          <a:xfrm>
            <a:off x="1443475" y="4245"/>
            <a:ext cx="5338363" cy="67724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33" name="Rectangle 4">
            <a:extLst>
              <a:ext uri="{FF2B5EF4-FFF2-40B4-BE49-F238E27FC236}">
                <a16:creationId xmlns:a16="http://schemas.microsoft.com/office/drawing/2014/main" id="{AB975C54-E5A4-3831-826B-E4189E65E49B}"/>
              </a:ext>
            </a:extLst>
          </p:cNvPr>
          <p:cNvSpPr/>
          <p:nvPr/>
        </p:nvSpPr>
        <p:spPr>
          <a:xfrm>
            <a:off x="6788435" y="4245"/>
            <a:ext cx="5417300" cy="677242"/>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34" name="Rectangle 28">
            <a:extLst>
              <a:ext uri="{FF2B5EF4-FFF2-40B4-BE49-F238E27FC236}">
                <a16:creationId xmlns:a16="http://schemas.microsoft.com/office/drawing/2014/main" id="{7E894920-80F4-60FA-B163-36AB22912EC1}"/>
              </a:ext>
            </a:extLst>
          </p:cNvPr>
          <p:cNvSpPr/>
          <p:nvPr/>
        </p:nvSpPr>
        <p:spPr>
          <a:xfrm>
            <a:off x="-15827" y="690328"/>
            <a:ext cx="1465322"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FFFFFF"/>
                </a:solidFill>
                <a:latin typeface="Aptos"/>
                <a:ea typeface="Calibri"/>
                <a:cs typeface="Calibri"/>
              </a:rPr>
              <a:t>Подготовка</a:t>
            </a:r>
            <a:endParaRPr lang="en-GB" sz="1400">
              <a:solidFill>
                <a:srgbClr val="FFFFFF"/>
              </a:solidFill>
              <a:latin typeface="Aptos"/>
              <a:ea typeface="Calibri"/>
              <a:cs typeface="Calibri"/>
            </a:endParaRPr>
          </a:p>
        </p:txBody>
      </p:sp>
      <p:pic>
        <p:nvPicPr>
          <p:cNvPr id="24" name="Picture 23">
            <a:extLst>
              <a:ext uri="{FF2B5EF4-FFF2-40B4-BE49-F238E27FC236}">
                <a16:creationId xmlns:a16="http://schemas.microsoft.com/office/drawing/2014/main" id="{D22F38AF-0F46-A13C-B6C0-0E51DF448CFD}"/>
              </a:ext>
            </a:extLst>
          </p:cNvPr>
          <p:cNvPicPr>
            <a:picLocks noChangeAspect="1"/>
          </p:cNvPicPr>
          <p:nvPr/>
        </p:nvPicPr>
        <p:blipFill>
          <a:blip r:embed="rId2"/>
          <a:stretch>
            <a:fillRect/>
          </a:stretch>
        </p:blipFill>
        <p:spPr>
          <a:xfrm>
            <a:off x="10883590" y="5621341"/>
            <a:ext cx="982751" cy="995681"/>
          </a:xfrm>
          <a:prstGeom prst="rect">
            <a:avLst/>
          </a:prstGeom>
        </p:spPr>
      </p:pic>
      <p:sp>
        <p:nvSpPr>
          <p:cNvPr id="10" name="Текстово поле 9">
            <a:extLst>
              <a:ext uri="{FF2B5EF4-FFF2-40B4-BE49-F238E27FC236}">
                <a16:creationId xmlns:a16="http://schemas.microsoft.com/office/drawing/2014/main" id="{0AD5A0AD-9C28-DC3B-8799-24FDD8F06D8E}"/>
              </a:ext>
            </a:extLst>
          </p:cNvPr>
          <p:cNvSpPr txBox="1"/>
          <p:nvPr/>
        </p:nvSpPr>
        <p:spPr>
          <a:xfrm>
            <a:off x="5901715" y="1261473"/>
            <a:ext cx="5417299" cy="462201"/>
          </a:xfrm>
          <a:prstGeom prst="roundRect">
            <a:avLst>
              <a:gd name="adj" fmla="val 34673"/>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lvl1pPr>
              <a:defRPr b="1">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bg-BG"/>
              <a:t>Примерни възражения</a:t>
            </a:r>
          </a:p>
        </p:txBody>
      </p:sp>
      <p:sp>
        <p:nvSpPr>
          <p:cNvPr id="4" name="Rectangle: Rounded Corners 3">
            <a:extLst>
              <a:ext uri="{FF2B5EF4-FFF2-40B4-BE49-F238E27FC236}">
                <a16:creationId xmlns:a16="http://schemas.microsoft.com/office/drawing/2014/main" id="{B308C360-4AD5-5701-8298-58CF3348ACC9}"/>
              </a:ext>
            </a:extLst>
          </p:cNvPr>
          <p:cNvSpPr/>
          <p:nvPr/>
        </p:nvSpPr>
        <p:spPr>
          <a:xfrm>
            <a:off x="6114419" y="1938331"/>
            <a:ext cx="2258337" cy="378045"/>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200">
                <a:ea typeface="+mn-lt"/>
                <a:cs typeface="+mn-lt"/>
              </a:rPr>
              <a:t>Вече </a:t>
            </a:r>
            <a:r>
              <a:rPr lang="ru-RU" sz="1200" err="1">
                <a:ea typeface="+mn-lt"/>
                <a:cs typeface="+mn-lt"/>
              </a:rPr>
              <a:t>изтеглих</a:t>
            </a:r>
            <a:r>
              <a:rPr lang="ru-RU" sz="1200">
                <a:ea typeface="+mn-lt"/>
                <a:cs typeface="+mn-lt"/>
              </a:rPr>
              <a:t> кредит</a:t>
            </a:r>
            <a:endParaRPr lang="bg-BG" sz="1200"/>
          </a:p>
        </p:txBody>
      </p:sp>
      <p:sp>
        <p:nvSpPr>
          <p:cNvPr id="6" name="Rectangle: Rounded Corners 5">
            <a:extLst>
              <a:ext uri="{FF2B5EF4-FFF2-40B4-BE49-F238E27FC236}">
                <a16:creationId xmlns:a16="http://schemas.microsoft.com/office/drawing/2014/main" id="{8429FDF1-1215-D027-53CD-A2C6D97F089C}"/>
              </a:ext>
            </a:extLst>
          </p:cNvPr>
          <p:cNvSpPr/>
          <p:nvPr/>
        </p:nvSpPr>
        <p:spPr>
          <a:xfrm>
            <a:off x="6132841" y="2382010"/>
            <a:ext cx="2258337" cy="358524"/>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200" err="1">
                <a:ea typeface="+mn-lt"/>
                <a:cs typeface="+mn-lt"/>
              </a:rPr>
              <a:t>Високи</a:t>
            </a:r>
            <a:r>
              <a:rPr lang="ru-RU" sz="1200">
                <a:ea typeface="+mn-lt"/>
                <a:cs typeface="+mn-lt"/>
              </a:rPr>
              <a:t> </a:t>
            </a:r>
            <a:r>
              <a:rPr lang="ru-RU" sz="1200" err="1">
                <a:ea typeface="+mn-lt"/>
                <a:cs typeface="+mn-lt"/>
              </a:rPr>
              <a:t>са</a:t>
            </a:r>
            <a:r>
              <a:rPr lang="ru-RU" sz="1200">
                <a:ea typeface="+mn-lt"/>
                <a:cs typeface="+mn-lt"/>
              </a:rPr>
              <a:t> </a:t>
            </a:r>
            <a:r>
              <a:rPr lang="ru-RU" sz="1200" err="1">
                <a:ea typeface="+mn-lt"/>
                <a:cs typeface="+mn-lt"/>
              </a:rPr>
              <a:t>ви</a:t>
            </a:r>
            <a:r>
              <a:rPr lang="ru-RU" sz="1200">
                <a:ea typeface="+mn-lt"/>
                <a:cs typeface="+mn-lt"/>
              </a:rPr>
              <a:t> </a:t>
            </a:r>
            <a:r>
              <a:rPr lang="ru-RU" sz="1200" err="1">
                <a:ea typeface="+mn-lt"/>
                <a:cs typeface="+mn-lt"/>
              </a:rPr>
              <a:t>лихвите</a:t>
            </a:r>
            <a:endParaRPr lang="bg-BG" sz="1200"/>
          </a:p>
        </p:txBody>
      </p:sp>
      <p:sp>
        <p:nvSpPr>
          <p:cNvPr id="8" name="Rectangle: Rounded Corners 4">
            <a:extLst>
              <a:ext uri="{FF2B5EF4-FFF2-40B4-BE49-F238E27FC236}">
                <a16:creationId xmlns:a16="http://schemas.microsoft.com/office/drawing/2014/main" id="{4F722032-D20C-7F06-1D6D-1D33BDCFFBFF}"/>
              </a:ext>
            </a:extLst>
          </p:cNvPr>
          <p:cNvSpPr/>
          <p:nvPr/>
        </p:nvSpPr>
        <p:spPr>
          <a:xfrm>
            <a:off x="8513098" y="1946303"/>
            <a:ext cx="2258337" cy="358524"/>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200" err="1">
                <a:ea typeface="+mn-lt"/>
                <a:cs typeface="+mn-lt"/>
              </a:rPr>
              <a:t>Нямам</a:t>
            </a:r>
            <a:r>
              <a:rPr lang="ru-RU" sz="1200">
                <a:ea typeface="+mn-lt"/>
                <a:cs typeface="+mn-lt"/>
              </a:rPr>
              <a:t> нужда</a:t>
            </a:r>
            <a:endParaRPr lang="bg-BG" sz="1200"/>
          </a:p>
        </p:txBody>
      </p:sp>
      <p:sp>
        <p:nvSpPr>
          <p:cNvPr id="11" name="Rectangle: Rounded Corners 4">
            <a:extLst>
              <a:ext uri="{FF2B5EF4-FFF2-40B4-BE49-F238E27FC236}">
                <a16:creationId xmlns:a16="http://schemas.microsoft.com/office/drawing/2014/main" id="{8F99E822-58A1-42FD-2FB2-852C65045E0A}"/>
              </a:ext>
            </a:extLst>
          </p:cNvPr>
          <p:cNvSpPr/>
          <p:nvPr/>
        </p:nvSpPr>
        <p:spPr>
          <a:xfrm>
            <a:off x="8513098" y="2360710"/>
            <a:ext cx="2258337" cy="358524"/>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200">
                <a:ea typeface="+mn-lt"/>
                <a:cs typeface="+mn-lt"/>
              </a:rPr>
              <a:t>Искам да се </a:t>
            </a:r>
            <a:r>
              <a:rPr lang="ru-RU" sz="1200" err="1">
                <a:ea typeface="+mn-lt"/>
                <a:cs typeface="+mn-lt"/>
              </a:rPr>
              <a:t>посъветвам</a:t>
            </a:r>
            <a:endParaRPr lang="bg-BG" sz="1200"/>
          </a:p>
        </p:txBody>
      </p:sp>
      <p:graphicFrame>
        <p:nvGraphicFramePr>
          <p:cNvPr id="9" name="Table 8">
            <a:extLst>
              <a:ext uri="{FF2B5EF4-FFF2-40B4-BE49-F238E27FC236}">
                <a16:creationId xmlns:a16="http://schemas.microsoft.com/office/drawing/2014/main" id="{A451AE40-5BD3-884A-2515-91587590FF44}"/>
              </a:ext>
            </a:extLst>
          </p:cNvPr>
          <p:cNvGraphicFramePr>
            <a:graphicFrameLocks noGrp="1"/>
          </p:cNvGraphicFramePr>
          <p:nvPr>
            <p:extLst>
              <p:ext uri="{D42A27DB-BD31-4B8C-83A1-F6EECF244321}">
                <p14:modId xmlns:p14="http://schemas.microsoft.com/office/powerpoint/2010/main" val="3022281588"/>
              </p:ext>
            </p:extLst>
          </p:nvPr>
        </p:nvGraphicFramePr>
        <p:xfrm>
          <a:off x="6208637" y="2927806"/>
          <a:ext cx="4608922" cy="3840480"/>
        </p:xfrm>
        <a:graphic>
          <a:graphicData uri="http://schemas.openxmlformats.org/drawingml/2006/table">
            <a:tbl>
              <a:tblPr bandRow="1">
                <a:tableStyleId>{5C22544A-7EE6-4342-B048-85BDC9FD1C3A}</a:tableStyleId>
              </a:tblPr>
              <a:tblGrid>
                <a:gridCol w="4608922">
                  <a:extLst>
                    <a:ext uri="{9D8B030D-6E8A-4147-A177-3AD203B41FA5}">
                      <a16:colId xmlns:a16="http://schemas.microsoft.com/office/drawing/2014/main" val="4228019074"/>
                    </a:ext>
                  </a:extLst>
                </a:gridCol>
              </a:tblGrid>
              <a:tr h="2148840">
                <a:tc>
                  <a:txBody>
                    <a:bodyPr/>
                    <a:lstStyle/>
                    <a:p>
                      <a:pPr>
                        <a:buNone/>
                      </a:pPr>
                      <a:r>
                        <a:rPr lang="az-Cyrl-AZ" dirty="0">
                          <a:effectLst/>
                        </a:rPr>
                        <a:t>Разбирам, че оскъпяването по кредитите Ви притеснява. Нека Ви разкажа как можете да контролирате това!  При нас може да се възползвате от кредит с предоставено обезпечение, двама гаранти или банкова гаранция. Ако желаете мога да ви разкажа повече и да предоставя примери със сума и период на погасяване./ Нека ви запозная с предимствата на нашата компания и вярвам, че ако ни сравните с други подобни институции, даже бихме били на първо място в списъка ви на предпочитания- личен КК, плащане навсякъде, без доп. Такси и т.н.</a:t>
                      </a:r>
                    </a:p>
                  </a:txBody>
                  <a:tcPr marL="0" marR="0" marT="0" marB="0" anchor="ctr">
                    <a:lnL>
                      <a:noFill/>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655273252"/>
                  </a:ext>
                </a:extLst>
              </a:tr>
            </a:tbl>
          </a:graphicData>
        </a:graphic>
      </p:graphicFrame>
    </p:spTree>
    <p:extLst>
      <p:ext uri="{BB962C8B-B14F-4D97-AF65-F5344CB8AC3E}">
        <p14:creationId xmlns:p14="http://schemas.microsoft.com/office/powerpoint/2010/main" val="37614800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F58C91-50FA-73D6-6F00-CC2DEB7979FE}"/>
            </a:ext>
          </a:extLst>
        </p:cNvPr>
        <p:cNvGrpSpPr/>
        <p:nvPr/>
      </p:nvGrpSpPr>
      <p:grpSpPr>
        <a:xfrm>
          <a:off x="0" y="0"/>
          <a:ext cx="0" cy="0"/>
          <a:chOff x="0" y="0"/>
          <a:chExt cx="0" cy="0"/>
        </a:xfrm>
      </p:grpSpPr>
      <p:sp>
        <p:nvSpPr>
          <p:cNvPr id="35" name="Rectangle 9">
            <a:extLst>
              <a:ext uri="{FF2B5EF4-FFF2-40B4-BE49-F238E27FC236}">
                <a16:creationId xmlns:a16="http://schemas.microsoft.com/office/drawing/2014/main" id="{D1AC9EEF-96C6-F4EF-D9A7-05857D15C1C3}"/>
              </a:ext>
            </a:extLst>
          </p:cNvPr>
          <p:cNvSpPr/>
          <p:nvPr/>
        </p:nvSpPr>
        <p:spPr>
          <a:xfrm>
            <a:off x="2189602" y="2540005"/>
            <a:ext cx="3480247" cy="1090188"/>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Представяне на целта</a:t>
            </a:r>
            <a:endParaRPr lang="en-GB" sz="1600"/>
          </a:p>
        </p:txBody>
      </p:sp>
      <p:sp>
        <p:nvSpPr>
          <p:cNvPr id="36" name="Rectangle 11">
            <a:extLst>
              <a:ext uri="{FF2B5EF4-FFF2-40B4-BE49-F238E27FC236}">
                <a16:creationId xmlns:a16="http://schemas.microsoft.com/office/drawing/2014/main" id="{33700EEC-C914-99CA-865D-076871A6CACF}"/>
              </a:ext>
            </a:extLst>
          </p:cNvPr>
          <p:cNvSpPr/>
          <p:nvPr/>
        </p:nvSpPr>
        <p:spPr>
          <a:xfrm>
            <a:off x="2189602" y="1322152"/>
            <a:ext cx="3480247" cy="1090188"/>
          </a:xfrm>
          <a:prstGeom prst="round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600"/>
              <a:t>Отваряне</a:t>
            </a:r>
            <a:endParaRPr lang="en-GB" sz="1600"/>
          </a:p>
        </p:txBody>
      </p:sp>
      <p:sp>
        <p:nvSpPr>
          <p:cNvPr id="37" name="Rectangle 13">
            <a:extLst>
              <a:ext uri="{FF2B5EF4-FFF2-40B4-BE49-F238E27FC236}">
                <a16:creationId xmlns:a16="http://schemas.microsoft.com/office/drawing/2014/main" id="{44D15994-CB3D-CB1D-4312-FD0E4053C30A}"/>
              </a:ext>
            </a:extLst>
          </p:cNvPr>
          <p:cNvSpPr/>
          <p:nvPr/>
        </p:nvSpPr>
        <p:spPr>
          <a:xfrm>
            <a:off x="2189602" y="3757858"/>
            <a:ext cx="3480247" cy="1090188"/>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Справяне с възражения</a:t>
            </a:r>
            <a:endParaRPr lang="en-GB" sz="1600"/>
          </a:p>
        </p:txBody>
      </p:sp>
      <p:sp>
        <p:nvSpPr>
          <p:cNvPr id="38" name="Rectangle 15">
            <a:extLst>
              <a:ext uri="{FF2B5EF4-FFF2-40B4-BE49-F238E27FC236}">
                <a16:creationId xmlns:a16="http://schemas.microsoft.com/office/drawing/2014/main" id="{EAC2D633-ADCC-8C0F-D977-48E6FB269453}"/>
              </a:ext>
            </a:extLst>
          </p:cNvPr>
          <p:cNvSpPr/>
          <p:nvPr/>
        </p:nvSpPr>
        <p:spPr>
          <a:xfrm>
            <a:off x="2189602" y="5007903"/>
            <a:ext cx="3480247" cy="1090188"/>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dirty="0"/>
              <a:t>Затваряне</a:t>
            </a:r>
            <a:endParaRPr lang="en-GB" sz="1600" dirty="0"/>
          </a:p>
        </p:txBody>
      </p:sp>
      <p:sp>
        <p:nvSpPr>
          <p:cNvPr id="27" name="Rectangle 28">
            <a:extLst>
              <a:ext uri="{FF2B5EF4-FFF2-40B4-BE49-F238E27FC236}">
                <a16:creationId xmlns:a16="http://schemas.microsoft.com/office/drawing/2014/main" id="{43C6F00D-3527-C1ED-4776-C9A71484DD21}"/>
              </a:ext>
            </a:extLst>
          </p:cNvPr>
          <p:cNvSpPr/>
          <p:nvPr/>
        </p:nvSpPr>
        <p:spPr>
          <a:xfrm>
            <a:off x="-15824" y="1599"/>
            <a:ext cx="1465320" cy="6859628"/>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400">
              <a:latin typeface="Aptos"/>
              <a:ea typeface="Calibri"/>
              <a:cs typeface="Calibri"/>
            </a:endParaRPr>
          </a:p>
        </p:txBody>
      </p:sp>
      <p:sp>
        <p:nvSpPr>
          <p:cNvPr id="29" name="Rectangle 29">
            <a:extLst>
              <a:ext uri="{FF2B5EF4-FFF2-40B4-BE49-F238E27FC236}">
                <a16:creationId xmlns:a16="http://schemas.microsoft.com/office/drawing/2014/main" id="{F63D4CEC-CA5A-A770-146E-14FFE7DFC2E8}"/>
              </a:ext>
            </a:extLst>
          </p:cNvPr>
          <p:cNvSpPr/>
          <p:nvPr/>
        </p:nvSpPr>
        <p:spPr>
          <a:xfrm>
            <a:off x="-1671" y="2528038"/>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Типове клиенти</a:t>
            </a:r>
            <a:endParaRPr lang="en-GB" sz="1400">
              <a:latin typeface="Aptos"/>
              <a:ea typeface="Calibri"/>
              <a:cs typeface="Calibri"/>
            </a:endParaRPr>
          </a:p>
        </p:txBody>
      </p:sp>
      <p:sp>
        <p:nvSpPr>
          <p:cNvPr id="30" name="Rectangle 30">
            <a:extLst>
              <a:ext uri="{FF2B5EF4-FFF2-40B4-BE49-F238E27FC236}">
                <a16:creationId xmlns:a16="http://schemas.microsoft.com/office/drawing/2014/main" id="{E3E2131F-9109-CC6E-7D34-FC9F43734CDB}"/>
              </a:ext>
            </a:extLst>
          </p:cNvPr>
          <p:cNvSpPr/>
          <p:nvPr/>
        </p:nvSpPr>
        <p:spPr>
          <a:xfrm>
            <a:off x="8626" y="1913210"/>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Сценарии</a:t>
            </a:r>
            <a:endParaRPr lang="en-GB" sz="1400">
              <a:latin typeface="Aptos"/>
              <a:ea typeface="Calibri"/>
              <a:cs typeface="Calibri"/>
            </a:endParaRPr>
          </a:p>
        </p:txBody>
      </p:sp>
      <p:sp>
        <p:nvSpPr>
          <p:cNvPr id="31" name="Rectangle 31">
            <a:extLst>
              <a:ext uri="{FF2B5EF4-FFF2-40B4-BE49-F238E27FC236}">
                <a16:creationId xmlns:a16="http://schemas.microsoft.com/office/drawing/2014/main" id="{8A3FE05C-7AA6-8162-5C13-AC971A6DB670}"/>
              </a:ext>
            </a:extLst>
          </p:cNvPr>
          <p:cNvSpPr/>
          <p:nvPr/>
        </p:nvSpPr>
        <p:spPr>
          <a:xfrm>
            <a:off x="-1671" y="1298382"/>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002060"/>
                </a:solidFill>
                <a:latin typeface="Aptos"/>
                <a:ea typeface="Calibri"/>
                <a:cs typeface="Calibri"/>
              </a:rPr>
              <a:t>Стъпки в обаждането</a:t>
            </a:r>
            <a:endParaRPr lang="en-GB" sz="1400">
              <a:solidFill>
                <a:srgbClr val="002060"/>
              </a:solidFill>
              <a:latin typeface="Aptos"/>
              <a:ea typeface="Calibri"/>
              <a:cs typeface="Calibri"/>
            </a:endParaRPr>
          </a:p>
        </p:txBody>
      </p:sp>
      <p:sp>
        <p:nvSpPr>
          <p:cNvPr id="32" name="Rectangle 3">
            <a:extLst>
              <a:ext uri="{FF2B5EF4-FFF2-40B4-BE49-F238E27FC236}">
                <a16:creationId xmlns:a16="http://schemas.microsoft.com/office/drawing/2014/main" id="{E87860EB-70CC-64DC-64A0-06BDEF1F688B}"/>
              </a:ext>
            </a:extLst>
          </p:cNvPr>
          <p:cNvSpPr/>
          <p:nvPr/>
        </p:nvSpPr>
        <p:spPr>
          <a:xfrm>
            <a:off x="1443475" y="4245"/>
            <a:ext cx="5338363" cy="67724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33" name="Rectangle 4">
            <a:extLst>
              <a:ext uri="{FF2B5EF4-FFF2-40B4-BE49-F238E27FC236}">
                <a16:creationId xmlns:a16="http://schemas.microsoft.com/office/drawing/2014/main" id="{DE0C7399-8455-D380-E522-A36FE6E03860}"/>
              </a:ext>
            </a:extLst>
          </p:cNvPr>
          <p:cNvSpPr/>
          <p:nvPr/>
        </p:nvSpPr>
        <p:spPr>
          <a:xfrm>
            <a:off x="6788435" y="4245"/>
            <a:ext cx="5417300" cy="677242"/>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34" name="Rectangle 28">
            <a:extLst>
              <a:ext uri="{FF2B5EF4-FFF2-40B4-BE49-F238E27FC236}">
                <a16:creationId xmlns:a16="http://schemas.microsoft.com/office/drawing/2014/main" id="{0BCDCBF9-F142-2E06-0F0E-8BBD37B4D7AC}"/>
              </a:ext>
            </a:extLst>
          </p:cNvPr>
          <p:cNvSpPr/>
          <p:nvPr/>
        </p:nvSpPr>
        <p:spPr>
          <a:xfrm>
            <a:off x="-15827" y="690328"/>
            <a:ext cx="1465322"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FFFFFF"/>
                </a:solidFill>
                <a:latin typeface="Aptos"/>
                <a:ea typeface="Calibri"/>
                <a:cs typeface="Calibri"/>
              </a:rPr>
              <a:t>Подготовка</a:t>
            </a:r>
            <a:endParaRPr lang="en-GB" sz="1400">
              <a:solidFill>
                <a:srgbClr val="FFFFFF"/>
              </a:solidFill>
              <a:latin typeface="Aptos"/>
              <a:ea typeface="Calibri"/>
              <a:cs typeface="Calibri"/>
            </a:endParaRPr>
          </a:p>
        </p:txBody>
      </p:sp>
      <p:pic>
        <p:nvPicPr>
          <p:cNvPr id="24" name="Picture 23">
            <a:extLst>
              <a:ext uri="{FF2B5EF4-FFF2-40B4-BE49-F238E27FC236}">
                <a16:creationId xmlns:a16="http://schemas.microsoft.com/office/drawing/2014/main" id="{29E0BC03-4B08-AA32-8D64-0DDA8CF8581F}"/>
              </a:ext>
            </a:extLst>
          </p:cNvPr>
          <p:cNvPicPr>
            <a:picLocks noChangeAspect="1"/>
          </p:cNvPicPr>
          <p:nvPr/>
        </p:nvPicPr>
        <p:blipFill>
          <a:blip r:embed="rId2"/>
          <a:stretch>
            <a:fillRect/>
          </a:stretch>
        </p:blipFill>
        <p:spPr>
          <a:xfrm>
            <a:off x="10883590" y="5621341"/>
            <a:ext cx="982751" cy="995681"/>
          </a:xfrm>
          <a:prstGeom prst="rect">
            <a:avLst/>
          </a:prstGeom>
        </p:spPr>
      </p:pic>
      <p:sp>
        <p:nvSpPr>
          <p:cNvPr id="10" name="Текстово поле 9">
            <a:extLst>
              <a:ext uri="{FF2B5EF4-FFF2-40B4-BE49-F238E27FC236}">
                <a16:creationId xmlns:a16="http://schemas.microsoft.com/office/drawing/2014/main" id="{3D229F22-A6B4-CD58-3287-16005BDB81CB}"/>
              </a:ext>
            </a:extLst>
          </p:cNvPr>
          <p:cNvSpPr txBox="1"/>
          <p:nvPr/>
        </p:nvSpPr>
        <p:spPr>
          <a:xfrm>
            <a:off x="5901715" y="1261473"/>
            <a:ext cx="5417299" cy="462201"/>
          </a:xfrm>
          <a:prstGeom prst="roundRect">
            <a:avLst>
              <a:gd name="adj" fmla="val 34673"/>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lvl1pPr>
              <a:defRPr b="1">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bg-BG"/>
              <a:t>Примерни възражения</a:t>
            </a:r>
          </a:p>
        </p:txBody>
      </p:sp>
      <p:sp>
        <p:nvSpPr>
          <p:cNvPr id="4" name="Rectangle: Rounded Corners 3">
            <a:extLst>
              <a:ext uri="{FF2B5EF4-FFF2-40B4-BE49-F238E27FC236}">
                <a16:creationId xmlns:a16="http://schemas.microsoft.com/office/drawing/2014/main" id="{A49F20A2-76CB-811F-0DDF-B23C233C6428}"/>
              </a:ext>
            </a:extLst>
          </p:cNvPr>
          <p:cNvSpPr/>
          <p:nvPr/>
        </p:nvSpPr>
        <p:spPr>
          <a:xfrm>
            <a:off x="6114419" y="1996058"/>
            <a:ext cx="2258337" cy="378045"/>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200">
                <a:ea typeface="+mn-lt"/>
                <a:cs typeface="+mn-lt"/>
              </a:rPr>
              <a:t>Вече </a:t>
            </a:r>
            <a:r>
              <a:rPr lang="ru-RU" sz="1200" err="1">
                <a:ea typeface="+mn-lt"/>
                <a:cs typeface="+mn-lt"/>
              </a:rPr>
              <a:t>изтеглих</a:t>
            </a:r>
            <a:r>
              <a:rPr lang="ru-RU" sz="1200">
                <a:ea typeface="+mn-lt"/>
                <a:cs typeface="+mn-lt"/>
              </a:rPr>
              <a:t> кредит</a:t>
            </a:r>
            <a:endParaRPr lang="bg-BG" sz="1200"/>
          </a:p>
        </p:txBody>
      </p:sp>
      <p:sp>
        <p:nvSpPr>
          <p:cNvPr id="6" name="Rectangle: Rounded Corners 5">
            <a:extLst>
              <a:ext uri="{FF2B5EF4-FFF2-40B4-BE49-F238E27FC236}">
                <a16:creationId xmlns:a16="http://schemas.microsoft.com/office/drawing/2014/main" id="{45E6CD11-C807-C5C7-6306-FCEB21AC5219}"/>
              </a:ext>
            </a:extLst>
          </p:cNvPr>
          <p:cNvSpPr/>
          <p:nvPr/>
        </p:nvSpPr>
        <p:spPr>
          <a:xfrm>
            <a:off x="6132841" y="2439738"/>
            <a:ext cx="2258337" cy="358524"/>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200" err="1">
                <a:ea typeface="+mn-lt"/>
                <a:cs typeface="+mn-lt"/>
              </a:rPr>
              <a:t>Високи</a:t>
            </a:r>
            <a:r>
              <a:rPr lang="ru-RU" sz="1200">
                <a:ea typeface="+mn-lt"/>
                <a:cs typeface="+mn-lt"/>
              </a:rPr>
              <a:t> </a:t>
            </a:r>
            <a:r>
              <a:rPr lang="ru-RU" sz="1200" err="1">
                <a:ea typeface="+mn-lt"/>
                <a:cs typeface="+mn-lt"/>
              </a:rPr>
              <a:t>са</a:t>
            </a:r>
            <a:r>
              <a:rPr lang="ru-RU" sz="1200">
                <a:ea typeface="+mn-lt"/>
                <a:cs typeface="+mn-lt"/>
              </a:rPr>
              <a:t> </a:t>
            </a:r>
            <a:r>
              <a:rPr lang="ru-RU" sz="1200" err="1">
                <a:ea typeface="+mn-lt"/>
                <a:cs typeface="+mn-lt"/>
              </a:rPr>
              <a:t>ви</a:t>
            </a:r>
            <a:r>
              <a:rPr lang="ru-RU" sz="1200">
                <a:ea typeface="+mn-lt"/>
                <a:cs typeface="+mn-lt"/>
              </a:rPr>
              <a:t> </a:t>
            </a:r>
            <a:r>
              <a:rPr lang="ru-RU" sz="1200" err="1">
                <a:ea typeface="+mn-lt"/>
                <a:cs typeface="+mn-lt"/>
              </a:rPr>
              <a:t>лихвите</a:t>
            </a:r>
            <a:endParaRPr lang="bg-BG" sz="1200"/>
          </a:p>
        </p:txBody>
      </p:sp>
      <p:sp>
        <p:nvSpPr>
          <p:cNvPr id="8" name="Rectangle: Rounded Corners 4">
            <a:extLst>
              <a:ext uri="{FF2B5EF4-FFF2-40B4-BE49-F238E27FC236}">
                <a16:creationId xmlns:a16="http://schemas.microsoft.com/office/drawing/2014/main" id="{2621E292-4890-DCC7-6528-2330FD677CD0}"/>
              </a:ext>
            </a:extLst>
          </p:cNvPr>
          <p:cNvSpPr/>
          <p:nvPr/>
        </p:nvSpPr>
        <p:spPr>
          <a:xfrm>
            <a:off x="8513098" y="2004030"/>
            <a:ext cx="2258337" cy="358524"/>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200" err="1">
                <a:ea typeface="+mn-lt"/>
                <a:cs typeface="+mn-lt"/>
              </a:rPr>
              <a:t>Нямам</a:t>
            </a:r>
            <a:r>
              <a:rPr lang="ru-RU" sz="1200">
                <a:ea typeface="+mn-lt"/>
                <a:cs typeface="+mn-lt"/>
              </a:rPr>
              <a:t> нужда</a:t>
            </a:r>
            <a:endParaRPr lang="bg-BG" sz="1200"/>
          </a:p>
        </p:txBody>
      </p:sp>
      <p:sp>
        <p:nvSpPr>
          <p:cNvPr id="11" name="Rectangle: Rounded Corners 4">
            <a:extLst>
              <a:ext uri="{FF2B5EF4-FFF2-40B4-BE49-F238E27FC236}">
                <a16:creationId xmlns:a16="http://schemas.microsoft.com/office/drawing/2014/main" id="{87010C22-7071-DF60-E0B1-A5D11C66B8CA}"/>
              </a:ext>
            </a:extLst>
          </p:cNvPr>
          <p:cNvSpPr/>
          <p:nvPr/>
        </p:nvSpPr>
        <p:spPr>
          <a:xfrm>
            <a:off x="8513098" y="2418437"/>
            <a:ext cx="2258337" cy="358524"/>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200">
                <a:ea typeface="+mn-lt"/>
                <a:cs typeface="+mn-lt"/>
              </a:rPr>
              <a:t>Искам да се </a:t>
            </a:r>
            <a:r>
              <a:rPr lang="ru-RU" sz="1200" err="1">
                <a:ea typeface="+mn-lt"/>
                <a:cs typeface="+mn-lt"/>
              </a:rPr>
              <a:t>посъветвам</a:t>
            </a:r>
            <a:endParaRPr lang="bg-BG" sz="1200"/>
          </a:p>
        </p:txBody>
      </p:sp>
      <p:graphicFrame>
        <p:nvGraphicFramePr>
          <p:cNvPr id="9" name="Table 8">
            <a:extLst>
              <a:ext uri="{FF2B5EF4-FFF2-40B4-BE49-F238E27FC236}">
                <a16:creationId xmlns:a16="http://schemas.microsoft.com/office/drawing/2014/main" id="{73A99EEA-1A89-CDBD-D651-524E59912F3F}"/>
              </a:ext>
            </a:extLst>
          </p:cNvPr>
          <p:cNvGraphicFramePr>
            <a:graphicFrameLocks noGrp="1"/>
          </p:cNvGraphicFramePr>
          <p:nvPr>
            <p:extLst>
              <p:ext uri="{D42A27DB-BD31-4B8C-83A1-F6EECF244321}">
                <p14:modId xmlns:p14="http://schemas.microsoft.com/office/powerpoint/2010/main" val="3118559921"/>
              </p:ext>
            </p:extLst>
          </p:nvPr>
        </p:nvGraphicFramePr>
        <p:xfrm>
          <a:off x="6137702" y="3090991"/>
          <a:ext cx="4721240" cy="2468880"/>
        </p:xfrm>
        <a:graphic>
          <a:graphicData uri="http://schemas.openxmlformats.org/drawingml/2006/table">
            <a:tbl>
              <a:tblPr bandRow="1">
                <a:tableStyleId>{5C22544A-7EE6-4342-B048-85BDC9FD1C3A}</a:tableStyleId>
              </a:tblPr>
              <a:tblGrid>
                <a:gridCol w="4721240">
                  <a:extLst>
                    <a:ext uri="{9D8B030D-6E8A-4147-A177-3AD203B41FA5}">
                      <a16:colId xmlns:a16="http://schemas.microsoft.com/office/drawing/2014/main" val="2184461408"/>
                    </a:ext>
                  </a:extLst>
                </a:gridCol>
              </a:tblGrid>
              <a:tr h="2148840">
                <a:tc>
                  <a:txBody>
                    <a:bodyPr/>
                    <a:lstStyle/>
                    <a:p>
                      <a:pPr>
                        <a:buNone/>
                      </a:pPr>
                      <a:r>
                        <a:rPr lang="az-Cyrl-AZ" dirty="0">
                          <a:effectLst/>
                        </a:rPr>
                        <a:t>Наистина, мнението на Вашите близки е от голямо значение, за вземането на подобно решение. Ще се радвам да обсъдим всички възможности, които предлагаме във лична среща. На срещата може да присъства и Вашето семейство. Вярвам, че тази среща ще Ви бъде изключително полезна при вземането на решение, защото ще получите, подробна и ясна информация.</a:t>
                      </a:r>
                    </a:p>
                  </a:txBody>
                  <a:tcPr marL="0" marR="0" marT="0" marB="0" anchor="ctr">
                    <a:lnL>
                      <a:noFill/>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166142014"/>
                  </a:ext>
                </a:extLst>
              </a:tr>
            </a:tbl>
          </a:graphicData>
        </a:graphic>
      </p:graphicFrame>
    </p:spTree>
    <p:extLst>
      <p:ext uri="{BB962C8B-B14F-4D97-AF65-F5344CB8AC3E}">
        <p14:creationId xmlns:p14="http://schemas.microsoft.com/office/powerpoint/2010/main" val="11200364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7B5C42-6A97-1343-996D-D7C177D8E762}"/>
            </a:ext>
          </a:extLst>
        </p:cNvPr>
        <p:cNvGrpSpPr/>
        <p:nvPr/>
      </p:nvGrpSpPr>
      <p:grpSpPr>
        <a:xfrm>
          <a:off x="0" y="0"/>
          <a:ext cx="0" cy="0"/>
          <a:chOff x="0" y="0"/>
          <a:chExt cx="0" cy="0"/>
        </a:xfrm>
      </p:grpSpPr>
      <p:sp>
        <p:nvSpPr>
          <p:cNvPr id="35" name="Rectangle 9">
            <a:extLst>
              <a:ext uri="{FF2B5EF4-FFF2-40B4-BE49-F238E27FC236}">
                <a16:creationId xmlns:a16="http://schemas.microsoft.com/office/drawing/2014/main" id="{C7698D9C-C420-4D07-B679-90FD2921AA50}"/>
              </a:ext>
            </a:extLst>
          </p:cNvPr>
          <p:cNvSpPr/>
          <p:nvPr/>
        </p:nvSpPr>
        <p:spPr>
          <a:xfrm>
            <a:off x="2189602" y="2540005"/>
            <a:ext cx="3480247" cy="1090188"/>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Представяне на целта</a:t>
            </a:r>
            <a:endParaRPr lang="en-GB" sz="1600"/>
          </a:p>
        </p:txBody>
      </p:sp>
      <p:sp>
        <p:nvSpPr>
          <p:cNvPr id="36" name="Rectangle 11">
            <a:extLst>
              <a:ext uri="{FF2B5EF4-FFF2-40B4-BE49-F238E27FC236}">
                <a16:creationId xmlns:a16="http://schemas.microsoft.com/office/drawing/2014/main" id="{15383093-D0C1-4159-9C3B-DF8D387D143C}"/>
              </a:ext>
            </a:extLst>
          </p:cNvPr>
          <p:cNvSpPr/>
          <p:nvPr/>
        </p:nvSpPr>
        <p:spPr>
          <a:xfrm>
            <a:off x="2189602" y="1322152"/>
            <a:ext cx="3480247" cy="1090188"/>
          </a:xfrm>
          <a:prstGeom prst="round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600"/>
              <a:t>Отваряне</a:t>
            </a:r>
            <a:endParaRPr lang="en-GB" sz="1600"/>
          </a:p>
        </p:txBody>
      </p:sp>
      <p:sp>
        <p:nvSpPr>
          <p:cNvPr id="37" name="Rectangle 13">
            <a:extLst>
              <a:ext uri="{FF2B5EF4-FFF2-40B4-BE49-F238E27FC236}">
                <a16:creationId xmlns:a16="http://schemas.microsoft.com/office/drawing/2014/main" id="{19B6695F-9ECD-4250-B52E-E5A7D67D46DB}"/>
              </a:ext>
            </a:extLst>
          </p:cNvPr>
          <p:cNvSpPr/>
          <p:nvPr/>
        </p:nvSpPr>
        <p:spPr>
          <a:xfrm>
            <a:off x="2189602" y="3757858"/>
            <a:ext cx="3480247" cy="1090188"/>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Справяне с възражения</a:t>
            </a:r>
            <a:endParaRPr lang="en-GB" sz="1600"/>
          </a:p>
        </p:txBody>
      </p:sp>
      <p:sp>
        <p:nvSpPr>
          <p:cNvPr id="38" name="Rectangle 15">
            <a:extLst>
              <a:ext uri="{FF2B5EF4-FFF2-40B4-BE49-F238E27FC236}">
                <a16:creationId xmlns:a16="http://schemas.microsoft.com/office/drawing/2014/main" id="{2CFB3566-70D7-4AC4-A45D-EBCB52C8DA76}"/>
              </a:ext>
            </a:extLst>
          </p:cNvPr>
          <p:cNvSpPr/>
          <p:nvPr/>
        </p:nvSpPr>
        <p:spPr>
          <a:xfrm>
            <a:off x="2189602" y="5007903"/>
            <a:ext cx="3480247" cy="1090188"/>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Затваряне</a:t>
            </a:r>
            <a:endParaRPr lang="en-GB" sz="1600"/>
          </a:p>
        </p:txBody>
      </p:sp>
      <p:sp>
        <p:nvSpPr>
          <p:cNvPr id="13" name="Rectangle: Rounded Corners 12">
            <a:extLst>
              <a:ext uri="{FF2B5EF4-FFF2-40B4-BE49-F238E27FC236}">
                <a16:creationId xmlns:a16="http://schemas.microsoft.com/office/drawing/2014/main" id="{415D3642-56F4-65DC-5170-A3E8B0BEE018}"/>
              </a:ext>
            </a:extLst>
          </p:cNvPr>
          <p:cNvSpPr/>
          <p:nvPr/>
        </p:nvSpPr>
        <p:spPr>
          <a:xfrm>
            <a:off x="6108394" y="4076382"/>
            <a:ext cx="2245942" cy="521657"/>
          </a:xfrm>
          <a:prstGeom prst="round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600"/>
              <a:t>Огледална</a:t>
            </a:r>
          </a:p>
        </p:txBody>
      </p:sp>
      <p:sp>
        <p:nvSpPr>
          <p:cNvPr id="18" name="Rectangle: Rounded Corners 12">
            <a:extLst>
              <a:ext uri="{FF2B5EF4-FFF2-40B4-BE49-F238E27FC236}">
                <a16:creationId xmlns:a16="http://schemas.microsoft.com/office/drawing/2014/main" id="{EFA21966-D5AD-AA61-563F-2A71CB81166B}"/>
              </a:ext>
            </a:extLst>
          </p:cNvPr>
          <p:cNvSpPr/>
          <p:nvPr/>
        </p:nvSpPr>
        <p:spPr>
          <a:xfrm>
            <a:off x="8459020" y="4079293"/>
            <a:ext cx="2245942" cy="521657"/>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600"/>
              <a:t>Алтернативна</a:t>
            </a:r>
            <a:endParaRPr lang="bg-BG" sz="2400"/>
          </a:p>
        </p:txBody>
      </p:sp>
      <p:sp>
        <p:nvSpPr>
          <p:cNvPr id="19" name="Текстово поле 18">
            <a:extLst>
              <a:ext uri="{FF2B5EF4-FFF2-40B4-BE49-F238E27FC236}">
                <a16:creationId xmlns:a16="http://schemas.microsoft.com/office/drawing/2014/main" id="{34A94455-B130-5B91-254C-94B94D0FDE5B}"/>
              </a:ext>
            </a:extLst>
          </p:cNvPr>
          <p:cNvSpPr txBox="1"/>
          <p:nvPr/>
        </p:nvSpPr>
        <p:spPr>
          <a:xfrm>
            <a:off x="6059000" y="3623140"/>
            <a:ext cx="397649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bg-BG" b="1"/>
              <a:t>Техники за справяне с възражения</a:t>
            </a:r>
          </a:p>
        </p:txBody>
      </p:sp>
      <p:sp>
        <p:nvSpPr>
          <p:cNvPr id="20" name="Rectangle: Rounded Corners 12">
            <a:extLst>
              <a:ext uri="{FF2B5EF4-FFF2-40B4-BE49-F238E27FC236}">
                <a16:creationId xmlns:a16="http://schemas.microsoft.com/office/drawing/2014/main" id="{CD23D57D-4C81-CD8A-BDE6-7F517E7B0F2A}"/>
              </a:ext>
            </a:extLst>
          </p:cNvPr>
          <p:cNvSpPr/>
          <p:nvPr/>
        </p:nvSpPr>
        <p:spPr>
          <a:xfrm>
            <a:off x="6108394" y="4708264"/>
            <a:ext cx="2245942" cy="521657"/>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600"/>
              <a:t>Относителна</a:t>
            </a:r>
            <a:endParaRPr lang="bg-BG" sz="2400"/>
          </a:p>
        </p:txBody>
      </p:sp>
      <p:sp>
        <p:nvSpPr>
          <p:cNvPr id="22" name="Rectangle: Rounded Corners 12">
            <a:extLst>
              <a:ext uri="{FF2B5EF4-FFF2-40B4-BE49-F238E27FC236}">
                <a16:creationId xmlns:a16="http://schemas.microsoft.com/office/drawing/2014/main" id="{C3D3AF71-0E23-AC77-60C5-4894BED1A33C}"/>
              </a:ext>
            </a:extLst>
          </p:cNvPr>
          <p:cNvSpPr/>
          <p:nvPr/>
        </p:nvSpPr>
        <p:spPr>
          <a:xfrm>
            <a:off x="8459020" y="4706322"/>
            <a:ext cx="2245942" cy="521657"/>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600"/>
              <a:t>Тирбушон</a:t>
            </a:r>
            <a:endParaRPr lang="bg-BG" sz="2400"/>
          </a:p>
        </p:txBody>
      </p:sp>
      <p:sp>
        <p:nvSpPr>
          <p:cNvPr id="15" name="Балонче за говор: правоъгълник със заоблени ъгли 14">
            <a:extLst>
              <a:ext uri="{FF2B5EF4-FFF2-40B4-BE49-F238E27FC236}">
                <a16:creationId xmlns:a16="http://schemas.microsoft.com/office/drawing/2014/main" id="{9B5DD290-1F4A-8A0D-F2B1-5B2742564431}"/>
              </a:ext>
            </a:extLst>
          </p:cNvPr>
          <p:cNvSpPr/>
          <p:nvPr/>
        </p:nvSpPr>
        <p:spPr>
          <a:xfrm rot="10800000" flipV="1">
            <a:off x="6095999" y="5333350"/>
            <a:ext cx="4608961" cy="1216462"/>
          </a:xfrm>
          <a:prstGeom prst="roundRect">
            <a:avLst>
              <a:gd name="adj" fmla="val 14834"/>
            </a:avLst>
          </a:prstGeom>
          <a:solidFill>
            <a:schemeClr val="bg1"/>
          </a:solidFill>
          <a:ln>
            <a:noFill/>
          </a:ln>
          <a:effectLst>
            <a:outerShdw blurRad="50800" dist="38100" dir="5400000" algn="t" rotWithShape="0">
              <a:prstClr val="black">
                <a:alpha val="40000"/>
              </a:prstClr>
            </a:outerShdw>
          </a:effectLst>
        </p:spPr>
        <p:style>
          <a:lnRef idx="1">
            <a:schemeClr val="accent4"/>
          </a:lnRef>
          <a:fillRef idx="2">
            <a:schemeClr val="accent4"/>
          </a:fillRef>
          <a:effectRef idx="1">
            <a:schemeClr val="accent4"/>
          </a:effectRef>
          <a:fontRef idx="minor">
            <a:schemeClr val="dk1"/>
          </a:fontRef>
        </p:style>
        <p:txBody>
          <a:bodyPr rtlCol="0" anchor="ctr"/>
          <a:lstStyle/>
          <a:p>
            <a:r>
              <a:rPr lang="ru-RU" sz="1400" b="1"/>
              <a:t>Огледална</a:t>
            </a:r>
            <a:br>
              <a:rPr lang="ru-RU" sz="1400"/>
            </a:br>
            <a:r>
              <a:rPr lang="ru-RU" sz="1400"/>
              <a:t>Отразяваш притеснението на клиента, за да покажеш, че си го разбрал.</a:t>
            </a:r>
            <a:br>
              <a:rPr lang="ru-RU" sz="1400"/>
            </a:br>
            <a:r>
              <a:rPr lang="ru-RU" sz="1400" b="1"/>
              <a:t>Пример:</a:t>
            </a:r>
            <a:r>
              <a:rPr lang="ru-RU" sz="1400"/>
              <a:t> „Разбирам, че за Вас е важно да видите дали това реално си заслужава.“</a:t>
            </a:r>
            <a:endParaRPr lang="ru-RU" sz="1400" b="1"/>
          </a:p>
        </p:txBody>
      </p:sp>
      <p:sp>
        <p:nvSpPr>
          <p:cNvPr id="27" name="Rectangle 28">
            <a:extLst>
              <a:ext uri="{FF2B5EF4-FFF2-40B4-BE49-F238E27FC236}">
                <a16:creationId xmlns:a16="http://schemas.microsoft.com/office/drawing/2014/main" id="{9DDDC666-13FA-4E52-BB2A-45CC71E1C0FD}"/>
              </a:ext>
            </a:extLst>
          </p:cNvPr>
          <p:cNvSpPr/>
          <p:nvPr/>
        </p:nvSpPr>
        <p:spPr>
          <a:xfrm>
            <a:off x="-15824" y="1599"/>
            <a:ext cx="1465320" cy="6859628"/>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400">
              <a:latin typeface="Aptos"/>
              <a:ea typeface="Calibri"/>
              <a:cs typeface="Calibri"/>
            </a:endParaRPr>
          </a:p>
        </p:txBody>
      </p:sp>
      <p:sp>
        <p:nvSpPr>
          <p:cNvPr id="29" name="Rectangle 29">
            <a:extLst>
              <a:ext uri="{FF2B5EF4-FFF2-40B4-BE49-F238E27FC236}">
                <a16:creationId xmlns:a16="http://schemas.microsoft.com/office/drawing/2014/main" id="{28B2CE6B-2A54-4A37-81FC-5CCB26500CFA}"/>
              </a:ext>
            </a:extLst>
          </p:cNvPr>
          <p:cNvSpPr/>
          <p:nvPr/>
        </p:nvSpPr>
        <p:spPr>
          <a:xfrm>
            <a:off x="-1671" y="2528038"/>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Типове клиенти</a:t>
            </a:r>
            <a:endParaRPr lang="en-GB" sz="1400">
              <a:latin typeface="Aptos"/>
              <a:ea typeface="Calibri"/>
              <a:cs typeface="Calibri"/>
            </a:endParaRPr>
          </a:p>
        </p:txBody>
      </p:sp>
      <p:sp>
        <p:nvSpPr>
          <p:cNvPr id="30" name="Rectangle 30">
            <a:extLst>
              <a:ext uri="{FF2B5EF4-FFF2-40B4-BE49-F238E27FC236}">
                <a16:creationId xmlns:a16="http://schemas.microsoft.com/office/drawing/2014/main" id="{55149B60-E845-416F-87FA-960338FD98EE}"/>
              </a:ext>
            </a:extLst>
          </p:cNvPr>
          <p:cNvSpPr/>
          <p:nvPr/>
        </p:nvSpPr>
        <p:spPr>
          <a:xfrm>
            <a:off x="8626" y="1913210"/>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Сценарии</a:t>
            </a:r>
            <a:endParaRPr lang="en-GB" sz="1400">
              <a:latin typeface="Aptos"/>
              <a:ea typeface="Calibri"/>
              <a:cs typeface="Calibri"/>
            </a:endParaRPr>
          </a:p>
        </p:txBody>
      </p:sp>
      <p:sp>
        <p:nvSpPr>
          <p:cNvPr id="31" name="Rectangle 31">
            <a:extLst>
              <a:ext uri="{FF2B5EF4-FFF2-40B4-BE49-F238E27FC236}">
                <a16:creationId xmlns:a16="http://schemas.microsoft.com/office/drawing/2014/main" id="{509A4C62-985A-407E-8BF0-0A69E411A3B5}"/>
              </a:ext>
            </a:extLst>
          </p:cNvPr>
          <p:cNvSpPr/>
          <p:nvPr/>
        </p:nvSpPr>
        <p:spPr>
          <a:xfrm>
            <a:off x="-1671" y="1298382"/>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002060"/>
                </a:solidFill>
                <a:latin typeface="Aptos"/>
                <a:ea typeface="Calibri"/>
                <a:cs typeface="Calibri"/>
              </a:rPr>
              <a:t>Стъпки в обаждането</a:t>
            </a:r>
            <a:endParaRPr lang="en-GB" sz="1400">
              <a:solidFill>
                <a:srgbClr val="002060"/>
              </a:solidFill>
              <a:latin typeface="Aptos"/>
              <a:ea typeface="Calibri"/>
              <a:cs typeface="Calibri"/>
            </a:endParaRPr>
          </a:p>
        </p:txBody>
      </p:sp>
      <p:sp>
        <p:nvSpPr>
          <p:cNvPr id="32" name="Rectangle 3">
            <a:extLst>
              <a:ext uri="{FF2B5EF4-FFF2-40B4-BE49-F238E27FC236}">
                <a16:creationId xmlns:a16="http://schemas.microsoft.com/office/drawing/2014/main" id="{B2742AEE-5DB8-47E2-942B-E397B034469D}"/>
              </a:ext>
            </a:extLst>
          </p:cNvPr>
          <p:cNvSpPr/>
          <p:nvPr/>
        </p:nvSpPr>
        <p:spPr>
          <a:xfrm>
            <a:off x="1443475" y="4245"/>
            <a:ext cx="5338363" cy="67724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33" name="Rectangle 4">
            <a:extLst>
              <a:ext uri="{FF2B5EF4-FFF2-40B4-BE49-F238E27FC236}">
                <a16:creationId xmlns:a16="http://schemas.microsoft.com/office/drawing/2014/main" id="{87380B5D-60D8-4999-AB99-4F1A7FC68AF5}"/>
              </a:ext>
            </a:extLst>
          </p:cNvPr>
          <p:cNvSpPr/>
          <p:nvPr/>
        </p:nvSpPr>
        <p:spPr>
          <a:xfrm>
            <a:off x="6788435" y="4245"/>
            <a:ext cx="5417300" cy="677242"/>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34" name="Rectangle 28">
            <a:extLst>
              <a:ext uri="{FF2B5EF4-FFF2-40B4-BE49-F238E27FC236}">
                <a16:creationId xmlns:a16="http://schemas.microsoft.com/office/drawing/2014/main" id="{57819605-D583-4894-A3E5-E0FFBC26A42E}"/>
              </a:ext>
            </a:extLst>
          </p:cNvPr>
          <p:cNvSpPr/>
          <p:nvPr/>
        </p:nvSpPr>
        <p:spPr>
          <a:xfrm>
            <a:off x="-15827" y="690328"/>
            <a:ext cx="1465322"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FFFFFF"/>
                </a:solidFill>
                <a:latin typeface="Aptos"/>
                <a:ea typeface="Calibri"/>
                <a:cs typeface="Calibri"/>
              </a:rPr>
              <a:t>Подготовка</a:t>
            </a:r>
            <a:endParaRPr lang="en-GB" sz="1400">
              <a:solidFill>
                <a:srgbClr val="FFFFFF"/>
              </a:solidFill>
              <a:latin typeface="Aptos"/>
              <a:ea typeface="Calibri"/>
              <a:cs typeface="Calibri"/>
            </a:endParaRPr>
          </a:p>
        </p:txBody>
      </p:sp>
      <p:pic>
        <p:nvPicPr>
          <p:cNvPr id="24" name="Picture 23">
            <a:extLst>
              <a:ext uri="{FF2B5EF4-FFF2-40B4-BE49-F238E27FC236}">
                <a16:creationId xmlns:a16="http://schemas.microsoft.com/office/drawing/2014/main" id="{2581D73F-49A9-46A8-A729-F7AF535F9730}"/>
              </a:ext>
            </a:extLst>
          </p:cNvPr>
          <p:cNvPicPr>
            <a:picLocks noChangeAspect="1"/>
          </p:cNvPicPr>
          <p:nvPr/>
        </p:nvPicPr>
        <p:blipFill>
          <a:blip r:embed="rId2"/>
          <a:stretch>
            <a:fillRect/>
          </a:stretch>
        </p:blipFill>
        <p:spPr>
          <a:xfrm>
            <a:off x="10883590" y="5621341"/>
            <a:ext cx="982751" cy="995681"/>
          </a:xfrm>
          <a:prstGeom prst="rect">
            <a:avLst/>
          </a:prstGeom>
        </p:spPr>
      </p:pic>
      <p:sp>
        <p:nvSpPr>
          <p:cNvPr id="26" name="Rectangle: Rounded Corners 10">
            <a:extLst>
              <a:ext uri="{FF2B5EF4-FFF2-40B4-BE49-F238E27FC236}">
                <a16:creationId xmlns:a16="http://schemas.microsoft.com/office/drawing/2014/main" id="{5BB79EA3-040C-0012-4F8E-1F650D544BC7}"/>
              </a:ext>
            </a:extLst>
          </p:cNvPr>
          <p:cNvSpPr/>
          <p:nvPr/>
        </p:nvSpPr>
        <p:spPr>
          <a:xfrm>
            <a:off x="6000095" y="1524938"/>
            <a:ext cx="4711355" cy="882087"/>
          </a:xfrm>
          <a:prstGeom prst="roundRect">
            <a:avLst>
              <a:gd name="adj" fmla="val 6804"/>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285750" indent="-285750">
              <a:buFont typeface="Arial" panose="020B0604020202020204" pitchFamily="34" charset="0"/>
              <a:buChar char="•"/>
            </a:pPr>
            <a:r>
              <a:rPr lang="ru-RU" sz="1400" err="1"/>
              <a:t>Проява</a:t>
            </a:r>
            <a:r>
              <a:rPr lang="ru-RU" sz="1400"/>
              <a:t> на </a:t>
            </a:r>
            <a:r>
              <a:rPr lang="ru-RU" sz="1400" err="1"/>
              <a:t>разбиране</a:t>
            </a:r>
            <a:r>
              <a:rPr lang="ru-RU" sz="1400"/>
              <a:t>.</a:t>
            </a:r>
          </a:p>
          <a:p>
            <a:pPr marL="285750" indent="-285750">
              <a:buFont typeface="Arial" panose="020B0604020202020204" pitchFamily="34" charset="0"/>
              <a:buChar char="•"/>
            </a:pPr>
            <a:r>
              <a:rPr lang="ru-RU" sz="1400"/>
              <a:t>Отговор с </a:t>
            </a:r>
            <a:r>
              <a:rPr lang="ru-RU" sz="1400" err="1"/>
              <a:t>полза</a:t>
            </a:r>
            <a:r>
              <a:rPr lang="ru-RU" sz="1400"/>
              <a:t> за клиента.</a:t>
            </a:r>
          </a:p>
          <a:p>
            <a:pPr marL="285750" indent="-285750">
              <a:buFont typeface="Arial" panose="020B0604020202020204" pitchFamily="34" charset="0"/>
              <a:buChar char="•"/>
            </a:pPr>
            <a:r>
              <a:rPr lang="ru-RU" sz="1400" err="1"/>
              <a:t>Потвърждение</a:t>
            </a:r>
            <a:r>
              <a:rPr lang="ru-RU" sz="1400"/>
              <a:t>, че </a:t>
            </a:r>
            <a:r>
              <a:rPr lang="ru-RU" sz="1400" err="1"/>
              <a:t>отговорът</a:t>
            </a:r>
            <a:r>
              <a:rPr lang="ru-RU" sz="1400"/>
              <a:t> </a:t>
            </a:r>
            <a:r>
              <a:rPr lang="ru-RU" sz="1400" err="1"/>
              <a:t>ти</a:t>
            </a:r>
            <a:r>
              <a:rPr lang="ru-RU" sz="1400"/>
              <a:t> е бил удовлетворителен и </a:t>
            </a:r>
            <a:r>
              <a:rPr lang="ru-RU" sz="1400" err="1"/>
              <a:t>преминаване</a:t>
            </a:r>
            <a:r>
              <a:rPr lang="ru-RU" sz="1400"/>
              <a:t> </a:t>
            </a:r>
            <a:r>
              <a:rPr lang="ru-RU" sz="1400" err="1"/>
              <a:t>към</a:t>
            </a:r>
            <a:r>
              <a:rPr lang="ru-RU" sz="1400"/>
              <a:t> </a:t>
            </a:r>
            <a:r>
              <a:rPr lang="ru-RU" sz="1400" err="1"/>
              <a:t>затваряне</a:t>
            </a:r>
            <a:r>
              <a:rPr lang="ru-RU" sz="1400"/>
              <a:t>.</a:t>
            </a:r>
          </a:p>
        </p:txBody>
      </p:sp>
      <p:sp>
        <p:nvSpPr>
          <p:cNvPr id="40" name="Текстово поле 9">
            <a:extLst>
              <a:ext uri="{FF2B5EF4-FFF2-40B4-BE49-F238E27FC236}">
                <a16:creationId xmlns:a16="http://schemas.microsoft.com/office/drawing/2014/main" id="{F47F81BA-C256-A069-5BAF-93DBA069A3FF}"/>
              </a:ext>
            </a:extLst>
          </p:cNvPr>
          <p:cNvSpPr txBox="1"/>
          <p:nvPr/>
        </p:nvSpPr>
        <p:spPr>
          <a:xfrm>
            <a:off x="6081069" y="2407103"/>
            <a:ext cx="5417299" cy="462201"/>
          </a:xfrm>
          <a:prstGeom prst="roundRect">
            <a:avLst>
              <a:gd name="adj" fmla="val 34673"/>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lvl1pPr>
              <a:defRPr b="1">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bg-BG"/>
              <a:t>Примерни възражения</a:t>
            </a:r>
          </a:p>
        </p:txBody>
      </p:sp>
      <p:sp>
        <p:nvSpPr>
          <p:cNvPr id="42" name="Rectangle: Rounded Corners 41">
            <a:extLst>
              <a:ext uri="{FF2B5EF4-FFF2-40B4-BE49-F238E27FC236}">
                <a16:creationId xmlns:a16="http://schemas.microsoft.com/office/drawing/2014/main" id="{DA477005-894E-F44F-D385-1E5EC3917F73}"/>
              </a:ext>
            </a:extLst>
          </p:cNvPr>
          <p:cNvSpPr/>
          <p:nvPr/>
        </p:nvSpPr>
        <p:spPr>
          <a:xfrm>
            <a:off x="6057553" y="2838876"/>
            <a:ext cx="2258337" cy="378045"/>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200">
                <a:ea typeface="+mn-lt"/>
                <a:cs typeface="+mn-lt"/>
              </a:rPr>
              <a:t>Вече </a:t>
            </a:r>
            <a:r>
              <a:rPr lang="ru-RU" sz="1200" err="1">
                <a:ea typeface="+mn-lt"/>
                <a:cs typeface="+mn-lt"/>
              </a:rPr>
              <a:t>изтеглих</a:t>
            </a:r>
            <a:r>
              <a:rPr lang="ru-RU" sz="1200">
                <a:ea typeface="+mn-lt"/>
                <a:cs typeface="+mn-lt"/>
              </a:rPr>
              <a:t> кредит</a:t>
            </a:r>
            <a:endParaRPr lang="bg-BG" sz="1200"/>
          </a:p>
        </p:txBody>
      </p:sp>
      <p:sp>
        <p:nvSpPr>
          <p:cNvPr id="44" name="Rectangle: Rounded Corners 43">
            <a:extLst>
              <a:ext uri="{FF2B5EF4-FFF2-40B4-BE49-F238E27FC236}">
                <a16:creationId xmlns:a16="http://schemas.microsoft.com/office/drawing/2014/main" id="{75224E17-1F69-8D20-33B5-A2EE42473118}"/>
              </a:ext>
            </a:extLst>
          </p:cNvPr>
          <p:cNvSpPr/>
          <p:nvPr/>
        </p:nvSpPr>
        <p:spPr>
          <a:xfrm>
            <a:off x="6075975" y="3282556"/>
            <a:ext cx="2258337" cy="358524"/>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200" err="1">
                <a:ea typeface="+mn-lt"/>
                <a:cs typeface="+mn-lt"/>
              </a:rPr>
              <a:t>Високи</a:t>
            </a:r>
            <a:r>
              <a:rPr lang="ru-RU" sz="1200">
                <a:ea typeface="+mn-lt"/>
                <a:cs typeface="+mn-lt"/>
              </a:rPr>
              <a:t> </a:t>
            </a:r>
            <a:r>
              <a:rPr lang="ru-RU" sz="1200" err="1">
                <a:ea typeface="+mn-lt"/>
                <a:cs typeface="+mn-lt"/>
              </a:rPr>
              <a:t>са</a:t>
            </a:r>
            <a:r>
              <a:rPr lang="ru-RU" sz="1200">
                <a:ea typeface="+mn-lt"/>
                <a:cs typeface="+mn-lt"/>
              </a:rPr>
              <a:t> </a:t>
            </a:r>
            <a:r>
              <a:rPr lang="ru-RU" sz="1200" err="1">
                <a:ea typeface="+mn-lt"/>
                <a:cs typeface="+mn-lt"/>
              </a:rPr>
              <a:t>ви</a:t>
            </a:r>
            <a:r>
              <a:rPr lang="ru-RU" sz="1200">
                <a:ea typeface="+mn-lt"/>
                <a:cs typeface="+mn-lt"/>
              </a:rPr>
              <a:t> </a:t>
            </a:r>
            <a:r>
              <a:rPr lang="ru-RU" sz="1200" err="1">
                <a:ea typeface="+mn-lt"/>
                <a:cs typeface="+mn-lt"/>
              </a:rPr>
              <a:t>лихвите</a:t>
            </a:r>
            <a:endParaRPr lang="bg-BG" sz="1200"/>
          </a:p>
        </p:txBody>
      </p:sp>
      <p:sp>
        <p:nvSpPr>
          <p:cNvPr id="46" name="Rectangle: Rounded Corners 4">
            <a:extLst>
              <a:ext uri="{FF2B5EF4-FFF2-40B4-BE49-F238E27FC236}">
                <a16:creationId xmlns:a16="http://schemas.microsoft.com/office/drawing/2014/main" id="{1803AB06-1586-CDD5-C8F2-7A451237CE7C}"/>
              </a:ext>
            </a:extLst>
          </p:cNvPr>
          <p:cNvSpPr/>
          <p:nvPr/>
        </p:nvSpPr>
        <p:spPr>
          <a:xfrm>
            <a:off x="8456232" y="2846848"/>
            <a:ext cx="2258337" cy="358524"/>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200" err="1">
                <a:ea typeface="+mn-lt"/>
                <a:cs typeface="+mn-lt"/>
              </a:rPr>
              <a:t>Нямам</a:t>
            </a:r>
            <a:r>
              <a:rPr lang="ru-RU" sz="1200">
                <a:ea typeface="+mn-lt"/>
                <a:cs typeface="+mn-lt"/>
              </a:rPr>
              <a:t> нужда</a:t>
            </a:r>
            <a:endParaRPr lang="bg-BG" sz="1200"/>
          </a:p>
        </p:txBody>
      </p:sp>
      <p:sp>
        <p:nvSpPr>
          <p:cNvPr id="48" name="Rectangle: Rounded Corners 4">
            <a:extLst>
              <a:ext uri="{FF2B5EF4-FFF2-40B4-BE49-F238E27FC236}">
                <a16:creationId xmlns:a16="http://schemas.microsoft.com/office/drawing/2014/main" id="{5BB1F81D-98BA-9F70-823C-A2C098B0CCAB}"/>
              </a:ext>
            </a:extLst>
          </p:cNvPr>
          <p:cNvSpPr/>
          <p:nvPr/>
        </p:nvSpPr>
        <p:spPr>
          <a:xfrm>
            <a:off x="8456232" y="3261255"/>
            <a:ext cx="2258337" cy="358524"/>
          </a:xfrm>
          <a:prstGeom prst="roundRect">
            <a:avLst/>
          </a:prstGeom>
          <a:solidFill>
            <a:schemeClr val="bg1">
              <a:lumMod val="65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200">
                <a:ea typeface="+mn-lt"/>
                <a:cs typeface="+mn-lt"/>
              </a:rPr>
              <a:t>Искам да се </a:t>
            </a:r>
            <a:r>
              <a:rPr lang="ru-RU" sz="1200" err="1">
                <a:ea typeface="+mn-lt"/>
                <a:cs typeface="+mn-lt"/>
              </a:rPr>
              <a:t>посъветвам</a:t>
            </a:r>
            <a:endParaRPr lang="bg-BG" sz="1200"/>
          </a:p>
        </p:txBody>
      </p:sp>
      <p:sp>
        <p:nvSpPr>
          <p:cNvPr id="52" name="TextBox 51">
            <a:extLst>
              <a:ext uri="{FF2B5EF4-FFF2-40B4-BE49-F238E27FC236}">
                <a16:creationId xmlns:a16="http://schemas.microsoft.com/office/drawing/2014/main" id="{739AE848-81B0-FABD-C5A3-25F518C943DE}"/>
              </a:ext>
            </a:extLst>
          </p:cNvPr>
          <p:cNvSpPr txBox="1"/>
          <p:nvPr/>
        </p:nvSpPr>
        <p:spPr>
          <a:xfrm>
            <a:off x="6002134" y="1121232"/>
            <a:ext cx="611124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lvl1pPr>
              <a:defRPr b="1"/>
            </a:lvl1pPr>
          </a:lstStyle>
          <a:p>
            <a:r>
              <a:rPr lang="ru-RU" err="1"/>
              <a:t>Какво</a:t>
            </a:r>
            <a:r>
              <a:rPr lang="ru-RU"/>
              <a:t> </a:t>
            </a:r>
            <a:r>
              <a:rPr lang="ru-RU" err="1"/>
              <a:t>включва</a:t>
            </a:r>
            <a:r>
              <a:rPr lang="ru-RU"/>
              <a:t> </a:t>
            </a:r>
            <a:r>
              <a:rPr lang="ru-RU" err="1"/>
              <a:t>този</a:t>
            </a:r>
            <a:r>
              <a:rPr lang="ru-RU"/>
              <a:t> </a:t>
            </a:r>
            <a:r>
              <a:rPr lang="ru-RU" err="1"/>
              <a:t>етап</a:t>
            </a:r>
            <a:r>
              <a:rPr lang="ru-RU"/>
              <a:t>:</a:t>
            </a:r>
          </a:p>
        </p:txBody>
      </p:sp>
    </p:spTree>
    <p:extLst>
      <p:ext uri="{BB962C8B-B14F-4D97-AF65-F5344CB8AC3E}">
        <p14:creationId xmlns:p14="http://schemas.microsoft.com/office/powerpoint/2010/main" val="15921362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7B5C42-6A97-1343-996D-D7C177D8E762}"/>
            </a:ext>
          </a:extLst>
        </p:cNvPr>
        <p:cNvGrpSpPr/>
        <p:nvPr/>
      </p:nvGrpSpPr>
      <p:grpSpPr>
        <a:xfrm>
          <a:off x="0" y="0"/>
          <a:ext cx="0" cy="0"/>
          <a:chOff x="0" y="0"/>
          <a:chExt cx="0" cy="0"/>
        </a:xfrm>
      </p:grpSpPr>
      <p:sp>
        <p:nvSpPr>
          <p:cNvPr id="35" name="Rectangle 9">
            <a:extLst>
              <a:ext uri="{FF2B5EF4-FFF2-40B4-BE49-F238E27FC236}">
                <a16:creationId xmlns:a16="http://schemas.microsoft.com/office/drawing/2014/main" id="{C7698D9C-C420-4D07-B679-90FD2921AA50}"/>
              </a:ext>
            </a:extLst>
          </p:cNvPr>
          <p:cNvSpPr/>
          <p:nvPr/>
        </p:nvSpPr>
        <p:spPr>
          <a:xfrm>
            <a:off x="2189602" y="2540005"/>
            <a:ext cx="3480247" cy="1090188"/>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Представяне на целта</a:t>
            </a:r>
            <a:endParaRPr lang="en-GB" sz="1600"/>
          </a:p>
        </p:txBody>
      </p:sp>
      <p:sp>
        <p:nvSpPr>
          <p:cNvPr id="36" name="Rectangle 11">
            <a:extLst>
              <a:ext uri="{FF2B5EF4-FFF2-40B4-BE49-F238E27FC236}">
                <a16:creationId xmlns:a16="http://schemas.microsoft.com/office/drawing/2014/main" id="{15383093-D0C1-4159-9C3B-DF8D387D143C}"/>
              </a:ext>
            </a:extLst>
          </p:cNvPr>
          <p:cNvSpPr/>
          <p:nvPr/>
        </p:nvSpPr>
        <p:spPr>
          <a:xfrm>
            <a:off x="2189602" y="1322152"/>
            <a:ext cx="3480247" cy="1090188"/>
          </a:xfrm>
          <a:prstGeom prst="round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600"/>
              <a:t>Отваряне</a:t>
            </a:r>
            <a:endParaRPr lang="en-GB" sz="1600"/>
          </a:p>
        </p:txBody>
      </p:sp>
      <p:sp>
        <p:nvSpPr>
          <p:cNvPr id="37" name="Rectangle 13">
            <a:extLst>
              <a:ext uri="{FF2B5EF4-FFF2-40B4-BE49-F238E27FC236}">
                <a16:creationId xmlns:a16="http://schemas.microsoft.com/office/drawing/2014/main" id="{19B6695F-9ECD-4250-B52E-E5A7D67D46DB}"/>
              </a:ext>
            </a:extLst>
          </p:cNvPr>
          <p:cNvSpPr/>
          <p:nvPr/>
        </p:nvSpPr>
        <p:spPr>
          <a:xfrm>
            <a:off x="2189602" y="3757858"/>
            <a:ext cx="3480247" cy="1090188"/>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Справяне с възражения</a:t>
            </a:r>
            <a:endParaRPr lang="en-GB" sz="1600"/>
          </a:p>
        </p:txBody>
      </p:sp>
      <p:sp>
        <p:nvSpPr>
          <p:cNvPr id="38" name="Rectangle 15">
            <a:extLst>
              <a:ext uri="{FF2B5EF4-FFF2-40B4-BE49-F238E27FC236}">
                <a16:creationId xmlns:a16="http://schemas.microsoft.com/office/drawing/2014/main" id="{2CFB3566-70D7-4AC4-A45D-EBCB52C8DA76}"/>
              </a:ext>
            </a:extLst>
          </p:cNvPr>
          <p:cNvSpPr/>
          <p:nvPr/>
        </p:nvSpPr>
        <p:spPr>
          <a:xfrm>
            <a:off x="2189602" y="5007903"/>
            <a:ext cx="3480247" cy="1090188"/>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Затваряне</a:t>
            </a:r>
            <a:endParaRPr lang="en-GB" sz="1600"/>
          </a:p>
        </p:txBody>
      </p:sp>
      <p:sp>
        <p:nvSpPr>
          <p:cNvPr id="13" name="Rectangle: Rounded Corners 12">
            <a:extLst>
              <a:ext uri="{FF2B5EF4-FFF2-40B4-BE49-F238E27FC236}">
                <a16:creationId xmlns:a16="http://schemas.microsoft.com/office/drawing/2014/main" id="{415D3642-56F4-65DC-5170-A3E8B0BEE018}"/>
              </a:ext>
            </a:extLst>
          </p:cNvPr>
          <p:cNvSpPr/>
          <p:nvPr/>
        </p:nvSpPr>
        <p:spPr>
          <a:xfrm>
            <a:off x="6108394" y="4076382"/>
            <a:ext cx="2245942" cy="521657"/>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600"/>
              <a:t>Огледална</a:t>
            </a:r>
          </a:p>
        </p:txBody>
      </p:sp>
      <p:sp>
        <p:nvSpPr>
          <p:cNvPr id="18" name="Rectangle: Rounded Corners 12">
            <a:extLst>
              <a:ext uri="{FF2B5EF4-FFF2-40B4-BE49-F238E27FC236}">
                <a16:creationId xmlns:a16="http://schemas.microsoft.com/office/drawing/2014/main" id="{EFA21966-D5AD-AA61-563F-2A71CB81166B}"/>
              </a:ext>
            </a:extLst>
          </p:cNvPr>
          <p:cNvSpPr/>
          <p:nvPr/>
        </p:nvSpPr>
        <p:spPr>
          <a:xfrm>
            <a:off x="8459020" y="4079293"/>
            <a:ext cx="2245942" cy="521657"/>
          </a:xfrm>
          <a:prstGeom prst="round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600"/>
              <a:t>Алтернативна</a:t>
            </a:r>
            <a:endParaRPr lang="bg-BG" sz="2400"/>
          </a:p>
        </p:txBody>
      </p:sp>
      <p:sp>
        <p:nvSpPr>
          <p:cNvPr id="19" name="Текстово поле 18">
            <a:extLst>
              <a:ext uri="{FF2B5EF4-FFF2-40B4-BE49-F238E27FC236}">
                <a16:creationId xmlns:a16="http://schemas.microsoft.com/office/drawing/2014/main" id="{34A94455-B130-5B91-254C-94B94D0FDE5B}"/>
              </a:ext>
            </a:extLst>
          </p:cNvPr>
          <p:cNvSpPr txBox="1"/>
          <p:nvPr/>
        </p:nvSpPr>
        <p:spPr>
          <a:xfrm>
            <a:off x="6059000" y="3623140"/>
            <a:ext cx="397649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bg-BG" b="1"/>
              <a:t>Техники за справяне с възражения</a:t>
            </a:r>
          </a:p>
        </p:txBody>
      </p:sp>
      <p:sp>
        <p:nvSpPr>
          <p:cNvPr id="20" name="Rectangle: Rounded Corners 12">
            <a:extLst>
              <a:ext uri="{FF2B5EF4-FFF2-40B4-BE49-F238E27FC236}">
                <a16:creationId xmlns:a16="http://schemas.microsoft.com/office/drawing/2014/main" id="{CD23D57D-4C81-CD8A-BDE6-7F517E7B0F2A}"/>
              </a:ext>
            </a:extLst>
          </p:cNvPr>
          <p:cNvSpPr/>
          <p:nvPr/>
        </p:nvSpPr>
        <p:spPr>
          <a:xfrm>
            <a:off x="6108394" y="4708264"/>
            <a:ext cx="2245942" cy="521657"/>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600"/>
              <a:t>Относителна</a:t>
            </a:r>
            <a:endParaRPr lang="bg-BG" sz="2400"/>
          </a:p>
        </p:txBody>
      </p:sp>
      <p:sp>
        <p:nvSpPr>
          <p:cNvPr id="22" name="Rectangle: Rounded Corners 12">
            <a:extLst>
              <a:ext uri="{FF2B5EF4-FFF2-40B4-BE49-F238E27FC236}">
                <a16:creationId xmlns:a16="http://schemas.microsoft.com/office/drawing/2014/main" id="{C3D3AF71-0E23-AC77-60C5-4894BED1A33C}"/>
              </a:ext>
            </a:extLst>
          </p:cNvPr>
          <p:cNvSpPr/>
          <p:nvPr/>
        </p:nvSpPr>
        <p:spPr>
          <a:xfrm>
            <a:off x="8459020" y="4706322"/>
            <a:ext cx="2245942" cy="521657"/>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600"/>
              <a:t>Тирбушон</a:t>
            </a:r>
            <a:endParaRPr lang="bg-BG" sz="2400"/>
          </a:p>
        </p:txBody>
      </p:sp>
      <p:sp>
        <p:nvSpPr>
          <p:cNvPr id="15" name="Балонче за говор: правоъгълник със заоблени ъгли 14">
            <a:extLst>
              <a:ext uri="{FF2B5EF4-FFF2-40B4-BE49-F238E27FC236}">
                <a16:creationId xmlns:a16="http://schemas.microsoft.com/office/drawing/2014/main" id="{9B5DD290-1F4A-8A0D-F2B1-5B2742564431}"/>
              </a:ext>
            </a:extLst>
          </p:cNvPr>
          <p:cNvSpPr/>
          <p:nvPr/>
        </p:nvSpPr>
        <p:spPr>
          <a:xfrm rot="10800000" flipV="1">
            <a:off x="6095999" y="5333350"/>
            <a:ext cx="4608961" cy="1216462"/>
          </a:xfrm>
          <a:prstGeom prst="roundRect">
            <a:avLst>
              <a:gd name="adj" fmla="val 14834"/>
            </a:avLst>
          </a:prstGeom>
          <a:solidFill>
            <a:schemeClr val="bg1"/>
          </a:solidFill>
          <a:ln>
            <a:noFill/>
          </a:ln>
          <a:effectLst>
            <a:outerShdw blurRad="50800" dist="38100" dir="5400000" algn="t" rotWithShape="0">
              <a:prstClr val="black">
                <a:alpha val="40000"/>
              </a:prstClr>
            </a:outerShdw>
          </a:effectLst>
        </p:spPr>
        <p:style>
          <a:lnRef idx="1">
            <a:schemeClr val="accent4"/>
          </a:lnRef>
          <a:fillRef idx="2">
            <a:schemeClr val="accent4"/>
          </a:fillRef>
          <a:effectRef idx="1">
            <a:schemeClr val="accent4"/>
          </a:effectRef>
          <a:fontRef idx="minor">
            <a:schemeClr val="dk1"/>
          </a:fontRef>
        </p:style>
        <p:txBody>
          <a:bodyPr rtlCol="0" anchor="ctr"/>
          <a:lstStyle/>
          <a:p>
            <a:r>
              <a:rPr lang="ru-RU" sz="1400" b="1" dirty="0" err="1"/>
              <a:t>Алтернативна</a:t>
            </a:r>
            <a:br>
              <a:rPr lang="ru-RU" sz="1400" dirty="0"/>
            </a:br>
            <a:r>
              <a:rPr lang="ru-RU" sz="1400" dirty="0" err="1"/>
              <a:t>Даваш</a:t>
            </a:r>
            <a:r>
              <a:rPr lang="ru-RU" sz="1400" dirty="0"/>
              <a:t> два </a:t>
            </a:r>
            <a:r>
              <a:rPr lang="ru-RU" sz="1400" dirty="0" err="1"/>
              <a:t>възможни</a:t>
            </a:r>
            <a:r>
              <a:rPr lang="ru-RU" sz="1400" dirty="0"/>
              <a:t> варианта за </a:t>
            </a:r>
            <a:r>
              <a:rPr lang="ru-RU" sz="1400" dirty="0" err="1"/>
              <a:t>продължаване</a:t>
            </a:r>
            <a:r>
              <a:rPr lang="ru-RU" sz="1400" dirty="0"/>
              <a:t> </a:t>
            </a:r>
            <a:br>
              <a:rPr lang="en-US" sz="1400" dirty="0"/>
            </a:br>
            <a:r>
              <a:rPr lang="ru-RU" sz="1400" dirty="0"/>
              <a:t>на разговора.</a:t>
            </a:r>
            <a:br>
              <a:rPr lang="ru-RU" sz="1400" dirty="0"/>
            </a:br>
            <a:r>
              <a:rPr lang="ru-RU" sz="1400" b="1" dirty="0"/>
              <a:t>Пример:</a:t>
            </a:r>
            <a:r>
              <a:rPr lang="ru-RU" sz="1400" dirty="0"/>
              <a:t> „</a:t>
            </a:r>
            <a:r>
              <a:rPr lang="ru-RU" sz="1400" dirty="0" err="1"/>
              <a:t>По-удобно</a:t>
            </a:r>
            <a:r>
              <a:rPr lang="ru-RU" sz="1400" dirty="0"/>
              <a:t> ли е да се чуем </a:t>
            </a:r>
            <a:r>
              <a:rPr lang="ru-RU" sz="1400" dirty="0" err="1"/>
              <a:t>по-късно</a:t>
            </a:r>
            <a:r>
              <a:rPr lang="ru-RU" sz="1400" dirty="0"/>
              <a:t> </a:t>
            </a:r>
            <a:br>
              <a:rPr lang="en-US" sz="1400" dirty="0"/>
            </a:br>
            <a:r>
              <a:rPr lang="ru-RU" sz="1400" dirty="0" err="1"/>
              <a:t>днес</a:t>
            </a:r>
            <a:r>
              <a:rPr lang="ru-RU" sz="1400" dirty="0"/>
              <a:t> или утре?“</a:t>
            </a:r>
          </a:p>
        </p:txBody>
      </p:sp>
      <p:sp>
        <p:nvSpPr>
          <p:cNvPr id="27" name="Rectangle 28">
            <a:extLst>
              <a:ext uri="{FF2B5EF4-FFF2-40B4-BE49-F238E27FC236}">
                <a16:creationId xmlns:a16="http://schemas.microsoft.com/office/drawing/2014/main" id="{9DDDC666-13FA-4E52-BB2A-45CC71E1C0FD}"/>
              </a:ext>
            </a:extLst>
          </p:cNvPr>
          <p:cNvSpPr/>
          <p:nvPr/>
        </p:nvSpPr>
        <p:spPr>
          <a:xfrm>
            <a:off x="-15824" y="1599"/>
            <a:ext cx="1465320" cy="6859628"/>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400">
              <a:latin typeface="Aptos"/>
              <a:ea typeface="Calibri"/>
              <a:cs typeface="Calibri"/>
            </a:endParaRPr>
          </a:p>
        </p:txBody>
      </p:sp>
      <p:sp>
        <p:nvSpPr>
          <p:cNvPr id="29" name="Rectangle 29">
            <a:extLst>
              <a:ext uri="{FF2B5EF4-FFF2-40B4-BE49-F238E27FC236}">
                <a16:creationId xmlns:a16="http://schemas.microsoft.com/office/drawing/2014/main" id="{28B2CE6B-2A54-4A37-81FC-5CCB26500CFA}"/>
              </a:ext>
            </a:extLst>
          </p:cNvPr>
          <p:cNvSpPr/>
          <p:nvPr/>
        </p:nvSpPr>
        <p:spPr>
          <a:xfrm>
            <a:off x="-1671" y="2528038"/>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Типове клиенти</a:t>
            </a:r>
            <a:endParaRPr lang="en-GB" sz="1400">
              <a:latin typeface="Aptos"/>
              <a:ea typeface="Calibri"/>
              <a:cs typeface="Calibri"/>
            </a:endParaRPr>
          </a:p>
        </p:txBody>
      </p:sp>
      <p:sp>
        <p:nvSpPr>
          <p:cNvPr id="30" name="Rectangle 30">
            <a:extLst>
              <a:ext uri="{FF2B5EF4-FFF2-40B4-BE49-F238E27FC236}">
                <a16:creationId xmlns:a16="http://schemas.microsoft.com/office/drawing/2014/main" id="{55149B60-E845-416F-87FA-960338FD98EE}"/>
              </a:ext>
            </a:extLst>
          </p:cNvPr>
          <p:cNvSpPr/>
          <p:nvPr/>
        </p:nvSpPr>
        <p:spPr>
          <a:xfrm>
            <a:off x="8626" y="1913210"/>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Сценарии</a:t>
            </a:r>
            <a:endParaRPr lang="en-GB" sz="1400">
              <a:latin typeface="Aptos"/>
              <a:ea typeface="Calibri"/>
              <a:cs typeface="Calibri"/>
            </a:endParaRPr>
          </a:p>
        </p:txBody>
      </p:sp>
      <p:sp>
        <p:nvSpPr>
          <p:cNvPr id="31" name="Rectangle 31">
            <a:extLst>
              <a:ext uri="{FF2B5EF4-FFF2-40B4-BE49-F238E27FC236}">
                <a16:creationId xmlns:a16="http://schemas.microsoft.com/office/drawing/2014/main" id="{509A4C62-985A-407E-8BF0-0A69E411A3B5}"/>
              </a:ext>
            </a:extLst>
          </p:cNvPr>
          <p:cNvSpPr/>
          <p:nvPr/>
        </p:nvSpPr>
        <p:spPr>
          <a:xfrm>
            <a:off x="-1671" y="1298382"/>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002060"/>
                </a:solidFill>
                <a:latin typeface="Aptos"/>
                <a:ea typeface="Calibri"/>
                <a:cs typeface="Calibri"/>
              </a:rPr>
              <a:t>Стъпки в обаждането</a:t>
            </a:r>
            <a:endParaRPr lang="en-GB" sz="1400">
              <a:solidFill>
                <a:srgbClr val="002060"/>
              </a:solidFill>
              <a:latin typeface="Aptos"/>
              <a:ea typeface="Calibri"/>
              <a:cs typeface="Calibri"/>
            </a:endParaRPr>
          </a:p>
        </p:txBody>
      </p:sp>
      <p:sp>
        <p:nvSpPr>
          <p:cNvPr id="32" name="Rectangle 3">
            <a:extLst>
              <a:ext uri="{FF2B5EF4-FFF2-40B4-BE49-F238E27FC236}">
                <a16:creationId xmlns:a16="http://schemas.microsoft.com/office/drawing/2014/main" id="{B2742AEE-5DB8-47E2-942B-E397B034469D}"/>
              </a:ext>
            </a:extLst>
          </p:cNvPr>
          <p:cNvSpPr/>
          <p:nvPr/>
        </p:nvSpPr>
        <p:spPr>
          <a:xfrm>
            <a:off x="1443475" y="4245"/>
            <a:ext cx="5338363" cy="67724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33" name="Rectangle 4">
            <a:extLst>
              <a:ext uri="{FF2B5EF4-FFF2-40B4-BE49-F238E27FC236}">
                <a16:creationId xmlns:a16="http://schemas.microsoft.com/office/drawing/2014/main" id="{87380B5D-60D8-4999-AB99-4F1A7FC68AF5}"/>
              </a:ext>
            </a:extLst>
          </p:cNvPr>
          <p:cNvSpPr/>
          <p:nvPr/>
        </p:nvSpPr>
        <p:spPr>
          <a:xfrm>
            <a:off x="6788435" y="4245"/>
            <a:ext cx="5417300" cy="677242"/>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34" name="Rectangle 28">
            <a:extLst>
              <a:ext uri="{FF2B5EF4-FFF2-40B4-BE49-F238E27FC236}">
                <a16:creationId xmlns:a16="http://schemas.microsoft.com/office/drawing/2014/main" id="{57819605-D583-4894-A3E5-E0FFBC26A42E}"/>
              </a:ext>
            </a:extLst>
          </p:cNvPr>
          <p:cNvSpPr/>
          <p:nvPr/>
        </p:nvSpPr>
        <p:spPr>
          <a:xfrm>
            <a:off x="-15827" y="690328"/>
            <a:ext cx="1465322"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FFFFFF"/>
                </a:solidFill>
                <a:latin typeface="Aptos"/>
                <a:ea typeface="Calibri"/>
                <a:cs typeface="Calibri"/>
              </a:rPr>
              <a:t>Подготовка</a:t>
            </a:r>
            <a:endParaRPr lang="en-GB" sz="1400">
              <a:solidFill>
                <a:srgbClr val="FFFFFF"/>
              </a:solidFill>
              <a:latin typeface="Aptos"/>
              <a:ea typeface="Calibri"/>
              <a:cs typeface="Calibri"/>
            </a:endParaRPr>
          </a:p>
        </p:txBody>
      </p:sp>
      <p:pic>
        <p:nvPicPr>
          <p:cNvPr id="24" name="Picture 23">
            <a:extLst>
              <a:ext uri="{FF2B5EF4-FFF2-40B4-BE49-F238E27FC236}">
                <a16:creationId xmlns:a16="http://schemas.microsoft.com/office/drawing/2014/main" id="{5833731E-D10F-490F-8AF0-79B5D67BD935}"/>
              </a:ext>
            </a:extLst>
          </p:cNvPr>
          <p:cNvPicPr>
            <a:picLocks noChangeAspect="1"/>
          </p:cNvPicPr>
          <p:nvPr/>
        </p:nvPicPr>
        <p:blipFill>
          <a:blip r:embed="rId2"/>
          <a:stretch>
            <a:fillRect/>
          </a:stretch>
        </p:blipFill>
        <p:spPr>
          <a:xfrm>
            <a:off x="10883590" y="5621341"/>
            <a:ext cx="982751" cy="995681"/>
          </a:xfrm>
          <a:prstGeom prst="rect">
            <a:avLst/>
          </a:prstGeom>
        </p:spPr>
      </p:pic>
      <p:sp>
        <p:nvSpPr>
          <p:cNvPr id="41" name="Rectangle: Rounded Corners 10">
            <a:extLst>
              <a:ext uri="{FF2B5EF4-FFF2-40B4-BE49-F238E27FC236}">
                <a16:creationId xmlns:a16="http://schemas.microsoft.com/office/drawing/2014/main" id="{4F74A5DA-3C33-6B48-A694-61AA6BD9C8AF}"/>
              </a:ext>
            </a:extLst>
          </p:cNvPr>
          <p:cNvSpPr/>
          <p:nvPr/>
        </p:nvSpPr>
        <p:spPr>
          <a:xfrm>
            <a:off x="6056961" y="1524076"/>
            <a:ext cx="4711355" cy="825222"/>
          </a:xfrm>
          <a:prstGeom prst="roundRect">
            <a:avLst>
              <a:gd name="adj" fmla="val 6804"/>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285750" indent="-285750">
              <a:buFont typeface="Arial" panose="020B0604020202020204" pitchFamily="34" charset="0"/>
              <a:buChar char="•"/>
            </a:pPr>
            <a:r>
              <a:rPr lang="ru-RU" sz="1400" err="1"/>
              <a:t>Проява</a:t>
            </a:r>
            <a:r>
              <a:rPr lang="ru-RU" sz="1400"/>
              <a:t> на </a:t>
            </a:r>
            <a:r>
              <a:rPr lang="ru-RU" sz="1400" err="1"/>
              <a:t>разбиране</a:t>
            </a:r>
            <a:r>
              <a:rPr lang="ru-RU" sz="1400"/>
              <a:t>.</a:t>
            </a:r>
          </a:p>
          <a:p>
            <a:pPr marL="285750" indent="-285750">
              <a:buFont typeface="Arial" panose="020B0604020202020204" pitchFamily="34" charset="0"/>
              <a:buChar char="•"/>
            </a:pPr>
            <a:r>
              <a:rPr lang="ru-RU" sz="1400"/>
              <a:t>Отговор с </a:t>
            </a:r>
            <a:r>
              <a:rPr lang="ru-RU" sz="1400" err="1"/>
              <a:t>полза</a:t>
            </a:r>
            <a:r>
              <a:rPr lang="ru-RU" sz="1400"/>
              <a:t> за клиента.</a:t>
            </a:r>
          </a:p>
          <a:p>
            <a:pPr marL="285750" indent="-285750">
              <a:buFont typeface="Arial" panose="020B0604020202020204" pitchFamily="34" charset="0"/>
              <a:buChar char="•"/>
            </a:pPr>
            <a:r>
              <a:rPr lang="ru-RU" sz="1400" err="1"/>
              <a:t>Потвърждение</a:t>
            </a:r>
            <a:r>
              <a:rPr lang="ru-RU" sz="1400"/>
              <a:t>, че </a:t>
            </a:r>
            <a:r>
              <a:rPr lang="ru-RU" sz="1400" err="1"/>
              <a:t>отговорът</a:t>
            </a:r>
            <a:r>
              <a:rPr lang="ru-RU" sz="1400"/>
              <a:t> </a:t>
            </a:r>
            <a:r>
              <a:rPr lang="ru-RU" sz="1400" err="1"/>
              <a:t>ти</a:t>
            </a:r>
            <a:r>
              <a:rPr lang="ru-RU" sz="1400"/>
              <a:t> е бил удовлетворителен и </a:t>
            </a:r>
            <a:r>
              <a:rPr lang="ru-RU" sz="1400" err="1"/>
              <a:t>преминаване</a:t>
            </a:r>
            <a:r>
              <a:rPr lang="ru-RU" sz="1400"/>
              <a:t> </a:t>
            </a:r>
            <a:r>
              <a:rPr lang="ru-RU" sz="1400" err="1"/>
              <a:t>към</a:t>
            </a:r>
            <a:r>
              <a:rPr lang="ru-RU" sz="1400"/>
              <a:t> </a:t>
            </a:r>
            <a:r>
              <a:rPr lang="ru-RU" sz="1400" err="1"/>
              <a:t>затваряне</a:t>
            </a:r>
            <a:r>
              <a:rPr lang="ru-RU" sz="1400"/>
              <a:t>.</a:t>
            </a:r>
          </a:p>
        </p:txBody>
      </p:sp>
      <p:sp>
        <p:nvSpPr>
          <p:cNvPr id="43" name="Текстово поле 9">
            <a:extLst>
              <a:ext uri="{FF2B5EF4-FFF2-40B4-BE49-F238E27FC236}">
                <a16:creationId xmlns:a16="http://schemas.microsoft.com/office/drawing/2014/main" id="{C28A7689-2B43-747D-6B6C-E6C302197F7C}"/>
              </a:ext>
            </a:extLst>
          </p:cNvPr>
          <p:cNvSpPr txBox="1"/>
          <p:nvPr/>
        </p:nvSpPr>
        <p:spPr>
          <a:xfrm>
            <a:off x="6137935" y="2349376"/>
            <a:ext cx="5417299" cy="462201"/>
          </a:xfrm>
          <a:prstGeom prst="roundRect">
            <a:avLst>
              <a:gd name="adj" fmla="val 34673"/>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lvl1pPr>
              <a:defRPr b="1">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bg-BG"/>
              <a:t>Примерни възражения</a:t>
            </a:r>
          </a:p>
        </p:txBody>
      </p:sp>
      <p:sp>
        <p:nvSpPr>
          <p:cNvPr id="45" name="Rectangle: Rounded Corners 44">
            <a:extLst>
              <a:ext uri="{FF2B5EF4-FFF2-40B4-BE49-F238E27FC236}">
                <a16:creationId xmlns:a16="http://schemas.microsoft.com/office/drawing/2014/main" id="{A7C3CFD8-FCE9-E784-F707-E410ABE5CBD5}"/>
              </a:ext>
            </a:extLst>
          </p:cNvPr>
          <p:cNvSpPr/>
          <p:nvPr/>
        </p:nvSpPr>
        <p:spPr>
          <a:xfrm>
            <a:off x="6114419" y="2781149"/>
            <a:ext cx="2258337" cy="378045"/>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200">
                <a:ea typeface="+mn-lt"/>
                <a:cs typeface="+mn-lt"/>
              </a:rPr>
              <a:t>Вече </a:t>
            </a:r>
            <a:r>
              <a:rPr lang="ru-RU" sz="1200" err="1">
                <a:ea typeface="+mn-lt"/>
                <a:cs typeface="+mn-lt"/>
              </a:rPr>
              <a:t>изтеглих</a:t>
            </a:r>
            <a:r>
              <a:rPr lang="ru-RU" sz="1200">
                <a:ea typeface="+mn-lt"/>
                <a:cs typeface="+mn-lt"/>
              </a:rPr>
              <a:t> кредит</a:t>
            </a:r>
            <a:endParaRPr lang="bg-BG" sz="1200"/>
          </a:p>
        </p:txBody>
      </p:sp>
      <p:sp>
        <p:nvSpPr>
          <p:cNvPr id="47" name="Rectangle: Rounded Corners 46">
            <a:extLst>
              <a:ext uri="{FF2B5EF4-FFF2-40B4-BE49-F238E27FC236}">
                <a16:creationId xmlns:a16="http://schemas.microsoft.com/office/drawing/2014/main" id="{31446327-AE77-785B-44B4-669ACA461FE9}"/>
              </a:ext>
            </a:extLst>
          </p:cNvPr>
          <p:cNvSpPr/>
          <p:nvPr/>
        </p:nvSpPr>
        <p:spPr>
          <a:xfrm>
            <a:off x="6132841" y="3224829"/>
            <a:ext cx="2258337" cy="358524"/>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200" err="1">
                <a:ea typeface="+mn-lt"/>
                <a:cs typeface="+mn-lt"/>
              </a:rPr>
              <a:t>Високи</a:t>
            </a:r>
            <a:r>
              <a:rPr lang="ru-RU" sz="1200">
                <a:ea typeface="+mn-lt"/>
                <a:cs typeface="+mn-lt"/>
              </a:rPr>
              <a:t> </a:t>
            </a:r>
            <a:r>
              <a:rPr lang="ru-RU" sz="1200" err="1">
                <a:ea typeface="+mn-lt"/>
                <a:cs typeface="+mn-lt"/>
              </a:rPr>
              <a:t>са</a:t>
            </a:r>
            <a:r>
              <a:rPr lang="ru-RU" sz="1200">
                <a:ea typeface="+mn-lt"/>
                <a:cs typeface="+mn-lt"/>
              </a:rPr>
              <a:t> </a:t>
            </a:r>
            <a:r>
              <a:rPr lang="ru-RU" sz="1200" err="1">
                <a:ea typeface="+mn-lt"/>
                <a:cs typeface="+mn-lt"/>
              </a:rPr>
              <a:t>ви</a:t>
            </a:r>
            <a:r>
              <a:rPr lang="ru-RU" sz="1200">
                <a:ea typeface="+mn-lt"/>
                <a:cs typeface="+mn-lt"/>
              </a:rPr>
              <a:t> </a:t>
            </a:r>
            <a:r>
              <a:rPr lang="ru-RU" sz="1200" err="1">
                <a:ea typeface="+mn-lt"/>
                <a:cs typeface="+mn-lt"/>
              </a:rPr>
              <a:t>лихвите</a:t>
            </a:r>
            <a:endParaRPr lang="bg-BG" sz="1200"/>
          </a:p>
        </p:txBody>
      </p:sp>
      <p:sp>
        <p:nvSpPr>
          <p:cNvPr id="49" name="Rectangle: Rounded Corners 4">
            <a:extLst>
              <a:ext uri="{FF2B5EF4-FFF2-40B4-BE49-F238E27FC236}">
                <a16:creationId xmlns:a16="http://schemas.microsoft.com/office/drawing/2014/main" id="{D3790823-1EB6-AA5A-8EAB-FB00B4CB5C9D}"/>
              </a:ext>
            </a:extLst>
          </p:cNvPr>
          <p:cNvSpPr/>
          <p:nvPr/>
        </p:nvSpPr>
        <p:spPr>
          <a:xfrm>
            <a:off x="8513098" y="2789121"/>
            <a:ext cx="2258337" cy="358524"/>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200" err="1">
                <a:ea typeface="+mn-lt"/>
                <a:cs typeface="+mn-lt"/>
              </a:rPr>
              <a:t>Нямам</a:t>
            </a:r>
            <a:r>
              <a:rPr lang="ru-RU" sz="1200">
                <a:ea typeface="+mn-lt"/>
                <a:cs typeface="+mn-lt"/>
              </a:rPr>
              <a:t> нужда</a:t>
            </a:r>
            <a:endParaRPr lang="bg-BG" sz="1200"/>
          </a:p>
        </p:txBody>
      </p:sp>
      <p:sp>
        <p:nvSpPr>
          <p:cNvPr id="51" name="Rectangle: Rounded Corners 4">
            <a:extLst>
              <a:ext uri="{FF2B5EF4-FFF2-40B4-BE49-F238E27FC236}">
                <a16:creationId xmlns:a16="http://schemas.microsoft.com/office/drawing/2014/main" id="{A7268217-F790-A6F5-F220-27DC08A2BDDB}"/>
              </a:ext>
            </a:extLst>
          </p:cNvPr>
          <p:cNvSpPr/>
          <p:nvPr/>
        </p:nvSpPr>
        <p:spPr>
          <a:xfrm>
            <a:off x="8513098" y="3203528"/>
            <a:ext cx="2258337" cy="358524"/>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200">
                <a:ea typeface="+mn-lt"/>
                <a:cs typeface="+mn-lt"/>
              </a:rPr>
              <a:t>Искам да се </a:t>
            </a:r>
            <a:r>
              <a:rPr lang="ru-RU" sz="1200" err="1">
                <a:ea typeface="+mn-lt"/>
                <a:cs typeface="+mn-lt"/>
              </a:rPr>
              <a:t>посъветвам</a:t>
            </a:r>
            <a:endParaRPr lang="bg-BG" sz="1200"/>
          </a:p>
        </p:txBody>
      </p:sp>
      <p:sp>
        <p:nvSpPr>
          <p:cNvPr id="53" name="TextBox 52">
            <a:extLst>
              <a:ext uri="{FF2B5EF4-FFF2-40B4-BE49-F238E27FC236}">
                <a16:creationId xmlns:a16="http://schemas.microsoft.com/office/drawing/2014/main" id="{BDBFA930-1016-66B7-25A6-DDBDC3236427}"/>
              </a:ext>
            </a:extLst>
          </p:cNvPr>
          <p:cNvSpPr txBox="1"/>
          <p:nvPr/>
        </p:nvSpPr>
        <p:spPr>
          <a:xfrm>
            <a:off x="6059000" y="1063505"/>
            <a:ext cx="611124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lvl1pPr>
              <a:defRPr b="1"/>
            </a:lvl1pPr>
          </a:lstStyle>
          <a:p>
            <a:r>
              <a:rPr lang="ru-RU" err="1"/>
              <a:t>Какво</a:t>
            </a:r>
            <a:r>
              <a:rPr lang="ru-RU"/>
              <a:t> </a:t>
            </a:r>
            <a:r>
              <a:rPr lang="ru-RU" err="1"/>
              <a:t>включва</a:t>
            </a:r>
            <a:r>
              <a:rPr lang="ru-RU"/>
              <a:t> </a:t>
            </a:r>
            <a:r>
              <a:rPr lang="ru-RU" err="1"/>
              <a:t>този</a:t>
            </a:r>
            <a:r>
              <a:rPr lang="ru-RU"/>
              <a:t> </a:t>
            </a:r>
            <a:r>
              <a:rPr lang="ru-RU" err="1"/>
              <a:t>етап</a:t>
            </a:r>
            <a:r>
              <a:rPr lang="ru-RU"/>
              <a:t>:</a:t>
            </a:r>
          </a:p>
        </p:txBody>
      </p:sp>
    </p:spTree>
    <p:extLst>
      <p:ext uri="{BB962C8B-B14F-4D97-AF65-F5344CB8AC3E}">
        <p14:creationId xmlns:p14="http://schemas.microsoft.com/office/powerpoint/2010/main" val="37155725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7B5C42-6A97-1343-996D-D7C177D8E762}"/>
            </a:ext>
          </a:extLst>
        </p:cNvPr>
        <p:cNvGrpSpPr/>
        <p:nvPr/>
      </p:nvGrpSpPr>
      <p:grpSpPr>
        <a:xfrm>
          <a:off x="0" y="0"/>
          <a:ext cx="0" cy="0"/>
          <a:chOff x="0" y="0"/>
          <a:chExt cx="0" cy="0"/>
        </a:xfrm>
      </p:grpSpPr>
      <p:sp>
        <p:nvSpPr>
          <p:cNvPr id="35" name="Rectangle 9">
            <a:extLst>
              <a:ext uri="{FF2B5EF4-FFF2-40B4-BE49-F238E27FC236}">
                <a16:creationId xmlns:a16="http://schemas.microsoft.com/office/drawing/2014/main" id="{C7698D9C-C420-4D07-B679-90FD2921AA50}"/>
              </a:ext>
            </a:extLst>
          </p:cNvPr>
          <p:cNvSpPr/>
          <p:nvPr/>
        </p:nvSpPr>
        <p:spPr>
          <a:xfrm>
            <a:off x="2189602" y="2540005"/>
            <a:ext cx="3480247" cy="1090188"/>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Представяне на целта</a:t>
            </a:r>
            <a:endParaRPr lang="en-GB" sz="1600"/>
          </a:p>
        </p:txBody>
      </p:sp>
      <p:sp>
        <p:nvSpPr>
          <p:cNvPr id="36" name="Rectangle 11">
            <a:extLst>
              <a:ext uri="{FF2B5EF4-FFF2-40B4-BE49-F238E27FC236}">
                <a16:creationId xmlns:a16="http://schemas.microsoft.com/office/drawing/2014/main" id="{15383093-D0C1-4159-9C3B-DF8D387D143C}"/>
              </a:ext>
            </a:extLst>
          </p:cNvPr>
          <p:cNvSpPr/>
          <p:nvPr/>
        </p:nvSpPr>
        <p:spPr>
          <a:xfrm>
            <a:off x="2189602" y="1322152"/>
            <a:ext cx="3480247" cy="1090188"/>
          </a:xfrm>
          <a:prstGeom prst="round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600"/>
              <a:t>Отваряне</a:t>
            </a:r>
            <a:endParaRPr lang="en-GB" sz="1600"/>
          </a:p>
        </p:txBody>
      </p:sp>
      <p:sp>
        <p:nvSpPr>
          <p:cNvPr id="37" name="Rectangle 13">
            <a:extLst>
              <a:ext uri="{FF2B5EF4-FFF2-40B4-BE49-F238E27FC236}">
                <a16:creationId xmlns:a16="http://schemas.microsoft.com/office/drawing/2014/main" id="{19B6695F-9ECD-4250-B52E-E5A7D67D46DB}"/>
              </a:ext>
            </a:extLst>
          </p:cNvPr>
          <p:cNvSpPr/>
          <p:nvPr/>
        </p:nvSpPr>
        <p:spPr>
          <a:xfrm>
            <a:off x="2189602" y="3757858"/>
            <a:ext cx="3480247" cy="1090188"/>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Справяне с възражения</a:t>
            </a:r>
            <a:endParaRPr lang="en-GB" sz="1600"/>
          </a:p>
        </p:txBody>
      </p:sp>
      <p:sp>
        <p:nvSpPr>
          <p:cNvPr id="38" name="Rectangle 15">
            <a:extLst>
              <a:ext uri="{FF2B5EF4-FFF2-40B4-BE49-F238E27FC236}">
                <a16:creationId xmlns:a16="http://schemas.microsoft.com/office/drawing/2014/main" id="{2CFB3566-70D7-4AC4-A45D-EBCB52C8DA76}"/>
              </a:ext>
            </a:extLst>
          </p:cNvPr>
          <p:cNvSpPr/>
          <p:nvPr/>
        </p:nvSpPr>
        <p:spPr>
          <a:xfrm>
            <a:off x="2189602" y="5007903"/>
            <a:ext cx="3480247" cy="1090188"/>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Затваряне</a:t>
            </a:r>
            <a:endParaRPr lang="en-GB" sz="1600"/>
          </a:p>
        </p:txBody>
      </p:sp>
      <p:sp>
        <p:nvSpPr>
          <p:cNvPr id="13" name="Rectangle: Rounded Corners 12">
            <a:extLst>
              <a:ext uri="{FF2B5EF4-FFF2-40B4-BE49-F238E27FC236}">
                <a16:creationId xmlns:a16="http://schemas.microsoft.com/office/drawing/2014/main" id="{415D3642-56F4-65DC-5170-A3E8B0BEE018}"/>
              </a:ext>
            </a:extLst>
          </p:cNvPr>
          <p:cNvSpPr/>
          <p:nvPr/>
        </p:nvSpPr>
        <p:spPr>
          <a:xfrm>
            <a:off x="6108394" y="4076382"/>
            <a:ext cx="2245942" cy="521657"/>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600"/>
              <a:t>Огледална</a:t>
            </a:r>
          </a:p>
        </p:txBody>
      </p:sp>
      <p:sp>
        <p:nvSpPr>
          <p:cNvPr id="18" name="Rectangle: Rounded Corners 12">
            <a:extLst>
              <a:ext uri="{FF2B5EF4-FFF2-40B4-BE49-F238E27FC236}">
                <a16:creationId xmlns:a16="http://schemas.microsoft.com/office/drawing/2014/main" id="{EFA21966-D5AD-AA61-563F-2A71CB81166B}"/>
              </a:ext>
            </a:extLst>
          </p:cNvPr>
          <p:cNvSpPr/>
          <p:nvPr/>
        </p:nvSpPr>
        <p:spPr>
          <a:xfrm>
            <a:off x="8459020" y="4079293"/>
            <a:ext cx="2245942" cy="521657"/>
          </a:xfrm>
          <a:prstGeom prst="roundRect">
            <a:avLst/>
          </a:prstGeom>
          <a:solidFill>
            <a:srgbClr val="4472C4"/>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600"/>
              <a:t>Алтернативна</a:t>
            </a:r>
            <a:endParaRPr lang="bg-BG" sz="2400"/>
          </a:p>
        </p:txBody>
      </p:sp>
      <p:sp>
        <p:nvSpPr>
          <p:cNvPr id="19" name="Текстово поле 18">
            <a:extLst>
              <a:ext uri="{FF2B5EF4-FFF2-40B4-BE49-F238E27FC236}">
                <a16:creationId xmlns:a16="http://schemas.microsoft.com/office/drawing/2014/main" id="{34A94455-B130-5B91-254C-94B94D0FDE5B}"/>
              </a:ext>
            </a:extLst>
          </p:cNvPr>
          <p:cNvSpPr txBox="1"/>
          <p:nvPr/>
        </p:nvSpPr>
        <p:spPr>
          <a:xfrm>
            <a:off x="6059000" y="3623140"/>
            <a:ext cx="397649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bg-BG" b="1"/>
              <a:t>Техники за справяне с възражения</a:t>
            </a:r>
          </a:p>
        </p:txBody>
      </p:sp>
      <p:sp>
        <p:nvSpPr>
          <p:cNvPr id="20" name="Rectangle: Rounded Corners 12">
            <a:extLst>
              <a:ext uri="{FF2B5EF4-FFF2-40B4-BE49-F238E27FC236}">
                <a16:creationId xmlns:a16="http://schemas.microsoft.com/office/drawing/2014/main" id="{CD23D57D-4C81-CD8A-BDE6-7F517E7B0F2A}"/>
              </a:ext>
            </a:extLst>
          </p:cNvPr>
          <p:cNvSpPr/>
          <p:nvPr/>
        </p:nvSpPr>
        <p:spPr>
          <a:xfrm>
            <a:off x="6108394" y="4708264"/>
            <a:ext cx="2245942" cy="521657"/>
          </a:xfrm>
          <a:prstGeom prst="round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600"/>
              <a:t>Относителна</a:t>
            </a:r>
            <a:endParaRPr lang="bg-BG" sz="2400"/>
          </a:p>
        </p:txBody>
      </p:sp>
      <p:sp>
        <p:nvSpPr>
          <p:cNvPr id="22" name="Rectangle: Rounded Corners 12">
            <a:extLst>
              <a:ext uri="{FF2B5EF4-FFF2-40B4-BE49-F238E27FC236}">
                <a16:creationId xmlns:a16="http://schemas.microsoft.com/office/drawing/2014/main" id="{C3D3AF71-0E23-AC77-60C5-4894BED1A33C}"/>
              </a:ext>
            </a:extLst>
          </p:cNvPr>
          <p:cNvSpPr/>
          <p:nvPr/>
        </p:nvSpPr>
        <p:spPr>
          <a:xfrm>
            <a:off x="8459020" y="4706322"/>
            <a:ext cx="2245942" cy="521657"/>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600"/>
              <a:t>Тирбушон</a:t>
            </a:r>
            <a:endParaRPr lang="bg-BG" sz="2400"/>
          </a:p>
        </p:txBody>
      </p:sp>
      <p:sp>
        <p:nvSpPr>
          <p:cNvPr id="15" name="Балонче за говор: правоъгълник със заоблени ъгли 14">
            <a:extLst>
              <a:ext uri="{FF2B5EF4-FFF2-40B4-BE49-F238E27FC236}">
                <a16:creationId xmlns:a16="http://schemas.microsoft.com/office/drawing/2014/main" id="{9B5DD290-1F4A-8A0D-F2B1-5B2742564431}"/>
              </a:ext>
            </a:extLst>
          </p:cNvPr>
          <p:cNvSpPr/>
          <p:nvPr/>
        </p:nvSpPr>
        <p:spPr>
          <a:xfrm rot="10800000" flipV="1">
            <a:off x="6095999" y="5333350"/>
            <a:ext cx="4608961" cy="1216462"/>
          </a:xfrm>
          <a:prstGeom prst="roundRect">
            <a:avLst>
              <a:gd name="adj" fmla="val 14834"/>
            </a:avLst>
          </a:prstGeom>
          <a:solidFill>
            <a:schemeClr val="bg1"/>
          </a:solidFill>
          <a:ln>
            <a:noFill/>
          </a:ln>
          <a:effectLst>
            <a:outerShdw blurRad="50800" dist="38100" dir="5400000" algn="t" rotWithShape="0">
              <a:prstClr val="black">
                <a:alpha val="40000"/>
              </a:prstClr>
            </a:outerShdw>
          </a:effectLst>
        </p:spPr>
        <p:style>
          <a:lnRef idx="1">
            <a:schemeClr val="accent4"/>
          </a:lnRef>
          <a:fillRef idx="2">
            <a:schemeClr val="accent4"/>
          </a:fillRef>
          <a:effectRef idx="1">
            <a:schemeClr val="accent4"/>
          </a:effectRef>
          <a:fontRef idx="minor">
            <a:schemeClr val="dk1"/>
          </a:fontRef>
        </p:style>
        <p:txBody>
          <a:bodyPr rtlCol="0" anchor="ctr"/>
          <a:lstStyle/>
          <a:p>
            <a:r>
              <a:rPr lang="ru-RU" sz="1400" b="1"/>
              <a:t>Относителна</a:t>
            </a:r>
            <a:r>
              <a:rPr lang="ru-RU" sz="1400"/>
              <a:t>​</a:t>
            </a:r>
            <a:br>
              <a:rPr lang="ru-RU" sz="1400"/>
            </a:br>
            <a:r>
              <a:rPr lang="ru-RU" sz="1400"/>
              <a:t>Поставяш възражението в контекст и насочваш </a:t>
            </a:r>
            <a:br>
              <a:rPr lang="en-US" sz="1400"/>
            </a:br>
            <a:r>
              <a:rPr lang="ru-RU" sz="1400"/>
              <a:t>към стойността и ползите.​</a:t>
            </a:r>
            <a:br>
              <a:rPr lang="ru-RU" sz="1400"/>
            </a:br>
            <a:r>
              <a:rPr lang="ru-RU" sz="1400" b="1"/>
              <a:t>Пример:</a:t>
            </a:r>
            <a:r>
              <a:rPr lang="ru-RU" sz="1400"/>
              <a:t> „Важно е да се види не само цената, а и </a:t>
            </a:r>
            <a:br>
              <a:rPr lang="en-US" sz="1400"/>
            </a:br>
            <a:r>
              <a:rPr lang="ru-RU" sz="1400"/>
              <a:t>какво получавате срещу нея.“</a:t>
            </a:r>
            <a:endParaRPr lang="bg-BG" sz="1400"/>
          </a:p>
        </p:txBody>
      </p:sp>
      <p:sp>
        <p:nvSpPr>
          <p:cNvPr id="27" name="Rectangle 28">
            <a:extLst>
              <a:ext uri="{FF2B5EF4-FFF2-40B4-BE49-F238E27FC236}">
                <a16:creationId xmlns:a16="http://schemas.microsoft.com/office/drawing/2014/main" id="{9DDDC666-13FA-4E52-BB2A-45CC71E1C0FD}"/>
              </a:ext>
            </a:extLst>
          </p:cNvPr>
          <p:cNvSpPr/>
          <p:nvPr/>
        </p:nvSpPr>
        <p:spPr>
          <a:xfrm>
            <a:off x="-15824" y="1599"/>
            <a:ext cx="1465320" cy="6859628"/>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400">
              <a:latin typeface="Aptos"/>
              <a:ea typeface="Calibri"/>
              <a:cs typeface="Calibri"/>
            </a:endParaRPr>
          </a:p>
        </p:txBody>
      </p:sp>
      <p:sp>
        <p:nvSpPr>
          <p:cNvPr id="29" name="Rectangle 29">
            <a:extLst>
              <a:ext uri="{FF2B5EF4-FFF2-40B4-BE49-F238E27FC236}">
                <a16:creationId xmlns:a16="http://schemas.microsoft.com/office/drawing/2014/main" id="{28B2CE6B-2A54-4A37-81FC-5CCB26500CFA}"/>
              </a:ext>
            </a:extLst>
          </p:cNvPr>
          <p:cNvSpPr/>
          <p:nvPr/>
        </p:nvSpPr>
        <p:spPr>
          <a:xfrm>
            <a:off x="-1671" y="2528038"/>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Типове клиенти</a:t>
            </a:r>
            <a:endParaRPr lang="en-GB" sz="1400">
              <a:latin typeface="Aptos"/>
              <a:ea typeface="Calibri"/>
              <a:cs typeface="Calibri"/>
            </a:endParaRPr>
          </a:p>
        </p:txBody>
      </p:sp>
      <p:sp>
        <p:nvSpPr>
          <p:cNvPr id="30" name="Rectangle 30">
            <a:extLst>
              <a:ext uri="{FF2B5EF4-FFF2-40B4-BE49-F238E27FC236}">
                <a16:creationId xmlns:a16="http://schemas.microsoft.com/office/drawing/2014/main" id="{55149B60-E845-416F-87FA-960338FD98EE}"/>
              </a:ext>
            </a:extLst>
          </p:cNvPr>
          <p:cNvSpPr/>
          <p:nvPr/>
        </p:nvSpPr>
        <p:spPr>
          <a:xfrm>
            <a:off x="8626" y="1913210"/>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Сценарии</a:t>
            </a:r>
            <a:endParaRPr lang="en-GB" sz="1400">
              <a:latin typeface="Aptos"/>
              <a:ea typeface="Calibri"/>
              <a:cs typeface="Calibri"/>
            </a:endParaRPr>
          </a:p>
        </p:txBody>
      </p:sp>
      <p:sp>
        <p:nvSpPr>
          <p:cNvPr id="31" name="Rectangle 31">
            <a:extLst>
              <a:ext uri="{FF2B5EF4-FFF2-40B4-BE49-F238E27FC236}">
                <a16:creationId xmlns:a16="http://schemas.microsoft.com/office/drawing/2014/main" id="{509A4C62-985A-407E-8BF0-0A69E411A3B5}"/>
              </a:ext>
            </a:extLst>
          </p:cNvPr>
          <p:cNvSpPr/>
          <p:nvPr/>
        </p:nvSpPr>
        <p:spPr>
          <a:xfrm>
            <a:off x="-1671" y="1298382"/>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002060"/>
                </a:solidFill>
                <a:latin typeface="Aptos"/>
                <a:ea typeface="Calibri"/>
                <a:cs typeface="Calibri"/>
              </a:rPr>
              <a:t>Стъпки в обаждането</a:t>
            </a:r>
            <a:endParaRPr lang="en-GB" sz="1400">
              <a:solidFill>
                <a:srgbClr val="002060"/>
              </a:solidFill>
              <a:latin typeface="Aptos"/>
              <a:ea typeface="Calibri"/>
              <a:cs typeface="Calibri"/>
            </a:endParaRPr>
          </a:p>
        </p:txBody>
      </p:sp>
      <p:sp>
        <p:nvSpPr>
          <p:cNvPr id="32" name="Rectangle 3">
            <a:extLst>
              <a:ext uri="{FF2B5EF4-FFF2-40B4-BE49-F238E27FC236}">
                <a16:creationId xmlns:a16="http://schemas.microsoft.com/office/drawing/2014/main" id="{B2742AEE-5DB8-47E2-942B-E397B034469D}"/>
              </a:ext>
            </a:extLst>
          </p:cNvPr>
          <p:cNvSpPr/>
          <p:nvPr/>
        </p:nvSpPr>
        <p:spPr>
          <a:xfrm>
            <a:off x="1443475" y="4245"/>
            <a:ext cx="5338363" cy="67724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33" name="Rectangle 4">
            <a:extLst>
              <a:ext uri="{FF2B5EF4-FFF2-40B4-BE49-F238E27FC236}">
                <a16:creationId xmlns:a16="http://schemas.microsoft.com/office/drawing/2014/main" id="{87380B5D-60D8-4999-AB99-4F1A7FC68AF5}"/>
              </a:ext>
            </a:extLst>
          </p:cNvPr>
          <p:cNvSpPr/>
          <p:nvPr/>
        </p:nvSpPr>
        <p:spPr>
          <a:xfrm>
            <a:off x="6788435" y="4245"/>
            <a:ext cx="5417300" cy="677242"/>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34" name="Rectangle 28">
            <a:extLst>
              <a:ext uri="{FF2B5EF4-FFF2-40B4-BE49-F238E27FC236}">
                <a16:creationId xmlns:a16="http://schemas.microsoft.com/office/drawing/2014/main" id="{57819605-D583-4894-A3E5-E0FFBC26A42E}"/>
              </a:ext>
            </a:extLst>
          </p:cNvPr>
          <p:cNvSpPr/>
          <p:nvPr/>
        </p:nvSpPr>
        <p:spPr>
          <a:xfrm>
            <a:off x="-15827" y="690328"/>
            <a:ext cx="1465322"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FFFFFF"/>
                </a:solidFill>
                <a:latin typeface="Aptos"/>
                <a:ea typeface="Calibri"/>
                <a:cs typeface="Calibri"/>
              </a:rPr>
              <a:t>Подготовка</a:t>
            </a:r>
            <a:endParaRPr lang="en-GB" sz="1400">
              <a:solidFill>
                <a:srgbClr val="FFFFFF"/>
              </a:solidFill>
              <a:latin typeface="Aptos"/>
              <a:ea typeface="Calibri"/>
              <a:cs typeface="Calibri"/>
            </a:endParaRPr>
          </a:p>
        </p:txBody>
      </p:sp>
      <p:pic>
        <p:nvPicPr>
          <p:cNvPr id="24" name="Picture 23">
            <a:extLst>
              <a:ext uri="{FF2B5EF4-FFF2-40B4-BE49-F238E27FC236}">
                <a16:creationId xmlns:a16="http://schemas.microsoft.com/office/drawing/2014/main" id="{7354B645-A35F-41A2-BD9E-44AB5598D069}"/>
              </a:ext>
            </a:extLst>
          </p:cNvPr>
          <p:cNvPicPr>
            <a:picLocks noChangeAspect="1"/>
          </p:cNvPicPr>
          <p:nvPr/>
        </p:nvPicPr>
        <p:blipFill>
          <a:blip r:embed="rId2"/>
          <a:stretch>
            <a:fillRect/>
          </a:stretch>
        </p:blipFill>
        <p:spPr>
          <a:xfrm>
            <a:off x="10883590" y="5621341"/>
            <a:ext cx="982751" cy="995681"/>
          </a:xfrm>
          <a:prstGeom prst="rect">
            <a:avLst/>
          </a:prstGeom>
        </p:spPr>
      </p:pic>
      <p:sp>
        <p:nvSpPr>
          <p:cNvPr id="5" name="Rectangle: Rounded Corners 10">
            <a:extLst>
              <a:ext uri="{FF2B5EF4-FFF2-40B4-BE49-F238E27FC236}">
                <a16:creationId xmlns:a16="http://schemas.microsoft.com/office/drawing/2014/main" id="{4B972F6B-9695-0277-83FE-3266F7B0FF02}"/>
              </a:ext>
            </a:extLst>
          </p:cNvPr>
          <p:cNvSpPr/>
          <p:nvPr/>
        </p:nvSpPr>
        <p:spPr>
          <a:xfrm>
            <a:off x="6056961" y="1524076"/>
            <a:ext cx="4654489" cy="825222"/>
          </a:xfrm>
          <a:prstGeom prst="roundRect">
            <a:avLst>
              <a:gd name="adj" fmla="val 6804"/>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285750" indent="-285750">
              <a:buFont typeface="Arial" panose="020B0604020202020204" pitchFamily="34" charset="0"/>
              <a:buChar char="•"/>
            </a:pPr>
            <a:r>
              <a:rPr lang="ru-RU" sz="1400" err="1"/>
              <a:t>Проява</a:t>
            </a:r>
            <a:r>
              <a:rPr lang="ru-RU" sz="1400"/>
              <a:t> на </a:t>
            </a:r>
            <a:r>
              <a:rPr lang="ru-RU" sz="1400" err="1"/>
              <a:t>разбиране</a:t>
            </a:r>
            <a:r>
              <a:rPr lang="ru-RU" sz="1400"/>
              <a:t>.</a:t>
            </a:r>
          </a:p>
          <a:p>
            <a:pPr marL="285750" indent="-285750">
              <a:buFont typeface="Arial" panose="020B0604020202020204" pitchFamily="34" charset="0"/>
              <a:buChar char="•"/>
            </a:pPr>
            <a:r>
              <a:rPr lang="ru-RU" sz="1400"/>
              <a:t>Отговор с </a:t>
            </a:r>
            <a:r>
              <a:rPr lang="ru-RU" sz="1400" err="1"/>
              <a:t>полза</a:t>
            </a:r>
            <a:r>
              <a:rPr lang="ru-RU" sz="1400"/>
              <a:t> за клиента.</a:t>
            </a:r>
          </a:p>
          <a:p>
            <a:pPr marL="285750" indent="-285750">
              <a:buFont typeface="Arial" panose="020B0604020202020204" pitchFamily="34" charset="0"/>
              <a:buChar char="•"/>
            </a:pPr>
            <a:r>
              <a:rPr lang="ru-RU" sz="1400" err="1"/>
              <a:t>Потвърждение</a:t>
            </a:r>
            <a:r>
              <a:rPr lang="ru-RU" sz="1400"/>
              <a:t>, че </a:t>
            </a:r>
            <a:r>
              <a:rPr lang="ru-RU" sz="1400" err="1"/>
              <a:t>отговорът</a:t>
            </a:r>
            <a:r>
              <a:rPr lang="ru-RU" sz="1400"/>
              <a:t> </a:t>
            </a:r>
            <a:r>
              <a:rPr lang="ru-RU" sz="1400" err="1"/>
              <a:t>ти</a:t>
            </a:r>
            <a:r>
              <a:rPr lang="ru-RU" sz="1400"/>
              <a:t> е бил удовлетворителен и </a:t>
            </a:r>
            <a:r>
              <a:rPr lang="ru-RU" sz="1400" err="1"/>
              <a:t>преминаване</a:t>
            </a:r>
            <a:r>
              <a:rPr lang="ru-RU" sz="1400"/>
              <a:t> </a:t>
            </a:r>
            <a:r>
              <a:rPr lang="ru-RU" sz="1400" err="1"/>
              <a:t>към</a:t>
            </a:r>
            <a:r>
              <a:rPr lang="ru-RU" sz="1400"/>
              <a:t> </a:t>
            </a:r>
            <a:r>
              <a:rPr lang="ru-RU" sz="1400" err="1"/>
              <a:t>затваряне</a:t>
            </a:r>
            <a:r>
              <a:rPr lang="ru-RU" sz="1400"/>
              <a:t>.</a:t>
            </a:r>
          </a:p>
        </p:txBody>
      </p:sp>
      <p:sp>
        <p:nvSpPr>
          <p:cNvPr id="7" name="Текстово поле 9">
            <a:extLst>
              <a:ext uri="{FF2B5EF4-FFF2-40B4-BE49-F238E27FC236}">
                <a16:creationId xmlns:a16="http://schemas.microsoft.com/office/drawing/2014/main" id="{8B9C3D16-AE65-D325-F5D8-781C74E59570}"/>
              </a:ext>
            </a:extLst>
          </p:cNvPr>
          <p:cNvSpPr txBox="1"/>
          <p:nvPr/>
        </p:nvSpPr>
        <p:spPr>
          <a:xfrm>
            <a:off x="6137935" y="2349376"/>
            <a:ext cx="5417299" cy="462201"/>
          </a:xfrm>
          <a:prstGeom prst="roundRect">
            <a:avLst>
              <a:gd name="adj" fmla="val 34673"/>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lvl1pPr>
              <a:defRPr b="1">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bg-BG"/>
              <a:t>Примерни възражения</a:t>
            </a:r>
          </a:p>
        </p:txBody>
      </p:sp>
      <p:sp>
        <p:nvSpPr>
          <p:cNvPr id="9" name="Rectangle: Rounded Corners 8">
            <a:extLst>
              <a:ext uri="{FF2B5EF4-FFF2-40B4-BE49-F238E27FC236}">
                <a16:creationId xmlns:a16="http://schemas.microsoft.com/office/drawing/2014/main" id="{7341F052-BA94-36C1-DBE1-3388F2C209A1}"/>
              </a:ext>
            </a:extLst>
          </p:cNvPr>
          <p:cNvSpPr/>
          <p:nvPr/>
        </p:nvSpPr>
        <p:spPr>
          <a:xfrm>
            <a:off x="6114419" y="2781149"/>
            <a:ext cx="2258337" cy="378045"/>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200">
                <a:ea typeface="+mn-lt"/>
                <a:cs typeface="+mn-lt"/>
              </a:rPr>
              <a:t>Вече </a:t>
            </a:r>
            <a:r>
              <a:rPr lang="ru-RU" sz="1200" err="1">
                <a:ea typeface="+mn-lt"/>
                <a:cs typeface="+mn-lt"/>
              </a:rPr>
              <a:t>изтеглих</a:t>
            </a:r>
            <a:r>
              <a:rPr lang="ru-RU" sz="1200">
                <a:ea typeface="+mn-lt"/>
                <a:cs typeface="+mn-lt"/>
              </a:rPr>
              <a:t> кредит</a:t>
            </a:r>
            <a:endParaRPr lang="bg-BG" sz="1200"/>
          </a:p>
        </p:txBody>
      </p:sp>
      <p:sp>
        <p:nvSpPr>
          <p:cNvPr id="12" name="Rectangle: Rounded Corners 11">
            <a:extLst>
              <a:ext uri="{FF2B5EF4-FFF2-40B4-BE49-F238E27FC236}">
                <a16:creationId xmlns:a16="http://schemas.microsoft.com/office/drawing/2014/main" id="{895367BD-F5A7-07AD-4EB7-6EF60CF62ED1}"/>
              </a:ext>
            </a:extLst>
          </p:cNvPr>
          <p:cNvSpPr/>
          <p:nvPr/>
        </p:nvSpPr>
        <p:spPr>
          <a:xfrm>
            <a:off x="6132841" y="3224829"/>
            <a:ext cx="2258337" cy="358524"/>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200" err="1">
                <a:ea typeface="+mn-lt"/>
                <a:cs typeface="+mn-lt"/>
              </a:rPr>
              <a:t>Високи</a:t>
            </a:r>
            <a:r>
              <a:rPr lang="ru-RU" sz="1200">
                <a:ea typeface="+mn-lt"/>
                <a:cs typeface="+mn-lt"/>
              </a:rPr>
              <a:t> </a:t>
            </a:r>
            <a:r>
              <a:rPr lang="ru-RU" sz="1200" err="1">
                <a:ea typeface="+mn-lt"/>
                <a:cs typeface="+mn-lt"/>
              </a:rPr>
              <a:t>са</a:t>
            </a:r>
            <a:r>
              <a:rPr lang="ru-RU" sz="1200">
                <a:ea typeface="+mn-lt"/>
                <a:cs typeface="+mn-lt"/>
              </a:rPr>
              <a:t> </a:t>
            </a:r>
            <a:r>
              <a:rPr lang="ru-RU" sz="1200" err="1">
                <a:ea typeface="+mn-lt"/>
                <a:cs typeface="+mn-lt"/>
              </a:rPr>
              <a:t>ви</a:t>
            </a:r>
            <a:r>
              <a:rPr lang="ru-RU" sz="1200">
                <a:ea typeface="+mn-lt"/>
                <a:cs typeface="+mn-lt"/>
              </a:rPr>
              <a:t> </a:t>
            </a:r>
            <a:r>
              <a:rPr lang="ru-RU" sz="1200" err="1">
                <a:ea typeface="+mn-lt"/>
                <a:cs typeface="+mn-lt"/>
              </a:rPr>
              <a:t>лихвите</a:t>
            </a:r>
            <a:endParaRPr lang="bg-BG" sz="1200"/>
          </a:p>
        </p:txBody>
      </p:sp>
      <p:sp>
        <p:nvSpPr>
          <p:cNvPr id="16" name="Rectangle: Rounded Corners 4">
            <a:extLst>
              <a:ext uri="{FF2B5EF4-FFF2-40B4-BE49-F238E27FC236}">
                <a16:creationId xmlns:a16="http://schemas.microsoft.com/office/drawing/2014/main" id="{C4EBDA06-F07E-14E6-7D89-077475DCFE08}"/>
              </a:ext>
            </a:extLst>
          </p:cNvPr>
          <p:cNvSpPr/>
          <p:nvPr/>
        </p:nvSpPr>
        <p:spPr>
          <a:xfrm>
            <a:off x="8513098" y="2789121"/>
            <a:ext cx="2258337" cy="358524"/>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200" err="1">
                <a:ea typeface="+mn-lt"/>
                <a:cs typeface="+mn-lt"/>
              </a:rPr>
              <a:t>Нямам</a:t>
            </a:r>
            <a:r>
              <a:rPr lang="ru-RU" sz="1200">
                <a:ea typeface="+mn-lt"/>
                <a:cs typeface="+mn-lt"/>
              </a:rPr>
              <a:t> нужда</a:t>
            </a:r>
            <a:endParaRPr lang="bg-BG" sz="1200"/>
          </a:p>
        </p:txBody>
      </p:sp>
      <p:sp>
        <p:nvSpPr>
          <p:cNvPr id="25" name="Rectangle: Rounded Corners 4">
            <a:extLst>
              <a:ext uri="{FF2B5EF4-FFF2-40B4-BE49-F238E27FC236}">
                <a16:creationId xmlns:a16="http://schemas.microsoft.com/office/drawing/2014/main" id="{22D0D820-8286-1966-8F30-9971D2D7D3A7}"/>
              </a:ext>
            </a:extLst>
          </p:cNvPr>
          <p:cNvSpPr/>
          <p:nvPr/>
        </p:nvSpPr>
        <p:spPr>
          <a:xfrm>
            <a:off x="8513098" y="3203528"/>
            <a:ext cx="2258337" cy="358524"/>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200">
                <a:ea typeface="+mn-lt"/>
                <a:cs typeface="+mn-lt"/>
              </a:rPr>
              <a:t>Искам да се </a:t>
            </a:r>
            <a:r>
              <a:rPr lang="ru-RU" sz="1200" err="1">
                <a:ea typeface="+mn-lt"/>
                <a:cs typeface="+mn-lt"/>
              </a:rPr>
              <a:t>посъветвам</a:t>
            </a:r>
            <a:endParaRPr lang="bg-BG" sz="1200"/>
          </a:p>
        </p:txBody>
      </p:sp>
      <p:sp>
        <p:nvSpPr>
          <p:cNvPr id="39" name="TextBox 38">
            <a:extLst>
              <a:ext uri="{FF2B5EF4-FFF2-40B4-BE49-F238E27FC236}">
                <a16:creationId xmlns:a16="http://schemas.microsoft.com/office/drawing/2014/main" id="{4AF3B69D-B97A-C4D5-F6CD-89489CA06E22}"/>
              </a:ext>
            </a:extLst>
          </p:cNvPr>
          <p:cNvSpPr txBox="1"/>
          <p:nvPr/>
        </p:nvSpPr>
        <p:spPr>
          <a:xfrm>
            <a:off x="6059000" y="1063505"/>
            <a:ext cx="611124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lvl1pPr>
              <a:defRPr b="1"/>
            </a:lvl1pPr>
          </a:lstStyle>
          <a:p>
            <a:r>
              <a:rPr lang="ru-RU" err="1"/>
              <a:t>Какво</a:t>
            </a:r>
            <a:r>
              <a:rPr lang="ru-RU"/>
              <a:t> </a:t>
            </a:r>
            <a:r>
              <a:rPr lang="ru-RU" err="1"/>
              <a:t>включва</a:t>
            </a:r>
            <a:r>
              <a:rPr lang="ru-RU"/>
              <a:t> </a:t>
            </a:r>
            <a:r>
              <a:rPr lang="ru-RU" err="1"/>
              <a:t>този</a:t>
            </a:r>
            <a:r>
              <a:rPr lang="ru-RU"/>
              <a:t> </a:t>
            </a:r>
            <a:r>
              <a:rPr lang="ru-RU" err="1"/>
              <a:t>етап</a:t>
            </a:r>
            <a:r>
              <a:rPr lang="ru-RU"/>
              <a:t>:</a:t>
            </a:r>
          </a:p>
        </p:txBody>
      </p:sp>
    </p:spTree>
    <p:extLst>
      <p:ext uri="{BB962C8B-B14F-4D97-AF65-F5344CB8AC3E}">
        <p14:creationId xmlns:p14="http://schemas.microsoft.com/office/powerpoint/2010/main" val="22837493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BD8CCD-FDDD-E8DB-1891-7072D4901679}"/>
            </a:ext>
          </a:extLst>
        </p:cNvPr>
        <p:cNvGrpSpPr/>
        <p:nvPr/>
      </p:nvGrpSpPr>
      <p:grpSpPr>
        <a:xfrm>
          <a:off x="0" y="0"/>
          <a:ext cx="0" cy="0"/>
          <a:chOff x="0" y="0"/>
          <a:chExt cx="0" cy="0"/>
        </a:xfrm>
      </p:grpSpPr>
      <p:sp>
        <p:nvSpPr>
          <p:cNvPr id="35" name="Rectangle 9">
            <a:extLst>
              <a:ext uri="{FF2B5EF4-FFF2-40B4-BE49-F238E27FC236}">
                <a16:creationId xmlns:a16="http://schemas.microsoft.com/office/drawing/2014/main" id="{0036DB1C-2EC6-0634-0C10-5199C01A85D1}"/>
              </a:ext>
            </a:extLst>
          </p:cNvPr>
          <p:cNvSpPr/>
          <p:nvPr/>
        </p:nvSpPr>
        <p:spPr>
          <a:xfrm>
            <a:off x="2189602" y="2540005"/>
            <a:ext cx="3480247" cy="1090188"/>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Представяне на целта</a:t>
            </a:r>
            <a:endParaRPr lang="en-GB" sz="1600"/>
          </a:p>
        </p:txBody>
      </p:sp>
      <p:sp>
        <p:nvSpPr>
          <p:cNvPr id="36" name="Rectangle 11">
            <a:extLst>
              <a:ext uri="{FF2B5EF4-FFF2-40B4-BE49-F238E27FC236}">
                <a16:creationId xmlns:a16="http://schemas.microsoft.com/office/drawing/2014/main" id="{E89EAC95-2D0D-D6D1-4ACA-F78F5070370B}"/>
              </a:ext>
            </a:extLst>
          </p:cNvPr>
          <p:cNvSpPr/>
          <p:nvPr/>
        </p:nvSpPr>
        <p:spPr>
          <a:xfrm>
            <a:off x="2189602" y="1322152"/>
            <a:ext cx="3480247" cy="1090188"/>
          </a:xfrm>
          <a:prstGeom prst="round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600"/>
              <a:t>Отваряне</a:t>
            </a:r>
            <a:endParaRPr lang="en-GB" sz="1600"/>
          </a:p>
        </p:txBody>
      </p:sp>
      <p:sp>
        <p:nvSpPr>
          <p:cNvPr id="37" name="Rectangle 13">
            <a:extLst>
              <a:ext uri="{FF2B5EF4-FFF2-40B4-BE49-F238E27FC236}">
                <a16:creationId xmlns:a16="http://schemas.microsoft.com/office/drawing/2014/main" id="{EBC4DA53-0B65-CE9A-F0E2-9918C28A605F}"/>
              </a:ext>
            </a:extLst>
          </p:cNvPr>
          <p:cNvSpPr/>
          <p:nvPr/>
        </p:nvSpPr>
        <p:spPr>
          <a:xfrm>
            <a:off x="2189602" y="3757858"/>
            <a:ext cx="3480247" cy="1090188"/>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Справяне с възражения</a:t>
            </a:r>
            <a:endParaRPr lang="en-GB" sz="1600"/>
          </a:p>
        </p:txBody>
      </p:sp>
      <p:sp>
        <p:nvSpPr>
          <p:cNvPr id="38" name="Rectangle 15">
            <a:extLst>
              <a:ext uri="{FF2B5EF4-FFF2-40B4-BE49-F238E27FC236}">
                <a16:creationId xmlns:a16="http://schemas.microsoft.com/office/drawing/2014/main" id="{F09A4EB4-FE30-9FAD-1CD1-6845C6F811C2}"/>
              </a:ext>
            </a:extLst>
          </p:cNvPr>
          <p:cNvSpPr/>
          <p:nvPr/>
        </p:nvSpPr>
        <p:spPr>
          <a:xfrm>
            <a:off x="2189602" y="5007903"/>
            <a:ext cx="3480247" cy="1090188"/>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Затваряне</a:t>
            </a:r>
            <a:endParaRPr lang="en-GB" sz="1600"/>
          </a:p>
        </p:txBody>
      </p:sp>
      <p:sp>
        <p:nvSpPr>
          <p:cNvPr id="13" name="Rectangle: Rounded Corners 12">
            <a:extLst>
              <a:ext uri="{FF2B5EF4-FFF2-40B4-BE49-F238E27FC236}">
                <a16:creationId xmlns:a16="http://schemas.microsoft.com/office/drawing/2014/main" id="{50166E14-C203-A1E5-8327-DA3B462BC359}"/>
              </a:ext>
            </a:extLst>
          </p:cNvPr>
          <p:cNvSpPr/>
          <p:nvPr/>
        </p:nvSpPr>
        <p:spPr>
          <a:xfrm>
            <a:off x="6108394" y="4076382"/>
            <a:ext cx="2245942" cy="521657"/>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600"/>
              <a:t>Огледална</a:t>
            </a:r>
          </a:p>
        </p:txBody>
      </p:sp>
      <p:sp>
        <p:nvSpPr>
          <p:cNvPr id="18" name="Rectangle: Rounded Corners 12">
            <a:extLst>
              <a:ext uri="{FF2B5EF4-FFF2-40B4-BE49-F238E27FC236}">
                <a16:creationId xmlns:a16="http://schemas.microsoft.com/office/drawing/2014/main" id="{5655135B-163F-3DCF-5E3B-19A68E2B4390}"/>
              </a:ext>
            </a:extLst>
          </p:cNvPr>
          <p:cNvSpPr/>
          <p:nvPr/>
        </p:nvSpPr>
        <p:spPr>
          <a:xfrm>
            <a:off x="8459020" y="4079293"/>
            <a:ext cx="2245942" cy="521657"/>
          </a:xfrm>
          <a:prstGeom prst="roundRect">
            <a:avLst/>
          </a:prstGeom>
          <a:solidFill>
            <a:srgbClr val="4472C4"/>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600"/>
              <a:t>Алтернативна</a:t>
            </a:r>
            <a:endParaRPr lang="bg-BG" sz="2400"/>
          </a:p>
        </p:txBody>
      </p:sp>
      <p:sp>
        <p:nvSpPr>
          <p:cNvPr id="19" name="Текстово поле 18">
            <a:extLst>
              <a:ext uri="{FF2B5EF4-FFF2-40B4-BE49-F238E27FC236}">
                <a16:creationId xmlns:a16="http://schemas.microsoft.com/office/drawing/2014/main" id="{BD7CE104-F474-CDC0-97DE-10DE9503D832}"/>
              </a:ext>
            </a:extLst>
          </p:cNvPr>
          <p:cNvSpPr txBox="1"/>
          <p:nvPr/>
        </p:nvSpPr>
        <p:spPr>
          <a:xfrm>
            <a:off x="6059000" y="3623140"/>
            <a:ext cx="397649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bg-BG" b="1"/>
              <a:t>Техники за справяне с възражения</a:t>
            </a:r>
          </a:p>
        </p:txBody>
      </p:sp>
      <p:sp>
        <p:nvSpPr>
          <p:cNvPr id="20" name="Rectangle: Rounded Corners 12">
            <a:extLst>
              <a:ext uri="{FF2B5EF4-FFF2-40B4-BE49-F238E27FC236}">
                <a16:creationId xmlns:a16="http://schemas.microsoft.com/office/drawing/2014/main" id="{42E7151D-62B2-6F64-E903-CCA44550BB8D}"/>
              </a:ext>
            </a:extLst>
          </p:cNvPr>
          <p:cNvSpPr/>
          <p:nvPr/>
        </p:nvSpPr>
        <p:spPr>
          <a:xfrm>
            <a:off x="6108394" y="4708264"/>
            <a:ext cx="2245942" cy="521657"/>
          </a:xfrm>
          <a:prstGeom prst="roundRect">
            <a:avLst/>
          </a:prstGeom>
          <a:solidFill>
            <a:srgbClr val="4472C4"/>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600"/>
              <a:t>Относителна</a:t>
            </a:r>
            <a:endParaRPr lang="bg-BG" sz="2400"/>
          </a:p>
        </p:txBody>
      </p:sp>
      <p:sp>
        <p:nvSpPr>
          <p:cNvPr id="22" name="Rectangle: Rounded Corners 12">
            <a:extLst>
              <a:ext uri="{FF2B5EF4-FFF2-40B4-BE49-F238E27FC236}">
                <a16:creationId xmlns:a16="http://schemas.microsoft.com/office/drawing/2014/main" id="{47748E58-D5B6-21C7-5C0D-4111220A108D}"/>
              </a:ext>
            </a:extLst>
          </p:cNvPr>
          <p:cNvSpPr/>
          <p:nvPr/>
        </p:nvSpPr>
        <p:spPr>
          <a:xfrm>
            <a:off x="8459020" y="4706322"/>
            <a:ext cx="2245942" cy="521657"/>
          </a:xfrm>
          <a:prstGeom prst="round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600"/>
              <a:t>Тирбушон</a:t>
            </a:r>
            <a:endParaRPr lang="bg-BG" sz="2400"/>
          </a:p>
        </p:txBody>
      </p:sp>
      <p:sp>
        <p:nvSpPr>
          <p:cNvPr id="15" name="Балонче за говор: правоъгълник със заоблени ъгли 14">
            <a:extLst>
              <a:ext uri="{FF2B5EF4-FFF2-40B4-BE49-F238E27FC236}">
                <a16:creationId xmlns:a16="http://schemas.microsoft.com/office/drawing/2014/main" id="{71FBB8E6-319A-9BDF-BD37-EBA2BCD1DB9A}"/>
              </a:ext>
            </a:extLst>
          </p:cNvPr>
          <p:cNvSpPr/>
          <p:nvPr/>
        </p:nvSpPr>
        <p:spPr>
          <a:xfrm rot="10800000" flipV="1">
            <a:off x="6095999" y="5333350"/>
            <a:ext cx="4608961" cy="1216462"/>
          </a:xfrm>
          <a:prstGeom prst="roundRect">
            <a:avLst>
              <a:gd name="adj" fmla="val 14834"/>
            </a:avLst>
          </a:prstGeom>
          <a:solidFill>
            <a:schemeClr val="bg1"/>
          </a:solidFill>
          <a:ln>
            <a:noFill/>
          </a:ln>
          <a:effectLst>
            <a:outerShdw blurRad="50800" dist="38100" dir="5400000" algn="t" rotWithShape="0">
              <a:prstClr val="black">
                <a:alpha val="40000"/>
              </a:prstClr>
            </a:outerShdw>
          </a:effectLst>
        </p:spPr>
        <p:style>
          <a:lnRef idx="1">
            <a:schemeClr val="accent4"/>
          </a:lnRef>
          <a:fillRef idx="2">
            <a:schemeClr val="accent4"/>
          </a:fillRef>
          <a:effectRef idx="1">
            <a:schemeClr val="accent4"/>
          </a:effectRef>
          <a:fontRef idx="minor">
            <a:schemeClr val="dk1"/>
          </a:fontRef>
        </p:style>
        <p:txBody>
          <a:bodyPr rtlCol="0" anchor="ctr"/>
          <a:lstStyle/>
          <a:p>
            <a:r>
              <a:rPr lang="ru-RU" sz="1400" b="1"/>
              <a:t>Тирбушон</a:t>
            </a:r>
            <a:br>
              <a:rPr lang="ru-RU" sz="1400"/>
            </a:br>
            <a:r>
              <a:rPr lang="ru-RU" sz="1400"/>
              <a:t>Задаваш уточняващ въпрос, за да стигнеш до реалната причина зад възражението.</a:t>
            </a:r>
            <a:br>
              <a:rPr lang="ru-RU" sz="1400"/>
            </a:br>
            <a:r>
              <a:rPr lang="ru-RU" sz="1400" b="1"/>
              <a:t>Пример:</a:t>
            </a:r>
            <a:r>
              <a:rPr lang="ru-RU" sz="1400"/>
              <a:t> „Кое по-скоро Ви спира – моментът, нуждата или самото предложение?“</a:t>
            </a:r>
          </a:p>
        </p:txBody>
      </p:sp>
      <p:sp>
        <p:nvSpPr>
          <p:cNvPr id="27" name="Rectangle 28">
            <a:extLst>
              <a:ext uri="{FF2B5EF4-FFF2-40B4-BE49-F238E27FC236}">
                <a16:creationId xmlns:a16="http://schemas.microsoft.com/office/drawing/2014/main" id="{FF0428C2-40CE-929D-DC62-95430E4B25D9}"/>
              </a:ext>
            </a:extLst>
          </p:cNvPr>
          <p:cNvSpPr/>
          <p:nvPr/>
        </p:nvSpPr>
        <p:spPr>
          <a:xfrm>
            <a:off x="-15824" y="1599"/>
            <a:ext cx="1465320" cy="6859628"/>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400">
              <a:latin typeface="Aptos"/>
              <a:ea typeface="Calibri"/>
              <a:cs typeface="Calibri"/>
            </a:endParaRPr>
          </a:p>
        </p:txBody>
      </p:sp>
      <p:sp>
        <p:nvSpPr>
          <p:cNvPr id="29" name="Rectangle 29">
            <a:extLst>
              <a:ext uri="{FF2B5EF4-FFF2-40B4-BE49-F238E27FC236}">
                <a16:creationId xmlns:a16="http://schemas.microsoft.com/office/drawing/2014/main" id="{3F3BC207-EA46-9D5D-B84F-309F86F3BF3C}"/>
              </a:ext>
            </a:extLst>
          </p:cNvPr>
          <p:cNvSpPr/>
          <p:nvPr/>
        </p:nvSpPr>
        <p:spPr>
          <a:xfrm>
            <a:off x="-1671" y="2528038"/>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Типове клиенти</a:t>
            </a:r>
            <a:endParaRPr lang="en-GB" sz="1400">
              <a:latin typeface="Aptos"/>
              <a:ea typeface="Calibri"/>
              <a:cs typeface="Calibri"/>
            </a:endParaRPr>
          </a:p>
        </p:txBody>
      </p:sp>
      <p:sp>
        <p:nvSpPr>
          <p:cNvPr id="30" name="Rectangle 30">
            <a:extLst>
              <a:ext uri="{FF2B5EF4-FFF2-40B4-BE49-F238E27FC236}">
                <a16:creationId xmlns:a16="http://schemas.microsoft.com/office/drawing/2014/main" id="{CC690609-D6C9-B8B1-94E5-07E4389597CC}"/>
              </a:ext>
            </a:extLst>
          </p:cNvPr>
          <p:cNvSpPr/>
          <p:nvPr/>
        </p:nvSpPr>
        <p:spPr>
          <a:xfrm>
            <a:off x="8626" y="1913210"/>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Сценарии</a:t>
            </a:r>
            <a:endParaRPr lang="en-GB" sz="1400">
              <a:latin typeface="Aptos"/>
              <a:ea typeface="Calibri"/>
              <a:cs typeface="Calibri"/>
            </a:endParaRPr>
          </a:p>
        </p:txBody>
      </p:sp>
      <p:sp>
        <p:nvSpPr>
          <p:cNvPr id="31" name="Rectangle 31">
            <a:extLst>
              <a:ext uri="{FF2B5EF4-FFF2-40B4-BE49-F238E27FC236}">
                <a16:creationId xmlns:a16="http://schemas.microsoft.com/office/drawing/2014/main" id="{268208EB-A0D0-FF71-38EE-3D13845FEE0A}"/>
              </a:ext>
            </a:extLst>
          </p:cNvPr>
          <p:cNvSpPr/>
          <p:nvPr/>
        </p:nvSpPr>
        <p:spPr>
          <a:xfrm>
            <a:off x="-1671" y="1298382"/>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002060"/>
                </a:solidFill>
                <a:latin typeface="Aptos"/>
                <a:ea typeface="Calibri"/>
                <a:cs typeface="Calibri"/>
              </a:rPr>
              <a:t>Стъпки в обаждането</a:t>
            </a:r>
            <a:endParaRPr lang="en-GB" sz="1400">
              <a:solidFill>
                <a:srgbClr val="002060"/>
              </a:solidFill>
              <a:latin typeface="Aptos"/>
              <a:ea typeface="Calibri"/>
              <a:cs typeface="Calibri"/>
            </a:endParaRPr>
          </a:p>
        </p:txBody>
      </p:sp>
      <p:sp>
        <p:nvSpPr>
          <p:cNvPr id="32" name="Rectangle 3">
            <a:extLst>
              <a:ext uri="{FF2B5EF4-FFF2-40B4-BE49-F238E27FC236}">
                <a16:creationId xmlns:a16="http://schemas.microsoft.com/office/drawing/2014/main" id="{66E40B38-2957-863D-3ED2-8CC4A6F26ACD}"/>
              </a:ext>
            </a:extLst>
          </p:cNvPr>
          <p:cNvSpPr/>
          <p:nvPr/>
        </p:nvSpPr>
        <p:spPr>
          <a:xfrm>
            <a:off x="1443475" y="4245"/>
            <a:ext cx="5338363" cy="67724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33" name="Rectangle 4">
            <a:extLst>
              <a:ext uri="{FF2B5EF4-FFF2-40B4-BE49-F238E27FC236}">
                <a16:creationId xmlns:a16="http://schemas.microsoft.com/office/drawing/2014/main" id="{0C199DEB-F018-6DF3-9054-A6327856A8BB}"/>
              </a:ext>
            </a:extLst>
          </p:cNvPr>
          <p:cNvSpPr/>
          <p:nvPr/>
        </p:nvSpPr>
        <p:spPr>
          <a:xfrm>
            <a:off x="6788435" y="4245"/>
            <a:ext cx="5417300" cy="677242"/>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34" name="Rectangle 28">
            <a:extLst>
              <a:ext uri="{FF2B5EF4-FFF2-40B4-BE49-F238E27FC236}">
                <a16:creationId xmlns:a16="http://schemas.microsoft.com/office/drawing/2014/main" id="{8D8F6808-6A40-5E2C-9BDD-809CD7753D49}"/>
              </a:ext>
            </a:extLst>
          </p:cNvPr>
          <p:cNvSpPr/>
          <p:nvPr/>
        </p:nvSpPr>
        <p:spPr>
          <a:xfrm>
            <a:off x="-15827" y="690328"/>
            <a:ext cx="1465322"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FFFFFF"/>
                </a:solidFill>
                <a:latin typeface="Aptos"/>
                <a:ea typeface="Calibri"/>
                <a:cs typeface="Calibri"/>
              </a:rPr>
              <a:t>Подготовка</a:t>
            </a:r>
            <a:endParaRPr lang="en-GB" sz="1400">
              <a:solidFill>
                <a:srgbClr val="FFFFFF"/>
              </a:solidFill>
              <a:latin typeface="Aptos"/>
              <a:ea typeface="Calibri"/>
              <a:cs typeface="Calibri"/>
            </a:endParaRPr>
          </a:p>
        </p:txBody>
      </p:sp>
      <p:pic>
        <p:nvPicPr>
          <p:cNvPr id="24" name="Picture 23">
            <a:extLst>
              <a:ext uri="{FF2B5EF4-FFF2-40B4-BE49-F238E27FC236}">
                <a16:creationId xmlns:a16="http://schemas.microsoft.com/office/drawing/2014/main" id="{511763CF-6A1F-6985-779B-38C6AE9C75C3}"/>
              </a:ext>
            </a:extLst>
          </p:cNvPr>
          <p:cNvPicPr>
            <a:picLocks noChangeAspect="1"/>
          </p:cNvPicPr>
          <p:nvPr/>
        </p:nvPicPr>
        <p:blipFill>
          <a:blip r:embed="rId2"/>
          <a:stretch>
            <a:fillRect/>
          </a:stretch>
        </p:blipFill>
        <p:spPr>
          <a:xfrm>
            <a:off x="10883590" y="5621341"/>
            <a:ext cx="982751" cy="995681"/>
          </a:xfrm>
          <a:prstGeom prst="rect">
            <a:avLst/>
          </a:prstGeom>
        </p:spPr>
      </p:pic>
      <p:sp>
        <p:nvSpPr>
          <p:cNvPr id="4" name="Rectangle: Rounded Corners 10">
            <a:extLst>
              <a:ext uri="{FF2B5EF4-FFF2-40B4-BE49-F238E27FC236}">
                <a16:creationId xmlns:a16="http://schemas.microsoft.com/office/drawing/2014/main" id="{314CFA8F-452B-4E9B-D520-174C728D0B58}"/>
              </a:ext>
            </a:extLst>
          </p:cNvPr>
          <p:cNvSpPr/>
          <p:nvPr/>
        </p:nvSpPr>
        <p:spPr>
          <a:xfrm>
            <a:off x="6056961" y="1524938"/>
            <a:ext cx="4665862" cy="882087"/>
          </a:xfrm>
          <a:prstGeom prst="roundRect">
            <a:avLst>
              <a:gd name="adj" fmla="val 6804"/>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285750" indent="-285750">
              <a:buFont typeface="Arial" panose="020B0604020202020204" pitchFamily="34" charset="0"/>
              <a:buChar char="•"/>
            </a:pPr>
            <a:r>
              <a:rPr lang="ru-RU" sz="1400" err="1"/>
              <a:t>Проява</a:t>
            </a:r>
            <a:r>
              <a:rPr lang="ru-RU" sz="1400"/>
              <a:t> на </a:t>
            </a:r>
            <a:r>
              <a:rPr lang="ru-RU" sz="1400" err="1"/>
              <a:t>разбиране</a:t>
            </a:r>
            <a:r>
              <a:rPr lang="ru-RU" sz="1400"/>
              <a:t>.</a:t>
            </a:r>
          </a:p>
          <a:p>
            <a:pPr marL="285750" indent="-285750">
              <a:buFont typeface="Arial" panose="020B0604020202020204" pitchFamily="34" charset="0"/>
              <a:buChar char="•"/>
            </a:pPr>
            <a:r>
              <a:rPr lang="ru-RU" sz="1400"/>
              <a:t>Отговор с </a:t>
            </a:r>
            <a:r>
              <a:rPr lang="ru-RU" sz="1400" err="1"/>
              <a:t>полза</a:t>
            </a:r>
            <a:r>
              <a:rPr lang="ru-RU" sz="1400"/>
              <a:t> за клиента.</a:t>
            </a:r>
          </a:p>
          <a:p>
            <a:pPr marL="285750" indent="-285750">
              <a:buFont typeface="Arial" panose="020B0604020202020204" pitchFamily="34" charset="0"/>
              <a:buChar char="•"/>
            </a:pPr>
            <a:r>
              <a:rPr lang="ru-RU" sz="1400" err="1"/>
              <a:t>Потвърждение</a:t>
            </a:r>
            <a:r>
              <a:rPr lang="ru-RU" sz="1400"/>
              <a:t>, че </a:t>
            </a:r>
            <a:r>
              <a:rPr lang="ru-RU" sz="1400" err="1"/>
              <a:t>отговорът</a:t>
            </a:r>
            <a:r>
              <a:rPr lang="ru-RU" sz="1400"/>
              <a:t> </a:t>
            </a:r>
            <a:r>
              <a:rPr lang="ru-RU" sz="1400" err="1"/>
              <a:t>ти</a:t>
            </a:r>
            <a:r>
              <a:rPr lang="ru-RU" sz="1400"/>
              <a:t> е бил удовлетворителен и </a:t>
            </a:r>
            <a:r>
              <a:rPr lang="ru-RU" sz="1400" err="1"/>
              <a:t>преминаване</a:t>
            </a:r>
            <a:r>
              <a:rPr lang="ru-RU" sz="1400"/>
              <a:t> </a:t>
            </a:r>
            <a:r>
              <a:rPr lang="ru-RU" sz="1400" err="1"/>
              <a:t>към</a:t>
            </a:r>
            <a:r>
              <a:rPr lang="ru-RU" sz="1400"/>
              <a:t> </a:t>
            </a:r>
            <a:r>
              <a:rPr lang="ru-RU" sz="1400" err="1"/>
              <a:t>затваряне</a:t>
            </a:r>
            <a:r>
              <a:rPr lang="ru-RU" sz="1400"/>
              <a:t>.</a:t>
            </a:r>
          </a:p>
        </p:txBody>
      </p:sp>
      <p:sp>
        <p:nvSpPr>
          <p:cNvPr id="10" name="Текстово поле 9">
            <a:extLst>
              <a:ext uri="{FF2B5EF4-FFF2-40B4-BE49-F238E27FC236}">
                <a16:creationId xmlns:a16="http://schemas.microsoft.com/office/drawing/2014/main" id="{07DDF9CE-AB1D-2441-B63D-5019CAF61EBC}"/>
              </a:ext>
            </a:extLst>
          </p:cNvPr>
          <p:cNvSpPr txBox="1"/>
          <p:nvPr/>
        </p:nvSpPr>
        <p:spPr>
          <a:xfrm>
            <a:off x="6137935" y="2407103"/>
            <a:ext cx="5417299" cy="462201"/>
          </a:xfrm>
          <a:prstGeom prst="roundRect">
            <a:avLst>
              <a:gd name="adj" fmla="val 34673"/>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lvl1pPr>
              <a:defRPr b="1">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bg-BG"/>
              <a:t>Примерни възражения</a:t>
            </a:r>
          </a:p>
        </p:txBody>
      </p:sp>
      <p:sp>
        <p:nvSpPr>
          <p:cNvPr id="2" name="Rectangle: Rounded Corners 1">
            <a:extLst>
              <a:ext uri="{FF2B5EF4-FFF2-40B4-BE49-F238E27FC236}">
                <a16:creationId xmlns:a16="http://schemas.microsoft.com/office/drawing/2014/main" id="{5CDDBC58-CCCD-8C5B-9384-2CEA6273978F}"/>
              </a:ext>
            </a:extLst>
          </p:cNvPr>
          <p:cNvSpPr/>
          <p:nvPr/>
        </p:nvSpPr>
        <p:spPr>
          <a:xfrm>
            <a:off x="6114419" y="2838876"/>
            <a:ext cx="2258337" cy="378045"/>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200">
                <a:ea typeface="+mn-lt"/>
                <a:cs typeface="+mn-lt"/>
              </a:rPr>
              <a:t>Вече </a:t>
            </a:r>
            <a:r>
              <a:rPr lang="ru-RU" sz="1200" err="1">
                <a:ea typeface="+mn-lt"/>
                <a:cs typeface="+mn-lt"/>
              </a:rPr>
              <a:t>изтеглих</a:t>
            </a:r>
            <a:r>
              <a:rPr lang="ru-RU" sz="1200">
                <a:ea typeface="+mn-lt"/>
                <a:cs typeface="+mn-lt"/>
              </a:rPr>
              <a:t> кредит</a:t>
            </a:r>
            <a:endParaRPr lang="bg-BG" sz="1200"/>
          </a:p>
        </p:txBody>
      </p:sp>
      <p:sp>
        <p:nvSpPr>
          <p:cNvPr id="5" name="Rectangle: Rounded Corners 4">
            <a:extLst>
              <a:ext uri="{FF2B5EF4-FFF2-40B4-BE49-F238E27FC236}">
                <a16:creationId xmlns:a16="http://schemas.microsoft.com/office/drawing/2014/main" id="{DE1594A7-2DCB-A20D-F7CF-26543112414C}"/>
              </a:ext>
            </a:extLst>
          </p:cNvPr>
          <p:cNvSpPr/>
          <p:nvPr/>
        </p:nvSpPr>
        <p:spPr>
          <a:xfrm>
            <a:off x="6132841" y="3282556"/>
            <a:ext cx="2258337" cy="358524"/>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200" err="1">
                <a:ea typeface="+mn-lt"/>
                <a:cs typeface="+mn-lt"/>
              </a:rPr>
              <a:t>Високи</a:t>
            </a:r>
            <a:r>
              <a:rPr lang="ru-RU" sz="1200">
                <a:ea typeface="+mn-lt"/>
                <a:cs typeface="+mn-lt"/>
              </a:rPr>
              <a:t> </a:t>
            </a:r>
            <a:r>
              <a:rPr lang="ru-RU" sz="1200" err="1">
                <a:ea typeface="+mn-lt"/>
                <a:cs typeface="+mn-lt"/>
              </a:rPr>
              <a:t>са</a:t>
            </a:r>
            <a:r>
              <a:rPr lang="ru-RU" sz="1200">
                <a:ea typeface="+mn-lt"/>
                <a:cs typeface="+mn-lt"/>
              </a:rPr>
              <a:t> </a:t>
            </a:r>
            <a:r>
              <a:rPr lang="ru-RU" sz="1200" err="1">
                <a:ea typeface="+mn-lt"/>
                <a:cs typeface="+mn-lt"/>
              </a:rPr>
              <a:t>ви</a:t>
            </a:r>
            <a:r>
              <a:rPr lang="ru-RU" sz="1200">
                <a:ea typeface="+mn-lt"/>
                <a:cs typeface="+mn-lt"/>
              </a:rPr>
              <a:t> </a:t>
            </a:r>
            <a:r>
              <a:rPr lang="ru-RU" sz="1200" err="1">
                <a:ea typeface="+mn-lt"/>
                <a:cs typeface="+mn-lt"/>
              </a:rPr>
              <a:t>лихвите</a:t>
            </a:r>
            <a:endParaRPr lang="bg-BG" sz="1200"/>
          </a:p>
        </p:txBody>
      </p:sp>
      <p:sp>
        <p:nvSpPr>
          <p:cNvPr id="6" name="Rectangle: Rounded Corners 4">
            <a:extLst>
              <a:ext uri="{FF2B5EF4-FFF2-40B4-BE49-F238E27FC236}">
                <a16:creationId xmlns:a16="http://schemas.microsoft.com/office/drawing/2014/main" id="{EC57C281-F818-8202-4CF1-A208490D3222}"/>
              </a:ext>
            </a:extLst>
          </p:cNvPr>
          <p:cNvSpPr/>
          <p:nvPr/>
        </p:nvSpPr>
        <p:spPr>
          <a:xfrm>
            <a:off x="8513098" y="2846848"/>
            <a:ext cx="2258337" cy="358524"/>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200" err="1">
                <a:ea typeface="+mn-lt"/>
                <a:cs typeface="+mn-lt"/>
              </a:rPr>
              <a:t>Нямам</a:t>
            </a:r>
            <a:r>
              <a:rPr lang="ru-RU" sz="1200">
                <a:ea typeface="+mn-lt"/>
                <a:cs typeface="+mn-lt"/>
              </a:rPr>
              <a:t> нужда</a:t>
            </a:r>
            <a:endParaRPr lang="bg-BG" sz="1200"/>
          </a:p>
        </p:txBody>
      </p:sp>
      <p:sp>
        <p:nvSpPr>
          <p:cNvPr id="7" name="Rectangle: Rounded Corners 4">
            <a:extLst>
              <a:ext uri="{FF2B5EF4-FFF2-40B4-BE49-F238E27FC236}">
                <a16:creationId xmlns:a16="http://schemas.microsoft.com/office/drawing/2014/main" id="{2202C834-7764-8D38-6AB1-04A472CD4BF8}"/>
              </a:ext>
            </a:extLst>
          </p:cNvPr>
          <p:cNvSpPr/>
          <p:nvPr/>
        </p:nvSpPr>
        <p:spPr>
          <a:xfrm>
            <a:off x="8513098" y="3261255"/>
            <a:ext cx="2258337" cy="358524"/>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200">
                <a:ea typeface="+mn-lt"/>
                <a:cs typeface="+mn-lt"/>
              </a:rPr>
              <a:t>Искам да се </a:t>
            </a:r>
            <a:r>
              <a:rPr lang="ru-RU" sz="1200" err="1">
                <a:ea typeface="+mn-lt"/>
                <a:cs typeface="+mn-lt"/>
              </a:rPr>
              <a:t>посъветвам</a:t>
            </a:r>
            <a:endParaRPr lang="bg-BG" sz="1200"/>
          </a:p>
        </p:txBody>
      </p:sp>
      <p:sp>
        <p:nvSpPr>
          <p:cNvPr id="9" name="TextBox 8">
            <a:extLst>
              <a:ext uri="{FF2B5EF4-FFF2-40B4-BE49-F238E27FC236}">
                <a16:creationId xmlns:a16="http://schemas.microsoft.com/office/drawing/2014/main" id="{0FFC0636-63C7-5FE4-2570-B1713B8C6324}"/>
              </a:ext>
            </a:extLst>
          </p:cNvPr>
          <p:cNvSpPr txBox="1"/>
          <p:nvPr/>
        </p:nvSpPr>
        <p:spPr>
          <a:xfrm>
            <a:off x="6059000" y="1121232"/>
            <a:ext cx="611124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lvl1pPr>
              <a:defRPr b="1"/>
            </a:lvl1pPr>
          </a:lstStyle>
          <a:p>
            <a:r>
              <a:rPr lang="ru-RU" err="1"/>
              <a:t>Какво</a:t>
            </a:r>
            <a:r>
              <a:rPr lang="ru-RU"/>
              <a:t> </a:t>
            </a:r>
            <a:r>
              <a:rPr lang="ru-RU" err="1"/>
              <a:t>включва</a:t>
            </a:r>
            <a:r>
              <a:rPr lang="ru-RU"/>
              <a:t> </a:t>
            </a:r>
            <a:r>
              <a:rPr lang="ru-RU" err="1"/>
              <a:t>този</a:t>
            </a:r>
            <a:r>
              <a:rPr lang="ru-RU"/>
              <a:t> </a:t>
            </a:r>
            <a:r>
              <a:rPr lang="ru-RU" err="1"/>
              <a:t>етап</a:t>
            </a:r>
            <a:r>
              <a:rPr lang="ru-RU"/>
              <a:t>:</a:t>
            </a:r>
          </a:p>
        </p:txBody>
      </p:sp>
    </p:spTree>
    <p:extLst>
      <p:ext uri="{BB962C8B-B14F-4D97-AF65-F5344CB8AC3E}">
        <p14:creationId xmlns:p14="http://schemas.microsoft.com/office/powerpoint/2010/main" val="1024356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B11E2E-75CD-2B5B-EE61-6216D289AE5F}"/>
            </a:ext>
          </a:extLst>
        </p:cNvPr>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8F3A12C5-04FE-24DE-D676-FE9D42AEAF08}"/>
              </a:ext>
            </a:extLst>
          </p:cNvPr>
          <p:cNvSpPr/>
          <p:nvPr/>
        </p:nvSpPr>
        <p:spPr>
          <a:xfrm>
            <a:off x="1896200" y="2012494"/>
            <a:ext cx="2932281" cy="677241"/>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dirty="0"/>
              <a:t>Към предварително одобрен клиент</a:t>
            </a:r>
            <a:endParaRPr lang="en-GB" sz="1600" dirty="0"/>
          </a:p>
        </p:txBody>
      </p:sp>
      <p:sp>
        <p:nvSpPr>
          <p:cNvPr id="12" name="Rectangle: Rounded Corners 11">
            <a:extLst>
              <a:ext uri="{FF2B5EF4-FFF2-40B4-BE49-F238E27FC236}">
                <a16:creationId xmlns:a16="http://schemas.microsoft.com/office/drawing/2014/main" id="{49BBEE26-D129-C0C5-4FCB-F8463AABBDF6}"/>
              </a:ext>
            </a:extLst>
          </p:cNvPr>
          <p:cNvSpPr/>
          <p:nvPr/>
        </p:nvSpPr>
        <p:spPr>
          <a:xfrm>
            <a:off x="1896199" y="1147427"/>
            <a:ext cx="2932281" cy="677241"/>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Към лоялен клиент</a:t>
            </a:r>
            <a:endParaRPr lang="en-GB" sz="1600"/>
          </a:p>
        </p:txBody>
      </p:sp>
      <p:sp>
        <p:nvSpPr>
          <p:cNvPr id="14" name="Rectangle: Rounded Corners 13">
            <a:extLst>
              <a:ext uri="{FF2B5EF4-FFF2-40B4-BE49-F238E27FC236}">
                <a16:creationId xmlns:a16="http://schemas.microsoft.com/office/drawing/2014/main" id="{6525FC7D-775B-3368-F403-1D9D5CF01356}"/>
              </a:ext>
            </a:extLst>
          </p:cNvPr>
          <p:cNvSpPr/>
          <p:nvPr/>
        </p:nvSpPr>
        <p:spPr>
          <a:xfrm>
            <a:off x="1896198" y="2951536"/>
            <a:ext cx="2932281" cy="677241"/>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dirty="0"/>
              <a:t>По промо кампания</a:t>
            </a:r>
            <a:endParaRPr lang="en-GB" sz="1600" dirty="0"/>
          </a:p>
        </p:txBody>
      </p:sp>
      <p:sp>
        <p:nvSpPr>
          <p:cNvPr id="13" name="Rectangle 9">
            <a:extLst>
              <a:ext uri="{FF2B5EF4-FFF2-40B4-BE49-F238E27FC236}">
                <a16:creationId xmlns:a16="http://schemas.microsoft.com/office/drawing/2014/main" id="{491339D7-DE0A-4983-4206-04937464C4EE}"/>
              </a:ext>
            </a:extLst>
          </p:cNvPr>
          <p:cNvSpPr/>
          <p:nvPr/>
        </p:nvSpPr>
        <p:spPr>
          <a:xfrm>
            <a:off x="1896196" y="4777416"/>
            <a:ext cx="2932281" cy="677241"/>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dirty="0"/>
              <a:t>По препоръка</a:t>
            </a:r>
            <a:endParaRPr lang="en-GB" sz="1600" dirty="0"/>
          </a:p>
        </p:txBody>
      </p:sp>
      <p:sp>
        <p:nvSpPr>
          <p:cNvPr id="15" name="Rectangle 11">
            <a:extLst>
              <a:ext uri="{FF2B5EF4-FFF2-40B4-BE49-F238E27FC236}">
                <a16:creationId xmlns:a16="http://schemas.microsoft.com/office/drawing/2014/main" id="{B57A8D4E-66EF-B608-4CC4-20A5F71765C0}"/>
              </a:ext>
            </a:extLst>
          </p:cNvPr>
          <p:cNvSpPr/>
          <p:nvPr/>
        </p:nvSpPr>
        <p:spPr>
          <a:xfrm>
            <a:off x="1896197" y="3838374"/>
            <a:ext cx="2932281" cy="677241"/>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dirty="0"/>
              <a:t>За продукт „Пенсионер“</a:t>
            </a:r>
            <a:endParaRPr lang="en-GB" sz="1600" dirty="0"/>
          </a:p>
        </p:txBody>
      </p:sp>
      <p:sp>
        <p:nvSpPr>
          <p:cNvPr id="16" name="Rectangle 28">
            <a:extLst>
              <a:ext uri="{FF2B5EF4-FFF2-40B4-BE49-F238E27FC236}">
                <a16:creationId xmlns:a16="http://schemas.microsoft.com/office/drawing/2014/main" id="{FE8C1074-F413-4187-A8F1-47608F4CE076}"/>
              </a:ext>
            </a:extLst>
          </p:cNvPr>
          <p:cNvSpPr/>
          <p:nvPr/>
        </p:nvSpPr>
        <p:spPr>
          <a:xfrm>
            <a:off x="-15824" y="1599"/>
            <a:ext cx="1465320" cy="6859628"/>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400">
              <a:latin typeface="Aptos"/>
              <a:ea typeface="Calibri"/>
              <a:cs typeface="Calibri"/>
            </a:endParaRPr>
          </a:p>
        </p:txBody>
      </p:sp>
      <p:sp>
        <p:nvSpPr>
          <p:cNvPr id="18" name="Rectangle 29">
            <a:extLst>
              <a:ext uri="{FF2B5EF4-FFF2-40B4-BE49-F238E27FC236}">
                <a16:creationId xmlns:a16="http://schemas.microsoft.com/office/drawing/2014/main" id="{CC0281AF-069B-469C-9898-65E0C396D35A}"/>
              </a:ext>
            </a:extLst>
          </p:cNvPr>
          <p:cNvSpPr/>
          <p:nvPr/>
        </p:nvSpPr>
        <p:spPr>
          <a:xfrm>
            <a:off x="-1671" y="2528038"/>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Типове клиенти</a:t>
            </a:r>
            <a:endParaRPr lang="en-GB" sz="1400">
              <a:latin typeface="Aptos"/>
              <a:ea typeface="Calibri"/>
              <a:cs typeface="Calibri"/>
            </a:endParaRPr>
          </a:p>
        </p:txBody>
      </p:sp>
      <p:sp>
        <p:nvSpPr>
          <p:cNvPr id="19" name="Rectangle 30">
            <a:extLst>
              <a:ext uri="{FF2B5EF4-FFF2-40B4-BE49-F238E27FC236}">
                <a16:creationId xmlns:a16="http://schemas.microsoft.com/office/drawing/2014/main" id="{436B4018-2CA6-4403-811D-D5D5BF388ADD}"/>
              </a:ext>
            </a:extLst>
          </p:cNvPr>
          <p:cNvSpPr/>
          <p:nvPr/>
        </p:nvSpPr>
        <p:spPr>
          <a:xfrm>
            <a:off x="8626" y="1913210"/>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002060"/>
                </a:solidFill>
                <a:latin typeface="Aptos"/>
                <a:ea typeface="Calibri"/>
                <a:cs typeface="Calibri"/>
              </a:rPr>
              <a:t>Сценарии</a:t>
            </a:r>
            <a:endParaRPr lang="en-GB" sz="1400">
              <a:solidFill>
                <a:srgbClr val="002060"/>
              </a:solidFill>
              <a:latin typeface="Aptos"/>
              <a:ea typeface="Calibri"/>
              <a:cs typeface="Calibri"/>
            </a:endParaRPr>
          </a:p>
        </p:txBody>
      </p:sp>
      <p:sp>
        <p:nvSpPr>
          <p:cNvPr id="20" name="Rectangle 31">
            <a:extLst>
              <a:ext uri="{FF2B5EF4-FFF2-40B4-BE49-F238E27FC236}">
                <a16:creationId xmlns:a16="http://schemas.microsoft.com/office/drawing/2014/main" id="{778B13EC-2328-406D-A5F1-9C42AC55F677}"/>
              </a:ext>
            </a:extLst>
          </p:cNvPr>
          <p:cNvSpPr/>
          <p:nvPr/>
        </p:nvSpPr>
        <p:spPr>
          <a:xfrm>
            <a:off x="-1671" y="1298382"/>
            <a:ext cx="1442908" cy="4485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chemeClr val="bg1"/>
                </a:solidFill>
                <a:latin typeface="Aptos"/>
                <a:ea typeface="Calibri"/>
                <a:cs typeface="Calibri"/>
              </a:rPr>
              <a:t>Стъпки в обаждането</a:t>
            </a:r>
            <a:endParaRPr lang="en-GB" sz="1400">
              <a:solidFill>
                <a:schemeClr val="bg1"/>
              </a:solidFill>
              <a:latin typeface="Aptos"/>
              <a:ea typeface="Calibri"/>
              <a:cs typeface="Calibri"/>
            </a:endParaRPr>
          </a:p>
        </p:txBody>
      </p:sp>
      <p:sp>
        <p:nvSpPr>
          <p:cNvPr id="21" name="Rectangle 3">
            <a:extLst>
              <a:ext uri="{FF2B5EF4-FFF2-40B4-BE49-F238E27FC236}">
                <a16:creationId xmlns:a16="http://schemas.microsoft.com/office/drawing/2014/main" id="{71B9A3E5-4BEB-4327-AA60-DA892433781A}"/>
              </a:ext>
            </a:extLst>
          </p:cNvPr>
          <p:cNvSpPr/>
          <p:nvPr/>
        </p:nvSpPr>
        <p:spPr>
          <a:xfrm>
            <a:off x="1443475" y="4245"/>
            <a:ext cx="5338363" cy="67724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22" name="Rectangle 4">
            <a:extLst>
              <a:ext uri="{FF2B5EF4-FFF2-40B4-BE49-F238E27FC236}">
                <a16:creationId xmlns:a16="http://schemas.microsoft.com/office/drawing/2014/main" id="{9254CF09-A130-418C-A14E-1336589879BD}"/>
              </a:ext>
            </a:extLst>
          </p:cNvPr>
          <p:cNvSpPr/>
          <p:nvPr/>
        </p:nvSpPr>
        <p:spPr>
          <a:xfrm>
            <a:off x="6788435" y="4245"/>
            <a:ext cx="5417300" cy="677242"/>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23" name="Rectangle 28">
            <a:extLst>
              <a:ext uri="{FF2B5EF4-FFF2-40B4-BE49-F238E27FC236}">
                <a16:creationId xmlns:a16="http://schemas.microsoft.com/office/drawing/2014/main" id="{FC6384D5-015B-422F-867E-710A72E10886}"/>
              </a:ext>
            </a:extLst>
          </p:cNvPr>
          <p:cNvSpPr/>
          <p:nvPr/>
        </p:nvSpPr>
        <p:spPr>
          <a:xfrm>
            <a:off x="-15827" y="690328"/>
            <a:ext cx="1465322"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FFFFFF"/>
                </a:solidFill>
                <a:latin typeface="Aptos"/>
                <a:ea typeface="Calibri"/>
                <a:cs typeface="Calibri"/>
              </a:rPr>
              <a:t>Подготовка</a:t>
            </a:r>
            <a:endParaRPr lang="en-GB" sz="1400">
              <a:solidFill>
                <a:srgbClr val="FFFFFF"/>
              </a:solidFill>
              <a:latin typeface="Aptos"/>
              <a:ea typeface="Calibri"/>
              <a:cs typeface="Calibri"/>
            </a:endParaRPr>
          </a:p>
        </p:txBody>
      </p:sp>
      <p:pic>
        <p:nvPicPr>
          <p:cNvPr id="24" name="Picture 23">
            <a:extLst>
              <a:ext uri="{FF2B5EF4-FFF2-40B4-BE49-F238E27FC236}">
                <a16:creationId xmlns:a16="http://schemas.microsoft.com/office/drawing/2014/main" id="{3AB1C44E-BC24-48AF-BD29-6F4FD85107C3}"/>
              </a:ext>
            </a:extLst>
          </p:cNvPr>
          <p:cNvPicPr>
            <a:picLocks noChangeAspect="1"/>
          </p:cNvPicPr>
          <p:nvPr/>
        </p:nvPicPr>
        <p:blipFill>
          <a:blip r:embed="rId2"/>
          <a:stretch>
            <a:fillRect/>
          </a:stretch>
        </p:blipFill>
        <p:spPr>
          <a:xfrm>
            <a:off x="10883590" y="5621341"/>
            <a:ext cx="982751" cy="995681"/>
          </a:xfrm>
          <a:prstGeom prst="rect">
            <a:avLst/>
          </a:prstGeom>
        </p:spPr>
      </p:pic>
    </p:spTree>
    <p:extLst>
      <p:ext uri="{BB962C8B-B14F-4D97-AF65-F5344CB8AC3E}">
        <p14:creationId xmlns:p14="http://schemas.microsoft.com/office/powerpoint/2010/main" val="37702265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347E2C-FB5E-CEAE-DBE9-84934797317C}"/>
            </a:ext>
          </a:extLst>
        </p:cNvPr>
        <p:cNvGrpSpPr/>
        <p:nvPr/>
      </p:nvGrpSpPr>
      <p:grpSpPr>
        <a:xfrm>
          <a:off x="0" y="0"/>
          <a:ext cx="0" cy="0"/>
          <a:chOff x="0" y="0"/>
          <a:chExt cx="0" cy="0"/>
        </a:xfrm>
      </p:grpSpPr>
      <p:sp>
        <p:nvSpPr>
          <p:cNvPr id="27" name="Rectangle 3">
            <a:extLst>
              <a:ext uri="{FF2B5EF4-FFF2-40B4-BE49-F238E27FC236}">
                <a16:creationId xmlns:a16="http://schemas.microsoft.com/office/drawing/2014/main" id="{7CDAD372-670A-6409-58E0-9806E6921C33}"/>
              </a:ext>
            </a:extLst>
          </p:cNvPr>
          <p:cNvSpPr/>
          <p:nvPr/>
        </p:nvSpPr>
        <p:spPr>
          <a:xfrm>
            <a:off x="1443475" y="4245"/>
            <a:ext cx="5338363" cy="677242"/>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28" name="Rectangle 4">
            <a:extLst>
              <a:ext uri="{FF2B5EF4-FFF2-40B4-BE49-F238E27FC236}">
                <a16:creationId xmlns:a16="http://schemas.microsoft.com/office/drawing/2014/main" id="{213D348D-08F2-7573-94CA-AE136CF08520}"/>
              </a:ext>
            </a:extLst>
          </p:cNvPr>
          <p:cNvSpPr/>
          <p:nvPr/>
        </p:nvSpPr>
        <p:spPr>
          <a:xfrm>
            <a:off x="6788435" y="4245"/>
            <a:ext cx="5417300" cy="677242"/>
          </a:xfrm>
          <a:prstGeom prst="rect">
            <a:avLst/>
          </a:prstGeom>
          <a:solidFill>
            <a:schemeClr val="bg2">
              <a:lumMod val="75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29" name="Rectangle 28">
            <a:extLst>
              <a:ext uri="{FF2B5EF4-FFF2-40B4-BE49-F238E27FC236}">
                <a16:creationId xmlns:a16="http://schemas.microsoft.com/office/drawing/2014/main" id="{BCF061B1-1DF8-14B2-4282-46BE254F16DB}"/>
              </a:ext>
            </a:extLst>
          </p:cNvPr>
          <p:cNvSpPr/>
          <p:nvPr/>
        </p:nvSpPr>
        <p:spPr>
          <a:xfrm>
            <a:off x="-1671" y="1599"/>
            <a:ext cx="1451167" cy="6866954"/>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200">
              <a:latin typeface="Aptos"/>
              <a:ea typeface="Calibri"/>
              <a:cs typeface="Calibri"/>
            </a:endParaRPr>
          </a:p>
        </p:txBody>
      </p:sp>
      <p:sp>
        <p:nvSpPr>
          <p:cNvPr id="30" name="Rectangle 29">
            <a:extLst>
              <a:ext uri="{FF2B5EF4-FFF2-40B4-BE49-F238E27FC236}">
                <a16:creationId xmlns:a16="http://schemas.microsoft.com/office/drawing/2014/main" id="{DB14DB7A-FC3E-D351-5854-4D467D34F4A6}"/>
              </a:ext>
            </a:extLst>
          </p:cNvPr>
          <p:cNvSpPr/>
          <p:nvPr/>
        </p:nvSpPr>
        <p:spPr>
          <a:xfrm>
            <a:off x="-1671" y="2528038"/>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Типове клиенти</a:t>
            </a:r>
            <a:endParaRPr lang="en-GB" sz="1400">
              <a:latin typeface="Aptos"/>
              <a:ea typeface="Calibri"/>
              <a:cs typeface="Calibri"/>
            </a:endParaRPr>
          </a:p>
        </p:txBody>
      </p:sp>
      <p:sp>
        <p:nvSpPr>
          <p:cNvPr id="31" name="Rectangle 30">
            <a:extLst>
              <a:ext uri="{FF2B5EF4-FFF2-40B4-BE49-F238E27FC236}">
                <a16:creationId xmlns:a16="http://schemas.microsoft.com/office/drawing/2014/main" id="{2ACD6A37-427B-031A-9DA2-B8F35F8A0DAD}"/>
              </a:ext>
            </a:extLst>
          </p:cNvPr>
          <p:cNvSpPr/>
          <p:nvPr/>
        </p:nvSpPr>
        <p:spPr>
          <a:xfrm>
            <a:off x="8626" y="1913210"/>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b="1">
                <a:solidFill>
                  <a:srgbClr val="2F5597"/>
                </a:solidFill>
                <a:latin typeface="Aptos"/>
                <a:ea typeface="Calibri"/>
                <a:cs typeface="Calibri"/>
              </a:rPr>
              <a:t>Сценарии</a:t>
            </a:r>
            <a:endParaRPr lang="en-GB" sz="1400" b="1">
              <a:solidFill>
                <a:srgbClr val="2F5597"/>
              </a:solidFill>
              <a:latin typeface="Aptos"/>
              <a:ea typeface="Calibri"/>
              <a:cs typeface="Calibri"/>
            </a:endParaRPr>
          </a:p>
        </p:txBody>
      </p:sp>
      <p:sp>
        <p:nvSpPr>
          <p:cNvPr id="32" name="Rectangle 31">
            <a:extLst>
              <a:ext uri="{FF2B5EF4-FFF2-40B4-BE49-F238E27FC236}">
                <a16:creationId xmlns:a16="http://schemas.microsoft.com/office/drawing/2014/main" id="{FB72567A-2398-2A89-349A-DE8C78F0B54C}"/>
              </a:ext>
            </a:extLst>
          </p:cNvPr>
          <p:cNvSpPr/>
          <p:nvPr/>
        </p:nvSpPr>
        <p:spPr>
          <a:xfrm>
            <a:off x="-1671" y="1298382"/>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a:solidFill>
                  <a:schemeClr val="bg1"/>
                </a:solidFill>
                <a:latin typeface="Aptos"/>
                <a:ea typeface="Calibri"/>
                <a:cs typeface="Calibri"/>
              </a:rPr>
              <a:t>Стъпки в обаждането</a:t>
            </a:r>
            <a:endParaRPr lang="bg-BG" sz="1400">
              <a:solidFill>
                <a:srgbClr val="000000"/>
              </a:solidFill>
              <a:latin typeface="Aptos"/>
              <a:ea typeface="Calibri"/>
              <a:cs typeface="Calibri"/>
            </a:endParaRPr>
          </a:p>
        </p:txBody>
      </p:sp>
      <p:sp>
        <p:nvSpPr>
          <p:cNvPr id="33" name="Rectangle 28">
            <a:extLst>
              <a:ext uri="{FF2B5EF4-FFF2-40B4-BE49-F238E27FC236}">
                <a16:creationId xmlns:a16="http://schemas.microsoft.com/office/drawing/2014/main" id="{B8E4801A-462F-95EB-6AE7-75670334E126}"/>
              </a:ext>
            </a:extLst>
          </p:cNvPr>
          <p:cNvSpPr/>
          <p:nvPr/>
        </p:nvSpPr>
        <p:spPr>
          <a:xfrm>
            <a:off x="6154" y="690328"/>
            <a:ext cx="1435083"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a:solidFill>
                  <a:schemeClr val="bg1"/>
                </a:solidFill>
                <a:latin typeface="Aptos"/>
                <a:ea typeface="Calibri"/>
                <a:cs typeface="Calibri"/>
              </a:rPr>
              <a:t>Подготовка</a:t>
            </a:r>
            <a:endParaRPr lang="en-GB" sz="1400">
              <a:solidFill>
                <a:schemeClr val="bg1"/>
              </a:solidFill>
              <a:latin typeface="Aptos"/>
              <a:ea typeface="Calibri"/>
              <a:cs typeface="Calibri"/>
            </a:endParaRPr>
          </a:p>
        </p:txBody>
      </p:sp>
      <p:pic>
        <p:nvPicPr>
          <p:cNvPr id="35" name="Picture 34">
            <a:extLst>
              <a:ext uri="{FF2B5EF4-FFF2-40B4-BE49-F238E27FC236}">
                <a16:creationId xmlns:a16="http://schemas.microsoft.com/office/drawing/2014/main" id="{82352182-BE13-DF24-A1E3-D13CFCF390A2}"/>
              </a:ext>
            </a:extLst>
          </p:cNvPr>
          <p:cNvPicPr>
            <a:picLocks noChangeAspect="1"/>
          </p:cNvPicPr>
          <p:nvPr/>
        </p:nvPicPr>
        <p:blipFill>
          <a:blip r:embed="rId2"/>
          <a:stretch>
            <a:fillRect/>
          </a:stretch>
        </p:blipFill>
        <p:spPr>
          <a:xfrm>
            <a:off x="11130000" y="5861827"/>
            <a:ext cx="982751" cy="995681"/>
          </a:xfrm>
          <a:prstGeom prst="rect">
            <a:avLst/>
          </a:prstGeom>
        </p:spPr>
      </p:pic>
      <p:sp>
        <p:nvSpPr>
          <p:cNvPr id="8" name="Rectangle: Rounded Corners 9">
            <a:extLst>
              <a:ext uri="{FF2B5EF4-FFF2-40B4-BE49-F238E27FC236}">
                <a16:creationId xmlns:a16="http://schemas.microsoft.com/office/drawing/2014/main" id="{64C8312E-16CD-DE42-0B17-1BD3B2373A78}"/>
              </a:ext>
            </a:extLst>
          </p:cNvPr>
          <p:cNvSpPr/>
          <p:nvPr/>
        </p:nvSpPr>
        <p:spPr>
          <a:xfrm>
            <a:off x="1896200" y="1951184"/>
            <a:ext cx="2932281" cy="677241"/>
          </a:xfrm>
          <a:prstGeom prst="roundRect">
            <a:avLst/>
          </a:prstGeom>
          <a:solidFill>
            <a:schemeClr val="bg2">
              <a:lumMod val="75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bg-BG" sz="1600"/>
              <a:t>Предварително одобрен клиент</a:t>
            </a:r>
            <a:endParaRPr lang="en-GB" sz="1600"/>
          </a:p>
        </p:txBody>
      </p:sp>
      <p:sp>
        <p:nvSpPr>
          <p:cNvPr id="10" name="Rectangle: Rounded Corners 11">
            <a:extLst>
              <a:ext uri="{FF2B5EF4-FFF2-40B4-BE49-F238E27FC236}">
                <a16:creationId xmlns:a16="http://schemas.microsoft.com/office/drawing/2014/main" id="{118C8A37-9C46-69CD-2914-384BAA5C8BF8}"/>
              </a:ext>
            </a:extLst>
          </p:cNvPr>
          <p:cNvSpPr/>
          <p:nvPr/>
        </p:nvSpPr>
        <p:spPr>
          <a:xfrm>
            <a:off x="1896199" y="1147427"/>
            <a:ext cx="2932281" cy="677241"/>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bg-BG" sz="1600"/>
              <a:t>Лоялен клиент</a:t>
            </a:r>
            <a:endParaRPr lang="en-GB" sz="1600"/>
          </a:p>
        </p:txBody>
      </p:sp>
      <p:sp>
        <p:nvSpPr>
          <p:cNvPr id="12" name="Rectangle: Rounded Corners 13">
            <a:extLst>
              <a:ext uri="{FF2B5EF4-FFF2-40B4-BE49-F238E27FC236}">
                <a16:creationId xmlns:a16="http://schemas.microsoft.com/office/drawing/2014/main" id="{58096BD8-B312-62F7-A2A6-19EC9CF7DE31}"/>
              </a:ext>
            </a:extLst>
          </p:cNvPr>
          <p:cNvSpPr/>
          <p:nvPr/>
        </p:nvSpPr>
        <p:spPr>
          <a:xfrm>
            <a:off x="1896198" y="2811398"/>
            <a:ext cx="2932281" cy="677241"/>
          </a:xfrm>
          <a:prstGeom prst="roundRect">
            <a:avLst/>
          </a:prstGeom>
          <a:solidFill>
            <a:schemeClr val="bg2">
              <a:lumMod val="75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bg-BG" sz="1600"/>
              <a:t>Промо кампания</a:t>
            </a:r>
            <a:endParaRPr lang="en-GB" sz="1600"/>
          </a:p>
        </p:txBody>
      </p:sp>
      <p:sp>
        <p:nvSpPr>
          <p:cNvPr id="14" name="Rectangle 9">
            <a:extLst>
              <a:ext uri="{FF2B5EF4-FFF2-40B4-BE49-F238E27FC236}">
                <a16:creationId xmlns:a16="http://schemas.microsoft.com/office/drawing/2014/main" id="{EE787CDC-9F35-1101-6493-0EA967CF9A97}"/>
              </a:ext>
            </a:extLst>
          </p:cNvPr>
          <p:cNvSpPr/>
          <p:nvPr/>
        </p:nvSpPr>
        <p:spPr>
          <a:xfrm>
            <a:off x="1896196" y="4619761"/>
            <a:ext cx="2932281" cy="677241"/>
          </a:xfrm>
          <a:prstGeom prst="roundRect">
            <a:avLst/>
          </a:prstGeom>
          <a:solidFill>
            <a:schemeClr val="bg2">
              <a:lumMod val="75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По препоръка</a:t>
            </a:r>
            <a:endParaRPr lang="en-GB" sz="1600"/>
          </a:p>
        </p:txBody>
      </p:sp>
      <p:sp>
        <p:nvSpPr>
          <p:cNvPr id="16" name="Rectangle 11">
            <a:extLst>
              <a:ext uri="{FF2B5EF4-FFF2-40B4-BE49-F238E27FC236}">
                <a16:creationId xmlns:a16="http://schemas.microsoft.com/office/drawing/2014/main" id="{64C98A80-E690-9706-8AF1-F265BD9956AC}"/>
              </a:ext>
            </a:extLst>
          </p:cNvPr>
          <p:cNvSpPr/>
          <p:nvPr/>
        </p:nvSpPr>
        <p:spPr>
          <a:xfrm>
            <a:off x="1896197" y="3706995"/>
            <a:ext cx="2932281" cy="677241"/>
          </a:xfrm>
          <a:prstGeom prst="roundRect">
            <a:avLst/>
          </a:prstGeom>
          <a:solidFill>
            <a:schemeClr val="bg2">
              <a:lumMod val="75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bg-BG" sz="1600"/>
              <a:t>Продукт „Пенсионер“</a:t>
            </a:r>
            <a:endParaRPr lang="en-GB" sz="1600"/>
          </a:p>
        </p:txBody>
      </p:sp>
      <p:sp>
        <p:nvSpPr>
          <p:cNvPr id="24" name="Текстово поле 23">
            <a:extLst>
              <a:ext uri="{FF2B5EF4-FFF2-40B4-BE49-F238E27FC236}">
                <a16:creationId xmlns:a16="http://schemas.microsoft.com/office/drawing/2014/main" id="{3AA58C67-323D-A229-9953-DECF0918E7E1}"/>
              </a:ext>
            </a:extLst>
          </p:cNvPr>
          <p:cNvSpPr txBox="1"/>
          <p:nvPr/>
        </p:nvSpPr>
        <p:spPr>
          <a:xfrm>
            <a:off x="3362960" y="6360160"/>
            <a:ext cx="6390640" cy="3487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bg-BG" sz="1600" i="1"/>
              <a:t>Съдържа сценарии от дървото, изпратено като документ</a:t>
            </a:r>
          </a:p>
        </p:txBody>
      </p:sp>
      <p:sp>
        <p:nvSpPr>
          <p:cNvPr id="38" name="Правоъгълник: със заоблени ъгли 37">
            <a:extLst>
              <a:ext uri="{FF2B5EF4-FFF2-40B4-BE49-F238E27FC236}">
                <a16:creationId xmlns:a16="http://schemas.microsoft.com/office/drawing/2014/main" id="{DC97B81C-9F04-1044-4DE5-ED7C9B9F5B37}"/>
              </a:ext>
            </a:extLst>
          </p:cNvPr>
          <p:cNvSpPr/>
          <p:nvPr/>
        </p:nvSpPr>
        <p:spPr>
          <a:xfrm>
            <a:off x="5233585" y="1046835"/>
            <a:ext cx="4290944" cy="65453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bg-BG" sz="1600" b="1">
                <a:solidFill>
                  <a:srgbClr val="1F3864"/>
                </a:solidFill>
              </a:rPr>
              <a:t>1.Отваряне </a:t>
            </a:r>
          </a:p>
        </p:txBody>
      </p:sp>
      <p:sp>
        <p:nvSpPr>
          <p:cNvPr id="42" name="Правоъгълник: със заоблени ъгли 41">
            <a:extLst>
              <a:ext uri="{FF2B5EF4-FFF2-40B4-BE49-F238E27FC236}">
                <a16:creationId xmlns:a16="http://schemas.microsoft.com/office/drawing/2014/main" id="{E1FADDF6-1B3A-5FD1-271F-F715F0B9E81E}"/>
              </a:ext>
            </a:extLst>
          </p:cNvPr>
          <p:cNvSpPr/>
          <p:nvPr/>
        </p:nvSpPr>
        <p:spPr>
          <a:xfrm>
            <a:off x="5233877" y="2710388"/>
            <a:ext cx="4274428" cy="360134"/>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bg-BG" sz="1600" b="1">
                <a:solidFill>
                  <a:schemeClr val="accent1">
                    <a:lumMod val="49000"/>
                  </a:schemeClr>
                </a:solidFill>
              </a:rPr>
              <a:t>2. Предложение, възражение и отговор</a:t>
            </a:r>
          </a:p>
        </p:txBody>
      </p:sp>
      <p:sp>
        <p:nvSpPr>
          <p:cNvPr id="21" name="Правоъгълник: със заоблени ъгли 16">
            <a:extLst>
              <a:ext uri="{FF2B5EF4-FFF2-40B4-BE49-F238E27FC236}">
                <a16:creationId xmlns:a16="http://schemas.microsoft.com/office/drawing/2014/main" id="{38B33565-A125-E002-5607-E434A6D91101}"/>
              </a:ext>
            </a:extLst>
          </p:cNvPr>
          <p:cNvSpPr/>
          <p:nvPr/>
        </p:nvSpPr>
        <p:spPr>
          <a:xfrm>
            <a:off x="5233427" y="5307097"/>
            <a:ext cx="2389929" cy="526544"/>
          </a:xfrm>
          <a:prstGeom prst="roundRect">
            <a:avLst>
              <a:gd name="adj" fmla="val 50000"/>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200"/>
              <a:t>Тренирай</a:t>
            </a:r>
          </a:p>
        </p:txBody>
      </p:sp>
      <p:sp>
        <p:nvSpPr>
          <p:cNvPr id="23" name="Rectangle: Rounded Corners 22">
            <a:extLst>
              <a:ext uri="{FF2B5EF4-FFF2-40B4-BE49-F238E27FC236}">
                <a16:creationId xmlns:a16="http://schemas.microsoft.com/office/drawing/2014/main" id="{07962AB4-2D23-5197-8088-3F24073094E7}"/>
              </a:ext>
            </a:extLst>
          </p:cNvPr>
          <p:cNvSpPr/>
          <p:nvPr/>
        </p:nvSpPr>
        <p:spPr>
          <a:xfrm>
            <a:off x="5346227" y="3227472"/>
            <a:ext cx="2033454" cy="520853"/>
          </a:xfrm>
          <a:prstGeom prst="roundRect">
            <a:avLst/>
          </a:prstGeom>
          <a:solidFill>
            <a:srgbClr val="4472C4"/>
          </a:solidFill>
          <a:ln>
            <a:solidFill>
              <a:srgbClr val="4472C4"/>
            </a:solid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200">
                <a:ea typeface="+mn-lt"/>
                <a:cs typeface="+mn-lt"/>
              </a:rPr>
              <a:t>Аз вече изтеглих кредит от Вас</a:t>
            </a:r>
            <a:endParaRPr lang="bg-BG" sz="1200"/>
          </a:p>
        </p:txBody>
      </p:sp>
      <p:sp>
        <p:nvSpPr>
          <p:cNvPr id="26" name="Rectangle: Rounded Corners 25">
            <a:extLst>
              <a:ext uri="{FF2B5EF4-FFF2-40B4-BE49-F238E27FC236}">
                <a16:creationId xmlns:a16="http://schemas.microsoft.com/office/drawing/2014/main" id="{05091953-DC4B-9DE6-C281-B5D059D01C6C}"/>
              </a:ext>
            </a:extLst>
          </p:cNvPr>
          <p:cNvSpPr/>
          <p:nvPr/>
        </p:nvSpPr>
        <p:spPr>
          <a:xfrm>
            <a:off x="5344899" y="3891171"/>
            <a:ext cx="2033454" cy="493958"/>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200">
                <a:ea typeface="+mn-lt"/>
                <a:cs typeface="+mn-lt"/>
              </a:rPr>
              <a:t>Не ми </a:t>
            </a:r>
            <a:r>
              <a:rPr lang="ru-RU" sz="1200" err="1">
                <a:ea typeface="+mn-lt"/>
                <a:cs typeface="+mn-lt"/>
              </a:rPr>
              <a:t>трябва</a:t>
            </a:r>
            <a:r>
              <a:rPr lang="ru-RU" sz="1200">
                <a:ea typeface="+mn-lt"/>
                <a:cs typeface="+mn-lt"/>
              </a:rPr>
              <a:t> кредит/ Не искам кредит</a:t>
            </a:r>
            <a:endParaRPr lang="bg-BG" sz="1200"/>
          </a:p>
        </p:txBody>
      </p:sp>
      <p:sp>
        <p:nvSpPr>
          <p:cNvPr id="37" name="Rectangle: Rounded Corners 4">
            <a:extLst>
              <a:ext uri="{FF2B5EF4-FFF2-40B4-BE49-F238E27FC236}">
                <a16:creationId xmlns:a16="http://schemas.microsoft.com/office/drawing/2014/main" id="{091A0999-3CAB-1288-6D76-7C4D0AD19021}"/>
              </a:ext>
            </a:extLst>
          </p:cNvPr>
          <p:cNvSpPr/>
          <p:nvPr/>
        </p:nvSpPr>
        <p:spPr>
          <a:xfrm>
            <a:off x="5342533" y="4539521"/>
            <a:ext cx="2033454" cy="493958"/>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200">
                <a:ea typeface="+mn-lt"/>
                <a:cs typeface="+mn-lt"/>
              </a:rPr>
              <a:t>Не е удобно</a:t>
            </a:r>
            <a:endParaRPr lang="bg-BG" sz="1200"/>
          </a:p>
        </p:txBody>
      </p:sp>
      <p:sp>
        <p:nvSpPr>
          <p:cNvPr id="2" name="TextBox 1">
            <a:extLst>
              <a:ext uri="{FF2B5EF4-FFF2-40B4-BE49-F238E27FC236}">
                <a16:creationId xmlns:a16="http://schemas.microsoft.com/office/drawing/2014/main" id="{396DCDC9-3210-FEFE-5CE0-0E69F47A8086}"/>
              </a:ext>
            </a:extLst>
          </p:cNvPr>
          <p:cNvSpPr txBox="1"/>
          <p:nvPr/>
        </p:nvSpPr>
        <p:spPr>
          <a:xfrm>
            <a:off x="5459103" y="1541059"/>
            <a:ext cx="5868538" cy="144655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baseline="0">
                <a:latin typeface="Aptos"/>
                <a:ea typeface="Segoe UI"/>
                <a:cs typeface="Segoe UI"/>
              </a:rPr>
              <a:t>-</a:t>
            </a:r>
            <a:r>
              <a:rPr lang="en-US" sz="1400" baseline="0">
                <a:latin typeface="Aptos"/>
                <a:ea typeface="Segoe UI"/>
                <a:cs typeface="Segoe UI"/>
              </a:rPr>
              <a:t>Добър ден, търся г-н/г-жа (две </a:t>
            </a:r>
            <a:r>
              <a:rPr lang="en-US" sz="1400" baseline="0" err="1">
                <a:latin typeface="Aptos"/>
                <a:ea typeface="Segoe UI"/>
                <a:cs typeface="Segoe UI"/>
              </a:rPr>
              <a:t>имена</a:t>
            </a:r>
            <a:r>
              <a:rPr lang="en-US" sz="1400" baseline="0">
                <a:latin typeface="Aptos"/>
                <a:ea typeface="Segoe UI"/>
                <a:cs typeface="Segoe UI"/>
              </a:rPr>
              <a:t> </a:t>
            </a:r>
            <a:r>
              <a:rPr lang="en-US" sz="1400" baseline="0" err="1">
                <a:latin typeface="Aptos"/>
                <a:ea typeface="Segoe UI"/>
                <a:cs typeface="Segoe UI"/>
              </a:rPr>
              <a:t>на</a:t>
            </a:r>
            <a:r>
              <a:rPr lang="en-US" sz="1400" baseline="0">
                <a:latin typeface="Aptos"/>
                <a:ea typeface="Segoe UI"/>
                <a:cs typeface="Segoe UI"/>
              </a:rPr>
              <a:t> </a:t>
            </a:r>
            <a:r>
              <a:rPr lang="en-US" sz="1400" baseline="0" err="1">
                <a:latin typeface="Aptos"/>
                <a:ea typeface="Segoe UI"/>
                <a:cs typeface="Segoe UI"/>
              </a:rPr>
              <a:t>клиента</a:t>
            </a:r>
            <a:r>
              <a:rPr lang="en-US" sz="1400" baseline="0">
                <a:latin typeface="Aptos"/>
                <a:ea typeface="Segoe UI"/>
                <a:cs typeface="Segoe UI"/>
              </a:rPr>
              <a:t>).</a:t>
            </a:r>
            <a:br>
              <a:rPr lang="en-US" sz="1400">
                <a:latin typeface="Aptos"/>
                <a:ea typeface="Segoe UI"/>
                <a:cs typeface="Segoe UI"/>
              </a:rPr>
            </a:br>
            <a:r>
              <a:rPr lang="en-US" sz="1400" b="1" baseline="0">
                <a:latin typeface="Aptos"/>
                <a:ea typeface="Segoe UI"/>
                <a:cs typeface="Segoe UI"/>
              </a:rPr>
              <a:t>-</a:t>
            </a:r>
            <a:r>
              <a:rPr lang="en-US" sz="1400" baseline="0" err="1">
                <a:latin typeface="Aptos"/>
                <a:ea typeface="Segoe UI"/>
                <a:cs typeface="Segoe UI"/>
              </a:rPr>
              <a:t>Да</a:t>
            </a:r>
            <a:r>
              <a:rPr lang="en-US" sz="1400" baseline="0">
                <a:latin typeface="Aptos"/>
                <a:ea typeface="Segoe UI"/>
                <a:cs typeface="Segoe UI"/>
              </a:rPr>
              <a:t> (</a:t>
            </a:r>
            <a:r>
              <a:rPr lang="en-US" sz="1400" baseline="0" err="1">
                <a:latin typeface="Aptos"/>
                <a:ea typeface="Segoe UI"/>
                <a:cs typeface="Segoe UI"/>
              </a:rPr>
              <a:t>на</a:t>
            </a:r>
            <a:r>
              <a:rPr lang="en-US" sz="1400" baseline="0">
                <a:latin typeface="Aptos"/>
                <a:ea typeface="Segoe UI"/>
                <a:cs typeface="Segoe UI"/>
              </a:rPr>
              <a:t> </a:t>
            </a:r>
            <a:r>
              <a:rPr lang="en-US" sz="1400" baseline="0" err="1">
                <a:latin typeface="Aptos"/>
                <a:ea typeface="Segoe UI"/>
                <a:cs typeface="Segoe UI"/>
              </a:rPr>
              <a:t>телефона</a:t>
            </a:r>
            <a:r>
              <a:rPr lang="en-US" sz="1400" baseline="0">
                <a:latin typeface="Aptos"/>
                <a:ea typeface="Segoe UI"/>
                <a:cs typeface="Segoe UI"/>
              </a:rPr>
              <a:t>, </a:t>
            </a:r>
            <a:r>
              <a:rPr lang="en-US" sz="1400" baseline="0" err="1">
                <a:latin typeface="Aptos"/>
                <a:ea typeface="Segoe UI"/>
                <a:cs typeface="Segoe UI"/>
              </a:rPr>
              <a:t>аз</a:t>
            </a:r>
            <a:r>
              <a:rPr lang="en-US" sz="1400" baseline="0">
                <a:latin typeface="Aptos"/>
                <a:ea typeface="Segoe UI"/>
                <a:cs typeface="Segoe UI"/>
              </a:rPr>
              <a:t> </a:t>
            </a:r>
            <a:r>
              <a:rPr lang="en-US" sz="1400" baseline="0" err="1">
                <a:latin typeface="Aptos"/>
                <a:ea typeface="Segoe UI"/>
                <a:cs typeface="Segoe UI"/>
              </a:rPr>
              <a:t>съм</a:t>
            </a:r>
            <a:r>
              <a:rPr lang="en-US" sz="1400" baseline="0">
                <a:latin typeface="Aptos"/>
                <a:ea typeface="Segoe UI"/>
                <a:cs typeface="Segoe UI"/>
              </a:rPr>
              <a:t>).</a:t>
            </a:r>
            <a:endParaRPr lang="en-US">
              <a:latin typeface="Aptos"/>
              <a:ea typeface="Segoe UI"/>
              <a:cs typeface="Segoe UI"/>
            </a:endParaRPr>
          </a:p>
          <a:p>
            <a:r>
              <a:rPr lang="en-US" sz="1400" b="1" baseline="0">
                <a:latin typeface="Aptos"/>
                <a:ea typeface="Segoe UI"/>
                <a:cs typeface="Segoe UI"/>
              </a:rPr>
              <a:t>-</a:t>
            </a:r>
            <a:r>
              <a:rPr lang="en-US" sz="1400" baseline="0" err="1">
                <a:latin typeface="Aptos"/>
                <a:ea typeface="Segoe UI"/>
                <a:cs typeface="Segoe UI"/>
              </a:rPr>
              <a:t>Здравейте</a:t>
            </a:r>
            <a:r>
              <a:rPr lang="en-US" sz="1400" baseline="0">
                <a:latin typeface="Aptos"/>
                <a:ea typeface="Segoe UI"/>
                <a:cs typeface="Segoe UI"/>
              </a:rPr>
              <a:t> г-н/г-</a:t>
            </a:r>
            <a:r>
              <a:rPr lang="en-US" sz="1400" baseline="0" err="1">
                <a:latin typeface="Aptos"/>
                <a:ea typeface="Segoe UI"/>
                <a:cs typeface="Segoe UI"/>
              </a:rPr>
              <a:t>жо</a:t>
            </a:r>
            <a:r>
              <a:rPr lang="en-US" sz="1400" baseline="0">
                <a:latin typeface="Aptos"/>
                <a:ea typeface="Segoe UI"/>
                <a:cs typeface="Segoe UI"/>
              </a:rPr>
              <a:t> (</a:t>
            </a:r>
            <a:r>
              <a:rPr lang="en-US" sz="1400" baseline="0" err="1">
                <a:latin typeface="Aptos"/>
                <a:ea typeface="Segoe UI"/>
                <a:cs typeface="Segoe UI"/>
              </a:rPr>
              <a:t>фамилия</a:t>
            </a:r>
            <a:r>
              <a:rPr lang="en-US" sz="1400" baseline="0">
                <a:latin typeface="Aptos"/>
                <a:ea typeface="Segoe UI"/>
                <a:cs typeface="Segoe UI"/>
              </a:rPr>
              <a:t> </a:t>
            </a:r>
            <a:r>
              <a:rPr lang="en-US" sz="1400" baseline="0" err="1">
                <a:latin typeface="Aptos"/>
                <a:ea typeface="Segoe UI"/>
                <a:cs typeface="Segoe UI"/>
              </a:rPr>
              <a:t>на</a:t>
            </a:r>
            <a:r>
              <a:rPr lang="en-US" sz="1400" baseline="0">
                <a:latin typeface="Aptos"/>
                <a:ea typeface="Segoe UI"/>
                <a:cs typeface="Segoe UI"/>
              </a:rPr>
              <a:t> </a:t>
            </a:r>
            <a:r>
              <a:rPr lang="en-US" sz="1400" baseline="0" err="1">
                <a:latin typeface="Aptos"/>
                <a:ea typeface="Segoe UI"/>
                <a:cs typeface="Segoe UI"/>
              </a:rPr>
              <a:t>клиента</a:t>
            </a:r>
            <a:r>
              <a:rPr lang="en-US" sz="1400" baseline="0">
                <a:latin typeface="Aptos"/>
                <a:ea typeface="Segoe UI"/>
                <a:cs typeface="Segoe UI"/>
              </a:rPr>
              <a:t>), </a:t>
            </a:r>
            <a:r>
              <a:rPr lang="en-US" sz="1400" baseline="0" err="1">
                <a:latin typeface="Aptos"/>
                <a:ea typeface="Segoe UI"/>
                <a:cs typeface="Segoe UI"/>
              </a:rPr>
              <a:t>обаждам</a:t>
            </a:r>
            <a:r>
              <a:rPr lang="en-US" sz="1400" baseline="0">
                <a:latin typeface="Aptos"/>
                <a:ea typeface="Segoe UI"/>
                <a:cs typeface="Segoe UI"/>
              </a:rPr>
              <a:t> </a:t>
            </a:r>
            <a:r>
              <a:rPr lang="en-US" sz="1400" baseline="0" err="1">
                <a:latin typeface="Aptos"/>
                <a:ea typeface="Segoe UI"/>
                <a:cs typeface="Segoe UI"/>
              </a:rPr>
              <a:t>се</a:t>
            </a:r>
            <a:r>
              <a:rPr lang="en-US" sz="1400" baseline="0">
                <a:latin typeface="Aptos"/>
                <a:ea typeface="Segoe UI"/>
                <a:cs typeface="Segoe UI"/>
              </a:rPr>
              <a:t> </a:t>
            </a:r>
            <a:r>
              <a:rPr lang="en-US" sz="1400" baseline="0" err="1">
                <a:latin typeface="Aptos"/>
                <a:ea typeface="Segoe UI"/>
                <a:cs typeface="Segoe UI"/>
              </a:rPr>
              <a:t>от</a:t>
            </a:r>
            <a:r>
              <a:rPr lang="en-US" sz="1400" baseline="0">
                <a:latin typeface="Aptos"/>
                <a:ea typeface="Segoe UI"/>
                <a:cs typeface="Segoe UI"/>
              </a:rPr>
              <a:t> </a:t>
            </a:r>
            <a:r>
              <a:rPr lang="en-US" sz="1400" baseline="0" err="1">
                <a:latin typeface="Aptos"/>
                <a:ea typeface="Segoe UI"/>
                <a:cs typeface="Segoe UI"/>
              </a:rPr>
              <a:t>Изи</a:t>
            </a:r>
            <a:r>
              <a:rPr lang="en-US" sz="1400" baseline="0">
                <a:latin typeface="Aptos"/>
                <a:ea typeface="Segoe UI"/>
                <a:cs typeface="Segoe UI"/>
              </a:rPr>
              <a:t> </a:t>
            </a:r>
            <a:r>
              <a:rPr lang="en-US" sz="1400" baseline="0" err="1">
                <a:latin typeface="Aptos"/>
                <a:ea typeface="Segoe UI"/>
                <a:cs typeface="Segoe UI"/>
              </a:rPr>
              <a:t>Кредит</a:t>
            </a:r>
            <a:r>
              <a:rPr lang="en-US" sz="1400" baseline="0">
                <a:latin typeface="Aptos"/>
                <a:ea typeface="Segoe UI"/>
                <a:cs typeface="Segoe UI"/>
              </a:rPr>
              <a:t> </a:t>
            </a:r>
            <a:r>
              <a:rPr lang="en-US" sz="1400" baseline="0" err="1">
                <a:latin typeface="Aptos"/>
                <a:ea typeface="Segoe UI"/>
                <a:cs typeface="Segoe UI"/>
              </a:rPr>
              <a:t>във</a:t>
            </a:r>
            <a:r>
              <a:rPr lang="en-US" sz="1400" baseline="0">
                <a:latin typeface="Aptos"/>
                <a:ea typeface="Segoe UI"/>
                <a:cs typeface="Segoe UI"/>
              </a:rPr>
              <a:t> </a:t>
            </a:r>
            <a:r>
              <a:rPr lang="en-US" sz="1400" baseline="0" err="1">
                <a:latin typeface="Aptos"/>
                <a:ea typeface="Segoe UI"/>
                <a:cs typeface="Segoe UI"/>
              </a:rPr>
              <a:t>връзка</a:t>
            </a:r>
            <a:r>
              <a:rPr lang="en-US" sz="1400" baseline="0">
                <a:latin typeface="Aptos"/>
                <a:ea typeface="Segoe UI"/>
                <a:cs typeface="Segoe UI"/>
              </a:rPr>
              <a:t> с </a:t>
            </a:r>
            <a:r>
              <a:rPr lang="en-US" sz="1400" baseline="0" err="1">
                <a:latin typeface="Aptos"/>
                <a:ea typeface="Segoe UI"/>
                <a:cs typeface="Segoe UI"/>
              </a:rPr>
              <a:t>изготвено</a:t>
            </a:r>
            <a:r>
              <a:rPr lang="en-US" sz="1400" baseline="0">
                <a:latin typeface="Aptos"/>
                <a:ea typeface="Segoe UI"/>
                <a:cs typeface="Segoe UI"/>
              </a:rPr>
              <a:t> </a:t>
            </a:r>
            <a:r>
              <a:rPr lang="en-US" sz="1400" baseline="0" err="1">
                <a:latin typeface="Aptos"/>
                <a:ea typeface="Segoe UI"/>
                <a:cs typeface="Segoe UI"/>
              </a:rPr>
              <a:t>предложение</a:t>
            </a:r>
            <a:r>
              <a:rPr lang="en-US" sz="1400" baseline="0">
                <a:latin typeface="Aptos"/>
                <a:ea typeface="Segoe UI"/>
                <a:cs typeface="Segoe UI"/>
              </a:rPr>
              <a:t>, </a:t>
            </a:r>
            <a:r>
              <a:rPr lang="en-US" sz="1400" baseline="0" err="1">
                <a:latin typeface="Aptos"/>
                <a:ea typeface="Segoe UI"/>
                <a:cs typeface="Segoe UI"/>
              </a:rPr>
              <a:t>специално</a:t>
            </a:r>
            <a:r>
              <a:rPr lang="en-US" sz="1400" baseline="0">
                <a:latin typeface="Aptos"/>
                <a:ea typeface="Segoe UI"/>
                <a:cs typeface="Segoe UI"/>
              </a:rPr>
              <a:t> </a:t>
            </a:r>
            <a:r>
              <a:rPr lang="en-US" sz="1400" baseline="0" err="1">
                <a:latin typeface="Aptos"/>
                <a:ea typeface="Segoe UI"/>
                <a:cs typeface="Segoe UI"/>
              </a:rPr>
              <a:t>за</a:t>
            </a:r>
            <a:r>
              <a:rPr lang="en-US" sz="1400" baseline="0">
                <a:latin typeface="Aptos"/>
                <a:ea typeface="Segoe UI"/>
                <a:cs typeface="Segoe UI"/>
              </a:rPr>
              <a:t> </a:t>
            </a:r>
            <a:r>
              <a:rPr lang="en-US" sz="1400" baseline="0" err="1">
                <a:latin typeface="Aptos"/>
                <a:ea typeface="Segoe UI"/>
                <a:cs typeface="Segoe UI"/>
              </a:rPr>
              <a:t>Вас</a:t>
            </a:r>
            <a:r>
              <a:rPr lang="en-US" sz="1400" baseline="0">
                <a:latin typeface="Aptos"/>
                <a:ea typeface="Segoe UI"/>
                <a:cs typeface="Segoe UI"/>
              </a:rPr>
              <a:t>. </a:t>
            </a:r>
            <a:r>
              <a:rPr lang="en-US" sz="1400" baseline="0" err="1">
                <a:latin typeface="Aptos"/>
                <a:ea typeface="Segoe UI"/>
                <a:cs typeface="Segoe UI"/>
              </a:rPr>
              <a:t>Удобно</a:t>
            </a:r>
            <a:r>
              <a:rPr lang="en-US" sz="1400" baseline="0">
                <a:latin typeface="Aptos"/>
                <a:ea typeface="Segoe UI"/>
                <a:cs typeface="Segoe UI"/>
              </a:rPr>
              <a:t> </a:t>
            </a:r>
            <a:r>
              <a:rPr lang="en-US" sz="1400" baseline="0" err="1">
                <a:latin typeface="Aptos"/>
                <a:ea typeface="Segoe UI"/>
                <a:cs typeface="Segoe UI"/>
              </a:rPr>
              <a:t>ли</a:t>
            </a:r>
            <a:r>
              <a:rPr lang="en-US" sz="1400" baseline="0">
                <a:latin typeface="Aptos"/>
                <a:ea typeface="Segoe UI"/>
                <a:cs typeface="Segoe UI"/>
              </a:rPr>
              <a:t> е </a:t>
            </a:r>
            <a:r>
              <a:rPr lang="en-US" sz="1400" baseline="0" err="1">
                <a:latin typeface="Aptos"/>
                <a:ea typeface="Segoe UI"/>
                <a:cs typeface="Segoe UI"/>
              </a:rPr>
              <a:t>да</a:t>
            </a:r>
            <a:r>
              <a:rPr lang="en-US" sz="1400" baseline="0">
                <a:latin typeface="Aptos"/>
                <a:ea typeface="Segoe UI"/>
                <a:cs typeface="Segoe UI"/>
              </a:rPr>
              <a:t> </a:t>
            </a:r>
            <a:r>
              <a:rPr lang="en-US" sz="1400" baseline="0" err="1">
                <a:latin typeface="Aptos"/>
                <a:ea typeface="Segoe UI"/>
                <a:cs typeface="Segoe UI"/>
              </a:rPr>
              <a:t>ми</a:t>
            </a:r>
            <a:r>
              <a:rPr lang="en-US" sz="1400" baseline="0">
                <a:latin typeface="Aptos"/>
                <a:ea typeface="Segoe UI"/>
                <a:cs typeface="Segoe UI"/>
              </a:rPr>
              <a:t> </a:t>
            </a:r>
            <a:r>
              <a:rPr lang="en-US" sz="1400" baseline="0" err="1">
                <a:latin typeface="Aptos"/>
                <a:ea typeface="Segoe UI"/>
                <a:cs typeface="Segoe UI"/>
              </a:rPr>
              <a:t>отделите</a:t>
            </a:r>
            <a:r>
              <a:rPr lang="en-US" sz="1400" baseline="0">
                <a:latin typeface="Aptos"/>
                <a:ea typeface="Segoe UI"/>
                <a:cs typeface="Segoe UI"/>
              </a:rPr>
              <a:t> </a:t>
            </a:r>
            <a:r>
              <a:rPr lang="en-US" sz="1400" baseline="0" err="1">
                <a:latin typeface="Aptos"/>
                <a:ea typeface="Segoe UI"/>
                <a:cs typeface="Segoe UI"/>
              </a:rPr>
              <a:t>една</a:t>
            </a:r>
            <a:r>
              <a:rPr lang="en-US" sz="1400" baseline="0">
                <a:latin typeface="Aptos"/>
                <a:ea typeface="Segoe UI"/>
                <a:cs typeface="Segoe UI"/>
              </a:rPr>
              <a:t>, </a:t>
            </a:r>
            <a:r>
              <a:rPr lang="en-US" sz="1400" baseline="0" err="1">
                <a:latin typeface="Aptos"/>
                <a:ea typeface="Segoe UI"/>
                <a:cs typeface="Segoe UI"/>
              </a:rPr>
              <a:t>две</a:t>
            </a:r>
            <a:r>
              <a:rPr lang="en-US" sz="1400" baseline="0">
                <a:latin typeface="Aptos"/>
                <a:ea typeface="Segoe UI"/>
                <a:cs typeface="Segoe UI"/>
              </a:rPr>
              <a:t> </a:t>
            </a:r>
            <a:r>
              <a:rPr lang="en-US" sz="1400" baseline="0" err="1">
                <a:latin typeface="Aptos"/>
                <a:ea typeface="Segoe UI"/>
                <a:cs typeface="Segoe UI"/>
              </a:rPr>
              <a:t>минути</a:t>
            </a:r>
            <a:r>
              <a:rPr lang="en-US" sz="1400" baseline="0">
                <a:latin typeface="Aptos"/>
                <a:ea typeface="Segoe UI"/>
                <a:cs typeface="Segoe UI"/>
              </a:rPr>
              <a:t>, </a:t>
            </a:r>
            <a:r>
              <a:rPr lang="en-US" sz="1400" baseline="0" err="1">
                <a:latin typeface="Aptos"/>
                <a:ea typeface="Segoe UI"/>
                <a:cs typeface="Segoe UI"/>
              </a:rPr>
              <a:t>за</a:t>
            </a:r>
            <a:r>
              <a:rPr lang="en-US" sz="1400" baseline="0">
                <a:latin typeface="Aptos"/>
                <a:ea typeface="Segoe UI"/>
                <a:cs typeface="Segoe UI"/>
              </a:rPr>
              <a:t> </a:t>
            </a:r>
            <a:r>
              <a:rPr lang="en-US" sz="1400" baseline="0" err="1">
                <a:latin typeface="Aptos"/>
                <a:ea typeface="Segoe UI"/>
                <a:cs typeface="Segoe UI"/>
              </a:rPr>
              <a:t>да</a:t>
            </a:r>
            <a:r>
              <a:rPr lang="en-US" sz="1400" baseline="0">
                <a:latin typeface="Aptos"/>
                <a:ea typeface="Segoe UI"/>
                <a:cs typeface="Segoe UI"/>
              </a:rPr>
              <a:t> </a:t>
            </a:r>
            <a:r>
              <a:rPr lang="en-US" sz="1400" baseline="0" err="1">
                <a:latin typeface="Aptos"/>
                <a:ea typeface="Segoe UI"/>
                <a:cs typeface="Segoe UI"/>
              </a:rPr>
              <a:t>Ви</a:t>
            </a:r>
            <a:r>
              <a:rPr lang="en-US" sz="1400" baseline="0">
                <a:latin typeface="Aptos"/>
                <a:ea typeface="Segoe UI"/>
                <a:cs typeface="Segoe UI"/>
              </a:rPr>
              <a:t> </a:t>
            </a:r>
            <a:r>
              <a:rPr lang="en-US" sz="1400" baseline="0" err="1">
                <a:latin typeface="Aptos"/>
                <a:ea typeface="Segoe UI"/>
                <a:cs typeface="Segoe UI"/>
              </a:rPr>
              <a:t>запозная</a:t>
            </a:r>
            <a:r>
              <a:rPr lang="en-US" sz="1400" baseline="0">
                <a:latin typeface="Aptos"/>
                <a:ea typeface="Segoe UI"/>
                <a:cs typeface="Segoe UI"/>
              </a:rPr>
              <a:t>?</a:t>
            </a:r>
            <a:r>
              <a:rPr lang="en-US" sz="1400">
                <a:latin typeface="Aptos"/>
                <a:ea typeface="Segoe UI"/>
                <a:cs typeface="Segoe UI"/>
              </a:rPr>
              <a:t> </a:t>
            </a:r>
            <a:endParaRPr lang="en-US"/>
          </a:p>
          <a:p>
            <a:pPr algn="ctr"/>
            <a:endParaRPr lang="en-US"/>
          </a:p>
        </p:txBody>
      </p:sp>
      <p:sp>
        <p:nvSpPr>
          <p:cNvPr id="4" name="Rectangle: Rounded Corners 3">
            <a:extLst>
              <a:ext uri="{FF2B5EF4-FFF2-40B4-BE49-F238E27FC236}">
                <a16:creationId xmlns:a16="http://schemas.microsoft.com/office/drawing/2014/main" id="{EB720D16-C787-AEA9-31B3-C083DC5FF7C3}"/>
              </a:ext>
            </a:extLst>
          </p:cNvPr>
          <p:cNvSpPr/>
          <p:nvPr/>
        </p:nvSpPr>
        <p:spPr>
          <a:xfrm>
            <a:off x="8096716" y="3250106"/>
            <a:ext cx="1410205" cy="53004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200" dirty="0"/>
              <a:t>Радвам се да го </a:t>
            </a:r>
            <a:r>
              <a:rPr lang="bg-BG" sz="1200"/>
              <a:t>чуя!.....</a:t>
            </a:r>
            <a:endParaRPr lang="bg-BG" sz="1200" dirty="0"/>
          </a:p>
        </p:txBody>
      </p:sp>
      <p:sp>
        <p:nvSpPr>
          <p:cNvPr id="9" name="Rectangle: Rounded Corners 8">
            <a:extLst>
              <a:ext uri="{FF2B5EF4-FFF2-40B4-BE49-F238E27FC236}">
                <a16:creationId xmlns:a16="http://schemas.microsoft.com/office/drawing/2014/main" id="{B3823A7D-BE65-D55D-510C-06CD85531D8A}"/>
              </a:ext>
            </a:extLst>
          </p:cNvPr>
          <p:cNvSpPr/>
          <p:nvPr/>
        </p:nvSpPr>
        <p:spPr>
          <a:xfrm>
            <a:off x="9995510" y="3228482"/>
            <a:ext cx="1410205" cy="544421"/>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p>
            <a:pPr algn="ctr"/>
            <a:r>
              <a:rPr lang="bg-BG" sz="1200"/>
              <a:t>Разговорът приключва</a:t>
            </a:r>
            <a:endParaRPr lang="bg-BG" sz="1200" dirty="0"/>
          </a:p>
        </p:txBody>
      </p:sp>
      <p:cxnSp>
        <p:nvCxnSpPr>
          <p:cNvPr id="15" name="Connector: Elbow 14">
            <a:extLst>
              <a:ext uri="{FF2B5EF4-FFF2-40B4-BE49-F238E27FC236}">
                <a16:creationId xmlns:a16="http://schemas.microsoft.com/office/drawing/2014/main" id="{8E3A16FE-381C-4851-0381-D7973DB9A0B8}"/>
              </a:ext>
            </a:extLst>
          </p:cNvPr>
          <p:cNvCxnSpPr/>
          <p:nvPr/>
        </p:nvCxnSpPr>
        <p:spPr>
          <a:xfrm>
            <a:off x="7452877" y="3498869"/>
            <a:ext cx="540475" cy="9956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Connector: Elbow 16">
            <a:extLst>
              <a:ext uri="{FF2B5EF4-FFF2-40B4-BE49-F238E27FC236}">
                <a16:creationId xmlns:a16="http://schemas.microsoft.com/office/drawing/2014/main" id="{7FD43667-18AF-7CEE-3CA2-F58A74535B6C}"/>
              </a:ext>
            </a:extLst>
          </p:cNvPr>
          <p:cNvCxnSpPr/>
          <p:nvPr/>
        </p:nvCxnSpPr>
        <p:spPr>
          <a:xfrm>
            <a:off x="9600557" y="3470423"/>
            <a:ext cx="327130" cy="15645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124047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24F630-C42C-E8C0-648B-EB757A53F994}"/>
            </a:ext>
          </a:extLst>
        </p:cNvPr>
        <p:cNvGrpSpPr/>
        <p:nvPr/>
      </p:nvGrpSpPr>
      <p:grpSpPr>
        <a:xfrm>
          <a:off x="0" y="0"/>
          <a:ext cx="0" cy="0"/>
          <a:chOff x="0" y="0"/>
          <a:chExt cx="0" cy="0"/>
        </a:xfrm>
      </p:grpSpPr>
      <p:sp>
        <p:nvSpPr>
          <p:cNvPr id="27" name="Rectangle 3">
            <a:extLst>
              <a:ext uri="{FF2B5EF4-FFF2-40B4-BE49-F238E27FC236}">
                <a16:creationId xmlns:a16="http://schemas.microsoft.com/office/drawing/2014/main" id="{CD6B95E5-8A3C-637F-2A4E-AC3B2A272D25}"/>
              </a:ext>
            </a:extLst>
          </p:cNvPr>
          <p:cNvSpPr/>
          <p:nvPr/>
        </p:nvSpPr>
        <p:spPr>
          <a:xfrm>
            <a:off x="1443475" y="4245"/>
            <a:ext cx="5338363" cy="677242"/>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28" name="Rectangle 4">
            <a:extLst>
              <a:ext uri="{FF2B5EF4-FFF2-40B4-BE49-F238E27FC236}">
                <a16:creationId xmlns:a16="http://schemas.microsoft.com/office/drawing/2014/main" id="{902F929B-B449-FA53-3D97-5827E96963AB}"/>
              </a:ext>
            </a:extLst>
          </p:cNvPr>
          <p:cNvSpPr/>
          <p:nvPr/>
        </p:nvSpPr>
        <p:spPr>
          <a:xfrm>
            <a:off x="6788435" y="4245"/>
            <a:ext cx="5417300" cy="677242"/>
          </a:xfrm>
          <a:prstGeom prst="rect">
            <a:avLst/>
          </a:prstGeom>
          <a:solidFill>
            <a:schemeClr val="bg2">
              <a:lumMod val="75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29" name="Rectangle 28">
            <a:extLst>
              <a:ext uri="{FF2B5EF4-FFF2-40B4-BE49-F238E27FC236}">
                <a16:creationId xmlns:a16="http://schemas.microsoft.com/office/drawing/2014/main" id="{CCB94017-0316-3A40-B621-003679DC8511}"/>
              </a:ext>
            </a:extLst>
          </p:cNvPr>
          <p:cNvSpPr/>
          <p:nvPr/>
        </p:nvSpPr>
        <p:spPr>
          <a:xfrm>
            <a:off x="-1671" y="1599"/>
            <a:ext cx="1451167" cy="6866954"/>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200">
              <a:latin typeface="Aptos"/>
              <a:ea typeface="Calibri"/>
              <a:cs typeface="Calibri"/>
            </a:endParaRPr>
          </a:p>
        </p:txBody>
      </p:sp>
      <p:sp>
        <p:nvSpPr>
          <p:cNvPr id="30" name="Rectangle 29">
            <a:extLst>
              <a:ext uri="{FF2B5EF4-FFF2-40B4-BE49-F238E27FC236}">
                <a16:creationId xmlns:a16="http://schemas.microsoft.com/office/drawing/2014/main" id="{759C8954-801D-4944-4C5C-F03FB3BD0B48}"/>
              </a:ext>
            </a:extLst>
          </p:cNvPr>
          <p:cNvSpPr/>
          <p:nvPr/>
        </p:nvSpPr>
        <p:spPr>
          <a:xfrm>
            <a:off x="-1671" y="2528038"/>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Типове клиенти</a:t>
            </a:r>
            <a:endParaRPr lang="en-GB" sz="1400">
              <a:latin typeface="Aptos"/>
              <a:ea typeface="Calibri"/>
              <a:cs typeface="Calibri"/>
            </a:endParaRPr>
          </a:p>
        </p:txBody>
      </p:sp>
      <p:sp>
        <p:nvSpPr>
          <p:cNvPr id="31" name="Rectangle 30">
            <a:extLst>
              <a:ext uri="{FF2B5EF4-FFF2-40B4-BE49-F238E27FC236}">
                <a16:creationId xmlns:a16="http://schemas.microsoft.com/office/drawing/2014/main" id="{A853B2F9-E69F-5CD9-1476-2706DA48D220}"/>
              </a:ext>
            </a:extLst>
          </p:cNvPr>
          <p:cNvSpPr/>
          <p:nvPr/>
        </p:nvSpPr>
        <p:spPr>
          <a:xfrm>
            <a:off x="8626" y="1913210"/>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b="1">
                <a:solidFill>
                  <a:srgbClr val="2F5597"/>
                </a:solidFill>
                <a:latin typeface="Aptos"/>
                <a:ea typeface="Calibri"/>
                <a:cs typeface="Calibri"/>
              </a:rPr>
              <a:t>Сценарии</a:t>
            </a:r>
            <a:endParaRPr lang="en-GB" sz="1400" b="1">
              <a:solidFill>
                <a:srgbClr val="2F5597"/>
              </a:solidFill>
              <a:latin typeface="Aptos"/>
              <a:ea typeface="Calibri"/>
              <a:cs typeface="Calibri"/>
            </a:endParaRPr>
          </a:p>
        </p:txBody>
      </p:sp>
      <p:sp>
        <p:nvSpPr>
          <p:cNvPr id="32" name="Rectangle 31">
            <a:extLst>
              <a:ext uri="{FF2B5EF4-FFF2-40B4-BE49-F238E27FC236}">
                <a16:creationId xmlns:a16="http://schemas.microsoft.com/office/drawing/2014/main" id="{BEBB34DB-C348-487A-5B71-96F38493FE78}"/>
              </a:ext>
            </a:extLst>
          </p:cNvPr>
          <p:cNvSpPr/>
          <p:nvPr/>
        </p:nvSpPr>
        <p:spPr>
          <a:xfrm>
            <a:off x="-1671" y="1298382"/>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a:solidFill>
                  <a:schemeClr val="bg1"/>
                </a:solidFill>
                <a:latin typeface="Aptos"/>
                <a:ea typeface="Calibri"/>
                <a:cs typeface="Calibri"/>
              </a:rPr>
              <a:t>Стъпки в обаждането</a:t>
            </a:r>
            <a:endParaRPr lang="bg-BG" sz="1400">
              <a:solidFill>
                <a:srgbClr val="000000"/>
              </a:solidFill>
              <a:latin typeface="Aptos"/>
              <a:ea typeface="Calibri"/>
              <a:cs typeface="Calibri"/>
            </a:endParaRPr>
          </a:p>
        </p:txBody>
      </p:sp>
      <p:sp>
        <p:nvSpPr>
          <p:cNvPr id="33" name="Rectangle 28">
            <a:extLst>
              <a:ext uri="{FF2B5EF4-FFF2-40B4-BE49-F238E27FC236}">
                <a16:creationId xmlns:a16="http://schemas.microsoft.com/office/drawing/2014/main" id="{6CD6824F-42CB-A712-38E5-9FEEEE8DDE88}"/>
              </a:ext>
            </a:extLst>
          </p:cNvPr>
          <p:cNvSpPr/>
          <p:nvPr/>
        </p:nvSpPr>
        <p:spPr>
          <a:xfrm>
            <a:off x="6154" y="690328"/>
            <a:ext cx="1435083"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a:solidFill>
                  <a:schemeClr val="bg1"/>
                </a:solidFill>
                <a:latin typeface="Aptos"/>
                <a:ea typeface="Calibri"/>
                <a:cs typeface="Calibri"/>
              </a:rPr>
              <a:t>Подготовка</a:t>
            </a:r>
            <a:endParaRPr lang="en-GB" sz="1400">
              <a:solidFill>
                <a:schemeClr val="bg1"/>
              </a:solidFill>
              <a:latin typeface="Aptos"/>
              <a:ea typeface="Calibri"/>
              <a:cs typeface="Calibri"/>
            </a:endParaRPr>
          </a:p>
        </p:txBody>
      </p:sp>
      <p:sp>
        <p:nvSpPr>
          <p:cNvPr id="8" name="Rectangle: Rounded Corners 9">
            <a:extLst>
              <a:ext uri="{FF2B5EF4-FFF2-40B4-BE49-F238E27FC236}">
                <a16:creationId xmlns:a16="http://schemas.microsoft.com/office/drawing/2014/main" id="{2FB930DD-1D66-DDB0-A88F-EE182C237F3D}"/>
              </a:ext>
            </a:extLst>
          </p:cNvPr>
          <p:cNvSpPr/>
          <p:nvPr/>
        </p:nvSpPr>
        <p:spPr>
          <a:xfrm>
            <a:off x="1896200" y="1951184"/>
            <a:ext cx="2932281" cy="677241"/>
          </a:xfrm>
          <a:prstGeom prst="roundRect">
            <a:avLst/>
          </a:prstGeom>
          <a:solidFill>
            <a:schemeClr val="bg2">
              <a:lumMod val="75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bg-BG" sz="1600"/>
              <a:t>Предварително одобрен клиент</a:t>
            </a:r>
            <a:endParaRPr lang="en-GB" sz="1600"/>
          </a:p>
        </p:txBody>
      </p:sp>
      <p:sp>
        <p:nvSpPr>
          <p:cNvPr id="10" name="Rectangle: Rounded Corners 11">
            <a:extLst>
              <a:ext uri="{FF2B5EF4-FFF2-40B4-BE49-F238E27FC236}">
                <a16:creationId xmlns:a16="http://schemas.microsoft.com/office/drawing/2014/main" id="{75D610F6-48B5-7E6F-1891-54888CF5036B}"/>
              </a:ext>
            </a:extLst>
          </p:cNvPr>
          <p:cNvSpPr/>
          <p:nvPr/>
        </p:nvSpPr>
        <p:spPr>
          <a:xfrm>
            <a:off x="1896199" y="1147427"/>
            <a:ext cx="2932281" cy="677241"/>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bg-BG" sz="1600"/>
              <a:t>Лоялен клиент</a:t>
            </a:r>
            <a:endParaRPr lang="en-GB" sz="1600"/>
          </a:p>
        </p:txBody>
      </p:sp>
      <p:sp>
        <p:nvSpPr>
          <p:cNvPr id="12" name="Rectangle: Rounded Corners 13">
            <a:extLst>
              <a:ext uri="{FF2B5EF4-FFF2-40B4-BE49-F238E27FC236}">
                <a16:creationId xmlns:a16="http://schemas.microsoft.com/office/drawing/2014/main" id="{6DFF85C2-14A7-A9B6-30E4-30935EE5C280}"/>
              </a:ext>
            </a:extLst>
          </p:cNvPr>
          <p:cNvSpPr/>
          <p:nvPr/>
        </p:nvSpPr>
        <p:spPr>
          <a:xfrm>
            <a:off x="1896198" y="2811398"/>
            <a:ext cx="2932281" cy="677241"/>
          </a:xfrm>
          <a:prstGeom prst="roundRect">
            <a:avLst/>
          </a:prstGeom>
          <a:solidFill>
            <a:schemeClr val="bg2">
              <a:lumMod val="75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bg-BG" sz="1600"/>
              <a:t>Промо кампания</a:t>
            </a:r>
            <a:endParaRPr lang="en-GB" sz="1600"/>
          </a:p>
        </p:txBody>
      </p:sp>
      <p:sp>
        <p:nvSpPr>
          <p:cNvPr id="14" name="Rectangle 9">
            <a:extLst>
              <a:ext uri="{FF2B5EF4-FFF2-40B4-BE49-F238E27FC236}">
                <a16:creationId xmlns:a16="http://schemas.microsoft.com/office/drawing/2014/main" id="{4F67FF74-63F7-AD6E-8544-562C0F4DEB07}"/>
              </a:ext>
            </a:extLst>
          </p:cNvPr>
          <p:cNvSpPr/>
          <p:nvPr/>
        </p:nvSpPr>
        <p:spPr>
          <a:xfrm>
            <a:off x="1896196" y="4619761"/>
            <a:ext cx="2932281" cy="677241"/>
          </a:xfrm>
          <a:prstGeom prst="roundRect">
            <a:avLst/>
          </a:prstGeom>
          <a:solidFill>
            <a:schemeClr val="bg2">
              <a:lumMod val="75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По препоръка</a:t>
            </a:r>
            <a:endParaRPr lang="en-GB" sz="1600"/>
          </a:p>
        </p:txBody>
      </p:sp>
      <p:sp>
        <p:nvSpPr>
          <p:cNvPr id="16" name="Rectangle 11">
            <a:extLst>
              <a:ext uri="{FF2B5EF4-FFF2-40B4-BE49-F238E27FC236}">
                <a16:creationId xmlns:a16="http://schemas.microsoft.com/office/drawing/2014/main" id="{05720F33-5160-31D7-2420-09BC185B0C8A}"/>
              </a:ext>
            </a:extLst>
          </p:cNvPr>
          <p:cNvSpPr/>
          <p:nvPr/>
        </p:nvSpPr>
        <p:spPr>
          <a:xfrm>
            <a:off x="1896197" y="3706995"/>
            <a:ext cx="2932281" cy="677241"/>
          </a:xfrm>
          <a:prstGeom prst="roundRect">
            <a:avLst/>
          </a:prstGeom>
          <a:solidFill>
            <a:schemeClr val="bg2">
              <a:lumMod val="75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bg-BG" sz="1600"/>
              <a:t>Продукт „Пенсионер“</a:t>
            </a:r>
            <a:endParaRPr lang="en-GB" sz="1600"/>
          </a:p>
        </p:txBody>
      </p:sp>
      <p:sp>
        <p:nvSpPr>
          <p:cNvPr id="38" name="Правоъгълник: със заоблени ъгли 37">
            <a:extLst>
              <a:ext uri="{FF2B5EF4-FFF2-40B4-BE49-F238E27FC236}">
                <a16:creationId xmlns:a16="http://schemas.microsoft.com/office/drawing/2014/main" id="{CD1659BE-486E-C1DA-69B7-F158FEB0D49A}"/>
              </a:ext>
            </a:extLst>
          </p:cNvPr>
          <p:cNvSpPr/>
          <p:nvPr/>
        </p:nvSpPr>
        <p:spPr>
          <a:xfrm>
            <a:off x="5233585" y="1046835"/>
            <a:ext cx="4290944" cy="65453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bg-BG" sz="1600" b="1">
                <a:solidFill>
                  <a:srgbClr val="1F3864"/>
                </a:solidFill>
              </a:rPr>
              <a:t>1.Отваряне </a:t>
            </a:r>
          </a:p>
        </p:txBody>
      </p:sp>
      <p:sp>
        <p:nvSpPr>
          <p:cNvPr id="42" name="Правоъгълник: със заоблени ъгли 41">
            <a:extLst>
              <a:ext uri="{FF2B5EF4-FFF2-40B4-BE49-F238E27FC236}">
                <a16:creationId xmlns:a16="http://schemas.microsoft.com/office/drawing/2014/main" id="{8043968D-22CF-B7DF-53D4-0FA5CD62A9EF}"/>
              </a:ext>
            </a:extLst>
          </p:cNvPr>
          <p:cNvSpPr/>
          <p:nvPr/>
        </p:nvSpPr>
        <p:spPr>
          <a:xfrm>
            <a:off x="5233877" y="2969181"/>
            <a:ext cx="4274428" cy="360134"/>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bg-BG" sz="1600" b="1">
                <a:solidFill>
                  <a:schemeClr val="accent1">
                    <a:lumMod val="49000"/>
                  </a:schemeClr>
                </a:solidFill>
              </a:rPr>
              <a:t>2. Възражение и отговор</a:t>
            </a:r>
          </a:p>
        </p:txBody>
      </p:sp>
      <p:sp>
        <p:nvSpPr>
          <p:cNvPr id="21" name="Правоъгълник: със заоблени ъгли 16">
            <a:extLst>
              <a:ext uri="{FF2B5EF4-FFF2-40B4-BE49-F238E27FC236}">
                <a16:creationId xmlns:a16="http://schemas.microsoft.com/office/drawing/2014/main" id="{D3A8D97C-3CC6-DC84-0BEA-5EFEF02D6D4A}"/>
              </a:ext>
            </a:extLst>
          </p:cNvPr>
          <p:cNvSpPr/>
          <p:nvPr/>
        </p:nvSpPr>
        <p:spPr>
          <a:xfrm>
            <a:off x="5032144" y="5810304"/>
            <a:ext cx="2389929" cy="526544"/>
          </a:xfrm>
          <a:prstGeom prst="roundRect">
            <a:avLst>
              <a:gd name="adj" fmla="val 50000"/>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200"/>
              <a:t>Тренирай</a:t>
            </a:r>
          </a:p>
        </p:txBody>
      </p:sp>
      <p:sp>
        <p:nvSpPr>
          <p:cNvPr id="23" name="Rectangle: Rounded Corners 22">
            <a:extLst>
              <a:ext uri="{FF2B5EF4-FFF2-40B4-BE49-F238E27FC236}">
                <a16:creationId xmlns:a16="http://schemas.microsoft.com/office/drawing/2014/main" id="{EAE0146A-5E25-663B-F7A6-AED05132C721}"/>
              </a:ext>
            </a:extLst>
          </p:cNvPr>
          <p:cNvSpPr/>
          <p:nvPr/>
        </p:nvSpPr>
        <p:spPr>
          <a:xfrm>
            <a:off x="5144944" y="3730680"/>
            <a:ext cx="2033454" cy="520853"/>
          </a:xfrm>
          <a:prstGeom prst="roundRect">
            <a:avLst/>
          </a:prstGeom>
          <a:solidFill>
            <a:srgbClr val="A5A5A5"/>
          </a:solidFill>
          <a:ln>
            <a:solidFill>
              <a:srgbClr val="A5A5A5"/>
            </a:solid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r>
              <a:rPr lang="ru-RU" sz="1200">
                <a:ea typeface="+mn-lt"/>
                <a:cs typeface="+mn-lt"/>
              </a:rPr>
              <a:t>Аз вече изтеглих кредит от Вас</a:t>
            </a:r>
            <a:endParaRPr lang="bg-BG" sz="1200"/>
          </a:p>
        </p:txBody>
      </p:sp>
      <p:sp>
        <p:nvSpPr>
          <p:cNvPr id="26" name="Rectangle: Rounded Corners 25">
            <a:extLst>
              <a:ext uri="{FF2B5EF4-FFF2-40B4-BE49-F238E27FC236}">
                <a16:creationId xmlns:a16="http://schemas.microsoft.com/office/drawing/2014/main" id="{AA0387F0-EDCE-036C-EF05-5E9791CA216F}"/>
              </a:ext>
            </a:extLst>
          </p:cNvPr>
          <p:cNvSpPr/>
          <p:nvPr/>
        </p:nvSpPr>
        <p:spPr>
          <a:xfrm>
            <a:off x="5143616" y="4394379"/>
            <a:ext cx="2033454" cy="493958"/>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r>
              <a:rPr lang="ru-RU" sz="1200">
                <a:ea typeface="+mn-lt"/>
                <a:cs typeface="+mn-lt"/>
              </a:rPr>
              <a:t>Не ми </a:t>
            </a:r>
            <a:r>
              <a:rPr lang="ru-RU" sz="1200" err="1">
                <a:ea typeface="+mn-lt"/>
                <a:cs typeface="+mn-lt"/>
              </a:rPr>
              <a:t>трябва</a:t>
            </a:r>
            <a:r>
              <a:rPr lang="ru-RU" sz="1200">
                <a:ea typeface="+mn-lt"/>
                <a:cs typeface="+mn-lt"/>
              </a:rPr>
              <a:t> кредит/ Не искам кредит</a:t>
            </a:r>
            <a:endParaRPr lang="bg-BG" sz="1200"/>
          </a:p>
        </p:txBody>
      </p:sp>
      <p:sp>
        <p:nvSpPr>
          <p:cNvPr id="37" name="Rectangle: Rounded Corners 4">
            <a:extLst>
              <a:ext uri="{FF2B5EF4-FFF2-40B4-BE49-F238E27FC236}">
                <a16:creationId xmlns:a16="http://schemas.microsoft.com/office/drawing/2014/main" id="{99381A47-7D4E-A491-3EEF-04DC0A011357}"/>
              </a:ext>
            </a:extLst>
          </p:cNvPr>
          <p:cNvSpPr/>
          <p:nvPr/>
        </p:nvSpPr>
        <p:spPr>
          <a:xfrm>
            <a:off x="5141250" y="5042729"/>
            <a:ext cx="2033454" cy="493958"/>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r>
              <a:rPr lang="ru-RU" sz="1200">
                <a:ea typeface="+mn-lt"/>
                <a:cs typeface="+mn-lt"/>
              </a:rPr>
              <a:t>Не е удобно</a:t>
            </a:r>
            <a:endParaRPr lang="bg-BG" sz="1200"/>
          </a:p>
        </p:txBody>
      </p:sp>
      <p:sp>
        <p:nvSpPr>
          <p:cNvPr id="2" name="TextBox 1">
            <a:extLst>
              <a:ext uri="{FF2B5EF4-FFF2-40B4-BE49-F238E27FC236}">
                <a16:creationId xmlns:a16="http://schemas.microsoft.com/office/drawing/2014/main" id="{1D38442A-BBA1-F41F-CB67-7E2F59D72BA9}"/>
              </a:ext>
            </a:extLst>
          </p:cNvPr>
          <p:cNvSpPr txBox="1"/>
          <p:nvPr/>
        </p:nvSpPr>
        <p:spPr>
          <a:xfrm>
            <a:off x="5459103" y="1541059"/>
            <a:ext cx="5868538" cy="144655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baseline="0">
                <a:latin typeface="Aptos"/>
                <a:ea typeface="Segoe UI"/>
                <a:cs typeface="Segoe UI"/>
              </a:rPr>
              <a:t>-</a:t>
            </a:r>
            <a:r>
              <a:rPr lang="en-US" sz="1400" baseline="0">
                <a:latin typeface="Aptos"/>
                <a:ea typeface="Segoe UI"/>
                <a:cs typeface="Segoe UI"/>
              </a:rPr>
              <a:t>Добър ден, търся г-н/г-жа (две </a:t>
            </a:r>
            <a:r>
              <a:rPr lang="en-US" sz="1400" baseline="0" err="1">
                <a:latin typeface="Aptos"/>
                <a:ea typeface="Segoe UI"/>
                <a:cs typeface="Segoe UI"/>
              </a:rPr>
              <a:t>имена</a:t>
            </a:r>
            <a:r>
              <a:rPr lang="en-US" sz="1400" baseline="0">
                <a:latin typeface="Aptos"/>
                <a:ea typeface="Segoe UI"/>
                <a:cs typeface="Segoe UI"/>
              </a:rPr>
              <a:t> </a:t>
            </a:r>
            <a:r>
              <a:rPr lang="en-US" sz="1400" baseline="0" err="1">
                <a:latin typeface="Aptos"/>
                <a:ea typeface="Segoe UI"/>
                <a:cs typeface="Segoe UI"/>
              </a:rPr>
              <a:t>на</a:t>
            </a:r>
            <a:r>
              <a:rPr lang="en-US" sz="1400" baseline="0">
                <a:latin typeface="Aptos"/>
                <a:ea typeface="Segoe UI"/>
                <a:cs typeface="Segoe UI"/>
              </a:rPr>
              <a:t> </a:t>
            </a:r>
            <a:r>
              <a:rPr lang="en-US" sz="1400" baseline="0" err="1">
                <a:latin typeface="Aptos"/>
                <a:ea typeface="Segoe UI"/>
                <a:cs typeface="Segoe UI"/>
              </a:rPr>
              <a:t>клиента</a:t>
            </a:r>
            <a:r>
              <a:rPr lang="en-US" sz="1400" baseline="0">
                <a:latin typeface="Aptos"/>
                <a:ea typeface="Segoe UI"/>
                <a:cs typeface="Segoe UI"/>
              </a:rPr>
              <a:t>).</a:t>
            </a:r>
            <a:br>
              <a:rPr lang="en-US" sz="1400">
                <a:latin typeface="Aptos"/>
                <a:ea typeface="Segoe UI"/>
                <a:cs typeface="Segoe UI"/>
              </a:rPr>
            </a:br>
            <a:r>
              <a:rPr lang="en-US" sz="1400" b="1" baseline="0">
                <a:latin typeface="Aptos"/>
                <a:ea typeface="Segoe UI"/>
                <a:cs typeface="Segoe UI"/>
              </a:rPr>
              <a:t>-</a:t>
            </a:r>
            <a:r>
              <a:rPr lang="en-US" sz="1400" baseline="0" err="1">
                <a:latin typeface="Aptos"/>
                <a:ea typeface="Segoe UI"/>
                <a:cs typeface="Segoe UI"/>
              </a:rPr>
              <a:t>Да</a:t>
            </a:r>
            <a:r>
              <a:rPr lang="en-US" sz="1400" baseline="0">
                <a:latin typeface="Aptos"/>
                <a:ea typeface="Segoe UI"/>
                <a:cs typeface="Segoe UI"/>
              </a:rPr>
              <a:t> (</a:t>
            </a:r>
            <a:r>
              <a:rPr lang="en-US" sz="1400" baseline="0" err="1">
                <a:latin typeface="Aptos"/>
                <a:ea typeface="Segoe UI"/>
                <a:cs typeface="Segoe UI"/>
              </a:rPr>
              <a:t>на</a:t>
            </a:r>
            <a:r>
              <a:rPr lang="en-US" sz="1400" baseline="0">
                <a:latin typeface="Aptos"/>
                <a:ea typeface="Segoe UI"/>
                <a:cs typeface="Segoe UI"/>
              </a:rPr>
              <a:t> </a:t>
            </a:r>
            <a:r>
              <a:rPr lang="en-US" sz="1400" baseline="0" err="1">
                <a:latin typeface="Aptos"/>
                <a:ea typeface="Segoe UI"/>
                <a:cs typeface="Segoe UI"/>
              </a:rPr>
              <a:t>телефона</a:t>
            </a:r>
            <a:r>
              <a:rPr lang="en-US" sz="1400" baseline="0">
                <a:latin typeface="Aptos"/>
                <a:ea typeface="Segoe UI"/>
                <a:cs typeface="Segoe UI"/>
              </a:rPr>
              <a:t>, </a:t>
            </a:r>
            <a:r>
              <a:rPr lang="en-US" sz="1400" baseline="0" err="1">
                <a:latin typeface="Aptos"/>
                <a:ea typeface="Segoe UI"/>
                <a:cs typeface="Segoe UI"/>
              </a:rPr>
              <a:t>аз</a:t>
            </a:r>
            <a:r>
              <a:rPr lang="en-US" sz="1400" baseline="0">
                <a:latin typeface="Aptos"/>
                <a:ea typeface="Segoe UI"/>
                <a:cs typeface="Segoe UI"/>
              </a:rPr>
              <a:t> </a:t>
            </a:r>
            <a:r>
              <a:rPr lang="en-US" sz="1400" baseline="0" err="1">
                <a:latin typeface="Aptos"/>
                <a:ea typeface="Segoe UI"/>
                <a:cs typeface="Segoe UI"/>
              </a:rPr>
              <a:t>съм</a:t>
            </a:r>
            <a:r>
              <a:rPr lang="en-US" sz="1400" baseline="0">
                <a:latin typeface="Aptos"/>
                <a:ea typeface="Segoe UI"/>
                <a:cs typeface="Segoe UI"/>
              </a:rPr>
              <a:t>).</a:t>
            </a:r>
            <a:endParaRPr lang="en-US">
              <a:latin typeface="Aptos"/>
              <a:ea typeface="Segoe UI"/>
              <a:cs typeface="Segoe UI"/>
            </a:endParaRPr>
          </a:p>
          <a:p>
            <a:r>
              <a:rPr lang="en-US" sz="1400" b="1" baseline="0">
                <a:latin typeface="Aptos"/>
                <a:ea typeface="Segoe UI"/>
                <a:cs typeface="Segoe UI"/>
              </a:rPr>
              <a:t>-</a:t>
            </a:r>
            <a:r>
              <a:rPr lang="en-US" sz="1400" baseline="0" err="1">
                <a:latin typeface="Aptos"/>
                <a:ea typeface="Segoe UI"/>
                <a:cs typeface="Segoe UI"/>
              </a:rPr>
              <a:t>Здравейте</a:t>
            </a:r>
            <a:r>
              <a:rPr lang="en-US" sz="1400" baseline="0">
                <a:latin typeface="Aptos"/>
                <a:ea typeface="Segoe UI"/>
                <a:cs typeface="Segoe UI"/>
              </a:rPr>
              <a:t> г-н/г-</a:t>
            </a:r>
            <a:r>
              <a:rPr lang="en-US" sz="1400" baseline="0" err="1">
                <a:latin typeface="Aptos"/>
                <a:ea typeface="Segoe UI"/>
                <a:cs typeface="Segoe UI"/>
              </a:rPr>
              <a:t>жо</a:t>
            </a:r>
            <a:r>
              <a:rPr lang="en-US" sz="1400" baseline="0">
                <a:latin typeface="Aptos"/>
                <a:ea typeface="Segoe UI"/>
                <a:cs typeface="Segoe UI"/>
              </a:rPr>
              <a:t> (</a:t>
            </a:r>
            <a:r>
              <a:rPr lang="en-US" sz="1400" baseline="0" err="1">
                <a:latin typeface="Aptos"/>
                <a:ea typeface="Segoe UI"/>
                <a:cs typeface="Segoe UI"/>
              </a:rPr>
              <a:t>фамилия</a:t>
            </a:r>
            <a:r>
              <a:rPr lang="en-US" sz="1400" baseline="0">
                <a:latin typeface="Aptos"/>
                <a:ea typeface="Segoe UI"/>
                <a:cs typeface="Segoe UI"/>
              </a:rPr>
              <a:t> </a:t>
            </a:r>
            <a:r>
              <a:rPr lang="en-US" sz="1400" baseline="0" err="1">
                <a:latin typeface="Aptos"/>
                <a:ea typeface="Segoe UI"/>
                <a:cs typeface="Segoe UI"/>
              </a:rPr>
              <a:t>на</a:t>
            </a:r>
            <a:r>
              <a:rPr lang="en-US" sz="1400" baseline="0">
                <a:latin typeface="Aptos"/>
                <a:ea typeface="Segoe UI"/>
                <a:cs typeface="Segoe UI"/>
              </a:rPr>
              <a:t> </a:t>
            </a:r>
            <a:r>
              <a:rPr lang="en-US" sz="1400" baseline="0" err="1">
                <a:latin typeface="Aptos"/>
                <a:ea typeface="Segoe UI"/>
                <a:cs typeface="Segoe UI"/>
              </a:rPr>
              <a:t>клиента</a:t>
            </a:r>
            <a:r>
              <a:rPr lang="en-US" sz="1400" baseline="0">
                <a:latin typeface="Aptos"/>
                <a:ea typeface="Segoe UI"/>
                <a:cs typeface="Segoe UI"/>
              </a:rPr>
              <a:t>), </a:t>
            </a:r>
            <a:r>
              <a:rPr lang="en-US" sz="1400" baseline="0" err="1">
                <a:latin typeface="Aptos"/>
                <a:ea typeface="Segoe UI"/>
                <a:cs typeface="Segoe UI"/>
              </a:rPr>
              <a:t>обаждам</a:t>
            </a:r>
            <a:r>
              <a:rPr lang="en-US" sz="1400" baseline="0">
                <a:latin typeface="Aptos"/>
                <a:ea typeface="Segoe UI"/>
                <a:cs typeface="Segoe UI"/>
              </a:rPr>
              <a:t> </a:t>
            </a:r>
            <a:r>
              <a:rPr lang="en-US" sz="1400" baseline="0" err="1">
                <a:latin typeface="Aptos"/>
                <a:ea typeface="Segoe UI"/>
                <a:cs typeface="Segoe UI"/>
              </a:rPr>
              <a:t>се</a:t>
            </a:r>
            <a:r>
              <a:rPr lang="en-US" sz="1400" baseline="0">
                <a:latin typeface="Aptos"/>
                <a:ea typeface="Segoe UI"/>
                <a:cs typeface="Segoe UI"/>
              </a:rPr>
              <a:t> </a:t>
            </a:r>
            <a:r>
              <a:rPr lang="en-US" sz="1400" baseline="0" err="1">
                <a:latin typeface="Aptos"/>
                <a:ea typeface="Segoe UI"/>
                <a:cs typeface="Segoe UI"/>
              </a:rPr>
              <a:t>от</a:t>
            </a:r>
            <a:r>
              <a:rPr lang="en-US" sz="1400" baseline="0">
                <a:latin typeface="Aptos"/>
                <a:ea typeface="Segoe UI"/>
                <a:cs typeface="Segoe UI"/>
              </a:rPr>
              <a:t> </a:t>
            </a:r>
            <a:r>
              <a:rPr lang="en-US" sz="1400" baseline="0" err="1">
                <a:latin typeface="Aptos"/>
                <a:ea typeface="Segoe UI"/>
                <a:cs typeface="Segoe UI"/>
              </a:rPr>
              <a:t>Изи</a:t>
            </a:r>
            <a:r>
              <a:rPr lang="en-US" sz="1400" baseline="0">
                <a:latin typeface="Aptos"/>
                <a:ea typeface="Segoe UI"/>
                <a:cs typeface="Segoe UI"/>
              </a:rPr>
              <a:t> </a:t>
            </a:r>
            <a:r>
              <a:rPr lang="en-US" sz="1400" baseline="0" err="1">
                <a:latin typeface="Aptos"/>
                <a:ea typeface="Segoe UI"/>
                <a:cs typeface="Segoe UI"/>
              </a:rPr>
              <a:t>Кредит</a:t>
            </a:r>
            <a:r>
              <a:rPr lang="en-US" sz="1400" baseline="0">
                <a:latin typeface="Aptos"/>
                <a:ea typeface="Segoe UI"/>
                <a:cs typeface="Segoe UI"/>
              </a:rPr>
              <a:t> </a:t>
            </a:r>
            <a:r>
              <a:rPr lang="en-US" sz="1400" baseline="0" err="1">
                <a:latin typeface="Aptos"/>
                <a:ea typeface="Segoe UI"/>
                <a:cs typeface="Segoe UI"/>
              </a:rPr>
              <a:t>във</a:t>
            </a:r>
            <a:r>
              <a:rPr lang="en-US" sz="1400" baseline="0">
                <a:latin typeface="Aptos"/>
                <a:ea typeface="Segoe UI"/>
                <a:cs typeface="Segoe UI"/>
              </a:rPr>
              <a:t> </a:t>
            </a:r>
            <a:r>
              <a:rPr lang="en-US" sz="1400" baseline="0" err="1">
                <a:latin typeface="Aptos"/>
                <a:ea typeface="Segoe UI"/>
                <a:cs typeface="Segoe UI"/>
              </a:rPr>
              <a:t>връзка</a:t>
            </a:r>
            <a:r>
              <a:rPr lang="en-US" sz="1400" baseline="0">
                <a:latin typeface="Aptos"/>
                <a:ea typeface="Segoe UI"/>
                <a:cs typeface="Segoe UI"/>
              </a:rPr>
              <a:t> с </a:t>
            </a:r>
            <a:r>
              <a:rPr lang="en-US" sz="1400" baseline="0" err="1">
                <a:latin typeface="Aptos"/>
                <a:ea typeface="Segoe UI"/>
                <a:cs typeface="Segoe UI"/>
              </a:rPr>
              <a:t>изготвено</a:t>
            </a:r>
            <a:r>
              <a:rPr lang="en-US" sz="1400" baseline="0">
                <a:latin typeface="Aptos"/>
                <a:ea typeface="Segoe UI"/>
                <a:cs typeface="Segoe UI"/>
              </a:rPr>
              <a:t> </a:t>
            </a:r>
            <a:r>
              <a:rPr lang="en-US" sz="1400" baseline="0" err="1">
                <a:latin typeface="Aptos"/>
                <a:ea typeface="Segoe UI"/>
                <a:cs typeface="Segoe UI"/>
              </a:rPr>
              <a:t>предложение</a:t>
            </a:r>
            <a:r>
              <a:rPr lang="en-US" sz="1400" baseline="0">
                <a:latin typeface="Aptos"/>
                <a:ea typeface="Segoe UI"/>
                <a:cs typeface="Segoe UI"/>
              </a:rPr>
              <a:t>, </a:t>
            </a:r>
            <a:r>
              <a:rPr lang="en-US" sz="1400" baseline="0" err="1">
                <a:latin typeface="Aptos"/>
                <a:ea typeface="Segoe UI"/>
                <a:cs typeface="Segoe UI"/>
              </a:rPr>
              <a:t>специално</a:t>
            </a:r>
            <a:r>
              <a:rPr lang="en-US" sz="1400" baseline="0">
                <a:latin typeface="Aptos"/>
                <a:ea typeface="Segoe UI"/>
                <a:cs typeface="Segoe UI"/>
              </a:rPr>
              <a:t> </a:t>
            </a:r>
            <a:r>
              <a:rPr lang="en-US" sz="1400" baseline="0" err="1">
                <a:latin typeface="Aptos"/>
                <a:ea typeface="Segoe UI"/>
                <a:cs typeface="Segoe UI"/>
              </a:rPr>
              <a:t>за</a:t>
            </a:r>
            <a:r>
              <a:rPr lang="en-US" sz="1400" baseline="0">
                <a:latin typeface="Aptos"/>
                <a:ea typeface="Segoe UI"/>
                <a:cs typeface="Segoe UI"/>
              </a:rPr>
              <a:t> </a:t>
            </a:r>
            <a:r>
              <a:rPr lang="en-US" sz="1400" baseline="0" err="1">
                <a:latin typeface="Aptos"/>
                <a:ea typeface="Segoe UI"/>
                <a:cs typeface="Segoe UI"/>
              </a:rPr>
              <a:t>Вас</a:t>
            </a:r>
            <a:r>
              <a:rPr lang="en-US" sz="1400" baseline="0">
                <a:latin typeface="Aptos"/>
                <a:ea typeface="Segoe UI"/>
                <a:cs typeface="Segoe UI"/>
              </a:rPr>
              <a:t>. </a:t>
            </a:r>
            <a:r>
              <a:rPr lang="en-US" sz="1400" baseline="0" err="1">
                <a:latin typeface="Aptos"/>
                <a:ea typeface="Segoe UI"/>
                <a:cs typeface="Segoe UI"/>
              </a:rPr>
              <a:t>Удобно</a:t>
            </a:r>
            <a:r>
              <a:rPr lang="en-US" sz="1400" baseline="0">
                <a:latin typeface="Aptos"/>
                <a:ea typeface="Segoe UI"/>
                <a:cs typeface="Segoe UI"/>
              </a:rPr>
              <a:t> </a:t>
            </a:r>
            <a:r>
              <a:rPr lang="en-US" sz="1400" baseline="0" err="1">
                <a:latin typeface="Aptos"/>
                <a:ea typeface="Segoe UI"/>
                <a:cs typeface="Segoe UI"/>
              </a:rPr>
              <a:t>ли</a:t>
            </a:r>
            <a:r>
              <a:rPr lang="en-US" sz="1400" baseline="0">
                <a:latin typeface="Aptos"/>
                <a:ea typeface="Segoe UI"/>
                <a:cs typeface="Segoe UI"/>
              </a:rPr>
              <a:t> е </a:t>
            </a:r>
            <a:r>
              <a:rPr lang="en-US" sz="1400" baseline="0" err="1">
                <a:latin typeface="Aptos"/>
                <a:ea typeface="Segoe UI"/>
                <a:cs typeface="Segoe UI"/>
              </a:rPr>
              <a:t>да</a:t>
            </a:r>
            <a:r>
              <a:rPr lang="en-US" sz="1400" baseline="0">
                <a:latin typeface="Aptos"/>
                <a:ea typeface="Segoe UI"/>
                <a:cs typeface="Segoe UI"/>
              </a:rPr>
              <a:t> </a:t>
            </a:r>
            <a:r>
              <a:rPr lang="en-US" sz="1400" baseline="0" err="1">
                <a:latin typeface="Aptos"/>
                <a:ea typeface="Segoe UI"/>
                <a:cs typeface="Segoe UI"/>
              </a:rPr>
              <a:t>ми</a:t>
            </a:r>
            <a:r>
              <a:rPr lang="en-US" sz="1400" baseline="0">
                <a:latin typeface="Aptos"/>
                <a:ea typeface="Segoe UI"/>
                <a:cs typeface="Segoe UI"/>
              </a:rPr>
              <a:t> </a:t>
            </a:r>
            <a:r>
              <a:rPr lang="en-US" sz="1400" baseline="0" err="1">
                <a:latin typeface="Aptos"/>
                <a:ea typeface="Segoe UI"/>
                <a:cs typeface="Segoe UI"/>
              </a:rPr>
              <a:t>отделите</a:t>
            </a:r>
            <a:r>
              <a:rPr lang="en-US" sz="1400" baseline="0">
                <a:latin typeface="Aptos"/>
                <a:ea typeface="Segoe UI"/>
                <a:cs typeface="Segoe UI"/>
              </a:rPr>
              <a:t> </a:t>
            </a:r>
            <a:r>
              <a:rPr lang="en-US" sz="1400" baseline="0" err="1">
                <a:latin typeface="Aptos"/>
                <a:ea typeface="Segoe UI"/>
                <a:cs typeface="Segoe UI"/>
              </a:rPr>
              <a:t>една</a:t>
            </a:r>
            <a:r>
              <a:rPr lang="en-US" sz="1400" baseline="0">
                <a:latin typeface="Aptos"/>
                <a:ea typeface="Segoe UI"/>
                <a:cs typeface="Segoe UI"/>
              </a:rPr>
              <a:t>, </a:t>
            </a:r>
            <a:r>
              <a:rPr lang="en-US" sz="1400" baseline="0" err="1">
                <a:latin typeface="Aptos"/>
                <a:ea typeface="Segoe UI"/>
                <a:cs typeface="Segoe UI"/>
              </a:rPr>
              <a:t>две</a:t>
            </a:r>
            <a:r>
              <a:rPr lang="en-US" sz="1400" baseline="0">
                <a:latin typeface="Aptos"/>
                <a:ea typeface="Segoe UI"/>
                <a:cs typeface="Segoe UI"/>
              </a:rPr>
              <a:t> </a:t>
            </a:r>
            <a:r>
              <a:rPr lang="en-US" sz="1400" baseline="0" err="1">
                <a:latin typeface="Aptos"/>
                <a:ea typeface="Segoe UI"/>
                <a:cs typeface="Segoe UI"/>
              </a:rPr>
              <a:t>минути</a:t>
            </a:r>
            <a:r>
              <a:rPr lang="en-US" sz="1400" baseline="0">
                <a:latin typeface="Aptos"/>
                <a:ea typeface="Segoe UI"/>
                <a:cs typeface="Segoe UI"/>
              </a:rPr>
              <a:t>, </a:t>
            </a:r>
            <a:r>
              <a:rPr lang="en-US" sz="1400" baseline="0" err="1">
                <a:latin typeface="Aptos"/>
                <a:ea typeface="Segoe UI"/>
                <a:cs typeface="Segoe UI"/>
              </a:rPr>
              <a:t>за</a:t>
            </a:r>
            <a:r>
              <a:rPr lang="en-US" sz="1400" baseline="0">
                <a:latin typeface="Aptos"/>
                <a:ea typeface="Segoe UI"/>
                <a:cs typeface="Segoe UI"/>
              </a:rPr>
              <a:t> </a:t>
            </a:r>
            <a:r>
              <a:rPr lang="en-US" sz="1400" baseline="0" err="1">
                <a:latin typeface="Aptos"/>
                <a:ea typeface="Segoe UI"/>
                <a:cs typeface="Segoe UI"/>
              </a:rPr>
              <a:t>да</a:t>
            </a:r>
            <a:r>
              <a:rPr lang="en-US" sz="1400" baseline="0">
                <a:latin typeface="Aptos"/>
                <a:ea typeface="Segoe UI"/>
                <a:cs typeface="Segoe UI"/>
              </a:rPr>
              <a:t> </a:t>
            </a:r>
            <a:r>
              <a:rPr lang="en-US" sz="1400" baseline="0" err="1">
                <a:latin typeface="Aptos"/>
                <a:ea typeface="Segoe UI"/>
                <a:cs typeface="Segoe UI"/>
              </a:rPr>
              <a:t>Ви</a:t>
            </a:r>
            <a:r>
              <a:rPr lang="en-US" sz="1400" baseline="0">
                <a:latin typeface="Aptos"/>
                <a:ea typeface="Segoe UI"/>
                <a:cs typeface="Segoe UI"/>
              </a:rPr>
              <a:t> </a:t>
            </a:r>
            <a:r>
              <a:rPr lang="en-US" sz="1400" baseline="0" err="1">
                <a:latin typeface="Aptos"/>
                <a:ea typeface="Segoe UI"/>
                <a:cs typeface="Segoe UI"/>
              </a:rPr>
              <a:t>запозная</a:t>
            </a:r>
            <a:r>
              <a:rPr lang="en-US" sz="1400" baseline="0">
                <a:latin typeface="Aptos"/>
                <a:ea typeface="Segoe UI"/>
                <a:cs typeface="Segoe UI"/>
              </a:rPr>
              <a:t>?</a:t>
            </a:r>
            <a:r>
              <a:rPr lang="en-US" sz="1400">
                <a:latin typeface="Aptos"/>
                <a:ea typeface="Segoe UI"/>
                <a:cs typeface="Segoe UI"/>
              </a:rPr>
              <a:t> </a:t>
            </a:r>
            <a:endParaRPr lang="en-US"/>
          </a:p>
          <a:p>
            <a:pPr algn="ctr"/>
            <a:endParaRPr lang="en-US"/>
          </a:p>
        </p:txBody>
      </p:sp>
      <p:sp>
        <p:nvSpPr>
          <p:cNvPr id="4" name="Rectangle: Rounded Corners 3">
            <a:extLst>
              <a:ext uri="{FF2B5EF4-FFF2-40B4-BE49-F238E27FC236}">
                <a16:creationId xmlns:a16="http://schemas.microsoft.com/office/drawing/2014/main" id="{2F917CC6-1ED8-6B7C-C67D-31952A5DF442}"/>
              </a:ext>
            </a:extLst>
          </p:cNvPr>
          <p:cNvSpPr/>
          <p:nvPr/>
        </p:nvSpPr>
        <p:spPr>
          <a:xfrm>
            <a:off x="7420980" y="4213390"/>
            <a:ext cx="1309564" cy="101887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bg-BG" sz="1200" dirty="0">
                <a:ea typeface="+mn-lt"/>
                <a:cs typeface="+mn-lt"/>
              </a:rPr>
              <a:t>Разбирам Ви, но Нека Ви разкажа за специалните условия</a:t>
            </a:r>
            <a:endParaRPr lang="en-US" dirty="0">
              <a:ea typeface="+mn-lt"/>
              <a:cs typeface="+mn-lt"/>
            </a:endParaRPr>
          </a:p>
        </p:txBody>
      </p:sp>
      <p:sp>
        <p:nvSpPr>
          <p:cNvPr id="9" name="Rectangle: Rounded Corners 8">
            <a:extLst>
              <a:ext uri="{FF2B5EF4-FFF2-40B4-BE49-F238E27FC236}">
                <a16:creationId xmlns:a16="http://schemas.microsoft.com/office/drawing/2014/main" id="{C5042716-8D73-7A9B-E111-BD49F2310A35}"/>
              </a:ext>
            </a:extLst>
          </p:cNvPr>
          <p:cNvSpPr/>
          <p:nvPr/>
        </p:nvSpPr>
        <p:spPr>
          <a:xfrm>
            <a:off x="9089737" y="3674181"/>
            <a:ext cx="1122658" cy="486912"/>
          </a:xfrm>
          <a:prstGeom prst="roundRect">
            <a:avLst/>
          </a:prstGeom>
          <a:solidFill>
            <a:srgbClr val="4472C4"/>
          </a:solidFill>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p>
            <a:pPr algn="ctr"/>
            <a:r>
              <a:rPr lang="bg-BG" sz="1200"/>
              <a:t>Добре</a:t>
            </a:r>
            <a:endParaRPr lang="bg-BG" sz="1200" dirty="0"/>
          </a:p>
        </p:txBody>
      </p:sp>
      <p:cxnSp>
        <p:nvCxnSpPr>
          <p:cNvPr id="15" name="Connector: Elbow 14">
            <a:extLst>
              <a:ext uri="{FF2B5EF4-FFF2-40B4-BE49-F238E27FC236}">
                <a16:creationId xmlns:a16="http://schemas.microsoft.com/office/drawing/2014/main" id="{312931FD-CF68-591C-4518-CA2AF23C7795}"/>
              </a:ext>
            </a:extLst>
          </p:cNvPr>
          <p:cNvCxnSpPr/>
          <p:nvPr/>
        </p:nvCxnSpPr>
        <p:spPr>
          <a:xfrm flipV="1">
            <a:off x="7165331" y="4619224"/>
            <a:ext cx="252927" cy="29835"/>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Connector: Elbow 16">
            <a:extLst>
              <a:ext uri="{FF2B5EF4-FFF2-40B4-BE49-F238E27FC236}">
                <a16:creationId xmlns:a16="http://schemas.microsoft.com/office/drawing/2014/main" id="{A3AB67E0-FA93-1E58-B8A7-A595653622D9}"/>
              </a:ext>
            </a:extLst>
          </p:cNvPr>
          <p:cNvCxnSpPr/>
          <p:nvPr/>
        </p:nvCxnSpPr>
        <p:spPr>
          <a:xfrm flipV="1">
            <a:off x="8709161" y="4029442"/>
            <a:ext cx="370262" cy="504906"/>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 name="Connector: Elbow 2">
            <a:extLst>
              <a:ext uri="{FF2B5EF4-FFF2-40B4-BE49-F238E27FC236}">
                <a16:creationId xmlns:a16="http://schemas.microsoft.com/office/drawing/2014/main" id="{9F20937A-9B74-995F-E6D9-3A416ACDE25E}"/>
              </a:ext>
            </a:extLst>
          </p:cNvPr>
          <p:cNvCxnSpPr>
            <a:cxnSpLocks/>
          </p:cNvCxnSpPr>
          <p:nvPr/>
        </p:nvCxnSpPr>
        <p:spPr>
          <a:xfrm flipV="1">
            <a:off x="8709160" y="4590159"/>
            <a:ext cx="370262" cy="20298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 name="Connector: Elbow 4">
            <a:extLst>
              <a:ext uri="{FF2B5EF4-FFF2-40B4-BE49-F238E27FC236}">
                <a16:creationId xmlns:a16="http://schemas.microsoft.com/office/drawing/2014/main" id="{C73A48DE-B369-FBA3-6B36-8760CDBA2055}"/>
              </a:ext>
            </a:extLst>
          </p:cNvPr>
          <p:cNvCxnSpPr>
            <a:cxnSpLocks/>
          </p:cNvCxnSpPr>
          <p:nvPr/>
        </p:nvCxnSpPr>
        <p:spPr>
          <a:xfrm>
            <a:off x="8709159" y="4879405"/>
            <a:ext cx="370262" cy="357734"/>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Rectangle: Rounded Corners 5">
            <a:extLst>
              <a:ext uri="{FF2B5EF4-FFF2-40B4-BE49-F238E27FC236}">
                <a16:creationId xmlns:a16="http://schemas.microsoft.com/office/drawing/2014/main" id="{BB4CE251-03D5-1536-9896-FB6F20B2E4D0}"/>
              </a:ext>
            </a:extLst>
          </p:cNvPr>
          <p:cNvSpPr/>
          <p:nvPr/>
        </p:nvSpPr>
        <p:spPr>
          <a:xfrm>
            <a:off x="9104114" y="4321162"/>
            <a:ext cx="1122658" cy="486912"/>
          </a:xfrm>
          <a:prstGeom prst="roundRect">
            <a:avLst/>
          </a:prstGeom>
          <a:solidFill>
            <a:srgbClr val="4472C4"/>
          </a:solidFill>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p>
            <a:pPr algn="ctr"/>
            <a:r>
              <a:rPr lang="bg-BG" sz="1200" dirty="0"/>
              <a:t>Звъннете ми </a:t>
            </a:r>
            <a:r>
              <a:rPr lang="bg-BG" sz="1200"/>
              <a:t>утре/..</a:t>
            </a:r>
            <a:endParaRPr lang="bg-BG" sz="1200" dirty="0"/>
          </a:p>
        </p:txBody>
      </p:sp>
      <p:sp>
        <p:nvSpPr>
          <p:cNvPr id="7" name="Rectangle: Rounded Corners 6">
            <a:extLst>
              <a:ext uri="{FF2B5EF4-FFF2-40B4-BE49-F238E27FC236}">
                <a16:creationId xmlns:a16="http://schemas.microsoft.com/office/drawing/2014/main" id="{F6F691BD-AE0C-FF5C-BD63-8E7CFB2857E9}"/>
              </a:ext>
            </a:extLst>
          </p:cNvPr>
          <p:cNvSpPr/>
          <p:nvPr/>
        </p:nvSpPr>
        <p:spPr>
          <a:xfrm>
            <a:off x="9104114" y="5025653"/>
            <a:ext cx="1122658" cy="486912"/>
          </a:xfrm>
          <a:prstGeom prst="roundRect">
            <a:avLst/>
          </a:prstGeom>
          <a:solidFill>
            <a:srgbClr val="4472C4"/>
          </a:solidFill>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p>
            <a:pPr algn="ctr"/>
            <a:r>
              <a:rPr lang="bg-BG" sz="1200"/>
              <a:t>Не, Не искам!</a:t>
            </a:r>
            <a:endParaRPr lang="en-US"/>
          </a:p>
        </p:txBody>
      </p:sp>
      <p:sp>
        <p:nvSpPr>
          <p:cNvPr id="11" name="Rectangle: Rounded Corners 10">
            <a:extLst>
              <a:ext uri="{FF2B5EF4-FFF2-40B4-BE49-F238E27FC236}">
                <a16:creationId xmlns:a16="http://schemas.microsoft.com/office/drawing/2014/main" id="{0A814D3F-2829-0BC3-1413-940FEA860327}"/>
              </a:ext>
            </a:extLst>
          </p:cNvPr>
          <p:cNvSpPr/>
          <p:nvPr/>
        </p:nvSpPr>
        <p:spPr>
          <a:xfrm>
            <a:off x="10628114" y="3415388"/>
            <a:ext cx="1309561" cy="803213"/>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p>
            <a:r>
              <a:rPr lang="bg-BG" sz="1200"/>
              <a:t>Представям варианти </a:t>
            </a:r>
            <a:endParaRPr lang="bg-BG" sz="1200" dirty="0"/>
          </a:p>
        </p:txBody>
      </p:sp>
      <p:cxnSp>
        <p:nvCxnSpPr>
          <p:cNvPr id="13" name="Connector: Elbow 12">
            <a:extLst>
              <a:ext uri="{FF2B5EF4-FFF2-40B4-BE49-F238E27FC236}">
                <a16:creationId xmlns:a16="http://schemas.microsoft.com/office/drawing/2014/main" id="{71BB2909-CC68-BA74-5240-CD8EA87B5222}"/>
              </a:ext>
            </a:extLst>
          </p:cNvPr>
          <p:cNvCxnSpPr>
            <a:cxnSpLocks/>
          </p:cNvCxnSpPr>
          <p:nvPr/>
        </p:nvCxnSpPr>
        <p:spPr>
          <a:xfrm flipV="1">
            <a:off x="10247538" y="3842537"/>
            <a:ext cx="370262" cy="3045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Connector: Elbow 17">
            <a:extLst>
              <a:ext uri="{FF2B5EF4-FFF2-40B4-BE49-F238E27FC236}">
                <a16:creationId xmlns:a16="http://schemas.microsoft.com/office/drawing/2014/main" id="{C5AC7424-F679-9E3C-70FC-6BF555759047}"/>
              </a:ext>
            </a:extLst>
          </p:cNvPr>
          <p:cNvCxnSpPr>
            <a:cxnSpLocks/>
          </p:cNvCxnSpPr>
          <p:nvPr/>
        </p:nvCxnSpPr>
        <p:spPr>
          <a:xfrm flipV="1">
            <a:off x="10247537" y="4532649"/>
            <a:ext cx="370262" cy="20298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Connector: Elbow 18">
            <a:extLst>
              <a:ext uri="{FF2B5EF4-FFF2-40B4-BE49-F238E27FC236}">
                <a16:creationId xmlns:a16="http://schemas.microsoft.com/office/drawing/2014/main" id="{90E62F8D-6311-F266-3CDD-289FB416BE40}"/>
              </a:ext>
            </a:extLst>
          </p:cNvPr>
          <p:cNvCxnSpPr>
            <a:cxnSpLocks/>
          </p:cNvCxnSpPr>
          <p:nvPr/>
        </p:nvCxnSpPr>
        <p:spPr>
          <a:xfrm>
            <a:off x="10218781" y="5210083"/>
            <a:ext cx="370262" cy="7018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Rectangle: Rounded Corners 19">
            <a:extLst>
              <a:ext uri="{FF2B5EF4-FFF2-40B4-BE49-F238E27FC236}">
                <a16:creationId xmlns:a16="http://schemas.microsoft.com/office/drawing/2014/main" id="{C5BB4B38-14A1-54AB-E889-BE977C01DEC7}"/>
              </a:ext>
            </a:extLst>
          </p:cNvPr>
          <p:cNvSpPr/>
          <p:nvPr/>
        </p:nvSpPr>
        <p:spPr>
          <a:xfrm>
            <a:off x="10628115" y="4278029"/>
            <a:ext cx="1280808" cy="645062"/>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p>
            <a:r>
              <a:rPr lang="bg-BG" sz="1200"/>
              <a:t>Ще ви потърся на по-късен етап</a:t>
            </a:r>
            <a:endParaRPr lang="en-US"/>
          </a:p>
        </p:txBody>
      </p:sp>
      <p:sp>
        <p:nvSpPr>
          <p:cNvPr id="22" name="Rectangle: Rounded Corners 21">
            <a:extLst>
              <a:ext uri="{FF2B5EF4-FFF2-40B4-BE49-F238E27FC236}">
                <a16:creationId xmlns:a16="http://schemas.microsoft.com/office/drawing/2014/main" id="{384D458F-D675-7510-FA1C-52D826029188}"/>
              </a:ext>
            </a:extLst>
          </p:cNvPr>
          <p:cNvSpPr/>
          <p:nvPr/>
        </p:nvSpPr>
        <p:spPr>
          <a:xfrm>
            <a:off x="10628114" y="5025652"/>
            <a:ext cx="1309562" cy="803214"/>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p>
            <a:r>
              <a:rPr lang="bg-BG" sz="1200" dirty="0"/>
              <a:t>Ако изникне нужда от </a:t>
            </a:r>
            <a:r>
              <a:rPr lang="bg-BG" sz="1200"/>
              <a:t>допълнително финансиране</a:t>
            </a:r>
            <a:endParaRPr lang="bg-BG" sz="1200" dirty="0"/>
          </a:p>
        </p:txBody>
      </p:sp>
      <p:sp>
        <p:nvSpPr>
          <p:cNvPr id="34" name="Текстово поле 23">
            <a:extLst>
              <a:ext uri="{FF2B5EF4-FFF2-40B4-BE49-F238E27FC236}">
                <a16:creationId xmlns:a16="http://schemas.microsoft.com/office/drawing/2014/main" id="{D99356BB-B9D4-ACBE-3CDC-C8B650C11A94}"/>
              </a:ext>
            </a:extLst>
          </p:cNvPr>
          <p:cNvSpPr txBox="1"/>
          <p:nvPr/>
        </p:nvSpPr>
        <p:spPr>
          <a:xfrm>
            <a:off x="3362960" y="6360160"/>
            <a:ext cx="6390640" cy="3487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bg-BG" sz="1600" i="1"/>
              <a:t>Съдържа сценарии от дървото, изпратено като документ</a:t>
            </a:r>
          </a:p>
        </p:txBody>
      </p:sp>
    </p:spTree>
    <p:extLst>
      <p:ext uri="{BB962C8B-B14F-4D97-AF65-F5344CB8AC3E}">
        <p14:creationId xmlns:p14="http://schemas.microsoft.com/office/powerpoint/2010/main" val="32467608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9ADF0-6B2D-8B29-1B38-960301B6A45E}"/>
            </a:ext>
          </a:extLst>
        </p:cNvPr>
        <p:cNvGrpSpPr/>
        <p:nvPr/>
      </p:nvGrpSpPr>
      <p:grpSpPr>
        <a:xfrm>
          <a:off x="0" y="0"/>
          <a:ext cx="0" cy="0"/>
          <a:chOff x="0" y="0"/>
          <a:chExt cx="0" cy="0"/>
        </a:xfrm>
      </p:grpSpPr>
      <p:sp>
        <p:nvSpPr>
          <p:cNvPr id="27" name="Rectangle 3">
            <a:extLst>
              <a:ext uri="{FF2B5EF4-FFF2-40B4-BE49-F238E27FC236}">
                <a16:creationId xmlns:a16="http://schemas.microsoft.com/office/drawing/2014/main" id="{D4D4703D-14B5-FBCA-3F50-27076715B08D}"/>
              </a:ext>
            </a:extLst>
          </p:cNvPr>
          <p:cNvSpPr/>
          <p:nvPr/>
        </p:nvSpPr>
        <p:spPr>
          <a:xfrm>
            <a:off x="1443475" y="4245"/>
            <a:ext cx="5338363" cy="677242"/>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28" name="Rectangle 4">
            <a:extLst>
              <a:ext uri="{FF2B5EF4-FFF2-40B4-BE49-F238E27FC236}">
                <a16:creationId xmlns:a16="http://schemas.microsoft.com/office/drawing/2014/main" id="{1E6FC7C4-25C1-C937-6679-D9B7B289CEF3}"/>
              </a:ext>
            </a:extLst>
          </p:cNvPr>
          <p:cNvSpPr/>
          <p:nvPr/>
        </p:nvSpPr>
        <p:spPr>
          <a:xfrm>
            <a:off x="6788435" y="4245"/>
            <a:ext cx="5417300" cy="677242"/>
          </a:xfrm>
          <a:prstGeom prst="rect">
            <a:avLst/>
          </a:prstGeom>
          <a:solidFill>
            <a:schemeClr val="bg2">
              <a:lumMod val="75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29" name="Rectangle 28">
            <a:extLst>
              <a:ext uri="{FF2B5EF4-FFF2-40B4-BE49-F238E27FC236}">
                <a16:creationId xmlns:a16="http://schemas.microsoft.com/office/drawing/2014/main" id="{68933CC6-F635-E7A7-0AC3-BD93832139B4}"/>
              </a:ext>
            </a:extLst>
          </p:cNvPr>
          <p:cNvSpPr/>
          <p:nvPr/>
        </p:nvSpPr>
        <p:spPr>
          <a:xfrm>
            <a:off x="-1671" y="1599"/>
            <a:ext cx="1451167" cy="6866954"/>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200">
              <a:latin typeface="Aptos"/>
              <a:ea typeface="Calibri"/>
              <a:cs typeface="Calibri"/>
            </a:endParaRPr>
          </a:p>
        </p:txBody>
      </p:sp>
      <p:sp>
        <p:nvSpPr>
          <p:cNvPr id="30" name="Rectangle 29">
            <a:extLst>
              <a:ext uri="{FF2B5EF4-FFF2-40B4-BE49-F238E27FC236}">
                <a16:creationId xmlns:a16="http://schemas.microsoft.com/office/drawing/2014/main" id="{6980D4DB-E599-6B16-E29A-769328F9044B}"/>
              </a:ext>
            </a:extLst>
          </p:cNvPr>
          <p:cNvSpPr/>
          <p:nvPr/>
        </p:nvSpPr>
        <p:spPr>
          <a:xfrm>
            <a:off x="-1671" y="2528038"/>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Типове клиенти</a:t>
            </a:r>
            <a:endParaRPr lang="en-GB" sz="1400">
              <a:latin typeface="Aptos"/>
              <a:ea typeface="Calibri"/>
              <a:cs typeface="Calibri"/>
            </a:endParaRPr>
          </a:p>
        </p:txBody>
      </p:sp>
      <p:sp>
        <p:nvSpPr>
          <p:cNvPr id="31" name="Rectangle 30">
            <a:extLst>
              <a:ext uri="{FF2B5EF4-FFF2-40B4-BE49-F238E27FC236}">
                <a16:creationId xmlns:a16="http://schemas.microsoft.com/office/drawing/2014/main" id="{1A7A2217-1605-3600-ED35-0FC68538C963}"/>
              </a:ext>
            </a:extLst>
          </p:cNvPr>
          <p:cNvSpPr/>
          <p:nvPr/>
        </p:nvSpPr>
        <p:spPr>
          <a:xfrm>
            <a:off x="8626" y="1913210"/>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b="1">
                <a:solidFill>
                  <a:srgbClr val="2F5597"/>
                </a:solidFill>
                <a:latin typeface="Aptos"/>
                <a:ea typeface="Calibri"/>
                <a:cs typeface="Calibri"/>
              </a:rPr>
              <a:t>Сценарии</a:t>
            </a:r>
            <a:endParaRPr lang="en-GB" sz="1400" b="1">
              <a:solidFill>
                <a:srgbClr val="2F5597"/>
              </a:solidFill>
              <a:latin typeface="Aptos"/>
              <a:ea typeface="Calibri"/>
              <a:cs typeface="Calibri"/>
            </a:endParaRPr>
          </a:p>
        </p:txBody>
      </p:sp>
      <p:sp>
        <p:nvSpPr>
          <p:cNvPr id="32" name="Rectangle 31">
            <a:extLst>
              <a:ext uri="{FF2B5EF4-FFF2-40B4-BE49-F238E27FC236}">
                <a16:creationId xmlns:a16="http://schemas.microsoft.com/office/drawing/2014/main" id="{18D64781-9A00-5D79-17FF-E11F278D4168}"/>
              </a:ext>
            </a:extLst>
          </p:cNvPr>
          <p:cNvSpPr/>
          <p:nvPr/>
        </p:nvSpPr>
        <p:spPr>
          <a:xfrm>
            <a:off x="-1671" y="1298382"/>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a:solidFill>
                  <a:schemeClr val="bg1"/>
                </a:solidFill>
                <a:latin typeface="Aptos"/>
                <a:ea typeface="Calibri"/>
                <a:cs typeface="Calibri"/>
              </a:rPr>
              <a:t>Стъпки в обаждането</a:t>
            </a:r>
            <a:endParaRPr lang="bg-BG" sz="1400">
              <a:solidFill>
                <a:srgbClr val="000000"/>
              </a:solidFill>
              <a:latin typeface="Aptos"/>
              <a:ea typeface="Calibri"/>
              <a:cs typeface="Calibri"/>
            </a:endParaRPr>
          </a:p>
        </p:txBody>
      </p:sp>
      <p:sp>
        <p:nvSpPr>
          <p:cNvPr id="33" name="Rectangle 28">
            <a:extLst>
              <a:ext uri="{FF2B5EF4-FFF2-40B4-BE49-F238E27FC236}">
                <a16:creationId xmlns:a16="http://schemas.microsoft.com/office/drawing/2014/main" id="{FD462AC7-4E1C-EA63-CDE4-488D1306C2CB}"/>
              </a:ext>
            </a:extLst>
          </p:cNvPr>
          <p:cNvSpPr/>
          <p:nvPr/>
        </p:nvSpPr>
        <p:spPr>
          <a:xfrm>
            <a:off x="6154" y="690328"/>
            <a:ext cx="1435083"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a:solidFill>
                  <a:schemeClr val="bg1"/>
                </a:solidFill>
                <a:latin typeface="Aptos"/>
                <a:ea typeface="Calibri"/>
                <a:cs typeface="Calibri"/>
              </a:rPr>
              <a:t>Подготовка</a:t>
            </a:r>
            <a:endParaRPr lang="en-GB" sz="1400">
              <a:solidFill>
                <a:schemeClr val="bg1"/>
              </a:solidFill>
              <a:latin typeface="Aptos"/>
              <a:ea typeface="Calibri"/>
              <a:cs typeface="Calibri"/>
            </a:endParaRPr>
          </a:p>
        </p:txBody>
      </p:sp>
      <p:sp>
        <p:nvSpPr>
          <p:cNvPr id="34" name="Правоъгълник: със заоблени ъгли 16">
            <a:extLst>
              <a:ext uri="{FF2B5EF4-FFF2-40B4-BE49-F238E27FC236}">
                <a16:creationId xmlns:a16="http://schemas.microsoft.com/office/drawing/2014/main" id="{0A1DC782-BC52-CD4D-1118-FCBE8E95F647}"/>
              </a:ext>
            </a:extLst>
          </p:cNvPr>
          <p:cNvSpPr/>
          <p:nvPr/>
        </p:nvSpPr>
        <p:spPr>
          <a:xfrm>
            <a:off x="5163293" y="5341216"/>
            <a:ext cx="2389929" cy="526544"/>
          </a:xfrm>
          <a:prstGeom prst="roundRect">
            <a:avLst>
              <a:gd name="adj" fmla="val 50000"/>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200"/>
              <a:t>Тренирай</a:t>
            </a:r>
          </a:p>
        </p:txBody>
      </p:sp>
      <p:pic>
        <p:nvPicPr>
          <p:cNvPr id="35" name="Picture 34">
            <a:extLst>
              <a:ext uri="{FF2B5EF4-FFF2-40B4-BE49-F238E27FC236}">
                <a16:creationId xmlns:a16="http://schemas.microsoft.com/office/drawing/2014/main" id="{D8D99AC7-C1DF-3008-18AE-9E8ECFFD4828}"/>
              </a:ext>
            </a:extLst>
          </p:cNvPr>
          <p:cNvPicPr>
            <a:picLocks noChangeAspect="1"/>
          </p:cNvPicPr>
          <p:nvPr/>
        </p:nvPicPr>
        <p:blipFill>
          <a:blip r:embed="rId2"/>
          <a:stretch>
            <a:fillRect/>
          </a:stretch>
        </p:blipFill>
        <p:spPr>
          <a:xfrm>
            <a:off x="11130000" y="5861827"/>
            <a:ext cx="982751" cy="995681"/>
          </a:xfrm>
          <a:prstGeom prst="rect">
            <a:avLst/>
          </a:prstGeom>
        </p:spPr>
      </p:pic>
      <p:sp>
        <p:nvSpPr>
          <p:cNvPr id="2" name="Rectangle: Rounded Corners 1">
            <a:extLst>
              <a:ext uri="{FF2B5EF4-FFF2-40B4-BE49-F238E27FC236}">
                <a16:creationId xmlns:a16="http://schemas.microsoft.com/office/drawing/2014/main" id="{A2B30E75-1230-BDC9-DFCA-3FB78B154380}"/>
              </a:ext>
            </a:extLst>
          </p:cNvPr>
          <p:cNvSpPr/>
          <p:nvPr/>
        </p:nvSpPr>
        <p:spPr>
          <a:xfrm>
            <a:off x="5346227" y="3409442"/>
            <a:ext cx="2033454" cy="520853"/>
          </a:xfrm>
          <a:prstGeom prst="roundRect">
            <a:avLst/>
          </a:prstGeom>
          <a:solidFill>
            <a:srgbClr val="A5A5A5"/>
          </a:solidFill>
          <a:ln>
            <a:solidFill>
              <a:srgbClr val="A5A5A5"/>
            </a:solid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200">
                <a:ea typeface="+mn-lt"/>
                <a:cs typeface="+mn-lt"/>
              </a:rPr>
              <a:t>Аз вече изтеглих кредит от Вас</a:t>
            </a:r>
            <a:endParaRPr lang="bg-BG" sz="1200"/>
          </a:p>
        </p:txBody>
      </p:sp>
      <p:sp>
        <p:nvSpPr>
          <p:cNvPr id="5" name="Rectangle: Rounded Corners 4">
            <a:extLst>
              <a:ext uri="{FF2B5EF4-FFF2-40B4-BE49-F238E27FC236}">
                <a16:creationId xmlns:a16="http://schemas.microsoft.com/office/drawing/2014/main" id="{A05C6021-6875-D181-ADDC-E4BEA7128789}"/>
              </a:ext>
            </a:extLst>
          </p:cNvPr>
          <p:cNvSpPr/>
          <p:nvPr/>
        </p:nvSpPr>
        <p:spPr>
          <a:xfrm>
            <a:off x="5344899" y="4050394"/>
            <a:ext cx="2033454" cy="493958"/>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200">
                <a:ea typeface="+mn-lt"/>
                <a:cs typeface="+mn-lt"/>
              </a:rPr>
              <a:t>Не ми </a:t>
            </a:r>
            <a:r>
              <a:rPr lang="ru-RU" sz="1200" err="1">
                <a:ea typeface="+mn-lt"/>
                <a:cs typeface="+mn-lt"/>
              </a:rPr>
              <a:t>трябва</a:t>
            </a:r>
            <a:r>
              <a:rPr lang="ru-RU" sz="1200">
                <a:ea typeface="+mn-lt"/>
                <a:cs typeface="+mn-lt"/>
              </a:rPr>
              <a:t> кредит/ Не искам кредит</a:t>
            </a:r>
            <a:endParaRPr lang="bg-BG" sz="1200"/>
          </a:p>
        </p:txBody>
      </p:sp>
      <p:sp>
        <p:nvSpPr>
          <p:cNvPr id="8" name="Rectangle: Rounded Corners 9">
            <a:extLst>
              <a:ext uri="{FF2B5EF4-FFF2-40B4-BE49-F238E27FC236}">
                <a16:creationId xmlns:a16="http://schemas.microsoft.com/office/drawing/2014/main" id="{F176B088-6950-4799-95B2-97FA57D9BC89}"/>
              </a:ext>
            </a:extLst>
          </p:cNvPr>
          <p:cNvSpPr/>
          <p:nvPr/>
        </p:nvSpPr>
        <p:spPr>
          <a:xfrm>
            <a:off x="1896200" y="1951184"/>
            <a:ext cx="2932281" cy="677241"/>
          </a:xfrm>
          <a:prstGeom prst="roundRect">
            <a:avLst/>
          </a:prstGeom>
          <a:solidFill>
            <a:schemeClr val="bg2">
              <a:lumMod val="75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bg-BG" sz="1600"/>
              <a:t>Предварително одобрен клиент</a:t>
            </a:r>
            <a:endParaRPr lang="en-GB" sz="1600"/>
          </a:p>
        </p:txBody>
      </p:sp>
      <p:sp>
        <p:nvSpPr>
          <p:cNvPr id="10" name="Rectangle: Rounded Corners 11">
            <a:extLst>
              <a:ext uri="{FF2B5EF4-FFF2-40B4-BE49-F238E27FC236}">
                <a16:creationId xmlns:a16="http://schemas.microsoft.com/office/drawing/2014/main" id="{54FC86EC-C382-31AF-7C80-3EE5BB13A2C5}"/>
              </a:ext>
            </a:extLst>
          </p:cNvPr>
          <p:cNvSpPr/>
          <p:nvPr/>
        </p:nvSpPr>
        <p:spPr>
          <a:xfrm>
            <a:off x="1896199" y="1147427"/>
            <a:ext cx="2932281" cy="677241"/>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bg-BG" sz="1600"/>
              <a:t>Лоялен клиент</a:t>
            </a:r>
            <a:endParaRPr lang="en-GB" sz="1600"/>
          </a:p>
        </p:txBody>
      </p:sp>
      <p:sp>
        <p:nvSpPr>
          <p:cNvPr id="12" name="Rectangle: Rounded Corners 13">
            <a:extLst>
              <a:ext uri="{FF2B5EF4-FFF2-40B4-BE49-F238E27FC236}">
                <a16:creationId xmlns:a16="http://schemas.microsoft.com/office/drawing/2014/main" id="{3910AA7F-4435-C2FE-6DAB-638208496019}"/>
              </a:ext>
            </a:extLst>
          </p:cNvPr>
          <p:cNvSpPr/>
          <p:nvPr/>
        </p:nvSpPr>
        <p:spPr>
          <a:xfrm>
            <a:off x="1896198" y="2811398"/>
            <a:ext cx="2932281" cy="677241"/>
          </a:xfrm>
          <a:prstGeom prst="roundRect">
            <a:avLst/>
          </a:prstGeom>
          <a:solidFill>
            <a:schemeClr val="bg2">
              <a:lumMod val="75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bg-BG" sz="1600"/>
              <a:t>Промо кампания</a:t>
            </a:r>
            <a:endParaRPr lang="en-GB" sz="1600"/>
          </a:p>
        </p:txBody>
      </p:sp>
      <p:sp>
        <p:nvSpPr>
          <p:cNvPr id="14" name="Rectangle 9">
            <a:extLst>
              <a:ext uri="{FF2B5EF4-FFF2-40B4-BE49-F238E27FC236}">
                <a16:creationId xmlns:a16="http://schemas.microsoft.com/office/drawing/2014/main" id="{8A7DEAF7-6947-1851-4B76-90CF0C1E9A32}"/>
              </a:ext>
            </a:extLst>
          </p:cNvPr>
          <p:cNvSpPr/>
          <p:nvPr/>
        </p:nvSpPr>
        <p:spPr>
          <a:xfrm>
            <a:off x="1896196" y="4619761"/>
            <a:ext cx="2932281" cy="677241"/>
          </a:xfrm>
          <a:prstGeom prst="roundRect">
            <a:avLst/>
          </a:prstGeom>
          <a:solidFill>
            <a:schemeClr val="bg2">
              <a:lumMod val="75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По препоръка</a:t>
            </a:r>
            <a:endParaRPr lang="en-GB" sz="1600"/>
          </a:p>
        </p:txBody>
      </p:sp>
      <p:sp>
        <p:nvSpPr>
          <p:cNvPr id="16" name="Rectangle 11">
            <a:extLst>
              <a:ext uri="{FF2B5EF4-FFF2-40B4-BE49-F238E27FC236}">
                <a16:creationId xmlns:a16="http://schemas.microsoft.com/office/drawing/2014/main" id="{419C34C2-95C0-F719-7E6D-37AD19E738AA}"/>
              </a:ext>
            </a:extLst>
          </p:cNvPr>
          <p:cNvSpPr/>
          <p:nvPr/>
        </p:nvSpPr>
        <p:spPr>
          <a:xfrm>
            <a:off x="1896197" y="3706995"/>
            <a:ext cx="2932281" cy="677241"/>
          </a:xfrm>
          <a:prstGeom prst="roundRect">
            <a:avLst/>
          </a:prstGeom>
          <a:solidFill>
            <a:schemeClr val="bg2">
              <a:lumMod val="75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bg-BG" sz="1600"/>
              <a:t>Продукт „Пенсионер“</a:t>
            </a:r>
            <a:endParaRPr lang="en-GB" sz="1600"/>
          </a:p>
        </p:txBody>
      </p:sp>
      <p:sp>
        <p:nvSpPr>
          <p:cNvPr id="3" name="Rectangle: Rounded Corners 4">
            <a:extLst>
              <a:ext uri="{FF2B5EF4-FFF2-40B4-BE49-F238E27FC236}">
                <a16:creationId xmlns:a16="http://schemas.microsoft.com/office/drawing/2014/main" id="{D4101A93-E80A-4D99-93B8-6565C4B82065}"/>
              </a:ext>
            </a:extLst>
          </p:cNvPr>
          <p:cNvSpPr/>
          <p:nvPr/>
        </p:nvSpPr>
        <p:spPr>
          <a:xfrm>
            <a:off x="5342533" y="4664625"/>
            <a:ext cx="2033454" cy="493958"/>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200">
                <a:ea typeface="+mn-lt"/>
                <a:cs typeface="+mn-lt"/>
              </a:rPr>
              <a:t>Не е удобно</a:t>
            </a:r>
            <a:endParaRPr lang="bg-BG" sz="1200"/>
          </a:p>
        </p:txBody>
      </p:sp>
      <p:sp>
        <p:nvSpPr>
          <p:cNvPr id="6" name="Правоъгълник: със заоблени ъгли 37">
            <a:extLst>
              <a:ext uri="{FF2B5EF4-FFF2-40B4-BE49-F238E27FC236}">
                <a16:creationId xmlns:a16="http://schemas.microsoft.com/office/drawing/2014/main" id="{6265CEB5-A919-19BC-8527-819DEC8D531F}"/>
              </a:ext>
            </a:extLst>
          </p:cNvPr>
          <p:cNvSpPr/>
          <p:nvPr/>
        </p:nvSpPr>
        <p:spPr>
          <a:xfrm>
            <a:off x="5233585" y="1251551"/>
            <a:ext cx="4290944" cy="65453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bg-BG" sz="1600" b="1">
                <a:solidFill>
                  <a:srgbClr val="1F3864"/>
                </a:solidFill>
              </a:rPr>
              <a:t>1.Отваряне </a:t>
            </a:r>
          </a:p>
        </p:txBody>
      </p:sp>
      <p:sp>
        <p:nvSpPr>
          <p:cNvPr id="11" name="Правоъгълник: със заоблени ъгли 41">
            <a:extLst>
              <a:ext uri="{FF2B5EF4-FFF2-40B4-BE49-F238E27FC236}">
                <a16:creationId xmlns:a16="http://schemas.microsoft.com/office/drawing/2014/main" id="{4BBE68F6-8817-D3BC-7255-67F309A14DC7}"/>
              </a:ext>
            </a:extLst>
          </p:cNvPr>
          <p:cNvSpPr/>
          <p:nvPr/>
        </p:nvSpPr>
        <p:spPr>
          <a:xfrm>
            <a:off x="5233877" y="2915104"/>
            <a:ext cx="4274428" cy="360134"/>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bg-BG" sz="1600" b="1">
                <a:solidFill>
                  <a:schemeClr val="accent1">
                    <a:lumMod val="49000"/>
                  </a:schemeClr>
                </a:solidFill>
              </a:rPr>
              <a:t>2. Предложение, възражение и отговор</a:t>
            </a:r>
          </a:p>
        </p:txBody>
      </p:sp>
      <p:sp>
        <p:nvSpPr>
          <p:cNvPr id="15" name="TextBox 14">
            <a:extLst>
              <a:ext uri="{FF2B5EF4-FFF2-40B4-BE49-F238E27FC236}">
                <a16:creationId xmlns:a16="http://schemas.microsoft.com/office/drawing/2014/main" id="{EDDE395F-0B96-4EEA-07FC-65B6011901FD}"/>
              </a:ext>
            </a:extLst>
          </p:cNvPr>
          <p:cNvSpPr txBox="1"/>
          <p:nvPr/>
        </p:nvSpPr>
        <p:spPr>
          <a:xfrm>
            <a:off x="5459103" y="1745775"/>
            <a:ext cx="5868538" cy="144655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baseline="0">
                <a:latin typeface="Aptos"/>
                <a:ea typeface="Segoe UI"/>
                <a:cs typeface="Segoe UI"/>
              </a:rPr>
              <a:t>-</a:t>
            </a:r>
            <a:r>
              <a:rPr lang="en-US" sz="1400" baseline="0">
                <a:latin typeface="Aptos"/>
                <a:ea typeface="Segoe UI"/>
                <a:cs typeface="Segoe UI"/>
              </a:rPr>
              <a:t>Добър ден, търся г-н/г-жа (две </a:t>
            </a:r>
            <a:r>
              <a:rPr lang="en-US" sz="1400" baseline="0" err="1">
                <a:latin typeface="Aptos"/>
                <a:ea typeface="Segoe UI"/>
                <a:cs typeface="Segoe UI"/>
              </a:rPr>
              <a:t>имена</a:t>
            </a:r>
            <a:r>
              <a:rPr lang="en-US" sz="1400" baseline="0">
                <a:latin typeface="Aptos"/>
                <a:ea typeface="Segoe UI"/>
                <a:cs typeface="Segoe UI"/>
              </a:rPr>
              <a:t> </a:t>
            </a:r>
            <a:r>
              <a:rPr lang="en-US" sz="1400" baseline="0" err="1">
                <a:latin typeface="Aptos"/>
                <a:ea typeface="Segoe UI"/>
                <a:cs typeface="Segoe UI"/>
              </a:rPr>
              <a:t>на</a:t>
            </a:r>
            <a:r>
              <a:rPr lang="en-US" sz="1400" baseline="0">
                <a:latin typeface="Aptos"/>
                <a:ea typeface="Segoe UI"/>
                <a:cs typeface="Segoe UI"/>
              </a:rPr>
              <a:t> </a:t>
            </a:r>
            <a:r>
              <a:rPr lang="en-US" sz="1400" baseline="0" err="1">
                <a:latin typeface="Aptos"/>
                <a:ea typeface="Segoe UI"/>
                <a:cs typeface="Segoe UI"/>
              </a:rPr>
              <a:t>клиента</a:t>
            </a:r>
            <a:r>
              <a:rPr lang="en-US" sz="1400" baseline="0">
                <a:latin typeface="Aptos"/>
                <a:ea typeface="Segoe UI"/>
                <a:cs typeface="Segoe UI"/>
              </a:rPr>
              <a:t>).</a:t>
            </a:r>
            <a:br>
              <a:rPr lang="en-US" sz="1400">
                <a:latin typeface="Aptos"/>
                <a:ea typeface="Segoe UI"/>
                <a:cs typeface="Segoe UI"/>
              </a:rPr>
            </a:br>
            <a:r>
              <a:rPr lang="en-US" sz="1400" b="1" baseline="0">
                <a:latin typeface="Aptos"/>
                <a:ea typeface="Segoe UI"/>
                <a:cs typeface="Segoe UI"/>
              </a:rPr>
              <a:t>-</a:t>
            </a:r>
            <a:r>
              <a:rPr lang="en-US" sz="1400" baseline="0" err="1">
                <a:latin typeface="Aptos"/>
                <a:ea typeface="Segoe UI"/>
                <a:cs typeface="Segoe UI"/>
              </a:rPr>
              <a:t>Да</a:t>
            </a:r>
            <a:r>
              <a:rPr lang="en-US" sz="1400" baseline="0">
                <a:latin typeface="Aptos"/>
                <a:ea typeface="Segoe UI"/>
                <a:cs typeface="Segoe UI"/>
              </a:rPr>
              <a:t> (</a:t>
            </a:r>
            <a:r>
              <a:rPr lang="en-US" sz="1400" baseline="0" err="1">
                <a:latin typeface="Aptos"/>
                <a:ea typeface="Segoe UI"/>
                <a:cs typeface="Segoe UI"/>
              </a:rPr>
              <a:t>на</a:t>
            </a:r>
            <a:r>
              <a:rPr lang="en-US" sz="1400" baseline="0">
                <a:latin typeface="Aptos"/>
                <a:ea typeface="Segoe UI"/>
                <a:cs typeface="Segoe UI"/>
              </a:rPr>
              <a:t> </a:t>
            </a:r>
            <a:r>
              <a:rPr lang="en-US" sz="1400" baseline="0" err="1">
                <a:latin typeface="Aptos"/>
                <a:ea typeface="Segoe UI"/>
                <a:cs typeface="Segoe UI"/>
              </a:rPr>
              <a:t>телефона</a:t>
            </a:r>
            <a:r>
              <a:rPr lang="en-US" sz="1400" baseline="0">
                <a:latin typeface="Aptos"/>
                <a:ea typeface="Segoe UI"/>
                <a:cs typeface="Segoe UI"/>
              </a:rPr>
              <a:t>, </a:t>
            </a:r>
            <a:r>
              <a:rPr lang="en-US" sz="1400" baseline="0" err="1">
                <a:latin typeface="Aptos"/>
                <a:ea typeface="Segoe UI"/>
                <a:cs typeface="Segoe UI"/>
              </a:rPr>
              <a:t>аз</a:t>
            </a:r>
            <a:r>
              <a:rPr lang="en-US" sz="1400" baseline="0">
                <a:latin typeface="Aptos"/>
                <a:ea typeface="Segoe UI"/>
                <a:cs typeface="Segoe UI"/>
              </a:rPr>
              <a:t> </a:t>
            </a:r>
            <a:r>
              <a:rPr lang="en-US" sz="1400" baseline="0" err="1">
                <a:latin typeface="Aptos"/>
                <a:ea typeface="Segoe UI"/>
                <a:cs typeface="Segoe UI"/>
              </a:rPr>
              <a:t>съм</a:t>
            </a:r>
            <a:r>
              <a:rPr lang="en-US" sz="1400" baseline="0">
                <a:latin typeface="Aptos"/>
                <a:ea typeface="Segoe UI"/>
                <a:cs typeface="Segoe UI"/>
              </a:rPr>
              <a:t>).</a:t>
            </a:r>
            <a:endParaRPr lang="en-US">
              <a:latin typeface="Aptos"/>
              <a:ea typeface="Segoe UI"/>
              <a:cs typeface="Segoe UI"/>
            </a:endParaRPr>
          </a:p>
          <a:p>
            <a:r>
              <a:rPr lang="en-US" sz="1400" b="1" baseline="0">
                <a:latin typeface="Aptos"/>
                <a:ea typeface="Segoe UI"/>
                <a:cs typeface="Segoe UI"/>
              </a:rPr>
              <a:t>-</a:t>
            </a:r>
            <a:r>
              <a:rPr lang="en-US" sz="1400" baseline="0" err="1">
                <a:latin typeface="Aptos"/>
                <a:ea typeface="Segoe UI"/>
                <a:cs typeface="Segoe UI"/>
              </a:rPr>
              <a:t>Здравейте</a:t>
            </a:r>
            <a:r>
              <a:rPr lang="en-US" sz="1400" baseline="0">
                <a:latin typeface="Aptos"/>
                <a:ea typeface="Segoe UI"/>
                <a:cs typeface="Segoe UI"/>
              </a:rPr>
              <a:t> г-н/г-</a:t>
            </a:r>
            <a:r>
              <a:rPr lang="en-US" sz="1400" baseline="0" err="1">
                <a:latin typeface="Aptos"/>
                <a:ea typeface="Segoe UI"/>
                <a:cs typeface="Segoe UI"/>
              </a:rPr>
              <a:t>жо</a:t>
            </a:r>
            <a:r>
              <a:rPr lang="en-US" sz="1400" baseline="0">
                <a:latin typeface="Aptos"/>
                <a:ea typeface="Segoe UI"/>
                <a:cs typeface="Segoe UI"/>
              </a:rPr>
              <a:t> (</a:t>
            </a:r>
            <a:r>
              <a:rPr lang="en-US" sz="1400" baseline="0" err="1">
                <a:latin typeface="Aptos"/>
                <a:ea typeface="Segoe UI"/>
                <a:cs typeface="Segoe UI"/>
              </a:rPr>
              <a:t>фамилия</a:t>
            </a:r>
            <a:r>
              <a:rPr lang="en-US" sz="1400" baseline="0">
                <a:latin typeface="Aptos"/>
                <a:ea typeface="Segoe UI"/>
                <a:cs typeface="Segoe UI"/>
              </a:rPr>
              <a:t> </a:t>
            </a:r>
            <a:r>
              <a:rPr lang="en-US" sz="1400" baseline="0" err="1">
                <a:latin typeface="Aptos"/>
                <a:ea typeface="Segoe UI"/>
                <a:cs typeface="Segoe UI"/>
              </a:rPr>
              <a:t>на</a:t>
            </a:r>
            <a:r>
              <a:rPr lang="en-US" sz="1400" baseline="0">
                <a:latin typeface="Aptos"/>
                <a:ea typeface="Segoe UI"/>
                <a:cs typeface="Segoe UI"/>
              </a:rPr>
              <a:t> </a:t>
            </a:r>
            <a:r>
              <a:rPr lang="en-US" sz="1400" baseline="0" err="1">
                <a:latin typeface="Aptos"/>
                <a:ea typeface="Segoe UI"/>
                <a:cs typeface="Segoe UI"/>
              </a:rPr>
              <a:t>клиента</a:t>
            </a:r>
            <a:r>
              <a:rPr lang="en-US" sz="1400" baseline="0">
                <a:latin typeface="Aptos"/>
                <a:ea typeface="Segoe UI"/>
                <a:cs typeface="Segoe UI"/>
              </a:rPr>
              <a:t>), </a:t>
            </a:r>
            <a:r>
              <a:rPr lang="en-US" sz="1400" baseline="0" err="1">
                <a:latin typeface="Aptos"/>
                <a:ea typeface="Segoe UI"/>
                <a:cs typeface="Segoe UI"/>
              </a:rPr>
              <a:t>обаждам</a:t>
            </a:r>
            <a:r>
              <a:rPr lang="en-US" sz="1400" baseline="0">
                <a:latin typeface="Aptos"/>
                <a:ea typeface="Segoe UI"/>
                <a:cs typeface="Segoe UI"/>
              </a:rPr>
              <a:t> </a:t>
            </a:r>
            <a:r>
              <a:rPr lang="en-US" sz="1400" baseline="0" err="1">
                <a:latin typeface="Aptos"/>
                <a:ea typeface="Segoe UI"/>
                <a:cs typeface="Segoe UI"/>
              </a:rPr>
              <a:t>се</a:t>
            </a:r>
            <a:r>
              <a:rPr lang="en-US" sz="1400" baseline="0">
                <a:latin typeface="Aptos"/>
                <a:ea typeface="Segoe UI"/>
                <a:cs typeface="Segoe UI"/>
              </a:rPr>
              <a:t> </a:t>
            </a:r>
            <a:r>
              <a:rPr lang="en-US" sz="1400" baseline="0" err="1">
                <a:latin typeface="Aptos"/>
                <a:ea typeface="Segoe UI"/>
                <a:cs typeface="Segoe UI"/>
              </a:rPr>
              <a:t>от</a:t>
            </a:r>
            <a:r>
              <a:rPr lang="en-US" sz="1400" baseline="0">
                <a:latin typeface="Aptos"/>
                <a:ea typeface="Segoe UI"/>
                <a:cs typeface="Segoe UI"/>
              </a:rPr>
              <a:t> </a:t>
            </a:r>
            <a:r>
              <a:rPr lang="en-US" sz="1400" baseline="0" err="1">
                <a:latin typeface="Aptos"/>
                <a:ea typeface="Segoe UI"/>
                <a:cs typeface="Segoe UI"/>
              </a:rPr>
              <a:t>Изи</a:t>
            </a:r>
            <a:r>
              <a:rPr lang="en-US" sz="1400" baseline="0">
                <a:latin typeface="Aptos"/>
                <a:ea typeface="Segoe UI"/>
                <a:cs typeface="Segoe UI"/>
              </a:rPr>
              <a:t> </a:t>
            </a:r>
            <a:r>
              <a:rPr lang="en-US" sz="1400" baseline="0" err="1">
                <a:latin typeface="Aptos"/>
                <a:ea typeface="Segoe UI"/>
                <a:cs typeface="Segoe UI"/>
              </a:rPr>
              <a:t>Кредит</a:t>
            </a:r>
            <a:r>
              <a:rPr lang="en-US" sz="1400" baseline="0">
                <a:latin typeface="Aptos"/>
                <a:ea typeface="Segoe UI"/>
                <a:cs typeface="Segoe UI"/>
              </a:rPr>
              <a:t> </a:t>
            </a:r>
            <a:r>
              <a:rPr lang="en-US" sz="1400" baseline="0" err="1">
                <a:latin typeface="Aptos"/>
                <a:ea typeface="Segoe UI"/>
                <a:cs typeface="Segoe UI"/>
              </a:rPr>
              <a:t>във</a:t>
            </a:r>
            <a:r>
              <a:rPr lang="en-US" sz="1400" baseline="0">
                <a:latin typeface="Aptos"/>
                <a:ea typeface="Segoe UI"/>
                <a:cs typeface="Segoe UI"/>
              </a:rPr>
              <a:t> </a:t>
            </a:r>
            <a:r>
              <a:rPr lang="en-US" sz="1400" baseline="0" err="1">
                <a:latin typeface="Aptos"/>
                <a:ea typeface="Segoe UI"/>
                <a:cs typeface="Segoe UI"/>
              </a:rPr>
              <a:t>връзка</a:t>
            </a:r>
            <a:r>
              <a:rPr lang="en-US" sz="1400" baseline="0">
                <a:latin typeface="Aptos"/>
                <a:ea typeface="Segoe UI"/>
                <a:cs typeface="Segoe UI"/>
              </a:rPr>
              <a:t> с </a:t>
            </a:r>
            <a:r>
              <a:rPr lang="en-US" sz="1400" baseline="0" err="1">
                <a:latin typeface="Aptos"/>
                <a:ea typeface="Segoe UI"/>
                <a:cs typeface="Segoe UI"/>
              </a:rPr>
              <a:t>изготвено</a:t>
            </a:r>
            <a:r>
              <a:rPr lang="en-US" sz="1400" baseline="0">
                <a:latin typeface="Aptos"/>
                <a:ea typeface="Segoe UI"/>
                <a:cs typeface="Segoe UI"/>
              </a:rPr>
              <a:t> </a:t>
            </a:r>
            <a:r>
              <a:rPr lang="en-US" sz="1400" baseline="0" err="1">
                <a:latin typeface="Aptos"/>
                <a:ea typeface="Segoe UI"/>
                <a:cs typeface="Segoe UI"/>
              </a:rPr>
              <a:t>предложение</a:t>
            </a:r>
            <a:r>
              <a:rPr lang="en-US" sz="1400" baseline="0">
                <a:latin typeface="Aptos"/>
                <a:ea typeface="Segoe UI"/>
                <a:cs typeface="Segoe UI"/>
              </a:rPr>
              <a:t>, </a:t>
            </a:r>
            <a:r>
              <a:rPr lang="en-US" sz="1400" baseline="0" err="1">
                <a:latin typeface="Aptos"/>
                <a:ea typeface="Segoe UI"/>
                <a:cs typeface="Segoe UI"/>
              </a:rPr>
              <a:t>специално</a:t>
            </a:r>
            <a:r>
              <a:rPr lang="en-US" sz="1400" baseline="0">
                <a:latin typeface="Aptos"/>
                <a:ea typeface="Segoe UI"/>
                <a:cs typeface="Segoe UI"/>
              </a:rPr>
              <a:t> </a:t>
            </a:r>
            <a:r>
              <a:rPr lang="en-US" sz="1400" baseline="0" err="1">
                <a:latin typeface="Aptos"/>
                <a:ea typeface="Segoe UI"/>
                <a:cs typeface="Segoe UI"/>
              </a:rPr>
              <a:t>за</a:t>
            </a:r>
            <a:r>
              <a:rPr lang="en-US" sz="1400" baseline="0">
                <a:latin typeface="Aptos"/>
                <a:ea typeface="Segoe UI"/>
                <a:cs typeface="Segoe UI"/>
              </a:rPr>
              <a:t> </a:t>
            </a:r>
            <a:r>
              <a:rPr lang="en-US" sz="1400" baseline="0" err="1">
                <a:latin typeface="Aptos"/>
                <a:ea typeface="Segoe UI"/>
                <a:cs typeface="Segoe UI"/>
              </a:rPr>
              <a:t>Вас</a:t>
            </a:r>
            <a:r>
              <a:rPr lang="en-US" sz="1400" baseline="0">
                <a:latin typeface="Aptos"/>
                <a:ea typeface="Segoe UI"/>
                <a:cs typeface="Segoe UI"/>
              </a:rPr>
              <a:t>. </a:t>
            </a:r>
            <a:r>
              <a:rPr lang="en-US" sz="1400" baseline="0" err="1">
                <a:latin typeface="Aptos"/>
                <a:ea typeface="Segoe UI"/>
                <a:cs typeface="Segoe UI"/>
              </a:rPr>
              <a:t>Удобно</a:t>
            </a:r>
            <a:r>
              <a:rPr lang="en-US" sz="1400" baseline="0">
                <a:latin typeface="Aptos"/>
                <a:ea typeface="Segoe UI"/>
                <a:cs typeface="Segoe UI"/>
              </a:rPr>
              <a:t> </a:t>
            </a:r>
            <a:r>
              <a:rPr lang="en-US" sz="1400" baseline="0" err="1">
                <a:latin typeface="Aptos"/>
                <a:ea typeface="Segoe UI"/>
                <a:cs typeface="Segoe UI"/>
              </a:rPr>
              <a:t>ли</a:t>
            </a:r>
            <a:r>
              <a:rPr lang="en-US" sz="1400" baseline="0">
                <a:latin typeface="Aptos"/>
                <a:ea typeface="Segoe UI"/>
                <a:cs typeface="Segoe UI"/>
              </a:rPr>
              <a:t> е </a:t>
            </a:r>
            <a:r>
              <a:rPr lang="en-US" sz="1400" baseline="0" err="1">
                <a:latin typeface="Aptos"/>
                <a:ea typeface="Segoe UI"/>
                <a:cs typeface="Segoe UI"/>
              </a:rPr>
              <a:t>да</a:t>
            </a:r>
            <a:r>
              <a:rPr lang="en-US" sz="1400" baseline="0">
                <a:latin typeface="Aptos"/>
                <a:ea typeface="Segoe UI"/>
                <a:cs typeface="Segoe UI"/>
              </a:rPr>
              <a:t> </a:t>
            </a:r>
            <a:r>
              <a:rPr lang="en-US" sz="1400" baseline="0" err="1">
                <a:latin typeface="Aptos"/>
                <a:ea typeface="Segoe UI"/>
                <a:cs typeface="Segoe UI"/>
              </a:rPr>
              <a:t>ми</a:t>
            </a:r>
            <a:r>
              <a:rPr lang="en-US" sz="1400" baseline="0">
                <a:latin typeface="Aptos"/>
                <a:ea typeface="Segoe UI"/>
                <a:cs typeface="Segoe UI"/>
              </a:rPr>
              <a:t> </a:t>
            </a:r>
            <a:r>
              <a:rPr lang="en-US" sz="1400" baseline="0" err="1">
                <a:latin typeface="Aptos"/>
                <a:ea typeface="Segoe UI"/>
                <a:cs typeface="Segoe UI"/>
              </a:rPr>
              <a:t>отделите</a:t>
            </a:r>
            <a:r>
              <a:rPr lang="en-US" sz="1400" baseline="0">
                <a:latin typeface="Aptos"/>
                <a:ea typeface="Segoe UI"/>
                <a:cs typeface="Segoe UI"/>
              </a:rPr>
              <a:t> </a:t>
            </a:r>
            <a:r>
              <a:rPr lang="en-US" sz="1400" baseline="0" err="1">
                <a:latin typeface="Aptos"/>
                <a:ea typeface="Segoe UI"/>
                <a:cs typeface="Segoe UI"/>
              </a:rPr>
              <a:t>една</a:t>
            </a:r>
            <a:r>
              <a:rPr lang="en-US" sz="1400" baseline="0">
                <a:latin typeface="Aptos"/>
                <a:ea typeface="Segoe UI"/>
                <a:cs typeface="Segoe UI"/>
              </a:rPr>
              <a:t>, </a:t>
            </a:r>
            <a:r>
              <a:rPr lang="en-US" sz="1400" baseline="0" err="1">
                <a:latin typeface="Aptos"/>
                <a:ea typeface="Segoe UI"/>
                <a:cs typeface="Segoe UI"/>
              </a:rPr>
              <a:t>две</a:t>
            </a:r>
            <a:r>
              <a:rPr lang="en-US" sz="1400" baseline="0">
                <a:latin typeface="Aptos"/>
                <a:ea typeface="Segoe UI"/>
                <a:cs typeface="Segoe UI"/>
              </a:rPr>
              <a:t> </a:t>
            </a:r>
            <a:r>
              <a:rPr lang="en-US" sz="1400" baseline="0" err="1">
                <a:latin typeface="Aptos"/>
                <a:ea typeface="Segoe UI"/>
                <a:cs typeface="Segoe UI"/>
              </a:rPr>
              <a:t>минути</a:t>
            </a:r>
            <a:r>
              <a:rPr lang="en-US" sz="1400" baseline="0">
                <a:latin typeface="Aptos"/>
                <a:ea typeface="Segoe UI"/>
                <a:cs typeface="Segoe UI"/>
              </a:rPr>
              <a:t>, </a:t>
            </a:r>
            <a:r>
              <a:rPr lang="en-US" sz="1400" baseline="0" err="1">
                <a:latin typeface="Aptos"/>
                <a:ea typeface="Segoe UI"/>
                <a:cs typeface="Segoe UI"/>
              </a:rPr>
              <a:t>за</a:t>
            </a:r>
            <a:r>
              <a:rPr lang="en-US" sz="1400" baseline="0">
                <a:latin typeface="Aptos"/>
                <a:ea typeface="Segoe UI"/>
                <a:cs typeface="Segoe UI"/>
              </a:rPr>
              <a:t> </a:t>
            </a:r>
            <a:r>
              <a:rPr lang="en-US" sz="1400" baseline="0" err="1">
                <a:latin typeface="Aptos"/>
                <a:ea typeface="Segoe UI"/>
                <a:cs typeface="Segoe UI"/>
              </a:rPr>
              <a:t>да</a:t>
            </a:r>
            <a:r>
              <a:rPr lang="en-US" sz="1400" baseline="0">
                <a:latin typeface="Aptos"/>
                <a:ea typeface="Segoe UI"/>
                <a:cs typeface="Segoe UI"/>
              </a:rPr>
              <a:t> </a:t>
            </a:r>
            <a:r>
              <a:rPr lang="en-US" sz="1400" baseline="0" err="1">
                <a:latin typeface="Aptos"/>
                <a:ea typeface="Segoe UI"/>
                <a:cs typeface="Segoe UI"/>
              </a:rPr>
              <a:t>Ви</a:t>
            </a:r>
            <a:r>
              <a:rPr lang="en-US" sz="1400" baseline="0">
                <a:latin typeface="Aptos"/>
                <a:ea typeface="Segoe UI"/>
                <a:cs typeface="Segoe UI"/>
              </a:rPr>
              <a:t> </a:t>
            </a:r>
            <a:r>
              <a:rPr lang="en-US" sz="1400" baseline="0" err="1">
                <a:latin typeface="Aptos"/>
                <a:ea typeface="Segoe UI"/>
                <a:cs typeface="Segoe UI"/>
              </a:rPr>
              <a:t>запозная</a:t>
            </a:r>
            <a:r>
              <a:rPr lang="en-US" sz="1400" baseline="0">
                <a:latin typeface="Aptos"/>
                <a:ea typeface="Segoe UI"/>
                <a:cs typeface="Segoe UI"/>
              </a:rPr>
              <a:t>?</a:t>
            </a:r>
            <a:r>
              <a:rPr lang="en-US" sz="1400">
                <a:latin typeface="Aptos"/>
                <a:ea typeface="Segoe UI"/>
                <a:cs typeface="Segoe UI"/>
              </a:rPr>
              <a:t> </a:t>
            </a:r>
            <a:endParaRPr lang="en-US"/>
          </a:p>
          <a:p>
            <a:pPr algn="ctr"/>
            <a:endParaRPr lang="en-US"/>
          </a:p>
        </p:txBody>
      </p:sp>
      <p:sp>
        <p:nvSpPr>
          <p:cNvPr id="7" name="Rectangle: Rounded Corners 6">
            <a:extLst>
              <a:ext uri="{FF2B5EF4-FFF2-40B4-BE49-F238E27FC236}">
                <a16:creationId xmlns:a16="http://schemas.microsoft.com/office/drawing/2014/main" id="{FC5C31D0-4E98-D5B7-463A-C5617EFEC0A7}"/>
              </a:ext>
            </a:extLst>
          </p:cNvPr>
          <p:cNvSpPr/>
          <p:nvPr/>
        </p:nvSpPr>
        <p:spPr>
          <a:xfrm>
            <a:off x="8050534" y="4612470"/>
            <a:ext cx="1606477" cy="55313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200" dirty="0">
                <a:ea typeface="+mn-lt"/>
                <a:cs typeface="+mn-lt"/>
              </a:rPr>
              <a:t>Кога е удобно да позвъним отново – днес или утре?</a:t>
            </a:r>
            <a:endParaRPr lang="en-US" dirty="0"/>
          </a:p>
        </p:txBody>
      </p:sp>
      <p:sp>
        <p:nvSpPr>
          <p:cNvPr id="13" name="Rectangle: Rounded Corners 12">
            <a:extLst>
              <a:ext uri="{FF2B5EF4-FFF2-40B4-BE49-F238E27FC236}">
                <a16:creationId xmlns:a16="http://schemas.microsoft.com/office/drawing/2014/main" id="{4C12355E-AA44-F43F-4976-DB8334144446}"/>
              </a:ext>
            </a:extLst>
          </p:cNvPr>
          <p:cNvSpPr/>
          <p:nvPr/>
        </p:nvSpPr>
        <p:spPr>
          <a:xfrm>
            <a:off x="9949328" y="4590846"/>
            <a:ext cx="1606477" cy="567511"/>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p>
            <a:pPr algn="ctr"/>
            <a:r>
              <a:rPr lang="bg-BG" sz="1200"/>
              <a:t>Разговорът приключва</a:t>
            </a:r>
            <a:endParaRPr lang="bg-BG" sz="1200" dirty="0"/>
          </a:p>
        </p:txBody>
      </p:sp>
      <p:cxnSp>
        <p:nvCxnSpPr>
          <p:cNvPr id="18" name="Connector: Elbow 17">
            <a:extLst>
              <a:ext uri="{FF2B5EF4-FFF2-40B4-BE49-F238E27FC236}">
                <a16:creationId xmlns:a16="http://schemas.microsoft.com/office/drawing/2014/main" id="{1FBA70CC-6F54-7A43-2574-25874F319546}"/>
              </a:ext>
            </a:extLst>
          </p:cNvPr>
          <p:cNvCxnSpPr/>
          <p:nvPr/>
        </p:nvCxnSpPr>
        <p:spPr>
          <a:xfrm>
            <a:off x="7406695" y="4861233"/>
            <a:ext cx="540475" cy="9956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Connector: Elbow 19">
            <a:extLst>
              <a:ext uri="{FF2B5EF4-FFF2-40B4-BE49-F238E27FC236}">
                <a16:creationId xmlns:a16="http://schemas.microsoft.com/office/drawing/2014/main" id="{2308D6A3-2AEA-511C-96D6-FF1C82433DE9}"/>
              </a:ext>
            </a:extLst>
          </p:cNvPr>
          <p:cNvCxnSpPr/>
          <p:nvPr/>
        </p:nvCxnSpPr>
        <p:spPr>
          <a:xfrm>
            <a:off x="9554375" y="4832787"/>
            <a:ext cx="373311" cy="167998"/>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Текстово поле 23">
            <a:extLst>
              <a:ext uri="{FF2B5EF4-FFF2-40B4-BE49-F238E27FC236}">
                <a16:creationId xmlns:a16="http://schemas.microsoft.com/office/drawing/2014/main" id="{9F65B7A5-8F24-95AB-5381-24080669096C}"/>
              </a:ext>
            </a:extLst>
          </p:cNvPr>
          <p:cNvSpPr txBox="1"/>
          <p:nvPr/>
        </p:nvSpPr>
        <p:spPr>
          <a:xfrm>
            <a:off x="3362960" y="6360160"/>
            <a:ext cx="6390640" cy="3487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bg-BG" sz="1600" i="1"/>
              <a:t>Съдържа сценарии от дървото, изпратено като документ</a:t>
            </a:r>
          </a:p>
        </p:txBody>
      </p:sp>
    </p:spTree>
    <p:extLst>
      <p:ext uri="{BB962C8B-B14F-4D97-AF65-F5344CB8AC3E}">
        <p14:creationId xmlns:p14="http://schemas.microsoft.com/office/powerpoint/2010/main" val="14272958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ECFA80-1D81-9062-F980-694C56AE18F6}"/>
            </a:ext>
          </a:extLst>
        </p:cNvPr>
        <p:cNvGrpSpPr/>
        <p:nvPr/>
      </p:nvGrpSpPr>
      <p:grpSpPr>
        <a:xfrm>
          <a:off x="0" y="0"/>
          <a:ext cx="0" cy="0"/>
          <a:chOff x="0" y="0"/>
          <a:chExt cx="0" cy="0"/>
        </a:xfrm>
      </p:grpSpPr>
      <p:sp>
        <p:nvSpPr>
          <p:cNvPr id="27" name="Rectangle 3">
            <a:extLst>
              <a:ext uri="{FF2B5EF4-FFF2-40B4-BE49-F238E27FC236}">
                <a16:creationId xmlns:a16="http://schemas.microsoft.com/office/drawing/2014/main" id="{803772E2-9392-96E8-37D2-909A84D4C50F}"/>
              </a:ext>
            </a:extLst>
          </p:cNvPr>
          <p:cNvSpPr/>
          <p:nvPr/>
        </p:nvSpPr>
        <p:spPr>
          <a:xfrm>
            <a:off x="1443475" y="4245"/>
            <a:ext cx="5338363" cy="677242"/>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28" name="Rectangle 4">
            <a:extLst>
              <a:ext uri="{FF2B5EF4-FFF2-40B4-BE49-F238E27FC236}">
                <a16:creationId xmlns:a16="http://schemas.microsoft.com/office/drawing/2014/main" id="{030C3EAA-7CF2-37B2-5D02-53288BE5010B}"/>
              </a:ext>
            </a:extLst>
          </p:cNvPr>
          <p:cNvSpPr/>
          <p:nvPr/>
        </p:nvSpPr>
        <p:spPr>
          <a:xfrm>
            <a:off x="6788435" y="4245"/>
            <a:ext cx="5417300" cy="677242"/>
          </a:xfrm>
          <a:prstGeom prst="rect">
            <a:avLst/>
          </a:prstGeom>
          <a:solidFill>
            <a:schemeClr val="bg2">
              <a:lumMod val="75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29" name="Rectangle 28">
            <a:extLst>
              <a:ext uri="{FF2B5EF4-FFF2-40B4-BE49-F238E27FC236}">
                <a16:creationId xmlns:a16="http://schemas.microsoft.com/office/drawing/2014/main" id="{46D14A5B-9FDD-EC31-35FF-34A1C9743171}"/>
              </a:ext>
            </a:extLst>
          </p:cNvPr>
          <p:cNvSpPr/>
          <p:nvPr/>
        </p:nvSpPr>
        <p:spPr>
          <a:xfrm>
            <a:off x="-1671" y="1599"/>
            <a:ext cx="1451167" cy="6866954"/>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200">
              <a:latin typeface="Aptos"/>
              <a:ea typeface="Calibri"/>
              <a:cs typeface="Calibri"/>
            </a:endParaRPr>
          </a:p>
        </p:txBody>
      </p:sp>
      <p:sp>
        <p:nvSpPr>
          <p:cNvPr id="30" name="Rectangle 29">
            <a:extLst>
              <a:ext uri="{FF2B5EF4-FFF2-40B4-BE49-F238E27FC236}">
                <a16:creationId xmlns:a16="http://schemas.microsoft.com/office/drawing/2014/main" id="{6BA693FD-B172-07B6-DB97-2E0052183F6A}"/>
              </a:ext>
            </a:extLst>
          </p:cNvPr>
          <p:cNvSpPr/>
          <p:nvPr/>
        </p:nvSpPr>
        <p:spPr>
          <a:xfrm>
            <a:off x="-1671" y="2528038"/>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Типове клиенти</a:t>
            </a:r>
            <a:endParaRPr lang="en-GB" sz="1400">
              <a:latin typeface="Aptos"/>
              <a:ea typeface="Calibri"/>
              <a:cs typeface="Calibri"/>
            </a:endParaRPr>
          </a:p>
        </p:txBody>
      </p:sp>
      <p:sp>
        <p:nvSpPr>
          <p:cNvPr id="31" name="Rectangle 30">
            <a:extLst>
              <a:ext uri="{FF2B5EF4-FFF2-40B4-BE49-F238E27FC236}">
                <a16:creationId xmlns:a16="http://schemas.microsoft.com/office/drawing/2014/main" id="{7F8CB2DC-92EF-6235-8237-3D7CAD48D836}"/>
              </a:ext>
            </a:extLst>
          </p:cNvPr>
          <p:cNvSpPr/>
          <p:nvPr/>
        </p:nvSpPr>
        <p:spPr>
          <a:xfrm>
            <a:off x="8626" y="1913210"/>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b="1">
                <a:solidFill>
                  <a:srgbClr val="2F5597"/>
                </a:solidFill>
                <a:latin typeface="Aptos"/>
                <a:ea typeface="Calibri"/>
                <a:cs typeface="Calibri"/>
              </a:rPr>
              <a:t>Сценарии</a:t>
            </a:r>
            <a:endParaRPr lang="en-GB" sz="1400" b="1">
              <a:solidFill>
                <a:srgbClr val="2F5597"/>
              </a:solidFill>
              <a:latin typeface="Aptos"/>
              <a:ea typeface="Calibri"/>
              <a:cs typeface="Calibri"/>
            </a:endParaRPr>
          </a:p>
        </p:txBody>
      </p:sp>
      <p:sp>
        <p:nvSpPr>
          <p:cNvPr id="32" name="Rectangle 31">
            <a:extLst>
              <a:ext uri="{FF2B5EF4-FFF2-40B4-BE49-F238E27FC236}">
                <a16:creationId xmlns:a16="http://schemas.microsoft.com/office/drawing/2014/main" id="{3ED7F598-E077-9110-15CD-A10806539C4B}"/>
              </a:ext>
            </a:extLst>
          </p:cNvPr>
          <p:cNvSpPr/>
          <p:nvPr/>
        </p:nvSpPr>
        <p:spPr>
          <a:xfrm>
            <a:off x="-1671" y="1298382"/>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a:solidFill>
                  <a:schemeClr val="bg1"/>
                </a:solidFill>
                <a:latin typeface="Aptos"/>
                <a:ea typeface="Calibri"/>
                <a:cs typeface="Calibri"/>
              </a:rPr>
              <a:t>Стъпки в обаждането</a:t>
            </a:r>
            <a:endParaRPr lang="bg-BG" sz="1400">
              <a:solidFill>
                <a:srgbClr val="000000"/>
              </a:solidFill>
              <a:latin typeface="Aptos"/>
              <a:ea typeface="Calibri"/>
              <a:cs typeface="Calibri"/>
            </a:endParaRPr>
          </a:p>
        </p:txBody>
      </p:sp>
      <p:sp>
        <p:nvSpPr>
          <p:cNvPr id="33" name="Rectangle 28">
            <a:extLst>
              <a:ext uri="{FF2B5EF4-FFF2-40B4-BE49-F238E27FC236}">
                <a16:creationId xmlns:a16="http://schemas.microsoft.com/office/drawing/2014/main" id="{5AABFD7E-C11D-2850-66B0-2CA4F228E289}"/>
              </a:ext>
            </a:extLst>
          </p:cNvPr>
          <p:cNvSpPr/>
          <p:nvPr/>
        </p:nvSpPr>
        <p:spPr>
          <a:xfrm>
            <a:off x="6154" y="690328"/>
            <a:ext cx="1435083"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a:solidFill>
                  <a:schemeClr val="bg1"/>
                </a:solidFill>
                <a:latin typeface="Aptos"/>
                <a:ea typeface="Calibri"/>
                <a:cs typeface="Calibri"/>
              </a:rPr>
              <a:t>Подготовка</a:t>
            </a:r>
            <a:endParaRPr lang="en-GB" sz="1400">
              <a:solidFill>
                <a:schemeClr val="bg1"/>
              </a:solidFill>
              <a:latin typeface="Aptos"/>
              <a:ea typeface="Calibri"/>
              <a:cs typeface="Calibri"/>
            </a:endParaRPr>
          </a:p>
        </p:txBody>
      </p:sp>
      <p:sp>
        <p:nvSpPr>
          <p:cNvPr id="34" name="Правоъгълник: със заоблени ъгли 16">
            <a:extLst>
              <a:ext uri="{FF2B5EF4-FFF2-40B4-BE49-F238E27FC236}">
                <a16:creationId xmlns:a16="http://schemas.microsoft.com/office/drawing/2014/main" id="{2DBCC515-0B7A-FE1C-D9D0-A84E33709AB3}"/>
              </a:ext>
            </a:extLst>
          </p:cNvPr>
          <p:cNvSpPr/>
          <p:nvPr/>
        </p:nvSpPr>
        <p:spPr>
          <a:xfrm>
            <a:off x="5163293" y="5341216"/>
            <a:ext cx="2389929" cy="526544"/>
          </a:xfrm>
          <a:prstGeom prst="roundRect">
            <a:avLst>
              <a:gd name="adj" fmla="val 50000"/>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200"/>
              <a:t>Тренирай</a:t>
            </a:r>
          </a:p>
        </p:txBody>
      </p:sp>
      <p:pic>
        <p:nvPicPr>
          <p:cNvPr id="35" name="Picture 34">
            <a:extLst>
              <a:ext uri="{FF2B5EF4-FFF2-40B4-BE49-F238E27FC236}">
                <a16:creationId xmlns:a16="http://schemas.microsoft.com/office/drawing/2014/main" id="{3CF19C81-103E-DA5D-4B51-48C653928173}"/>
              </a:ext>
            </a:extLst>
          </p:cNvPr>
          <p:cNvPicPr>
            <a:picLocks noChangeAspect="1"/>
          </p:cNvPicPr>
          <p:nvPr/>
        </p:nvPicPr>
        <p:blipFill>
          <a:blip r:embed="rId3"/>
          <a:stretch>
            <a:fillRect/>
          </a:stretch>
        </p:blipFill>
        <p:spPr>
          <a:xfrm>
            <a:off x="11130000" y="5861827"/>
            <a:ext cx="982751" cy="995681"/>
          </a:xfrm>
          <a:prstGeom prst="rect">
            <a:avLst/>
          </a:prstGeom>
        </p:spPr>
      </p:pic>
      <p:sp>
        <p:nvSpPr>
          <p:cNvPr id="2" name="Rectangle: Rounded Corners 1">
            <a:extLst>
              <a:ext uri="{FF2B5EF4-FFF2-40B4-BE49-F238E27FC236}">
                <a16:creationId xmlns:a16="http://schemas.microsoft.com/office/drawing/2014/main" id="{E442B78D-07B2-4F41-0AB5-4AF4D671D2AC}"/>
              </a:ext>
            </a:extLst>
          </p:cNvPr>
          <p:cNvSpPr/>
          <p:nvPr/>
        </p:nvSpPr>
        <p:spPr>
          <a:xfrm>
            <a:off x="5346227" y="3409442"/>
            <a:ext cx="2033454" cy="520853"/>
          </a:xfrm>
          <a:prstGeom prst="roundRect">
            <a:avLst/>
          </a:prstGeom>
          <a:solidFill>
            <a:srgbClr val="A5A5A5"/>
          </a:solidFill>
          <a:ln>
            <a:solidFill>
              <a:srgbClr val="A5A5A5"/>
            </a:solid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200">
                <a:ea typeface="+mn-lt"/>
                <a:cs typeface="+mn-lt"/>
              </a:rPr>
              <a:t>Аз вече изтеглих кредит от Вас</a:t>
            </a:r>
            <a:endParaRPr lang="bg-BG" sz="1200"/>
          </a:p>
        </p:txBody>
      </p:sp>
      <p:sp>
        <p:nvSpPr>
          <p:cNvPr id="5" name="Rectangle: Rounded Corners 4">
            <a:extLst>
              <a:ext uri="{FF2B5EF4-FFF2-40B4-BE49-F238E27FC236}">
                <a16:creationId xmlns:a16="http://schemas.microsoft.com/office/drawing/2014/main" id="{D29C4D60-35ED-1170-955B-450555B48EFD}"/>
              </a:ext>
            </a:extLst>
          </p:cNvPr>
          <p:cNvSpPr/>
          <p:nvPr/>
        </p:nvSpPr>
        <p:spPr>
          <a:xfrm>
            <a:off x="5344899" y="4050394"/>
            <a:ext cx="2033454" cy="493958"/>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200">
                <a:ea typeface="+mn-lt"/>
                <a:cs typeface="+mn-lt"/>
              </a:rPr>
              <a:t>Не ми </a:t>
            </a:r>
            <a:r>
              <a:rPr lang="ru-RU" sz="1200" err="1">
                <a:ea typeface="+mn-lt"/>
                <a:cs typeface="+mn-lt"/>
              </a:rPr>
              <a:t>трябва</a:t>
            </a:r>
            <a:r>
              <a:rPr lang="ru-RU" sz="1200">
                <a:ea typeface="+mn-lt"/>
                <a:cs typeface="+mn-lt"/>
              </a:rPr>
              <a:t> кредит/ Не искам кредит</a:t>
            </a:r>
            <a:endParaRPr lang="bg-BG" sz="1200"/>
          </a:p>
        </p:txBody>
      </p:sp>
      <p:sp>
        <p:nvSpPr>
          <p:cNvPr id="8" name="Rectangle: Rounded Corners 9">
            <a:extLst>
              <a:ext uri="{FF2B5EF4-FFF2-40B4-BE49-F238E27FC236}">
                <a16:creationId xmlns:a16="http://schemas.microsoft.com/office/drawing/2014/main" id="{E215FFA8-FF34-1A5D-CCE3-1DE3641FDA90}"/>
              </a:ext>
            </a:extLst>
          </p:cNvPr>
          <p:cNvSpPr/>
          <p:nvPr/>
        </p:nvSpPr>
        <p:spPr>
          <a:xfrm>
            <a:off x="1896200" y="1951184"/>
            <a:ext cx="2932281" cy="677241"/>
          </a:xfrm>
          <a:prstGeom prst="roundRect">
            <a:avLst/>
          </a:prstGeom>
          <a:solidFill>
            <a:schemeClr val="bg2">
              <a:lumMod val="75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bg-BG" sz="1600"/>
              <a:t>Предварително одобрен клиент</a:t>
            </a:r>
            <a:endParaRPr lang="en-GB" sz="1600"/>
          </a:p>
        </p:txBody>
      </p:sp>
      <p:sp>
        <p:nvSpPr>
          <p:cNvPr id="10" name="Rectangle: Rounded Corners 11">
            <a:extLst>
              <a:ext uri="{FF2B5EF4-FFF2-40B4-BE49-F238E27FC236}">
                <a16:creationId xmlns:a16="http://schemas.microsoft.com/office/drawing/2014/main" id="{ACB767E9-EF07-F15E-54AF-00256A138298}"/>
              </a:ext>
            </a:extLst>
          </p:cNvPr>
          <p:cNvSpPr/>
          <p:nvPr/>
        </p:nvSpPr>
        <p:spPr>
          <a:xfrm>
            <a:off x="1896199" y="1147427"/>
            <a:ext cx="2932281" cy="677241"/>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bg-BG" sz="1600"/>
              <a:t>Лоялен клиент</a:t>
            </a:r>
            <a:endParaRPr lang="en-GB" sz="1600"/>
          </a:p>
        </p:txBody>
      </p:sp>
      <p:sp>
        <p:nvSpPr>
          <p:cNvPr id="12" name="Rectangle: Rounded Corners 13">
            <a:extLst>
              <a:ext uri="{FF2B5EF4-FFF2-40B4-BE49-F238E27FC236}">
                <a16:creationId xmlns:a16="http://schemas.microsoft.com/office/drawing/2014/main" id="{4B234686-A94E-DBD9-D07B-57B9D06C193A}"/>
              </a:ext>
            </a:extLst>
          </p:cNvPr>
          <p:cNvSpPr/>
          <p:nvPr/>
        </p:nvSpPr>
        <p:spPr>
          <a:xfrm>
            <a:off x="1896198" y="2811398"/>
            <a:ext cx="2932281" cy="677241"/>
          </a:xfrm>
          <a:prstGeom prst="roundRect">
            <a:avLst/>
          </a:prstGeom>
          <a:solidFill>
            <a:schemeClr val="bg2">
              <a:lumMod val="75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bg-BG" sz="1600"/>
              <a:t>Промо кампания</a:t>
            </a:r>
            <a:endParaRPr lang="en-GB" sz="1600"/>
          </a:p>
        </p:txBody>
      </p:sp>
      <p:sp>
        <p:nvSpPr>
          <p:cNvPr id="14" name="Rectangle 9">
            <a:extLst>
              <a:ext uri="{FF2B5EF4-FFF2-40B4-BE49-F238E27FC236}">
                <a16:creationId xmlns:a16="http://schemas.microsoft.com/office/drawing/2014/main" id="{E992C513-2F0F-0205-64D2-EC78325513D5}"/>
              </a:ext>
            </a:extLst>
          </p:cNvPr>
          <p:cNvSpPr/>
          <p:nvPr/>
        </p:nvSpPr>
        <p:spPr>
          <a:xfrm>
            <a:off x="1896196" y="4619761"/>
            <a:ext cx="2932281" cy="677241"/>
          </a:xfrm>
          <a:prstGeom prst="roundRect">
            <a:avLst/>
          </a:prstGeom>
          <a:solidFill>
            <a:schemeClr val="bg2">
              <a:lumMod val="75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По препоръка</a:t>
            </a:r>
            <a:endParaRPr lang="en-GB" sz="1600"/>
          </a:p>
        </p:txBody>
      </p:sp>
      <p:sp>
        <p:nvSpPr>
          <p:cNvPr id="16" name="Rectangle 11">
            <a:extLst>
              <a:ext uri="{FF2B5EF4-FFF2-40B4-BE49-F238E27FC236}">
                <a16:creationId xmlns:a16="http://schemas.microsoft.com/office/drawing/2014/main" id="{2817823D-48F5-1BCD-59BC-BC1BB9C06714}"/>
              </a:ext>
            </a:extLst>
          </p:cNvPr>
          <p:cNvSpPr/>
          <p:nvPr/>
        </p:nvSpPr>
        <p:spPr>
          <a:xfrm>
            <a:off x="1896197" y="3706995"/>
            <a:ext cx="2932281" cy="677241"/>
          </a:xfrm>
          <a:prstGeom prst="roundRect">
            <a:avLst/>
          </a:prstGeom>
          <a:solidFill>
            <a:schemeClr val="bg2">
              <a:lumMod val="75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bg-BG" sz="1600"/>
              <a:t>Продукт „Пенсионер“</a:t>
            </a:r>
            <a:endParaRPr lang="en-GB" sz="1600"/>
          </a:p>
        </p:txBody>
      </p:sp>
      <p:sp>
        <p:nvSpPr>
          <p:cNvPr id="3" name="Rectangle: Rounded Corners 4">
            <a:extLst>
              <a:ext uri="{FF2B5EF4-FFF2-40B4-BE49-F238E27FC236}">
                <a16:creationId xmlns:a16="http://schemas.microsoft.com/office/drawing/2014/main" id="{EB275840-8074-9BF1-8BD1-FAC931CB19C6}"/>
              </a:ext>
            </a:extLst>
          </p:cNvPr>
          <p:cNvSpPr/>
          <p:nvPr/>
        </p:nvSpPr>
        <p:spPr>
          <a:xfrm>
            <a:off x="5342533" y="4664625"/>
            <a:ext cx="2033454" cy="493958"/>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200">
                <a:ea typeface="+mn-lt"/>
                <a:cs typeface="+mn-lt"/>
              </a:rPr>
              <a:t>Не е удобно</a:t>
            </a:r>
            <a:endParaRPr lang="bg-BG" sz="1200"/>
          </a:p>
        </p:txBody>
      </p:sp>
      <p:sp>
        <p:nvSpPr>
          <p:cNvPr id="6" name="Правоъгълник: със заоблени ъгли 37">
            <a:extLst>
              <a:ext uri="{FF2B5EF4-FFF2-40B4-BE49-F238E27FC236}">
                <a16:creationId xmlns:a16="http://schemas.microsoft.com/office/drawing/2014/main" id="{D3BC31D0-6E6C-79FA-D3A3-3442C8924AC0}"/>
              </a:ext>
            </a:extLst>
          </p:cNvPr>
          <p:cNvSpPr/>
          <p:nvPr/>
        </p:nvSpPr>
        <p:spPr>
          <a:xfrm>
            <a:off x="5233585" y="1251551"/>
            <a:ext cx="4290944" cy="65453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bg-BG" sz="1600" b="1">
                <a:solidFill>
                  <a:srgbClr val="1F3864"/>
                </a:solidFill>
              </a:rPr>
              <a:t>1.Отваряне </a:t>
            </a:r>
          </a:p>
        </p:txBody>
      </p:sp>
      <p:sp>
        <p:nvSpPr>
          <p:cNvPr id="11" name="Правоъгълник: със заоблени ъгли 41">
            <a:extLst>
              <a:ext uri="{FF2B5EF4-FFF2-40B4-BE49-F238E27FC236}">
                <a16:creationId xmlns:a16="http://schemas.microsoft.com/office/drawing/2014/main" id="{EB0AA8F7-A37C-CCE8-535C-DBFA56675294}"/>
              </a:ext>
            </a:extLst>
          </p:cNvPr>
          <p:cNvSpPr/>
          <p:nvPr/>
        </p:nvSpPr>
        <p:spPr>
          <a:xfrm>
            <a:off x="5233877" y="2915104"/>
            <a:ext cx="4274428" cy="360134"/>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bg-BG" sz="1600" b="1">
                <a:solidFill>
                  <a:schemeClr val="accent1">
                    <a:lumMod val="49000"/>
                  </a:schemeClr>
                </a:solidFill>
              </a:rPr>
              <a:t>2. Предложение, възражение и отговор</a:t>
            </a:r>
          </a:p>
        </p:txBody>
      </p:sp>
      <p:sp>
        <p:nvSpPr>
          <p:cNvPr id="15" name="TextBox 14">
            <a:extLst>
              <a:ext uri="{FF2B5EF4-FFF2-40B4-BE49-F238E27FC236}">
                <a16:creationId xmlns:a16="http://schemas.microsoft.com/office/drawing/2014/main" id="{B7A55E5D-1A05-A7CC-251D-62D63A7D5A10}"/>
              </a:ext>
            </a:extLst>
          </p:cNvPr>
          <p:cNvSpPr txBox="1"/>
          <p:nvPr/>
        </p:nvSpPr>
        <p:spPr>
          <a:xfrm>
            <a:off x="5459103" y="1745775"/>
            <a:ext cx="5868538" cy="144655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baseline="0">
                <a:latin typeface="Aptos"/>
                <a:ea typeface="Segoe UI"/>
                <a:cs typeface="Segoe UI"/>
              </a:rPr>
              <a:t>-</a:t>
            </a:r>
            <a:r>
              <a:rPr lang="en-US" sz="1400" baseline="0">
                <a:latin typeface="Aptos"/>
                <a:ea typeface="Segoe UI"/>
                <a:cs typeface="Segoe UI"/>
              </a:rPr>
              <a:t>Добър ден, търся г-н/г-жа (две </a:t>
            </a:r>
            <a:r>
              <a:rPr lang="en-US" sz="1400" baseline="0" err="1">
                <a:latin typeface="Aptos"/>
                <a:ea typeface="Segoe UI"/>
                <a:cs typeface="Segoe UI"/>
              </a:rPr>
              <a:t>имена</a:t>
            </a:r>
            <a:r>
              <a:rPr lang="en-US" sz="1400" baseline="0">
                <a:latin typeface="Aptos"/>
                <a:ea typeface="Segoe UI"/>
                <a:cs typeface="Segoe UI"/>
              </a:rPr>
              <a:t> </a:t>
            </a:r>
            <a:r>
              <a:rPr lang="en-US" sz="1400" baseline="0" err="1">
                <a:latin typeface="Aptos"/>
                <a:ea typeface="Segoe UI"/>
                <a:cs typeface="Segoe UI"/>
              </a:rPr>
              <a:t>на</a:t>
            </a:r>
            <a:r>
              <a:rPr lang="en-US" sz="1400" baseline="0">
                <a:latin typeface="Aptos"/>
                <a:ea typeface="Segoe UI"/>
                <a:cs typeface="Segoe UI"/>
              </a:rPr>
              <a:t> </a:t>
            </a:r>
            <a:r>
              <a:rPr lang="en-US" sz="1400" baseline="0" err="1">
                <a:latin typeface="Aptos"/>
                <a:ea typeface="Segoe UI"/>
                <a:cs typeface="Segoe UI"/>
              </a:rPr>
              <a:t>клиента</a:t>
            </a:r>
            <a:r>
              <a:rPr lang="en-US" sz="1400" baseline="0">
                <a:latin typeface="Aptos"/>
                <a:ea typeface="Segoe UI"/>
                <a:cs typeface="Segoe UI"/>
              </a:rPr>
              <a:t>).</a:t>
            </a:r>
            <a:br>
              <a:rPr lang="en-US" sz="1400">
                <a:latin typeface="Aptos"/>
                <a:ea typeface="Segoe UI"/>
                <a:cs typeface="Segoe UI"/>
              </a:rPr>
            </a:br>
            <a:r>
              <a:rPr lang="en-US" sz="1400" b="1" baseline="0">
                <a:latin typeface="Aptos"/>
                <a:ea typeface="Segoe UI"/>
                <a:cs typeface="Segoe UI"/>
              </a:rPr>
              <a:t>-</a:t>
            </a:r>
            <a:r>
              <a:rPr lang="en-US" sz="1400" baseline="0" err="1">
                <a:latin typeface="Aptos"/>
                <a:ea typeface="Segoe UI"/>
                <a:cs typeface="Segoe UI"/>
              </a:rPr>
              <a:t>Да</a:t>
            </a:r>
            <a:r>
              <a:rPr lang="en-US" sz="1400" baseline="0">
                <a:latin typeface="Aptos"/>
                <a:ea typeface="Segoe UI"/>
                <a:cs typeface="Segoe UI"/>
              </a:rPr>
              <a:t> (</a:t>
            </a:r>
            <a:r>
              <a:rPr lang="en-US" sz="1400" baseline="0" err="1">
                <a:latin typeface="Aptos"/>
                <a:ea typeface="Segoe UI"/>
                <a:cs typeface="Segoe UI"/>
              </a:rPr>
              <a:t>на</a:t>
            </a:r>
            <a:r>
              <a:rPr lang="en-US" sz="1400" baseline="0">
                <a:latin typeface="Aptos"/>
                <a:ea typeface="Segoe UI"/>
                <a:cs typeface="Segoe UI"/>
              </a:rPr>
              <a:t> </a:t>
            </a:r>
            <a:r>
              <a:rPr lang="en-US" sz="1400" baseline="0" err="1">
                <a:latin typeface="Aptos"/>
                <a:ea typeface="Segoe UI"/>
                <a:cs typeface="Segoe UI"/>
              </a:rPr>
              <a:t>телефона</a:t>
            </a:r>
            <a:r>
              <a:rPr lang="en-US" sz="1400" baseline="0">
                <a:latin typeface="Aptos"/>
                <a:ea typeface="Segoe UI"/>
                <a:cs typeface="Segoe UI"/>
              </a:rPr>
              <a:t>, </a:t>
            </a:r>
            <a:r>
              <a:rPr lang="en-US" sz="1400" baseline="0" err="1">
                <a:latin typeface="Aptos"/>
                <a:ea typeface="Segoe UI"/>
                <a:cs typeface="Segoe UI"/>
              </a:rPr>
              <a:t>аз</a:t>
            </a:r>
            <a:r>
              <a:rPr lang="en-US" sz="1400" baseline="0">
                <a:latin typeface="Aptos"/>
                <a:ea typeface="Segoe UI"/>
                <a:cs typeface="Segoe UI"/>
              </a:rPr>
              <a:t> </a:t>
            </a:r>
            <a:r>
              <a:rPr lang="en-US" sz="1400" baseline="0" err="1">
                <a:latin typeface="Aptos"/>
                <a:ea typeface="Segoe UI"/>
                <a:cs typeface="Segoe UI"/>
              </a:rPr>
              <a:t>съм</a:t>
            </a:r>
            <a:r>
              <a:rPr lang="en-US" sz="1400" baseline="0">
                <a:latin typeface="Aptos"/>
                <a:ea typeface="Segoe UI"/>
                <a:cs typeface="Segoe UI"/>
              </a:rPr>
              <a:t>).</a:t>
            </a:r>
            <a:endParaRPr lang="en-US">
              <a:latin typeface="Aptos"/>
              <a:ea typeface="Segoe UI"/>
              <a:cs typeface="Segoe UI"/>
            </a:endParaRPr>
          </a:p>
          <a:p>
            <a:r>
              <a:rPr lang="en-US" sz="1400" b="1" baseline="0">
                <a:latin typeface="Aptos"/>
                <a:ea typeface="Segoe UI"/>
                <a:cs typeface="Segoe UI"/>
              </a:rPr>
              <a:t>-</a:t>
            </a:r>
            <a:r>
              <a:rPr lang="en-US" sz="1400" baseline="0" err="1">
                <a:latin typeface="Aptos"/>
                <a:ea typeface="Segoe UI"/>
                <a:cs typeface="Segoe UI"/>
              </a:rPr>
              <a:t>Здравейте</a:t>
            </a:r>
            <a:r>
              <a:rPr lang="en-US" sz="1400" baseline="0">
                <a:latin typeface="Aptos"/>
                <a:ea typeface="Segoe UI"/>
                <a:cs typeface="Segoe UI"/>
              </a:rPr>
              <a:t> г-н/г-</a:t>
            </a:r>
            <a:r>
              <a:rPr lang="en-US" sz="1400" baseline="0" err="1">
                <a:latin typeface="Aptos"/>
                <a:ea typeface="Segoe UI"/>
                <a:cs typeface="Segoe UI"/>
              </a:rPr>
              <a:t>жо</a:t>
            </a:r>
            <a:r>
              <a:rPr lang="en-US" sz="1400" baseline="0">
                <a:latin typeface="Aptos"/>
                <a:ea typeface="Segoe UI"/>
                <a:cs typeface="Segoe UI"/>
              </a:rPr>
              <a:t> (</a:t>
            </a:r>
            <a:r>
              <a:rPr lang="en-US" sz="1400" baseline="0" err="1">
                <a:latin typeface="Aptos"/>
                <a:ea typeface="Segoe UI"/>
                <a:cs typeface="Segoe UI"/>
              </a:rPr>
              <a:t>фамилия</a:t>
            </a:r>
            <a:r>
              <a:rPr lang="en-US" sz="1400" baseline="0">
                <a:latin typeface="Aptos"/>
                <a:ea typeface="Segoe UI"/>
                <a:cs typeface="Segoe UI"/>
              </a:rPr>
              <a:t> </a:t>
            </a:r>
            <a:r>
              <a:rPr lang="en-US" sz="1400" baseline="0" err="1">
                <a:latin typeface="Aptos"/>
                <a:ea typeface="Segoe UI"/>
                <a:cs typeface="Segoe UI"/>
              </a:rPr>
              <a:t>на</a:t>
            </a:r>
            <a:r>
              <a:rPr lang="en-US" sz="1400" baseline="0">
                <a:latin typeface="Aptos"/>
                <a:ea typeface="Segoe UI"/>
                <a:cs typeface="Segoe UI"/>
              </a:rPr>
              <a:t> </a:t>
            </a:r>
            <a:r>
              <a:rPr lang="en-US" sz="1400" baseline="0" err="1">
                <a:latin typeface="Aptos"/>
                <a:ea typeface="Segoe UI"/>
                <a:cs typeface="Segoe UI"/>
              </a:rPr>
              <a:t>клиента</a:t>
            </a:r>
            <a:r>
              <a:rPr lang="en-US" sz="1400" baseline="0">
                <a:latin typeface="Aptos"/>
                <a:ea typeface="Segoe UI"/>
                <a:cs typeface="Segoe UI"/>
              </a:rPr>
              <a:t>), </a:t>
            </a:r>
            <a:r>
              <a:rPr lang="en-US" sz="1400" baseline="0" err="1">
                <a:latin typeface="Aptos"/>
                <a:ea typeface="Segoe UI"/>
                <a:cs typeface="Segoe UI"/>
              </a:rPr>
              <a:t>обаждам</a:t>
            </a:r>
            <a:r>
              <a:rPr lang="en-US" sz="1400" baseline="0">
                <a:latin typeface="Aptos"/>
                <a:ea typeface="Segoe UI"/>
                <a:cs typeface="Segoe UI"/>
              </a:rPr>
              <a:t> </a:t>
            </a:r>
            <a:r>
              <a:rPr lang="en-US" sz="1400" baseline="0" err="1">
                <a:latin typeface="Aptos"/>
                <a:ea typeface="Segoe UI"/>
                <a:cs typeface="Segoe UI"/>
              </a:rPr>
              <a:t>се</a:t>
            </a:r>
            <a:r>
              <a:rPr lang="en-US" sz="1400" baseline="0">
                <a:latin typeface="Aptos"/>
                <a:ea typeface="Segoe UI"/>
                <a:cs typeface="Segoe UI"/>
              </a:rPr>
              <a:t> </a:t>
            </a:r>
            <a:r>
              <a:rPr lang="en-US" sz="1400" baseline="0" err="1">
                <a:latin typeface="Aptos"/>
                <a:ea typeface="Segoe UI"/>
                <a:cs typeface="Segoe UI"/>
              </a:rPr>
              <a:t>от</a:t>
            </a:r>
            <a:r>
              <a:rPr lang="en-US" sz="1400" baseline="0">
                <a:latin typeface="Aptos"/>
                <a:ea typeface="Segoe UI"/>
                <a:cs typeface="Segoe UI"/>
              </a:rPr>
              <a:t> </a:t>
            </a:r>
            <a:r>
              <a:rPr lang="en-US" sz="1400" baseline="0" err="1">
                <a:latin typeface="Aptos"/>
                <a:ea typeface="Segoe UI"/>
                <a:cs typeface="Segoe UI"/>
              </a:rPr>
              <a:t>Изи</a:t>
            </a:r>
            <a:r>
              <a:rPr lang="en-US" sz="1400" baseline="0">
                <a:latin typeface="Aptos"/>
                <a:ea typeface="Segoe UI"/>
                <a:cs typeface="Segoe UI"/>
              </a:rPr>
              <a:t> </a:t>
            </a:r>
            <a:r>
              <a:rPr lang="en-US" sz="1400" baseline="0" err="1">
                <a:latin typeface="Aptos"/>
                <a:ea typeface="Segoe UI"/>
                <a:cs typeface="Segoe UI"/>
              </a:rPr>
              <a:t>Кредит</a:t>
            </a:r>
            <a:r>
              <a:rPr lang="en-US" sz="1400" baseline="0">
                <a:latin typeface="Aptos"/>
                <a:ea typeface="Segoe UI"/>
                <a:cs typeface="Segoe UI"/>
              </a:rPr>
              <a:t> </a:t>
            </a:r>
            <a:r>
              <a:rPr lang="en-US" sz="1400" baseline="0" err="1">
                <a:latin typeface="Aptos"/>
                <a:ea typeface="Segoe UI"/>
                <a:cs typeface="Segoe UI"/>
              </a:rPr>
              <a:t>във</a:t>
            </a:r>
            <a:r>
              <a:rPr lang="en-US" sz="1400" baseline="0">
                <a:latin typeface="Aptos"/>
                <a:ea typeface="Segoe UI"/>
                <a:cs typeface="Segoe UI"/>
              </a:rPr>
              <a:t> </a:t>
            </a:r>
            <a:r>
              <a:rPr lang="en-US" sz="1400" baseline="0" err="1">
                <a:latin typeface="Aptos"/>
                <a:ea typeface="Segoe UI"/>
                <a:cs typeface="Segoe UI"/>
              </a:rPr>
              <a:t>връзка</a:t>
            </a:r>
            <a:r>
              <a:rPr lang="en-US" sz="1400" baseline="0">
                <a:latin typeface="Aptos"/>
                <a:ea typeface="Segoe UI"/>
                <a:cs typeface="Segoe UI"/>
              </a:rPr>
              <a:t> с </a:t>
            </a:r>
            <a:r>
              <a:rPr lang="en-US" sz="1400" baseline="0" err="1">
                <a:latin typeface="Aptos"/>
                <a:ea typeface="Segoe UI"/>
                <a:cs typeface="Segoe UI"/>
              </a:rPr>
              <a:t>изготвено</a:t>
            </a:r>
            <a:r>
              <a:rPr lang="en-US" sz="1400" baseline="0">
                <a:latin typeface="Aptos"/>
                <a:ea typeface="Segoe UI"/>
                <a:cs typeface="Segoe UI"/>
              </a:rPr>
              <a:t> </a:t>
            </a:r>
            <a:r>
              <a:rPr lang="en-US" sz="1400" baseline="0" err="1">
                <a:latin typeface="Aptos"/>
                <a:ea typeface="Segoe UI"/>
                <a:cs typeface="Segoe UI"/>
              </a:rPr>
              <a:t>предложение</a:t>
            </a:r>
            <a:r>
              <a:rPr lang="en-US" sz="1400" baseline="0">
                <a:latin typeface="Aptos"/>
                <a:ea typeface="Segoe UI"/>
                <a:cs typeface="Segoe UI"/>
              </a:rPr>
              <a:t>, </a:t>
            </a:r>
            <a:r>
              <a:rPr lang="en-US" sz="1400" baseline="0" err="1">
                <a:latin typeface="Aptos"/>
                <a:ea typeface="Segoe UI"/>
                <a:cs typeface="Segoe UI"/>
              </a:rPr>
              <a:t>специално</a:t>
            </a:r>
            <a:r>
              <a:rPr lang="en-US" sz="1400" baseline="0">
                <a:latin typeface="Aptos"/>
                <a:ea typeface="Segoe UI"/>
                <a:cs typeface="Segoe UI"/>
              </a:rPr>
              <a:t> </a:t>
            </a:r>
            <a:r>
              <a:rPr lang="en-US" sz="1400" baseline="0" err="1">
                <a:latin typeface="Aptos"/>
                <a:ea typeface="Segoe UI"/>
                <a:cs typeface="Segoe UI"/>
              </a:rPr>
              <a:t>за</a:t>
            </a:r>
            <a:r>
              <a:rPr lang="en-US" sz="1400" baseline="0">
                <a:latin typeface="Aptos"/>
                <a:ea typeface="Segoe UI"/>
                <a:cs typeface="Segoe UI"/>
              </a:rPr>
              <a:t> </a:t>
            </a:r>
            <a:r>
              <a:rPr lang="en-US" sz="1400" baseline="0" err="1">
                <a:latin typeface="Aptos"/>
                <a:ea typeface="Segoe UI"/>
                <a:cs typeface="Segoe UI"/>
              </a:rPr>
              <a:t>Вас</a:t>
            </a:r>
            <a:r>
              <a:rPr lang="en-US" sz="1400" baseline="0">
                <a:latin typeface="Aptos"/>
                <a:ea typeface="Segoe UI"/>
                <a:cs typeface="Segoe UI"/>
              </a:rPr>
              <a:t>. </a:t>
            </a:r>
            <a:r>
              <a:rPr lang="en-US" sz="1400" baseline="0" err="1">
                <a:latin typeface="Aptos"/>
                <a:ea typeface="Segoe UI"/>
                <a:cs typeface="Segoe UI"/>
              </a:rPr>
              <a:t>Удобно</a:t>
            </a:r>
            <a:r>
              <a:rPr lang="en-US" sz="1400" baseline="0">
                <a:latin typeface="Aptos"/>
                <a:ea typeface="Segoe UI"/>
                <a:cs typeface="Segoe UI"/>
              </a:rPr>
              <a:t> </a:t>
            </a:r>
            <a:r>
              <a:rPr lang="en-US" sz="1400" baseline="0" err="1">
                <a:latin typeface="Aptos"/>
                <a:ea typeface="Segoe UI"/>
                <a:cs typeface="Segoe UI"/>
              </a:rPr>
              <a:t>ли</a:t>
            </a:r>
            <a:r>
              <a:rPr lang="en-US" sz="1400" baseline="0">
                <a:latin typeface="Aptos"/>
                <a:ea typeface="Segoe UI"/>
                <a:cs typeface="Segoe UI"/>
              </a:rPr>
              <a:t> е </a:t>
            </a:r>
            <a:r>
              <a:rPr lang="en-US" sz="1400" baseline="0" err="1">
                <a:latin typeface="Aptos"/>
                <a:ea typeface="Segoe UI"/>
                <a:cs typeface="Segoe UI"/>
              </a:rPr>
              <a:t>да</a:t>
            </a:r>
            <a:r>
              <a:rPr lang="en-US" sz="1400" baseline="0">
                <a:latin typeface="Aptos"/>
                <a:ea typeface="Segoe UI"/>
                <a:cs typeface="Segoe UI"/>
              </a:rPr>
              <a:t> </a:t>
            </a:r>
            <a:r>
              <a:rPr lang="en-US" sz="1400" baseline="0" err="1">
                <a:latin typeface="Aptos"/>
                <a:ea typeface="Segoe UI"/>
                <a:cs typeface="Segoe UI"/>
              </a:rPr>
              <a:t>ми</a:t>
            </a:r>
            <a:r>
              <a:rPr lang="en-US" sz="1400" baseline="0">
                <a:latin typeface="Aptos"/>
                <a:ea typeface="Segoe UI"/>
                <a:cs typeface="Segoe UI"/>
              </a:rPr>
              <a:t> </a:t>
            </a:r>
            <a:r>
              <a:rPr lang="en-US" sz="1400" baseline="0" err="1">
                <a:latin typeface="Aptos"/>
                <a:ea typeface="Segoe UI"/>
                <a:cs typeface="Segoe UI"/>
              </a:rPr>
              <a:t>отделите</a:t>
            </a:r>
            <a:r>
              <a:rPr lang="en-US" sz="1400" baseline="0">
                <a:latin typeface="Aptos"/>
                <a:ea typeface="Segoe UI"/>
                <a:cs typeface="Segoe UI"/>
              </a:rPr>
              <a:t> </a:t>
            </a:r>
            <a:r>
              <a:rPr lang="en-US" sz="1400" baseline="0" err="1">
                <a:latin typeface="Aptos"/>
                <a:ea typeface="Segoe UI"/>
                <a:cs typeface="Segoe UI"/>
              </a:rPr>
              <a:t>една</a:t>
            </a:r>
            <a:r>
              <a:rPr lang="en-US" sz="1400" baseline="0">
                <a:latin typeface="Aptos"/>
                <a:ea typeface="Segoe UI"/>
                <a:cs typeface="Segoe UI"/>
              </a:rPr>
              <a:t>, </a:t>
            </a:r>
            <a:r>
              <a:rPr lang="en-US" sz="1400" baseline="0" err="1">
                <a:latin typeface="Aptos"/>
                <a:ea typeface="Segoe UI"/>
                <a:cs typeface="Segoe UI"/>
              </a:rPr>
              <a:t>две</a:t>
            </a:r>
            <a:r>
              <a:rPr lang="en-US" sz="1400" baseline="0">
                <a:latin typeface="Aptos"/>
                <a:ea typeface="Segoe UI"/>
                <a:cs typeface="Segoe UI"/>
              </a:rPr>
              <a:t> </a:t>
            </a:r>
            <a:r>
              <a:rPr lang="en-US" sz="1400" baseline="0" err="1">
                <a:latin typeface="Aptos"/>
                <a:ea typeface="Segoe UI"/>
                <a:cs typeface="Segoe UI"/>
              </a:rPr>
              <a:t>минути</a:t>
            </a:r>
            <a:r>
              <a:rPr lang="en-US" sz="1400" baseline="0">
                <a:latin typeface="Aptos"/>
                <a:ea typeface="Segoe UI"/>
                <a:cs typeface="Segoe UI"/>
              </a:rPr>
              <a:t>, </a:t>
            </a:r>
            <a:r>
              <a:rPr lang="en-US" sz="1400" baseline="0" err="1">
                <a:latin typeface="Aptos"/>
                <a:ea typeface="Segoe UI"/>
                <a:cs typeface="Segoe UI"/>
              </a:rPr>
              <a:t>за</a:t>
            </a:r>
            <a:r>
              <a:rPr lang="en-US" sz="1400" baseline="0">
                <a:latin typeface="Aptos"/>
                <a:ea typeface="Segoe UI"/>
                <a:cs typeface="Segoe UI"/>
              </a:rPr>
              <a:t> </a:t>
            </a:r>
            <a:r>
              <a:rPr lang="en-US" sz="1400" baseline="0" err="1">
                <a:latin typeface="Aptos"/>
                <a:ea typeface="Segoe UI"/>
                <a:cs typeface="Segoe UI"/>
              </a:rPr>
              <a:t>да</a:t>
            </a:r>
            <a:r>
              <a:rPr lang="en-US" sz="1400" baseline="0">
                <a:latin typeface="Aptos"/>
                <a:ea typeface="Segoe UI"/>
                <a:cs typeface="Segoe UI"/>
              </a:rPr>
              <a:t> </a:t>
            </a:r>
            <a:r>
              <a:rPr lang="en-US" sz="1400" baseline="0" err="1">
                <a:latin typeface="Aptos"/>
                <a:ea typeface="Segoe UI"/>
                <a:cs typeface="Segoe UI"/>
              </a:rPr>
              <a:t>Ви</a:t>
            </a:r>
            <a:r>
              <a:rPr lang="en-US" sz="1400" baseline="0">
                <a:latin typeface="Aptos"/>
                <a:ea typeface="Segoe UI"/>
                <a:cs typeface="Segoe UI"/>
              </a:rPr>
              <a:t> </a:t>
            </a:r>
            <a:r>
              <a:rPr lang="en-US" sz="1400" baseline="0" err="1">
                <a:latin typeface="Aptos"/>
                <a:ea typeface="Segoe UI"/>
                <a:cs typeface="Segoe UI"/>
              </a:rPr>
              <a:t>запозная</a:t>
            </a:r>
            <a:r>
              <a:rPr lang="en-US" sz="1400" baseline="0">
                <a:latin typeface="Aptos"/>
                <a:ea typeface="Segoe UI"/>
                <a:cs typeface="Segoe UI"/>
              </a:rPr>
              <a:t>?</a:t>
            </a:r>
            <a:r>
              <a:rPr lang="en-US" sz="1400">
                <a:latin typeface="Aptos"/>
                <a:ea typeface="Segoe UI"/>
                <a:cs typeface="Segoe UI"/>
              </a:rPr>
              <a:t> </a:t>
            </a:r>
            <a:endParaRPr lang="en-US"/>
          </a:p>
          <a:p>
            <a:pPr algn="ctr"/>
            <a:endParaRPr lang="en-US"/>
          </a:p>
        </p:txBody>
      </p:sp>
      <p:sp>
        <p:nvSpPr>
          <p:cNvPr id="7" name="Текстово поле 23">
            <a:extLst>
              <a:ext uri="{FF2B5EF4-FFF2-40B4-BE49-F238E27FC236}">
                <a16:creationId xmlns:a16="http://schemas.microsoft.com/office/drawing/2014/main" id="{CA99CCCD-86DC-5B4A-3373-FA59BF5C3B17}"/>
              </a:ext>
            </a:extLst>
          </p:cNvPr>
          <p:cNvSpPr txBox="1"/>
          <p:nvPr/>
        </p:nvSpPr>
        <p:spPr>
          <a:xfrm>
            <a:off x="3362960" y="6360160"/>
            <a:ext cx="6390640" cy="3487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bg-BG" sz="1600" i="1"/>
              <a:t>Съдържа сценарии от дървото, изпратено като документ</a:t>
            </a:r>
          </a:p>
        </p:txBody>
      </p:sp>
    </p:spTree>
    <p:extLst>
      <p:ext uri="{BB962C8B-B14F-4D97-AF65-F5344CB8AC3E}">
        <p14:creationId xmlns:p14="http://schemas.microsoft.com/office/powerpoint/2010/main" val="7308129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52C1FA-CC9B-BBD0-53AA-C958960301B8}"/>
            </a:ext>
          </a:extLst>
        </p:cNvPr>
        <p:cNvGrpSpPr/>
        <p:nvPr/>
      </p:nvGrpSpPr>
      <p:grpSpPr>
        <a:xfrm>
          <a:off x="0" y="0"/>
          <a:ext cx="0" cy="0"/>
          <a:chOff x="0" y="0"/>
          <a:chExt cx="0" cy="0"/>
        </a:xfrm>
      </p:grpSpPr>
      <p:sp>
        <p:nvSpPr>
          <p:cNvPr id="25" name="Rectangle 28">
            <a:extLst>
              <a:ext uri="{FF2B5EF4-FFF2-40B4-BE49-F238E27FC236}">
                <a16:creationId xmlns:a16="http://schemas.microsoft.com/office/drawing/2014/main" id="{F062D7E3-A162-9345-615E-E27849B8877B}"/>
              </a:ext>
            </a:extLst>
          </p:cNvPr>
          <p:cNvSpPr/>
          <p:nvPr/>
        </p:nvSpPr>
        <p:spPr>
          <a:xfrm>
            <a:off x="-15824" y="1599"/>
            <a:ext cx="1465320" cy="6859628"/>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400">
              <a:latin typeface="Aptos"/>
              <a:ea typeface="Calibri"/>
              <a:cs typeface="Calibri"/>
            </a:endParaRPr>
          </a:p>
        </p:txBody>
      </p:sp>
      <p:sp>
        <p:nvSpPr>
          <p:cNvPr id="26" name="Rectangle 29">
            <a:extLst>
              <a:ext uri="{FF2B5EF4-FFF2-40B4-BE49-F238E27FC236}">
                <a16:creationId xmlns:a16="http://schemas.microsoft.com/office/drawing/2014/main" id="{B96E94AB-EFB0-9D82-5EF5-76E3AC28F909}"/>
              </a:ext>
            </a:extLst>
          </p:cNvPr>
          <p:cNvSpPr/>
          <p:nvPr/>
        </p:nvSpPr>
        <p:spPr>
          <a:xfrm>
            <a:off x="-1671" y="2528038"/>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Типове клиенти</a:t>
            </a:r>
            <a:endParaRPr lang="en-GB" sz="1400">
              <a:latin typeface="Aptos"/>
              <a:ea typeface="Calibri"/>
              <a:cs typeface="Calibri"/>
            </a:endParaRPr>
          </a:p>
        </p:txBody>
      </p:sp>
      <p:sp>
        <p:nvSpPr>
          <p:cNvPr id="27" name="Rectangle 30">
            <a:extLst>
              <a:ext uri="{FF2B5EF4-FFF2-40B4-BE49-F238E27FC236}">
                <a16:creationId xmlns:a16="http://schemas.microsoft.com/office/drawing/2014/main" id="{10DE6C3A-96BF-D0BE-5BAD-82CEB70AE145}"/>
              </a:ext>
            </a:extLst>
          </p:cNvPr>
          <p:cNvSpPr/>
          <p:nvPr/>
        </p:nvSpPr>
        <p:spPr>
          <a:xfrm>
            <a:off x="8626" y="1913210"/>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002060"/>
                </a:solidFill>
                <a:latin typeface="Aptos"/>
                <a:ea typeface="Calibri"/>
                <a:cs typeface="Calibri"/>
              </a:rPr>
              <a:t>Сценарии</a:t>
            </a:r>
            <a:endParaRPr lang="en-GB" sz="1400">
              <a:solidFill>
                <a:srgbClr val="002060"/>
              </a:solidFill>
              <a:latin typeface="Aptos"/>
              <a:ea typeface="Calibri"/>
              <a:cs typeface="Calibri"/>
            </a:endParaRPr>
          </a:p>
        </p:txBody>
      </p:sp>
      <p:sp>
        <p:nvSpPr>
          <p:cNvPr id="28" name="Rectangle 31">
            <a:extLst>
              <a:ext uri="{FF2B5EF4-FFF2-40B4-BE49-F238E27FC236}">
                <a16:creationId xmlns:a16="http://schemas.microsoft.com/office/drawing/2014/main" id="{05F1AEE9-C73C-9EFC-B1F6-C69FDDE3B5F7}"/>
              </a:ext>
            </a:extLst>
          </p:cNvPr>
          <p:cNvSpPr/>
          <p:nvPr/>
        </p:nvSpPr>
        <p:spPr>
          <a:xfrm>
            <a:off x="-1671" y="1298382"/>
            <a:ext cx="1442908" cy="4485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chemeClr val="bg1"/>
                </a:solidFill>
                <a:latin typeface="Aptos"/>
                <a:ea typeface="Calibri"/>
                <a:cs typeface="Calibri"/>
              </a:rPr>
              <a:t>Стъпки в обаждането</a:t>
            </a:r>
            <a:endParaRPr lang="en-GB" sz="1400">
              <a:solidFill>
                <a:schemeClr val="bg1"/>
              </a:solidFill>
              <a:latin typeface="Aptos"/>
              <a:ea typeface="Calibri"/>
              <a:cs typeface="Calibri"/>
            </a:endParaRPr>
          </a:p>
        </p:txBody>
      </p:sp>
      <p:sp>
        <p:nvSpPr>
          <p:cNvPr id="29" name="Rectangle 3">
            <a:extLst>
              <a:ext uri="{FF2B5EF4-FFF2-40B4-BE49-F238E27FC236}">
                <a16:creationId xmlns:a16="http://schemas.microsoft.com/office/drawing/2014/main" id="{495828B6-3366-9B83-0B8D-213AA2D2B9C0}"/>
              </a:ext>
            </a:extLst>
          </p:cNvPr>
          <p:cNvSpPr/>
          <p:nvPr/>
        </p:nvSpPr>
        <p:spPr>
          <a:xfrm>
            <a:off x="1443475" y="4245"/>
            <a:ext cx="5338363" cy="67724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30" name="Rectangle 4">
            <a:extLst>
              <a:ext uri="{FF2B5EF4-FFF2-40B4-BE49-F238E27FC236}">
                <a16:creationId xmlns:a16="http://schemas.microsoft.com/office/drawing/2014/main" id="{FD99B552-92DD-0C6E-84C8-26F896534DE6}"/>
              </a:ext>
            </a:extLst>
          </p:cNvPr>
          <p:cNvSpPr/>
          <p:nvPr/>
        </p:nvSpPr>
        <p:spPr>
          <a:xfrm>
            <a:off x="6788435" y="4245"/>
            <a:ext cx="5417300" cy="677242"/>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31" name="Rectangle 28">
            <a:extLst>
              <a:ext uri="{FF2B5EF4-FFF2-40B4-BE49-F238E27FC236}">
                <a16:creationId xmlns:a16="http://schemas.microsoft.com/office/drawing/2014/main" id="{F3A7DF8F-9F68-2F5B-5B58-62F01A43469D}"/>
              </a:ext>
            </a:extLst>
          </p:cNvPr>
          <p:cNvSpPr/>
          <p:nvPr/>
        </p:nvSpPr>
        <p:spPr>
          <a:xfrm>
            <a:off x="-15827" y="690328"/>
            <a:ext cx="1465322"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FFFFFF"/>
                </a:solidFill>
                <a:latin typeface="Aptos"/>
                <a:ea typeface="Calibri"/>
                <a:cs typeface="Calibri"/>
              </a:rPr>
              <a:t>Подготовка</a:t>
            </a:r>
            <a:endParaRPr lang="en-GB" sz="1400">
              <a:solidFill>
                <a:srgbClr val="FFFFFF"/>
              </a:solidFill>
              <a:latin typeface="Aptos"/>
              <a:ea typeface="Calibri"/>
              <a:cs typeface="Calibri"/>
            </a:endParaRPr>
          </a:p>
        </p:txBody>
      </p:sp>
      <p:pic>
        <p:nvPicPr>
          <p:cNvPr id="2" name="Картина 1" descr="Картина, която съдържа текст, екранна снимка, софтуер, Уеб страница&#10;&#10;Генерирано от ИИ съдържание може да е неправилно.">
            <a:extLst>
              <a:ext uri="{FF2B5EF4-FFF2-40B4-BE49-F238E27FC236}">
                <a16:creationId xmlns:a16="http://schemas.microsoft.com/office/drawing/2014/main" id="{83EFF932-7EDF-21BF-C969-D9F6EB1701E4}"/>
              </a:ext>
            </a:extLst>
          </p:cNvPr>
          <p:cNvPicPr>
            <a:picLocks noChangeAspect="1"/>
          </p:cNvPicPr>
          <p:nvPr/>
        </p:nvPicPr>
        <p:blipFill>
          <a:blip r:embed="rId2"/>
          <a:stretch>
            <a:fillRect/>
          </a:stretch>
        </p:blipFill>
        <p:spPr>
          <a:xfrm>
            <a:off x="1574800" y="794695"/>
            <a:ext cx="10434320" cy="5868049"/>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
        <p:nvSpPr>
          <p:cNvPr id="4" name="Балонче за говор: правоъгълник със заоблени ъгли 10">
            <a:extLst>
              <a:ext uri="{FF2B5EF4-FFF2-40B4-BE49-F238E27FC236}">
                <a16:creationId xmlns:a16="http://schemas.microsoft.com/office/drawing/2014/main" id="{BE615686-43AE-1750-7520-75568D8F0919}"/>
              </a:ext>
            </a:extLst>
          </p:cNvPr>
          <p:cNvSpPr/>
          <p:nvPr/>
        </p:nvSpPr>
        <p:spPr>
          <a:xfrm>
            <a:off x="2185301" y="1172309"/>
            <a:ext cx="9467325" cy="4696188"/>
          </a:xfrm>
          <a:prstGeom prst="roundRect">
            <a:avLst>
              <a:gd name="adj" fmla="val 3452"/>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bg-BG" sz="1400"/>
          </a:p>
        </p:txBody>
      </p:sp>
      <p:sp>
        <p:nvSpPr>
          <p:cNvPr id="6" name="Текстово поле 15">
            <a:extLst>
              <a:ext uri="{FF2B5EF4-FFF2-40B4-BE49-F238E27FC236}">
                <a16:creationId xmlns:a16="http://schemas.microsoft.com/office/drawing/2014/main" id="{CB1B1B77-0414-A362-D89F-2290A39DF843}"/>
              </a:ext>
            </a:extLst>
          </p:cNvPr>
          <p:cNvSpPr txBox="1"/>
          <p:nvPr/>
        </p:nvSpPr>
        <p:spPr>
          <a:xfrm>
            <a:off x="2610999" y="1362409"/>
            <a:ext cx="8822165" cy="3477875"/>
          </a:xfrm>
          <a:prstGeom prst="rect">
            <a:avLst/>
          </a:prstGeom>
          <a:noFill/>
        </p:spPr>
        <p:txBody>
          <a:bodyPr wrap="square" lIns="91440" tIns="45720" rIns="91440" bIns="45720" rtlCol="0" anchor="t">
            <a:spAutoFit/>
          </a:bodyPr>
          <a:lstStyle/>
          <a:p>
            <a:r>
              <a:rPr lang="ru-RU" sz="1600" b="1" i="1">
                <a:solidFill>
                  <a:schemeClr val="bg1"/>
                </a:solidFill>
              </a:rPr>
              <a:t>Примерен персонаж за тренировка </a:t>
            </a:r>
          </a:p>
          <a:p>
            <a:r>
              <a:rPr lang="ru-RU" sz="1200">
                <a:solidFill>
                  <a:schemeClr val="bg1"/>
                </a:solidFill>
              </a:rPr>
              <a:t>Тип контакт: </a:t>
            </a:r>
            <a:r>
              <a:rPr lang="ru-RU" sz="1200" b="1">
                <a:solidFill>
                  <a:schemeClr val="bg1"/>
                </a:solidFill>
              </a:rPr>
              <a:t>регулярен / топъл</a:t>
            </a:r>
            <a:br>
              <a:rPr lang="ru-RU" sz="1200"/>
            </a:br>
            <a:r>
              <a:rPr lang="ru-RU" sz="1200">
                <a:solidFill>
                  <a:schemeClr val="bg1"/>
                </a:solidFill>
              </a:rPr>
              <a:t>Персонаж: </a:t>
            </a:r>
            <a:r>
              <a:rPr lang="ru-RU" sz="1200" b="1">
                <a:solidFill>
                  <a:schemeClr val="bg1"/>
                </a:solidFill>
              </a:rPr>
              <a:t>Георги Петров</a:t>
            </a:r>
            <a:br>
              <a:rPr lang="ru-RU" sz="1200"/>
            </a:br>
            <a:r>
              <a:rPr lang="ru-RU" sz="1200">
                <a:solidFill>
                  <a:schemeClr val="bg1"/>
                </a:solidFill>
              </a:rPr>
              <a:t>Профил: </a:t>
            </a:r>
            <a:r>
              <a:rPr lang="ru-RU" sz="1200" b="1">
                <a:solidFill>
                  <a:schemeClr val="bg1"/>
                </a:solidFill>
              </a:rPr>
              <a:t>лоялен клиент, 38 г.</a:t>
            </a:r>
            <a:br>
              <a:rPr lang="ru-RU" sz="1200"/>
            </a:br>
            <a:r>
              <a:rPr lang="ru-RU" sz="1200" b="1">
                <a:solidFill>
                  <a:schemeClr val="bg1"/>
                </a:solidFill>
              </a:rPr>
              <a:t>Контекст: </a:t>
            </a:r>
            <a:r>
              <a:rPr lang="ru-RU" sz="1200">
                <a:solidFill>
                  <a:schemeClr val="bg1"/>
                </a:solidFill>
              </a:rPr>
              <a:t>клиентът е от години с компанията, има доверие, но не обича излишни разговори.</a:t>
            </a:r>
            <a:br>
              <a:rPr lang="ru-RU" sz="1200"/>
            </a:br>
            <a:r>
              <a:rPr lang="ru-RU" sz="1200" b="1">
                <a:solidFill>
                  <a:schemeClr val="bg1"/>
                </a:solidFill>
              </a:rPr>
              <a:t>Цел: </a:t>
            </a:r>
            <a:r>
              <a:rPr lang="ru-RU" sz="1200">
                <a:solidFill>
                  <a:schemeClr val="bg1"/>
                </a:solidFill>
              </a:rPr>
              <a:t>да се използва изграденото доверие и клиентът да се насочи към следваща възможност.</a:t>
            </a:r>
            <a:br>
              <a:rPr lang="ru-RU" sz="1200"/>
            </a:br>
            <a:r>
              <a:rPr lang="ru-RU" sz="1200" b="1">
                <a:solidFill>
                  <a:schemeClr val="bg1"/>
                </a:solidFill>
              </a:rPr>
              <a:t>Логика на разговора: </a:t>
            </a:r>
            <a:r>
              <a:rPr lang="ru-RU" sz="1200">
                <a:solidFill>
                  <a:schemeClr val="bg1"/>
                </a:solidFill>
              </a:rPr>
              <a:t>започва се с приятелски, но професионален тон; подчертава се, че клиентът е ценен и познат; дава се ясен повод за обаждането; представя се конкретна възможност или надграждане; насочва се към следваща стъпка.</a:t>
            </a:r>
            <a:br>
              <a:rPr lang="ru-RU" sz="1200"/>
            </a:br>
            <a:r>
              <a:rPr lang="ru-RU" sz="1200" b="1">
                <a:solidFill>
                  <a:schemeClr val="bg1"/>
                </a:solidFill>
              </a:rPr>
              <a:t>Примерни реплики: </a:t>
            </a:r>
            <a:r>
              <a:rPr lang="ru-RU" sz="1200">
                <a:solidFill>
                  <a:schemeClr val="bg1"/>
                </a:solidFill>
              </a:rPr>
              <a:t>„Обаждам се с конкретен повод, свързан с това, че сте наш лоялен клиент.“ / „Искам да Ви предложа вариант, който е по-изгоден от това, което ползвате до момента.“ / „Нека уточним кога ще Ви е удобно да поговорим по-подробно.“</a:t>
            </a:r>
            <a:br>
              <a:rPr lang="ru-RU" sz="1200"/>
            </a:br>
            <a:r>
              <a:rPr lang="ru-RU" sz="1200" b="1">
                <a:solidFill>
                  <a:schemeClr val="bg1"/>
                </a:solidFill>
              </a:rPr>
              <a:t>Възможни възражения: </a:t>
            </a:r>
            <a:r>
              <a:rPr lang="ru-RU" sz="1200">
                <a:solidFill>
                  <a:schemeClr val="bg1"/>
                </a:solidFill>
              </a:rPr>
              <a:t>„Нямам време.“, „Не ми трябва нищо в момента.“, „Ще си помисля.“</a:t>
            </a:r>
            <a:br>
              <a:rPr lang="ru-RU" sz="1200"/>
            </a:br>
            <a:r>
              <a:rPr lang="ru-RU" sz="1200" b="1">
                <a:solidFill>
                  <a:schemeClr val="bg1"/>
                </a:solidFill>
              </a:rPr>
              <a:t>Подходящи техники: огледална; тирбушон; относителна</a:t>
            </a:r>
            <a:br>
              <a:rPr lang="ru-RU" sz="1200"/>
            </a:br>
            <a:r>
              <a:rPr lang="ru-RU" sz="1200" b="1">
                <a:solidFill>
                  <a:schemeClr val="bg1"/>
                </a:solidFill>
              </a:rPr>
              <a:t>Следваща стъпка / финализиране: </a:t>
            </a:r>
            <a:r>
              <a:rPr lang="ru-RU" sz="1200">
                <a:solidFill>
                  <a:schemeClr val="bg1"/>
                </a:solidFill>
              </a:rPr>
              <a:t>лична среща, нов разговор или изпращане на информация; при интерес процесът не завършва задължително с посещение на адрес — възможно е оформяне в офис или на друго удобно за клиента място чрез мобилното приложение на кредитния консултант.</a:t>
            </a:r>
            <a:br>
              <a:rPr lang="ru-RU" sz="1200"/>
            </a:br>
            <a:r>
              <a:rPr lang="ru-RU" sz="1200" b="1">
                <a:solidFill>
                  <a:schemeClr val="bg1"/>
                </a:solidFill>
              </a:rPr>
              <a:t>Какво да не правиш: </a:t>
            </a:r>
            <a:r>
              <a:rPr lang="ru-RU" sz="1200">
                <a:solidFill>
                  <a:schemeClr val="bg1"/>
                </a:solidFill>
              </a:rPr>
              <a:t>да звучиш прекалено фамилиарно; да говориш твърде дълго в началото; да натискаш клиента да реши веднага.</a:t>
            </a:r>
            <a:endParaRPr lang="bg-BG" sz="1200">
              <a:solidFill>
                <a:schemeClr val="bg1"/>
              </a:solidFill>
            </a:endParaRPr>
          </a:p>
        </p:txBody>
      </p:sp>
      <p:sp>
        <p:nvSpPr>
          <p:cNvPr id="8" name="Правоъгълник: със заоблени ъгли 16">
            <a:extLst>
              <a:ext uri="{FF2B5EF4-FFF2-40B4-BE49-F238E27FC236}">
                <a16:creationId xmlns:a16="http://schemas.microsoft.com/office/drawing/2014/main" id="{4B128AE2-C5D0-A8A0-8B1B-87AF3B88AED4}"/>
              </a:ext>
            </a:extLst>
          </p:cNvPr>
          <p:cNvSpPr/>
          <p:nvPr/>
        </p:nvSpPr>
        <p:spPr>
          <a:xfrm>
            <a:off x="4640510" y="5149937"/>
            <a:ext cx="4305776" cy="432828"/>
          </a:xfrm>
          <a:prstGeom prst="roundRect">
            <a:avLst>
              <a:gd name="adj" fmla="val 50000"/>
            </a:avLst>
          </a:prstGeom>
          <a:solidFill>
            <a:schemeClr val="bg1"/>
          </a:solidFill>
          <a:ln>
            <a:noFill/>
          </a:ln>
          <a:effectLst>
            <a:outerShdw blurRad="50800" dist="38100" dir="5400000" algn="t" rotWithShape="0">
              <a:prstClr val="black">
                <a:alpha val="40000"/>
              </a:prstClr>
            </a:outerShdw>
          </a:effectLst>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bg-BG" b="1">
                <a:solidFill>
                  <a:srgbClr val="002060"/>
                </a:solidFill>
              </a:rPr>
              <a:t>Тренирай</a:t>
            </a:r>
          </a:p>
        </p:txBody>
      </p:sp>
    </p:spTree>
    <p:extLst>
      <p:ext uri="{BB962C8B-B14F-4D97-AF65-F5344CB8AC3E}">
        <p14:creationId xmlns:p14="http://schemas.microsoft.com/office/powerpoint/2010/main" val="1899477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05F356-8E76-8908-93FE-6B287A862BEA}"/>
            </a:ext>
          </a:extLst>
        </p:cNvPr>
        <p:cNvGrpSpPr/>
        <p:nvPr/>
      </p:nvGrpSpPr>
      <p:grpSpPr>
        <a:xfrm>
          <a:off x="0" y="0"/>
          <a:ext cx="0" cy="0"/>
          <a:chOff x="0" y="0"/>
          <a:chExt cx="0" cy="0"/>
        </a:xfrm>
      </p:grpSpPr>
      <p:sp>
        <p:nvSpPr>
          <p:cNvPr id="25" name="Rectangle 28">
            <a:extLst>
              <a:ext uri="{FF2B5EF4-FFF2-40B4-BE49-F238E27FC236}">
                <a16:creationId xmlns:a16="http://schemas.microsoft.com/office/drawing/2014/main" id="{ABBBC1A2-8FD8-9212-1B3A-F4B7394C1ECC}"/>
              </a:ext>
            </a:extLst>
          </p:cNvPr>
          <p:cNvSpPr/>
          <p:nvPr/>
        </p:nvSpPr>
        <p:spPr>
          <a:xfrm>
            <a:off x="-15824" y="1599"/>
            <a:ext cx="1465320" cy="6859628"/>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400">
              <a:latin typeface="Aptos"/>
              <a:ea typeface="Calibri"/>
              <a:cs typeface="Calibri"/>
            </a:endParaRPr>
          </a:p>
        </p:txBody>
      </p:sp>
      <p:sp>
        <p:nvSpPr>
          <p:cNvPr id="26" name="Rectangle 29">
            <a:extLst>
              <a:ext uri="{FF2B5EF4-FFF2-40B4-BE49-F238E27FC236}">
                <a16:creationId xmlns:a16="http://schemas.microsoft.com/office/drawing/2014/main" id="{FDEEB826-C3D2-6BBB-6DE1-75BE04DADD6B}"/>
              </a:ext>
            </a:extLst>
          </p:cNvPr>
          <p:cNvSpPr/>
          <p:nvPr/>
        </p:nvSpPr>
        <p:spPr>
          <a:xfrm>
            <a:off x="-1671" y="2528038"/>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Типове клиенти</a:t>
            </a:r>
            <a:endParaRPr lang="en-GB" sz="1400">
              <a:latin typeface="Aptos"/>
              <a:ea typeface="Calibri"/>
              <a:cs typeface="Calibri"/>
            </a:endParaRPr>
          </a:p>
        </p:txBody>
      </p:sp>
      <p:sp>
        <p:nvSpPr>
          <p:cNvPr id="27" name="Rectangle 30">
            <a:extLst>
              <a:ext uri="{FF2B5EF4-FFF2-40B4-BE49-F238E27FC236}">
                <a16:creationId xmlns:a16="http://schemas.microsoft.com/office/drawing/2014/main" id="{D06FA995-0FE2-7D79-A6B3-58B8CCA513D3}"/>
              </a:ext>
            </a:extLst>
          </p:cNvPr>
          <p:cNvSpPr/>
          <p:nvPr/>
        </p:nvSpPr>
        <p:spPr>
          <a:xfrm>
            <a:off x="8626" y="1913210"/>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002060"/>
                </a:solidFill>
                <a:latin typeface="Aptos"/>
                <a:ea typeface="Calibri"/>
                <a:cs typeface="Calibri"/>
              </a:rPr>
              <a:t>Сценарии</a:t>
            </a:r>
            <a:endParaRPr lang="en-GB" sz="1400">
              <a:solidFill>
                <a:srgbClr val="002060"/>
              </a:solidFill>
              <a:latin typeface="Aptos"/>
              <a:ea typeface="Calibri"/>
              <a:cs typeface="Calibri"/>
            </a:endParaRPr>
          </a:p>
        </p:txBody>
      </p:sp>
      <p:sp>
        <p:nvSpPr>
          <p:cNvPr id="28" name="Rectangle 31">
            <a:extLst>
              <a:ext uri="{FF2B5EF4-FFF2-40B4-BE49-F238E27FC236}">
                <a16:creationId xmlns:a16="http://schemas.microsoft.com/office/drawing/2014/main" id="{9441A246-81C5-79EE-B6D3-B2A9074D1432}"/>
              </a:ext>
            </a:extLst>
          </p:cNvPr>
          <p:cNvSpPr/>
          <p:nvPr/>
        </p:nvSpPr>
        <p:spPr>
          <a:xfrm>
            <a:off x="-1671" y="1298382"/>
            <a:ext cx="1442908" cy="4485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chemeClr val="bg1"/>
                </a:solidFill>
                <a:latin typeface="Aptos"/>
                <a:ea typeface="Calibri"/>
                <a:cs typeface="Calibri"/>
              </a:rPr>
              <a:t>Стъпки в обаждането</a:t>
            </a:r>
            <a:endParaRPr lang="en-GB" sz="1400">
              <a:solidFill>
                <a:schemeClr val="bg1"/>
              </a:solidFill>
              <a:latin typeface="Aptos"/>
              <a:ea typeface="Calibri"/>
              <a:cs typeface="Calibri"/>
            </a:endParaRPr>
          </a:p>
        </p:txBody>
      </p:sp>
      <p:sp>
        <p:nvSpPr>
          <p:cNvPr id="29" name="Rectangle 3">
            <a:extLst>
              <a:ext uri="{FF2B5EF4-FFF2-40B4-BE49-F238E27FC236}">
                <a16:creationId xmlns:a16="http://schemas.microsoft.com/office/drawing/2014/main" id="{D231A18D-35B4-F7D7-A06E-EB28017C1F95}"/>
              </a:ext>
            </a:extLst>
          </p:cNvPr>
          <p:cNvSpPr/>
          <p:nvPr/>
        </p:nvSpPr>
        <p:spPr>
          <a:xfrm>
            <a:off x="1443475" y="4245"/>
            <a:ext cx="5338363" cy="67724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30" name="Rectangle 4">
            <a:extLst>
              <a:ext uri="{FF2B5EF4-FFF2-40B4-BE49-F238E27FC236}">
                <a16:creationId xmlns:a16="http://schemas.microsoft.com/office/drawing/2014/main" id="{8124039C-B504-8E9C-30F1-1F60C169DF58}"/>
              </a:ext>
            </a:extLst>
          </p:cNvPr>
          <p:cNvSpPr/>
          <p:nvPr/>
        </p:nvSpPr>
        <p:spPr>
          <a:xfrm>
            <a:off x="6788435" y="4245"/>
            <a:ext cx="5417300" cy="677242"/>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31" name="Rectangle 28">
            <a:extLst>
              <a:ext uri="{FF2B5EF4-FFF2-40B4-BE49-F238E27FC236}">
                <a16:creationId xmlns:a16="http://schemas.microsoft.com/office/drawing/2014/main" id="{1455C87A-3A45-942D-DB57-CF03745C6A11}"/>
              </a:ext>
            </a:extLst>
          </p:cNvPr>
          <p:cNvSpPr/>
          <p:nvPr/>
        </p:nvSpPr>
        <p:spPr>
          <a:xfrm>
            <a:off x="-15827" y="690328"/>
            <a:ext cx="1465322"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FFFFFF"/>
                </a:solidFill>
                <a:latin typeface="Aptos"/>
                <a:ea typeface="Calibri"/>
                <a:cs typeface="Calibri"/>
              </a:rPr>
              <a:t>Подготовка</a:t>
            </a:r>
            <a:endParaRPr lang="en-GB" sz="1400">
              <a:solidFill>
                <a:srgbClr val="FFFFFF"/>
              </a:solidFill>
              <a:latin typeface="Aptos"/>
              <a:ea typeface="Calibri"/>
              <a:cs typeface="Calibri"/>
            </a:endParaRPr>
          </a:p>
        </p:txBody>
      </p:sp>
      <p:pic>
        <p:nvPicPr>
          <p:cNvPr id="2" name="Картина 1" descr="Картина, която съдържа текст, екранна снимка, софтуер, Уеб страница&#10;&#10;Генерирано от ИИ съдържание може да е неправилно.">
            <a:extLst>
              <a:ext uri="{FF2B5EF4-FFF2-40B4-BE49-F238E27FC236}">
                <a16:creationId xmlns:a16="http://schemas.microsoft.com/office/drawing/2014/main" id="{F57D41C1-4627-36C8-F23F-607FF847EEF3}"/>
              </a:ext>
            </a:extLst>
          </p:cNvPr>
          <p:cNvPicPr>
            <a:picLocks noChangeAspect="1"/>
          </p:cNvPicPr>
          <p:nvPr/>
        </p:nvPicPr>
        <p:blipFill>
          <a:blip r:embed="rId2"/>
          <a:stretch>
            <a:fillRect/>
          </a:stretch>
        </p:blipFill>
        <p:spPr>
          <a:xfrm>
            <a:off x="1574800" y="794695"/>
            <a:ext cx="10434320" cy="5868049"/>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Tree>
    <p:extLst>
      <p:ext uri="{BB962C8B-B14F-4D97-AF65-F5344CB8AC3E}">
        <p14:creationId xmlns:p14="http://schemas.microsoft.com/office/powerpoint/2010/main" val="37344130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9DDCC8-F0F1-AA2D-7856-C9822B9DA33B}"/>
            </a:ext>
          </a:extLst>
        </p:cNvPr>
        <p:cNvGrpSpPr/>
        <p:nvPr/>
      </p:nvGrpSpPr>
      <p:grpSpPr>
        <a:xfrm>
          <a:off x="0" y="0"/>
          <a:ext cx="0" cy="0"/>
          <a:chOff x="0" y="0"/>
          <a:chExt cx="0" cy="0"/>
        </a:xfrm>
      </p:grpSpPr>
      <p:sp>
        <p:nvSpPr>
          <p:cNvPr id="25" name="Rectangle 28">
            <a:extLst>
              <a:ext uri="{FF2B5EF4-FFF2-40B4-BE49-F238E27FC236}">
                <a16:creationId xmlns:a16="http://schemas.microsoft.com/office/drawing/2014/main" id="{709D166C-289F-72FC-1306-3D9F13CC8236}"/>
              </a:ext>
            </a:extLst>
          </p:cNvPr>
          <p:cNvSpPr/>
          <p:nvPr/>
        </p:nvSpPr>
        <p:spPr>
          <a:xfrm>
            <a:off x="-15824" y="1599"/>
            <a:ext cx="1465320" cy="6859628"/>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400">
              <a:latin typeface="Aptos"/>
              <a:ea typeface="Calibri"/>
              <a:cs typeface="Calibri"/>
            </a:endParaRPr>
          </a:p>
        </p:txBody>
      </p:sp>
      <p:sp>
        <p:nvSpPr>
          <p:cNvPr id="26" name="Rectangle 29">
            <a:extLst>
              <a:ext uri="{FF2B5EF4-FFF2-40B4-BE49-F238E27FC236}">
                <a16:creationId xmlns:a16="http://schemas.microsoft.com/office/drawing/2014/main" id="{CBE4443A-18C5-6F0D-6F17-81C20B566765}"/>
              </a:ext>
            </a:extLst>
          </p:cNvPr>
          <p:cNvSpPr/>
          <p:nvPr/>
        </p:nvSpPr>
        <p:spPr>
          <a:xfrm>
            <a:off x="-1671" y="2528038"/>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Типове клиенти</a:t>
            </a:r>
            <a:endParaRPr lang="en-GB" sz="1400">
              <a:latin typeface="Aptos"/>
              <a:ea typeface="Calibri"/>
              <a:cs typeface="Calibri"/>
            </a:endParaRPr>
          </a:p>
        </p:txBody>
      </p:sp>
      <p:sp>
        <p:nvSpPr>
          <p:cNvPr id="27" name="Rectangle 30">
            <a:extLst>
              <a:ext uri="{FF2B5EF4-FFF2-40B4-BE49-F238E27FC236}">
                <a16:creationId xmlns:a16="http://schemas.microsoft.com/office/drawing/2014/main" id="{75DD7624-80A0-C5AB-28BF-D161DA51CA23}"/>
              </a:ext>
            </a:extLst>
          </p:cNvPr>
          <p:cNvSpPr/>
          <p:nvPr/>
        </p:nvSpPr>
        <p:spPr>
          <a:xfrm>
            <a:off x="8626" y="1913210"/>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002060"/>
                </a:solidFill>
                <a:latin typeface="Aptos"/>
                <a:ea typeface="Calibri"/>
                <a:cs typeface="Calibri"/>
              </a:rPr>
              <a:t>Сценарии</a:t>
            </a:r>
            <a:endParaRPr lang="en-GB" sz="1400">
              <a:solidFill>
                <a:srgbClr val="002060"/>
              </a:solidFill>
              <a:latin typeface="Aptos"/>
              <a:ea typeface="Calibri"/>
              <a:cs typeface="Calibri"/>
            </a:endParaRPr>
          </a:p>
        </p:txBody>
      </p:sp>
      <p:sp>
        <p:nvSpPr>
          <p:cNvPr id="28" name="Rectangle 31">
            <a:extLst>
              <a:ext uri="{FF2B5EF4-FFF2-40B4-BE49-F238E27FC236}">
                <a16:creationId xmlns:a16="http://schemas.microsoft.com/office/drawing/2014/main" id="{1CCA0B93-92BC-3D92-D328-EB8004CE27E8}"/>
              </a:ext>
            </a:extLst>
          </p:cNvPr>
          <p:cNvSpPr/>
          <p:nvPr/>
        </p:nvSpPr>
        <p:spPr>
          <a:xfrm>
            <a:off x="-1671" y="1298382"/>
            <a:ext cx="1442908" cy="4485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chemeClr val="bg1"/>
                </a:solidFill>
                <a:latin typeface="Aptos"/>
                <a:ea typeface="Calibri"/>
                <a:cs typeface="Calibri"/>
              </a:rPr>
              <a:t>Стъпки в обаждането</a:t>
            </a:r>
            <a:endParaRPr lang="en-GB" sz="1400">
              <a:solidFill>
                <a:schemeClr val="bg1"/>
              </a:solidFill>
              <a:latin typeface="Aptos"/>
              <a:ea typeface="Calibri"/>
              <a:cs typeface="Calibri"/>
            </a:endParaRPr>
          </a:p>
        </p:txBody>
      </p:sp>
      <p:sp>
        <p:nvSpPr>
          <p:cNvPr id="29" name="Rectangle 3">
            <a:extLst>
              <a:ext uri="{FF2B5EF4-FFF2-40B4-BE49-F238E27FC236}">
                <a16:creationId xmlns:a16="http://schemas.microsoft.com/office/drawing/2014/main" id="{CFB2D27A-BAC0-F730-D24D-92EB1AB58C66}"/>
              </a:ext>
            </a:extLst>
          </p:cNvPr>
          <p:cNvSpPr/>
          <p:nvPr/>
        </p:nvSpPr>
        <p:spPr>
          <a:xfrm>
            <a:off x="1443475" y="4245"/>
            <a:ext cx="5338363" cy="67724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30" name="Rectangle 4">
            <a:extLst>
              <a:ext uri="{FF2B5EF4-FFF2-40B4-BE49-F238E27FC236}">
                <a16:creationId xmlns:a16="http://schemas.microsoft.com/office/drawing/2014/main" id="{DDE721C0-0B74-F63B-B4A3-154E32C03697}"/>
              </a:ext>
            </a:extLst>
          </p:cNvPr>
          <p:cNvSpPr/>
          <p:nvPr/>
        </p:nvSpPr>
        <p:spPr>
          <a:xfrm>
            <a:off x="6788435" y="4245"/>
            <a:ext cx="5417300" cy="677242"/>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31" name="Rectangle 28">
            <a:extLst>
              <a:ext uri="{FF2B5EF4-FFF2-40B4-BE49-F238E27FC236}">
                <a16:creationId xmlns:a16="http://schemas.microsoft.com/office/drawing/2014/main" id="{22926703-2CF2-4DD1-8CA2-891624E8E45C}"/>
              </a:ext>
            </a:extLst>
          </p:cNvPr>
          <p:cNvSpPr/>
          <p:nvPr/>
        </p:nvSpPr>
        <p:spPr>
          <a:xfrm>
            <a:off x="-15827" y="690328"/>
            <a:ext cx="1465322"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FFFFFF"/>
                </a:solidFill>
                <a:latin typeface="Aptos"/>
                <a:ea typeface="Calibri"/>
                <a:cs typeface="Calibri"/>
              </a:rPr>
              <a:t>Подготовка</a:t>
            </a:r>
            <a:endParaRPr lang="en-GB" sz="1400">
              <a:solidFill>
                <a:srgbClr val="FFFFFF"/>
              </a:solidFill>
              <a:latin typeface="Aptos"/>
              <a:ea typeface="Calibri"/>
              <a:cs typeface="Calibri"/>
            </a:endParaRPr>
          </a:p>
        </p:txBody>
      </p:sp>
      <p:pic>
        <p:nvPicPr>
          <p:cNvPr id="3" name="Картина 2" descr="Картина, която съдържа текст, екранна снимка, Шрифт, Уеб страница&#10;&#10;Генерирано от ИИ съдържание може да е неправилно.">
            <a:extLst>
              <a:ext uri="{FF2B5EF4-FFF2-40B4-BE49-F238E27FC236}">
                <a16:creationId xmlns:a16="http://schemas.microsoft.com/office/drawing/2014/main" id="{2A25D559-C0C7-5662-C8FC-E3B54F70BC71}"/>
              </a:ext>
            </a:extLst>
          </p:cNvPr>
          <p:cNvPicPr>
            <a:picLocks noChangeAspect="1"/>
          </p:cNvPicPr>
          <p:nvPr/>
        </p:nvPicPr>
        <p:blipFill>
          <a:blip r:embed="rId2"/>
          <a:stretch>
            <a:fillRect/>
          </a:stretch>
        </p:blipFill>
        <p:spPr>
          <a:xfrm>
            <a:off x="1564640" y="807110"/>
            <a:ext cx="10525760" cy="5904180"/>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Tree>
    <p:extLst>
      <p:ext uri="{BB962C8B-B14F-4D97-AF65-F5344CB8AC3E}">
        <p14:creationId xmlns:p14="http://schemas.microsoft.com/office/powerpoint/2010/main" val="22155247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Правоъгълник: със заоблени ъгли 27">
            <a:extLst>
              <a:ext uri="{FF2B5EF4-FFF2-40B4-BE49-F238E27FC236}">
                <a16:creationId xmlns:a16="http://schemas.microsoft.com/office/drawing/2014/main" id="{6263261A-CD60-FCF9-2809-09031F698D3A}"/>
              </a:ext>
            </a:extLst>
          </p:cNvPr>
          <p:cNvSpPr/>
          <p:nvPr/>
        </p:nvSpPr>
        <p:spPr>
          <a:xfrm>
            <a:off x="5263873" y="136295"/>
            <a:ext cx="3671794" cy="6172583"/>
          </a:xfrm>
          <a:prstGeom prst="roundRect">
            <a:avLst/>
          </a:prstGeom>
          <a:solidFill>
            <a:schemeClr val="bg1">
              <a:lumMod val="95000"/>
            </a:schemeClr>
          </a:solidFill>
          <a:ln>
            <a:noFill/>
          </a:ln>
          <a:effectLst>
            <a:outerShdw blurRad="63500" dist="38100" dir="270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29" name="Rectangle: Rounded Corners 1">
            <a:extLst>
              <a:ext uri="{FF2B5EF4-FFF2-40B4-BE49-F238E27FC236}">
                <a16:creationId xmlns:a16="http://schemas.microsoft.com/office/drawing/2014/main" id="{4907592B-9561-DCEF-1696-64DB81628D9A}"/>
              </a:ext>
            </a:extLst>
          </p:cNvPr>
          <p:cNvSpPr/>
          <p:nvPr/>
        </p:nvSpPr>
        <p:spPr>
          <a:xfrm>
            <a:off x="5425381" y="3622812"/>
            <a:ext cx="3301118" cy="460696"/>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200">
                <a:ea typeface="+mn-lt"/>
                <a:cs typeface="+mn-lt"/>
              </a:rPr>
              <a:t>Аз вече изтеглих кредит от Вас</a:t>
            </a:r>
            <a:endParaRPr lang="bg-BG" sz="1200"/>
          </a:p>
        </p:txBody>
      </p:sp>
      <p:sp>
        <p:nvSpPr>
          <p:cNvPr id="30" name="Rectangle: Rounded Corners 4">
            <a:extLst>
              <a:ext uri="{FF2B5EF4-FFF2-40B4-BE49-F238E27FC236}">
                <a16:creationId xmlns:a16="http://schemas.microsoft.com/office/drawing/2014/main" id="{90545C08-7CCB-ED2B-622F-7AA7739D9F90}"/>
              </a:ext>
            </a:extLst>
          </p:cNvPr>
          <p:cNvSpPr/>
          <p:nvPr/>
        </p:nvSpPr>
        <p:spPr>
          <a:xfrm>
            <a:off x="5424052" y="4143308"/>
            <a:ext cx="3301118" cy="433801"/>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200">
                <a:ea typeface="+mn-lt"/>
                <a:cs typeface="+mn-lt"/>
              </a:rPr>
              <a:t>Не ми трябва кредит/ Не искам кредит</a:t>
            </a:r>
            <a:endParaRPr lang="bg-BG" sz="1200"/>
          </a:p>
        </p:txBody>
      </p:sp>
      <p:sp>
        <p:nvSpPr>
          <p:cNvPr id="31" name="Rectangle: Rounded Corners 4">
            <a:extLst>
              <a:ext uri="{FF2B5EF4-FFF2-40B4-BE49-F238E27FC236}">
                <a16:creationId xmlns:a16="http://schemas.microsoft.com/office/drawing/2014/main" id="{B9FA05C3-68CA-E14C-3E7F-2E8EEA90D79B}"/>
              </a:ext>
            </a:extLst>
          </p:cNvPr>
          <p:cNvSpPr/>
          <p:nvPr/>
        </p:nvSpPr>
        <p:spPr>
          <a:xfrm>
            <a:off x="5424052" y="4636839"/>
            <a:ext cx="3301118" cy="433801"/>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200">
                <a:ea typeface="+mn-lt"/>
                <a:cs typeface="+mn-lt"/>
              </a:rPr>
              <a:t>Не е удобно</a:t>
            </a:r>
            <a:endParaRPr lang="bg-BG" sz="1200"/>
          </a:p>
        </p:txBody>
      </p:sp>
      <p:pic>
        <p:nvPicPr>
          <p:cNvPr id="33" name="Picture 10" descr="Картина, която съдържа текст, екранна снимка&#10;&#10;Генерирано от ИИ съдържание може да е неправилно.">
            <a:extLst>
              <a:ext uri="{FF2B5EF4-FFF2-40B4-BE49-F238E27FC236}">
                <a16:creationId xmlns:a16="http://schemas.microsoft.com/office/drawing/2014/main" id="{391598EE-E988-E6DB-AB8C-2C62B43D0184}"/>
              </a:ext>
            </a:extLst>
          </p:cNvPr>
          <p:cNvPicPr>
            <a:picLocks noChangeAspect="1"/>
          </p:cNvPicPr>
          <p:nvPr/>
        </p:nvPicPr>
        <p:blipFill>
          <a:blip r:embed="rId2"/>
          <a:srcRect b="88415"/>
          <a:stretch>
            <a:fillRect/>
          </a:stretch>
        </p:blipFill>
        <p:spPr>
          <a:xfrm>
            <a:off x="5232507" y="278693"/>
            <a:ext cx="3740239" cy="77148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34" name="Правоъгълник: със заоблени ъгли 33">
            <a:extLst>
              <a:ext uri="{FF2B5EF4-FFF2-40B4-BE49-F238E27FC236}">
                <a16:creationId xmlns:a16="http://schemas.microsoft.com/office/drawing/2014/main" id="{90D6BDCE-35B5-F683-C277-5F629FFC1796}"/>
              </a:ext>
            </a:extLst>
          </p:cNvPr>
          <p:cNvSpPr/>
          <p:nvPr/>
        </p:nvSpPr>
        <p:spPr>
          <a:xfrm>
            <a:off x="5376852" y="2297289"/>
            <a:ext cx="3558815" cy="363776"/>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1050" b="1" dirty="0">
                <a:solidFill>
                  <a:srgbClr val="000000"/>
                </a:solidFill>
              </a:rPr>
              <a:t>-</a:t>
            </a:r>
            <a:r>
              <a:rPr lang="en-US" sz="1050" dirty="0" err="1">
                <a:solidFill>
                  <a:srgbClr val="000000"/>
                </a:solidFill>
              </a:rPr>
              <a:t>Добър</a:t>
            </a:r>
            <a:r>
              <a:rPr lang="en-US" sz="1050" dirty="0">
                <a:solidFill>
                  <a:srgbClr val="000000"/>
                </a:solidFill>
              </a:rPr>
              <a:t> </a:t>
            </a:r>
            <a:r>
              <a:rPr lang="en-US" sz="1050" dirty="0" err="1">
                <a:solidFill>
                  <a:srgbClr val="000000"/>
                </a:solidFill>
              </a:rPr>
              <a:t>ден</a:t>
            </a:r>
            <a:r>
              <a:rPr lang="en-US" sz="1050" dirty="0">
                <a:solidFill>
                  <a:srgbClr val="000000"/>
                </a:solidFill>
              </a:rPr>
              <a:t>, </a:t>
            </a:r>
            <a:r>
              <a:rPr lang="en-US" sz="1050" dirty="0" err="1">
                <a:solidFill>
                  <a:srgbClr val="000000"/>
                </a:solidFill>
              </a:rPr>
              <a:t>търся</a:t>
            </a:r>
            <a:r>
              <a:rPr lang="en-US" sz="1050" dirty="0">
                <a:solidFill>
                  <a:srgbClr val="000000"/>
                </a:solidFill>
              </a:rPr>
              <a:t> г-н/г-</a:t>
            </a:r>
            <a:r>
              <a:rPr lang="en-US" sz="1050" dirty="0" err="1">
                <a:solidFill>
                  <a:srgbClr val="000000"/>
                </a:solidFill>
              </a:rPr>
              <a:t>жа</a:t>
            </a:r>
            <a:r>
              <a:rPr lang="en-US" sz="1050" dirty="0">
                <a:solidFill>
                  <a:srgbClr val="000000"/>
                </a:solidFill>
              </a:rPr>
              <a:t> (</a:t>
            </a:r>
            <a:r>
              <a:rPr lang="en-US" sz="1050" dirty="0" err="1">
                <a:solidFill>
                  <a:srgbClr val="000000"/>
                </a:solidFill>
              </a:rPr>
              <a:t>две</a:t>
            </a:r>
            <a:r>
              <a:rPr lang="en-US" sz="1050" dirty="0">
                <a:solidFill>
                  <a:srgbClr val="000000"/>
                </a:solidFill>
              </a:rPr>
              <a:t> </a:t>
            </a:r>
            <a:r>
              <a:rPr lang="en-US" sz="1050" dirty="0" err="1">
                <a:solidFill>
                  <a:srgbClr val="000000"/>
                </a:solidFill>
              </a:rPr>
              <a:t>имена</a:t>
            </a:r>
            <a:r>
              <a:rPr lang="en-US" sz="1050" dirty="0">
                <a:solidFill>
                  <a:srgbClr val="000000"/>
                </a:solidFill>
              </a:rPr>
              <a:t> на </a:t>
            </a:r>
            <a:r>
              <a:rPr lang="en-US" sz="1050" dirty="0" err="1">
                <a:solidFill>
                  <a:srgbClr val="000000"/>
                </a:solidFill>
              </a:rPr>
              <a:t>клиента</a:t>
            </a:r>
            <a:r>
              <a:rPr lang="en-US" sz="1050" dirty="0">
                <a:solidFill>
                  <a:srgbClr val="000000"/>
                </a:solidFill>
              </a:rPr>
              <a:t>).</a:t>
            </a:r>
            <a:br>
              <a:rPr lang="en-US" sz="1050" dirty="0"/>
            </a:br>
            <a:r>
              <a:rPr lang="en-US" sz="1050" dirty="0">
                <a:solidFill>
                  <a:srgbClr val="000000"/>
                </a:solidFill>
              </a:rPr>
              <a:t>-Да (на </a:t>
            </a:r>
            <a:r>
              <a:rPr lang="en-US" sz="1050" dirty="0" err="1">
                <a:solidFill>
                  <a:srgbClr val="000000"/>
                </a:solidFill>
              </a:rPr>
              <a:t>телефона</a:t>
            </a:r>
            <a:r>
              <a:rPr lang="en-US" sz="1050" dirty="0">
                <a:solidFill>
                  <a:srgbClr val="000000"/>
                </a:solidFill>
              </a:rPr>
              <a:t>, </a:t>
            </a:r>
            <a:r>
              <a:rPr lang="en-US" sz="1050" dirty="0" err="1">
                <a:solidFill>
                  <a:srgbClr val="000000"/>
                </a:solidFill>
              </a:rPr>
              <a:t>аз</a:t>
            </a:r>
            <a:r>
              <a:rPr lang="en-US" sz="1050" dirty="0">
                <a:solidFill>
                  <a:srgbClr val="000000"/>
                </a:solidFill>
              </a:rPr>
              <a:t> </a:t>
            </a:r>
            <a:r>
              <a:rPr lang="en-US" sz="1050" dirty="0" err="1">
                <a:solidFill>
                  <a:srgbClr val="000000"/>
                </a:solidFill>
              </a:rPr>
              <a:t>съм</a:t>
            </a:r>
            <a:r>
              <a:rPr lang="en-US" sz="1050" dirty="0">
                <a:solidFill>
                  <a:srgbClr val="000000"/>
                </a:solidFill>
              </a:rPr>
              <a:t>).</a:t>
            </a:r>
          </a:p>
          <a:p>
            <a:r>
              <a:rPr lang="en-US" sz="1050" b="1" dirty="0">
                <a:solidFill>
                  <a:schemeClr val="tx1"/>
                </a:solidFill>
              </a:rPr>
              <a:t>-</a:t>
            </a:r>
            <a:r>
              <a:rPr lang="en-US" sz="1050" dirty="0" err="1">
                <a:solidFill>
                  <a:schemeClr val="tx1"/>
                </a:solidFill>
              </a:rPr>
              <a:t>Здравейте</a:t>
            </a:r>
            <a:r>
              <a:rPr lang="en-US" sz="1050" dirty="0">
                <a:solidFill>
                  <a:schemeClr val="tx1"/>
                </a:solidFill>
              </a:rPr>
              <a:t> г-н/г-</a:t>
            </a:r>
            <a:r>
              <a:rPr lang="en-US" sz="1050" dirty="0" err="1">
                <a:solidFill>
                  <a:schemeClr val="tx1"/>
                </a:solidFill>
              </a:rPr>
              <a:t>жо</a:t>
            </a:r>
            <a:r>
              <a:rPr lang="en-US" sz="1050" dirty="0">
                <a:solidFill>
                  <a:schemeClr val="tx1"/>
                </a:solidFill>
              </a:rPr>
              <a:t> (</a:t>
            </a:r>
            <a:r>
              <a:rPr lang="en-US" sz="1050" dirty="0" err="1">
                <a:solidFill>
                  <a:schemeClr val="tx1"/>
                </a:solidFill>
              </a:rPr>
              <a:t>фамилия</a:t>
            </a:r>
            <a:r>
              <a:rPr lang="en-US" sz="1050" dirty="0">
                <a:solidFill>
                  <a:schemeClr val="tx1"/>
                </a:solidFill>
              </a:rPr>
              <a:t> на </a:t>
            </a:r>
            <a:r>
              <a:rPr lang="en-US" sz="1050" dirty="0" err="1">
                <a:solidFill>
                  <a:schemeClr val="tx1"/>
                </a:solidFill>
              </a:rPr>
              <a:t>клиента</a:t>
            </a:r>
            <a:r>
              <a:rPr lang="en-US" sz="1050" dirty="0">
                <a:solidFill>
                  <a:schemeClr val="tx1"/>
                </a:solidFill>
              </a:rPr>
              <a:t>), </a:t>
            </a:r>
            <a:r>
              <a:rPr lang="en-US" sz="1050" dirty="0" err="1">
                <a:solidFill>
                  <a:schemeClr val="tx1"/>
                </a:solidFill>
              </a:rPr>
              <a:t>обаждам</a:t>
            </a:r>
            <a:r>
              <a:rPr lang="en-US" sz="1050" dirty="0">
                <a:solidFill>
                  <a:schemeClr val="tx1"/>
                </a:solidFill>
              </a:rPr>
              <a:t> се от </a:t>
            </a:r>
            <a:r>
              <a:rPr lang="en-US" sz="1050" dirty="0" err="1">
                <a:solidFill>
                  <a:schemeClr val="tx1"/>
                </a:solidFill>
              </a:rPr>
              <a:t>Изи</a:t>
            </a:r>
            <a:r>
              <a:rPr lang="en-US" sz="1050" dirty="0">
                <a:solidFill>
                  <a:schemeClr val="tx1"/>
                </a:solidFill>
              </a:rPr>
              <a:t> </a:t>
            </a:r>
            <a:r>
              <a:rPr lang="en-US" sz="1050" dirty="0" err="1">
                <a:solidFill>
                  <a:schemeClr val="tx1"/>
                </a:solidFill>
              </a:rPr>
              <a:t>Кредит</a:t>
            </a:r>
            <a:r>
              <a:rPr lang="bg-BG" sz="1050" dirty="0">
                <a:solidFill>
                  <a:schemeClr val="tx1"/>
                </a:solidFill>
              </a:rPr>
              <a:t> </a:t>
            </a:r>
            <a:r>
              <a:rPr lang="en-US" sz="1050" dirty="0" err="1">
                <a:solidFill>
                  <a:schemeClr val="tx1"/>
                </a:solidFill>
              </a:rPr>
              <a:t>във</a:t>
            </a:r>
            <a:r>
              <a:rPr lang="en-US" sz="1050" dirty="0">
                <a:solidFill>
                  <a:schemeClr val="tx1"/>
                </a:solidFill>
              </a:rPr>
              <a:t> </a:t>
            </a:r>
            <a:r>
              <a:rPr lang="en-US" sz="1050" dirty="0" err="1">
                <a:solidFill>
                  <a:schemeClr val="tx1"/>
                </a:solidFill>
              </a:rPr>
              <a:t>връзка</a:t>
            </a:r>
            <a:r>
              <a:rPr lang="en-US" sz="1050" dirty="0">
                <a:solidFill>
                  <a:schemeClr val="tx1"/>
                </a:solidFill>
              </a:rPr>
              <a:t> с </a:t>
            </a:r>
            <a:r>
              <a:rPr lang="en-US" sz="1050" dirty="0" err="1">
                <a:solidFill>
                  <a:schemeClr val="tx1"/>
                </a:solidFill>
              </a:rPr>
              <a:t>изготвено</a:t>
            </a:r>
            <a:r>
              <a:rPr lang="en-US" sz="1050" dirty="0">
                <a:solidFill>
                  <a:schemeClr val="tx1"/>
                </a:solidFill>
              </a:rPr>
              <a:t> </a:t>
            </a:r>
            <a:r>
              <a:rPr lang="en-US" sz="1050" dirty="0" err="1">
                <a:solidFill>
                  <a:schemeClr val="tx1"/>
                </a:solidFill>
              </a:rPr>
              <a:t>предложение</a:t>
            </a:r>
            <a:r>
              <a:rPr lang="en-US" sz="1050" dirty="0">
                <a:solidFill>
                  <a:schemeClr val="tx1"/>
                </a:solidFill>
              </a:rPr>
              <a:t>, </a:t>
            </a:r>
            <a:r>
              <a:rPr lang="en-US" sz="1050" dirty="0" err="1">
                <a:solidFill>
                  <a:schemeClr val="tx1"/>
                </a:solidFill>
              </a:rPr>
              <a:t>специално</a:t>
            </a:r>
            <a:r>
              <a:rPr lang="en-US" sz="1050" dirty="0">
                <a:solidFill>
                  <a:schemeClr val="tx1"/>
                </a:solidFill>
              </a:rPr>
              <a:t> за </a:t>
            </a:r>
            <a:r>
              <a:rPr lang="en-US" sz="1050" dirty="0" err="1">
                <a:solidFill>
                  <a:schemeClr val="tx1"/>
                </a:solidFill>
              </a:rPr>
              <a:t>Вас</a:t>
            </a:r>
            <a:r>
              <a:rPr lang="en-US" sz="1050" dirty="0">
                <a:solidFill>
                  <a:schemeClr val="tx1"/>
                </a:solidFill>
              </a:rPr>
              <a:t>. </a:t>
            </a:r>
            <a:r>
              <a:rPr lang="en-US" sz="1050" dirty="0" err="1">
                <a:solidFill>
                  <a:schemeClr val="tx1"/>
                </a:solidFill>
              </a:rPr>
              <a:t>Удобно</a:t>
            </a:r>
            <a:r>
              <a:rPr lang="en-US" sz="1050" dirty="0">
                <a:solidFill>
                  <a:schemeClr val="tx1"/>
                </a:solidFill>
              </a:rPr>
              <a:t> </a:t>
            </a:r>
            <a:r>
              <a:rPr lang="en-US" sz="1050" dirty="0" err="1">
                <a:solidFill>
                  <a:schemeClr val="tx1"/>
                </a:solidFill>
              </a:rPr>
              <a:t>ли</a:t>
            </a:r>
            <a:r>
              <a:rPr lang="en-US" sz="1050" dirty="0">
                <a:solidFill>
                  <a:schemeClr val="tx1"/>
                </a:solidFill>
              </a:rPr>
              <a:t> е</a:t>
            </a:r>
            <a:r>
              <a:rPr lang="bg-BG" sz="1050" dirty="0">
                <a:solidFill>
                  <a:schemeClr val="tx1"/>
                </a:solidFill>
              </a:rPr>
              <a:t> </a:t>
            </a:r>
            <a:r>
              <a:rPr lang="en-US" sz="1050" dirty="0">
                <a:solidFill>
                  <a:schemeClr val="tx1"/>
                </a:solidFill>
              </a:rPr>
              <a:t>да </a:t>
            </a:r>
            <a:r>
              <a:rPr lang="en-US" sz="1050" dirty="0" err="1">
                <a:solidFill>
                  <a:schemeClr val="tx1"/>
                </a:solidFill>
              </a:rPr>
              <a:t>ми</a:t>
            </a:r>
            <a:r>
              <a:rPr lang="en-US" sz="1050" dirty="0">
                <a:solidFill>
                  <a:schemeClr val="tx1"/>
                </a:solidFill>
              </a:rPr>
              <a:t> </a:t>
            </a:r>
            <a:r>
              <a:rPr lang="en-US" sz="1050" dirty="0" err="1">
                <a:solidFill>
                  <a:schemeClr val="tx1"/>
                </a:solidFill>
              </a:rPr>
              <a:t>отделите</a:t>
            </a:r>
            <a:r>
              <a:rPr lang="en-US" sz="1050" dirty="0">
                <a:solidFill>
                  <a:schemeClr val="tx1"/>
                </a:solidFill>
              </a:rPr>
              <a:t> </a:t>
            </a:r>
            <a:r>
              <a:rPr lang="en-US" sz="1050" dirty="0" err="1">
                <a:solidFill>
                  <a:schemeClr val="tx1"/>
                </a:solidFill>
              </a:rPr>
              <a:t>една</a:t>
            </a:r>
            <a:r>
              <a:rPr lang="en-US" sz="1050" dirty="0">
                <a:solidFill>
                  <a:schemeClr val="tx1"/>
                </a:solidFill>
              </a:rPr>
              <a:t>, </a:t>
            </a:r>
            <a:r>
              <a:rPr lang="en-US" sz="1050" dirty="0" err="1">
                <a:solidFill>
                  <a:schemeClr val="tx1"/>
                </a:solidFill>
              </a:rPr>
              <a:t>две</a:t>
            </a:r>
            <a:r>
              <a:rPr lang="en-US" sz="1050" dirty="0">
                <a:solidFill>
                  <a:schemeClr val="tx1"/>
                </a:solidFill>
              </a:rPr>
              <a:t> </a:t>
            </a:r>
            <a:r>
              <a:rPr lang="en-US" sz="1050" dirty="0" err="1">
                <a:solidFill>
                  <a:schemeClr val="tx1"/>
                </a:solidFill>
              </a:rPr>
              <a:t>минути</a:t>
            </a:r>
            <a:r>
              <a:rPr lang="en-US" sz="1050" dirty="0">
                <a:solidFill>
                  <a:schemeClr val="tx1"/>
                </a:solidFill>
              </a:rPr>
              <a:t>, за да </a:t>
            </a:r>
            <a:r>
              <a:rPr lang="en-US" sz="1050" dirty="0" err="1">
                <a:solidFill>
                  <a:schemeClr val="tx1"/>
                </a:solidFill>
              </a:rPr>
              <a:t>Ви</a:t>
            </a:r>
            <a:r>
              <a:rPr lang="en-US" sz="1050" dirty="0">
                <a:solidFill>
                  <a:schemeClr val="tx1"/>
                </a:solidFill>
              </a:rPr>
              <a:t> </a:t>
            </a:r>
            <a:r>
              <a:rPr lang="en-US" sz="1050" dirty="0" err="1">
                <a:solidFill>
                  <a:schemeClr val="tx1"/>
                </a:solidFill>
              </a:rPr>
              <a:t>запозная</a:t>
            </a:r>
            <a:r>
              <a:rPr lang="en-US" sz="1050" dirty="0">
                <a:solidFill>
                  <a:schemeClr val="tx1"/>
                </a:solidFill>
              </a:rPr>
              <a:t>? </a:t>
            </a:r>
            <a:endParaRPr lang="bg-BG" sz="1050" dirty="0">
              <a:solidFill>
                <a:schemeClr val="tx1"/>
              </a:solidFill>
            </a:endParaRPr>
          </a:p>
          <a:p>
            <a:endParaRPr lang="bg-BG" sz="1050" dirty="0">
              <a:solidFill>
                <a:srgbClr val="1F3864"/>
              </a:solidFill>
            </a:endParaRPr>
          </a:p>
        </p:txBody>
      </p:sp>
      <p:sp>
        <p:nvSpPr>
          <p:cNvPr id="40" name="Правоъгълник: със заоблени ъгли 39">
            <a:extLst>
              <a:ext uri="{FF2B5EF4-FFF2-40B4-BE49-F238E27FC236}">
                <a16:creationId xmlns:a16="http://schemas.microsoft.com/office/drawing/2014/main" id="{41B5B68A-27C8-6921-8D34-6CDA195C7344}"/>
              </a:ext>
            </a:extLst>
          </p:cNvPr>
          <p:cNvSpPr/>
          <p:nvPr/>
        </p:nvSpPr>
        <p:spPr>
          <a:xfrm>
            <a:off x="5364256" y="3135285"/>
            <a:ext cx="3312282" cy="377658"/>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bg-BG" sz="1300" b="1">
                <a:solidFill>
                  <a:srgbClr val="1F3864"/>
                </a:solidFill>
              </a:rPr>
              <a:t>Предложение, възражения и отговор</a:t>
            </a:r>
          </a:p>
        </p:txBody>
      </p:sp>
      <p:sp>
        <p:nvSpPr>
          <p:cNvPr id="41" name="Знак плюс 40">
            <a:extLst>
              <a:ext uri="{FF2B5EF4-FFF2-40B4-BE49-F238E27FC236}">
                <a16:creationId xmlns:a16="http://schemas.microsoft.com/office/drawing/2014/main" id="{DC26712E-2FB5-1104-A329-4580495C4424}"/>
              </a:ext>
            </a:extLst>
          </p:cNvPr>
          <p:cNvSpPr/>
          <p:nvPr/>
        </p:nvSpPr>
        <p:spPr>
          <a:xfrm>
            <a:off x="8378748" y="3684397"/>
            <a:ext cx="317560" cy="337408"/>
          </a:xfrm>
          <a:prstGeom prst="mathPlu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43" name="Rectangle: Rounded Corners 11">
            <a:extLst>
              <a:ext uri="{FF2B5EF4-FFF2-40B4-BE49-F238E27FC236}">
                <a16:creationId xmlns:a16="http://schemas.microsoft.com/office/drawing/2014/main" id="{53DEEC03-3B94-DA3C-F7DE-E488B7E5BAD6}"/>
              </a:ext>
            </a:extLst>
          </p:cNvPr>
          <p:cNvSpPr/>
          <p:nvPr/>
        </p:nvSpPr>
        <p:spPr>
          <a:xfrm>
            <a:off x="5228800" y="1046439"/>
            <a:ext cx="3740184" cy="355916"/>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bg-BG" sz="1600"/>
              <a:t>Лоялен клиент</a:t>
            </a:r>
            <a:endParaRPr lang="en-GB" sz="1600"/>
          </a:p>
        </p:txBody>
      </p:sp>
      <p:sp>
        <p:nvSpPr>
          <p:cNvPr id="47" name="Правоъгълник: със заоблени ъгли 16">
            <a:extLst>
              <a:ext uri="{FF2B5EF4-FFF2-40B4-BE49-F238E27FC236}">
                <a16:creationId xmlns:a16="http://schemas.microsoft.com/office/drawing/2014/main" id="{A5C1CB6B-358F-3760-1648-7CA04873E464}"/>
              </a:ext>
            </a:extLst>
          </p:cNvPr>
          <p:cNvSpPr/>
          <p:nvPr/>
        </p:nvSpPr>
        <p:spPr>
          <a:xfrm>
            <a:off x="5904554" y="5318755"/>
            <a:ext cx="2344027" cy="434737"/>
          </a:xfrm>
          <a:prstGeom prst="roundRect">
            <a:avLst>
              <a:gd name="adj" fmla="val 50000"/>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200"/>
              <a:t>Тренирай</a:t>
            </a:r>
          </a:p>
        </p:txBody>
      </p:sp>
      <p:sp>
        <p:nvSpPr>
          <p:cNvPr id="48" name="Знак за умножение 47">
            <a:extLst>
              <a:ext uri="{FF2B5EF4-FFF2-40B4-BE49-F238E27FC236}">
                <a16:creationId xmlns:a16="http://schemas.microsoft.com/office/drawing/2014/main" id="{16EA878A-FD46-E36F-3F2F-A010D416769B}"/>
              </a:ext>
            </a:extLst>
          </p:cNvPr>
          <p:cNvSpPr/>
          <p:nvPr/>
        </p:nvSpPr>
        <p:spPr>
          <a:xfrm>
            <a:off x="8382446" y="1041995"/>
            <a:ext cx="446569" cy="496188"/>
          </a:xfrm>
          <a:prstGeom prst="mathMultiply">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59" name="Правоъгълник: със заоблени ъгли 58">
            <a:extLst>
              <a:ext uri="{FF2B5EF4-FFF2-40B4-BE49-F238E27FC236}">
                <a16:creationId xmlns:a16="http://schemas.microsoft.com/office/drawing/2014/main" id="{CC391A09-1382-C281-D3D8-88C2219DE8ED}"/>
              </a:ext>
            </a:extLst>
          </p:cNvPr>
          <p:cNvSpPr/>
          <p:nvPr/>
        </p:nvSpPr>
        <p:spPr>
          <a:xfrm>
            <a:off x="719415" y="256478"/>
            <a:ext cx="3671794" cy="6172583"/>
          </a:xfrm>
          <a:prstGeom prst="roundRect">
            <a:avLst/>
          </a:prstGeom>
          <a:solidFill>
            <a:schemeClr val="bg1">
              <a:lumMod val="95000"/>
            </a:schemeClr>
          </a:solidFill>
          <a:ln>
            <a:noFill/>
          </a:ln>
          <a:effectLst>
            <a:outerShdw blurRad="63500" dist="38100" dir="270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pic>
        <p:nvPicPr>
          <p:cNvPr id="60" name="Picture 10" descr="Картина, която съдържа текст, екранна снимка&#10;&#10;Генерирано от ИИ съдържание може да е неправилно.">
            <a:extLst>
              <a:ext uri="{FF2B5EF4-FFF2-40B4-BE49-F238E27FC236}">
                <a16:creationId xmlns:a16="http://schemas.microsoft.com/office/drawing/2014/main" id="{EED1FD31-512D-B459-C3D8-AA3B0DFB0A3D}"/>
              </a:ext>
            </a:extLst>
          </p:cNvPr>
          <p:cNvPicPr>
            <a:picLocks noChangeAspect="1"/>
          </p:cNvPicPr>
          <p:nvPr/>
        </p:nvPicPr>
        <p:blipFill>
          <a:blip r:embed="rId2"/>
          <a:srcRect b="88415"/>
          <a:stretch>
            <a:fillRect/>
          </a:stretch>
        </p:blipFill>
        <p:spPr>
          <a:xfrm>
            <a:off x="688049" y="260331"/>
            <a:ext cx="3740239" cy="77148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50" name="Rectangle: Rounded Corners 9">
            <a:extLst>
              <a:ext uri="{FF2B5EF4-FFF2-40B4-BE49-F238E27FC236}">
                <a16:creationId xmlns:a16="http://schemas.microsoft.com/office/drawing/2014/main" id="{432BA886-A216-FFEF-F439-F2393C8AE66E}"/>
              </a:ext>
            </a:extLst>
          </p:cNvPr>
          <p:cNvSpPr/>
          <p:nvPr/>
        </p:nvSpPr>
        <p:spPr>
          <a:xfrm>
            <a:off x="1069934" y="1978727"/>
            <a:ext cx="2932281" cy="677241"/>
          </a:xfrm>
          <a:prstGeom prst="roundRect">
            <a:avLst/>
          </a:prstGeom>
          <a:solidFill>
            <a:schemeClr val="bg2">
              <a:lumMod val="75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bg-BG" sz="1600"/>
              <a:t>Предварително одобрен клиент</a:t>
            </a:r>
            <a:endParaRPr lang="en-GB" sz="1600"/>
          </a:p>
        </p:txBody>
      </p:sp>
      <p:sp>
        <p:nvSpPr>
          <p:cNvPr id="52" name="Rectangle: Rounded Corners 11">
            <a:extLst>
              <a:ext uri="{FF2B5EF4-FFF2-40B4-BE49-F238E27FC236}">
                <a16:creationId xmlns:a16="http://schemas.microsoft.com/office/drawing/2014/main" id="{9B4A77CA-58F0-CAC6-EF86-328FC1AC988C}"/>
              </a:ext>
            </a:extLst>
          </p:cNvPr>
          <p:cNvSpPr/>
          <p:nvPr/>
        </p:nvSpPr>
        <p:spPr>
          <a:xfrm>
            <a:off x="1069933" y="1174969"/>
            <a:ext cx="2932281" cy="677241"/>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bg-BG" sz="1600"/>
              <a:t>Лоялен клиент</a:t>
            </a:r>
            <a:endParaRPr lang="en-GB" sz="1600"/>
          </a:p>
        </p:txBody>
      </p:sp>
      <p:sp>
        <p:nvSpPr>
          <p:cNvPr id="54" name="Rectangle: Rounded Corners 13">
            <a:extLst>
              <a:ext uri="{FF2B5EF4-FFF2-40B4-BE49-F238E27FC236}">
                <a16:creationId xmlns:a16="http://schemas.microsoft.com/office/drawing/2014/main" id="{0FCC5E60-70DB-CA4A-2928-C1729B7C16A9}"/>
              </a:ext>
            </a:extLst>
          </p:cNvPr>
          <p:cNvSpPr/>
          <p:nvPr/>
        </p:nvSpPr>
        <p:spPr>
          <a:xfrm>
            <a:off x="1069932" y="2838941"/>
            <a:ext cx="2932281" cy="677241"/>
          </a:xfrm>
          <a:prstGeom prst="roundRect">
            <a:avLst/>
          </a:prstGeom>
          <a:solidFill>
            <a:schemeClr val="bg2">
              <a:lumMod val="75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bg-BG" sz="1600"/>
              <a:t>Промо кампания</a:t>
            </a:r>
            <a:endParaRPr lang="en-GB" sz="1600"/>
          </a:p>
        </p:txBody>
      </p:sp>
      <p:sp>
        <p:nvSpPr>
          <p:cNvPr id="56" name="Rectangle 9">
            <a:extLst>
              <a:ext uri="{FF2B5EF4-FFF2-40B4-BE49-F238E27FC236}">
                <a16:creationId xmlns:a16="http://schemas.microsoft.com/office/drawing/2014/main" id="{4A4E3BB1-190F-8B96-603C-8619E6F7A01F}"/>
              </a:ext>
            </a:extLst>
          </p:cNvPr>
          <p:cNvSpPr/>
          <p:nvPr/>
        </p:nvSpPr>
        <p:spPr>
          <a:xfrm>
            <a:off x="1069930" y="4647304"/>
            <a:ext cx="2932281" cy="677241"/>
          </a:xfrm>
          <a:prstGeom prst="roundRect">
            <a:avLst/>
          </a:prstGeom>
          <a:solidFill>
            <a:schemeClr val="bg2">
              <a:lumMod val="75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bg-BG" sz="1600"/>
              <a:t>По препоръка</a:t>
            </a:r>
            <a:endParaRPr lang="en-GB" sz="1600"/>
          </a:p>
        </p:txBody>
      </p:sp>
      <p:sp>
        <p:nvSpPr>
          <p:cNvPr id="58" name="Rectangle 11">
            <a:extLst>
              <a:ext uri="{FF2B5EF4-FFF2-40B4-BE49-F238E27FC236}">
                <a16:creationId xmlns:a16="http://schemas.microsoft.com/office/drawing/2014/main" id="{0919DA42-EF1E-1A54-AE60-DFD03016C6EF}"/>
              </a:ext>
            </a:extLst>
          </p:cNvPr>
          <p:cNvSpPr/>
          <p:nvPr/>
        </p:nvSpPr>
        <p:spPr>
          <a:xfrm>
            <a:off x="1069931" y="3734537"/>
            <a:ext cx="2932281" cy="677241"/>
          </a:xfrm>
          <a:prstGeom prst="roundRect">
            <a:avLst/>
          </a:prstGeom>
          <a:solidFill>
            <a:schemeClr val="bg2">
              <a:lumMod val="75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bg-BG" sz="1600"/>
              <a:t>Продукт „Пенсионер“</a:t>
            </a:r>
            <a:endParaRPr lang="en-GB" sz="1600"/>
          </a:p>
        </p:txBody>
      </p:sp>
      <p:sp>
        <p:nvSpPr>
          <p:cNvPr id="62" name="Стрелка надясно 61">
            <a:extLst>
              <a:ext uri="{FF2B5EF4-FFF2-40B4-BE49-F238E27FC236}">
                <a16:creationId xmlns:a16="http://schemas.microsoft.com/office/drawing/2014/main" id="{0DF23803-F8EE-7C5D-4138-AA42CC66602D}"/>
              </a:ext>
            </a:extLst>
          </p:cNvPr>
          <p:cNvSpPr/>
          <p:nvPr/>
        </p:nvSpPr>
        <p:spPr>
          <a:xfrm>
            <a:off x="4584780" y="2818350"/>
            <a:ext cx="535883" cy="30763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2" name="TextBox 1">
            <a:extLst>
              <a:ext uri="{FF2B5EF4-FFF2-40B4-BE49-F238E27FC236}">
                <a16:creationId xmlns:a16="http://schemas.microsoft.com/office/drawing/2014/main" id="{38EF5723-68DA-9FAB-9240-07BB6A5684A9}"/>
              </a:ext>
            </a:extLst>
          </p:cNvPr>
          <p:cNvSpPr txBox="1"/>
          <p:nvPr/>
        </p:nvSpPr>
        <p:spPr>
          <a:xfrm>
            <a:off x="5376312" y="1464973"/>
            <a:ext cx="3370862" cy="2923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bg-BG" sz="1300" b="1">
                <a:solidFill>
                  <a:srgbClr val="1F3864"/>
                </a:solidFill>
              </a:rPr>
              <a:t>Отваряне и предложение</a:t>
            </a:r>
            <a:endParaRPr lang="en-US" sz="1300" b="1"/>
          </a:p>
        </p:txBody>
      </p:sp>
    </p:spTree>
    <p:extLst>
      <p:ext uri="{BB962C8B-B14F-4D97-AF65-F5344CB8AC3E}">
        <p14:creationId xmlns:p14="http://schemas.microsoft.com/office/powerpoint/2010/main" val="20770070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272A13-0995-95D2-DC2D-0CD26942E284}"/>
            </a:ext>
          </a:extLst>
        </p:cNvPr>
        <p:cNvGrpSpPr/>
        <p:nvPr/>
      </p:nvGrpSpPr>
      <p:grpSpPr>
        <a:xfrm>
          <a:off x="0" y="0"/>
          <a:ext cx="0" cy="0"/>
          <a:chOff x="0" y="0"/>
          <a:chExt cx="0" cy="0"/>
        </a:xfrm>
      </p:grpSpPr>
      <p:sp>
        <p:nvSpPr>
          <p:cNvPr id="27" name="Rectangle 3">
            <a:extLst>
              <a:ext uri="{FF2B5EF4-FFF2-40B4-BE49-F238E27FC236}">
                <a16:creationId xmlns:a16="http://schemas.microsoft.com/office/drawing/2014/main" id="{43AC8E3B-BCB6-7005-56DD-7295953F920C}"/>
              </a:ext>
            </a:extLst>
          </p:cNvPr>
          <p:cNvSpPr/>
          <p:nvPr/>
        </p:nvSpPr>
        <p:spPr>
          <a:xfrm>
            <a:off x="1443475" y="4245"/>
            <a:ext cx="5338363" cy="677242"/>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28" name="Rectangle 4">
            <a:extLst>
              <a:ext uri="{FF2B5EF4-FFF2-40B4-BE49-F238E27FC236}">
                <a16:creationId xmlns:a16="http://schemas.microsoft.com/office/drawing/2014/main" id="{6F6D7404-2514-FB03-B88E-8B4CCDAA45B4}"/>
              </a:ext>
            </a:extLst>
          </p:cNvPr>
          <p:cNvSpPr/>
          <p:nvPr/>
        </p:nvSpPr>
        <p:spPr>
          <a:xfrm>
            <a:off x="6788435" y="4245"/>
            <a:ext cx="5417300" cy="677242"/>
          </a:xfrm>
          <a:prstGeom prst="rect">
            <a:avLst/>
          </a:prstGeom>
          <a:solidFill>
            <a:schemeClr val="bg2">
              <a:lumMod val="75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29" name="Rectangle 28">
            <a:extLst>
              <a:ext uri="{FF2B5EF4-FFF2-40B4-BE49-F238E27FC236}">
                <a16:creationId xmlns:a16="http://schemas.microsoft.com/office/drawing/2014/main" id="{469CE3DA-FD4A-20E4-4A7F-3B527FFE625D}"/>
              </a:ext>
            </a:extLst>
          </p:cNvPr>
          <p:cNvSpPr/>
          <p:nvPr/>
        </p:nvSpPr>
        <p:spPr>
          <a:xfrm>
            <a:off x="-1671" y="1599"/>
            <a:ext cx="1451167" cy="6866954"/>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200">
              <a:latin typeface="Aptos"/>
              <a:ea typeface="Calibri"/>
              <a:cs typeface="Calibri"/>
            </a:endParaRPr>
          </a:p>
        </p:txBody>
      </p:sp>
      <p:sp>
        <p:nvSpPr>
          <p:cNvPr id="30" name="Rectangle 29">
            <a:extLst>
              <a:ext uri="{FF2B5EF4-FFF2-40B4-BE49-F238E27FC236}">
                <a16:creationId xmlns:a16="http://schemas.microsoft.com/office/drawing/2014/main" id="{DC6CADF9-ED15-18F7-91E2-5F0F128626C6}"/>
              </a:ext>
            </a:extLst>
          </p:cNvPr>
          <p:cNvSpPr/>
          <p:nvPr/>
        </p:nvSpPr>
        <p:spPr>
          <a:xfrm>
            <a:off x="-1671" y="2528038"/>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Типове клиенти</a:t>
            </a:r>
            <a:endParaRPr lang="en-GB" sz="1400">
              <a:latin typeface="Aptos"/>
              <a:ea typeface="Calibri"/>
              <a:cs typeface="Calibri"/>
            </a:endParaRPr>
          </a:p>
        </p:txBody>
      </p:sp>
      <p:sp>
        <p:nvSpPr>
          <p:cNvPr id="31" name="Rectangle 30">
            <a:extLst>
              <a:ext uri="{FF2B5EF4-FFF2-40B4-BE49-F238E27FC236}">
                <a16:creationId xmlns:a16="http://schemas.microsoft.com/office/drawing/2014/main" id="{528C710B-2118-5CF0-8A12-2D92F7E19867}"/>
              </a:ext>
            </a:extLst>
          </p:cNvPr>
          <p:cNvSpPr/>
          <p:nvPr/>
        </p:nvSpPr>
        <p:spPr>
          <a:xfrm>
            <a:off x="8626" y="1913210"/>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b="1">
                <a:solidFill>
                  <a:srgbClr val="2F5597"/>
                </a:solidFill>
                <a:latin typeface="Aptos"/>
                <a:ea typeface="Calibri"/>
                <a:cs typeface="Calibri"/>
              </a:rPr>
              <a:t>Сценарии</a:t>
            </a:r>
            <a:endParaRPr lang="en-GB" sz="1400" b="1">
              <a:solidFill>
                <a:srgbClr val="2F5597"/>
              </a:solidFill>
              <a:latin typeface="Aptos"/>
              <a:ea typeface="Calibri"/>
              <a:cs typeface="Calibri"/>
            </a:endParaRPr>
          </a:p>
        </p:txBody>
      </p:sp>
      <p:sp>
        <p:nvSpPr>
          <p:cNvPr id="32" name="Rectangle 31">
            <a:extLst>
              <a:ext uri="{FF2B5EF4-FFF2-40B4-BE49-F238E27FC236}">
                <a16:creationId xmlns:a16="http://schemas.microsoft.com/office/drawing/2014/main" id="{23F8EBAB-5D4A-9785-7C5A-6A786DA95F77}"/>
              </a:ext>
            </a:extLst>
          </p:cNvPr>
          <p:cNvSpPr/>
          <p:nvPr/>
        </p:nvSpPr>
        <p:spPr>
          <a:xfrm>
            <a:off x="-1671" y="1298382"/>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a:solidFill>
                  <a:schemeClr val="bg1"/>
                </a:solidFill>
                <a:latin typeface="Aptos"/>
                <a:ea typeface="Calibri"/>
                <a:cs typeface="Calibri"/>
              </a:rPr>
              <a:t>Стъпки в обаждането</a:t>
            </a:r>
            <a:endParaRPr lang="bg-BG" sz="1400">
              <a:solidFill>
                <a:srgbClr val="000000"/>
              </a:solidFill>
              <a:latin typeface="Aptos"/>
              <a:ea typeface="Calibri"/>
              <a:cs typeface="Calibri"/>
            </a:endParaRPr>
          </a:p>
        </p:txBody>
      </p:sp>
      <p:sp>
        <p:nvSpPr>
          <p:cNvPr id="33" name="Rectangle 28">
            <a:extLst>
              <a:ext uri="{FF2B5EF4-FFF2-40B4-BE49-F238E27FC236}">
                <a16:creationId xmlns:a16="http://schemas.microsoft.com/office/drawing/2014/main" id="{464E8046-8F97-43F5-E63B-8B8C276FFAED}"/>
              </a:ext>
            </a:extLst>
          </p:cNvPr>
          <p:cNvSpPr/>
          <p:nvPr/>
        </p:nvSpPr>
        <p:spPr>
          <a:xfrm>
            <a:off x="6154" y="690328"/>
            <a:ext cx="1435083"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a:solidFill>
                  <a:schemeClr val="bg1"/>
                </a:solidFill>
                <a:latin typeface="Aptos"/>
                <a:ea typeface="Calibri"/>
                <a:cs typeface="Calibri"/>
              </a:rPr>
              <a:t>Подготовка</a:t>
            </a:r>
            <a:endParaRPr lang="en-GB" sz="1400">
              <a:solidFill>
                <a:schemeClr val="bg1"/>
              </a:solidFill>
              <a:latin typeface="Aptos"/>
              <a:ea typeface="Calibri"/>
              <a:cs typeface="Calibri"/>
            </a:endParaRPr>
          </a:p>
        </p:txBody>
      </p:sp>
      <p:pic>
        <p:nvPicPr>
          <p:cNvPr id="35" name="Picture 34">
            <a:extLst>
              <a:ext uri="{FF2B5EF4-FFF2-40B4-BE49-F238E27FC236}">
                <a16:creationId xmlns:a16="http://schemas.microsoft.com/office/drawing/2014/main" id="{38003EBE-F33F-8E10-5FA1-1F01DA566CFF}"/>
              </a:ext>
            </a:extLst>
          </p:cNvPr>
          <p:cNvPicPr>
            <a:picLocks noChangeAspect="1"/>
          </p:cNvPicPr>
          <p:nvPr/>
        </p:nvPicPr>
        <p:blipFill>
          <a:blip r:embed="rId2"/>
          <a:stretch>
            <a:fillRect/>
          </a:stretch>
        </p:blipFill>
        <p:spPr>
          <a:xfrm>
            <a:off x="11122828" y="5851667"/>
            <a:ext cx="982751" cy="995681"/>
          </a:xfrm>
          <a:prstGeom prst="rect">
            <a:avLst/>
          </a:prstGeom>
        </p:spPr>
      </p:pic>
      <p:sp>
        <p:nvSpPr>
          <p:cNvPr id="37" name="Правоъгълник: със заоблени ъгли 16">
            <a:extLst>
              <a:ext uri="{FF2B5EF4-FFF2-40B4-BE49-F238E27FC236}">
                <a16:creationId xmlns:a16="http://schemas.microsoft.com/office/drawing/2014/main" id="{3FCBC883-7571-3A88-5ECA-9B247033F898}"/>
              </a:ext>
            </a:extLst>
          </p:cNvPr>
          <p:cNvSpPr/>
          <p:nvPr/>
        </p:nvSpPr>
        <p:spPr>
          <a:xfrm>
            <a:off x="6887443" y="5545908"/>
            <a:ext cx="2744630" cy="590809"/>
          </a:xfrm>
          <a:prstGeom prst="roundRect">
            <a:avLst>
              <a:gd name="adj" fmla="val 50000"/>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200"/>
              <a:t>Тренирай</a:t>
            </a:r>
          </a:p>
        </p:txBody>
      </p:sp>
      <p:sp>
        <p:nvSpPr>
          <p:cNvPr id="39" name="Rectangle: Rounded Corners 1">
            <a:extLst>
              <a:ext uri="{FF2B5EF4-FFF2-40B4-BE49-F238E27FC236}">
                <a16:creationId xmlns:a16="http://schemas.microsoft.com/office/drawing/2014/main" id="{E780CA9E-6B0C-C3A7-F55F-A77FFDED70F9}"/>
              </a:ext>
            </a:extLst>
          </p:cNvPr>
          <p:cNvSpPr/>
          <p:nvPr/>
        </p:nvSpPr>
        <p:spPr>
          <a:xfrm>
            <a:off x="5328806" y="3803315"/>
            <a:ext cx="2746843" cy="520853"/>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200"/>
              <a:t>Харесва ми!</a:t>
            </a:r>
          </a:p>
        </p:txBody>
      </p:sp>
      <p:sp>
        <p:nvSpPr>
          <p:cNvPr id="41" name="Rectangle: Rounded Corners 4">
            <a:extLst>
              <a:ext uri="{FF2B5EF4-FFF2-40B4-BE49-F238E27FC236}">
                <a16:creationId xmlns:a16="http://schemas.microsoft.com/office/drawing/2014/main" id="{3B6B1F68-DBE2-5371-671C-4053BE22B145}"/>
              </a:ext>
            </a:extLst>
          </p:cNvPr>
          <p:cNvSpPr/>
          <p:nvPr/>
        </p:nvSpPr>
        <p:spPr>
          <a:xfrm>
            <a:off x="5327477" y="4380931"/>
            <a:ext cx="2746843" cy="493958"/>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200">
                <a:ea typeface="+mn-lt"/>
                <a:cs typeface="+mn-lt"/>
              </a:rPr>
              <a:t>Нямам нужда</a:t>
            </a:r>
            <a:endParaRPr lang="bg-BG"/>
          </a:p>
        </p:txBody>
      </p:sp>
      <p:sp>
        <p:nvSpPr>
          <p:cNvPr id="43" name="Rectangle: Rounded Corners 4">
            <a:extLst>
              <a:ext uri="{FF2B5EF4-FFF2-40B4-BE49-F238E27FC236}">
                <a16:creationId xmlns:a16="http://schemas.microsoft.com/office/drawing/2014/main" id="{9B6915F5-A7DB-2A2F-568B-45A066FBE90A}"/>
              </a:ext>
            </a:extLst>
          </p:cNvPr>
          <p:cNvSpPr/>
          <p:nvPr/>
        </p:nvSpPr>
        <p:spPr>
          <a:xfrm>
            <a:off x="8352386" y="3777036"/>
            <a:ext cx="2746843" cy="493958"/>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200">
                <a:ea typeface="+mn-lt"/>
                <a:cs typeface="+mn-lt"/>
              </a:rPr>
              <a:t>Вече имам кредит другаде</a:t>
            </a:r>
            <a:endParaRPr lang="bg-BG"/>
          </a:p>
        </p:txBody>
      </p:sp>
      <p:sp>
        <p:nvSpPr>
          <p:cNvPr id="45" name="Rectangle: Rounded Corners 4">
            <a:extLst>
              <a:ext uri="{FF2B5EF4-FFF2-40B4-BE49-F238E27FC236}">
                <a16:creationId xmlns:a16="http://schemas.microsoft.com/office/drawing/2014/main" id="{250817E8-7268-DCD5-A180-C5A72A7C99D2}"/>
              </a:ext>
            </a:extLst>
          </p:cNvPr>
          <p:cNvSpPr/>
          <p:nvPr/>
        </p:nvSpPr>
        <p:spPr>
          <a:xfrm>
            <a:off x="8352386" y="4332847"/>
            <a:ext cx="2746843" cy="493958"/>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200">
                <a:ea typeface="+mn-lt"/>
                <a:cs typeface="+mn-lt"/>
              </a:rPr>
              <a:t>Не искам, защото са Ви високи лихвите!</a:t>
            </a:r>
            <a:endParaRPr lang="bg-BG">
              <a:ea typeface="+mn-lt"/>
              <a:cs typeface="+mn-lt"/>
            </a:endParaRPr>
          </a:p>
        </p:txBody>
      </p:sp>
      <p:sp>
        <p:nvSpPr>
          <p:cNvPr id="52" name="Rectangle: Rounded Corners 4">
            <a:extLst>
              <a:ext uri="{FF2B5EF4-FFF2-40B4-BE49-F238E27FC236}">
                <a16:creationId xmlns:a16="http://schemas.microsoft.com/office/drawing/2014/main" id="{414D521F-747E-D7FB-00B5-4A06C4152A52}"/>
              </a:ext>
            </a:extLst>
          </p:cNvPr>
          <p:cNvSpPr/>
          <p:nvPr/>
        </p:nvSpPr>
        <p:spPr>
          <a:xfrm>
            <a:off x="6886113" y="4936442"/>
            <a:ext cx="2746843" cy="493958"/>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200">
                <a:ea typeface="+mn-lt"/>
                <a:cs typeface="+mn-lt"/>
              </a:rPr>
              <a:t>Искам да се посъветвам със семейството си.</a:t>
            </a:r>
            <a:endParaRPr lang="bg-BG"/>
          </a:p>
        </p:txBody>
      </p:sp>
      <p:sp>
        <p:nvSpPr>
          <p:cNvPr id="5" name="Правоъгълник: със заоблени ъгли 37">
            <a:extLst>
              <a:ext uri="{FF2B5EF4-FFF2-40B4-BE49-F238E27FC236}">
                <a16:creationId xmlns:a16="http://schemas.microsoft.com/office/drawing/2014/main" id="{D4B32580-2A10-9663-04DA-CE3467A615AE}"/>
              </a:ext>
            </a:extLst>
          </p:cNvPr>
          <p:cNvSpPr/>
          <p:nvPr/>
        </p:nvSpPr>
        <p:spPr>
          <a:xfrm>
            <a:off x="5267705" y="1058208"/>
            <a:ext cx="4325063" cy="65453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bg-BG" sz="1600" b="1">
                <a:solidFill>
                  <a:srgbClr val="1F3864"/>
                </a:solidFill>
              </a:rPr>
              <a:t>1.Отваряне и Предложение</a:t>
            </a:r>
          </a:p>
        </p:txBody>
      </p:sp>
      <p:sp>
        <p:nvSpPr>
          <p:cNvPr id="7" name="Правоъгълник: със заоблени ъгли 41">
            <a:extLst>
              <a:ext uri="{FF2B5EF4-FFF2-40B4-BE49-F238E27FC236}">
                <a16:creationId xmlns:a16="http://schemas.microsoft.com/office/drawing/2014/main" id="{25FB24E8-07E6-BEE9-6BEA-9A6156A2473E}"/>
              </a:ext>
            </a:extLst>
          </p:cNvPr>
          <p:cNvSpPr/>
          <p:nvPr/>
        </p:nvSpPr>
        <p:spPr>
          <a:xfrm>
            <a:off x="5266243" y="3433308"/>
            <a:ext cx="4333237" cy="343178"/>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bg-BG" sz="1600" b="1">
                <a:solidFill>
                  <a:schemeClr val="accent1">
                    <a:lumMod val="49000"/>
                  </a:schemeClr>
                </a:solidFill>
              </a:rPr>
              <a:t>2. Възражение и отговор</a:t>
            </a:r>
          </a:p>
        </p:txBody>
      </p:sp>
      <p:sp>
        <p:nvSpPr>
          <p:cNvPr id="15" name="TextBox 14">
            <a:extLst>
              <a:ext uri="{FF2B5EF4-FFF2-40B4-BE49-F238E27FC236}">
                <a16:creationId xmlns:a16="http://schemas.microsoft.com/office/drawing/2014/main" id="{E57CDF49-D454-6AA5-91BB-3F258900CD25}"/>
              </a:ext>
            </a:extLst>
          </p:cNvPr>
          <p:cNvSpPr txBox="1"/>
          <p:nvPr/>
        </p:nvSpPr>
        <p:spPr>
          <a:xfrm>
            <a:off x="5376312" y="1578758"/>
            <a:ext cx="6443040"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a:ea typeface="+mn-lt"/>
                <a:cs typeface="+mn-lt"/>
              </a:rPr>
              <a:t>-</a:t>
            </a:r>
            <a:r>
              <a:rPr lang="en-US" sz="1400">
                <a:ea typeface="+mn-lt"/>
                <a:cs typeface="+mn-lt"/>
              </a:rPr>
              <a:t>Добър ден, търся г-н/г-жа (две </a:t>
            </a:r>
            <a:r>
              <a:rPr lang="en-US" sz="1400" err="1">
                <a:ea typeface="+mn-lt"/>
                <a:cs typeface="+mn-lt"/>
              </a:rPr>
              <a:t>имена</a:t>
            </a:r>
            <a:r>
              <a:rPr lang="en-US" sz="1400">
                <a:ea typeface="+mn-lt"/>
                <a:cs typeface="+mn-lt"/>
              </a:rPr>
              <a:t> </a:t>
            </a:r>
            <a:r>
              <a:rPr lang="en-US" sz="1400" err="1">
                <a:ea typeface="+mn-lt"/>
                <a:cs typeface="+mn-lt"/>
              </a:rPr>
              <a:t>на</a:t>
            </a:r>
            <a:r>
              <a:rPr lang="en-US" sz="1400">
                <a:ea typeface="+mn-lt"/>
                <a:cs typeface="+mn-lt"/>
              </a:rPr>
              <a:t> </a:t>
            </a:r>
            <a:r>
              <a:rPr lang="en-US" sz="1400" err="1">
                <a:ea typeface="+mn-lt"/>
                <a:cs typeface="+mn-lt"/>
              </a:rPr>
              <a:t>клиента</a:t>
            </a:r>
            <a:r>
              <a:rPr lang="en-US" sz="1400">
                <a:ea typeface="+mn-lt"/>
                <a:cs typeface="+mn-lt"/>
              </a:rPr>
              <a:t>).</a:t>
            </a:r>
            <a:br>
              <a:rPr lang="en-US" sz="1400">
                <a:ea typeface="+mn-lt"/>
                <a:cs typeface="+mn-lt"/>
              </a:rPr>
            </a:br>
            <a:r>
              <a:rPr lang="en-US" sz="1400">
                <a:ea typeface="+mn-lt"/>
                <a:cs typeface="+mn-lt"/>
              </a:rPr>
              <a:t> </a:t>
            </a:r>
            <a:r>
              <a:rPr lang="en-US" sz="1400" b="1">
                <a:ea typeface="+mn-lt"/>
                <a:cs typeface="+mn-lt"/>
              </a:rPr>
              <a:t>-</a:t>
            </a:r>
            <a:r>
              <a:rPr lang="en-US" sz="1400" err="1">
                <a:ea typeface="+mn-lt"/>
                <a:cs typeface="+mn-lt"/>
              </a:rPr>
              <a:t>Да</a:t>
            </a:r>
            <a:r>
              <a:rPr lang="en-US" sz="1400">
                <a:ea typeface="+mn-lt"/>
                <a:cs typeface="+mn-lt"/>
              </a:rPr>
              <a:t> (</a:t>
            </a:r>
            <a:r>
              <a:rPr lang="en-US" sz="1400" err="1">
                <a:ea typeface="+mn-lt"/>
                <a:cs typeface="+mn-lt"/>
              </a:rPr>
              <a:t>на</a:t>
            </a:r>
            <a:r>
              <a:rPr lang="en-US" sz="1400">
                <a:ea typeface="+mn-lt"/>
                <a:cs typeface="+mn-lt"/>
              </a:rPr>
              <a:t> </a:t>
            </a:r>
            <a:r>
              <a:rPr lang="en-US" sz="1400" err="1">
                <a:ea typeface="+mn-lt"/>
                <a:cs typeface="+mn-lt"/>
              </a:rPr>
              <a:t>телефона</a:t>
            </a:r>
            <a:r>
              <a:rPr lang="en-US" sz="1400">
                <a:ea typeface="+mn-lt"/>
                <a:cs typeface="+mn-lt"/>
              </a:rPr>
              <a:t>, </a:t>
            </a:r>
            <a:r>
              <a:rPr lang="en-US" sz="1400" err="1">
                <a:ea typeface="+mn-lt"/>
                <a:cs typeface="+mn-lt"/>
              </a:rPr>
              <a:t>аз</a:t>
            </a:r>
            <a:r>
              <a:rPr lang="en-US" sz="1400">
                <a:ea typeface="+mn-lt"/>
                <a:cs typeface="+mn-lt"/>
              </a:rPr>
              <a:t> </a:t>
            </a:r>
            <a:r>
              <a:rPr lang="en-US" sz="1400" err="1">
                <a:ea typeface="+mn-lt"/>
                <a:cs typeface="+mn-lt"/>
              </a:rPr>
              <a:t>съм</a:t>
            </a:r>
            <a:r>
              <a:rPr lang="en-US" sz="1400">
                <a:ea typeface="+mn-lt"/>
                <a:cs typeface="+mn-lt"/>
              </a:rPr>
              <a:t>).</a:t>
            </a:r>
            <a:br>
              <a:rPr lang="en-US" sz="1400">
                <a:ea typeface="+mn-lt"/>
                <a:cs typeface="+mn-lt"/>
              </a:rPr>
            </a:br>
            <a:r>
              <a:rPr lang="en-US" sz="1400">
                <a:ea typeface="+mn-lt"/>
                <a:cs typeface="+mn-lt"/>
              </a:rPr>
              <a:t> </a:t>
            </a:r>
            <a:r>
              <a:rPr lang="en-US" sz="1400" b="1">
                <a:ea typeface="+mn-lt"/>
                <a:cs typeface="+mn-lt"/>
              </a:rPr>
              <a:t>-</a:t>
            </a:r>
            <a:r>
              <a:rPr lang="en-US" sz="1400" err="1">
                <a:ea typeface="+mn-lt"/>
                <a:cs typeface="+mn-lt"/>
              </a:rPr>
              <a:t>Здравейте</a:t>
            </a:r>
            <a:r>
              <a:rPr lang="en-US" sz="1400">
                <a:ea typeface="+mn-lt"/>
                <a:cs typeface="+mn-lt"/>
              </a:rPr>
              <a:t> г-н/г-</a:t>
            </a:r>
            <a:r>
              <a:rPr lang="en-US" sz="1400" err="1">
                <a:ea typeface="+mn-lt"/>
                <a:cs typeface="+mn-lt"/>
              </a:rPr>
              <a:t>жо</a:t>
            </a:r>
            <a:r>
              <a:rPr lang="en-US" sz="1400">
                <a:ea typeface="+mn-lt"/>
                <a:cs typeface="+mn-lt"/>
              </a:rPr>
              <a:t> (</a:t>
            </a:r>
            <a:r>
              <a:rPr lang="en-US" sz="1400" err="1">
                <a:ea typeface="+mn-lt"/>
                <a:cs typeface="+mn-lt"/>
              </a:rPr>
              <a:t>фамилия</a:t>
            </a:r>
            <a:r>
              <a:rPr lang="en-US" sz="1400">
                <a:ea typeface="+mn-lt"/>
                <a:cs typeface="+mn-lt"/>
              </a:rPr>
              <a:t> </a:t>
            </a:r>
            <a:r>
              <a:rPr lang="en-US" sz="1400" err="1">
                <a:ea typeface="+mn-lt"/>
                <a:cs typeface="+mn-lt"/>
              </a:rPr>
              <a:t>на</a:t>
            </a:r>
            <a:r>
              <a:rPr lang="en-US" sz="1400">
                <a:ea typeface="+mn-lt"/>
                <a:cs typeface="+mn-lt"/>
              </a:rPr>
              <a:t> </a:t>
            </a:r>
            <a:r>
              <a:rPr lang="en-US" sz="1400" err="1">
                <a:ea typeface="+mn-lt"/>
                <a:cs typeface="+mn-lt"/>
              </a:rPr>
              <a:t>клиента</a:t>
            </a:r>
            <a:r>
              <a:rPr lang="en-US" sz="1400">
                <a:ea typeface="+mn-lt"/>
                <a:cs typeface="+mn-lt"/>
              </a:rPr>
              <a:t>), </a:t>
            </a:r>
            <a:r>
              <a:rPr lang="en-US" sz="1400" err="1">
                <a:ea typeface="+mn-lt"/>
                <a:cs typeface="+mn-lt"/>
              </a:rPr>
              <a:t>обаждам</a:t>
            </a:r>
            <a:r>
              <a:rPr lang="en-US" sz="1400">
                <a:ea typeface="+mn-lt"/>
                <a:cs typeface="+mn-lt"/>
              </a:rPr>
              <a:t> </a:t>
            </a:r>
            <a:r>
              <a:rPr lang="en-US" sz="1400" err="1">
                <a:ea typeface="+mn-lt"/>
                <a:cs typeface="+mn-lt"/>
              </a:rPr>
              <a:t>се</a:t>
            </a:r>
            <a:r>
              <a:rPr lang="en-US" sz="1400">
                <a:ea typeface="+mn-lt"/>
                <a:cs typeface="+mn-lt"/>
              </a:rPr>
              <a:t> </a:t>
            </a:r>
            <a:r>
              <a:rPr lang="en-US" sz="1400" err="1">
                <a:ea typeface="+mn-lt"/>
                <a:cs typeface="+mn-lt"/>
              </a:rPr>
              <a:t>от</a:t>
            </a:r>
            <a:r>
              <a:rPr lang="en-US" sz="1400">
                <a:ea typeface="+mn-lt"/>
                <a:cs typeface="+mn-lt"/>
              </a:rPr>
              <a:t> </a:t>
            </a:r>
            <a:r>
              <a:rPr lang="en-US" sz="1400" err="1">
                <a:ea typeface="+mn-lt"/>
                <a:cs typeface="+mn-lt"/>
              </a:rPr>
              <a:t>Изи</a:t>
            </a:r>
            <a:r>
              <a:rPr lang="en-US" sz="1400">
                <a:ea typeface="+mn-lt"/>
                <a:cs typeface="+mn-lt"/>
              </a:rPr>
              <a:t> </a:t>
            </a:r>
            <a:r>
              <a:rPr lang="en-US" sz="1400" err="1">
                <a:ea typeface="+mn-lt"/>
                <a:cs typeface="+mn-lt"/>
              </a:rPr>
              <a:t>Кредит</a:t>
            </a:r>
            <a:r>
              <a:rPr lang="en-US" sz="1400">
                <a:ea typeface="+mn-lt"/>
                <a:cs typeface="+mn-lt"/>
              </a:rPr>
              <a:t> </a:t>
            </a:r>
            <a:r>
              <a:rPr lang="en-US" sz="1400" err="1">
                <a:ea typeface="+mn-lt"/>
                <a:cs typeface="+mn-lt"/>
              </a:rPr>
              <a:t>във</a:t>
            </a:r>
            <a:r>
              <a:rPr lang="en-US" sz="1400">
                <a:ea typeface="+mn-lt"/>
                <a:cs typeface="+mn-lt"/>
              </a:rPr>
              <a:t> </a:t>
            </a:r>
            <a:r>
              <a:rPr lang="en-US" sz="1400" err="1">
                <a:ea typeface="+mn-lt"/>
                <a:cs typeface="+mn-lt"/>
              </a:rPr>
              <a:t>връзка</a:t>
            </a:r>
            <a:r>
              <a:rPr lang="en-US" sz="1400">
                <a:ea typeface="+mn-lt"/>
                <a:cs typeface="+mn-lt"/>
              </a:rPr>
              <a:t> с </a:t>
            </a:r>
            <a:r>
              <a:rPr lang="en-US" sz="1400" err="1">
                <a:ea typeface="+mn-lt"/>
                <a:cs typeface="+mn-lt"/>
              </a:rPr>
              <a:t>изготвено</a:t>
            </a:r>
            <a:r>
              <a:rPr lang="en-US" sz="1400">
                <a:ea typeface="+mn-lt"/>
                <a:cs typeface="+mn-lt"/>
              </a:rPr>
              <a:t> </a:t>
            </a:r>
            <a:r>
              <a:rPr lang="en-US" sz="1400" err="1">
                <a:ea typeface="+mn-lt"/>
                <a:cs typeface="+mn-lt"/>
              </a:rPr>
              <a:t>предложение</a:t>
            </a:r>
            <a:r>
              <a:rPr lang="en-US" sz="1400">
                <a:ea typeface="+mn-lt"/>
                <a:cs typeface="+mn-lt"/>
              </a:rPr>
              <a:t>, </a:t>
            </a:r>
            <a:r>
              <a:rPr lang="en-US" sz="1400" err="1">
                <a:ea typeface="+mn-lt"/>
                <a:cs typeface="+mn-lt"/>
              </a:rPr>
              <a:t>специално</a:t>
            </a:r>
            <a:r>
              <a:rPr lang="en-US" sz="1400">
                <a:ea typeface="+mn-lt"/>
                <a:cs typeface="+mn-lt"/>
              </a:rPr>
              <a:t> </a:t>
            </a:r>
            <a:r>
              <a:rPr lang="en-US" sz="1400" err="1">
                <a:ea typeface="+mn-lt"/>
                <a:cs typeface="+mn-lt"/>
              </a:rPr>
              <a:t>за</a:t>
            </a:r>
            <a:r>
              <a:rPr lang="en-US" sz="1400">
                <a:ea typeface="+mn-lt"/>
                <a:cs typeface="+mn-lt"/>
              </a:rPr>
              <a:t> </a:t>
            </a:r>
            <a:r>
              <a:rPr lang="en-US" sz="1400" err="1">
                <a:ea typeface="+mn-lt"/>
                <a:cs typeface="+mn-lt"/>
              </a:rPr>
              <a:t>Вас</a:t>
            </a:r>
            <a:r>
              <a:rPr lang="en-US" sz="1400">
                <a:ea typeface="+mn-lt"/>
                <a:cs typeface="+mn-lt"/>
              </a:rPr>
              <a:t>. </a:t>
            </a:r>
            <a:r>
              <a:rPr lang="en-US" sz="1400" err="1">
                <a:ea typeface="+mn-lt"/>
                <a:cs typeface="+mn-lt"/>
              </a:rPr>
              <a:t>Удобно</a:t>
            </a:r>
            <a:r>
              <a:rPr lang="en-US" sz="1400">
                <a:ea typeface="+mn-lt"/>
                <a:cs typeface="+mn-lt"/>
              </a:rPr>
              <a:t> </a:t>
            </a:r>
            <a:r>
              <a:rPr lang="en-US" sz="1400" err="1">
                <a:ea typeface="+mn-lt"/>
                <a:cs typeface="+mn-lt"/>
              </a:rPr>
              <a:t>ли</a:t>
            </a:r>
            <a:r>
              <a:rPr lang="en-US" sz="1400">
                <a:ea typeface="+mn-lt"/>
                <a:cs typeface="+mn-lt"/>
              </a:rPr>
              <a:t> е </a:t>
            </a:r>
            <a:r>
              <a:rPr lang="en-US" sz="1400" err="1">
                <a:ea typeface="+mn-lt"/>
                <a:cs typeface="+mn-lt"/>
              </a:rPr>
              <a:t>да</a:t>
            </a:r>
            <a:r>
              <a:rPr lang="en-US" sz="1400">
                <a:ea typeface="+mn-lt"/>
                <a:cs typeface="+mn-lt"/>
              </a:rPr>
              <a:t> </a:t>
            </a:r>
            <a:r>
              <a:rPr lang="en-US" sz="1400" err="1">
                <a:ea typeface="+mn-lt"/>
                <a:cs typeface="+mn-lt"/>
              </a:rPr>
              <a:t>ми</a:t>
            </a:r>
            <a:r>
              <a:rPr lang="en-US" sz="1400">
                <a:ea typeface="+mn-lt"/>
                <a:cs typeface="+mn-lt"/>
              </a:rPr>
              <a:t> </a:t>
            </a:r>
            <a:r>
              <a:rPr lang="en-US" sz="1400" err="1">
                <a:ea typeface="+mn-lt"/>
                <a:cs typeface="+mn-lt"/>
              </a:rPr>
              <a:t>отделите</a:t>
            </a:r>
            <a:r>
              <a:rPr lang="en-US" sz="1400">
                <a:ea typeface="+mn-lt"/>
                <a:cs typeface="+mn-lt"/>
              </a:rPr>
              <a:t> </a:t>
            </a:r>
            <a:r>
              <a:rPr lang="en-US" sz="1400" err="1">
                <a:ea typeface="+mn-lt"/>
                <a:cs typeface="+mn-lt"/>
              </a:rPr>
              <a:t>една</a:t>
            </a:r>
            <a:r>
              <a:rPr lang="en-US" sz="1400">
                <a:ea typeface="+mn-lt"/>
                <a:cs typeface="+mn-lt"/>
              </a:rPr>
              <a:t>, </a:t>
            </a:r>
            <a:r>
              <a:rPr lang="en-US" sz="1400" err="1">
                <a:ea typeface="+mn-lt"/>
                <a:cs typeface="+mn-lt"/>
              </a:rPr>
              <a:t>две</a:t>
            </a:r>
            <a:r>
              <a:rPr lang="en-US" sz="1400">
                <a:ea typeface="+mn-lt"/>
                <a:cs typeface="+mn-lt"/>
              </a:rPr>
              <a:t> </a:t>
            </a:r>
            <a:r>
              <a:rPr lang="en-US" sz="1400" err="1">
                <a:ea typeface="+mn-lt"/>
                <a:cs typeface="+mn-lt"/>
              </a:rPr>
              <a:t>минути</a:t>
            </a:r>
            <a:r>
              <a:rPr lang="en-US" sz="1400">
                <a:ea typeface="+mn-lt"/>
                <a:cs typeface="+mn-lt"/>
              </a:rPr>
              <a:t>, </a:t>
            </a:r>
            <a:r>
              <a:rPr lang="en-US" sz="1400" err="1">
                <a:ea typeface="+mn-lt"/>
                <a:cs typeface="+mn-lt"/>
              </a:rPr>
              <a:t>за</a:t>
            </a:r>
            <a:r>
              <a:rPr lang="en-US" sz="1400">
                <a:ea typeface="+mn-lt"/>
                <a:cs typeface="+mn-lt"/>
              </a:rPr>
              <a:t> </a:t>
            </a:r>
            <a:r>
              <a:rPr lang="en-US" sz="1400" err="1">
                <a:ea typeface="+mn-lt"/>
                <a:cs typeface="+mn-lt"/>
              </a:rPr>
              <a:t>да</a:t>
            </a:r>
            <a:r>
              <a:rPr lang="en-US" sz="1400">
                <a:ea typeface="+mn-lt"/>
                <a:cs typeface="+mn-lt"/>
              </a:rPr>
              <a:t> </a:t>
            </a:r>
            <a:r>
              <a:rPr lang="en-US" sz="1400" err="1">
                <a:ea typeface="+mn-lt"/>
                <a:cs typeface="+mn-lt"/>
              </a:rPr>
              <a:t>Ви</a:t>
            </a:r>
            <a:r>
              <a:rPr lang="en-US" sz="1400">
                <a:ea typeface="+mn-lt"/>
                <a:cs typeface="+mn-lt"/>
              </a:rPr>
              <a:t> </a:t>
            </a:r>
            <a:r>
              <a:rPr lang="en-US" sz="1400" err="1">
                <a:ea typeface="+mn-lt"/>
                <a:cs typeface="+mn-lt"/>
              </a:rPr>
              <a:t>запозная</a:t>
            </a:r>
            <a:r>
              <a:rPr lang="en-US" sz="1400">
                <a:ea typeface="+mn-lt"/>
                <a:cs typeface="+mn-lt"/>
              </a:rPr>
              <a:t>? </a:t>
            </a:r>
            <a:br>
              <a:rPr lang="en-US" sz="1400">
                <a:ea typeface="+mn-lt"/>
                <a:cs typeface="+mn-lt"/>
              </a:rPr>
            </a:br>
            <a:r>
              <a:rPr lang="en-US" sz="1400">
                <a:ea typeface="+mn-lt"/>
                <a:cs typeface="+mn-lt"/>
              </a:rPr>
              <a:t>-</a:t>
            </a:r>
            <a:r>
              <a:rPr lang="en-US" sz="1400" err="1">
                <a:ea typeface="+mn-lt"/>
                <a:cs typeface="+mn-lt"/>
              </a:rPr>
              <a:t>Да</a:t>
            </a:r>
            <a:r>
              <a:rPr lang="en-US" sz="1400">
                <a:ea typeface="+mn-lt"/>
                <a:cs typeface="+mn-lt"/>
              </a:rPr>
              <a:t> (</a:t>
            </a:r>
            <a:r>
              <a:rPr lang="en-US" sz="1400" err="1">
                <a:ea typeface="+mn-lt"/>
                <a:cs typeface="+mn-lt"/>
              </a:rPr>
              <a:t>слушам</a:t>
            </a:r>
            <a:r>
              <a:rPr lang="en-US" sz="1400">
                <a:ea typeface="+mn-lt"/>
                <a:cs typeface="+mn-lt"/>
              </a:rPr>
              <a:t> </a:t>
            </a:r>
            <a:r>
              <a:rPr lang="en-US" sz="1400" err="1">
                <a:ea typeface="+mn-lt"/>
                <a:cs typeface="+mn-lt"/>
              </a:rPr>
              <a:t>Ви</a:t>
            </a:r>
            <a:r>
              <a:rPr lang="en-US" sz="1400">
                <a:ea typeface="+mn-lt"/>
                <a:cs typeface="+mn-lt"/>
              </a:rPr>
              <a:t>).</a:t>
            </a:r>
            <a:br>
              <a:rPr lang="en-US" sz="1400">
                <a:ea typeface="+mn-lt"/>
                <a:cs typeface="+mn-lt"/>
              </a:rPr>
            </a:br>
            <a:r>
              <a:rPr lang="en-US" sz="1400" b="1">
                <a:ea typeface="+mn-lt"/>
                <a:cs typeface="+mn-lt"/>
              </a:rPr>
              <a:t> (</a:t>
            </a:r>
            <a:r>
              <a:rPr lang="en-US" sz="1400" b="1" err="1">
                <a:ea typeface="+mn-lt"/>
                <a:cs typeface="+mn-lt"/>
              </a:rPr>
              <a:t>Представяне</a:t>
            </a:r>
            <a:r>
              <a:rPr lang="en-US" sz="1400" b="1">
                <a:ea typeface="+mn-lt"/>
                <a:cs typeface="+mn-lt"/>
              </a:rPr>
              <a:t> </a:t>
            </a:r>
            <a:r>
              <a:rPr lang="en-US" sz="1400" b="1" err="1">
                <a:ea typeface="+mn-lt"/>
                <a:cs typeface="+mn-lt"/>
              </a:rPr>
              <a:t>на</a:t>
            </a:r>
            <a:r>
              <a:rPr lang="en-US" sz="1400" b="1">
                <a:ea typeface="+mn-lt"/>
                <a:cs typeface="+mn-lt"/>
              </a:rPr>
              <a:t> </a:t>
            </a:r>
            <a:r>
              <a:rPr lang="en-US" sz="1400" b="1" err="1">
                <a:ea typeface="+mn-lt"/>
                <a:cs typeface="+mn-lt"/>
              </a:rPr>
              <a:t>предложнието</a:t>
            </a:r>
            <a:r>
              <a:rPr lang="en-US" sz="1400">
                <a:ea typeface="+mn-lt"/>
                <a:cs typeface="+mn-lt"/>
              </a:rPr>
              <a:t>)</a:t>
            </a:r>
            <a:br>
              <a:rPr lang="en-US" sz="1400">
                <a:ea typeface="+mn-lt"/>
                <a:cs typeface="+mn-lt"/>
              </a:rPr>
            </a:br>
            <a:r>
              <a:rPr lang="en-US" sz="1400">
                <a:ea typeface="+mn-lt"/>
                <a:cs typeface="+mn-lt"/>
              </a:rPr>
              <a:t> -</a:t>
            </a:r>
            <a:r>
              <a:rPr lang="en-US" sz="1400" err="1">
                <a:ea typeface="+mn-lt"/>
                <a:cs typeface="+mn-lt"/>
              </a:rPr>
              <a:t>Как</a:t>
            </a:r>
            <a:r>
              <a:rPr lang="en-US" sz="1400">
                <a:ea typeface="+mn-lt"/>
                <a:cs typeface="+mn-lt"/>
              </a:rPr>
              <a:t> </a:t>
            </a:r>
            <a:r>
              <a:rPr lang="en-US" sz="1400" err="1">
                <a:ea typeface="+mn-lt"/>
                <a:cs typeface="+mn-lt"/>
              </a:rPr>
              <a:t>Ви</a:t>
            </a:r>
            <a:r>
              <a:rPr lang="en-US" sz="1400">
                <a:ea typeface="+mn-lt"/>
                <a:cs typeface="+mn-lt"/>
              </a:rPr>
              <a:t> </a:t>
            </a:r>
            <a:r>
              <a:rPr lang="en-US" sz="1400" err="1">
                <a:ea typeface="+mn-lt"/>
                <a:cs typeface="+mn-lt"/>
              </a:rPr>
              <a:t>се</a:t>
            </a:r>
            <a:r>
              <a:rPr lang="en-US" sz="1400">
                <a:ea typeface="+mn-lt"/>
                <a:cs typeface="+mn-lt"/>
              </a:rPr>
              <a:t> </a:t>
            </a:r>
            <a:r>
              <a:rPr lang="en-US" sz="1400" err="1">
                <a:ea typeface="+mn-lt"/>
                <a:cs typeface="+mn-lt"/>
              </a:rPr>
              <a:t>струва</a:t>
            </a:r>
            <a:r>
              <a:rPr lang="en-US" sz="1400">
                <a:ea typeface="+mn-lt"/>
                <a:cs typeface="+mn-lt"/>
              </a:rPr>
              <a:t> </a:t>
            </a:r>
            <a:r>
              <a:rPr lang="en-US" sz="1400" err="1">
                <a:ea typeface="+mn-lt"/>
                <a:cs typeface="+mn-lt"/>
              </a:rPr>
              <a:t>моето</a:t>
            </a:r>
            <a:r>
              <a:rPr lang="en-US" sz="1400">
                <a:ea typeface="+mn-lt"/>
                <a:cs typeface="+mn-lt"/>
              </a:rPr>
              <a:t> </a:t>
            </a:r>
            <a:r>
              <a:rPr lang="en-US" sz="1400" err="1">
                <a:ea typeface="+mn-lt"/>
                <a:cs typeface="+mn-lt"/>
              </a:rPr>
              <a:t>предложение</a:t>
            </a:r>
            <a:r>
              <a:rPr lang="en-US" sz="1400">
                <a:ea typeface="+mn-lt"/>
                <a:cs typeface="+mn-lt"/>
              </a:rPr>
              <a:t>?</a:t>
            </a:r>
            <a:endParaRPr lang="en-US">
              <a:ea typeface="+mn-lt"/>
              <a:cs typeface="+mn-lt"/>
            </a:endParaRPr>
          </a:p>
          <a:p>
            <a:endParaRPr lang="en-US" sz="1400"/>
          </a:p>
        </p:txBody>
      </p:sp>
      <p:sp>
        <p:nvSpPr>
          <p:cNvPr id="23" name="Rectangle: Rounded Corners 9">
            <a:extLst>
              <a:ext uri="{FF2B5EF4-FFF2-40B4-BE49-F238E27FC236}">
                <a16:creationId xmlns:a16="http://schemas.microsoft.com/office/drawing/2014/main" id="{40952987-1B5F-1A6A-F9C0-5D1AC367D038}"/>
              </a:ext>
            </a:extLst>
          </p:cNvPr>
          <p:cNvSpPr/>
          <p:nvPr/>
        </p:nvSpPr>
        <p:spPr>
          <a:xfrm>
            <a:off x="1970479" y="2082636"/>
            <a:ext cx="2932281" cy="677241"/>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bg-BG" sz="1600"/>
              <a:t>Предварително одобрен клиент</a:t>
            </a:r>
            <a:endParaRPr lang="en-GB" sz="1600"/>
          </a:p>
        </p:txBody>
      </p:sp>
      <p:sp>
        <p:nvSpPr>
          <p:cNvPr id="25" name="Rectangle: Rounded Corners 11">
            <a:extLst>
              <a:ext uri="{FF2B5EF4-FFF2-40B4-BE49-F238E27FC236}">
                <a16:creationId xmlns:a16="http://schemas.microsoft.com/office/drawing/2014/main" id="{460230BB-933A-EC38-70BB-B298EA156213}"/>
              </a:ext>
            </a:extLst>
          </p:cNvPr>
          <p:cNvSpPr/>
          <p:nvPr/>
        </p:nvSpPr>
        <p:spPr>
          <a:xfrm>
            <a:off x="1970478" y="1278878"/>
            <a:ext cx="2932281" cy="677241"/>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bg-BG" sz="1600"/>
              <a:t>Лоялен клиент</a:t>
            </a:r>
            <a:endParaRPr lang="en-GB" sz="1600"/>
          </a:p>
        </p:txBody>
      </p:sp>
      <p:sp>
        <p:nvSpPr>
          <p:cNvPr id="34" name="Rectangle: Rounded Corners 13">
            <a:extLst>
              <a:ext uri="{FF2B5EF4-FFF2-40B4-BE49-F238E27FC236}">
                <a16:creationId xmlns:a16="http://schemas.microsoft.com/office/drawing/2014/main" id="{DC1FBD1F-BBA4-8D17-1462-8356D96EFA04}"/>
              </a:ext>
            </a:extLst>
          </p:cNvPr>
          <p:cNvSpPr/>
          <p:nvPr/>
        </p:nvSpPr>
        <p:spPr>
          <a:xfrm>
            <a:off x="1970478" y="2942850"/>
            <a:ext cx="2932281" cy="677241"/>
          </a:xfrm>
          <a:prstGeom prst="roundRect">
            <a:avLst/>
          </a:prstGeom>
          <a:solidFill>
            <a:schemeClr val="bg2">
              <a:lumMod val="75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bg-BG" sz="1600"/>
              <a:t>Промо кампания</a:t>
            </a:r>
            <a:endParaRPr lang="en-GB" sz="1600"/>
          </a:p>
        </p:txBody>
      </p:sp>
      <p:sp>
        <p:nvSpPr>
          <p:cNvPr id="38" name="Rectangle 9">
            <a:extLst>
              <a:ext uri="{FF2B5EF4-FFF2-40B4-BE49-F238E27FC236}">
                <a16:creationId xmlns:a16="http://schemas.microsoft.com/office/drawing/2014/main" id="{36A8A698-411D-A861-6EEC-31BB15C41856}"/>
              </a:ext>
            </a:extLst>
          </p:cNvPr>
          <p:cNvSpPr/>
          <p:nvPr/>
        </p:nvSpPr>
        <p:spPr>
          <a:xfrm>
            <a:off x="1970475" y="4751213"/>
            <a:ext cx="2932281" cy="677241"/>
          </a:xfrm>
          <a:prstGeom prst="roundRect">
            <a:avLst/>
          </a:prstGeom>
          <a:solidFill>
            <a:schemeClr val="bg2">
              <a:lumMod val="75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По препоръка</a:t>
            </a:r>
            <a:endParaRPr lang="en-GB" sz="1600"/>
          </a:p>
        </p:txBody>
      </p:sp>
      <p:sp>
        <p:nvSpPr>
          <p:cNvPr id="42" name="Rectangle 11">
            <a:extLst>
              <a:ext uri="{FF2B5EF4-FFF2-40B4-BE49-F238E27FC236}">
                <a16:creationId xmlns:a16="http://schemas.microsoft.com/office/drawing/2014/main" id="{6680624B-8ED5-76AF-79BB-181076956213}"/>
              </a:ext>
            </a:extLst>
          </p:cNvPr>
          <p:cNvSpPr/>
          <p:nvPr/>
        </p:nvSpPr>
        <p:spPr>
          <a:xfrm>
            <a:off x="1970476" y="3838446"/>
            <a:ext cx="2932281" cy="677241"/>
          </a:xfrm>
          <a:prstGeom prst="roundRect">
            <a:avLst/>
          </a:prstGeom>
          <a:solidFill>
            <a:schemeClr val="bg2">
              <a:lumMod val="75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bg-BG" sz="1600"/>
              <a:t>Продукт „Пенсионер“</a:t>
            </a:r>
            <a:endParaRPr lang="en-GB" sz="1600"/>
          </a:p>
        </p:txBody>
      </p:sp>
      <p:sp>
        <p:nvSpPr>
          <p:cNvPr id="3" name="Текстово поле 23">
            <a:extLst>
              <a:ext uri="{FF2B5EF4-FFF2-40B4-BE49-F238E27FC236}">
                <a16:creationId xmlns:a16="http://schemas.microsoft.com/office/drawing/2014/main" id="{7D5E2667-91E5-88B5-6E39-D3C359AAF0EC}"/>
              </a:ext>
            </a:extLst>
          </p:cNvPr>
          <p:cNvSpPr txBox="1"/>
          <p:nvPr/>
        </p:nvSpPr>
        <p:spPr>
          <a:xfrm>
            <a:off x="3362960" y="6360160"/>
            <a:ext cx="6390640" cy="3487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bg-BG" sz="1600" i="1"/>
              <a:t>Съдържа сценарии от дървото, изпратено като документ</a:t>
            </a:r>
          </a:p>
        </p:txBody>
      </p:sp>
    </p:spTree>
    <p:extLst>
      <p:ext uri="{BB962C8B-B14F-4D97-AF65-F5344CB8AC3E}">
        <p14:creationId xmlns:p14="http://schemas.microsoft.com/office/powerpoint/2010/main" val="42759396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E5ED2F-0E72-EC1C-87B7-8AC4B9FE39A4}"/>
            </a:ext>
          </a:extLst>
        </p:cNvPr>
        <p:cNvGrpSpPr/>
        <p:nvPr/>
      </p:nvGrpSpPr>
      <p:grpSpPr>
        <a:xfrm>
          <a:off x="0" y="0"/>
          <a:ext cx="0" cy="0"/>
          <a:chOff x="0" y="0"/>
          <a:chExt cx="0" cy="0"/>
        </a:xfrm>
      </p:grpSpPr>
      <p:sp>
        <p:nvSpPr>
          <p:cNvPr id="27" name="Rectangle 3">
            <a:extLst>
              <a:ext uri="{FF2B5EF4-FFF2-40B4-BE49-F238E27FC236}">
                <a16:creationId xmlns:a16="http://schemas.microsoft.com/office/drawing/2014/main" id="{673CA292-C2B3-9737-3FDD-B0AADDF32083}"/>
              </a:ext>
            </a:extLst>
          </p:cNvPr>
          <p:cNvSpPr/>
          <p:nvPr/>
        </p:nvSpPr>
        <p:spPr>
          <a:xfrm>
            <a:off x="1443475" y="4245"/>
            <a:ext cx="5338363" cy="677242"/>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28" name="Rectangle 4">
            <a:extLst>
              <a:ext uri="{FF2B5EF4-FFF2-40B4-BE49-F238E27FC236}">
                <a16:creationId xmlns:a16="http://schemas.microsoft.com/office/drawing/2014/main" id="{4785D4B2-397B-A49F-460A-60DFD6CC3076}"/>
              </a:ext>
            </a:extLst>
          </p:cNvPr>
          <p:cNvSpPr/>
          <p:nvPr/>
        </p:nvSpPr>
        <p:spPr>
          <a:xfrm>
            <a:off x="6788435" y="4245"/>
            <a:ext cx="5417300" cy="677242"/>
          </a:xfrm>
          <a:prstGeom prst="rect">
            <a:avLst/>
          </a:prstGeom>
          <a:solidFill>
            <a:schemeClr val="bg2">
              <a:lumMod val="75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29" name="Rectangle 28">
            <a:extLst>
              <a:ext uri="{FF2B5EF4-FFF2-40B4-BE49-F238E27FC236}">
                <a16:creationId xmlns:a16="http://schemas.microsoft.com/office/drawing/2014/main" id="{ACD9227D-329B-0F71-6260-09923EE18661}"/>
              </a:ext>
            </a:extLst>
          </p:cNvPr>
          <p:cNvSpPr/>
          <p:nvPr/>
        </p:nvSpPr>
        <p:spPr>
          <a:xfrm>
            <a:off x="-1671" y="1599"/>
            <a:ext cx="1451167" cy="6866954"/>
          </a:xfrm>
          <a:prstGeom prst="rect">
            <a:avLst/>
          </a:prstGeom>
          <a:solidFill>
            <a:srgbClr val="4472C4"/>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200">
              <a:latin typeface="Aptos"/>
              <a:ea typeface="Calibri"/>
              <a:cs typeface="Calibri"/>
            </a:endParaRPr>
          </a:p>
        </p:txBody>
      </p:sp>
      <p:sp>
        <p:nvSpPr>
          <p:cNvPr id="30" name="Rectangle 29">
            <a:extLst>
              <a:ext uri="{FF2B5EF4-FFF2-40B4-BE49-F238E27FC236}">
                <a16:creationId xmlns:a16="http://schemas.microsoft.com/office/drawing/2014/main" id="{7D4E1B32-3065-A616-0FB6-EA96A37C89AB}"/>
              </a:ext>
            </a:extLst>
          </p:cNvPr>
          <p:cNvSpPr/>
          <p:nvPr/>
        </p:nvSpPr>
        <p:spPr>
          <a:xfrm>
            <a:off x="-1671" y="2528038"/>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Типове клиенти</a:t>
            </a:r>
            <a:endParaRPr lang="en-GB" sz="1400">
              <a:latin typeface="Aptos"/>
              <a:ea typeface="Calibri"/>
              <a:cs typeface="Calibri"/>
            </a:endParaRPr>
          </a:p>
        </p:txBody>
      </p:sp>
      <p:sp>
        <p:nvSpPr>
          <p:cNvPr id="31" name="Rectangle 30">
            <a:extLst>
              <a:ext uri="{FF2B5EF4-FFF2-40B4-BE49-F238E27FC236}">
                <a16:creationId xmlns:a16="http://schemas.microsoft.com/office/drawing/2014/main" id="{128F459F-F6D4-F4FE-8AEC-18360F33E6A1}"/>
              </a:ext>
            </a:extLst>
          </p:cNvPr>
          <p:cNvSpPr/>
          <p:nvPr/>
        </p:nvSpPr>
        <p:spPr>
          <a:xfrm>
            <a:off x="8626" y="1913210"/>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b="1">
                <a:solidFill>
                  <a:srgbClr val="2F5597"/>
                </a:solidFill>
                <a:latin typeface="Aptos"/>
                <a:ea typeface="Calibri"/>
                <a:cs typeface="Calibri"/>
              </a:rPr>
              <a:t>Сценарии</a:t>
            </a:r>
            <a:endParaRPr lang="en-GB" sz="1400" b="1">
              <a:solidFill>
                <a:srgbClr val="2F5597"/>
              </a:solidFill>
              <a:latin typeface="Aptos"/>
              <a:ea typeface="Calibri"/>
              <a:cs typeface="Calibri"/>
            </a:endParaRPr>
          </a:p>
        </p:txBody>
      </p:sp>
      <p:sp>
        <p:nvSpPr>
          <p:cNvPr id="32" name="Rectangle 31">
            <a:extLst>
              <a:ext uri="{FF2B5EF4-FFF2-40B4-BE49-F238E27FC236}">
                <a16:creationId xmlns:a16="http://schemas.microsoft.com/office/drawing/2014/main" id="{9379C543-5BDD-2A72-3285-3386E6CEDB04}"/>
              </a:ext>
            </a:extLst>
          </p:cNvPr>
          <p:cNvSpPr/>
          <p:nvPr/>
        </p:nvSpPr>
        <p:spPr>
          <a:xfrm>
            <a:off x="-1671" y="1298382"/>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a:solidFill>
                  <a:schemeClr val="bg1"/>
                </a:solidFill>
                <a:latin typeface="Aptos"/>
                <a:ea typeface="Calibri"/>
                <a:cs typeface="Calibri"/>
              </a:rPr>
              <a:t>Стъпки в обаждането</a:t>
            </a:r>
            <a:endParaRPr lang="bg-BG" sz="1400">
              <a:solidFill>
                <a:srgbClr val="000000"/>
              </a:solidFill>
              <a:latin typeface="Aptos"/>
              <a:ea typeface="Calibri"/>
              <a:cs typeface="Calibri"/>
            </a:endParaRPr>
          </a:p>
        </p:txBody>
      </p:sp>
      <p:sp>
        <p:nvSpPr>
          <p:cNvPr id="33" name="Rectangle 28">
            <a:extLst>
              <a:ext uri="{FF2B5EF4-FFF2-40B4-BE49-F238E27FC236}">
                <a16:creationId xmlns:a16="http://schemas.microsoft.com/office/drawing/2014/main" id="{CA664CC2-9C71-7AD2-EA7A-944B2105E4BF}"/>
              </a:ext>
            </a:extLst>
          </p:cNvPr>
          <p:cNvSpPr/>
          <p:nvPr/>
        </p:nvSpPr>
        <p:spPr>
          <a:xfrm>
            <a:off x="6154" y="690328"/>
            <a:ext cx="1435083"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a:solidFill>
                  <a:schemeClr val="bg1"/>
                </a:solidFill>
                <a:latin typeface="Aptos"/>
                <a:ea typeface="Calibri"/>
                <a:cs typeface="Calibri"/>
              </a:rPr>
              <a:t>Подготовка</a:t>
            </a:r>
            <a:endParaRPr lang="en-GB" sz="1400">
              <a:solidFill>
                <a:schemeClr val="bg1"/>
              </a:solidFill>
              <a:latin typeface="Aptos"/>
              <a:ea typeface="Calibri"/>
              <a:cs typeface="Calibri"/>
            </a:endParaRPr>
          </a:p>
        </p:txBody>
      </p:sp>
      <p:pic>
        <p:nvPicPr>
          <p:cNvPr id="35" name="Picture 34">
            <a:extLst>
              <a:ext uri="{FF2B5EF4-FFF2-40B4-BE49-F238E27FC236}">
                <a16:creationId xmlns:a16="http://schemas.microsoft.com/office/drawing/2014/main" id="{203DB3B6-1C72-602E-F6CB-3C199789E25B}"/>
              </a:ext>
            </a:extLst>
          </p:cNvPr>
          <p:cNvPicPr>
            <a:picLocks noChangeAspect="1"/>
          </p:cNvPicPr>
          <p:nvPr/>
        </p:nvPicPr>
        <p:blipFill>
          <a:blip r:embed="rId2"/>
          <a:stretch>
            <a:fillRect/>
          </a:stretch>
        </p:blipFill>
        <p:spPr>
          <a:xfrm>
            <a:off x="11122828" y="5851667"/>
            <a:ext cx="982751" cy="995681"/>
          </a:xfrm>
          <a:prstGeom prst="rect">
            <a:avLst/>
          </a:prstGeom>
        </p:spPr>
      </p:pic>
      <p:sp>
        <p:nvSpPr>
          <p:cNvPr id="39" name="Rectangle: Rounded Corners 1">
            <a:extLst>
              <a:ext uri="{FF2B5EF4-FFF2-40B4-BE49-F238E27FC236}">
                <a16:creationId xmlns:a16="http://schemas.microsoft.com/office/drawing/2014/main" id="{07B305C9-2F6E-A79C-32EC-2B353C3A1ECC}"/>
              </a:ext>
            </a:extLst>
          </p:cNvPr>
          <p:cNvSpPr/>
          <p:nvPr/>
        </p:nvSpPr>
        <p:spPr>
          <a:xfrm>
            <a:off x="5170219" y="4260557"/>
            <a:ext cx="1290593" cy="336781"/>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200"/>
              <a:t>Харесва ми!</a:t>
            </a:r>
          </a:p>
        </p:txBody>
      </p:sp>
      <p:sp>
        <p:nvSpPr>
          <p:cNvPr id="5" name="Правоъгълник: със заоблени ъгли 37">
            <a:extLst>
              <a:ext uri="{FF2B5EF4-FFF2-40B4-BE49-F238E27FC236}">
                <a16:creationId xmlns:a16="http://schemas.microsoft.com/office/drawing/2014/main" id="{EE27BAEB-7CBA-EB77-61CF-28AE5E9548AB}"/>
              </a:ext>
            </a:extLst>
          </p:cNvPr>
          <p:cNvSpPr/>
          <p:nvPr/>
        </p:nvSpPr>
        <p:spPr>
          <a:xfrm>
            <a:off x="5167063" y="885680"/>
            <a:ext cx="4325063" cy="65453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bg-BG" sz="1600" b="1">
                <a:solidFill>
                  <a:srgbClr val="1F3864"/>
                </a:solidFill>
              </a:rPr>
              <a:t>1.Отваряне и Предложение</a:t>
            </a:r>
          </a:p>
        </p:txBody>
      </p:sp>
      <p:sp>
        <p:nvSpPr>
          <p:cNvPr id="7" name="Правоъгълник: със заоблени ъгли 41">
            <a:extLst>
              <a:ext uri="{FF2B5EF4-FFF2-40B4-BE49-F238E27FC236}">
                <a16:creationId xmlns:a16="http://schemas.microsoft.com/office/drawing/2014/main" id="{966E549C-B592-A3C1-0F3C-EC0F2D93E826}"/>
              </a:ext>
            </a:extLst>
          </p:cNvPr>
          <p:cNvSpPr/>
          <p:nvPr/>
        </p:nvSpPr>
        <p:spPr>
          <a:xfrm>
            <a:off x="5165601" y="3088251"/>
            <a:ext cx="4333237" cy="343178"/>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bg-BG" sz="1600" b="1">
                <a:solidFill>
                  <a:schemeClr val="accent1">
                    <a:lumMod val="49000"/>
                  </a:schemeClr>
                </a:solidFill>
              </a:rPr>
              <a:t>2. Възражение и отговор</a:t>
            </a:r>
          </a:p>
        </p:txBody>
      </p:sp>
      <p:sp>
        <p:nvSpPr>
          <p:cNvPr id="15" name="TextBox 14">
            <a:extLst>
              <a:ext uri="{FF2B5EF4-FFF2-40B4-BE49-F238E27FC236}">
                <a16:creationId xmlns:a16="http://schemas.microsoft.com/office/drawing/2014/main" id="{0B878B15-44FE-2145-79B9-4A0E7E3105B8}"/>
              </a:ext>
            </a:extLst>
          </p:cNvPr>
          <p:cNvSpPr txBox="1"/>
          <p:nvPr/>
        </p:nvSpPr>
        <p:spPr>
          <a:xfrm>
            <a:off x="5333180" y="1291211"/>
            <a:ext cx="6443040"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a:ea typeface="+mn-lt"/>
                <a:cs typeface="+mn-lt"/>
              </a:rPr>
              <a:t>-</a:t>
            </a:r>
            <a:r>
              <a:rPr lang="en-US" sz="1400">
                <a:ea typeface="+mn-lt"/>
                <a:cs typeface="+mn-lt"/>
              </a:rPr>
              <a:t>Добър ден, търся г-н/г-жа (две </a:t>
            </a:r>
            <a:r>
              <a:rPr lang="en-US" sz="1400" err="1">
                <a:ea typeface="+mn-lt"/>
                <a:cs typeface="+mn-lt"/>
              </a:rPr>
              <a:t>имена</a:t>
            </a:r>
            <a:r>
              <a:rPr lang="en-US" sz="1400">
                <a:ea typeface="+mn-lt"/>
                <a:cs typeface="+mn-lt"/>
              </a:rPr>
              <a:t> </a:t>
            </a:r>
            <a:r>
              <a:rPr lang="en-US" sz="1400" err="1">
                <a:ea typeface="+mn-lt"/>
                <a:cs typeface="+mn-lt"/>
              </a:rPr>
              <a:t>на</a:t>
            </a:r>
            <a:r>
              <a:rPr lang="en-US" sz="1400">
                <a:ea typeface="+mn-lt"/>
                <a:cs typeface="+mn-lt"/>
              </a:rPr>
              <a:t> </a:t>
            </a:r>
            <a:r>
              <a:rPr lang="en-US" sz="1400" err="1">
                <a:ea typeface="+mn-lt"/>
                <a:cs typeface="+mn-lt"/>
              </a:rPr>
              <a:t>клиента</a:t>
            </a:r>
            <a:r>
              <a:rPr lang="en-US" sz="1400">
                <a:ea typeface="+mn-lt"/>
                <a:cs typeface="+mn-lt"/>
              </a:rPr>
              <a:t>).</a:t>
            </a:r>
            <a:br>
              <a:rPr lang="en-US" sz="1400">
                <a:ea typeface="+mn-lt"/>
                <a:cs typeface="+mn-lt"/>
              </a:rPr>
            </a:br>
            <a:r>
              <a:rPr lang="en-US" sz="1400">
                <a:ea typeface="+mn-lt"/>
                <a:cs typeface="+mn-lt"/>
              </a:rPr>
              <a:t> </a:t>
            </a:r>
            <a:r>
              <a:rPr lang="en-US" sz="1400" b="1">
                <a:ea typeface="+mn-lt"/>
                <a:cs typeface="+mn-lt"/>
              </a:rPr>
              <a:t>-</a:t>
            </a:r>
            <a:r>
              <a:rPr lang="en-US" sz="1400" err="1">
                <a:ea typeface="+mn-lt"/>
                <a:cs typeface="+mn-lt"/>
              </a:rPr>
              <a:t>Да</a:t>
            </a:r>
            <a:r>
              <a:rPr lang="en-US" sz="1400">
                <a:ea typeface="+mn-lt"/>
                <a:cs typeface="+mn-lt"/>
              </a:rPr>
              <a:t> (</a:t>
            </a:r>
            <a:r>
              <a:rPr lang="en-US" sz="1400" err="1">
                <a:ea typeface="+mn-lt"/>
                <a:cs typeface="+mn-lt"/>
              </a:rPr>
              <a:t>на</a:t>
            </a:r>
            <a:r>
              <a:rPr lang="en-US" sz="1400">
                <a:ea typeface="+mn-lt"/>
                <a:cs typeface="+mn-lt"/>
              </a:rPr>
              <a:t> </a:t>
            </a:r>
            <a:r>
              <a:rPr lang="en-US" sz="1400" err="1">
                <a:ea typeface="+mn-lt"/>
                <a:cs typeface="+mn-lt"/>
              </a:rPr>
              <a:t>телефона</a:t>
            </a:r>
            <a:r>
              <a:rPr lang="en-US" sz="1400">
                <a:ea typeface="+mn-lt"/>
                <a:cs typeface="+mn-lt"/>
              </a:rPr>
              <a:t>, </a:t>
            </a:r>
            <a:r>
              <a:rPr lang="en-US" sz="1400" err="1">
                <a:ea typeface="+mn-lt"/>
                <a:cs typeface="+mn-lt"/>
              </a:rPr>
              <a:t>аз</a:t>
            </a:r>
            <a:r>
              <a:rPr lang="en-US" sz="1400">
                <a:ea typeface="+mn-lt"/>
                <a:cs typeface="+mn-lt"/>
              </a:rPr>
              <a:t> </a:t>
            </a:r>
            <a:r>
              <a:rPr lang="en-US" sz="1400" err="1">
                <a:ea typeface="+mn-lt"/>
                <a:cs typeface="+mn-lt"/>
              </a:rPr>
              <a:t>съм</a:t>
            </a:r>
            <a:r>
              <a:rPr lang="en-US" sz="1400">
                <a:ea typeface="+mn-lt"/>
                <a:cs typeface="+mn-lt"/>
              </a:rPr>
              <a:t>).</a:t>
            </a:r>
            <a:br>
              <a:rPr lang="en-US" sz="1400">
                <a:ea typeface="+mn-lt"/>
                <a:cs typeface="+mn-lt"/>
              </a:rPr>
            </a:br>
            <a:r>
              <a:rPr lang="en-US" sz="1400">
                <a:ea typeface="+mn-lt"/>
                <a:cs typeface="+mn-lt"/>
              </a:rPr>
              <a:t> </a:t>
            </a:r>
            <a:r>
              <a:rPr lang="en-US" sz="1400" b="1">
                <a:ea typeface="+mn-lt"/>
                <a:cs typeface="+mn-lt"/>
              </a:rPr>
              <a:t>-</a:t>
            </a:r>
            <a:r>
              <a:rPr lang="en-US" sz="1400" err="1">
                <a:ea typeface="+mn-lt"/>
                <a:cs typeface="+mn-lt"/>
              </a:rPr>
              <a:t>Здравейте</a:t>
            </a:r>
            <a:r>
              <a:rPr lang="en-US" sz="1400">
                <a:ea typeface="+mn-lt"/>
                <a:cs typeface="+mn-lt"/>
              </a:rPr>
              <a:t> г-н/г-</a:t>
            </a:r>
            <a:r>
              <a:rPr lang="en-US" sz="1400" err="1">
                <a:ea typeface="+mn-lt"/>
                <a:cs typeface="+mn-lt"/>
              </a:rPr>
              <a:t>жо</a:t>
            </a:r>
            <a:r>
              <a:rPr lang="en-US" sz="1400">
                <a:ea typeface="+mn-lt"/>
                <a:cs typeface="+mn-lt"/>
              </a:rPr>
              <a:t> (</a:t>
            </a:r>
            <a:r>
              <a:rPr lang="en-US" sz="1400" err="1">
                <a:ea typeface="+mn-lt"/>
                <a:cs typeface="+mn-lt"/>
              </a:rPr>
              <a:t>фамилия</a:t>
            </a:r>
            <a:r>
              <a:rPr lang="en-US" sz="1400">
                <a:ea typeface="+mn-lt"/>
                <a:cs typeface="+mn-lt"/>
              </a:rPr>
              <a:t> </a:t>
            </a:r>
            <a:r>
              <a:rPr lang="en-US" sz="1400" err="1">
                <a:ea typeface="+mn-lt"/>
                <a:cs typeface="+mn-lt"/>
              </a:rPr>
              <a:t>на</a:t>
            </a:r>
            <a:r>
              <a:rPr lang="en-US" sz="1400">
                <a:ea typeface="+mn-lt"/>
                <a:cs typeface="+mn-lt"/>
              </a:rPr>
              <a:t> </a:t>
            </a:r>
            <a:r>
              <a:rPr lang="en-US" sz="1400" err="1">
                <a:ea typeface="+mn-lt"/>
                <a:cs typeface="+mn-lt"/>
              </a:rPr>
              <a:t>клиента</a:t>
            </a:r>
            <a:r>
              <a:rPr lang="en-US" sz="1400">
                <a:ea typeface="+mn-lt"/>
                <a:cs typeface="+mn-lt"/>
              </a:rPr>
              <a:t>), </a:t>
            </a:r>
            <a:r>
              <a:rPr lang="en-US" sz="1400" err="1">
                <a:ea typeface="+mn-lt"/>
                <a:cs typeface="+mn-lt"/>
              </a:rPr>
              <a:t>обаждам</a:t>
            </a:r>
            <a:r>
              <a:rPr lang="en-US" sz="1400">
                <a:ea typeface="+mn-lt"/>
                <a:cs typeface="+mn-lt"/>
              </a:rPr>
              <a:t> </a:t>
            </a:r>
            <a:r>
              <a:rPr lang="en-US" sz="1400" err="1">
                <a:ea typeface="+mn-lt"/>
                <a:cs typeface="+mn-lt"/>
              </a:rPr>
              <a:t>се</a:t>
            </a:r>
            <a:r>
              <a:rPr lang="en-US" sz="1400">
                <a:ea typeface="+mn-lt"/>
                <a:cs typeface="+mn-lt"/>
              </a:rPr>
              <a:t> </a:t>
            </a:r>
            <a:r>
              <a:rPr lang="en-US" sz="1400" err="1">
                <a:ea typeface="+mn-lt"/>
                <a:cs typeface="+mn-lt"/>
              </a:rPr>
              <a:t>от</a:t>
            </a:r>
            <a:r>
              <a:rPr lang="en-US" sz="1400">
                <a:ea typeface="+mn-lt"/>
                <a:cs typeface="+mn-lt"/>
              </a:rPr>
              <a:t> </a:t>
            </a:r>
            <a:r>
              <a:rPr lang="en-US" sz="1400" err="1">
                <a:ea typeface="+mn-lt"/>
                <a:cs typeface="+mn-lt"/>
              </a:rPr>
              <a:t>Изи</a:t>
            </a:r>
            <a:r>
              <a:rPr lang="en-US" sz="1400">
                <a:ea typeface="+mn-lt"/>
                <a:cs typeface="+mn-lt"/>
              </a:rPr>
              <a:t> </a:t>
            </a:r>
            <a:r>
              <a:rPr lang="en-US" sz="1400" err="1">
                <a:ea typeface="+mn-lt"/>
                <a:cs typeface="+mn-lt"/>
              </a:rPr>
              <a:t>Кредит</a:t>
            </a:r>
            <a:r>
              <a:rPr lang="en-US" sz="1400">
                <a:ea typeface="+mn-lt"/>
                <a:cs typeface="+mn-lt"/>
              </a:rPr>
              <a:t> </a:t>
            </a:r>
            <a:r>
              <a:rPr lang="en-US" sz="1400" err="1">
                <a:ea typeface="+mn-lt"/>
                <a:cs typeface="+mn-lt"/>
              </a:rPr>
              <a:t>във</a:t>
            </a:r>
            <a:r>
              <a:rPr lang="en-US" sz="1400">
                <a:ea typeface="+mn-lt"/>
                <a:cs typeface="+mn-lt"/>
              </a:rPr>
              <a:t> </a:t>
            </a:r>
            <a:r>
              <a:rPr lang="en-US" sz="1400" err="1">
                <a:ea typeface="+mn-lt"/>
                <a:cs typeface="+mn-lt"/>
              </a:rPr>
              <a:t>връзка</a:t>
            </a:r>
            <a:r>
              <a:rPr lang="en-US" sz="1400">
                <a:ea typeface="+mn-lt"/>
                <a:cs typeface="+mn-lt"/>
              </a:rPr>
              <a:t> с </a:t>
            </a:r>
            <a:r>
              <a:rPr lang="en-US" sz="1400" err="1">
                <a:ea typeface="+mn-lt"/>
                <a:cs typeface="+mn-lt"/>
              </a:rPr>
              <a:t>изготвено</a:t>
            </a:r>
            <a:r>
              <a:rPr lang="en-US" sz="1400">
                <a:ea typeface="+mn-lt"/>
                <a:cs typeface="+mn-lt"/>
              </a:rPr>
              <a:t> </a:t>
            </a:r>
            <a:r>
              <a:rPr lang="en-US" sz="1400" err="1">
                <a:ea typeface="+mn-lt"/>
                <a:cs typeface="+mn-lt"/>
              </a:rPr>
              <a:t>предложение</a:t>
            </a:r>
            <a:r>
              <a:rPr lang="en-US" sz="1400">
                <a:ea typeface="+mn-lt"/>
                <a:cs typeface="+mn-lt"/>
              </a:rPr>
              <a:t>, </a:t>
            </a:r>
            <a:r>
              <a:rPr lang="en-US" sz="1400" err="1">
                <a:ea typeface="+mn-lt"/>
                <a:cs typeface="+mn-lt"/>
              </a:rPr>
              <a:t>специално</a:t>
            </a:r>
            <a:r>
              <a:rPr lang="en-US" sz="1400">
                <a:ea typeface="+mn-lt"/>
                <a:cs typeface="+mn-lt"/>
              </a:rPr>
              <a:t> </a:t>
            </a:r>
            <a:r>
              <a:rPr lang="en-US" sz="1400" err="1">
                <a:ea typeface="+mn-lt"/>
                <a:cs typeface="+mn-lt"/>
              </a:rPr>
              <a:t>за</a:t>
            </a:r>
            <a:r>
              <a:rPr lang="en-US" sz="1400">
                <a:ea typeface="+mn-lt"/>
                <a:cs typeface="+mn-lt"/>
              </a:rPr>
              <a:t> </a:t>
            </a:r>
            <a:r>
              <a:rPr lang="en-US" sz="1400" err="1">
                <a:ea typeface="+mn-lt"/>
                <a:cs typeface="+mn-lt"/>
              </a:rPr>
              <a:t>Вас</a:t>
            </a:r>
            <a:r>
              <a:rPr lang="en-US" sz="1400">
                <a:ea typeface="+mn-lt"/>
                <a:cs typeface="+mn-lt"/>
              </a:rPr>
              <a:t>. </a:t>
            </a:r>
            <a:r>
              <a:rPr lang="en-US" sz="1400" err="1">
                <a:ea typeface="+mn-lt"/>
                <a:cs typeface="+mn-lt"/>
              </a:rPr>
              <a:t>Удобно</a:t>
            </a:r>
            <a:r>
              <a:rPr lang="en-US" sz="1400">
                <a:ea typeface="+mn-lt"/>
                <a:cs typeface="+mn-lt"/>
              </a:rPr>
              <a:t> </a:t>
            </a:r>
            <a:r>
              <a:rPr lang="en-US" sz="1400" err="1">
                <a:ea typeface="+mn-lt"/>
                <a:cs typeface="+mn-lt"/>
              </a:rPr>
              <a:t>ли</a:t>
            </a:r>
            <a:r>
              <a:rPr lang="en-US" sz="1400">
                <a:ea typeface="+mn-lt"/>
                <a:cs typeface="+mn-lt"/>
              </a:rPr>
              <a:t> е </a:t>
            </a:r>
            <a:r>
              <a:rPr lang="en-US" sz="1400" err="1">
                <a:ea typeface="+mn-lt"/>
                <a:cs typeface="+mn-lt"/>
              </a:rPr>
              <a:t>да</a:t>
            </a:r>
            <a:r>
              <a:rPr lang="en-US" sz="1400">
                <a:ea typeface="+mn-lt"/>
                <a:cs typeface="+mn-lt"/>
              </a:rPr>
              <a:t> </a:t>
            </a:r>
            <a:r>
              <a:rPr lang="en-US" sz="1400" err="1">
                <a:ea typeface="+mn-lt"/>
                <a:cs typeface="+mn-lt"/>
              </a:rPr>
              <a:t>ми</a:t>
            </a:r>
            <a:r>
              <a:rPr lang="en-US" sz="1400">
                <a:ea typeface="+mn-lt"/>
                <a:cs typeface="+mn-lt"/>
              </a:rPr>
              <a:t> </a:t>
            </a:r>
            <a:r>
              <a:rPr lang="en-US" sz="1400" err="1">
                <a:ea typeface="+mn-lt"/>
                <a:cs typeface="+mn-lt"/>
              </a:rPr>
              <a:t>отделите</a:t>
            </a:r>
            <a:r>
              <a:rPr lang="en-US" sz="1400">
                <a:ea typeface="+mn-lt"/>
                <a:cs typeface="+mn-lt"/>
              </a:rPr>
              <a:t> </a:t>
            </a:r>
            <a:r>
              <a:rPr lang="en-US" sz="1400" err="1">
                <a:ea typeface="+mn-lt"/>
                <a:cs typeface="+mn-lt"/>
              </a:rPr>
              <a:t>една</a:t>
            </a:r>
            <a:r>
              <a:rPr lang="en-US" sz="1400">
                <a:ea typeface="+mn-lt"/>
                <a:cs typeface="+mn-lt"/>
              </a:rPr>
              <a:t>, </a:t>
            </a:r>
            <a:r>
              <a:rPr lang="en-US" sz="1400" err="1">
                <a:ea typeface="+mn-lt"/>
                <a:cs typeface="+mn-lt"/>
              </a:rPr>
              <a:t>две</a:t>
            </a:r>
            <a:r>
              <a:rPr lang="en-US" sz="1400">
                <a:ea typeface="+mn-lt"/>
                <a:cs typeface="+mn-lt"/>
              </a:rPr>
              <a:t> </a:t>
            </a:r>
            <a:r>
              <a:rPr lang="en-US" sz="1400" err="1">
                <a:ea typeface="+mn-lt"/>
                <a:cs typeface="+mn-lt"/>
              </a:rPr>
              <a:t>минути</a:t>
            </a:r>
            <a:r>
              <a:rPr lang="en-US" sz="1400">
                <a:ea typeface="+mn-lt"/>
                <a:cs typeface="+mn-lt"/>
              </a:rPr>
              <a:t>, </a:t>
            </a:r>
            <a:r>
              <a:rPr lang="en-US" sz="1400" err="1">
                <a:ea typeface="+mn-lt"/>
                <a:cs typeface="+mn-lt"/>
              </a:rPr>
              <a:t>за</a:t>
            </a:r>
            <a:r>
              <a:rPr lang="en-US" sz="1400">
                <a:ea typeface="+mn-lt"/>
                <a:cs typeface="+mn-lt"/>
              </a:rPr>
              <a:t> </a:t>
            </a:r>
            <a:r>
              <a:rPr lang="en-US" sz="1400" err="1">
                <a:ea typeface="+mn-lt"/>
                <a:cs typeface="+mn-lt"/>
              </a:rPr>
              <a:t>да</a:t>
            </a:r>
            <a:r>
              <a:rPr lang="en-US" sz="1400">
                <a:ea typeface="+mn-lt"/>
                <a:cs typeface="+mn-lt"/>
              </a:rPr>
              <a:t> </a:t>
            </a:r>
            <a:r>
              <a:rPr lang="en-US" sz="1400" err="1">
                <a:ea typeface="+mn-lt"/>
                <a:cs typeface="+mn-lt"/>
              </a:rPr>
              <a:t>Ви</a:t>
            </a:r>
            <a:r>
              <a:rPr lang="en-US" sz="1400">
                <a:ea typeface="+mn-lt"/>
                <a:cs typeface="+mn-lt"/>
              </a:rPr>
              <a:t> </a:t>
            </a:r>
            <a:r>
              <a:rPr lang="en-US" sz="1400" err="1">
                <a:ea typeface="+mn-lt"/>
                <a:cs typeface="+mn-lt"/>
              </a:rPr>
              <a:t>запозная</a:t>
            </a:r>
            <a:r>
              <a:rPr lang="en-US" sz="1400">
                <a:ea typeface="+mn-lt"/>
                <a:cs typeface="+mn-lt"/>
              </a:rPr>
              <a:t>? </a:t>
            </a:r>
            <a:br>
              <a:rPr lang="en-US" sz="1400">
                <a:ea typeface="+mn-lt"/>
                <a:cs typeface="+mn-lt"/>
              </a:rPr>
            </a:br>
            <a:r>
              <a:rPr lang="en-US" sz="1400">
                <a:ea typeface="+mn-lt"/>
                <a:cs typeface="+mn-lt"/>
              </a:rPr>
              <a:t>-</a:t>
            </a:r>
            <a:r>
              <a:rPr lang="en-US" sz="1400" err="1">
                <a:ea typeface="+mn-lt"/>
                <a:cs typeface="+mn-lt"/>
              </a:rPr>
              <a:t>Да</a:t>
            </a:r>
            <a:r>
              <a:rPr lang="en-US" sz="1400">
                <a:ea typeface="+mn-lt"/>
                <a:cs typeface="+mn-lt"/>
              </a:rPr>
              <a:t> (</a:t>
            </a:r>
            <a:r>
              <a:rPr lang="en-US" sz="1400" err="1">
                <a:ea typeface="+mn-lt"/>
                <a:cs typeface="+mn-lt"/>
              </a:rPr>
              <a:t>слушам</a:t>
            </a:r>
            <a:r>
              <a:rPr lang="en-US" sz="1400">
                <a:ea typeface="+mn-lt"/>
                <a:cs typeface="+mn-lt"/>
              </a:rPr>
              <a:t> </a:t>
            </a:r>
            <a:r>
              <a:rPr lang="en-US" sz="1400" err="1">
                <a:ea typeface="+mn-lt"/>
                <a:cs typeface="+mn-lt"/>
              </a:rPr>
              <a:t>Ви</a:t>
            </a:r>
            <a:r>
              <a:rPr lang="en-US" sz="1400">
                <a:ea typeface="+mn-lt"/>
                <a:cs typeface="+mn-lt"/>
              </a:rPr>
              <a:t>).</a:t>
            </a:r>
            <a:br>
              <a:rPr lang="en-US" sz="1400">
                <a:ea typeface="+mn-lt"/>
                <a:cs typeface="+mn-lt"/>
              </a:rPr>
            </a:br>
            <a:r>
              <a:rPr lang="en-US" sz="1400" b="1">
                <a:ea typeface="+mn-lt"/>
                <a:cs typeface="+mn-lt"/>
              </a:rPr>
              <a:t> (</a:t>
            </a:r>
            <a:r>
              <a:rPr lang="en-US" sz="1400" b="1" err="1">
                <a:ea typeface="+mn-lt"/>
                <a:cs typeface="+mn-lt"/>
              </a:rPr>
              <a:t>Представяне</a:t>
            </a:r>
            <a:r>
              <a:rPr lang="en-US" sz="1400" b="1">
                <a:ea typeface="+mn-lt"/>
                <a:cs typeface="+mn-lt"/>
              </a:rPr>
              <a:t> </a:t>
            </a:r>
            <a:r>
              <a:rPr lang="en-US" sz="1400" b="1" err="1">
                <a:ea typeface="+mn-lt"/>
                <a:cs typeface="+mn-lt"/>
              </a:rPr>
              <a:t>на</a:t>
            </a:r>
            <a:r>
              <a:rPr lang="en-US" sz="1400" b="1">
                <a:ea typeface="+mn-lt"/>
                <a:cs typeface="+mn-lt"/>
              </a:rPr>
              <a:t> </a:t>
            </a:r>
            <a:r>
              <a:rPr lang="en-US" sz="1400" b="1" err="1">
                <a:ea typeface="+mn-lt"/>
                <a:cs typeface="+mn-lt"/>
              </a:rPr>
              <a:t>предложнието</a:t>
            </a:r>
            <a:r>
              <a:rPr lang="en-US" sz="1400">
                <a:ea typeface="+mn-lt"/>
                <a:cs typeface="+mn-lt"/>
              </a:rPr>
              <a:t>)</a:t>
            </a:r>
            <a:br>
              <a:rPr lang="en-US" sz="1400">
                <a:ea typeface="+mn-lt"/>
                <a:cs typeface="+mn-lt"/>
              </a:rPr>
            </a:br>
            <a:r>
              <a:rPr lang="en-US" sz="1400">
                <a:ea typeface="+mn-lt"/>
                <a:cs typeface="+mn-lt"/>
              </a:rPr>
              <a:t> -</a:t>
            </a:r>
            <a:r>
              <a:rPr lang="en-US" sz="1400" err="1">
                <a:ea typeface="+mn-lt"/>
                <a:cs typeface="+mn-lt"/>
              </a:rPr>
              <a:t>Как</a:t>
            </a:r>
            <a:r>
              <a:rPr lang="en-US" sz="1400">
                <a:ea typeface="+mn-lt"/>
                <a:cs typeface="+mn-lt"/>
              </a:rPr>
              <a:t> </a:t>
            </a:r>
            <a:r>
              <a:rPr lang="en-US" sz="1400" err="1">
                <a:ea typeface="+mn-lt"/>
                <a:cs typeface="+mn-lt"/>
              </a:rPr>
              <a:t>Ви</a:t>
            </a:r>
            <a:r>
              <a:rPr lang="en-US" sz="1400">
                <a:ea typeface="+mn-lt"/>
                <a:cs typeface="+mn-lt"/>
              </a:rPr>
              <a:t> </a:t>
            </a:r>
            <a:r>
              <a:rPr lang="en-US" sz="1400" err="1">
                <a:ea typeface="+mn-lt"/>
                <a:cs typeface="+mn-lt"/>
              </a:rPr>
              <a:t>се</a:t>
            </a:r>
            <a:r>
              <a:rPr lang="en-US" sz="1400">
                <a:ea typeface="+mn-lt"/>
                <a:cs typeface="+mn-lt"/>
              </a:rPr>
              <a:t> </a:t>
            </a:r>
            <a:r>
              <a:rPr lang="en-US" sz="1400" err="1">
                <a:ea typeface="+mn-lt"/>
                <a:cs typeface="+mn-lt"/>
              </a:rPr>
              <a:t>струва</a:t>
            </a:r>
            <a:r>
              <a:rPr lang="en-US" sz="1400">
                <a:ea typeface="+mn-lt"/>
                <a:cs typeface="+mn-lt"/>
              </a:rPr>
              <a:t> </a:t>
            </a:r>
            <a:r>
              <a:rPr lang="en-US" sz="1400" err="1">
                <a:ea typeface="+mn-lt"/>
                <a:cs typeface="+mn-lt"/>
              </a:rPr>
              <a:t>моето</a:t>
            </a:r>
            <a:r>
              <a:rPr lang="en-US" sz="1400">
                <a:ea typeface="+mn-lt"/>
                <a:cs typeface="+mn-lt"/>
              </a:rPr>
              <a:t> </a:t>
            </a:r>
            <a:r>
              <a:rPr lang="en-US" sz="1400" err="1">
                <a:ea typeface="+mn-lt"/>
                <a:cs typeface="+mn-lt"/>
              </a:rPr>
              <a:t>предложение</a:t>
            </a:r>
            <a:r>
              <a:rPr lang="en-US" sz="1400">
                <a:ea typeface="+mn-lt"/>
                <a:cs typeface="+mn-lt"/>
              </a:rPr>
              <a:t>?</a:t>
            </a:r>
            <a:endParaRPr lang="en-US">
              <a:ea typeface="+mn-lt"/>
              <a:cs typeface="+mn-lt"/>
            </a:endParaRPr>
          </a:p>
          <a:p>
            <a:endParaRPr lang="en-US" sz="1400"/>
          </a:p>
        </p:txBody>
      </p:sp>
      <p:sp>
        <p:nvSpPr>
          <p:cNvPr id="23" name="Rectangle: Rounded Corners 9">
            <a:extLst>
              <a:ext uri="{FF2B5EF4-FFF2-40B4-BE49-F238E27FC236}">
                <a16:creationId xmlns:a16="http://schemas.microsoft.com/office/drawing/2014/main" id="{9495D8E7-2E14-B837-04B1-66B7D6E26E53}"/>
              </a:ext>
            </a:extLst>
          </p:cNvPr>
          <p:cNvSpPr/>
          <p:nvPr/>
        </p:nvSpPr>
        <p:spPr>
          <a:xfrm>
            <a:off x="1970479" y="2082636"/>
            <a:ext cx="2932281" cy="677241"/>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bg-BG" sz="1600"/>
              <a:t>Предварително одобрен клиент</a:t>
            </a:r>
            <a:endParaRPr lang="en-GB" sz="1600"/>
          </a:p>
        </p:txBody>
      </p:sp>
      <p:sp>
        <p:nvSpPr>
          <p:cNvPr id="25" name="Rectangle: Rounded Corners 11">
            <a:extLst>
              <a:ext uri="{FF2B5EF4-FFF2-40B4-BE49-F238E27FC236}">
                <a16:creationId xmlns:a16="http://schemas.microsoft.com/office/drawing/2014/main" id="{39FDB626-9104-6C38-BCAF-BB68DEF40F3B}"/>
              </a:ext>
            </a:extLst>
          </p:cNvPr>
          <p:cNvSpPr/>
          <p:nvPr/>
        </p:nvSpPr>
        <p:spPr>
          <a:xfrm>
            <a:off x="1970478" y="1278878"/>
            <a:ext cx="2932281" cy="677241"/>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bg-BG" sz="1600"/>
              <a:t>Лоялен клиент</a:t>
            </a:r>
            <a:endParaRPr lang="en-GB" sz="1600"/>
          </a:p>
        </p:txBody>
      </p:sp>
      <p:sp>
        <p:nvSpPr>
          <p:cNvPr id="34" name="Rectangle: Rounded Corners 13">
            <a:extLst>
              <a:ext uri="{FF2B5EF4-FFF2-40B4-BE49-F238E27FC236}">
                <a16:creationId xmlns:a16="http://schemas.microsoft.com/office/drawing/2014/main" id="{2B792ADC-7348-074F-DD53-5CC8682C3F7B}"/>
              </a:ext>
            </a:extLst>
          </p:cNvPr>
          <p:cNvSpPr/>
          <p:nvPr/>
        </p:nvSpPr>
        <p:spPr>
          <a:xfrm>
            <a:off x="1970478" y="2942850"/>
            <a:ext cx="2932281" cy="677241"/>
          </a:xfrm>
          <a:prstGeom prst="roundRect">
            <a:avLst/>
          </a:prstGeom>
          <a:solidFill>
            <a:schemeClr val="bg2">
              <a:lumMod val="75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bg-BG" sz="1600"/>
              <a:t>Промо кампания</a:t>
            </a:r>
            <a:endParaRPr lang="en-GB" sz="1600"/>
          </a:p>
        </p:txBody>
      </p:sp>
      <p:sp>
        <p:nvSpPr>
          <p:cNvPr id="38" name="Rectangle 9">
            <a:extLst>
              <a:ext uri="{FF2B5EF4-FFF2-40B4-BE49-F238E27FC236}">
                <a16:creationId xmlns:a16="http://schemas.microsoft.com/office/drawing/2014/main" id="{578E5F64-ED16-1447-E225-9C9364D32523}"/>
              </a:ext>
            </a:extLst>
          </p:cNvPr>
          <p:cNvSpPr/>
          <p:nvPr/>
        </p:nvSpPr>
        <p:spPr>
          <a:xfrm>
            <a:off x="1970475" y="4751213"/>
            <a:ext cx="2932281" cy="677241"/>
          </a:xfrm>
          <a:prstGeom prst="roundRect">
            <a:avLst/>
          </a:prstGeom>
          <a:solidFill>
            <a:schemeClr val="bg2">
              <a:lumMod val="75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По препоръка</a:t>
            </a:r>
            <a:endParaRPr lang="en-GB" sz="1600"/>
          </a:p>
        </p:txBody>
      </p:sp>
      <p:sp>
        <p:nvSpPr>
          <p:cNvPr id="42" name="Rectangle 11">
            <a:extLst>
              <a:ext uri="{FF2B5EF4-FFF2-40B4-BE49-F238E27FC236}">
                <a16:creationId xmlns:a16="http://schemas.microsoft.com/office/drawing/2014/main" id="{3CEA5B3D-9150-2B79-1E7A-408330A6AEFD}"/>
              </a:ext>
            </a:extLst>
          </p:cNvPr>
          <p:cNvSpPr/>
          <p:nvPr/>
        </p:nvSpPr>
        <p:spPr>
          <a:xfrm>
            <a:off x="1970476" y="3838446"/>
            <a:ext cx="2932281" cy="677241"/>
          </a:xfrm>
          <a:prstGeom prst="roundRect">
            <a:avLst/>
          </a:prstGeom>
          <a:solidFill>
            <a:schemeClr val="bg2">
              <a:lumMod val="75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bg-BG" sz="1600"/>
              <a:t>Продукт „Пенсионер“</a:t>
            </a:r>
            <a:endParaRPr lang="en-GB" sz="1600"/>
          </a:p>
        </p:txBody>
      </p:sp>
      <p:sp>
        <p:nvSpPr>
          <p:cNvPr id="6" name="Правоъгълник: със заоблени ъгли 16">
            <a:extLst>
              <a:ext uri="{FF2B5EF4-FFF2-40B4-BE49-F238E27FC236}">
                <a16:creationId xmlns:a16="http://schemas.microsoft.com/office/drawing/2014/main" id="{F3961E18-4307-1E55-F090-69E5487BC5FC}"/>
              </a:ext>
            </a:extLst>
          </p:cNvPr>
          <p:cNvSpPr/>
          <p:nvPr/>
        </p:nvSpPr>
        <p:spPr>
          <a:xfrm>
            <a:off x="4873993" y="5551512"/>
            <a:ext cx="2389929" cy="526544"/>
          </a:xfrm>
          <a:prstGeom prst="roundRect">
            <a:avLst>
              <a:gd name="adj" fmla="val 50000"/>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200"/>
              <a:t>Тренирай</a:t>
            </a:r>
          </a:p>
        </p:txBody>
      </p:sp>
      <p:sp>
        <p:nvSpPr>
          <p:cNvPr id="9" name="Rectangle: Rounded Corners 8">
            <a:extLst>
              <a:ext uri="{FF2B5EF4-FFF2-40B4-BE49-F238E27FC236}">
                <a16:creationId xmlns:a16="http://schemas.microsoft.com/office/drawing/2014/main" id="{2AE5A1CD-A863-791F-97E7-C99FC5226764}"/>
              </a:ext>
            </a:extLst>
          </p:cNvPr>
          <p:cNvSpPr/>
          <p:nvPr/>
        </p:nvSpPr>
        <p:spPr>
          <a:xfrm>
            <a:off x="6665733" y="3540488"/>
            <a:ext cx="1295187" cy="168023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bg-BG" sz="1000">
                <a:ea typeface="+mn-lt"/>
                <a:cs typeface="+mn-lt"/>
              </a:rPr>
              <a:t>Ако желаете, нека Ви разкажа повече за вариантите, от които може да се възползвате? </a:t>
            </a:r>
            <a:endParaRPr lang="en-US" sz="1000"/>
          </a:p>
        </p:txBody>
      </p:sp>
      <p:sp>
        <p:nvSpPr>
          <p:cNvPr id="11" name="Rectangle: Rounded Corners 10">
            <a:extLst>
              <a:ext uri="{FF2B5EF4-FFF2-40B4-BE49-F238E27FC236}">
                <a16:creationId xmlns:a16="http://schemas.microsoft.com/office/drawing/2014/main" id="{DCD35069-8981-BF20-D752-0767DACCD326}"/>
              </a:ext>
            </a:extLst>
          </p:cNvPr>
          <p:cNvSpPr/>
          <p:nvPr/>
        </p:nvSpPr>
        <p:spPr>
          <a:xfrm>
            <a:off x="8265218" y="3415389"/>
            <a:ext cx="1122658" cy="486912"/>
          </a:xfrm>
          <a:prstGeom prst="roundRect">
            <a:avLst/>
          </a:prstGeom>
          <a:solidFill>
            <a:srgbClr val="4472C4"/>
          </a:solidFill>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p>
            <a:pPr algn="ctr"/>
            <a:r>
              <a:rPr lang="bg-BG" sz="1000"/>
              <a:t>Да</a:t>
            </a:r>
            <a:endParaRPr lang="bg-BG" sz="1000" dirty="0"/>
          </a:p>
        </p:txBody>
      </p:sp>
      <p:cxnSp>
        <p:nvCxnSpPr>
          <p:cNvPr id="13" name="Connector: Elbow 12">
            <a:extLst>
              <a:ext uri="{FF2B5EF4-FFF2-40B4-BE49-F238E27FC236}">
                <a16:creationId xmlns:a16="http://schemas.microsoft.com/office/drawing/2014/main" id="{3D4E3F39-84FF-2AB6-9EB1-07D18AEC6F64}"/>
              </a:ext>
            </a:extLst>
          </p:cNvPr>
          <p:cNvCxnSpPr/>
          <p:nvPr/>
        </p:nvCxnSpPr>
        <p:spPr>
          <a:xfrm flipV="1">
            <a:off x="6283085" y="4360432"/>
            <a:ext cx="379927" cy="52925"/>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Connector: Elbow 15">
            <a:extLst>
              <a:ext uri="{FF2B5EF4-FFF2-40B4-BE49-F238E27FC236}">
                <a16:creationId xmlns:a16="http://schemas.microsoft.com/office/drawing/2014/main" id="{548D8E08-46AC-3979-4568-8CFA588D731E}"/>
              </a:ext>
            </a:extLst>
          </p:cNvPr>
          <p:cNvCxnSpPr/>
          <p:nvPr/>
        </p:nvCxnSpPr>
        <p:spPr>
          <a:xfrm flipV="1">
            <a:off x="7884642" y="3770650"/>
            <a:ext cx="370262" cy="504906"/>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Connector: Elbow 19">
            <a:extLst>
              <a:ext uri="{FF2B5EF4-FFF2-40B4-BE49-F238E27FC236}">
                <a16:creationId xmlns:a16="http://schemas.microsoft.com/office/drawing/2014/main" id="{E93DA16E-76F8-1155-9C1D-F7C68751883B}"/>
              </a:ext>
            </a:extLst>
          </p:cNvPr>
          <p:cNvCxnSpPr>
            <a:cxnSpLocks/>
          </p:cNvCxnSpPr>
          <p:nvPr/>
        </p:nvCxnSpPr>
        <p:spPr>
          <a:xfrm>
            <a:off x="7884639" y="4620613"/>
            <a:ext cx="370262" cy="357734"/>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Rectangle: Rounded Corners 25">
            <a:extLst>
              <a:ext uri="{FF2B5EF4-FFF2-40B4-BE49-F238E27FC236}">
                <a16:creationId xmlns:a16="http://schemas.microsoft.com/office/drawing/2014/main" id="{28E9C5D1-722F-F9A6-CFFD-AC3512186E5F}"/>
              </a:ext>
            </a:extLst>
          </p:cNvPr>
          <p:cNvSpPr/>
          <p:nvPr/>
        </p:nvSpPr>
        <p:spPr>
          <a:xfrm>
            <a:off x="8279595" y="4766861"/>
            <a:ext cx="1122658" cy="486912"/>
          </a:xfrm>
          <a:prstGeom prst="roundRect">
            <a:avLst/>
          </a:prstGeom>
          <a:solidFill>
            <a:srgbClr val="4472C4"/>
          </a:solidFill>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p>
            <a:pPr algn="ctr"/>
            <a:r>
              <a:rPr lang="bg-BG" sz="1000"/>
              <a:t>Не</a:t>
            </a:r>
          </a:p>
        </p:txBody>
      </p:sp>
      <p:sp>
        <p:nvSpPr>
          <p:cNvPr id="40" name="Rectangle: Rounded Corners 39">
            <a:extLst>
              <a:ext uri="{FF2B5EF4-FFF2-40B4-BE49-F238E27FC236}">
                <a16:creationId xmlns:a16="http://schemas.microsoft.com/office/drawing/2014/main" id="{52294B35-7035-5174-46C3-8D00B6064A9D}"/>
              </a:ext>
            </a:extLst>
          </p:cNvPr>
          <p:cNvSpPr/>
          <p:nvPr/>
        </p:nvSpPr>
        <p:spPr>
          <a:xfrm>
            <a:off x="9584231" y="3156595"/>
            <a:ext cx="1309561" cy="803213"/>
          </a:xfrm>
          <a:prstGeom prst="roundRect">
            <a:avLst/>
          </a:prstGeom>
          <a:solidFill>
            <a:srgbClr val="4472C4"/>
          </a:solidFill>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p>
            <a:r>
              <a:rPr lang="bg-BG" sz="1000"/>
              <a:t>Представям варианти </a:t>
            </a:r>
            <a:endParaRPr lang="bg-BG" sz="1000" dirty="0"/>
          </a:p>
        </p:txBody>
      </p:sp>
      <p:cxnSp>
        <p:nvCxnSpPr>
          <p:cNvPr id="46" name="Connector: Elbow 45">
            <a:extLst>
              <a:ext uri="{FF2B5EF4-FFF2-40B4-BE49-F238E27FC236}">
                <a16:creationId xmlns:a16="http://schemas.microsoft.com/office/drawing/2014/main" id="{E539C75A-9005-1E30-ED67-1A31232D6D3C}"/>
              </a:ext>
            </a:extLst>
          </p:cNvPr>
          <p:cNvCxnSpPr>
            <a:cxnSpLocks/>
          </p:cNvCxnSpPr>
          <p:nvPr/>
        </p:nvCxnSpPr>
        <p:spPr>
          <a:xfrm flipV="1">
            <a:off x="9584655" y="3583745"/>
            <a:ext cx="370262" cy="3045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Connector: Elbow 49">
            <a:extLst>
              <a:ext uri="{FF2B5EF4-FFF2-40B4-BE49-F238E27FC236}">
                <a16:creationId xmlns:a16="http://schemas.microsoft.com/office/drawing/2014/main" id="{78B7E420-A01A-0CB0-F3F2-C226D0AE0307}"/>
              </a:ext>
            </a:extLst>
          </p:cNvPr>
          <p:cNvCxnSpPr>
            <a:cxnSpLocks/>
          </p:cNvCxnSpPr>
          <p:nvPr/>
        </p:nvCxnSpPr>
        <p:spPr>
          <a:xfrm>
            <a:off x="9197989" y="4939746"/>
            <a:ext cx="370262" cy="7018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56" name="Rectangle: Rounded Corners 55">
            <a:extLst>
              <a:ext uri="{FF2B5EF4-FFF2-40B4-BE49-F238E27FC236}">
                <a16:creationId xmlns:a16="http://schemas.microsoft.com/office/drawing/2014/main" id="{03AFD28F-A551-83BC-818F-0D4C5ACDF510}"/>
              </a:ext>
            </a:extLst>
          </p:cNvPr>
          <p:cNvSpPr/>
          <p:nvPr/>
        </p:nvSpPr>
        <p:spPr>
          <a:xfrm>
            <a:off x="9584231" y="4249275"/>
            <a:ext cx="1295185" cy="1694609"/>
          </a:xfrm>
          <a:prstGeom prst="roundRect">
            <a:avLst/>
          </a:prstGeom>
          <a:solidFill>
            <a:srgbClr val="4472C4"/>
          </a:solidFill>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p>
            <a:r>
              <a:rPr lang="bg-BG" sz="1000" dirty="0">
                <a:ea typeface="+mn-lt"/>
                <a:cs typeface="+mn-lt"/>
              </a:rPr>
              <a:t>Ако сега разполагате със сума например от 1000 лв....</a:t>
            </a:r>
          </a:p>
          <a:p>
            <a:r>
              <a:rPr lang="bg-BG" sz="1000" dirty="0">
                <a:ea typeface="+mn-lt"/>
                <a:cs typeface="+mn-lt"/>
              </a:rPr>
              <a:t>Разпознаване на ключови думи като: ще си купя; ще похарча;</a:t>
            </a:r>
            <a:endParaRPr lang="bg-BG" sz="1000" dirty="0"/>
          </a:p>
        </p:txBody>
      </p:sp>
      <p:sp>
        <p:nvSpPr>
          <p:cNvPr id="2" name="Rectangle: Rounded Corners 1">
            <a:extLst>
              <a:ext uri="{FF2B5EF4-FFF2-40B4-BE49-F238E27FC236}">
                <a16:creationId xmlns:a16="http://schemas.microsoft.com/office/drawing/2014/main" id="{3332F828-501E-44D8-7A6E-AC55F9FBD89F}"/>
              </a:ext>
            </a:extLst>
          </p:cNvPr>
          <p:cNvSpPr/>
          <p:nvPr/>
        </p:nvSpPr>
        <p:spPr>
          <a:xfrm>
            <a:off x="11067277" y="3156596"/>
            <a:ext cx="1295183" cy="817589"/>
          </a:xfrm>
          <a:prstGeom prst="roundRect">
            <a:avLst/>
          </a:prstGeom>
          <a:solidFill>
            <a:schemeClr val="accent2"/>
          </a:solidFill>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p>
            <a:r>
              <a:rPr lang="bg-BG" sz="1000" dirty="0"/>
              <a:t>Разговорът приключва със </a:t>
            </a:r>
            <a:r>
              <a:rPr lang="bg-BG" sz="1000"/>
              <a:t>среща</a:t>
            </a:r>
            <a:endParaRPr lang="bg-BG" sz="1000" dirty="0"/>
          </a:p>
        </p:txBody>
      </p:sp>
      <p:cxnSp>
        <p:nvCxnSpPr>
          <p:cNvPr id="4" name="Connector: Elbow 3">
            <a:extLst>
              <a:ext uri="{FF2B5EF4-FFF2-40B4-BE49-F238E27FC236}">
                <a16:creationId xmlns:a16="http://schemas.microsoft.com/office/drawing/2014/main" id="{5802B785-D5E3-E45F-1FD1-70A45C53D0A8}"/>
              </a:ext>
            </a:extLst>
          </p:cNvPr>
          <p:cNvCxnSpPr>
            <a:cxnSpLocks/>
          </p:cNvCxnSpPr>
          <p:nvPr/>
        </p:nvCxnSpPr>
        <p:spPr>
          <a:xfrm flipV="1">
            <a:off x="10675155" y="3537780"/>
            <a:ext cx="370262" cy="3045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Rectangle: Rounded Corners 9">
            <a:extLst>
              <a:ext uri="{FF2B5EF4-FFF2-40B4-BE49-F238E27FC236}">
                <a16:creationId xmlns:a16="http://schemas.microsoft.com/office/drawing/2014/main" id="{B70E2D75-C886-60FC-75DB-D954A4E4F1E1}"/>
              </a:ext>
            </a:extLst>
          </p:cNvPr>
          <p:cNvSpPr/>
          <p:nvPr/>
        </p:nvSpPr>
        <p:spPr>
          <a:xfrm>
            <a:off x="12521134" y="4180221"/>
            <a:ext cx="1111112" cy="475367"/>
          </a:xfrm>
          <a:prstGeom prst="roundRect">
            <a:avLst/>
          </a:prstGeom>
          <a:solidFill>
            <a:srgbClr val="4472C4"/>
          </a:solidFill>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p>
            <a:pPr algn="ctr"/>
            <a:r>
              <a:rPr lang="bg-BG" sz="1000"/>
              <a:t>Да </a:t>
            </a:r>
            <a:endParaRPr lang="bg-BG" sz="1000" dirty="0"/>
          </a:p>
        </p:txBody>
      </p:sp>
      <p:sp>
        <p:nvSpPr>
          <p:cNvPr id="14" name="Rectangle: Rounded Corners 13">
            <a:extLst>
              <a:ext uri="{FF2B5EF4-FFF2-40B4-BE49-F238E27FC236}">
                <a16:creationId xmlns:a16="http://schemas.microsoft.com/office/drawing/2014/main" id="{5DAD4827-31BE-024B-1B11-F0250AE458D5}"/>
              </a:ext>
            </a:extLst>
          </p:cNvPr>
          <p:cNvSpPr/>
          <p:nvPr/>
        </p:nvSpPr>
        <p:spPr>
          <a:xfrm>
            <a:off x="12515469" y="4867502"/>
            <a:ext cx="1122658" cy="486912"/>
          </a:xfrm>
          <a:prstGeom prst="roundRect">
            <a:avLst/>
          </a:prstGeom>
          <a:solidFill>
            <a:srgbClr val="4472C4"/>
          </a:solidFill>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p>
            <a:pPr algn="ctr"/>
            <a:r>
              <a:rPr lang="bg-BG" sz="1000"/>
              <a:t>Не</a:t>
            </a:r>
            <a:endParaRPr lang="bg-BG" sz="1000" dirty="0"/>
          </a:p>
        </p:txBody>
      </p:sp>
      <p:sp>
        <p:nvSpPr>
          <p:cNvPr id="18" name="Rectangle: Rounded Corners 17">
            <a:extLst>
              <a:ext uri="{FF2B5EF4-FFF2-40B4-BE49-F238E27FC236}">
                <a16:creationId xmlns:a16="http://schemas.microsoft.com/office/drawing/2014/main" id="{5649CA39-AC23-4820-8DC1-3DB305255A11}"/>
              </a:ext>
            </a:extLst>
          </p:cNvPr>
          <p:cNvSpPr/>
          <p:nvPr/>
        </p:nvSpPr>
        <p:spPr>
          <a:xfrm>
            <a:off x="11032422" y="5557616"/>
            <a:ext cx="1295186" cy="515666"/>
          </a:xfrm>
          <a:prstGeom prst="roundRect">
            <a:avLst/>
          </a:prstGeom>
          <a:solidFill>
            <a:srgbClr val="4472C4"/>
          </a:solidFill>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p>
            <a:pPr algn="ctr"/>
            <a:r>
              <a:rPr lang="bg-BG" sz="1000"/>
              <a:t>Не, Не искам!</a:t>
            </a:r>
            <a:endParaRPr lang="en-US" sz="1000"/>
          </a:p>
        </p:txBody>
      </p:sp>
      <p:sp>
        <p:nvSpPr>
          <p:cNvPr id="21" name="Rectangle: Rounded Corners 20">
            <a:extLst>
              <a:ext uri="{FF2B5EF4-FFF2-40B4-BE49-F238E27FC236}">
                <a16:creationId xmlns:a16="http://schemas.microsoft.com/office/drawing/2014/main" id="{7E18D01E-A114-A4FE-44CF-61AEF7350CB9}"/>
              </a:ext>
            </a:extLst>
          </p:cNvPr>
          <p:cNvSpPr/>
          <p:nvPr/>
        </p:nvSpPr>
        <p:spPr>
          <a:xfrm>
            <a:off x="13805510" y="3835164"/>
            <a:ext cx="1309561" cy="803213"/>
          </a:xfrm>
          <a:prstGeom prst="roundRect">
            <a:avLst/>
          </a:prstGeom>
          <a:solidFill>
            <a:srgbClr val="4472C4"/>
          </a:solidFill>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p>
            <a:r>
              <a:rPr lang="bg-BG" sz="1000"/>
              <a:t>Представям варианти </a:t>
            </a:r>
            <a:endParaRPr lang="bg-BG" sz="1000" dirty="0"/>
          </a:p>
        </p:txBody>
      </p:sp>
      <p:cxnSp>
        <p:nvCxnSpPr>
          <p:cNvPr id="24" name="Connector: Elbow 23">
            <a:extLst>
              <a:ext uri="{FF2B5EF4-FFF2-40B4-BE49-F238E27FC236}">
                <a16:creationId xmlns:a16="http://schemas.microsoft.com/office/drawing/2014/main" id="{55E3363C-40F1-C8DE-2355-3599A3F96422}"/>
              </a:ext>
            </a:extLst>
          </p:cNvPr>
          <p:cNvCxnSpPr>
            <a:cxnSpLocks/>
          </p:cNvCxnSpPr>
          <p:nvPr/>
        </p:nvCxnSpPr>
        <p:spPr>
          <a:xfrm flipV="1">
            <a:off x="13399230" y="4446386"/>
            <a:ext cx="370262" cy="3045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Connector: Elbow 36">
            <a:extLst>
              <a:ext uri="{FF2B5EF4-FFF2-40B4-BE49-F238E27FC236}">
                <a16:creationId xmlns:a16="http://schemas.microsoft.com/office/drawing/2014/main" id="{EDFC447C-C57F-C1D9-E1E8-BE20A4EF7E4C}"/>
              </a:ext>
            </a:extLst>
          </p:cNvPr>
          <p:cNvCxnSpPr>
            <a:cxnSpLocks/>
          </p:cNvCxnSpPr>
          <p:nvPr/>
        </p:nvCxnSpPr>
        <p:spPr>
          <a:xfrm flipV="1">
            <a:off x="13401842" y="5102515"/>
            <a:ext cx="370262" cy="20298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45" name="Rectangle: Rounded Corners 44">
            <a:extLst>
              <a:ext uri="{FF2B5EF4-FFF2-40B4-BE49-F238E27FC236}">
                <a16:creationId xmlns:a16="http://schemas.microsoft.com/office/drawing/2014/main" id="{DAA9CBF2-9619-2834-C997-0FDFF489AFEE}"/>
              </a:ext>
            </a:extLst>
          </p:cNvPr>
          <p:cNvSpPr/>
          <p:nvPr/>
        </p:nvSpPr>
        <p:spPr>
          <a:xfrm>
            <a:off x="13817058" y="4755531"/>
            <a:ext cx="1292352" cy="795154"/>
          </a:xfrm>
          <a:prstGeom prst="roundRect">
            <a:avLst/>
          </a:prstGeom>
          <a:solidFill>
            <a:srgbClr val="4472C4"/>
          </a:solidFill>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p>
            <a:r>
              <a:rPr lang="bg-BG" sz="1000"/>
              <a:t>Ако изникне нужда от допълнително финансиране</a:t>
            </a:r>
            <a:endParaRPr lang="bg-BG" sz="1000">
              <a:solidFill>
                <a:srgbClr val="000000"/>
              </a:solidFill>
            </a:endParaRPr>
          </a:p>
          <a:p>
            <a:endParaRPr lang="bg-BG" sz="1000" dirty="0"/>
          </a:p>
        </p:txBody>
      </p:sp>
      <p:cxnSp>
        <p:nvCxnSpPr>
          <p:cNvPr id="49" name="Connector: Elbow 48">
            <a:extLst>
              <a:ext uri="{FF2B5EF4-FFF2-40B4-BE49-F238E27FC236}">
                <a16:creationId xmlns:a16="http://schemas.microsoft.com/office/drawing/2014/main" id="{42A6099F-A09A-1CDE-9E8B-1735F479BFB7}"/>
              </a:ext>
            </a:extLst>
          </p:cNvPr>
          <p:cNvCxnSpPr>
            <a:cxnSpLocks/>
          </p:cNvCxnSpPr>
          <p:nvPr/>
        </p:nvCxnSpPr>
        <p:spPr>
          <a:xfrm>
            <a:off x="10675153" y="4764384"/>
            <a:ext cx="370262" cy="7018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52" name="Rectangle: Rounded Corners 51">
            <a:extLst>
              <a:ext uri="{FF2B5EF4-FFF2-40B4-BE49-F238E27FC236}">
                <a16:creationId xmlns:a16="http://schemas.microsoft.com/office/drawing/2014/main" id="{3D60723E-DE07-B8CA-46E2-E02D997CB8DD}"/>
              </a:ext>
            </a:extLst>
          </p:cNvPr>
          <p:cNvSpPr/>
          <p:nvPr/>
        </p:nvSpPr>
        <p:spPr>
          <a:xfrm>
            <a:off x="11067277" y="4249275"/>
            <a:ext cx="1295185" cy="1004496"/>
          </a:xfrm>
          <a:prstGeom prst="roundRect">
            <a:avLst/>
          </a:prstGeom>
          <a:solidFill>
            <a:srgbClr val="4472C4"/>
          </a:solidFill>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p>
            <a:r>
              <a:rPr lang="bg-BG" sz="1000">
                <a:ea typeface="+mn-lt"/>
                <a:cs typeface="+mn-lt"/>
              </a:rPr>
              <a:t>Това е добро приложение на сумата и ние сме готови  да Ви помогнем да ….</a:t>
            </a:r>
            <a:endParaRPr lang="en-US" sz="1000"/>
          </a:p>
        </p:txBody>
      </p:sp>
      <p:cxnSp>
        <p:nvCxnSpPr>
          <p:cNvPr id="53" name="Connector: Elbow 52">
            <a:extLst>
              <a:ext uri="{FF2B5EF4-FFF2-40B4-BE49-F238E27FC236}">
                <a16:creationId xmlns:a16="http://schemas.microsoft.com/office/drawing/2014/main" id="{AD6E41C0-7D25-6372-457C-94CD01E69EE7}"/>
              </a:ext>
            </a:extLst>
          </p:cNvPr>
          <p:cNvCxnSpPr>
            <a:cxnSpLocks/>
          </p:cNvCxnSpPr>
          <p:nvPr/>
        </p:nvCxnSpPr>
        <p:spPr>
          <a:xfrm>
            <a:off x="10663609" y="5684534"/>
            <a:ext cx="370262" cy="7018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Connector: Elbow 53">
            <a:extLst>
              <a:ext uri="{FF2B5EF4-FFF2-40B4-BE49-F238E27FC236}">
                <a16:creationId xmlns:a16="http://schemas.microsoft.com/office/drawing/2014/main" id="{04E35730-7AC9-38F1-3103-0CD2CF2A07BA}"/>
              </a:ext>
            </a:extLst>
          </p:cNvPr>
          <p:cNvCxnSpPr>
            <a:cxnSpLocks/>
          </p:cNvCxnSpPr>
          <p:nvPr/>
        </p:nvCxnSpPr>
        <p:spPr>
          <a:xfrm>
            <a:off x="12129228" y="5005749"/>
            <a:ext cx="370262" cy="7018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Connector: Elbow 54">
            <a:extLst>
              <a:ext uri="{FF2B5EF4-FFF2-40B4-BE49-F238E27FC236}">
                <a16:creationId xmlns:a16="http://schemas.microsoft.com/office/drawing/2014/main" id="{07A563B8-D201-770C-92C0-42A14A66BD35}"/>
              </a:ext>
            </a:extLst>
          </p:cNvPr>
          <p:cNvCxnSpPr>
            <a:cxnSpLocks/>
          </p:cNvCxnSpPr>
          <p:nvPr/>
        </p:nvCxnSpPr>
        <p:spPr>
          <a:xfrm>
            <a:off x="12137941" y="4433704"/>
            <a:ext cx="370262" cy="7018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Connector: Elbow 56">
            <a:extLst>
              <a:ext uri="{FF2B5EF4-FFF2-40B4-BE49-F238E27FC236}">
                <a16:creationId xmlns:a16="http://schemas.microsoft.com/office/drawing/2014/main" id="{039F9E9F-68CE-22EF-3EBF-896244CFAB58}"/>
              </a:ext>
            </a:extLst>
          </p:cNvPr>
          <p:cNvCxnSpPr>
            <a:cxnSpLocks/>
          </p:cNvCxnSpPr>
          <p:nvPr/>
        </p:nvCxnSpPr>
        <p:spPr>
          <a:xfrm>
            <a:off x="12077381" y="5790840"/>
            <a:ext cx="370262" cy="7018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58" name="Rectangle: Rounded Corners 57">
            <a:extLst>
              <a:ext uri="{FF2B5EF4-FFF2-40B4-BE49-F238E27FC236}">
                <a16:creationId xmlns:a16="http://schemas.microsoft.com/office/drawing/2014/main" id="{5017FCC9-6FF9-9053-2EC5-6FBEBD9BEBD4}"/>
              </a:ext>
            </a:extLst>
          </p:cNvPr>
          <p:cNvSpPr/>
          <p:nvPr/>
        </p:nvSpPr>
        <p:spPr>
          <a:xfrm>
            <a:off x="13935342" y="5722299"/>
            <a:ext cx="1399090" cy="378862"/>
          </a:xfrm>
          <a:prstGeom prst="roundRect">
            <a:avLst/>
          </a:prstGeom>
          <a:solidFill>
            <a:schemeClr val="accent2"/>
          </a:solidFill>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p>
            <a:r>
              <a:rPr lang="bg-BG" sz="1000" dirty="0"/>
              <a:t>Разговорът </a:t>
            </a:r>
            <a:r>
              <a:rPr lang="bg-BG" sz="1000"/>
              <a:t>приключва </a:t>
            </a:r>
          </a:p>
        </p:txBody>
      </p:sp>
      <p:cxnSp>
        <p:nvCxnSpPr>
          <p:cNvPr id="59" name="Connector: Elbow 58">
            <a:extLst>
              <a:ext uri="{FF2B5EF4-FFF2-40B4-BE49-F238E27FC236}">
                <a16:creationId xmlns:a16="http://schemas.microsoft.com/office/drawing/2014/main" id="{47014E90-A197-7DB2-F6A8-95A4CEB8F81D}"/>
              </a:ext>
            </a:extLst>
          </p:cNvPr>
          <p:cNvCxnSpPr>
            <a:cxnSpLocks/>
          </p:cNvCxnSpPr>
          <p:nvPr/>
        </p:nvCxnSpPr>
        <p:spPr>
          <a:xfrm>
            <a:off x="13526008" y="5911522"/>
            <a:ext cx="370262" cy="7018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48" name="Rectangle: Rounded Corners 47">
            <a:extLst>
              <a:ext uri="{FF2B5EF4-FFF2-40B4-BE49-F238E27FC236}">
                <a16:creationId xmlns:a16="http://schemas.microsoft.com/office/drawing/2014/main" id="{40545460-8B3D-8CE1-D896-83A0566E7722}"/>
              </a:ext>
            </a:extLst>
          </p:cNvPr>
          <p:cNvSpPr/>
          <p:nvPr/>
        </p:nvSpPr>
        <p:spPr>
          <a:xfrm>
            <a:off x="12457959" y="5528860"/>
            <a:ext cx="1309562" cy="803214"/>
          </a:xfrm>
          <a:prstGeom prst="roundRect">
            <a:avLst/>
          </a:prstGeom>
          <a:solidFill>
            <a:srgbClr val="4472C4"/>
          </a:solidFill>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p>
            <a:r>
              <a:rPr lang="bg-BG" sz="1000" dirty="0"/>
              <a:t>Ако </a:t>
            </a:r>
            <a:r>
              <a:rPr lang="bg-BG" sz="1000" dirty="0">
                <a:ea typeface="+mn-lt"/>
                <a:cs typeface="+mn-lt"/>
              </a:rPr>
              <a:t>изникне </a:t>
            </a:r>
            <a:r>
              <a:rPr lang="bg-BG" sz="1000" dirty="0"/>
              <a:t>нужда от </a:t>
            </a:r>
            <a:r>
              <a:rPr lang="bg-BG" sz="1000"/>
              <a:t>допълнително финансиране</a:t>
            </a:r>
            <a:endParaRPr lang="bg-BG" sz="1000" dirty="0"/>
          </a:p>
        </p:txBody>
      </p:sp>
      <p:cxnSp>
        <p:nvCxnSpPr>
          <p:cNvPr id="8" name="Connector: Elbow 7">
            <a:extLst>
              <a:ext uri="{FF2B5EF4-FFF2-40B4-BE49-F238E27FC236}">
                <a16:creationId xmlns:a16="http://schemas.microsoft.com/office/drawing/2014/main" id="{BCDC4E16-312B-1D16-B4EF-37ADE6B22968}"/>
              </a:ext>
            </a:extLst>
          </p:cNvPr>
          <p:cNvCxnSpPr>
            <a:cxnSpLocks/>
          </p:cNvCxnSpPr>
          <p:nvPr/>
        </p:nvCxnSpPr>
        <p:spPr>
          <a:xfrm>
            <a:off x="9186443" y="3588927"/>
            <a:ext cx="370262" cy="7018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Rectangle: Rounded Corners 11">
            <a:extLst>
              <a:ext uri="{FF2B5EF4-FFF2-40B4-BE49-F238E27FC236}">
                <a16:creationId xmlns:a16="http://schemas.microsoft.com/office/drawing/2014/main" id="{25293173-0BDD-7638-8319-E0A220998833}"/>
              </a:ext>
            </a:extLst>
          </p:cNvPr>
          <p:cNvSpPr/>
          <p:nvPr/>
        </p:nvSpPr>
        <p:spPr>
          <a:xfrm>
            <a:off x="15327549" y="3837778"/>
            <a:ext cx="1295183" cy="736771"/>
          </a:xfrm>
          <a:prstGeom prst="roundRect">
            <a:avLst/>
          </a:prstGeom>
          <a:solidFill>
            <a:schemeClr val="accent2"/>
          </a:solidFill>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p>
            <a:r>
              <a:rPr lang="bg-BG" sz="1000" dirty="0"/>
              <a:t>Разговорът приключва със </a:t>
            </a:r>
            <a:r>
              <a:rPr lang="bg-BG" sz="1000"/>
              <a:t>среща</a:t>
            </a:r>
            <a:endParaRPr lang="bg-BG" sz="1000" dirty="0"/>
          </a:p>
        </p:txBody>
      </p:sp>
      <p:cxnSp>
        <p:nvCxnSpPr>
          <p:cNvPr id="17" name="Connector: Elbow 16">
            <a:extLst>
              <a:ext uri="{FF2B5EF4-FFF2-40B4-BE49-F238E27FC236}">
                <a16:creationId xmlns:a16="http://schemas.microsoft.com/office/drawing/2014/main" id="{8A44F66B-CD5F-9552-B163-81BF44B5258F}"/>
              </a:ext>
            </a:extLst>
          </p:cNvPr>
          <p:cNvCxnSpPr>
            <a:cxnSpLocks/>
          </p:cNvCxnSpPr>
          <p:nvPr/>
        </p:nvCxnSpPr>
        <p:spPr>
          <a:xfrm flipV="1">
            <a:off x="14935427" y="4218962"/>
            <a:ext cx="370262" cy="3045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Rectangle: Rounded Corners 21">
            <a:extLst>
              <a:ext uri="{FF2B5EF4-FFF2-40B4-BE49-F238E27FC236}">
                <a16:creationId xmlns:a16="http://schemas.microsoft.com/office/drawing/2014/main" id="{FD7AD903-A97C-3708-AF30-9B032B87B17F}"/>
              </a:ext>
            </a:extLst>
          </p:cNvPr>
          <p:cNvSpPr/>
          <p:nvPr/>
        </p:nvSpPr>
        <p:spPr>
          <a:xfrm>
            <a:off x="15327113" y="4921742"/>
            <a:ext cx="1298017" cy="376033"/>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p>
            <a:r>
              <a:rPr lang="bg-BG" sz="1000"/>
              <a:t>Разговорът приключва </a:t>
            </a:r>
            <a:endParaRPr lang="en-US"/>
          </a:p>
        </p:txBody>
      </p:sp>
      <p:cxnSp>
        <p:nvCxnSpPr>
          <p:cNvPr id="36" name="Connector: Elbow 35">
            <a:extLst>
              <a:ext uri="{FF2B5EF4-FFF2-40B4-BE49-F238E27FC236}">
                <a16:creationId xmlns:a16="http://schemas.microsoft.com/office/drawing/2014/main" id="{668E8826-FA1A-1A04-FECB-4344205A3FF8}"/>
              </a:ext>
            </a:extLst>
          </p:cNvPr>
          <p:cNvCxnSpPr>
            <a:cxnSpLocks/>
          </p:cNvCxnSpPr>
          <p:nvPr/>
        </p:nvCxnSpPr>
        <p:spPr>
          <a:xfrm>
            <a:off x="14923008" y="5091795"/>
            <a:ext cx="370262" cy="7018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Текстово поле 23">
            <a:extLst>
              <a:ext uri="{FF2B5EF4-FFF2-40B4-BE49-F238E27FC236}">
                <a16:creationId xmlns:a16="http://schemas.microsoft.com/office/drawing/2014/main" id="{20483B89-FAFE-6F01-3AD4-40348B301840}"/>
              </a:ext>
            </a:extLst>
          </p:cNvPr>
          <p:cNvSpPr txBox="1"/>
          <p:nvPr/>
        </p:nvSpPr>
        <p:spPr>
          <a:xfrm>
            <a:off x="3362960" y="6360160"/>
            <a:ext cx="6390640" cy="3487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bg-BG" sz="1600" i="1"/>
              <a:t>Съдържа сценарии от дървото, изпратено като документ</a:t>
            </a:r>
          </a:p>
        </p:txBody>
      </p:sp>
    </p:spTree>
    <p:extLst>
      <p:ext uri="{BB962C8B-B14F-4D97-AF65-F5344CB8AC3E}">
        <p14:creationId xmlns:p14="http://schemas.microsoft.com/office/powerpoint/2010/main" val="973512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7BEF15-E277-B74A-B321-053F8DF0404A}"/>
            </a:ext>
          </a:extLst>
        </p:cNvPr>
        <p:cNvGrpSpPr/>
        <p:nvPr/>
      </p:nvGrpSpPr>
      <p:grpSpPr>
        <a:xfrm>
          <a:off x="0" y="0"/>
          <a:ext cx="0" cy="0"/>
          <a:chOff x="0" y="0"/>
          <a:chExt cx="0" cy="0"/>
        </a:xfrm>
      </p:grpSpPr>
      <p:sp>
        <p:nvSpPr>
          <p:cNvPr id="27" name="Rectangle 3">
            <a:extLst>
              <a:ext uri="{FF2B5EF4-FFF2-40B4-BE49-F238E27FC236}">
                <a16:creationId xmlns:a16="http://schemas.microsoft.com/office/drawing/2014/main" id="{5BF46704-2503-85B2-8619-0FF99E38B090}"/>
              </a:ext>
            </a:extLst>
          </p:cNvPr>
          <p:cNvSpPr/>
          <p:nvPr/>
        </p:nvSpPr>
        <p:spPr>
          <a:xfrm>
            <a:off x="1443475" y="4245"/>
            <a:ext cx="5338363" cy="677242"/>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28" name="Rectangle 4">
            <a:extLst>
              <a:ext uri="{FF2B5EF4-FFF2-40B4-BE49-F238E27FC236}">
                <a16:creationId xmlns:a16="http://schemas.microsoft.com/office/drawing/2014/main" id="{3DED8B70-1206-37C2-DEF7-76C3BDF2A433}"/>
              </a:ext>
            </a:extLst>
          </p:cNvPr>
          <p:cNvSpPr/>
          <p:nvPr/>
        </p:nvSpPr>
        <p:spPr>
          <a:xfrm>
            <a:off x="6788435" y="4245"/>
            <a:ext cx="5417300" cy="677242"/>
          </a:xfrm>
          <a:prstGeom prst="rect">
            <a:avLst/>
          </a:prstGeom>
          <a:solidFill>
            <a:schemeClr val="bg2">
              <a:lumMod val="75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29" name="Rectangle 28">
            <a:extLst>
              <a:ext uri="{FF2B5EF4-FFF2-40B4-BE49-F238E27FC236}">
                <a16:creationId xmlns:a16="http://schemas.microsoft.com/office/drawing/2014/main" id="{5B32A65E-DF85-2E2E-4FC3-E671D662E099}"/>
              </a:ext>
            </a:extLst>
          </p:cNvPr>
          <p:cNvSpPr/>
          <p:nvPr/>
        </p:nvSpPr>
        <p:spPr>
          <a:xfrm>
            <a:off x="-1671" y="1599"/>
            <a:ext cx="1451167" cy="6866954"/>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200">
              <a:latin typeface="Aptos"/>
              <a:ea typeface="Calibri"/>
              <a:cs typeface="Calibri"/>
            </a:endParaRPr>
          </a:p>
        </p:txBody>
      </p:sp>
      <p:sp>
        <p:nvSpPr>
          <p:cNvPr id="30" name="Rectangle 29">
            <a:extLst>
              <a:ext uri="{FF2B5EF4-FFF2-40B4-BE49-F238E27FC236}">
                <a16:creationId xmlns:a16="http://schemas.microsoft.com/office/drawing/2014/main" id="{CFBBCA87-F984-ADA6-970D-6809084FE39A}"/>
              </a:ext>
            </a:extLst>
          </p:cNvPr>
          <p:cNvSpPr/>
          <p:nvPr/>
        </p:nvSpPr>
        <p:spPr>
          <a:xfrm>
            <a:off x="-1671" y="2528038"/>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Типове клиенти</a:t>
            </a:r>
            <a:endParaRPr lang="en-GB" sz="1400">
              <a:latin typeface="Aptos"/>
              <a:ea typeface="Calibri"/>
              <a:cs typeface="Calibri"/>
            </a:endParaRPr>
          </a:p>
        </p:txBody>
      </p:sp>
      <p:sp>
        <p:nvSpPr>
          <p:cNvPr id="31" name="Rectangle 30">
            <a:extLst>
              <a:ext uri="{FF2B5EF4-FFF2-40B4-BE49-F238E27FC236}">
                <a16:creationId xmlns:a16="http://schemas.microsoft.com/office/drawing/2014/main" id="{3B28AE17-AA5D-7D6F-6979-8E2FFC92AAEA}"/>
              </a:ext>
            </a:extLst>
          </p:cNvPr>
          <p:cNvSpPr/>
          <p:nvPr/>
        </p:nvSpPr>
        <p:spPr>
          <a:xfrm>
            <a:off x="8626" y="1913210"/>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b="1">
                <a:solidFill>
                  <a:srgbClr val="2F5597"/>
                </a:solidFill>
                <a:latin typeface="Aptos"/>
                <a:ea typeface="Calibri"/>
                <a:cs typeface="Calibri"/>
              </a:rPr>
              <a:t>Сценарии</a:t>
            </a:r>
            <a:endParaRPr lang="en-GB" sz="1400" b="1">
              <a:solidFill>
                <a:srgbClr val="2F5597"/>
              </a:solidFill>
              <a:latin typeface="Aptos"/>
              <a:ea typeface="Calibri"/>
              <a:cs typeface="Calibri"/>
            </a:endParaRPr>
          </a:p>
        </p:txBody>
      </p:sp>
      <p:sp>
        <p:nvSpPr>
          <p:cNvPr id="32" name="Rectangle 31">
            <a:extLst>
              <a:ext uri="{FF2B5EF4-FFF2-40B4-BE49-F238E27FC236}">
                <a16:creationId xmlns:a16="http://schemas.microsoft.com/office/drawing/2014/main" id="{07650C36-BBEE-7A85-741E-5008864B3F70}"/>
              </a:ext>
            </a:extLst>
          </p:cNvPr>
          <p:cNvSpPr/>
          <p:nvPr/>
        </p:nvSpPr>
        <p:spPr>
          <a:xfrm>
            <a:off x="-1671" y="1298382"/>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a:solidFill>
                  <a:schemeClr val="bg1"/>
                </a:solidFill>
                <a:latin typeface="Aptos"/>
                <a:ea typeface="Calibri"/>
                <a:cs typeface="Calibri"/>
              </a:rPr>
              <a:t>Стъпки в обаждането</a:t>
            </a:r>
            <a:endParaRPr lang="bg-BG" sz="1400">
              <a:solidFill>
                <a:srgbClr val="000000"/>
              </a:solidFill>
              <a:latin typeface="Aptos"/>
              <a:ea typeface="Calibri"/>
              <a:cs typeface="Calibri"/>
            </a:endParaRPr>
          </a:p>
        </p:txBody>
      </p:sp>
      <p:sp>
        <p:nvSpPr>
          <p:cNvPr id="33" name="Rectangle 28">
            <a:extLst>
              <a:ext uri="{FF2B5EF4-FFF2-40B4-BE49-F238E27FC236}">
                <a16:creationId xmlns:a16="http://schemas.microsoft.com/office/drawing/2014/main" id="{160F0F68-0BCD-513B-D38C-2BFAD56109CC}"/>
              </a:ext>
            </a:extLst>
          </p:cNvPr>
          <p:cNvSpPr/>
          <p:nvPr/>
        </p:nvSpPr>
        <p:spPr>
          <a:xfrm>
            <a:off x="6154" y="690328"/>
            <a:ext cx="1435083"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a:solidFill>
                  <a:schemeClr val="bg1"/>
                </a:solidFill>
                <a:latin typeface="Aptos"/>
                <a:ea typeface="Calibri"/>
                <a:cs typeface="Calibri"/>
              </a:rPr>
              <a:t>Подготовка</a:t>
            </a:r>
            <a:endParaRPr lang="en-GB" sz="1400">
              <a:solidFill>
                <a:schemeClr val="bg1"/>
              </a:solidFill>
              <a:latin typeface="Aptos"/>
              <a:ea typeface="Calibri"/>
              <a:cs typeface="Calibri"/>
            </a:endParaRPr>
          </a:p>
        </p:txBody>
      </p:sp>
      <p:sp>
        <p:nvSpPr>
          <p:cNvPr id="37" name="Правоъгълник: със заоблени ъгли 16">
            <a:extLst>
              <a:ext uri="{FF2B5EF4-FFF2-40B4-BE49-F238E27FC236}">
                <a16:creationId xmlns:a16="http://schemas.microsoft.com/office/drawing/2014/main" id="{2F4E488D-F106-C999-41EE-62A836AB5576}"/>
              </a:ext>
            </a:extLst>
          </p:cNvPr>
          <p:cNvSpPr/>
          <p:nvPr/>
        </p:nvSpPr>
        <p:spPr>
          <a:xfrm>
            <a:off x="5271079" y="5545908"/>
            <a:ext cx="2744630" cy="590809"/>
          </a:xfrm>
          <a:prstGeom prst="roundRect">
            <a:avLst>
              <a:gd name="adj" fmla="val 50000"/>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200"/>
              <a:t>Тренирай</a:t>
            </a:r>
          </a:p>
        </p:txBody>
      </p:sp>
      <p:sp>
        <p:nvSpPr>
          <p:cNvPr id="43" name="Rectangle: Rounded Corners 4">
            <a:extLst>
              <a:ext uri="{FF2B5EF4-FFF2-40B4-BE49-F238E27FC236}">
                <a16:creationId xmlns:a16="http://schemas.microsoft.com/office/drawing/2014/main" id="{E27A9504-7C2B-D7EC-6D1C-69C5CE795403}"/>
              </a:ext>
            </a:extLst>
          </p:cNvPr>
          <p:cNvSpPr/>
          <p:nvPr/>
        </p:nvSpPr>
        <p:spPr>
          <a:xfrm>
            <a:off x="5119658" y="4192672"/>
            <a:ext cx="1315209" cy="505504"/>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200">
                <a:ea typeface="+mn-lt"/>
                <a:cs typeface="+mn-lt"/>
              </a:rPr>
              <a:t>Вече имам кредит другаде</a:t>
            </a:r>
            <a:endParaRPr lang="bg-BG"/>
          </a:p>
        </p:txBody>
      </p:sp>
      <p:sp>
        <p:nvSpPr>
          <p:cNvPr id="5" name="Правоъгълник: със заоблени ъгли 37">
            <a:extLst>
              <a:ext uri="{FF2B5EF4-FFF2-40B4-BE49-F238E27FC236}">
                <a16:creationId xmlns:a16="http://schemas.microsoft.com/office/drawing/2014/main" id="{FC9B0587-1F2D-3A6B-0A29-EE7A62F65214}"/>
              </a:ext>
            </a:extLst>
          </p:cNvPr>
          <p:cNvSpPr/>
          <p:nvPr/>
        </p:nvSpPr>
        <p:spPr>
          <a:xfrm>
            <a:off x="5267705" y="1058208"/>
            <a:ext cx="4325063" cy="65453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bg-BG" sz="1600" b="1">
                <a:solidFill>
                  <a:srgbClr val="1F3864"/>
                </a:solidFill>
              </a:rPr>
              <a:t>1.Отваряне и Предложение</a:t>
            </a:r>
          </a:p>
        </p:txBody>
      </p:sp>
      <p:sp>
        <p:nvSpPr>
          <p:cNvPr id="7" name="Правоъгълник: със заоблени ъгли 41">
            <a:extLst>
              <a:ext uri="{FF2B5EF4-FFF2-40B4-BE49-F238E27FC236}">
                <a16:creationId xmlns:a16="http://schemas.microsoft.com/office/drawing/2014/main" id="{0F48373F-05B6-2625-84A8-A81F21A60880}"/>
              </a:ext>
            </a:extLst>
          </p:cNvPr>
          <p:cNvSpPr/>
          <p:nvPr/>
        </p:nvSpPr>
        <p:spPr>
          <a:xfrm>
            <a:off x="5371234" y="3300536"/>
            <a:ext cx="4333237" cy="521770"/>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bg-BG" sz="1600" b="1">
                <a:solidFill>
                  <a:schemeClr val="accent1">
                    <a:lumMod val="49000"/>
                  </a:schemeClr>
                </a:solidFill>
              </a:rPr>
              <a:t>2. Възражение и отговор</a:t>
            </a:r>
          </a:p>
        </p:txBody>
      </p:sp>
      <p:sp>
        <p:nvSpPr>
          <p:cNvPr id="15" name="TextBox 14">
            <a:extLst>
              <a:ext uri="{FF2B5EF4-FFF2-40B4-BE49-F238E27FC236}">
                <a16:creationId xmlns:a16="http://schemas.microsoft.com/office/drawing/2014/main" id="{AFFA25A7-05E3-0626-C740-3F23A787D908}"/>
              </a:ext>
            </a:extLst>
          </p:cNvPr>
          <p:cNvSpPr txBox="1"/>
          <p:nvPr/>
        </p:nvSpPr>
        <p:spPr>
          <a:xfrm>
            <a:off x="5445585" y="1636485"/>
            <a:ext cx="6443040"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a:ea typeface="+mn-lt"/>
                <a:cs typeface="+mn-lt"/>
              </a:rPr>
              <a:t>-</a:t>
            </a:r>
            <a:r>
              <a:rPr lang="en-US" sz="1400">
                <a:ea typeface="+mn-lt"/>
                <a:cs typeface="+mn-lt"/>
              </a:rPr>
              <a:t>Добър ден, търся г-н/г-жа (две </a:t>
            </a:r>
            <a:r>
              <a:rPr lang="en-US" sz="1400" err="1">
                <a:ea typeface="+mn-lt"/>
                <a:cs typeface="+mn-lt"/>
              </a:rPr>
              <a:t>имена</a:t>
            </a:r>
            <a:r>
              <a:rPr lang="en-US" sz="1400">
                <a:ea typeface="+mn-lt"/>
                <a:cs typeface="+mn-lt"/>
              </a:rPr>
              <a:t> </a:t>
            </a:r>
            <a:r>
              <a:rPr lang="en-US" sz="1400" err="1">
                <a:ea typeface="+mn-lt"/>
                <a:cs typeface="+mn-lt"/>
              </a:rPr>
              <a:t>на</a:t>
            </a:r>
            <a:r>
              <a:rPr lang="en-US" sz="1400">
                <a:ea typeface="+mn-lt"/>
                <a:cs typeface="+mn-lt"/>
              </a:rPr>
              <a:t> </a:t>
            </a:r>
            <a:r>
              <a:rPr lang="en-US" sz="1400" err="1">
                <a:ea typeface="+mn-lt"/>
                <a:cs typeface="+mn-lt"/>
              </a:rPr>
              <a:t>клиента</a:t>
            </a:r>
            <a:r>
              <a:rPr lang="en-US" sz="1400">
                <a:ea typeface="+mn-lt"/>
                <a:cs typeface="+mn-lt"/>
              </a:rPr>
              <a:t>).</a:t>
            </a:r>
            <a:br>
              <a:rPr lang="en-US" sz="1400">
                <a:ea typeface="+mn-lt"/>
                <a:cs typeface="+mn-lt"/>
              </a:rPr>
            </a:br>
            <a:r>
              <a:rPr lang="en-US" sz="1400">
                <a:ea typeface="+mn-lt"/>
                <a:cs typeface="+mn-lt"/>
              </a:rPr>
              <a:t> </a:t>
            </a:r>
            <a:r>
              <a:rPr lang="en-US" sz="1400" b="1">
                <a:ea typeface="+mn-lt"/>
                <a:cs typeface="+mn-lt"/>
              </a:rPr>
              <a:t>-</a:t>
            </a:r>
            <a:r>
              <a:rPr lang="en-US" sz="1400" err="1">
                <a:ea typeface="+mn-lt"/>
                <a:cs typeface="+mn-lt"/>
              </a:rPr>
              <a:t>Да</a:t>
            </a:r>
            <a:r>
              <a:rPr lang="en-US" sz="1400">
                <a:ea typeface="+mn-lt"/>
                <a:cs typeface="+mn-lt"/>
              </a:rPr>
              <a:t> (</a:t>
            </a:r>
            <a:r>
              <a:rPr lang="en-US" sz="1400" err="1">
                <a:ea typeface="+mn-lt"/>
                <a:cs typeface="+mn-lt"/>
              </a:rPr>
              <a:t>на</a:t>
            </a:r>
            <a:r>
              <a:rPr lang="en-US" sz="1400">
                <a:ea typeface="+mn-lt"/>
                <a:cs typeface="+mn-lt"/>
              </a:rPr>
              <a:t> </a:t>
            </a:r>
            <a:r>
              <a:rPr lang="en-US" sz="1400" err="1">
                <a:ea typeface="+mn-lt"/>
                <a:cs typeface="+mn-lt"/>
              </a:rPr>
              <a:t>телефона</a:t>
            </a:r>
            <a:r>
              <a:rPr lang="en-US" sz="1400">
                <a:ea typeface="+mn-lt"/>
                <a:cs typeface="+mn-lt"/>
              </a:rPr>
              <a:t>, </a:t>
            </a:r>
            <a:r>
              <a:rPr lang="en-US" sz="1400" err="1">
                <a:ea typeface="+mn-lt"/>
                <a:cs typeface="+mn-lt"/>
              </a:rPr>
              <a:t>аз</a:t>
            </a:r>
            <a:r>
              <a:rPr lang="en-US" sz="1400">
                <a:ea typeface="+mn-lt"/>
                <a:cs typeface="+mn-lt"/>
              </a:rPr>
              <a:t> </a:t>
            </a:r>
            <a:r>
              <a:rPr lang="en-US" sz="1400" err="1">
                <a:ea typeface="+mn-lt"/>
                <a:cs typeface="+mn-lt"/>
              </a:rPr>
              <a:t>съм</a:t>
            </a:r>
            <a:r>
              <a:rPr lang="en-US" sz="1400">
                <a:ea typeface="+mn-lt"/>
                <a:cs typeface="+mn-lt"/>
              </a:rPr>
              <a:t>).</a:t>
            </a:r>
            <a:br>
              <a:rPr lang="en-US" sz="1400">
                <a:ea typeface="+mn-lt"/>
                <a:cs typeface="+mn-lt"/>
              </a:rPr>
            </a:br>
            <a:r>
              <a:rPr lang="en-US" sz="1400">
                <a:ea typeface="+mn-lt"/>
                <a:cs typeface="+mn-lt"/>
              </a:rPr>
              <a:t> </a:t>
            </a:r>
            <a:r>
              <a:rPr lang="en-US" sz="1400" b="1">
                <a:ea typeface="+mn-lt"/>
                <a:cs typeface="+mn-lt"/>
              </a:rPr>
              <a:t>-</a:t>
            </a:r>
            <a:r>
              <a:rPr lang="en-US" sz="1400" err="1">
                <a:ea typeface="+mn-lt"/>
                <a:cs typeface="+mn-lt"/>
              </a:rPr>
              <a:t>Здравейте</a:t>
            </a:r>
            <a:r>
              <a:rPr lang="en-US" sz="1400">
                <a:ea typeface="+mn-lt"/>
                <a:cs typeface="+mn-lt"/>
              </a:rPr>
              <a:t> г-н/г-</a:t>
            </a:r>
            <a:r>
              <a:rPr lang="en-US" sz="1400" err="1">
                <a:ea typeface="+mn-lt"/>
                <a:cs typeface="+mn-lt"/>
              </a:rPr>
              <a:t>жо</a:t>
            </a:r>
            <a:r>
              <a:rPr lang="en-US" sz="1400">
                <a:ea typeface="+mn-lt"/>
                <a:cs typeface="+mn-lt"/>
              </a:rPr>
              <a:t> (</a:t>
            </a:r>
            <a:r>
              <a:rPr lang="en-US" sz="1400" err="1">
                <a:ea typeface="+mn-lt"/>
                <a:cs typeface="+mn-lt"/>
              </a:rPr>
              <a:t>фамилия</a:t>
            </a:r>
            <a:r>
              <a:rPr lang="en-US" sz="1400">
                <a:ea typeface="+mn-lt"/>
                <a:cs typeface="+mn-lt"/>
              </a:rPr>
              <a:t> </a:t>
            </a:r>
            <a:r>
              <a:rPr lang="en-US" sz="1400" err="1">
                <a:ea typeface="+mn-lt"/>
                <a:cs typeface="+mn-lt"/>
              </a:rPr>
              <a:t>на</a:t>
            </a:r>
            <a:r>
              <a:rPr lang="en-US" sz="1400">
                <a:ea typeface="+mn-lt"/>
                <a:cs typeface="+mn-lt"/>
              </a:rPr>
              <a:t> </a:t>
            </a:r>
            <a:r>
              <a:rPr lang="en-US" sz="1400" err="1">
                <a:ea typeface="+mn-lt"/>
                <a:cs typeface="+mn-lt"/>
              </a:rPr>
              <a:t>клиента</a:t>
            </a:r>
            <a:r>
              <a:rPr lang="en-US" sz="1400">
                <a:ea typeface="+mn-lt"/>
                <a:cs typeface="+mn-lt"/>
              </a:rPr>
              <a:t>), </a:t>
            </a:r>
            <a:r>
              <a:rPr lang="en-US" sz="1400" err="1">
                <a:ea typeface="+mn-lt"/>
                <a:cs typeface="+mn-lt"/>
              </a:rPr>
              <a:t>обаждам</a:t>
            </a:r>
            <a:r>
              <a:rPr lang="en-US" sz="1400">
                <a:ea typeface="+mn-lt"/>
                <a:cs typeface="+mn-lt"/>
              </a:rPr>
              <a:t> </a:t>
            </a:r>
            <a:r>
              <a:rPr lang="en-US" sz="1400" err="1">
                <a:ea typeface="+mn-lt"/>
                <a:cs typeface="+mn-lt"/>
              </a:rPr>
              <a:t>се</a:t>
            </a:r>
            <a:r>
              <a:rPr lang="en-US" sz="1400">
                <a:ea typeface="+mn-lt"/>
                <a:cs typeface="+mn-lt"/>
              </a:rPr>
              <a:t> </a:t>
            </a:r>
            <a:r>
              <a:rPr lang="en-US" sz="1400" err="1">
                <a:ea typeface="+mn-lt"/>
                <a:cs typeface="+mn-lt"/>
              </a:rPr>
              <a:t>от</a:t>
            </a:r>
            <a:r>
              <a:rPr lang="en-US" sz="1400">
                <a:ea typeface="+mn-lt"/>
                <a:cs typeface="+mn-lt"/>
              </a:rPr>
              <a:t> </a:t>
            </a:r>
            <a:r>
              <a:rPr lang="en-US" sz="1400" err="1">
                <a:ea typeface="+mn-lt"/>
                <a:cs typeface="+mn-lt"/>
              </a:rPr>
              <a:t>Изи</a:t>
            </a:r>
            <a:r>
              <a:rPr lang="en-US" sz="1400">
                <a:ea typeface="+mn-lt"/>
                <a:cs typeface="+mn-lt"/>
              </a:rPr>
              <a:t> </a:t>
            </a:r>
            <a:r>
              <a:rPr lang="en-US" sz="1400" err="1">
                <a:ea typeface="+mn-lt"/>
                <a:cs typeface="+mn-lt"/>
              </a:rPr>
              <a:t>Кредит</a:t>
            </a:r>
            <a:r>
              <a:rPr lang="en-US" sz="1400">
                <a:ea typeface="+mn-lt"/>
                <a:cs typeface="+mn-lt"/>
              </a:rPr>
              <a:t> </a:t>
            </a:r>
            <a:r>
              <a:rPr lang="en-US" sz="1400" err="1">
                <a:ea typeface="+mn-lt"/>
                <a:cs typeface="+mn-lt"/>
              </a:rPr>
              <a:t>във</a:t>
            </a:r>
            <a:r>
              <a:rPr lang="en-US" sz="1400">
                <a:ea typeface="+mn-lt"/>
                <a:cs typeface="+mn-lt"/>
              </a:rPr>
              <a:t> </a:t>
            </a:r>
            <a:r>
              <a:rPr lang="en-US" sz="1400" err="1">
                <a:ea typeface="+mn-lt"/>
                <a:cs typeface="+mn-lt"/>
              </a:rPr>
              <a:t>връзка</a:t>
            </a:r>
            <a:r>
              <a:rPr lang="en-US" sz="1400">
                <a:ea typeface="+mn-lt"/>
                <a:cs typeface="+mn-lt"/>
              </a:rPr>
              <a:t> с </a:t>
            </a:r>
            <a:r>
              <a:rPr lang="en-US" sz="1400" err="1">
                <a:ea typeface="+mn-lt"/>
                <a:cs typeface="+mn-lt"/>
              </a:rPr>
              <a:t>изготвено</a:t>
            </a:r>
            <a:r>
              <a:rPr lang="en-US" sz="1400">
                <a:ea typeface="+mn-lt"/>
                <a:cs typeface="+mn-lt"/>
              </a:rPr>
              <a:t> </a:t>
            </a:r>
            <a:r>
              <a:rPr lang="en-US" sz="1400" err="1">
                <a:ea typeface="+mn-lt"/>
                <a:cs typeface="+mn-lt"/>
              </a:rPr>
              <a:t>предложение</a:t>
            </a:r>
            <a:r>
              <a:rPr lang="en-US" sz="1400">
                <a:ea typeface="+mn-lt"/>
                <a:cs typeface="+mn-lt"/>
              </a:rPr>
              <a:t>, </a:t>
            </a:r>
            <a:r>
              <a:rPr lang="en-US" sz="1400" err="1">
                <a:ea typeface="+mn-lt"/>
                <a:cs typeface="+mn-lt"/>
              </a:rPr>
              <a:t>специално</a:t>
            </a:r>
            <a:r>
              <a:rPr lang="en-US" sz="1400">
                <a:ea typeface="+mn-lt"/>
                <a:cs typeface="+mn-lt"/>
              </a:rPr>
              <a:t> </a:t>
            </a:r>
            <a:r>
              <a:rPr lang="en-US" sz="1400" err="1">
                <a:ea typeface="+mn-lt"/>
                <a:cs typeface="+mn-lt"/>
              </a:rPr>
              <a:t>за</a:t>
            </a:r>
            <a:r>
              <a:rPr lang="en-US" sz="1400">
                <a:ea typeface="+mn-lt"/>
                <a:cs typeface="+mn-lt"/>
              </a:rPr>
              <a:t> </a:t>
            </a:r>
            <a:r>
              <a:rPr lang="en-US" sz="1400" err="1">
                <a:ea typeface="+mn-lt"/>
                <a:cs typeface="+mn-lt"/>
              </a:rPr>
              <a:t>Вас</a:t>
            </a:r>
            <a:r>
              <a:rPr lang="en-US" sz="1400">
                <a:ea typeface="+mn-lt"/>
                <a:cs typeface="+mn-lt"/>
              </a:rPr>
              <a:t>. </a:t>
            </a:r>
            <a:r>
              <a:rPr lang="en-US" sz="1400" err="1">
                <a:ea typeface="+mn-lt"/>
                <a:cs typeface="+mn-lt"/>
              </a:rPr>
              <a:t>Удобно</a:t>
            </a:r>
            <a:r>
              <a:rPr lang="en-US" sz="1400">
                <a:ea typeface="+mn-lt"/>
                <a:cs typeface="+mn-lt"/>
              </a:rPr>
              <a:t> </a:t>
            </a:r>
            <a:r>
              <a:rPr lang="en-US" sz="1400" err="1">
                <a:ea typeface="+mn-lt"/>
                <a:cs typeface="+mn-lt"/>
              </a:rPr>
              <a:t>ли</a:t>
            </a:r>
            <a:r>
              <a:rPr lang="en-US" sz="1400">
                <a:ea typeface="+mn-lt"/>
                <a:cs typeface="+mn-lt"/>
              </a:rPr>
              <a:t> е </a:t>
            </a:r>
            <a:r>
              <a:rPr lang="en-US" sz="1400" err="1">
                <a:ea typeface="+mn-lt"/>
                <a:cs typeface="+mn-lt"/>
              </a:rPr>
              <a:t>да</a:t>
            </a:r>
            <a:r>
              <a:rPr lang="en-US" sz="1400">
                <a:ea typeface="+mn-lt"/>
                <a:cs typeface="+mn-lt"/>
              </a:rPr>
              <a:t> </a:t>
            </a:r>
            <a:r>
              <a:rPr lang="en-US" sz="1400" err="1">
                <a:ea typeface="+mn-lt"/>
                <a:cs typeface="+mn-lt"/>
              </a:rPr>
              <a:t>ми</a:t>
            </a:r>
            <a:r>
              <a:rPr lang="en-US" sz="1400">
                <a:ea typeface="+mn-lt"/>
                <a:cs typeface="+mn-lt"/>
              </a:rPr>
              <a:t> </a:t>
            </a:r>
            <a:r>
              <a:rPr lang="en-US" sz="1400" err="1">
                <a:ea typeface="+mn-lt"/>
                <a:cs typeface="+mn-lt"/>
              </a:rPr>
              <a:t>отделите</a:t>
            </a:r>
            <a:r>
              <a:rPr lang="en-US" sz="1400">
                <a:ea typeface="+mn-lt"/>
                <a:cs typeface="+mn-lt"/>
              </a:rPr>
              <a:t> </a:t>
            </a:r>
            <a:r>
              <a:rPr lang="en-US" sz="1400" err="1">
                <a:ea typeface="+mn-lt"/>
                <a:cs typeface="+mn-lt"/>
              </a:rPr>
              <a:t>една</a:t>
            </a:r>
            <a:r>
              <a:rPr lang="en-US" sz="1400">
                <a:ea typeface="+mn-lt"/>
                <a:cs typeface="+mn-lt"/>
              </a:rPr>
              <a:t>, </a:t>
            </a:r>
            <a:r>
              <a:rPr lang="en-US" sz="1400" err="1">
                <a:ea typeface="+mn-lt"/>
                <a:cs typeface="+mn-lt"/>
              </a:rPr>
              <a:t>две</a:t>
            </a:r>
            <a:r>
              <a:rPr lang="en-US" sz="1400">
                <a:ea typeface="+mn-lt"/>
                <a:cs typeface="+mn-lt"/>
              </a:rPr>
              <a:t> </a:t>
            </a:r>
            <a:r>
              <a:rPr lang="en-US" sz="1400" err="1">
                <a:ea typeface="+mn-lt"/>
                <a:cs typeface="+mn-lt"/>
              </a:rPr>
              <a:t>минути</a:t>
            </a:r>
            <a:r>
              <a:rPr lang="en-US" sz="1400">
                <a:ea typeface="+mn-lt"/>
                <a:cs typeface="+mn-lt"/>
              </a:rPr>
              <a:t>, </a:t>
            </a:r>
            <a:r>
              <a:rPr lang="en-US" sz="1400" err="1">
                <a:ea typeface="+mn-lt"/>
                <a:cs typeface="+mn-lt"/>
              </a:rPr>
              <a:t>за</a:t>
            </a:r>
            <a:r>
              <a:rPr lang="en-US" sz="1400">
                <a:ea typeface="+mn-lt"/>
                <a:cs typeface="+mn-lt"/>
              </a:rPr>
              <a:t> </a:t>
            </a:r>
            <a:r>
              <a:rPr lang="en-US" sz="1400" err="1">
                <a:ea typeface="+mn-lt"/>
                <a:cs typeface="+mn-lt"/>
              </a:rPr>
              <a:t>да</a:t>
            </a:r>
            <a:r>
              <a:rPr lang="en-US" sz="1400">
                <a:ea typeface="+mn-lt"/>
                <a:cs typeface="+mn-lt"/>
              </a:rPr>
              <a:t> </a:t>
            </a:r>
            <a:r>
              <a:rPr lang="en-US" sz="1400" err="1">
                <a:ea typeface="+mn-lt"/>
                <a:cs typeface="+mn-lt"/>
              </a:rPr>
              <a:t>Ви</a:t>
            </a:r>
            <a:r>
              <a:rPr lang="en-US" sz="1400">
                <a:ea typeface="+mn-lt"/>
                <a:cs typeface="+mn-lt"/>
              </a:rPr>
              <a:t> </a:t>
            </a:r>
            <a:r>
              <a:rPr lang="en-US" sz="1400" err="1">
                <a:ea typeface="+mn-lt"/>
                <a:cs typeface="+mn-lt"/>
              </a:rPr>
              <a:t>запозная</a:t>
            </a:r>
            <a:r>
              <a:rPr lang="en-US" sz="1400">
                <a:ea typeface="+mn-lt"/>
                <a:cs typeface="+mn-lt"/>
              </a:rPr>
              <a:t>? </a:t>
            </a:r>
            <a:br>
              <a:rPr lang="en-US" sz="1400">
                <a:ea typeface="+mn-lt"/>
                <a:cs typeface="+mn-lt"/>
              </a:rPr>
            </a:br>
            <a:r>
              <a:rPr lang="en-US" sz="1400">
                <a:ea typeface="+mn-lt"/>
                <a:cs typeface="+mn-lt"/>
              </a:rPr>
              <a:t>-</a:t>
            </a:r>
            <a:r>
              <a:rPr lang="en-US" sz="1400" err="1">
                <a:ea typeface="+mn-lt"/>
                <a:cs typeface="+mn-lt"/>
              </a:rPr>
              <a:t>Да</a:t>
            </a:r>
            <a:r>
              <a:rPr lang="en-US" sz="1400">
                <a:ea typeface="+mn-lt"/>
                <a:cs typeface="+mn-lt"/>
              </a:rPr>
              <a:t> (</a:t>
            </a:r>
            <a:r>
              <a:rPr lang="en-US" sz="1400" err="1">
                <a:ea typeface="+mn-lt"/>
                <a:cs typeface="+mn-lt"/>
              </a:rPr>
              <a:t>слушам</a:t>
            </a:r>
            <a:r>
              <a:rPr lang="en-US" sz="1400">
                <a:ea typeface="+mn-lt"/>
                <a:cs typeface="+mn-lt"/>
              </a:rPr>
              <a:t> </a:t>
            </a:r>
            <a:r>
              <a:rPr lang="en-US" sz="1400" err="1">
                <a:ea typeface="+mn-lt"/>
                <a:cs typeface="+mn-lt"/>
              </a:rPr>
              <a:t>Ви</a:t>
            </a:r>
            <a:r>
              <a:rPr lang="en-US" sz="1400">
                <a:ea typeface="+mn-lt"/>
                <a:cs typeface="+mn-lt"/>
              </a:rPr>
              <a:t>).</a:t>
            </a:r>
            <a:br>
              <a:rPr lang="en-US" sz="1400">
                <a:ea typeface="+mn-lt"/>
                <a:cs typeface="+mn-lt"/>
              </a:rPr>
            </a:br>
            <a:r>
              <a:rPr lang="en-US" sz="1400" b="1">
                <a:ea typeface="+mn-lt"/>
                <a:cs typeface="+mn-lt"/>
              </a:rPr>
              <a:t> (</a:t>
            </a:r>
            <a:r>
              <a:rPr lang="en-US" sz="1400" b="1" err="1">
                <a:ea typeface="+mn-lt"/>
                <a:cs typeface="+mn-lt"/>
              </a:rPr>
              <a:t>Представяне</a:t>
            </a:r>
            <a:r>
              <a:rPr lang="en-US" sz="1400" b="1">
                <a:ea typeface="+mn-lt"/>
                <a:cs typeface="+mn-lt"/>
              </a:rPr>
              <a:t> </a:t>
            </a:r>
            <a:r>
              <a:rPr lang="en-US" sz="1400" b="1" err="1">
                <a:ea typeface="+mn-lt"/>
                <a:cs typeface="+mn-lt"/>
              </a:rPr>
              <a:t>на</a:t>
            </a:r>
            <a:r>
              <a:rPr lang="en-US" sz="1400" b="1">
                <a:ea typeface="+mn-lt"/>
                <a:cs typeface="+mn-lt"/>
              </a:rPr>
              <a:t> </a:t>
            </a:r>
            <a:r>
              <a:rPr lang="en-US" sz="1400" b="1" err="1">
                <a:ea typeface="+mn-lt"/>
                <a:cs typeface="+mn-lt"/>
              </a:rPr>
              <a:t>предложнието</a:t>
            </a:r>
            <a:r>
              <a:rPr lang="en-US" sz="1400">
                <a:ea typeface="+mn-lt"/>
                <a:cs typeface="+mn-lt"/>
              </a:rPr>
              <a:t>)</a:t>
            </a:r>
            <a:br>
              <a:rPr lang="en-US" sz="1400">
                <a:ea typeface="+mn-lt"/>
                <a:cs typeface="+mn-lt"/>
              </a:rPr>
            </a:br>
            <a:r>
              <a:rPr lang="en-US" sz="1400">
                <a:ea typeface="+mn-lt"/>
                <a:cs typeface="+mn-lt"/>
              </a:rPr>
              <a:t> -</a:t>
            </a:r>
            <a:r>
              <a:rPr lang="en-US" sz="1400" err="1">
                <a:ea typeface="+mn-lt"/>
                <a:cs typeface="+mn-lt"/>
              </a:rPr>
              <a:t>Как</a:t>
            </a:r>
            <a:r>
              <a:rPr lang="en-US" sz="1400">
                <a:ea typeface="+mn-lt"/>
                <a:cs typeface="+mn-lt"/>
              </a:rPr>
              <a:t> </a:t>
            </a:r>
            <a:r>
              <a:rPr lang="en-US" sz="1400" err="1">
                <a:ea typeface="+mn-lt"/>
                <a:cs typeface="+mn-lt"/>
              </a:rPr>
              <a:t>Ви</a:t>
            </a:r>
            <a:r>
              <a:rPr lang="en-US" sz="1400">
                <a:ea typeface="+mn-lt"/>
                <a:cs typeface="+mn-lt"/>
              </a:rPr>
              <a:t> </a:t>
            </a:r>
            <a:r>
              <a:rPr lang="en-US" sz="1400" err="1">
                <a:ea typeface="+mn-lt"/>
                <a:cs typeface="+mn-lt"/>
              </a:rPr>
              <a:t>се</a:t>
            </a:r>
            <a:r>
              <a:rPr lang="en-US" sz="1400">
                <a:ea typeface="+mn-lt"/>
                <a:cs typeface="+mn-lt"/>
              </a:rPr>
              <a:t> </a:t>
            </a:r>
            <a:r>
              <a:rPr lang="en-US" sz="1400" err="1">
                <a:ea typeface="+mn-lt"/>
                <a:cs typeface="+mn-lt"/>
              </a:rPr>
              <a:t>струва</a:t>
            </a:r>
            <a:r>
              <a:rPr lang="en-US" sz="1400">
                <a:ea typeface="+mn-lt"/>
                <a:cs typeface="+mn-lt"/>
              </a:rPr>
              <a:t> </a:t>
            </a:r>
            <a:r>
              <a:rPr lang="en-US" sz="1400" err="1">
                <a:ea typeface="+mn-lt"/>
                <a:cs typeface="+mn-lt"/>
              </a:rPr>
              <a:t>моето</a:t>
            </a:r>
            <a:r>
              <a:rPr lang="en-US" sz="1400">
                <a:ea typeface="+mn-lt"/>
                <a:cs typeface="+mn-lt"/>
              </a:rPr>
              <a:t> </a:t>
            </a:r>
            <a:r>
              <a:rPr lang="en-US" sz="1400" err="1">
                <a:ea typeface="+mn-lt"/>
                <a:cs typeface="+mn-lt"/>
              </a:rPr>
              <a:t>предложение</a:t>
            </a:r>
            <a:r>
              <a:rPr lang="en-US" sz="1400">
                <a:ea typeface="+mn-lt"/>
                <a:cs typeface="+mn-lt"/>
              </a:rPr>
              <a:t>?</a:t>
            </a:r>
            <a:endParaRPr lang="en-US">
              <a:ea typeface="+mn-lt"/>
              <a:cs typeface="+mn-lt"/>
            </a:endParaRPr>
          </a:p>
          <a:p>
            <a:endParaRPr lang="en-US" sz="1400"/>
          </a:p>
        </p:txBody>
      </p:sp>
      <p:sp>
        <p:nvSpPr>
          <p:cNvPr id="6" name="Rectangle: Rounded Corners 9">
            <a:extLst>
              <a:ext uri="{FF2B5EF4-FFF2-40B4-BE49-F238E27FC236}">
                <a16:creationId xmlns:a16="http://schemas.microsoft.com/office/drawing/2014/main" id="{59FE5632-8564-3388-9BAF-30C490DA2C9C}"/>
              </a:ext>
            </a:extLst>
          </p:cNvPr>
          <p:cNvSpPr/>
          <p:nvPr/>
        </p:nvSpPr>
        <p:spPr>
          <a:xfrm>
            <a:off x="1935843" y="2013363"/>
            <a:ext cx="2932281" cy="677241"/>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bg-BG" sz="1600"/>
              <a:t>Предварително одобрен клиент</a:t>
            </a:r>
            <a:endParaRPr lang="en-GB" sz="1600"/>
          </a:p>
        </p:txBody>
      </p:sp>
      <p:sp>
        <p:nvSpPr>
          <p:cNvPr id="11" name="Rectangle: Rounded Corners 11">
            <a:extLst>
              <a:ext uri="{FF2B5EF4-FFF2-40B4-BE49-F238E27FC236}">
                <a16:creationId xmlns:a16="http://schemas.microsoft.com/office/drawing/2014/main" id="{5BDEAABD-B2AC-5AE7-4774-84E63A6AD3B3}"/>
              </a:ext>
            </a:extLst>
          </p:cNvPr>
          <p:cNvSpPr/>
          <p:nvPr/>
        </p:nvSpPr>
        <p:spPr>
          <a:xfrm>
            <a:off x="1935842" y="1209605"/>
            <a:ext cx="2932281" cy="677241"/>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bg-BG" sz="1600"/>
              <a:t>Лоялен клиент</a:t>
            </a:r>
            <a:endParaRPr lang="en-GB" sz="1600"/>
          </a:p>
        </p:txBody>
      </p:sp>
      <p:sp>
        <p:nvSpPr>
          <p:cNvPr id="17" name="Rectangle: Rounded Corners 13">
            <a:extLst>
              <a:ext uri="{FF2B5EF4-FFF2-40B4-BE49-F238E27FC236}">
                <a16:creationId xmlns:a16="http://schemas.microsoft.com/office/drawing/2014/main" id="{D1E38A99-57D5-0425-A4A5-544028DB8CF7}"/>
              </a:ext>
            </a:extLst>
          </p:cNvPr>
          <p:cNvSpPr/>
          <p:nvPr/>
        </p:nvSpPr>
        <p:spPr>
          <a:xfrm>
            <a:off x="1935841" y="2873577"/>
            <a:ext cx="2932281" cy="677241"/>
          </a:xfrm>
          <a:prstGeom prst="roundRect">
            <a:avLst/>
          </a:prstGeom>
          <a:solidFill>
            <a:schemeClr val="bg2">
              <a:lumMod val="75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bg-BG" sz="1600"/>
              <a:t>Промо кампания</a:t>
            </a:r>
            <a:endParaRPr lang="en-GB" sz="1600"/>
          </a:p>
        </p:txBody>
      </p:sp>
      <p:sp>
        <p:nvSpPr>
          <p:cNvPr id="19" name="Rectangle 9">
            <a:extLst>
              <a:ext uri="{FF2B5EF4-FFF2-40B4-BE49-F238E27FC236}">
                <a16:creationId xmlns:a16="http://schemas.microsoft.com/office/drawing/2014/main" id="{8EC77935-C108-7ACA-A98D-894F08FE72BF}"/>
              </a:ext>
            </a:extLst>
          </p:cNvPr>
          <p:cNvSpPr/>
          <p:nvPr/>
        </p:nvSpPr>
        <p:spPr>
          <a:xfrm>
            <a:off x="1935839" y="4681940"/>
            <a:ext cx="2932281" cy="677241"/>
          </a:xfrm>
          <a:prstGeom prst="roundRect">
            <a:avLst/>
          </a:prstGeom>
          <a:solidFill>
            <a:schemeClr val="bg2">
              <a:lumMod val="75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По препоръка</a:t>
            </a:r>
            <a:endParaRPr lang="en-GB" sz="1600"/>
          </a:p>
        </p:txBody>
      </p:sp>
      <p:sp>
        <p:nvSpPr>
          <p:cNvPr id="21" name="Rectangle 11">
            <a:extLst>
              <a:ext uri="{FF2B5EF4-FFF2-40B4-BE49-F238E27FC236}">
                <a16:creationId xmlns:a16="http://schemas.microsoft.com/office/drawing/2014/main" id="{3E8E8CEA-97F1-D056-5614-31FC8397878E}"/>
              </a:ext>
            </a:extLst>
          </p:cNvPr>
          <p:cNvSpPr/>
          <p:nvPr/>
        </p:nvSpPr>
        <p:spPr>
          <a:xfrm>
            <a:off x="1935840" y="3769173"/>
            <a:ext cx="2932281" cy="677241"/>
          </a:xfrm>
          <a:prstGeom prst="roundRect">
            <a:avLst/>
          </a:prstGeom>
          <a:solidFill>
            <a:schemeClr val="bg2">
              <a:lumMod val="75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bg-BG" sz="1600"/>
              <a:t>Продукт „Пенсионер“</a:t>
            </a:r>
            <a:endParaRPr lang="en-GB" sz="1600"/>
          </a:p>
        </p:txBody>
      </p:sp>
      <p:sp>
        <p:nvSpPr>
          <p:cNvPr id="13" name="Rectangle: Rounded Corners 12">
            <a:extLst>
              <a:ext uri="{FF2B5EF4-FFF2-40B4-BE49-F238E27FC236}">
                <a16:creationId xmlns:a16="http://schemas.microsoft.com/office/drawing/2014/main" id="{A32E662A-2A41-1C50-F21E-054530F7FBA7}"/>
              </a:ext>
            </a:extLst>
          </p:cNvPr>
          <p:cNvSpPr/>
          <p:nvPr/>
        </p:nvSpPr>
        <p:spPr>
          <a:xfrm>
            <a:off x="6711916" y="3679034"/>
            <a:ext cx="1352913" cy="180722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bg-BG" sz="1000">
                <a:ea typeface="+mn-lt"/>
                <a:cs typeface="+mn-lt"/>
              </a:rPr>
              <a:t>Нашето предложение може да Ви осигури допълнително финансиране при нужда. Както обясних по-рано при усвояване на кредит ….....</a:t>
            </a:r>
            <a:endParaRPr lang="en-US">
              <a:ea typeface="+mn-lt"/>
              <a:cs typeface="+mn-lt"/>
            </a:endParaRPr>
          </a:p>
        </p:txBody>
      </p:sp>
      <p:sp>
        <p:nvSpPr>
          <p:cNvPr id="16" name="Rectangle: Rounded Corners 15">
            <a:extLst>
              <a:ext uri="{FF2B5EF4-FFF2-40B4-BE49-F238E27FC236}">
                <a16:creationId xmlns:a16="http://schemas.microsoft.com/office/drawing/2014/main" id="{E0FA9C79-DC9B-5224-6915-65CFF9B205C9}"/>
              </a:ext>
            </a:extLst>
          </p:cNvPr>
          <p:cNvSpPr/>
          <p:nvPr/>
        </p:nvSpPr>
        <p:spPr>
          <a:xfrm>
            <a:off x="8380673" y="3727116"/>
            <a:ext cx="1122658" cy="486912"/>
          </a:xfrm>
          <a:prstGeom prst="roundRect">
            <a:avLst/>
          </a:prstGeom>
          <a:solidFill>
            <a:srgbClr val="4472C4"/>
          </a:solidFill>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p>
            <a:pPr algn="ctr"/>
            <a:r>
              <a:rPr lang="bg-BG" sz="1000"/>
              <a:t>Да</a:t>
            </a:r>
            <a:endParaRPr lang="bg-BG" sz="1000" dirty="0"/>
          </a:p>
        </p:txBody>
      </p:sp>
      <p:cxnSp>
        <p:nvCxnSpPr>
          <p:cNvPr id="20" name="Connector: Elbow 19">
            <a:extLst>
              <a:ext uri="{FF2B5EF4-FFF2-40B4-BE49-F238E27FC236}">
                <a16:creationId xmlns:a16="http://schemas.microsoft.com/office/drawing/2014/main" id="{908DF8F4-BAA6-F2AE-6C9F-56E1AFED3F4E}"/>
              </a:ext>
            </a:extLst>
          </p:cNvPr>
          <p:cNvCxnSpPr/>
          <p:nvPr/>
        </p:nvCxnSpPr>
        <p:spPr>
          <a:xfrm flipV="1">
            <a:off x="7953915" y="3955377"/>
            <a:ext cx="370262" cy="504906"/>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Connector: Elbow 22">
            <a:extLst>
              <a:ext uri="{FF2B5EF4-FFF2-40B4-BE49-F238E27FC236}">
                <a16:creationId xmlns:a16="http://schemas.microsoft.com/office/drawing/2014/main" id="{BC395A35-44D7-ABF8-0A37-9BD72BD040AD}"/>
              </a:ext>
            </a:extLst>
          </p:cNvPr>
          <p:cNvCxnSpPr>
            <a:cxnSpLocks/>
          </p:cNvCxnSpPr>
          <p:nvPr/>
        </p:nvCxnSpPr>
        <p:spPr>
          <a:xfrm>
            <a:off x="7953912" y="4482067"/>
            <a:ext cx="370262" cy="357734"/>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34" name="Rectangle: Rounded Corners 33">
            <a:extLst>
              <a:ext uri="{FF2B5EF4-FFF2-40B4-BE49-F238E27FC236}">
                <a16:creationId xmlns:a16="http://schemas.microsoft.com/office/drawing/2014/main" id="{19E8FC09-7A39-E98F-C069-F6B0C009CEDD}"/>
              </a:ext>
            </a:extLst>
          </p:cNvPr>
          <p:cNvSpPr/>
          <p:nvPr/>
        </p:nvSpPr>
        <p:spPr>
          <a:xfrm>
            <a:off x="9711231" y="3295141"/>
            <a:ext cx="1344197" cy="953304"/>
          </a:xfrm>
          <a:prstGeom prst="roundRect">
            <a:avLst/>
          </a:prstGeom>
          <a:solidFill>
            <a:srgbClr val="4472C4"/>
          </a:solidFill>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p>
            <a:r>
              <a:rPr lang="bg-BG" sz="1000">
                <a:ea typeface="+mn-lt"/>
                <a:cs typeface="+mn-lt"/>
              </a:rPr>
              <a:t>Ако желаете мога да Ви разкажа за вариантите, от които може да се възползвате</a:t>
            </a:r>
            <a:endParaRPr lang="en-US"/>
          </a:p>
        </p:txBody>
      </p:sp>
      <p:cxnSp>
        <p:nvCxnSpPr>
          <p:cNvPr id="50" name="Connector: Elbow 49">
            <a:extLst>
              <a:ext uri="{FF2B5EF4-FFF2-40B4-BE49-F238E27FC236}">
                <a16:creationId xmlns:a16="http://schemas.microsoft.com/office/drawing/2014/main" id="{168CCA27-8878-8280-4A78-DBF00195ACDE}"/>
              </a:ext>
            </a:extLst>
          </p:cNvPr>
          <p:cNvCxnSpPr>
            <a:cxnSpLocks/>
          </p:cNvCxnSpPr>
          <p:nvPr/>
        </p:nvCxnSpPr>
        <p:spPr>
          <a:xfrm flipV="1">
            <a:off x="10744429" y="2810417"/>
            <a:ext cx="658897" cy="1081088"/>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6" name="Connector: Elbow 85">
            <a:extLst>
              <a:ext uri="{FF2B5EF4-FFF2-40B4-BE49-F238E27FC236}">
                <a16:creationId xmlns:a16="http://schemas.microsoft.com/office/drawing/2014/main" id="{193CCE9B-C6AE-55AD-8ED4-CD8125A48D2B}"/>
              </a:ext>
            </a:extLst>
          </p:cNvPr>
          <p:cNvCxnSpPr>
            <a:cxnSpLocks/>
          </p:cNvCxnSpPr>
          <p:nvPr/>
        </p:nvCxnSpPr>
        <p:spPr>
          <a:xfrm>
            <a:off x="9255716" y="3831381"/>
            <a:ext cx="370262" cy="7018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5" name="Connector: Elbow 94">
            <a:extLst>
              <a:ext uri="{FF2B5EF4-FFF2-40B4-BE49-F238E27FC236}">
                <a16:creationId xmlns:a16="http://schemas.microsoft.com/office/drawing/2014/main" id="{03084169-525B-526D-DE19-342E85CE23D8}"/>
              </a:ext>
            </a:extLst>
          </p:cNvPr>
          <p:cNvCxnSpPr>
            <a:cxnSpLocks/>
          </p:cNvCxnSpPr>
          <p:nvPr/>
        </p:nvCxnSpPr>
        <p:spPr>
          <a:xfrm>
            <a:off x="6300080" y="4466382"/>
            <a:ext cx="370262" cy="7018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96" name="Rectangle: Rounded Corners 95">
            <a:extLst>
              <a:ext uri="{FF2B5EF4-FFF2-40B4-BE49-F238E27FC236}">
                <a16:creationId xmlns:a16="http://schemas.microsoft.com/office/drawing/2014/main" id="{FF3D9B9A-98F9-C051-FDDB-CB0034791130}"/>
              </a:ext>
            </a:extLst>
          </p:cNvPr>
          <p:cNvSpPr/>
          <p:nvPr/>
        </p:nvSpPr>
        <p:spPr>
          <a:xfrm>
            <a:off x="11424316" y="2633129"/>
            <a:ext cx="1111112" cy="475367"/>
          </a:xfrm>
          <a:prstGeom prst="roundRect">
            <a:avLst/>
          </a:prstGeom>
          <a:solidFill>
            <a:srgbClr val="4472C4"/>
          </a:solidFill>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p>
            <a:pPr algn="ctr"/>
            <a:r>
              <a:rPr lang="bg-BG" sz="1000"/>
              <a:t>Да </a:t>
            </a:r>
            <a:endParaRPr lang="bg-BG" sz="1000" dirty="0"/>
          </a:p>
        </p:txBody>
      </p:sp>
      <p:sp>
        <p:nvSpPr>
          <p:cNvPr id="97" name="Rectangle: Rounded Corners 96">
            <a:extLst>
              <a:ext uri="{FF2B5EF4-FFF2-40B4-BE49-F238E27FC236}">
                <a16:creationId xmlns:a16="http://schemas.microsoft.com/office/drawing/2014/main" id="{4663DA3B-46F9-A053-FD8D-5D5C4C7B669B}"/>
              </a:ext>
            </a:extLst>
          </p:cNvPr>
          <p:cNvSpPr/>
          <p:nvPr/>
        </p:nvSpPr>
        <p:spPr>
          <a:xfrm>
            <a:off x="11418651" y="3320410"/>
            <a:ext cx="1122658" cy="486912"/>
          </a:xfrm>
          <a:prstGeom prst="roundRect">
            <a:avLst/>
          </a:prstGeom>
          <a:solidFill>
            <a:srgbClr val="4472C4"/>
          </a:solidFill>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p>
            <a:pPr algn="ctr"/>
            <a:r>
              <a:rPr lang="bg-BG" sz="1000"/>
              <a:t>Не, не искам </a:t>
            </a:r>
            <a:endParaRPr lang="bg-BG" sz="1000" dirty="0"/>
          </a:p>
        </p:txBody>
      </p:sp>
      <p:sp>
        <p:nvSpPr>
          <p:cNvPr id="98" name="Rectangle: Rounded Corners 97">
            <a:extLst>
              <a:ext uri="{FF2B5EF4-FFF2-40B4-BE49-F238E27FC236}">
                <a16:creationId xmlns:a16="http://schemas.microsoft.com/office/drawing/2014/main" id="{CFB5D5AD-A0C4-6895-255D-D4B7033AEF55}"/>
              </a:ext>
            </a:extLst>
          </p:cNvPr>
          <p:cNvSpPr/>
          <p:nvPr/>
        </p:nvSpPr>
        <p:spPr>
          <a:xfrm>
            <a:off x="12708692" y="2288072"/>
            <a:ext cx="1309561" cy="803213"/>
          </a:xfrm>
          <a:prstGeom prst="roundRect">
            <a:avLst/>
          </a:prstGeom>
          <a:solidFill>
            <a:srgbClr val="4472C4"/>
          </a:solidFill>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p>
            <a:r>
              <a:rPr lang="bg-BG" sz="1000"/>
              <a:t>Представям варианти </a:t>
            </a:r>
            <a:endParaRPr lang="bg-BG" sz="1000" dirty="0"/>
          </a:p>
        </p:txBody>
      </p:sp>
      <p:cxnSp>
        <p:nvCxnSpPr>
          <p:cNvPr id="99" name="Connector: Elbow 98">
            <a:extLst>
              <a:ext uri="{FF2B5EF4-FFF2-40B4-BE49-F238E27FC236}">
                <a16:creationId xmlns:a16="http://schemas.microsoft.com/office/drawing/2014/main" id="{ECA7ABCF-7659-035A-38D6-5BF6CC29FC0C}"/>
              </a:ext>
            </a:extLst>
          </p:cNvPr>
          <p:cNvCxnSpPr>
            <a:cxnSpLocks/>
          </p:cNvCxnSpPr>
          <p:nvPr/>
        </p:nvCxnSpPr>
        <p:spPr>
          <a:xfrm flipV="1">
            <a:off x="12302412" y="2899294"/>
            <a:ext cx="370262" cy="3045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0" name="Connector: Elbow 99">
            <a:extLst>
              <a:ext uri="{FF2B5EF4-FFF2-40B4-BE49-F238E27FC236}">
                <a16:creationId xmlns:a16="http://schemas.microsoft.com/office/drawing/2014/main" id="{8533D543-C9A8-D54C-55CA-C7A46C7877DA}"/>
              </a:ext>
            </a:extLst>
          </p:cNvPr>
          <p:cNvCxnSpPr>
            <a:cxnSpLocks/>
          </p:cNvCxnSpPr>
          <p:nvPr/>
        </p:nvCxnSpPr>
        <p:spPr>
          <a:xfrm flipV="1">
            <a:off x="12305024" y="3555423"/>
            <a:ext cx="370262" cy="20298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101" name="Rectangle: Rounded Corners 100">
            <a:extLst>
              <a:ext uri="{FF2B5EF4-FFF2-40B4-BE49-F238E27FC236}">
                <a16:creationId xmlns:a16="http://schemas.microsoft.com/office/drawing/2014/main" id="{7DEF6E45-807D-18CF-1AEA-22FD7B3B1093}"/>
              </a:ext>
            </a:extLst>
          </p:cNvPr>
          <p:cNvSpPr/>
          <p:nvPr/>
        </p:nvSpPr>
        <p:spPr>
          <a:xfrm>
            <a:off x="12720240" y="3208439"/>
            <a:ext cx="1292352" cy="795154"/>
          </a:xfrm>
          <a:prstGeom prst="roundRect">
            <a:avLst/>
          </a:prstGeom>
          <a:solidFill>
            <a:srgbClr val="4472C4"/>
          </a:solidFill>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p>
            <a:r>
              <a:rPr lang="bg-BG" sz="1000"/>
              <a:t>Ако изникне нужда от допълнително финансиране</a:t>
            </a:r>
            <a:endParaRPr lang="bg-BG" sz="1000">
              <a:solidFill>
                <a:srgbClr val="000000"/>
              </a:solidFill>
            </a:endParaRPr>
          </a:p>
          <a:p>
            <a:endParaRPr lang="bg-BG" sz="1000" dirty="0"/>
          </a:p>
        </p:txBody>
      </p:sp>
      <p:sp>
        <p:nvSpPr>
          <p:cNvPr id="102" name="Rectangle: Rounded Corners 101">
            <a:extLst>
              <a:ext uri="{FF2B5EF4-FFF2-40B4-BE49-F238E27FC236}">
                <a16:creationId xmlns:a16="http://schemas.microsoft.com/office/drawing/2014/main" id="{FD1C4652-E64C-8E95-BE8F-38F2E0CE20CE}"/>
              </a:ext>
            </a:extLst>
          </p:cNvPr>
          <p:cNvSpPr/>
          <p:nvPr/>
        </p:nvSpPr>
        <p:spPr>
          <a:xfrm>
            <a:off x="14230731" y="2290686"/>
            <a:ext cx="1295183" cy="736771"/>
          </a:xfrm>
          <a:prstGeom prst="roundRect">
            <a:avLst/>
          </a:prstGeom>
          <a:solidFill>
            <a:schemeClr val="accent2"/>
          </a:solidFill>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p>
            <a:r>
              <a:rPr lang="bg-BG" sz="1000" dirty="0"/>
              <a:t>Разговорът приключва със </a:t>
            </a:r>
            <a:r>
              <a:rPr lang="bg-BG" sz="1000"/>
              <a:t>среща</a:t>
            </a:r>
            <a:endParaRPr lang="bg-BG" sz="1000" dirty="0"/>
          </a:p>
        </p:txBody>
      </p:sp>
      <p:cxnSp>
        <p:nvCxnSpPr>
          <p:cNvPr id="103" name="Connector: Elbow 102">
            <a:extLst>
              <a:ext uri="{FF2B5EF4-FFF2-40B4-BE49-F238E27FC236}">
                <a16:creationId xmlns:a16="http://schemas.microsoft.com/office/drawing/2014/main" id="{A87205F7-552E-F3BF-27DB-29DC197A6E80}"/>
              </a:ext>
            </a:extLst>
          </p:cNvPr>
          <p:cNvCxnSpPr>
            <a:cxnSpLocks/>
          </p:cNvCxnSpPr>
          <p:nvPr/>
        </p:nvCxnSpPr>
        <p:spPr>
          <a:xfrm flipV="1">
            <a:off x="13838609" y="2671870"/>
            <a:ext cx="370262" cy="3045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104" name="Rectangle: Rounded Corners 103">
            <a:extLst>
              <a:ext uri="{FF2B5EF4-FFF2-40B4-BE49-F238E27FC236}">
                <a16:creationId xmlns:a16="http://schemas.microsoft.com/office/drawing/2014/main" id="{CA9CAAA8-564A-B1A1-1979-3AB5E108F6D3}"/>
              </a:ext>
            </a:extLst>
          </p:cNvPr>
          <p:cNvSpPr/>
          <p:nvPr/>
        </p:nvSpPr>
        <p:spPr>
          <a:xfrm>
            <a:off x="14230295" y="3374650"/>
            <a:ext cx="1298017" cy="376033"/>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p>
            <a:r>
              <a:rPr lang="bg-BG" sz="1000"/>
              <a:t>Разговорът приключва </a:t>
            </a:r>
            <a:endParaRPr lang="en-US"/>
          </a:p>
        </p:txBody>
      </p:sp>
      <p:cxnSp>
        <p:nvCxnSpPr>
          <p:cNvPr id="105" name="Connector: Elbow 104">
            <a:extLst>
              <a:ext uri="{FF2B5EF4-FFF2-40B4-BE49-F238E27FC236}">
                <a16:creationId xmlns:a16="http://schemas.microsoft.com/office/drawing/2014/main" id="{62049DBA-235A-0A5F-D713-8DC51EE99EF2}"/>
              </a:ext>
            </a:extLst>
          </p:cNvPr>
          <p:cNvCxnSpPr>
            <a:cxnSpLocks/>
          </p:cNvCxnSpPr>
          <p:nvPr/>
        </p:nvCxnSpPr>
        <p:spPr>
          <a:xfrm>
            <a:off x="13826190" y="3544703"/>
            <a:ext cx="370262" cy="7018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6" name="Connector: Elbow 105">
            <a:extLst>
              <a:ext uri="{FF2B5EF4-FFF2-40B4-BE49-F238E27FC236}">
                <a16:creationId xmlns:a16="http://schemas.microsoft.com/office/drawing/2014/main" id="{5EB2FA0F-F7E2-D507-B117-A0F28A0BAA06}"/>
              </a:ext>
            </a:extLst>
          </p:cNvPr>
          <p:cNvCxnSpPr>
            <a:cxnSpLocks/>
          </p:cNvCxnSpPr>
          <p:nvPr/>
        </p:nvCxnSpPr>
        <p:spPr>
          <a:xfrm flipV="1">
            <a:off x="10906064" y="3664780"/>
            <a:ext cx="485717" cy="36527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107" name="Rectangle: Rounded Corners 106">
            <a:extLst>
              <a:ext uri="{FF2B5EF4-FFF2-40B4-BE49-F238E27FC236}">
                <a16:creationId xmlns:a16="http://schemas.microsoft.com/office/drawing/2014/main" id="{7C220BE2-47EF-8663-18AA-4F0E2E93F29B}"/>
              </a:ext>
            </a:extLst>
          </p:cNvPr>
          <p:cNvSpPr/>
          <p:nvPr/>
        </p:nvSpPr>
        <p:spPr>
          <a:xfrm>
            <a:off x="8383504" y="5413406"/>
            <a:ext cx="1122658" cy="486912"/>
          </a:xfrm>
          <a:prstGeom prst="roundRect">
            <a:avLst/>
          </a:prstGeom>
          <a:solidFill>
            <a:srgbClr val="4472C4"/>
          </a:solidFill>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p>
            <a:pPr algn="ctr"/>
            <a:r>
              <a:rPr lang="bg-BG" sz="1000"/>
              <a:t>Нека помисля!</a:t>
            </a:r>
            <a:endParaRPr lang="bg-BG" sz="1000" dirty="0"/>
          </a:p>
        </p:txBody>
      </p:sp>
      <p:sp>
        <p:nvSpPr>
          <p:cNvPr id="108" name="Rectangle: Rounded Corners 107">
            <a:extLst>
              <a:ext uri="{FF2B5EF4-FFF2-40B4-BE49-F238E27FC236}">
                <a16:creationId xmlns:a16="http://schemas.microsoft.com/office/drawing/2014/main" id="{0C2FAE6F-A6E0-05AA-FDBF-0624E0BF854C}"/>
              </a:ext>
            </a:extLst>
          </p:cNvPr>
          <p:cNvSpPr/>
          <p:nvPr/>
        </p:nvSpPr>
        <p:spPr>
          <a:xfrm>
            <a:off x="8382196" y="4601955"/>
            <a:ext cx="1122658" cy="486912"/>
          </a:xfrm>
          <a:prstGeom prst="roundRect">
            <a:avLst/>
          </a:prstGeom>
          <a:solidFill>
            <a:srgbClr val="4472C4"/>
          </a:solidFill>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p>
            <a:pPr algn="ctr"/>
            <a:r>
              <a:rPr lang="bg-BG" sz="1000"/>
              <a:t>Не, не искам </a:t>
            </a:r>
            <a:endParaRPr lang="bg-BG" sz="1000" dirty="0"/>
          </a:p>
        </p:txBody>
      </p:sp>
      <p:cxnSp>
        <p:nvCxnSpPr>
          <p:cNvPr id="109" name="Connector: Elbow 108">
            <a:extLst>
              <a:ext uri="{FF2B5EF4-FFF2-40B4-BE49-F238E27FC236}">
                <a16:creationId xmlns:a16="http://schemas.microsoft.com/office/drawing/2014/main" id="{4498F5E2-843E-81A8-7F1F-63A31C122048}"/>
              </a:ext>
            </a:extLst>
          </p:cNvPr>
          <p:cNvCxnSpPr>
            <a:cxnSpLocks/>
          </p:cNvCxnSpPr>
          <p:nvPr/>
        </p:nvCxnSpPr>
        <p:spPr>
          <a:xfrm flipV="1">
            <a:off x="9268569" y="4836968"/>
            <a:ext cx="370262" cy="20298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110" name="Rectangle: Rounded Corners 109">
            <a:extLst>
              <a:ext uri="{FF2B5EF4-FFF2-40B4-BE49-F238E27FC236}">
                <a16:creationId xmlns:a16="http://schemas.microsoft.com/office/drawing/2014/main" id="{CFB63812-33B1-3BA9-5E23-905B71641F6B}"/>
              </a:ext>
            </a:extLst>
          </p:cNvPr>
          <p:cNvSpPr/>
          <p:nvPr/>
        </p:nvSpPr>
        <p:spPr>
          <a:xfrm>
            <a:off x="9683785" y="4489984"/>
            <a:ext cx="1292352" cy="795154"/>
          </a:xfrm>
          <a:prstGeom prst="roundRect">
            <a:avLst/>
          </a:prstGeom>
          <a:solidFill>
            <a:srgbClr val="4472C4"/>
          </a:solidFill>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p>
            <a:r>
              <a:rPr lang="bg-BG" sz="1000" dirty="0"/>
              <a:t>Ако изникне нужда от допълнително финансиране</a:t>
            </a:r>
            <a:r>
              <a:rPr lang="en-US" sz="1000" dirty="0"/>
              <a:t> </a:t>
            </a:r>
            <a:endParaRPr lang="bg-BG" sz="1000" dirty="0">
              <a:solidFill>
                <a:srgbClr val="000000"/>
              </a:solidFill>
            </a:endParaRPr>
          </a:p>
          <a:p>
            <a:endParaRPr lang="bg-BG" sz="1000" dirty="0"/>
          </a:p>
        </p:txBody>
      </p:sp>
      <p:sp>
        <p:nvSpPr>
          <p:cNvPr id="111" name="Rectangle: Rounded Corners 110">
            <a:extLst>
              <a:ext uri="{FF2B5EF4-FFF2-40B4-BE49-F238E27FC236}">
                <a16:creationId xmlns:a16="http://schemas.microsoft.com/office/drawing/2014/main" id="{5696CCC4-ED17-A1A9-545C-1BED67DD91E1}"/>
              </a:ext>
            </a:extLst>
          </p:cNvPr>
          <p:cNvSpPr/>
          <p:nvPr/>
        </p:nvSpPr>
        <p:spPr>
          <a:xfrm>
            <a:off x="11193840" y="4656195"/>
            <a:ext cx="1298017" cy="376033"/>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p>
            <a:r>
              <a:rPr lang="bg-BG" sz="1000"/>
              <a:t>Разговорът приключва </a:t>
            </a:r>
            <a:endParaRPr lang="en-US"/>
          </a:p>
        </p:txBody>
      </p:sp>
      <p:cxnSp>
        <p:nvCxnSpPr>
          <p:cNvPr id="112" name="Connector: Elbow 111">
            <a:extLst>
              <a:ext uri="{FF2B5EF4-FFF2-40B4-BE49-F238E27FC236}">
                <a16:creationId xmlns:a16="http://schemas.microsoft.com/office/drawing/2014/main" id="{A4FEA47A-580D-AC14-B08F-557682F5C1F6}"/>
              </a:ext>
            </a:extLst>
          </p:cNvPr>
          <p:cNvCxnSpPr>
            <a:cxnSpLocks/>
          </p:cNvCxnSpPr>
          <p:nvPr/>
        </p:nvCxnSpPr>
        <p:spPr>
          <a:xfrm>
            <a:off x="10789735" y="4826248"/>
            <a:ext cx="370262" cy="7018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3" name="Connector: Elbow 112">
            <a:extLst>
              <a:ext uri="{FF2B5EF4-FFF2-40B4-BE49-F238E27FC236}">
                <a16:creationId xmlns:a16="http://schemas.microsoft.com/office/drawing/2014/main" id="{0D52D31C-AB24-47B5-033E-88080A0698B1}"/>
              </a:ext>
            </a:extLst>
          </p:cNvPr>
          <p:cNvCxnSpPr>
            <a:cxnSpLocks/>
          </p:cNvCxnSpPr>
          <p:nvPr/>
        </p:nvCxnSpPr>
        <p:spPr>
          <a:xfrm>
            <a:off x="7965458" y="5093976"/>
            <a:ext cx="381807" cy="58864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116" name="Rectangle: Rounded Corners 115">
            <a:extLst>
              <a:ext uri="{FF2B5EF4-FFF2-40B4-BE49-F238E27FC236}">
                <a16:creationId xmlns:a16="http://schemas.microsoft.com/office/drawing/2014/main" id="{8B30BE5F-892F-CCDC-8E4B-8403BBE92969}"/>
              </a:ext>
            </a:extLst>
          </p:cNvPr>
          <p:cNvSpPr/>
          <p:nvPr/>
        </p:nvSpPr>
        <p:spPr>
          <a:xfrm>
            <a:off x="9799239" y="5482893"/>
            <a:ext cx="1292352" cy="795154"/>
          </a:xfrm>
          <a:prstGeom prst="roundRect">
            <a:avLst/>
          </a:prstGeom>
          <a:solidFill>
            <a:srgbClr val="4472C4"/>
          </a:solidFill>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p>
            <a:r>
              <a:rPr lang="bg-BG" sz="1000"/>
              <a:t>Кога Ви е удобно?( отбелязва се ден и час)</a:t>
            </a:r>
            <a:endParaRPr lang="bg-BG" sz="1000" dirty="0"/>
          </a:p>
        </p:txBody>
      </p:sp>
      <p:sp>
        <p:nvSpPr>
          <p:cNvPr id="117" name="Rectangle: Rounded Corners 116">
            <a:extLst>
              <a:ext uri="{FF2B5EF4-FFF2-40B4-BE49-F238E27FC236}">
                <a16:creationId xmlns:a16="http://schemas.microsoft.com/office/drawing/2014/main" id="{C592E192-9342-BB7E-50BE-70EF82D896E6}"/>
              </a:ext>
            </a:extLst>
          </p:cNvPr>
          <p:cNvSpPr/>
          <p:nvPr/>
        </p:nvSpPr>
        <p:spPr>
          <a:xfrm>
            <a:off x="12775567" y="5706831"/>
            <a:ext cx="1298017" cy="376033"/>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p>
            <a:r>
              <a:rPr lang="bg-BG" sz="1000"/>
              <a:t>Разговорът приключва </a:t>
            </a:r>
            <a:endParaRPr lang="en-US"/>
          </a:p>
        </p:txBody>
      </p:sp>
      <p:cxnSp>
        <p:nvCxnSpPr>
          <p:cNvPr id="118" name="Connector: Elbow 117">
            <a:extLst>
              <a:ext uri="{FF2B5EF4-FFF2-40B4-BE49-F238E27FC236}">
                <a16:creationId xmlns:a16="http://schemas.microsoft.com/office/drawing/2014/main" id="{ADE30A15-BB98-E512-41E2-5F0C7ABDA16A}"/>
              </a:ext>
            </a:extLst>
          </p:cNvPr>
          <p:cNvCxnSpPr>
            <a:cxnSpLocks/>
          </p:cNvCxnSpPr>
          <p:nvPr/>
        </p:nvCxnSpPr>
        <p:spPr>
          <a:xfrm>
            <a:off x="10905189" y="5819157"/>
            <a:ext cx="370262" cy="7018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9" name="Connector: Elbow 118">
            <a:extLst>
              <a:ext uri="{FF2B5EF4-FFF2-40B4-BE49-F238E27FC236}">
                <a16:creationId xmlns:a16="http://schemas.microsoft.com/office/drawing/2014/main" id="{9D2F3B3D-3545-0E3D-3A3A-2D7B6B930335}"/>
              </a:ext>
            </a:extLst>
          </p:cNvPr>
          <p:cNvCxnSpPr>
            <a:cxnSpLocks/>
          </p:cNvCxnSpPr>
          <p:nvPr/>
        </p:nvCxnSpPr>
        <p:spPr>
          <a:xfrm>
            <a:off x="9270095" y="5636611"/>
            <a:ext cx="520352" cy="219189"/>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122" name="Rectangle: Rounded Corners 121">
            <a:extLst>
              <a:ext uri="{FF2B5EF4-FFF2-40B4-BE49-F238E27FC236}">
                <a16:creationId xmlns:a16="http://schemas.microsoft.com/office/drawing/2014/main" id="{FF258FEF-1EA4-1733-6B74-6E5A63936C36}"/>
              </a:ext>
            </a:extLst>
          </p:cNvPr>
          <p:cNvSpPr/>
          <p:nvPr/>
        </p:nvSpPr>
        <p:spPr>
          <a:xfrm>
            <a:off x="11300149" y="5482893"/>
            <a:ext cx="1292352" cy="795154"/>
          </a:xfrm>
          <a:prstGeom prst="roundRect">
            <a:avLst/>
          </a:prstGeom>
          <a:solidFill>
            <a:srgbClr val="4472C4"/>
          </a:solidFill>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p>
            <a:r>
              <a:rPr lang="bg-BG" sz="1000" dirty="0"/>
              <a:t>Очаквайте </a:t>
            </a:r>
            <a:r>
              <a:rPr lang="bg-BG" sz="1000"/>
              <a:t>обаждане от нас!</a:t>
            </a:r>
            <a:endParaRPr lang="en-US"/>
          </a:p>
        </p:txBody>
      </p:sp>
      <p:cxnSp>
        <p:nvCxnSpPr>
          <p:cNvPr id="123" name="Connector: Elbow 122">
            <a:extLst>
              <a:ext uri="{FF2B5EF4-FFF2-40B4-BE49-F238E27FC236}">
                <a16:creationId xmlns:a16="http://schemas.microsoft.com/office/drawing/2014/main" id="{14048BEE-3FE6-51F4-02CD-58241216ADA2}"/>
              </a:ext>
            </a:extLst>
          </p:cNvPr>
          <p:cNvCxnSpPr>
            <a:cxnSpLocks/>
          </p:cNvCxnSpPr>
          <p:nvPr/>
        </p:nvCxnSpPr>
        <p:spPr>
          <a:xfrm>
            <a:off x="11840372" y="5680612"/>
            <a:ext cx="370262" cy="7018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3" name="Текстово поле 23">
            <a:extLst>
              <a:ext uri="{FF2B5EF4-FFF2-40B4-BE49-F238E27FC236}">
                <a16:creationId xmlns:a16="http://schemas.microsoft.com/office/drawing/2014/main" id="{E9D82CB5-883D-7CB4-C4BA-6A909EE3DD42}"/>
              </a:ext>
            </a:extLst>
          </p:cNvPr>
          <p:cNvSpPr txBox="1"/>
          <p:nvPr/>
        </p:nvSpPr>
        <p:spPr>
          <a:xfrm>
            <a:off x="3362960" y="6360160"/>
            <a:ext cx="6390640" cy="3487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bg-BG" sz="1600" i="1"/>
              <a:t>Съдържа сценарии от дървото, изпратено като документ</a:t>
            </a:r>
          </a:p>
        </p:txBody>
      </p:sp>
    </p:spTree>
    <p:extLst>
      <p:ext uri="{BB962C8B-B14F-4D97-AF65-F5344CB8AC3E}">
        <p14:creationId xmlns:p14="http://schemas.microsoft.com/office/powerpoint/2010/main" val="31165446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C50927-96AF-7583-F0FA-8BC330B4907E}"/>
            </a:ext>
          </a:extLst>
        </p:cNvPr>
        <p:cNvGrpSpPr/>
        <p:nvPr/>
      </p:nvGrpSpPr>
      <p:grpSpPr>
        <a:xfrm>
          <a:off x="0" y="0"/>
          <a:ext cx="0" cy="0"/>
          <a:chOff x="0" y="0"/>
          <a:chExt cx="0" cy="0"/>
        </a:xfrm>
      </p:grpSpPr>
      <p:sp>
        <p:nvSpPr>
          <p:cNvPr id="27" name="Rectangle 3">
            <a:extLst>
              <a:ext uri="{FF2B5EF4-FFF2-40B4-BE49-F238E27FC236}">
                <a16:creationId xmlns:a16="http://schemas.microsoft.com/office/drawing/2014/main" id="{F09A4858-A605-0B02-56ED-73FF6C29F757}"/>
              </a:ext>
            </a:extLst>
          </p:cNvPr>
          <p:cNvSpPr/>
          <p:nvPr/>
        </p:nvSpPr>
        <p:spPr>
          <a:xfrm>
            <a:off x="1443475" y="4245"/>
            <a:ext cx="5338363" cy="677242"/>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28" name="Rectangle 4">
            <a:extLst>
              <a:ext uri="{FF2B5EF4-FFF2-40B4-BE49-F238E27FC236}">
                <a16:creationId xmlns:a16="http://schemas.microsoft.com/office/drawing/2014/main" id="{BE917CF2-A112-3B8D-6C31-CA38613019E8}"/>
              </a:ext>
            </a:extLst>
          </p:cNvPr>
          <p:cNvSpPr/>
          <p:nvPr/>
        </p:nvSpPr>
        <p:spPr>
          <a:xfrm>
            <a:off x="6788435" y="4245"/>
            <a:ext cx="5417300" cy="677242"/>
          </a:xfrm>
          <a:prstGeom prst="rect">
            <a:avLst/>
          </a:prstGeom>
          <a:solidFill>
            <a:schemeClr val="bg2">
              <a:lumMod val="75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29" name="Rectangle 28">
            <a:extLst>
              <a:ext uri="{FF2B5EF4-FFF2-40B4-BE49-F238E27FC236}">
                <a16:creationId xmlns:a16="http://schemas.microsoft.com/office/drawing/2014/main" id="{C99C78C9-24CF-1C2B-21C2-62BF184A18DE}"/>
              </a:ext>
            </a:extLst>
          </p:cNvPr>
          <p:cNvSpPr/>
          <p:nvPr/>
        </p:nvSpPr>
        <p:spPr>
          <a:xfrm>
            <a:off x="-1671" y="1599"/>
            <a:ext cx="1451167" cy="6866954"/>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200">
              <a:latin typeface="Aptos"/>
              <a:ea typeface="Calibri"/>
              <a:cs typeface="Calibri"/>
            </a:endParaRPr>
          </a:p>
        </p:txBody>
      </p:sp>
      <p:sp>
        <p:nvSpPr>
          <p:cNvPr id="30" name="Rectangle 29">
            <a:extLst>
              <a:ext uri="{FF2B5EF4-FFF2-40B4-BE49-F238E27FC236}">
                <a16:creationId xmlns:a16="http://schemas.microsoft.com/office/drawing/2014/main" id="{062E23E8-E4A4-0A1A-2E56-236F7BE13DB2}"/>
              </a:ext>
            </a:extLst>
          </p:cNvPr>
          <p:cNvSpPr/>
          <p:nvPr/>
        </p:nvSpPr>
        <p:spPr>
          <a:xfrm>
            <a:off x="-1671" y="2528038"/>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Типове клиенти</a:t>
            </a:r>
            <a:endParaRPr lang="en-GB" sz="1400">
              <a:latin typeface="Aptos"/>
              <a:ea typeface="Calibri"/>
              <a:cs typeface="Calibri"/>
            </a:endParaRPr>
          </a:p>
        </p:txBody>
      </p:sp>
      <p:sp>
        <p:nvSpPr>
          <p:cNvPr id="31" name="Rectangle 30">
            <a:extLst>
              <a:ext uri="{FF2B5EF4-FFF2-40B4-BE49-F238E27FC236}">
                <a16:creationId xmlns:a16="http://schemas.microsoft.com/office/drawing/2014/main" id="{ACC420F0-4A74-AC21-BF2A-64D14734026E}"/>
              </a:ext>
            </a:extLst>
          </p:cNvPr>
          <p:cNvSpPr/>
          <p:nvPr/>
        </p:nvSpPr>
        <p:spPr>
          <a:xfrm>
            <a:off x="8626" y="1913210"/>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b="1">
                <a:solidFill>
                  <a:srgbClr val="2F5597"/>
                </a:solidFill>
                <a:latin typeface="Aptos"/>
                <a:ea typeface="Calibri"/>
                <a:cs typeface="Calibri"/>
              </a:rPr>
              <a:t>Сценарии</a:t>
            </a:r>
            <a:endParaRPr lang="en-GB" sz="1400" b="1">
              <a:solidFill>
                <a:srgbClr val="2F5597"/>
              </a:solidFill>
              <a:latin typeface="Aptos"/>
              <a:ea typeface="Calibri"/>
              <a:cs typeface="Calibri"/>
            </a:endParaRPr>
          </a:p>
        </p:txBody>
      </p:sp>
      <p:sp>
        <p:nvSpPr>
          <p:cNvPr id="32" name="Rectangle 31">
            <a:extLst>
              <a:ext uri="{FF2B5EF4-FFF2-40B4-BE49-F238E27FC236}">
                <a16:creationId xmlns:a16="http://schemas.microsoft.com/office/drawing/2014/main" id="{DE3805B6-E119-F9CB-F8E4-A4A87395742E}"/>
              </a:ext>
            </a:extLst>
          </p:cNvPr>
          <p:cNvSpPr/>
          <p:nvPr/>
        </p:nvSpPr>
        <p:spPr>
          <a:xfrm>
            <a:off x="-1671" y="1298382"/>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a:solidFill>
                  <a:schemeClr val="bg1"/>
                </a:solidFill>
                <a:latin typeface="Aptos"/>
                <a:ea typeface="Calibri"/>
                <a:cs typeface="Calibri"/>
              </a:rPr>
              <a:t>Стъпки в обаждането</a:t>
            </a:r>
            <a:endParaRPr lang="bg-BG" sz="1400">
              <a:solidFill>
                <a:srgbClr val="000000"/>
              </a:solidFill>
              <a:latin typeface="Aptos"/>
              <a:ea typeface="Calibri"/>
              <a:cs typeface="Calibri"/>
            </a:endParaRPr>
          </a:p>
        </p:txBody>
      </p:sp>
      <p:sp>
        <p:nvSpPr>
          <p:cNvPr id="33" name="Rectangle 28">
            <a:extLst>
              <a:ext uri="{FF2B5EF4-FFF2-40B4-BE49-F238E27FC236}">
                <a16:creationId xmlns:a16="http://schemas.microsoft.com/office/drawing/2014/main" id="{EF78C613-B976-07D4-E2E9-F397ACF683C0}"/>
              </a:ext>
            </a:extLst>
          </p:cNvPr>
          <p:cNvSpPr/>
          <p:nvPr/>
        </p:nvSpPr>
        <p:spPr>
          <a:xfrm>
            <a:off x="6154" y="690328"/>
            <a:ext cx="1435083"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a:solidFill>
                  <a:schemeClr val="bg1"/>
                </a:solidFill>
                <a:latin typeface="Aptos"/>
                <a:ea typeface="Calibri"/>
                <a:cs typeface="Calibri"/>
              </a:rPr>
              <a:t>Подготовка</a:t>
            </a:r>
            <a:endParaRPr lang="en-GB" sz="1400">
              <a:solidFill>
                <a:schemeClr val="bg1"/>
              </a:solidFill>
              <a:latin typeface="Aptos"/>
              <a:ea typeface="Calibri"/>
              <a:cs typeface="Calibri"/>
            </a:endParaRPr>
          </a:p>
        </p:txBody>
      </p:sp>
      <p:pic>
        <p:nvPicPr>
          <p:cNvPr id="35" name="Picture 34">
            <a:extLst>
              <a:ext uri="{FF2B5EF4-FFF2-40B4-BE49-F238E27FC236}">
                <a16:creationId xmlns:a16="http://schemas.microsoft.com/office/drawing/2014/main" id="{EC0293D6-32A4-8C73-4623-09F9504401F1}"/>
              </a:ext>
            </a:extLst>
          </p:cNvPr>
          <p:cNvPicPr>
            <a:picLocks noChangeAspect="1"/>
          </p:cNvPicPr>
          <p:nvPr/>
        </p:nvPicPr>
        <p:blipFill>
          <a:blip r:embed="rId2"/>
          <a:stretch>
            <a:fillRect/>
          </a:stretch>
        </p:blipFill>
        <p:spPr>
          <a:xfrm>
            <a:off x="11122828" y="5851667"/>
            <a:ext cx="982751" cy="995681"/>
          </a:xfrm>
          <a:prstGeom prst="rect">
            <a:avLst/>
          </a:prstGeom>
        </p:spPr>
      </p:pic>
      <p:sp>
        <p:nvSpPr>
          <p:cNvPr id="3" name="Овал 2">
            <a:extLst>
              <a:ext uri="{FF2B5EF4-FFF2-40B4-BE49-F238E27FC236}">
                <a16:creationId xmlns:a16="http://schemas.microsoft.com/office/drawing/2014/main" id="{808AC66E-3665-66E6-0C29-9B320A011423}"/>
              </a:ext>
            </a:extLst>
          </p:cNvPr>
          <p:cNvSpPr/>
          <p:nvPr/>
        </p:nvSpPr>
        <p:spPr>
          <a:xfrm>
            <a:off x="16277461" y="1430065"/>
            <a:ext cx="177402" cy="159446"/>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37" name="Правоъгълник: със заоблени ъгли 16">
            <a:extLst>
              <a:ext uri="{FF2B5EF4-FFF2-40B4-BE49-F238E27FC236}">
                <a16:creationId xmlns:a16="http://schemas.microsoft.com/office/drawing/2014/main" id="{EB2D0D11-FDB2-AF14-4B0A-60770453AAC4}"/>
              </a:ext>
            </a:extLst>
          </p:cNvPr>
          <p:cNvSpPr/>
          <p:nvPr/>
        </p:nvSpPr>
        <p:spPr>
          <a:xfrm>
            <a:off x="5040170" y="5545908"/>
            <a:ext cx="2744630" cy="590809"/>
          </a:xfrm>
          <a:prstGeom prst="roundRect">
            <a:avLst>
              <a:gd name="adj" fmla="val 50000"/>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200"/>
              <a:t>Тренирай</a:t>
            </a:r>
          </a:p>
        </p:txBody>
      </p:sp>
      <p:sp>
        <p:nvSpPr>
          <p:cNvPr id="41" name="Rectangle: Rounded Corners 4">
            <a:extLst>
              <a:ext uri="{FF2B5EF4-FFF2-40B4-BE49-F238E27FC236}">
                <a16:creationId xmlns:a16="http://schemas.microsoft.com/office/drawing/2014/main" id="{6A82A956-0507-CB88-12F2-AF1D217948C4}"/>
              </a:ext>
            </a:extLst>
          </p:cNvPr>
          <p:cNvSpPr/>
          <p:nvPr/>
        </p:nvSpPr>
        <p:spPr>
          <a:xfrm>
            <a:off x="5269750" y="4311658"/>
            <a:ext cx="1465298" cy="470868"/>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200">
                <a:ea typeface="+mn-lt"/>
                <a:cs typeface="+mn-lt"/>
              </a:rPr>
              <a:t>Нямам нужда</a:t>
            </a:r>
            <a:endParaRPr lang="bg-BG"/>
          </a:p>
        </p:txBody>
      </p:sp>
      <p:sp>
        <p:nvSpPr>
          <p:cNvPr id="5" name="Правоъгълник: със заоблени ъгли 37">
            <a:extLst>
              <a:ext uri="{FF2B5EF4-FFF2-40B4-BE49-F238E27FC236}">
                <a16:creationId xmlns:a16="http://schemas.microsoft.com/office/drawing/2014/main" id="{12B89AD5-B71E-5F00-AF0D-376553DABE78}"/>
              </a:ext>
            </a:extLst>
          </p:cNvPr>
          <p:cNvSpPr/>
          <p:nvPr/>
        </p:nvSpPr>
        <p:spPr>
          <a:xfrm>
            <a:off x="5267705" y="1058208"/>
            <a:ext cx="4325063" cy="65453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bg-BG" sz="1600" b="1">
                <a:solidFill>
                  <a:srgbClr val="1F3864"/>
                </a:solidFill>
              </a:rPr>
              <a:t>1.Отваряне и Предложение</a:t>
            </a:r>
          </a:p>
        </p:txBody>
      </p:sp>
      <p:sp>
        <p:nvSpPr>
          <p:cNvPr id="7" name="Правоъгълник: със заоблени ъгли 41">
            <a:extLst>
              <a:ext uri="{FF2B5EF4-FFF2-40B4-BE49-F238E27FC236}">
                <a16:creationId xmlns:a16="http://schemas.microsoft.com/office/drawing/2014/main" id="{EBB8678D-27FB-00F5-7565-6B84E17E14B0}"/>
              </a:ext>
            </a:extLst>
          </p:cNvPr>
          <p:cNvSpPr/>
          <p:nvPr/>
        </p:nvSpPr>
        <p:spPr>
          <a:xfrm>
            <a:off x="5266243" y="3349965"/>
            <a:ext cx="4333237" cy="343178"/>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bg-BG" sz="1600" b="1">
                <a:solidFill>
                  <a:schemeClr val="accent1">
                    <a:lumMod val="49000"/>
                  </a:schemeClr>
                </a:solidFill>
              </a:rPr>
              <a:t>2. Възражение и отговор</a:t>
            </a:r>
          </a:p>
        </p:txBody>
      </p:sp>
      <p:sp>
        <p:nvSpPr>
          <p:cNvPr id="15" name="TextBox 14">
            <a:extLst>
              <a:ext uri="{FF2B5EF4-FFF2-40B4-BE49-F238E27FC236}">
                <a16:creationId xmlns:a16="http://schemas.microsoft.com/office/drawing/2014/main" id="{211BCC17-2FEC-5236-AB64-045330CA42AD}"/>
              </a:ext>
            </a:extLst>
          </p:cNvPr>
          <p:cNvSpPr txBox="1"/>
          <p:nvPr/>
        </p:nvSpPr>
        <p:spPr>
          <a:xfrm>
            <a:off x="5376312" y="1578758"/>
            <a:ext cx="6443040"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a:ea typeface="+mn-lt"/>
                <a:cs typeface="+mn-lt"/>
              </a:rPr>
              <a:t>-</a:t>
            </a:r>
            <a:r>
              <a:rPr lang="en-US" sz="1400">
                <a:ea typeface="+mn-lt"/>
                <a:cs typeface="+mn-lt"/>
              </a:rPr>
              <a:t>Добър ден, търся г-н/г-жа (две </a:t>
            </a:r>
            <a:r>
              <a:rPr lang="en-US" sz="1400" err="1">
                <a:ea typeface="+mn-lt"/>
                <a:cs typeface="+mn-lt"/>
              </a:rPr>
              <a:t>имена</a:t>
            </a:r>
            <a:r>
              <a:rPr lang="en-US" sz="1400">
                <a:ea typeface="+mn-lt"/>
                <a:cs typeface="+mn-lt"/>
              </a:rPr>
              <a:t> </a:t>
            </a:r>
            <a:r>
              <a:rPr lang="en-US" sz="1400" err="1">
                <a:ea typeface="+mn-lt"/>
                <a:cs typeface="+mn-lt"/>
              </a:rPr>
              <a:t>на</a:t>
            </a:r>
            <a:r>
              <a:rPr lang="en-US" sz="1400">
                <a:ea typeface="+mn-lt"/>
                <a:cs typeface="+mn-lt"/>
              </a:rPr>
              <a:t> </a:t>
            </a:r>
            <a:r>
              <a:rPr lang="en-US" sz="1400" err="1">
                <a:ea typeface="+mn-lt"/>
                <a:cs typeface="+mn-lt"/>
              </a:rPr>
              <a:t>клиента</a:t>
            </a:r>
            <a:r>
              <a:rPr lang="en-US" sz="1400">
                <a:ea typeface="+mn-lt"/>
                <a:cs typeface="+mn-lt"/>
              </a:rPr>
              <a:t>).</a:t>
            </a:r>
            <a:br>
              <a:rPr lang="en-US" sz="1400">
                <a:ea typeface="+mn-lt"/>
                <a:cs typeface="+mn-lt"/>
              </a:rPr>
            </a:br>
            <a:r>
              <a:rPr lang="en-US" sz="1400">
                <a:ea typeface="+mn-lt"/>
                <a:cs typeface="+mn-lt"/>
              </a:rPr>
              <a:t> </a:t>
            </a:r>
            <a:r>
              <a:rPr lang="en-US" sz="1400" b="1">
                <a:ea typeface="+mn-lt"/>
                <a:cs typeface="+mn-lt"/>
              </a:rPr>
              <a:t>-</a:t>
            </a:r>
            <a:r>
              <a:rPr lang="en-US" sz="1400" err="1">
                <a:ea typeface="+mn-lt"/>
                <a:cs typeface="+mn-lt"/>
              </a:rPr>
              <a:t>Да</a:t>
            </a:r>
            <a:r>
              <a:rPr lang="en-US" sz="1400">
                <a:ea typeface="+mn-lt"/>
                <a:cs typeface="+mn-lt"/>
              </a:rPr>
              <a:t> (</a:t>
            </a:r>
            <a:r>
              <a:rPr lang="en-US" sz="1400" err="1">
                <a:ea typeface="+mn-lt"/>
                <a:cs typeface="+mn-lt"/>
              </a:rPr>
              <a:t>на</a:t>
            </a:r>
            <a:r>
              <a:rPr lang="en-US" sz="1400">
                <a:ea typeface="+mn-lt"/>
                <a:cs typeface="+mn-lt"/>
              </a:rPr>
              <a:t> </a:t>
            </a:r>
            <a:r>
              <a:rPr lang="en-US" sz="1400" err="1">
                <a:ea typeface="+mn-lt"/>
                <a:cs typeface="+mn-lt"/>
              </a:rPr>
              <a:t>телефона</a:t>
            </a:r>
            <a:r>
              <a:rPr lang="en-US" sz="1400">
                <a:ea typeface="+mn-lt"/>
                <a:cs typeface="+mn-lt"/>
              </a:rPr>
              <a:t>, </a:t>
            </a:r>
            <a:r>
              <a:rPr lang="en-US" sz="1400" err="1">
                <a:ea typeface="+mn-lt"/>
                <a:cs typeface="+mn-lt"/>
              </a:rPr>
              <a:t>аз</a:t>
            </a:r>
            <a:r>
              <a:rPr lang="en-US" sz="1400">
                <a:ea typeface="+mn-lt"/>
                <a:cs typeface="+mn-lt"/>
              </a:rPr>
              <a:t> </a:t>
            </a:r>
            <a:r>
              <a:rPr lang="en-US" sz="1400" err="1">
                <a:ea typeface="+mn-lt"/>
                <a:cs typeface="+mn-lt"/>
              </a:rPr>
              <a:t>съм</a:t>
            </a:r>
            <a:r>
              <a:rPr lang="en-US" sz="1400">
                <a:ea typeface="+mn-lt"/>
                <a:cs typeface="+mn-lt"/>
              </a:rPr>
              <a:t>).</a:t>
            </a:r>
            <a:br>
              <a:rPr lang="en-US" sz="1400">
                <a:ea typeface="+mn-lt"/>
                <a:cs typeface="+mn-lt"/>
              </a:rPr>
            </a:br>
            <a:r>
              <a:rPr lang="en-US" sz="1400">
                <a:ea typeface="+mn-lt"/>
                <a:cs typeface="+mn-lt"/>
              </a:rPr>
              <a:t> </a:t>
            </a:r>
            <a:r>
              <a:rPr lang="en-US" sz="1400" b="1">
                <a:ea typeface="+mn-lt"/>
                <a:cs typeface="+mn-lt"/>
              </a:rPr>
              <a:t>-</a:t>
            </a:r>
            <a:r>
              <a:rPr lang="en-US" sz="1400" err="1">
                <a:ea typeface="+mn-lt"/>
                <a:cs typeface="+mn-lt"/>
              </a:rPr>
              <a:t>Здравейте</a:t>
            </a:r>
            <a:r>
              <a:rPr lang="en-US" sz="1400">
                <a:ea typeface="+mn-lt"/>
                <a:cs typeface="+mn-lt"/>
              </a:rPr>
              <a:t> г-н/г-</a:t>
            </a:r>
            <a:r>
              <a:rPr lang="en-US" sz="1400" err="1">
                <a:ea typeface="+mn-lt"/>
                <a:cs typeface="+mn-lt"/>
              </a:rPr>
              <a:t>жо</a:t>
            </a:r>
            <a:r>
              <a:rPr lang="en-US" sz="1400">
                <a:ea typeface="+mn-lt"/>
                <a:cs typeface="+mn-lt"/>
              </a:rPr>
              <a:t> (</a:t>
            </a:r>
            <a:r>
              <a:rPr lang="en-US" sz="1400" err="1">
                <a:ea typeface="+mn-lt"/>
                <a:cs typeface="+mn-lt"/>
              </a:rPr>
              <a:t>фамилия</a:t>
            </a:r>
            <a:r>
              <a:rPr lang="en-US" sz="1400">
                <a:ea typeface="+mn-lt"/>
                <a:cs typeface="+mn-lt"/>
              </a:rPr>
              <a:t> </a:t>
            </a:r>
            <a:r>
              <a:rPr lang="en-US" sz="1400" err="1">
                <a:ea typeface="+mn-lt"/>
                <a:cs typeface="+mn-lt"/>
              </a:rPr>
              <a:t>на</a:t>
            </a:r>
            <a:r>
              <a:rPr lang="en-US" sz="1400">
                <a:ea typeface="+mn-lt"/>
                <a:cs typeface="+mn-lt"/>
              </a:rPr>
              <a:t> </a:t>
            </a:r>
            <a:r>
              <a:rPr lang="en-US" sz="1400" err="1">
                <a:ea typeface="+mn-lt"/>
                <a:cs typeface="+mn-lt"/>
              </a:rPr>
              <a:t>клиента</a:t>
            </a:r>
            <a:r>
              <a:rPr lang="en-US" sz="1400">
                <a:ea typeface="+mn-lt"/>
                <a:cs typeface="+mn-lt"/>
              </a:rPr>
              <a:t>), </a:t>
            </a:r>
            <a:r>
              <a:rPr lang="en-US" sz="1400" err="1">
                <a:ea typeface="+mn-lt"/>
                <a:cs typeface="+mn-lt"/>
              </a:rPr>
              <a:t>обаждам</a:t>
            </a:r>
            <a:r>
              <a:rPr lang="en-US" sz="1400">
                <a:ea typeface="+mn-lt"/>
                <a:cs typeface="+mn-lt"/>
              </a:rPr>
              <a:t> </a:t>
            </a:r>
            <a:r>
              <a:rPr lang="en-US" sz="1400" err="1">
                <a:ea typeface="+mn-lt"/>
                <a:cs typeface="+mn-lt"/>
              </a:rPr>
              <a:t>се</a:t>
            </a:r>
            <a:r>
              <a:rPr lang="en-US" sz="1400">
                <a:ea typeface="+mn-lt"/>
                <a:cs typeface="+mn-lt"/>
              </a:rPr>
              <a:t> </a:t>
            </a:r>
            <a:r>
              <a:rPr lang="en-US" sz="1400" err="1">
                <a:ea typeface="+mn-lt"/>
                <a:cs typeface="+mn-lt"/>
              </a:rPr>
              <a:t>от</a:t>
            </a:r>
            <a:r>
              <a:rPr lang="en-US" sz="1400">
                <a:ea typeface="+mn-lt"/>
                <a:cs typeface="+mn-lt"/>
              </a:rPr>
              <a:t> </a:t>
            </a:r>
            <a:r>
              <a:rPr lang="en-US" sz="1400" err="1">
                <a:ea typeface="+mn-lt"/>
                <a:cs typeface="+mn-lt"/>
              </a:rPr>
              <a:t>Изи</a:t>
            </a:r>
            <a:r>
              <a:rPr lang="en-US" sz="1400">
                <a:ea typeface="+mn-lt"/>
                <a:cs typeface="+mn-lt"/>
              </a:rPr>
              <a:t> </a:t>
            </a:r>
            <a:r>
              <a:rPr lang="en-US" sz="1400" err="1">
                <a:ea typeface="+mn-lt"/>
                <a:cs typeface="+mn-lt"/>
              </a:rPr>
              <a:t>Кредит</a:t>
            </a:r>
            <a:r>
              <a:rPr lang="en-US" sz="1400">
                <a:ea typeface="+mn-lt"/>
                <a:cs typeface="+mn-lt"/>
              </a:rPr>
              <a:t> </a:t>
            </a:r>
            <a:r>
              <a:rPr lang="en-US" sz="1400" err="1">
                <a:ea typeface="+mn-lt"/>
                <a:cs typeface="+mn-lt"/>
              </a:rPr>
              <a:t>във</a:t>
            </a:r>
            <a:r>
              <a:rPr lang="en-US" sz="1400">
                <a:ea typeface="+mn-lt"/>
                <a:cs typeface="+mn-lt"/>
              </a:rPr>
              <a:t> </a:t>
            </a:r>
            <a:r>
              <a:rPr lang="en-US" sz="1400" err="1">
                <a:ea typeface="+mn-lt"/>
                <a:cs typeface="+mn-lt"/>
              </a:rPr>
              <a:t>връзка</a:t>
            </a:r>
            <a:r>
              <a:rPr lang="en-US" sz="1400">
                <a:ea typeface="+mn-lt"/>
                <a:cs typeface="+mn-lt"/>
              </a:rPr>
              <a:t> с </a:t>
            </a:r>
            <a:r>
              <a:rPr lang="en-US" sz="1400" err="1">
                <a:ea typeface="+mn-lt"/>
                <a:cs typeface="+mn-lt"/>
              </a:rPr>
              <a:t>изготвено</a:t>
            </a:r>
            <a:r>
              <a:rPr lang="en-US" sz="1400">
                <a:ea typeface="+mn-lt"/>
                <a:cs typeface="+mn-lt"/>
              </a:rPr>
              <a:t> </a:t>
            </a:r>
            <a:r>
              <a:rPr lang="en-US" sz="1400" err="1">
                <a:ea typeface="+mn-lt"/>
                <a:cs typeface="+mn-lt"/>
              </a:rPr>
              <a:t>предложение</a:t>
            </a:r>
            <a:r>
              <a:rPr lang="en-US" sz="1400">
                <a:ea typeface="+mn-lt"/>
                <a:cs typeface="+mn-lt"/>
              </a:rPr>
              <a:t>, </a:t>
            </a:r>
            <a:r>
              <a:rPr lang="en-US" sz="1400" err="1">
                <a:ea typeface="+mn-lt"/>
                <a:cs typeface="+mn-lt"/>
              </a:rPr>
              <a:t>специално</a:t>
            </a:r>
            <a:r>
              <a:rPr lang="en-US" sz="1400">
                <a:ea typeface="+mn-lt"/>
                <a:cs typeface="+mn-lt"/>
              </a:rPr>
              <a:t> </a:t>
            </a:r>
            <a:r>
              <a:rPr lang="en-US" sz="1400" err="1">
                <a:ea typeface="+mn-lt"/>
                <a:cs typeface="+mn-lt"/>
              </a:rPr>
              <a:t>за</a:t>
            </a:r>
            <a:r>
              <a:rPr lang="en-US" sz="1400">
                <a:ea typeface="+mn-lt"/>
                <a:cs typeface="+mn-lt"/>
              </a:rPr>
              <a:t> </a:t>
            </a:r>
            <a:r>
              <a:rPr lang="en-US" sz="1400" err="1">
                <a:ea typeface="+mn-lt"/>
                <a:cs typeface="+mn-lt"/>
              </a:rPr>
              <a:t>Вас</a:t>
            </a:r>
            <a:r>
              <a:rPr lang="en-US" sz="1400">
                <a:ea typeface="+mn-lt"/>
                <a:cs typeface="+mn-lt"/>
              </a:rPr>
              <a:t>. </a:t>
            </a:r>
            <a:r>
              <a:rPr lang="en-US" sz="1400" err="1">
                <a:ea typeface="+mn-lt"/>
                <a:cs typeface="+mn-lt"/>
              </a:rPr>
              <a:t>Удобно</a:t>
            </a:r>
            <a:r>
              <a:rPr lang="en-US" sz="1400">
                <a:ea typeface="+mn-lt"/>
                <a:cs typeface="+mn-lt"/>
              </a:rPr>
              <a:t> </a:t>
            </a:r>
            <a:r>
              <a:rPr lang="en-US" sz="1400" err="1">
                <a:ea typeface="+mn-lt"/>
                <a:cs typeface="+mn-lt"/>
              </a:rPr>
              <a:t>ли</a:t>
            </a:r>
            <a:r>
              <a:rPr lang="en-US" sz="1400">
                <a:ea typeface="+mn-lt"/>
                <a:cs typeface="+mn-lt"/>
              </a:rPr>
              <a:t> е </a:t>
            </a:r>
            <a:r>
              <a:rPr lang="en-US" sz="1400" err="1">
                <a:ea typeface="+mn-lt"/>
                <a:cs typeface="+mn-lt"/>
              </a:rPr>
              <a:t>да</a:t>
            </a:r>
            <a:r>
              <a:rPr lang="en-US" sz="1400">
                <a:ea typeface="+mn-lt"/>
                <a:cs typeface="+mn-lt"/>
              </a:rPr>
              <a:t> </a:t>
            </a:r>
            <a:r>
              <a:rPr lang="en-US" sz="1400" err="1">
                <a:ea typeface="+mn-lt"/>
                <a:cs typeface="+mn-lt"/>
              </a:rPr>
              <a:t>ми</a:t>
            </a:r>
            <a:r>
              <a:rPr lang="en-US" sz="1400">
                <a:ea typeface="+mn-lt"/>
                <a:cs typeface="+mn-lt"/>
              </a:rPr>
              <a:t> </a:t>
            </a:r>
            <a:r>
              <a:rPr lang="en-US" sz="1400" err="1">
                <a:ea typeface="+mn-lt"/>
                <a:cs typeface="+mn-lt"/>
              </a:rPr>
              <a:t>отделите</a:t>
            </a:r>
            <a:r>
              <a:rPr lang="en-US" sz="1400">
                <a:ea typeface="+mn-lt"/>
                <a:cs typeface="+mn-lt"/>
              </a:rPr>
              <a:t> </a:t>
            </a:r>
            <a:r>
              <a:rPr lang="en-US" sz="1400" err="1">
                <a:ea typeface="+mn-lt"/>
                <a:cs typeface="+mn-lt"/>
              </a:rPr>
              <a:t>една</a:t>
            </a:r>
            <a:r>
              <a:rPr lang="en-US" sz="1400">
                <a:ea typeface="+mn-lt"/>
                <a:cs typeface="+mn-lt"/>
              </a:rPr>
              <a:t>, </a:t>
            </a:r>
            <a:r>
              <a:rPr lang="en-US" sz="1400" err="1">
                <a:ea typeface="+mn-lt"/>
                <a:cs typeface="+mn-lt"/>
              </a:rPr>
              <a:t>две</a:t>
            </a:r>
            <a:r>
              <a:rPr lang="en-US" sz="1400">
                <a:ea typeface="+mn-lt"/>
                <a:cs typeface="+mn-lt"/>
              </a:rPr>
              <a:t> </a:t>
            </a:r>
            <a:r>
              <a:rPr lang="en-US" sz="1400" err="1">
                <a:ea typeface="+mn-lt"/>
                <a:cs typeface="+mn-lt"/>
              </a:rPr>
              <a:t>минути</a:t>
            </a:r>
            <a:r>
              <a:rPr lang="en-US" sz="1400">
                <a:ea typeface="+mn-lt"/>
                <a:cs typeface="+mn-lt"/>
              </a:rPr>
              <a:t>, </a:t>
            </a:r>
            <a:r>
              <a:rPr lang="en-US" sz="1400" err="1">
                <a:ea typeface="+mn-lt"/>
                <a:cs typeface="+mn-lt"/>
              </a:rPr>
              <a:t>за</a:t>
            </a:r>
            <a:r>
              <a:rPr lang="en-US" sz="1400">
                <a:ea typeface="+mn-lt"/>
                <a:cs typeface="+mn-lt"/>
              </a:rPr>
              <a:t> </a:t>
            </a:r>
            <a:r>
              <a:rPr lang="en-US" sz="1400" err="1">
                <a:ea typeface="+mn-lt"/>
                <a:cs typeface="+mn-lt"/>
              </a:rPr>
              <a:t>да</a:t>
            </a:r>
            <a:r>
              <a:rPr lang="en-US" sz="1400">
                <a:ea typeface="+mn-lt"/>
                <a:cs typeface="+mn-lt"/>
              </a:rPr>
              <a:t> </a:t>
            </a:r>
            <a:r>
              <a:rPr lang="en-US" sz="1400" err="1">
                <a:ea typeface="+mn-lt"/>
                <a:cs typeface="+mn-lt"/>
              </a:rPr>
              <a:t>Ви</a:t>
            </a:r>
            <a:r>
              <a:rPr lang="en-US" sz="1400">
                <a:ea typeface="+mn-lt"/>
                <a:cs typeface="+mn-lt"/>
              </a:rPr>
              <a:t> </a:t>
            </a:r>
            <a:r>
              <a:rPr lang="en-US" sz="1400" err="1">
                <a:ea typeface="+mn-lt"/>
                <a:cs typeface="+mn-lt"/>
              </a:rPr>
              <a:t>запозная</a:t>
            </a:r>
            <a:r>
              <a:rPr lang="en-US" sz="1400">
                <a:ea typeface="+mn-lt"/>
                <a:cs typeface="+mn-lt"/>
              </a:rPr>
              <a:t>? </a:t>
            </a:r>
            <a:br>
              <a:rPr lang="en-US" sz="1400">
                <a:ea typeface="+mn-lt"/>
                <a:cs typeface="+mn-lt"/>
              </a:rPr>
            </a:br>
            <a:r>
              <a:rPr lang="en-US" sz="1400">
                <a:ea typeface="+mn-lt"/>
                <a:cs typeface="+mn-lt"/>
              </a:rPr>
              <a:t>-</a:t>
            </a:r>
            <a:r>
              <a:rPr lang="en-US" sz="1400" err="1">
                <a:ea typeface="+mn-lt"/>
                <a:cs typeface="+mn-lt"/>
              </a:rPr>
              <a:t>Да</a:t>
            </a:r>
            <a:r>
              <a:rPr lang="en-US" sz="1400">
                <a:ea typeface="+mn-lt"/>
                <a:cs typeface="+mn-lt"/>
              </a:rPr>
              <a:t> (</a:t>
            </a:r>
            <a:r>
              <a:rPr lang="en-US" sz="1400" err="1">
                <a:ea typeface="+mn-lt"/>
                <a:cs typeface="+mn-lt"/>
              </a:rPr>
              <a:t>слушам</a:t>
            </a:r>
            <a:r>
              <a:rPr lang="en-US" sz="1400">
                <a:ea typeface="+mn-lt"/>
                <a:cs typeface="+mn-lt"/>
              </a:rPr>
              <a:t> </a:t>
            </a:r>
            <a:r>
              <a:rPr lang="en-US" sz="1400" err="1">
                <a:ea typeface="+mn-lt"/>
                <a:cs typeface="+mn-lt"/>
              </a:rPr>
              <a:t>Ви</a:t>
            </a:r>
            <a:r>
              <a:rPr lang="en-US" sz="1400">
                <a:ea typeface="+mn-lt"/>
                <a:cs typeface="+mn-lt"/>
              </a:rPr>
              <a:t>).</a:t>
            </a:r>
            <a:br>
              <a:rPr lang="en-US" sz="1400">
                <a:ea typeface="+mn-lt"/>
                <a:cs typeface="+mn-lt"/>
              </a:rPr>
            </a:br>
            <a:r>
              <a:rPr lang="en-US" sz="1400" b="1">
                <a:ea typeface="+mn-lt"/>
                <a:cs typeface="+mn-lt"/>
              </a:rPr>
              <a:t> (</a:t>
            </a:r>
            <a:r>
              <a:rPr lang="en-US" sz="1400" b="1" err="1">
                <a:ea typeface="+mn-lt"/>
                <a:cs typeface="+mn-lt"/>
              </a:rPr>
              <a:t>Представяне</a:t>
            </a:r>
            <a:r>
              <a:rPr lang="en-US" sz="1400" b="1">
                <a:ea typeface="+mn-lt"/>
                <a:cs typeface="+mn-lt"/>
              </a:rPr>
              <a:t> </a:t>
            </a:r>
            <a:r>
              <a:rPr lang="en-US" sz="1400" b="1" err="1">
                <a:ea typeface="+mn-lt"/>
                <a:cs typeface="+mn-lt"/>
              </a:rPr>
              <a:t>на</a:t>
            </a:r>
            <a:r>
              <a:rPr lang="en-US" sz="1400" b="1">
                <a:ea typeface="+mn-lt"/>
                <a:cs typeface="+mn-lt"/>
              </a:rPr>
              <a:t> </a:t>
            </a:r>
            <a:r>
              <a:rPr lang="en-US" sz="1400" b="1" err="1">
                <a:ea typeface="+mn-lt"/>
                <a:cs typeface="+mn-lt"/>
              </a:rPr>
              <a:t>предложнието</a:t>
            </a:r>
            <a:r>
              <a:rPr lang="en-US" sz="1400">
                <a:ea typeface="+mn-lt"/>
                <a:cs typeface="+mn-lt"/>
              </a:rPr>
              <a:t>)</a:t>
            </a:r>
            <a:br>
              <a:rPr lang="en-US" sz="1400">
                <a:ea typeface="+mn-lt"/>
                <a:cs typeface="+mn-lt"/>
              </a:rPr>
            </a:br>
            <a:r>
              <a:rPr lang="en-US" sz="1400">
                <a:ea typeface="+mn-lt"/>
                <a:cs typeface="+mn-lt"/>
              </a:rPr>
              <a:t> -</a:t>
            </a:r>
            <a:r>
              <a:rPr lang="en-US" sz="1400" err="1">
                <a:ea typeface="+mn-lt"/>
                <a:cs typeface="+mn-lt"/>
              </a:rPr>
              <a:t>Как</a:t>
            </a:r>
            <a:r>
              <a:rPr lang="en-US" sz="1400">
                <a:ea typeface="+mn-lt"/>
                <a:cs typeface="+mn-lt"/>
              </a:rPr>
              <a:t> </a:t>
            </a:r>
            <a:r>
              <a:rPr lang="en-US" sz="1400" err="1">
                <a:ea typeface="+mn-lt"/>
                <a:cs typeface="+mn-lt"/>
              </a:rPr>
              <a:t>Ви</a:t>
            </a:r>
            <a:r>
              <a:rPr lang="en-US" sz="1400">
                <a:ea typeface="+mn-lt"/>
                <a:cs typeface="+mn-lt"/>
              </a:rPr>
              <a:t> </a:t>
            </a:r>
            <a:r>
              <a:rPr lang="en-US" sz="1400" err="1">
                <a:ea typeface="+mn-lt"/>
                <a:cs typeface="+mn-lt"/>
              </a:rPr>
              <a:t>се</a:t>
            </a:r>
            <a:r>
              <a:rPr lang="en-US" sz="1400">
                <a:ea typeface="+mn-lt"/>
                <a:cs typeface="+mn-lt"/>
              </a:rPr>
              <a:t> </a:t>
            </a:r>
            <a:r>
              <a:rPr lang="en-US" sz="1400" err="1">
                <a:ea typeface="+mn-lt"/>
                <a:cs typeface="+mn-lt"/>
              </a:rPr>
              <a:t>струва</a:t>
            </a:r>
            <a:r>
              <a:rPr lang="en-US" sz="1400">
                <a:ea typeface="+mn-lt"/>
                <a:cs typeface="+mn-lt"/>
              </a:rPr>
              <a:t> </a:t>
            </a:r>
            <a:r>
              <a:rPr lang="en-US" sz="1400" err="1">
                <a:ea typeface="+mn-lt"/>
                <a:cs typeface="+mn-lt"/>
              </a:rPr>
              <a:t>моето</a:t>
            </a:r>
            <a:r>
              <a:rPr lang="en-US" sz="1400">
                <a:ea typeface="+mn-lt"/>
                <a:cs typeface="+mn-lt"/>
              </a:rPr>
              <a:t> </a:t>
            </a:r>
            <a:r>
              <a:rPr lang="en-US" sz="1400" err="1">
                <a:ea typeface="+mn-lt"/>
                <a:cs typeface="+mn-lt"/>
              </a:rPr>
              <a:t>предложение</a:t>
            </a:r>
            <a:r>
              <a:rPr lang="en-US" sz="1400">
                <a:ea typeface="+mn-lt"/>
                <a:cs typeface="+mn-lt"/>
              </a:rPr>
              <a:t>?</a:t>
            </a:r>
            <a:endParaRPr lang="en-US">
              <a:ea typeface="+mn-lt"/>
              <a:cs typeface="+mn-lt"/>
            </a:endParaRPr>
          </a:p>
          <a:p>
            <a:endParaRPr lang="en-US" sz="1400"/>
          </a:p>
        </p:txBody>
      </p:sp>
      <p:sp>
        <p:nvSpPr>
          <p:cNvPr id="6" name="Rectangle: Rounded Corners 9">
            <a:extLst>
              <a:ext uri="{FF2B5EF4-FFF2-40B4-BE49-F238E27FC236}">
                <a16:creationId xmlns:a16="http://schemas.microsoft.com/office/drawing/2014/main" id="{246AEEF0-20EA-CA3E-75F9-F39D06DE0EAE}"/>
              </a:ext>
            </a:extLst>
          </p:cNvPr>
          <p:cNvSpPr/>
          <p:nvPr/>
        </p:nvSpPr>
        <p:spPr>
          <a:xfrm>
            <a:off x="1958934" y="1978727"/>
            <a:ext cx="2932281" cy="677241"/>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bg-BG" sz="1600"/>
              <a:t>Предварително одобрен клиент</a:t>
            </a:r>
            <a:endParaRPr lang="en-GB" sz="1600"/>
          </a:p>
        </p:txBody>
      </p:sp>
      <p:sp>
        <p:nvSpPr>
          <p:cNvPr id="11" name="Rectangle: Rounded Corners 11">
            <a:extLst>
              <a:ext uri="{FF2B5EF4-FFF2-40B4-BE49-F238E27FC236}">
                <a16:creationId xmlns:a16="http://schemas.microsoft.com/office/drawing/2014/main" id="{3389DCBF-9A96-87FF-A6E8-CD13519F4A28}"/>
              </a:ext>
            </a:extLst>
          </p:cNvPr>
          <p:cNvSpPr/>
          <p:nvPr/>
        </p:nvSpPr>
        <p:spPr>
          <a:xfrm>
            <a:off x="1958933" y="1174969"/>
            <a:ext cx="2932281" cy="677241"/>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bg-BG" sz="1600"/>
              <a:t>Лоялен клиент</a:t>
            </a:r>
            <a:endParaRPr lang="en-GB" sz="1600"/>
          </a:p>
        </p:txBody>
      </p:sp>
      <p:sp>
        <p:nvSpPr>
          <p:cNvPr id="17" name="Rectangle: Rounded Corners 13">
            <a:extLst>
              <a:ext uri="{FF2B5EF4-FFF2-40B4-BE49-F238E27FC236}">
                <a16:creationId xmlns:a16="http://schemas.microsoft.com/office/drawing/2014/main" id="{C3133E7B-51ED-74C2-8745-13C3E016CACF}"/>
              </a:ext>
            </a:extLst>
          </p:cNvPr>
          <p:cNvSpPr/>
          <p:nvPr/>
        </p:nvSpPr>
        <p:spPr>
          <a:xfrm>
            <a:off x="1958932" y="2838941"/>
            <a:ext cx="2932281" cy="677241"/>
          </a:xfrm>
          <a:prstGeom prst="roundRect">
            <a:avLst/>
          </a:prstGeom>
          <a:solidFill>
            <a:schemeClr val="bg2">
              <a:lumMod val="75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bg-BG" sz="1600"/>
              <a:t>Промо кампания</a:t>
            </a:r>
            <a:endParaRPr lang="en-GB" sz="1600"/>
          </a:p>
        </p:txBody>
      </p:sp>
      <p:sp>
        <p:nvSpPr>
          <p:cNvPr id="19" name="Rectangle 9">
            <a:extLst>
              <a:ext uri="{FF2B5EF4-FFF2-40B4-BE49-F238E27FC236}">
                <a16:creationId xmlns:a16="http://schemas.microsoft.com/office/drawing/2014/main" id="{F9BC6214-367B-621F-8F99-50C4DEDAFE28}"/>
              </a:ext>
            </a:extLst>
          </p:cNvPr>
          <p:cNvSpPr/>
          <p:nvPr/>
        </p:nvSpPr>
        <p:spPr>
          <a:xfrm>
            <a:off x="1958930" y="4647304"/>
            <a:ext cx="2932281" cy="677241"/>
          </a:xfrm>
          <a:prstGeom prst="roundRect">
            <a:avLst/>
          </a:prstGeom>
          <a:solidFill>
            <a:schemeClr val="bg2">
              <a:lumMod val="75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По препоръка</a:t>
            </a:r>
            <a:endParaRPr lang="en-GB" sz="1600"/>
          </a:p>
        </p:txBody>
      </p:sp>
      <p:sp>
        <p:nvSpPr>
          <p:cNvPr id="21" name="Rectangle 11">
            <a:extLst>
              <a:ext uri="{FF2B5EF4-FFF2-40B4-BE49-F238E27FC236}">
                <a16:creationId xmlns:a16="http://schemas.microsoft.com/office/drawing/2014/main" id="{2A4CC21E-593E-235D-CAE5-CA22BE3DB329}"/>
              </a:ext>
            </a:extLst>
          </p:cNvPr>
          <p:cNvSpPr/>
          <p:nvPr/>
        </p:nvSpPr>
        <p:spPr>
          <a:xfrm>
            <a:off x="1958931" y="3734537"/>
            <a:ext cx="2932281" cy="677241"/>
          </a:xfrm>
          <a:prstGeom prst="roundRect">
            <a:avLst/>
          </a:prstGeom>
          <a:solidFill>
            <a:schemeClr val="bg2">
              <a:lumMod val="75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bg-BG" sz="1600"/>
              <a:t>Продукт „Пенсионер“</a:t>
            </a:r>
            <a:endParaRPr lang="en-GB" sz="1600"/>
          </a:p>
        </p:txBody>
      </p:sp>
      <p:sp>
        <p:nvSpPr>
          <p:cNvPr id="8" name="Rectangle: Rounded Corners 7">
            <a:extLst>
              <a:ext uri="{FF2B5EF4-FFF2-40B4-BE49-F238E27FC236}">
                <a16:creationId xmlns:a16="http://schemas.microsoft.com/office/drawing/2014/main" id="{29F25D66-0AD6-D01B-7365-5F0AD6A02371}"/>
              </a:ext>
            </a:extLst>
          </p:cNvPr>
          <p:cNvSpPr/>
          <p:nvPr/>
        </p:nvSpPr>
        <p:spPr>
          <a:xfrm>
            <a:off x="6862007" y="3979217"/>
            <a:ext cx="1410640" cy="119532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bg-BG" sz="1000">
                <a:ea typeface="+mn-lt"/>
                <a:cs typeface="+mn-lt"/>
              </a:rPr>
              <a:t>Ако сега разполагате със сума например от 1000 лв., за какво бихте я използвали?</a:t>
            </a:r>
            <a:endParaRPr lang="en-US"/>
          </a:p>
        </p:txBody>
      </p:sp>
      <p:sp>
        <p:nvSpPr>
          <p:cNvPr id="10" name="Rectangle: Rounded Corners 9">
            <a:extLst>
              <a:ext uri="{FF2B5EF4-FFF2-40B4-BE49-F238E27FC236}">
                <a16:creationId xmlns:a16="http://schemas.microsoft.com/office/drawing/2014/main" id="{C486BEB2-4F75-91C9-6DB0-04A8A2D474A8}"/>
              </a:ext>
            </a:extLst>
          </p:cNvPr>
          <p:cNvSpPr/>
          <p:nvPr/>
        </p:nvSpPr>
        <p:spPr>
          <a:xfrm>
            <a:off x="8692400" y="3669389"/>
            <a:ext cx="1122658" cy="486912"/>
          </a:xfrm>
          <a:prstGeom prst="roundRect">
            <a:avLst/>
          </a:prstGeom>
          <a:solidFill>
            <a:srgbClr val="4472C4"/>
          </a:solidFill>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p>
            <a:pPr algn="ctr"/>
            <a:r>
              <a:rPr lang="bg-BG" sz="1000">
                <a:ea typeface="+mn-lt"/>
                <a:cs typeface="+mn-lt"/>
              </a:rPr>
              <a:t>Бих похарчил/а сума за </a:t>
            </a:r>
            <a:endParaRPr lang="en-US"/>
          </a:p>
        </p:txBody>
      </p:sp>
      <p:cxnSp>
        <p:nvCxnSpPr>
          <p:cNvPr id="13" name="Connector: Elbow 12">
            <a:extLst>
              <a:ext uri="{FF2B5EF4-FFF2-40B4-BE49-F238E27FC236}">
                <a16:creationId xmlns:a16="http://schemas.microsoft.com/office/drawing/2014/main" id="{64636635-6453-68CA-DBB2-AE708B9E2CA9}"/>
              </a:ext>
            </a:extLst>
          </p:cNvPr>
          <p:cNvCxnSpPr/>
          <p:nvPr/>
        </p:nvCxnSpPr>
        <p:spPr>
          <a:xfrm flipV="1">
            <a:off x="8265642" y="3897650"/>
            <a:ext cx="370262" cy="504906"/>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Connector: Elbow 15">
            <a:extLst>
              <a:ext uri="{FF2B5EF4-FFF2-40B4-BE49-F238E27FC236}">
                <a16:creationId xmlns:a16="http://schemas.microsoft.com/office/drawing/2014/main" id="{5504EA48-94D4-2FE2-A1A9-8B2536C0AFAD}"/>
              </a:ext>
            </a:extLst>
          </p:cNvPr>
          <p:cNvCxnSpPr>
            <a:cxnSpLocks/>
          </p:cNvCxnSpPr>
          <p:nvPr/>
        </p:nvCxnSpPr>
        <p:spPr>
          <a:xfrm>
            <a:off x="8265639" y="4424340"/>
            <a:ext cx="370262" cy="357734"/>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Rectangle: Rounded Corners 19">
            <a:extLst>
              <a:ext uri="{FF2B5EF4-FFF2-40B4-BE49-F238E27FC236}">
                <a16:creationId xmlns:a16="http://schemas.microsoft.com/office/drawing/2014/main" id="{D7723549-ADE6-0CBA-94BE-1C703837AD4F}"/>
              </a:ext>
            </a:extLst>
          </p:cNvPr>
          <p:cNvSpPr/>
          <p:nvPr/>
        </p:nvSpPr>
        <p:spPr>
          <a:xfrm>
            <a:off x="10022958" y="3237414"/>
            <a:ext cx="1344197" cy="953304"/>
          </a:xfrm>
          <a:prstGeom prst="roundRect">
            <a:avLst/>
          </a:prstGeom>
          <a:solidFill>
            <a:srgbClr val="4472C4"/>
          </a:solidFill>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p>
            <a:r>
              <a:rPr lang="bg-BG" sz="1000">
                <a:ea typeface="+mn-lt"/>
                <a:cs typeface="+mn-lt"/>
              </a:rPr>
              <a:t>Ако желаете мога да Ви разкажа за вариантите, от които може да се възползвате</a:t>
            </a:r>
            <a:endParaRPr lang="en-US"/>
          </a:p>
        </p:txBody>
      </p:sp>
      <p:cxnSp>
        <p:nvCxnSpPr>
          <p:cNvPr id="23" name="Connector: Elbow 22">
            <a:extLst>
              <a:ext uri="{FF2B5EF4-FFF2-40B4-BE49-F238E27FC236}">
                <a16:creationId xmlns:a16="http://schemas.microsoft.com/office/drawing/2014/main" id="{936F5C38-0032-7C80-2BD3-71B769817351}"/>
              </a:ext>
            </a:extLst>
          </p:cNvPr>
          <p:cNvCxnSpPr>
            <a:cxnSpLocks/>
          </p:cNvCxnSpPr>
          <p:nvPr/>
        </p:nvCxnSpPr>
        <p:spPr>
          <a:xfrm flipV="1">
            <a:off x="11056156" y="2752690"/>
            <a:ext cx="658897" cy="1081088"/>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Connector: Elbow 24">
            <a:extLst>
              <a:ext uri="{FF2B5EF4-FFF2-40B4-BE49-F238E27FC236}">
                <a16:creationId xmlns:a16="http://schemas.microsoft.com/office/drawing/2014/main" id="{5D116DDB-92E8-08DD-562E-72819D095F0E}"/>
              </a:ext>
            </a:extLst>
          </p:cNvPr>
          <p:cNvCxnSpPr>
            <a:cxnSpLocks/>
          </p:cNvCxnSpPr>
          <p:nvPr/>
        </p:nvCxnSpPr>
        <p:spPr>
          <a:xfrm>
            <a:off x="9567443" y="3773654"/>
            <a:ext cx="370262" cy="7018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34" name="Rectangle: Rounded Corners 33">
            <a:extLst>
              <a:ext uri="{FF2B5EF4-FFF2-40B4-BE49-F238E27FC236}">
                <a16:creationId xmlns:a16="http://schemas.microsoft.com/office/drawing/2014/main" id="{8C76F291-7B79-7F69-13DD-642570DBF6A5}"/>
              </a:ext>
            </a:extLst>
          </p:cNvPr>
          <p:cNvSpPr/>
          <p:nvPr/>
        </p:nvSpPr>
        <p:spPr>
          <a:xfrm>
            <a:off x="11730378" y="3262683"/>
            <a:ext cx="1122658" cy="486912"/>
          </a:xfrm>
          <a:prstGeom prst="roundRect">
            <a:avLst/>
          </a:prstGeom>
          <a:solidFill>
            <a:srgbClr val="4472C4"/>
          </a:solidFill>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p>
            <a:pPr algn="ctr"/>
            <a:r>
              <a:rPr lang="bg-BG" sz="1000"/>
              <a:t>Не, не искам </a:t>
            </a:r>
            <a:endParaRPr lang="bg-BG" sz="1000" dirty="0"/>
          </a:p>
        </p:txBody>
      </p:sp>
      <p:cxnSp>
        <p:nvCxnSpPr>
          <p:cNvPr id="38" name="Connector: Elbow 37">
            <a:extLst>
              <a:ext uri="{FF2B5EF4-FFF2-40B4-BE49-F238E27FC236}">
                <a16:creationId xmlns:a16="http://schemas.microsoft.com/office/drawing/2014/main" id="{FE209827-9B50-66D9-43F9-1287FE456D0C}"/>
              </a:ext>
            </a:extLst>
          </p:cNvPr>
          <p:cNvCxnSpPr>
            <a:cxnSpLocks/>
          </p:cNvCxnSpPr>
          <p:nvPr/>
        </p:nvCxnSpPr>
        <p:spPr>
          <a:xfrm flipV="1">
            <a:off x="12616751" y="3497696"/>
            <a:ext cx="370262" cy="20298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42" name="Rectangle: Rounded Corners 41">
            <a:extLst>
              <a:ext uri="{FF2B5EF4-FFF2-40B4-BE49-F238E27FC236}">
                <a16:creationId xmlns:a16="http://schemas.microsoft.com/office/drawing/2014/main" id="{83A06859-B295-E3F4-0FB2-5614AC7D542B}"/>
              </a:ext>
            </a:extLst>
          </p:cNvPr>
          <p:cNvSpPr/>
          <p:nvPr/>
        </p:nvSpPr>
        <p:spPr>
          <a:xfrm>
            <a:off x="13031967" y="3150712"/>
            <a:ext cx="1292352" cy="795154"/>
          </a:xfrm>
          <a:prstGeom prst="roundRect">
            <a:avLst/>
          </a:prstGeom>
          <a:solidFill>
            <a:srgbClr val="4472C4"/>
          </a:solidFill>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p>
            <a:r>
              <a:rPr lang="bg-BG" sz="1000"/>
              <a:t>Ако изникне нужда от допълнително финансиране</a:t>
            </a:r>
            <a:endParaRPr lang="bg-BG" sz="1000">
              <a:solidFill>
                <a:srgbClr val="000000"/>
              </a:solidFill>
            </a:endParaRPr>
          </a:p>
          <a:p>
            <a:endParaRPr lang="bg-BG" sz="1000" dirty="0"/>
          </a:p>
        </p:txBody>
      </p:sp>
      <p:sp>
        <p:nvSpPr>
          <p:cNvPr id="46" name="Rectangle: Rounded Corners 45">
            <a:extLst>
              <a:ext uri="{FF2B5EF4-FFF2-40B4-BE49-F238E27FC236}">
                <a16:creationId xmlns:a16="http://schemas.microsoft.com/office/drawing/2014/main" id="{BA70036B-0494-076A-CABE-30A2B8C0EFBE}"/>
              </a:ext>
            </a:extLst>
          </p:cNvPr>
          <p:cNvSpPr/>
          <p:nvPr/>
        </p:nvSpPr>
        <p:spPr>
          <a:xfrm>
            <a:off x="14518931" y="3363105"/>
            <a:ext cx="1298017" cy="376033"/>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p>
            <a:r>
              <a:rPr lang="bg-BG" sz="1000"/>
              <a:t>Разговорът приключва </a:t>
            </a:r>
            <a:endParaRPr lang="en-US"/>
          </a:p>
        </p:txBody>
      </p:sp>
      <p:cxnSp>
        <p:nvCxnSpPr>
          <p:cNvPr id="48" name="Connector: Elbow 47">
            <a:extLst>
              <a:ext uri="{FF2B5EF4-FFF2-40B4-BE49-F238E27FC236}">
                <a16:creationId xmlns:a16="http://schemas.microsoft.com/office/drawing/2014/main" id="{74DCCFDD-5A54-E0C6-9634-62CE79BC3E33}"/>
              </a:ext>
            </a:extLst>
          </p:cNvPr>
          <p:cNvCxnSpPr>
            <a:cxnSpLocks/>
          </p:cNvCxnSpPr>
          <p:nvPr/>
        </p:nvCxnSpPr>
        <p:spPr>
          <a:xfrm flipV="1">
            <a:off x="11217791" y="3607053"/>
            <a:ext cx="485717" cy="36527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50" name="Rectangle: Rounded Corners 49">
            <a:extLst>
              <a:ext uri="{FF2B5EF4-FFF2-40B4-BE49-F238E27FC236}">
                <a16:creationId xmlns:a16="http://schemas.microsoft.com/office/drawing/2014/main" id="{64FCA535-7C7E-1EDF-AA63-8993AFB55187}"/>
              </a:ext>
            </a:extLst>
          </p:cNvPr>
          <p:cNvSpPr/>
          <p:nvPr/>
        </p:nvSpPr>
        <p:spPr>
          <a:xfrm>
            <a:off x="8695231" y="5355679"/>
            <a:ext cx="1122658" cy="486912"/>
          </a:xfrm>
          <a:prstGeom prst="roundRect">
            <a:avLst/>
          </a:prstGeom>
          <a:solidFill>
            <a:srgbClr val="4472C4"/>
          </a:solidFill>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p>
            <a:pPr algn="ctr"/>
            <a:r>
              <a:rPr lang="bg-BG" sz="1000"/>
              <a:t>Нека помисля!</a:t>
            </a:r>
            <a:endParaRPr lang="bg-BG" sz="1000" dirty="0"/>
          </a:p>
        </p:txBody>
      </p:sp>
      <p:sp>
        <p:nvSpPr>
          <p:cNvPr id="54" name="Rectangle: Rounded Corners 53">
            <a:extLst>
              <a:ext uri="{FF2B5EF4-FFF2-40B4-BE49-F238E27FC236}">
                <a16:creationId xmlns:a16="http://schemas.microsoft.com/office/drawing/2014/main" id="{CA271CDF-5725-4BD3-5DA7-5DDEECE89B2E}"/>
              </a:ext>
            </a:extLst>
          </p:cNvPr>
          <p:cNvSpPr/>
          <p:nvPr/>
        </p:nvSpPr>
        <p:spPr>
          <a:xfrm>
            <a:off x="8693923" y="4544228"/>
            <a:ext cx="1122658" cy="486912"/>
          </a:xfrm>
          <a:prstGeom prst="roundRect">
            <a:avLst/>
          </a:prstGeom>
          <a:solidFill>
            <a:srgbClr val="4472C4"/>
          </a:solidFill>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p>
            <a:pPr algn="ctr"/>
            <a:r>
              <a:rPr lang="bg-BG" sz="1000"/>
              <a:t>Не, не искам </a:t>
            </a:r>
            <a:endParaRPr lang="bg-BG" sz="1000" dirty="0"/>
          </a:p>
        </p:txBody>
      </p:sp>
      <p:cxnSp>
        <p:nvCxnSpPr>
          <p:cNvPr id="56" name="Connector: Elbow 55">
            <a:extLst>
              <a:ext uri="{FF2B5EF4-FFF2-40B4-BE49-F238E27FC236}">
                <a16:creationId xmlns:a16="http://schemas.microsoft.com/office/drawing/2014/main" id="{BD6AE320-2D46-BCE1-BFF4-5A41C34F441D}"/>
              </a:ext>
            </a:extLst>
          </p:cNvPr>
          <p:cNvCxnSpPr>
            <a:cxnSpLocks/>
          </p:cNvCxnSpPr>
          <p:nvPr/>
        </p:nvCxnSpPr>
        <p:spPr>
          <a:xfrm flipV="1">
            <a:off x="9580296" y="4779241"/>
            <a:ext cx="370262" cy="20298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58" name="Rectangle: Rounded Corners 57">
            <a:extLst>
              <a:ext uri="{FF2B5EF4-FFF2-40B4-BE49-F238E27FC236}">
                <a16:creationId xmlns:a16="http://schemas.microsoft.com/office/drawing/2014/main" id="{EFDB9CCE-73BF-9659-7491-645367335A4D}"/>
              </a:ext>
            </a:extLst>
          </p:cNvPr>
          <p:cNvSpPr/>
          <p:nvPr/>
        </p:nvSpPr>
        <p:spPr>
          <a:xfrm>
            <a:off x="9995512" y="4432257"/>
            <a:ext cx="1292352" cy="795154"/>
          </a:xfrm>
          <a:prstGeom prst="roundRect">
            <a:avLst/>
          </a:prstGeom>
          <a:solidFill>
            <a:srgbClr val="4472C4"/>
          </a:solidFill>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p>
            <a:r>
              <a:rPr lang="bg-BG" sz="1000"/>
              <a:t>Ако изникне нужда от допълнително финансиране</a:t>
            </a:r>
            <a:endParaRPr lang="bg-BG" sz="1000">
              <a:solidFill>
                <a:srgbClr val="000000"/>
              </a:solidFill>
            </a:endParaRPr>
          </a:p>
          <a:p>
            <a:endParaRPr lang="bg-BG" sz="1000" dirty="0"/>
          </a:p>
        </p:txBody>
      </p:sp>
      <p:sp>
        <p:nvSpPr>
          <p:cNvPr id="60" name="Rectangle: Rounded Corners 59">
            <a:extLst>
              <a:ext uri="{FF2B5EF4-FFF2-40B4-BE49-F238E27FC236}">
                <a16:creationId xmlns:a16="http://schemas.microsoft.com/office/drawing/2014/main" id="{62827A55-5FF8-26C8-22DA-1B6D71D5DB94}"/>
              </a:ext>
            </a:extLst>
          </p:cNvPr>
          <p:cNvSpPr/>
          <p:nvPr/>
        </p:nvSpPr>
        <p:spPr>
          <a:xfrm>
            <a:off x="11505567" y="4598468"/>
            <a:ext cx="1298017" cy="376033"/>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p>
            <a:r>
              <a:rPr lang="bg-BG" sz="1000"/>
              <a:t>Разговорът приключва </a:t>
            </a:r>
            <a:endParaRPr lang="en-US"/>
          </a:p>
        </p:txBody>
      </p:sp>
      <p:cxnSp>
        <p:nvCxnSpPr>
          <p:cNvPr id="62" name="Connector: Elbow 61">
            <a:extLst>
              <a:ext uri="{FF2B5EF4-FFF2-40B4-BE49-F238E27FC236}">
                <a16:creationId xmlns:a16="http://schemas.microsoft.com/office/drawing/2014/main" id="{6FC17D3F-92E7-0DC2-D036-4AEC17759CDB}"/>
              </a:ext>
            </a:extLst>
          </p:cNvPr>
          <p:cNvCxnSpPr>
            <a:cxnSpLocks/>
          </p:cNvCxnSpPr>
          <p:nvPr/>
        </p:nvCxnSpPr>
        <p:spPr>
          <a:xfrm>
            <a:off x="11101462" y="4768521"/>
            <a:ext cx="370262" cy="7018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Connector: Elbow 63">
            <a:extLst>
              <a:ext uri="{FF2B5EF4-FFF2-40B4-BE49-F238E27FC236}">
                <a16:creationId xmlns:a16="http://schemas.microsoft.com/office/drawing/2014/main" id="{9F0E1A9C-6180-331D-61E0-7CFB3034983A}"/>
              </a:ext>
            </a:extLst>
          </p:cNvPr>
          <p:cNvCxnSpPr>
            <a:cxnSpLocks/>
          </p:cNvCxnSpPr>
          <p:nvPr/>
        </p:nvCxnSpPr>
        <p:spPr>
          <a:xfrm>
            <a:off x="8277185" y="5036249"/>
            <a:ext cx="381807" cy="58864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66" name="Rectangle: Rounded Corners 65">
            <a:extLst>
              <a:ext uri="{FF2B5EF4-FFF2-40B4-BE49-F238E27FC236}">
                <a16:creationId xmlns:a16="http://schemas.microsoft.com/office/drawing/2014/main" id="{DD509A76-F82F-C568-F593-FA00654E70C9}"/>
              </a:ext>
            </a:extLst>
          </p:cNvPr>
          <p:cNvSpPr/>
          <p:nvPr/>
        </p:nvSpPr>
        <p:spPr>
          <a:xfrm>
            <a:off x="10110966" y="5425166"/>
            <a:ext cx="1292352" cy="795154"/>
          </a:xfrm>
          <a:prstGeom prst="roundRect">
            <a:avLst/>
          </a:prstGeom>
          <a:solidFill>
            <a:srgbClr val="4472C4"/>
          </a:solidFill>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p>
            <a:r>
              <a:rPr lang="bg-BG" sz="1000"/>
              <a:t>Кога Ви е удобно?( отбелязва се ден и час)</a:t>
            </a:r>
            <a:endParaRPr lang="bg-BG" sz="1000" dirty="0"/>
          </a:p>
        </p:txBody>
      </p:sp>
      <p:sp>
        <p:nvSpPr>
          <p:cNvPr id="68" name="Rectangle: Rounded Corners 67">
            <a:extLst>
              <a:ext uri="{FF2B5EF4-FFF2-40B4-BE49-F238E27FC236}">
                <a16:creationId xmlns:a16="http://schemas.microsoft.com/office/drawing/2014/main" id="{3D1B2BA2-7F38-3F92-277F-1094B18D8BDC}"/>
              </a:ext>
            </a:extLst>
          </p:cNvPr>
          <p:cNvSpPr/>
          <p:nvPr/>
        </p:nvSpPr>
        <p:spPr>
          <a:xfrm>
            <a:off x="13087294" y="5649104"/>
            <a:ext cx="1298017" cy="376033"/>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p>
            <a:r>
              <a:rPr lang="bg-BG" sz="1000"/>
              <a:t>Разговорът приключва </a:t>
            </a:r>
            <a:endParaRPr lang="en-US"/>
          </a:p>
        </p:txBody>
      </p:sp>
      <p:cxnSp>
        <p:nvCxnSpPr>
          <p:cNvPr id="70" name="Connector: Elbow 69">
            <a:extLst>
              <a:ext uri="{FF2B5EF4-FFF2-40B4-BE49-F238E27FC236}">
                <a16:creationId xmlns:a16="http://schemas.microsoft.com/office/drawing/2014/main" id="{303BDD06-5F7A-FC5D-2793-183C86B154DA}"/>
              </a:ext>
            </a:extLst>
          </p:cNvPr>
          <p:cNvCxnSpPr>
            <a:cxnSpLocks/>
          </p:cNvCxnSpPr>
          <p:nvPr/>
        </p:nvCxnSpPr>
        <p:spPr>
          <a:xfrm>
            <a:off x="11216916" y="5761430"/>
            <a:ext cx="370262" cy="7018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2" name="Connector: Elbow 71">
            <a:extLst>
              <a:ext uri="{FF2B5EF4-FFF2-40B4-BE49-F238E27FC236}">
                <a16:creationId xmlns:a16="http://schemas.microsoft.com/office/drawing/2014/main" id="{A7CA71C7-DCFC-8436-9A46-96D414466112}"/>
              </a:ext>
            </a:extLst>
          </p:cNvPr>
          <p:cNvCxnSpPr>
            <a:cxnSpLocks/>
          </p:cNvCxnSpPr>
          <p:nvPr/>
        </p:nvCxnSpPr>
        <p:spPr>
          <a:xfrm>
            <a:off x="9581822" y="5578884"/>
            <a:ext cx="520352" cy="219189"/>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74" name="Rectangle: Rounded Corners 73">
            <a:extLst>
              <a:ext uri="{FF2B5EF4-FFF2-40B4-BE49-F238E27FC236}">
                <a16:creationId xmlns:a16="http://schemas.microsoft.com/office/drawing/2014/main" id="{1F6A3D97-6CF2-ADDB-31BB-3DF9C64DEA7C}"/>
              </a:ext>
            </a:extLst>
          </p:cNvPr>
          <p:cNvSpPr/>
          <p:nvPr/>
        </p:nvSpPr>
        <p:spPr>
          <a:xfrm>
            <a:off x="11611876" y="5425166"/>
            <a:ext cx="1292352" cy="795154"/>
          </a:xfrm>
          <a:prstGeom prst="roundRect">
            <a:avLst/>
          </a:prstGeom>
          <a:solidFill>
            <a:srgbClr val="4472C4"/>
          </a:solidFill>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p>
            <a:r>
              <a:rPr lang="bg-BG" sz="1000" dirty="0"/>
              <a:t>Очаквайте </a:t>
            </a:r>
            <a:r>
              <a:rPr lang="bg-BG" sz="1000"/>
              <a:t>обаждане от нас!</a:t>
            </a:r>
            <a:endParaRPr lang="en-US"/>
          </a:p>
        </p:txBody>
      </p:sp>
      <p:cxnSp>
        <p:nvCxnSpPr>
          <p:cNvPr id="76" name="Connector: Elbow 75">
            <a:extLst>
              <a:ext uri="{FF2B5EF4-FFF2-40B4-BE49-F238E27FC236}">
                <a16:creationId xmlns:a16="http://schemas.microsoft.com/office/drawing/2014/main" id="{237FC91E-2DAD-AA7F-1D85-45755CD1081E}"/>
              </a:ext>
            </a:extLst>
          </p:cNvPr>
          <p:cNvCxnSpPr>
            <a:cxnSpLocks/>
          </p:cNvCxnSpPr>
          <p:nvPr/>
        </p:nvCxnSpPr>
        <p:spPr>
          <a:xfrm>
            <a:off x="12152099" y="5622885"/>
            <a:ext cx="370262" cy="7018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7" name="Connector: Elbow 76">
            <a:extLst>
              <a:ext uri="{FF2B5EF4-FFF2-40B4-BE49-F238E27FC236}">
                <a16:creationId xmlns:a16="http://schemas.microsoft.com/office/drawing/2014/main" id="{B5A7430D-6FBD-13A1-ACDC-7421C9ACF23D}"/>
              </a:ext>
            </a:extLst>
          </p:cNvPr>
          <p:cNvCxnSpPr>
            <a:cxnSpLocks/>
          </p:cNvCxnSpPr>
          <p:nvPr/>
        </p:nvCxnSpPr>
        <p:spPr>
          <a:xfrm flipV="1">
            <a:off x="6395279" y="4532649"/>
            <a:ext cx="462625" cy="146998"/>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87" name="Rectangle: Rounded Corners 86">
            <a:extLst>
              <a:ext uri="{FF2B5EF4-FFF2-40B4-BE49-F238E27FC236}">
                <a16:creationId xmlns:a16="http://schemas.microsoft.com/office/drawing/2014/main" id="{A47C072C-27CA-B2E8-71C3-2446EB825E8D}"/>
              </a:ext>
            </a:extLst>
          </p:cNvPr>
          <p:cNvSpPr/>
          <p:nvPr/>
        </p:nvSpPr>
        <p:spPr>
          <a:xfrm>
            <a:off x="11747588" y="2517675"/>
            <a:ext cx="1111112" cy="475367"/>
          </a:xfrm>
          <a:prstGeom prst="roundRect">
            <a:avLst/>
          </a:prstGeom>
          <a:solidFill>
            <a:srgbClr val="4472C4"/>
          </a:solidFill>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p>
            <a:pPr algn="ctr"/>
            <a:r>
              <a:rPr lang="bg-BG" sz="1000"/>
              <a:t>Да </a:t>
            </a:r>
            <a:endParaRPr lang="bg-BG" sz="1000" dirty="0"/>
          </a:p>
        </p:txBody>
      </p:sp>
      <p:sp>
        <p:nvSpPr>
          <p:cNvPr id="89" name="Rectangle: Rounded Corners 88">
            <a:extLst>
              <a:ext uri="{FF2B5EF4-FFF2-40B4-BE49-F238E27FC236}">
                <a16:creationId xmlns:a16="http://schemas.microsoft.com/office/drawing/2014/main" id="{3A4A9BD0-C893-7F01-F38A-381F917E1B5E}"/>
              </a:ext>
            </a:extLst>
          </p:cNvPr>
          <p:cNvSpPr/>
          <p:nvPr/>
        </p:nvSpPr>
        <p:spPr>
          <a:xfrm>
            <a:off x="13031964" y="2172618"/>
            <a:ext cx="1309561" cy="803213"/>
          </a:xfrm>
          <a:prstGeom prst="roundRect">
            <a:avLst/>
          </a:prstGeom>
          <a:solidFill>
            <a:srgbClr val="4472C4"/>
          </a:solidFill>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p>
            <a:r>
              <a:rPr lang="bg-BG" sz="1000"/>
              <a:t>Представям варианти </a:t>
            </a:r>
            <a:endParaRPr lang="bg-BG" sz="1000" dirty="0"/>
          </a:p>
        </p:txBody>
      </p:sp>
      <p:sp>
        <p:nvSpPr>
          <p:cNvPr id="91" name="Rectangle: Rounded Corners 90">
            <a:extLst>
              <a:ext uri="{FF2B5EF4-FFF2-40B4-BE49-F238E27FC236}">
                <a16:creationId xmlns:a16="http://schemas.microsoft.com/office/drawing/2014/main" id="{A95C3898-A59A-27AC-82B2-F87E81E9DD9B}"/>
              </a:ext>
            </a:extLst>
          </p:cNvPr>
          <p:cNvSpPr/>
          <p:nvPr/>
        </p:nvSpPr>
        <p:spPr>
          <a:xfrm>
            <a:off x="14554003" y="2175232"/>
            <a:ext cx="1295183" cy="736771"/>
          </a:xfrm>
          <a:prstGeom prst="roundRect">
            <a:avLst/>
          </a:prstGeom>
          <a:solidFill>
            <a:schemeClr val="accent2"/>
          </a:solidFill>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p>
            <a:r>
              <a:rPr lang="bg-BG" sz="1000" dirty="0"/>
              <a:t>Разговорът приключва със </a:t>
            </a:r>
            <a:r>
              <a:rPr lang="bg-BG" sz="1000"/>
              <a:t>среща</a:t>
            </a:r>
            <a:endParaRPr lang="bg-BG" sz="1000" dirty="0"/>
          </a:p>
        </p:txBody>
      </p:sp>
      <p:cxnSp>
        <p:nvCxnSpPr>
          <p:cNvPr id="93" name="Connector: Elbow 92">
            <a:extLst>
              <a:ext uri="{FF2B5EF4-FFF2-40B4-BE49-F238E27FC236}">
                <a16:creationId xmlns:a16="http://schemas.microsoft.com/office/drawing/2014/main" id="{CA979022-D875-4BC7-F0D1-30D49175709A}"/>
              </a:ext>
            </a:extLst>
          </p:cNvPr>
          <p:cNvCxnSpPr>
            <a:cxnSpLocks/>
          </p:cNvCxnSpPr>
          <p:nvPr/>
        </p:nvCxnSpPr>
        <p:spPr>
          <a:xfrm flipV="1">
            <a:off x="14161881" y="2556416"/>
            <a:ext cx="370262" cy="3045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4" name="Connector: Elbow 93">
            <a:extLst>
              <a:ext uri="{FF2B5EF4-FFF2-40B4-BE49-F238E27FC236}">
                <a16:creationId xmlns:a16="http://schemas.microsoft.com/office/drawing/2014/main" id="{76E3498B-C59C-D12B-1F3F-ED7830DA1DBE}"/>
              </a:ext>
            </a:extLst>
          </p:cNvPr>
          <p:cNvCxnSpPr>
            <a:cxnSpLocks/>
          </p:cNvCxnSpPr>
          <p:nvPr/>
        </p:nvCxnSpPr>
        <p:spPr>
          <a:xfrm flipV="1">
            <a:off x="12637880" y="2694961"/>
            <a:ext cx="370262" cy="3045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5" name="Connector: Elbow 94">
            <a:extLst>
              <a:ext uri="{FF2B5EF4-FFF2-40B4-BE49-F238E27FC236}">
                <a16:creationId xmlns:a16="http://schemas.microsoft.com/office/drawing/2014/main" id="{C1EBDDCC-19C1-FDE6-1890-4CB7D2E4B9DF}"/>
              </a:ext>
            </a:extLst>
          </p:cNvPr>
          <p:cNvCxnSpPr>
            <a:cxnSpLocks/>
          </p:cNvCxnSpPr>
          <p:nvPr/>
        </p:nvCxnSpPr>
        <p:spPr>
          <a:xfrm flipV="1">
            <a:off x="14104153" y="3560870"/>
            <a:ext cx="370262" cy="3045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Текстово поле 23">
            <a:extLst>
              <a:ext uri="{FF2B5EF4-FFF2-40B4-BE49-F238E27FC236}">
                <a16:creationId xmlns:a16="http://schemas.microsoft.com/office/drawing/2014/main" id="{D6E3619B-336A-61CB-FDDD-9A6008A390D2}"/>
              </a:ext>
            </a:extLst>
          </p:cNvPr>
          <p:cNvSpPr txBox="1"/>
          <p:nvPr/>
        </p:nvSpPr>
        <p:spPr>
          <a:xfrm>
            <a:off x="3362960" y="6360160"/>
            <a:ext cx="6390640" cy="3487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bg-BG" sz="1600" i="1"/>
              <a:t>Съдържа сценарии от дървото, изпратено като документ</a:t>
            </a:r>
          </a:p>
        </p:txBody>
      </p:sp>
    </p:spTree>
    <p:extLst>
      <p:ext uri="{BB962C8B-B14F-4D97-AF65-F5344CB8AC3E}">
        <p14:creationId xmlns:p14="http://schemas.microsoft.com/office/powerpoint/2010/main" val="20796947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F4E2B7-0286-5A80-1D0C-D8459F06AA90}"/>
            </a:ext>
          </a:extLst>
        </p:cNvPr>
        <p:cNvGrpSpPr/>
        <p:nvPr/>
      </p:nvGrpSpPr>
      <p:grpSpPr>
        <a:xfrm>
          <a:off x="0" y="0"/>
          <a:ext cx="0" cy="0"/>
          <a:chOff x="0" y="0"/>
          <a:chExt cx="0" cy="0"/>
        </a:xfrm>
      </p:grpSpPr>
      <p:sp>
        <p:nvSpPr>
          <p:cNvPr id="27" name="Rectangle 3">
            <a:extLst>
              <a:ext uri="{FF2B5EF4-FFF2-40B4-BE49-F238E27FC236}">
                <a16:creationId xmlns:a16="http://schemas.microsoft.com/office/drawing/2014/main" id="{6C32A3C5-C940-281B-1008-EC35FFB8EC53}"/>
              </a:ext>
            </a:extLst>
          </p:cNvPr>
          <p:cNvSpPr/>
          <p:nvPr/>
        </p:nvSpPr>
        <p:spPr>
          <a:xfrm>
            <a:off x="1443475" y="4245"/>
            <a:ext cx="5338363" cy="677242"/>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28" name="Rectangle 4">
            <a:extLst>
              <a:ext uri="{FF2B5EF4-FFF2-40B4-BE49-F238E27FC236}">
                <a16:creationId xmlns:a16="http://schemas.microsoft.com/office/drawing/2014/main" id="{B439C93F-17DB-BE5D-4486-D803181F0A30}"/>
              </a:ext>
            </a:extLst>
          </p:cNvPr>
          <p:cNvSpPr/>
          <p:nvPr/>
        </p:nvSpPr>
        <p:spPr>
          <a:xfrm>
            <a:off x="6788435" y="4245"/>
            <a:ext cx="5417300" cy="677242"/>
          </a:xfrm>
          <a:prstGeom prst="rect">
            <a:avLst/>
          </a:prstGeom>
          <a:solidFill>
            <a:schemeClr val="bg2">
              <a:lumMod val="75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29" name="Rectangle 28">
            <a:extLst>
              <a:ext uri="{FF2B5EF4-FFF2-40B4-BE49-F238E27FC236}">
                <a16:creationId xmlns:a16="http://schemas.microsoft.com/office/drawing/2014/main" id="{E5835C9A-E009-DD2B-F23C-A7A4DF06EC4A}"/>
              </a:ext>
            </a:extLst>
          </p:cNvPr>
          <p:cNvSpPr/>
          <p:nvPr/>
        </p:nvSpPr>
        <p:spPr>
          <a:xfrm>
            <a:off x="-1671" y="1599"/>
            <a:ext cx="1451167" cy="6866954"/>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200">
              <a:latin typeface="Aptos"/>
              <a:ea typeface="Calibri"/>
              <a:cs typeface="Calibri"/>
            </a:endParaRPr>
          </a:p>
        </p:txBody>
      </p:sp>
      <p:sp>
        <p:nvSpPr>
          <p:cNvPr id="30" name="Rectangle 29">
            <a:extLst>
              <a:ext uri="{FF2B5EF4-FFF2-40B4-BE49-F238E27FC236}">
                <a16:creationId xmlns:a16="http://schemas.microsoft.com/office/drawing/2014/main" id="{1FFCF1EF-3D82-30D3-1605-23022A4EF7CA}"/>
              </a:ext>
            </a:extLst>
          </p:cNvPr>
          <p:cNvSpPr/>
          <p:nvPr/>
        </p:nvSpPr>
        <p:spPr>
          <a:xfrm>
            <a:off x="-1671" y="2528038"/>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Типове клиенти</a:t>
            </a:r>
            <a:endParaRPr lang="en-GB" sz="1400">
              <a:latin typeface="Aptos"/>
              <a:ea typeface="Calibri"/>
              <a:cs typeface="Calibri"/>
            </a:endParaRPr>
          </a:p>
        </p:txBody>
      </p:sp>
      <p:sp>
        <p:nvSpPr>
          <p:cNvPr id="31" name="Rectangle 30">
            <a:extLst>
              <a:ext uri="{FF2B5EF4-FFF2-40B4-BE49-F238E27FC236}">
                <a16:creationId xmlns:a16="http://schemas.microsoft.com/office/drawing/2014/main" id="{5A05533E-89FD-1C7F-63FC-5A1AB4077005}"/>
              </a:ext>
            </a:extLst>
          </p:cNvPr>
          <p:cNvSpPr/>
          <p:nvPr/>
        </p:nvSpPr>
        <p:spPr>
          <a:xfrm>
            <a:off x="8626" y="1913210"/>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b="1">
                <a:solidFill>
                  <a:srgbClr val="2F5597"/>
                </a:solidFill>
                <a:latin typeface="Aptos"/>
                <a:ea typeface="Calibri"/>
                <a:cs typeface="Calibri"/>
              </a:rPr>
              <a:t>Сценарии</a:t>
            </a:r>
            <a:endParaRPr lang="en-GB" sz="1400" b="1">
              <a:solidFill>
                <a:srgbClr val="2F5597"/>
              </a:solidFill>
              <a:latin typeface="Aptos"/>
              <a:ea typeface="Calibri"/>
              <a:cs typeface="Calibri"/>
            </a:endParaRPr>
          </a:p>
        </p:txBody>
      </p:sp>
      <p:sp>
        <p:nvSpPr>
          <p:cNvPr id="32" name="Rectangle 31">
            <a:extLst>
              <a:ext uri="{FF2B5EF4-FFF2-40B4-BE49-F238E27FC236}">
                <a16:creationId xmlns:a16="http://schemas.microsoft.com/office/drawing/2014/main" id="{71E919AB-F675-8988-DDCF-03D027232608}"/>
              </a:ext>
            </a:extLst>
          </p:cNvPr>
          <p:cNvSpPr/>
          <p:nvPr/>
        </p:nvSpPr>
        <p:spPr>
          <a:xfrm>
            <a:off x="-1671" y="1298382"/>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a:solidFill>
                  <a:schemeClr val="bg1"/>
                </a:solidFill>
                <a:latin typeface="Aptos"/>
                <a:ea typeface="Calibri"/>
                <a:cs typeface="Calibri"/>
              </a:rPr>
              <a:t>Стъпки в обаждането</a:t>
            </a:r>
            <a:endParaRPr lang="bg-BG" sz="1400">
              <a:solidFill>
                <a:srgbClr val="000000"/>
              </a:solidFill>
              <a:latin typeface="Aptos"/>
              <a:ea typeface="Calibri"/>
              <a:cs typeface="Calibri"/>
            </a:endParaRPr>
          </a:p>
        </p:txBody>
      </p:sp>
      <p:sp>
        <p:nvSpPr>
          <p:cNvPr id="33" name="Rectangle 28">
            <a:extLst>
              <a:ext uri="{FF2B5EF4-FFF2-40B4-BE49-F238E27FC236}">
                <a16:creationId xmlns:a16="http://schemas.microsoft.com/office/drawing/2014/main" id="{C37918EC-C00C-EBA5-BD2B-7E18695937EC}"/>
              </a:ext>
            </a:extLst>
          </p:cNvPr>
          <p:cNvSpPr/>
          <p:nvPr/>
        </p:nvSpPr>
        <p:spPr>
          <a:xfrm>
            <a:off x="6154" y="690328"/>
            <a:ext cx="1435083"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a:solidFill>
                  <a:schemeClr val="bg1"/>
                </a:solidFill>
                <a:latin typeface="Aptos"/>
                <a:ea typeface="Calibri"/>
                <a:cs typeface="Calibri"/>
              </a:rPr>
              <a:t>Подготовка</a:t>
            </a:r>
            <a:endParaRPr lang="en-GB" sz="1400">
              <a:solidFill>
                <a:schemeClr val="bg1"/>
              </a:solidFill>
              <a:latin typeface="Aptos"/>
              <a:ea typeface="Calibri"/>
              <a:cs typeface="Calibri"/>
            </a:endParaRPr>
          </a:p>
        </p:txBody>
      </p:sp>
      <p:pic>
        <p:nvPicPr>
          <p:cNvPr id="35" name="Picture 34">
            <a:extLst>
              <a:ext uri="{FF2B5EF4-FFF2-40B4-BE49-F238E27FC236}">
                <a16:creationId xmlns:a16="http://schemas.microsoft.com/office/drawing/2014/main" id="{29F52FE4-D040-5DF3-E7E7-FD2D73A33F2F}"/>
              </a:ext>
            </a:extLst>
          </p:cNvPr>
          <p:cNvPicPr>
            <a:picLocks noChangeAspect="1"/>
          </p:cNvPicPr>
          <p:nvPr/>
        </p:nvPicPr>
        <p:blipFill>
          <a:blip r:embed="rId2"/>
          <a:stretch>
            <a:fillRect/>
          </a:stretch>
        </p:blipFill>
        <p:spPr>
          <a:xfrm>
            <a:off x="11122828" y="5851667"/>
            <a:ext cx="982751" cy="995681"/>
          </a:xfrm>
          <a:prstGeom prst="rect">
            <a:avLst/>
          </a:prstGeom>
        </p:spPr>
      </p:pic>
      <p:sp>
        <p:nvSpPr>
          <p:cNvPr id="3" name="Овал 2">
            <a:extLst>
              <a:ext uri="{FF2B5EF4-FFF2-40B4-BE49-F238E27FC236}">
                <a16:creationId xmlns:a16="http://schemas.microsoft.com/office/drawing/2014/main" id="{8A5F6FCE-0F47-C7C0-6C17-1A9C388111FD}"/>
              </a:ext>
            </a:extLst>
          </p:cNvPr>
          <p:cNvSpPr/>
          <p:nvPr/>
        </p:nvSpPr>
        <p:spPr>
          <a:xfrm>
            <a:off x="16277461" y="1430065"/>
            <a:ext cx="177402" cy="159446"/>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37" name="Правоъгълник: със заоблени ъгли 16">
            <a:extLst>
              <a:ext uri="{FF2B5EF4-FFF2-40B4-BE49-F238E27FC236}">
                <a16:creationId xmlns:a16="http://schemas.microsoft.com/office/drawing/2014/main" id="{DDBCA50B-41E1-C172-A7AF-ED9C5F8A2AD4}"/>
              </a:ext>
            </a:extLst>
          </p:cNvPr>
          <p:cNvSpPr/>
          <p:nvPr/>
        </p:nvSpPr>
        <p:spPr>
          <a:xfrm>
            <a:off x="5190261" y="5545908"/>
            <a:ext cx="2744630" cy="590809"/>
          </a:xfrm>
          <a:prstGeom prst="roundRect">
            <a:avLst>
              <a:gd name="adj" fmla="val 50000"/>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200"/>
              <a:t>Тренирай</a:t>
            </a:r>
          </a:p>
        </p:txBody>
      </p:sp>
      <p:sp>
        <p:nvSpPr>
          <p:cNvPr id="45" name="Rectangle: Rounded Corners 4">
            <a:extLst>
              <a:ext uri="{FF2B5EF4-FFF2-40B4-BE49-F238E27FC236}">
                <a16:creationId xmlns:a16="http://schemas.microsoft.com/office/drawing/2014/main" id="{21EF51EB-E91D-039A-88F3-D68AB78A7594}"/>
              </a:ext>
            </a:extLst>
          </p:cNvPr>
          <p:cNvSpPr/>
          <p:nvPr/>
        </p:nvSpPr>
        <p:spPr>
          <a:xfrm>
            <a:off x="5258203" y="4090393"/>
            <a:ext cx="1650026" cy="551685"/>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200">
                <a:ea typeface="+mn-lt"/>
                <a:cs typeface="+mn-lt"/>
              </a:rPr>
              <a:t>Не искам, защото са Ви високи лихвите!</a:t>
            </a:r>
            <a:endParaRPr lang="bg-BG">
              <a:ea typeface="+mn-lt"/>
              <a:cs typeface="+mn-lt"/>
            </a:endParaRPr>
          </a:p>
        </p:txBody>
      </p:sp>
      <p:sp>
        <p:nvSpPr>
          <p:cNvPr id="5" name="Правоъгълник: със заоблени ъгли 37">
            <a:extLst>
              <a:ext uri="{FF2B5EF4-FFF2-40B4-BE49-F238E27FC236}">
                <a16:creationId xmlns:a16="http://schemas.microsoft.com/office/drawing/2014/main" id="{E578889D-DB66-8568-A238-C1F4D06C8ABC}"/>
              </a:ext>
            </a:extLst>
          </p:cNvPr>
          <p:cNvSpPr/>
          <p:nvPr/>
        </p:nvSpPr>
        <p:spPr>
          <a:xfrm>
            <a:off x="5267705" y="1058208"/>
            <a:ext cx="4325063" cy="65453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bg-BG" sz="1600" b="1">
                <a:solidFill>
                  <a:srgbClr val="1F3864"/>
                </a:solidFill>
              </a:rPr>
              <a:t>1.Отваряне и Предложение</a:t>
            </a:r>
          </a:p>
        </p:txBody>
      </p:sp>
      <p:sp>
        <p:nvSpPr>
          <p:cNvPr id="7" name="Правоъгълник: със заоблени ъгли 41">
            <a:extLst>
              <a:ext uri="{FF2B5EF4-FFF2-40B4-BE49-F238E27FC236}">
                <a16:creationId xmlns:a16="http://schemas.microsoft.com/office/drawing/2014/main" id="{17C1FF8B-BF91-23BA-14B7-751C528D6049}"/>
              </a:ext>
            </a:extLst>
          </p:cNvPr>
          <p:cNvSpPr/>
          <p:nvPr/>
        </p:nvSpPr>
        <p:spPr>
          <a:xfrm>
            <a:off x="5290055" y="3278527"/>
            <a:ext cx="4297519" cy="521771"/>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bg-BG" sz="1600" b="1">
                <a:solidFill>
                  <a:schemeClr val="accent1">
                    <a:lumMod val="49000"/>
                  </a:schemeClr>
                </a:solidFill>
              </a:rPr>
              <a:t>2. Възражение и отговор</a:t>
            </a:r>
          </a:p>
        </p:txBody>
      </p:sp>
      <p:sp>
        <p:nvSpPr>
          <p:cNvPr id="15" name="TextBox 14">
            <a:extLst>
              <a:ext uri="{FF2B5EF4-FFF2-40B4-BE49-F238E27FC236}">
                <a16:creationId xmlns:a16="http://schemas.microsoft.com/office/drawing/2014/main" id="{5AFE1D5F-FF10-E4C1-4B91-6AAD06A3B5D8}"/>
              </a:ext>
            </a:extLst>
          </p:cNvPr>
          <p:cNvSpPr txBox="1"/>
          <p:nvPr/>
        </p:nvSpPr>
        <p:spPr>
          <a:xfrm>
            <a:off x="5376312" y="1578758"/>
            <a:ext cx="6443040"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a:ea typeface="+mn-lt"/>
                <a:cs typeface="+mn-lt"/>
              </a:rPr>
              <a:t>-</a:t>
            </a:r>
            <a:r>
              <a:rPr lang="en-US" sz="1400">
                <a:ea typeface="+mn-lt"/>
                <a:cs typeface="+mn-lt"/>
              </a:rPr>
              <a:t>Добър ден, търся г-н/г-жа (две </a:t>
            </a:r>
            <a:r>
              <a:rPr lang="en-US" sz="1400" err="1">
                <a:ea typeface="+mn-lt"/>
                <a:cs typeface="+mn-lt"/>
              </a:rPr>
              <a:t>имена</a:t>
            </a:r>
            <a:r>
              <a:rPr lang="en-US" sz="1400">
                <a:ea typeface="+mn-lt"/>
                <a:cs typeface="+mn-lt"/>
              </a:rPr>
              <a:t> </a:t>
            </a:r>
            <a:r>
              <a:rPr lang="en-US" sz="1400" err="1">
                <a:ea typeface="+mn-lt"/>
                <a:cs typeface="+mn-lt"/>
              </a:rPr>
              <a:t>на</a:t>
            </a:r>
            <a:r>
              <a:rPr lang="en-US" sz="1400">
                <a:ea typeface="+mn-lt"/>
                <a:cs typeface="+mn-lt"/>
              </a:rPr>
              <a:t> </a:t>
            </a:r>
            <a:r>
              <a:rPr lang="en-US" sz="1400" err="1">
                <a:ea typeface="+mn-lt"/>
                <a:cs typeface="+mn-lt"/>
              </a:rPr>
              <a:t>клиента</a:t>
            </a:r>
            <a:r>
              <a:rPr lang="en-US" sz="1400">
                <a:ea typeface="+mn-lt"/>
                <a:cs typeface="+mn-lt"/>
              </a:rPr>
              <a:t>).</a:t>
            </a:r>
            <a:br>
              <a:rPr lang="en-US" sz="1400">
                <a:ea typeface="+mn-lt"/>
                <a:cs typeface="+mn-lt"/>
              </a:rPr>
            </a:br>
            <a:r>
              <a:rPr lang="en-US" sz="1400">
                <a:ea typeface="+mn-lt"/>
                <a:cs typeface="+mn-lt"/>
              </a:rPr>
              <a:t> </a:t>
            </a:r>
            <a:r>
              <a:rPr lang="en-US" sz="1400" b="1">
                <a:ea typeface="+mn-lt"/>
                <a:cs typeface="+mn-lt"/>
              </a:rPr>
              <a:t>-</a:t>
            </a:r>
            <a:r>
              <a:rPr lang="en-US" sz="1400" err="1">
                <a:ea typeface="+mn-lt"/>
                <a:cs typeface="+mn-lt"/>
              </a:rPr>
              <a:t>Да</a:t>
            </a:r>
            <a:r>
              <a:rPr lang="en-US" sz="1400">
                <a:ea typeface="+mn-lt"/>
                <a:cs typeface="+mn-lt"/>
              </a:rPr>
              <a:t> (</a:t>
            </a:r>
            <a:r>
              <a:rPr lang="en-US" sz="1400" err="1">
                <a:ea typeface="+mn-lt"/>
                <a:cs typeface="+mn-lt"/>
              </a:rPr>
              <a:t>на</a:t>
            </a:r>
            <a:r>
              <a:rPr lang="en-US" sz="1400">
                <a:ea typeface="+mn-lt"/>
                <a:cs typeface="+mn-lt"/>
              </a:rPr>
              <a:t> </a:t>
            </a:r>
            <a:r>
              <a:rPr lang="en-US" sz="1400" err="1">
                <a:ea typeface="+mn-lt"/>
                <a:cs typeface="+mn-lt"/>
              </a:rPr>
              <a:t>телефона</a:t>
            </a:r>
            <a:r>
              <a:rPr lang="en-US" sz="1400">
                <a:ea typeface="+mn-lt"/>
                <a:cs typeface="+mn-lt"/>
              </a:rPr>
              <a:t>, </a:t>
            </a:r>
            <a:r>
              <a:rPr lang="en-US" sz="1400" err="1">
                <a:ea typeface="+mn-lt"/>
                <a:cs typeface="+mn-lt"/>
              </a:rPr>
              <a:t>аз</a:t>
            </a:r>
            <a:r>
              <a:rPr lang="en-US" sz="1400">
                <a:ea typeface="+mn-lt"/>
                <a:cs typeface="+mn-lt"/>
              </a:rPr>
              <a:t> </a:t>
            </a:r>
            <a:r>
              <a:rPr lang="en-US" sz="1400" err="1">
                <a:ea typeface="+mn-lt"/>
                <a:cs typeface="+mn-lt"/>
              </a:rPr>
              <a:t>съм</a:t>
            </a:r>
            <a:r>
              <a:rPr lang="en-US" sz="1400">
                <a:ea typeface="+mn-lt"/>
                <a:cs typeface="+mn-lt"/>
              </a:rPr>
              <a:t>).</a:t>
            </a:r>
            <a:br>
              <a:rPr lang="en-US" sz="1400">
                <a:ea typeface="+mn-lt"/>
                <a:cs typeface="+mn-lt"/>
              </a:rPr>
            </a:br>
            <a:r>
              <a:rPr lang="en-US" sz="1400">
                <a:ea typeface="+mn-lt"/>
                <a:cs typeface="+mn-lt"/>
              </a:rPr>
              <a:t> </a:t>
            </a:r>
            <a:r>
              <a:rPr lang="en-US" sz="1400" b="1">
                <a:ea typeface="+mn-lt"/>
                <a:cs typeface="+mn-lt"/>
              </a:rPr>
              <a:t>-</a:t>
            </a:r>
            <a:r>
              <a:rPr lang="en-US" sz="1400" err="1">
                <a:ea typeface="+mn-lt"/>
                <a:cs typeface="+mn-lt"/>
              </a:rPr>
              <a:t>Здравейте</a:t>
            </a:r>
            <a:r>
              <a:rPr lang="en-US" sz="1400">
                <a:ea typeface="+mn-lt"/>
                <a:cs typeface="+mn-lt"/>
              </a:rPr>
              <a:t> г-н/г-</a:t>
            </a:r>
            <a:r>
              <a:rPr lang="en-US" sz="1400" err="1">
                <a:ea typeface="+mn-lt"/>
                <a:cs typeface="+mn-lt"/>
              </a:rPr>
              <a:t>жо</a:t>
            </a:r>
            <a:r>
              <a:rPr lang="en-US" sz="1400">
                <a:ea typeface="+mn-lt"/>
                <a:cs typeface="+mn-lt"/>
              </a:rPr>
              <a:t> (</a:t>
            </a:r>
            <a:r>
              <a:rPr lang="en-US" sz="1400" err="1">
                <a:ea typeface="+mn-lt"/>
                <a:cs typeface="+mn-lt"/>
              </a:rPr>
              <a:t>фамилия</a:t>
            </a:r>
            <a:r>
              <a:rPr lang="en-US" sz="1400">
                <a:ea typeface="+mn-lt"/>
                <a:cs typeface="+mn-lt"/>
              </a:rPr>
              <a:t> </a:t>
            </a:r>
            <a:r>
              <a:rPr lang="en-US" sz="1400" err="1">
                <a:ea typeface="+mn-lt"/>
                <a:cs typeface="+mn-lt"/>
              </a:rPr>
              <a:t>на</a:t>
            </a:r>
            <a:r>
              <a:rPr lang="en-US" sz="1400">
                <a:ea typeface="+mn-lt"/>
                <a:cs typeface="+mn-lt"/>
              </a:rPr>
              <a:t> </a:t>
            </a:r>
            <a:r>
              <a:rPr lang="en-US" sz="1400" err="1">
                <a:ea typeface="+mn-lt"/>
                <a:cs typeface="+mn-lt"/>
              </a:rPr>
              <a:t>клиента</a:t>
            </a:r>
            <a:r>
              <a:rPr lang="en-US" sz="1400">
                <a:ea typeface="+mn-lt"/>
                <a:cs typeface="+mn-lt"/>
              </a:rPr>
              <a:t>), </a:t>
            </a:r>
            <a:r>
              <a:rPr lang="en-US" sz="1400" err="1">
                <a:ea typeface="+mn-lt"/>
                <a:cs typeface="+mn-lt"/>
              </a:rPr>
              <a:t>обаждам</a:t>
            </a:r>
            <a:r>
              <a:rPr lang="en-US" sz="1400">
                <a:ea typeface="+mn-lt"/>
                <a:cs typeface="+mn-lt"/>
              </a:rPr>
              <a:t> </a:t>
            </a:r>
            <a:r>
              <a:rPr lang="en-US" sz="1400" err="1">
                <a:ea typeface="+mn-lt"/>
                <a:cs typeface="+mn-lt"/>
              </a:rPr>
              <a:t>се</a:t>
            </a:r>
            <a:r>
              <a:rPr lang="en-US" sz="1400">
                <a:ea typeface="+mn-lt"/>
                <a:cs typeface="+mn-lt"/>
              </a:rPr>
              <a:t> </a:t>
            </a:r>
            <a:r>
              <a:rPr lang="en-US" sz="1400" err="1">
                <a:ea typeface="+mn-lt"/>
                <a:cs typeface="+mn-lt"/>
              </a:rPr>
              <a:t>от</a:t>
            </a:r>
            <a:r>
              <a:rPr lang="en-US" sz="1400">
                <a:ea typeface="+mn-lt"/>
                <a:cs typeface="+mn-lt"/>
              </a:rPr>
              <a:t> </a:t>
            </a:r>
            <a:r>
              <a:rPr lang="en-US" sz="1400" err="1">
                <a:ea typeface="+mn-lt"/>
                <a:cs typeface="+mn-lt"/>
              </a:rPr>
              <a:t>Изи</a:t>
            </a:r>
            <a:r>
              <a:rPr lang="en-US" sz="1400">
                <a:ea typeface="+mn-lt"/>
                <a:cs typeface="+mn-lt"/>
              </a:rPr>
              <a:t> </a:t>
            </a:r>
            <a:r>
              <a:rPr lang="en-US" sz="1400" err="1">
                <a:ea typeface="+mn-lt"/>
                <a:cs typeface="+mn-lt"/>
              </a:rPr>
              <a:t>Кредит</a:t>
            </a:r>
            <a:r>
              <a:rPr lang="en-US" sz="1400">
                <a:ea typeface="+mn-lt"/>
                <a:cs typeface="+mn-lt"/>
              </a:rPr>
              <a:t> </a:t>
            </a:r>
            <a:r>
              <a:rPr lang="en-US" sz="1400" err="1">
                <a:ea typeface="+mn-lt"/>
                <a:cs typeface="+mn-lt"/>
              </a:rPr>
              <a:t>във</a:t>
            </a:r>
            <a:r>
              <a:rPr lang="en-US" sz="1400">
                <a:ea typeface="+mn-lt"/>
                <a:cs typeface="+mn-lt"/>
              </a:rPr>
              <a:t> </a:t>
            </a:r>
            <a:r>
              <a:rPr lang="en-US" sz="1400" err="1">
                <a:ea typeface="+mn-lt"/>
                <a:cs typeface="+mn-lt"/>
              </a:rPr>
              <a:t>връзка</a:t>
            </a:r>
            <a:r>
              <a:rPr lang="en-US" sz="1400">
                <a:ea typeface="+mn-lt"/>
                <a:cs typeface="+mn-lt"/>
              </a:rPr>
              <a:t> с </a:t>
            </a:r>
            <a:r>
              <a:rPr lang="en-US" sz="1400" err="1">
                <a:ea typeface="+mn-lt"/>
                <a:cs typeface="+mn-lt"/>
              </a:rPr>
              <a:t>изготвено</a:t>
            </a:r>
            <a:r>
              <a:rPr lang="en-US" sz="1400">
                <a:ea typeface="+mn-lt"/>
                <a:cs typeface="+mn-lt"/>
              </a:rPr>
              <a:t> </a:t>
            </a:r>
            <a:r>
              <a:rPr lang="en-US" sz="1400" err="1">
                <a:ea typeface="+mn-lt"/>
                <a:cs typeface="+mn-lt"/>
              </a:rPr>
              <a:t>предложение</a:t>
            </a:r>
            <a:r>
              <a:rPr lang="en-US" sz="1400">
                <a:ea typeface="+mn-lt"/>
                <a:cs typeface="+mn-lt"/>
              </a:rPr>
              <a:t>, </a:t>
            </a:r>
            <a:r>
              <a:rPr lang="en-US" sz="1400" err="1">
                <a:ea typeface="+mn-lt"/>
                <a:cs typeface="+mn-lt"/>
              </a:rPr>
              <a:t>специално</a:t>
            </a:r>
            <a:r>
              <a:rPr lang="en-US" sz="1400">
                <a:ea typeface="+mn-lt"/>
                <a:cs typeface="+mn-lt"/>
              </a:rPr>
              <a:t> </a:t>
            </a:r>
            <a:r>
              <a:rPr lang="en-US" sz="1400" err="1">
                <a:ea typeface="+mn-lt"/>
                <a:cs typeface="+mn-lt"/>
              </a:rPr>
              <a:t>за</a:t>
            </a:r>
            <a:r>
              <a:rPr lang="en-US" sz="1400">
                <a:ea typeface="+mn-lt"/>
                <a:cs typeface="+mn-lt"/>
              </a:rPr>
              <a:t> </a:t>
            </a:r>
            <a:r>
              <a:rPr lang="en-US" sz="1400" err="1">
                <a:ea typeface="+mn-lt"/>
                <a:cs typeface="+mn-lt"/>
              </a:rPr>
              <a:t>Вас</a:t>
            </a:r>
            <a:r>
              <a:rPr lang="en-US" sz="1400">
                <a:ea typeface="+mn-lt"/>
                <a:cs typeface="+mn-lt"/>
              </a:rPr>
              <a:t>. </a:t>
            </a:r>
            <a:r>
              <a:rPr lang="en-US" sz="1400" err="1">
                <a:ea typeface="+mn-lt"/>
                <a:cs typeface="+mn-lt"/>
              </a:rPr>
              <a:t>Удобно</a:t>
            </a:r>
            <a:r>
              <a:rPr lang="en-US" sz="1400">
                <a:ea typeface="+mn-lt"/>
                <a:cs typeface="+mn-lt"/>
              </a:rPr>
              <a:t> </a:t>
            </a:r>
            <a:r>
              <a:rPr lang="en-US" sz="1400" err="1">
                <a:ea typeface="+mn-lt"/>
                <a:cs typeface="+mn-lt"/>
              </a:rPr>
              <a:t>ли</a:t>
            </a:r>
            <a:r>
              <a:rPr lang="en-US" sz="1400">
                <a:ea typeface="+mn-lt"/>
                <a:cs typeface="+mn-lt"/>
              </a:rPr>
              <a:t> е </a:t>
            </a:r>
            <a:r>
              <a:rPr lang="en-US" sz="1400" err="1">
                <a:ea typeface="+mn-lt"/>
                <a:cs typeface="+mn-lt"/>
              </a:rPr>
              <a:t>да</a:t>
            </a:r>
            <a:r>
              <a:rPr lang="en-US" sz="1400">
                <a:ea typeface="+mn-lt"/>
                <a:cs typeface="+mn-lt"/>
              </a:rPr>
              <a:t> </a:t>
            </a:r>
            <a:r>
              <a:rPr lang="en-US" sz="1400" err="1">
                <a:ea typeface="+mn-lt"/>
                <a:cs typeface="+mn-lt"/>
              </a:rPr>
              <a:t>ми</a:t>
            </a:r>
            <a:r>
              <a:rPr lang="en-US" sz="1400">
                <a:ea typeface="+mn-lt"/>
                <a:cs typeface="+mn-lt"/>
              </a:rPr>
              <a:t> </a:t>
            </a:r>
            <a:r>
              <a:rPr lang="en-US" sz="1400" err="1">
                <a:ea typeface="+mn-lt"/>
                <a:cs typeface="+mn-lt"/>
              </a:rPr>
              <a:t>отделите</a:t>
            </a:r>
            <a:r>
              <a:rPr lang="en-US" sz="1400">
                <a:ea typeface="+mn-lt"/>
                <a:cs typeface="+mn-lt"/>
              </a:rPr>
              <a:t> </a:t>
            </a:r>
            <a:r>
              <a:rPr lang="en-US" sz="1400" err="1">
                <a:ea typeface="+mn-lt"/>
                <a:cs typeface="+mn-lt"/>
              </a:rPr>
              <a:t>една</a:t>
            </a:r>
            <a:r>
              <a:rPr lang="en-US" sz="1400">
                <a:ea typeface="+mn-lt"/>
                <a:cs typeface="+mn-lt"/>
              </a:rPr>
              <a:t>, </a:t>
            </a:r>
            <a:r>
              <a:rPr lang="en-US" sz="1400" err="1">
                <a:ea typeface="+mn-lt"/>
                <a:cs typeface="+mn-lt"/>
              </a:rPr>
              <a:t>две</a:t>
            </a:r>
            <a:r>
              <a:rPr lang="en-US" sz="1400">
                <a:ea typeface="+mn-lt"/>
                <a:cs typeface="+mn-lt"/>
              </a:rPr>
              <a:t> </a:t>
            </a:r>
            <a:r>
              <a:rPr lang="en-US" sz="1400" err="1">
                <a:ea typeface="+mn-lt"/>
                <a:cs typeface="+mn-lt"/>
              </a:rPr>
              <a:t>минути</a:t>
            </a:r>
            <a:r>
              <a:rPr lang="en-US" sz="1400">
                <a:ea typeface="+mn-lt"/>
                <a:cs typeface="+mn-lt"/>
              </a:rPr>
              <a:t>, </a:t>
            </a:r>
            <a:r>
              <a:rPr lang="en-US" sz="1400" err="1">
                <a:ea typeface="+mn-lt"/>
                <a:cs typeface="+mn-lt"/>
              </a:rPr>
              <a:t>за</a:t>
            </a:r>
            <a:r>
              <a:rPr lang="en-US" sz="1400">
                <a:ea typeface="+mn-lt"/>
                <a:cs typeface="+mn-lt"/>
              </a:rPr>
              <a:t> </a:t>
            </a:r>
            <a:r>
              <a:rPr lang="en-US" sz="1400" err="1">
                <a:ea typeface="+mn-lt"/>
                <a:cs typeface="+mn-lt"/>
              </a:rPr>
              <a:t>да</a:t>
            </a:r>
            <a:r>
              <a:rPr lang="en-US" sz="1400">
                <a:ea typeface="+mn-lt"/>
                <a:cs typeface="+mn-lt"/>
              </a:rPr>
              <a:t> </a:t>
            </a:r>
            <a:r>
              <a:rPr lang="en-US" sz="1400" err="1">
                <a:ea typeface="+mn-lt"/>
                <a:cs typeface="+mn-lt"/>
              </a:rPr>
              <a:t>Ви</a:t>
            </a:r>
            <a:r>
              <a:rPr lang="en-US" sz="1400">
                <a:ea typeface="+mn-lt"/>
                <a:cs typeface="+mn-lt"/>
              </a:rPr>
              <a:t> </a:t>
            </a:r>
            <a:r>
              <a:rPr lang="en-US" sz="1400" err="1">
                <a:ea typeface="+mn-lt"/>
                <a:cs typeface="+mn-lt"/>
              </a:rPr>
              <a:t>запозная</a:t>
            </a:r>
            <a:r>
              <a:rPr lang="en-US" sz="1400">
                <a:ea typeface="+mn-lt"/>
                <a:cs typeface="+mn-lt"/>
              </a:rPr>
              <a:t>? </a:t>
            </a:r>
            <a:br>
              <a:rPr lang="en-US" sz="1400">
                <a:ea typeface="+mn-lt"/>
                <a:cs typeface="+mn-lt"/>
              </a:rPr>
            </a:br>
            <a:r>
              <a:rPr lang="en-US" sz="1400">
                <a:ea typeface="+mn-lt"/>
                <a:cs typeface="+mn-lt"/>
              </a:rPr>
              <a:t>-</a:t>
            </a:r>
            <a:r>
              <a:rPr lang="en-US" sz="1400" err="1">
                <a:ea typeface="+mn-lt"/>
                <a:cs typeface="+mn-lt"/>
              </a:rPr>
              <a:t>Да</a:t>
            </a:r>
            <a:r>
              <a:rPr lang="en-US" sz="1400">
                <a:ea typeface="+mn-lt"/>
                <a:cs typeface="+mn-lt"/>
              </a:rPr>
              <a:t> (</a:t>
            </a:r>
            <a:r>
              <a:rPr lang="en-US" sz="1400" err="1">
                <a:ea typeface="+mn-lt"/>
                <a:cs typeface="+mn-lt"/>
              </a:rPr>
              <a:t>слушам</a:t>
            </a:r>
            <a:r>
              <a:rPr lang="en-US" sz="1400">
                <a:ea typeface="+mn-lt"/>
                <a:cs typeface="+mn-lt"/>
              </a:rPr>
              <a:t> </a:t>
            </a:r>
            <a:r>
              <a:rPr lang="en-US" sz="1400" err="1">
                <a:ea typeface="+mn-lt"/>
                <a:cs typeface="+mn-lt"/>
              </a:rPr>
              <a:t>Ви</a:t>
            </a:r>
            <a:r>
              <a:rPr lang="en-US" sz="1400">
                <a:ea typeface="+mn-lt"/>
                <a:cs typeface="+mn-lt"/>
              </a:rPr>
              <a:t>).</a:t>
            </a:r>
            <a:br>
              <a:rPr lang="en-US" sz="1400">
                <a:ea typeface="+mn-lt"/>
                <a:cs typeface="+mn-lt"/>
              </a:rPr>
            </a:br>
            <a:r>
              <a:rPr lang="en-US" sz="1400" b="1">
                <a:ea typeface="+mn-lt"/>
                <a:cs typeface="+mn-lt"/>
              </a:rPr>
              <a:t> (</a:t>
            </a:r>
            <a:r>
              <a:rPr lang="en-US" sz="1400" b="1" err="1">
                <a:ea typeface="+mn-lt"/>
                <a:cs typeface="+mn-lt"/>
              </a:rPr>
              <a:t>Представяне</a:t>
            </a:r>
            <a:r>
              <a:rPr lang="en-US" sz="1400" b="1">
                <a:ea typeface="+mn-lt"/>
                <a:cs typeface="+mn-lt"/>
              </a:rPr>
              <a:t> </a:t>
            </a:r>
            <a:r>
              <a:rPr lang="en-US" sz="1400" b="1" err="1">
                <a:ea typeface="+mn-lt"/>
                <a:cs typeface="+mn-lt"/>
              </a:rPr>
              <a:t>на</a:t>
            </a:r>
            <a:r>
              <a:rPr lang="en-US" sz="1400" b="1">
                <a:ea typeface="+mn-lt"/>
                <a:cs typeface="+mn-lt"/>
              </a:rPr>
              <a:t> </a:t>
            </a:r>
            <a:r>
              <a:rPr lang="en-US" sz="1400" b="1" err="1">
                <a:ea typeface="+mn-lt"/>
                <a:cs typeface="+mn-lt"/>
              </a:rPr>
              <a:t>предложнието</a:t>
            </a:r>
            <a:r>
              <a:rPr lang="en-US" sz="1400">
                <a:ea typeface="+mn-lt"/>
                <a:cs typeface="+mn-lt"/>
              </a:rPr>
              <a:t>)</a:t>
            </a:r>
            <a:br>
              <a:rPr lang="en-US" sz="1400">
                <a:ea typeface="+mn-lt"/>
                <a:cs typeface="+mn-lt"/>
              </a:rPr>
            </a:br>
            <a:r>
              <a:rPr lang="en-US" sz="1400">
                <a:ea typeface="+mn-lt"/>
                <a:cs typeface="+mn-lt"/>
              </a:rPr>
              <a:t> -</a:t>
            </a:r>
            <a:r>
              <a:rPr lang="en-US" sz="1400" err="1">
                <a:ea typeface="+mn-lt"/>
                <a:cs typeface="+mn-lt"/>
              </a:rPr>
              <a:t>Как</a:t>
            </a:r>
            <a:r>
              <a:rPr lang="en-US" sz="1400">
                <a:ea typeface="+mn-lt"/>
                <a:cs typeface="+mn-lt"/>
              </a:rPr>
              <a:t> </a:t>
            </a:r>
            <a:r>
              <a:rPr lang="en-US" sz="1400" err="1">
                <a:ea typeface="+mn-lt"/>
                <a:cs typeface="+mn-lt"/>
              </a:rPr>
              <a:t>Ви</a:t>
            </a:r>
            <a:r>
              <a:rPr lang="en-US" sz="1400">
                <a:ea typeface="+mn-lt"/>
                <a:cs typeface="+mn-lt"/>
              </a:rPr>
              <a:t> </a:t>
            </a:r>
            <a:r>
              <a:rPr lang="en-US" sz="1400" err="1">
                <a:ea typeface="+mn-lt"/>
                <a:cs typeface="+mn-lt"/>
              </a:rPr>
              <a:t>се</a:t>
            </a:r>
            <a:r>
              <a:rPr lang="en-US" sz="1400">
                <a:ea typeface="+mn-lt"/>
                <a:cs typeface="+mn-lt"/>
              </a:rPr>
              <a:t> </a:t>
            </a:r>
            <a:r>
              <a:rPr lang="en-US" sz="1400" err="1">
                <a:ea typeface="+mn-lt"/>
                <a:cs typeface="+mn-lt"/>
              </a:rPr>
              <a:t>струва</a:t>
            </a:r>
            <a:r>
              <a:rPr lang="en-US" sz="1400">
                <a:ea typeface="+mn-lt"/>
                <a:cs typeface="+mn-lt"/>
              </a:rPr>
              <a:t> </a:t>
            </a:r>
            <a:r>
              <a:rPr lang="en-US" sz="1400" err="1">
                <a:ea typeface="+mn-lt"/>
                <a:cs typeface="+mn-lt"/>
              </a:rPr>
              <a:t>моето</a:t>
            </a:r>
            <a:r>
              <a:rPr lang="en-US" sz="1400">
                <a:ea typeface="+mn-lt"/>
                <a:cs typeface="+mn-lt"/>
              </a:rPr>
              <a:t> </a:t>
            </a:r>
            <a:r>
              <a:rPr lang="en-US" sz="1400" err="1">
                <a:ea typeface="+mn-lt"/>
                <a:cs typeface="+mn-lt"/>
              </a:rPr>
              <a:t>предложение</a:t>
            </a:r>
            <a:r>
              <a:rPr lang="en-US" sz="1400">
                <a:ea typeface="+mn-lt"/>
                <a:cs typeface="+mn-lt"/>
              </a:rPr>
              <a:t>?</a:t>
            </a:r>
            <a:endParaRPr lang="en-US">
              <a:ea typeface="+mn-lt"/>
              <a:cs typeface="+mn-lt"/>
            </a:endParaRPr>
          </a:p>
          <a:p>
            <a:endParaRPr lang="en-US" sz="1400"/>
          </a:p>
        </p:txBody>
      </p:sp>
      <p:sp>
        <p:nvSpPr>
          <p:cNvPr id="6" name="Rectangle: Rounded Corners 9">
            <a:extLst>
              <a:ext uri="{FF2B5EF4-FFF2-40B4-BE49-F238E27FC236}">
                <a16:creationId xmlns:a16="http://schemas.microsoft.com/office/drawing/2014/main" id="{AF036F79-88EA-25B5-52D0-EF02B5AF406D}"/>
              </a:ext>
            </a:extLst>
          </p:cNvPr>
          <p:cNvSpPr/>
          <p:nvPr/>
        </p:nvSpPr>
        <p:spPr>
          <a:xfrm>
            <a:off x="1970479" y="1978727"/>
            <a:ext cx="2932281" cy="677241"/>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bg-BG" sz="1600"/>
              <a:t>Предварително одобрен клиент</a:t>
            </a:r>
            <a:endParaRPr lang="en-GB" sz="1600"/>
          </a:p>
        </p:txBody>
      </p:sp>
      <p:sp>
        <p:nvSpPr>
          <p:cNvPr id="11" name="Rectangle: Rounded Corners 11">
            <a:extLst>
              <a:ext uri="{FF2B5EF4-FFF2-40B4-BE49-F238E27FC236}">
                <a16:creationId xmlns:a16="http://schemas.microsoft.com/office/drawing/2014/main" id="{0DF54ABF-187C-B150-8E6B-FEEFDBC7ECB0}"/>
              </a:ext>
            </a:extLst>
          </p:cNvPr>
          <p:cNvSpPr/>
          <p:nvPr/>
        </p:nvSpPr>
        <p:spPr>
          <a:xfrm>
            <a:off x="1970478" y="1174969"/>
            <a:ext cx="2932281" cy="677241"/>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bg-BG" sz="1600"/>
              <a:t>Лоялен клиент</a:t>
            </a:r>
            <a:endParaRPr lang="en-GB" sz="1600"/>
          </a:p>
        </p:txBody>
      </p:sp>
      <p:sp>
        <p:nvSpPr>
          <p:cNvPr id="17" name="Rectangle: Rounded Corners 13">
            <a:extLst>
              <a:ext uri="{FF2B5EF4-FFF2-40B4-BE49-F238E27FC236}">
                <a16:creationId xmlns:a16="http://schemas.microsoft.com/office/drawing/2014/main" id="{01669BDF-4B28-F0FC-93B0-2F8B99D46C5F}"/>
              </a:ext>
            </a:extLst>
          </p:cNvPr>
          <p:cNvSpPr/>
          <p:nvPr/>
        </p:nvSpPr>
        <p:spPr>
          <a:xfrm>
            <a:off x="1970478" y="2838941"/>
            <a:ext cx="2932281" cy="677241"/>
          </a:xfrm>
          <a:prstGeom prst="roundRect">
            <a:avLst/>
          </a:prstGeom>
          <a:solidFill>
            <a:schemeClr val="bg2">
              <a:lumMod val="75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bg-BG" sz="1600"/>
              <a:t>Промо кампания</a:t>
            </a:r>
            <a:endParaRPr lang="en-GB" sz="1600"/>
          </a:p>
        </p:txBody>
      </p:sp>
      <p:sp>
        <p:nvSpPr>
          <p:cNvPr id="19" name="Rectangle 9">
            <a:extLst>
              <a:ext uri="{FF2B5EF4-FFF2-40B4-BE49-F238E27FC236}">
                <a16:creationId xmlns:a16="http://schemas.microsoft.com/office/drawing/2014/main" id="{77CBECD4-EFF4-A1B0-7244-E174A653F938}"/>
              </a:ext>
            </a:extLst>
          </p:cNvPr>
          <p:cNvSpPr/>
          <p:nvPr/>
        </p:nvSpPr>
        <p:spPr>
          <a:xfrm>
            <a:off x="1970475" y="4647304"/>
            <a:ext cx="2932281" cy="677241"/>
          </a:xfrm>
          <a:prstGeom prst="roundRect">
            <a:avLst/>
          </a:prstGeom>
          <a:solidFill>
            <a:schemeClr val="bg2">
              <a:lumMod val="75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По препоръка</a:t>
            </a:r>
            <a:endParaRPr lang="en-GB" sz="1600"/>
          </a:p>
        </p:txBody>
      </p:sp>
      <p:sp>
        <p:nvSpPr>
          <p:cNvPr id="21" name="Rectangle 11">
            <a:extLst>
              <a:ext uri="{FF2B5EF4-FFF2-40B4-BE49-F238E27FC236}">
                <a16:creationId xmlns:a16="http://schemas.microsoft.com/office/drawing/2014/main" id="{B5AC629A-0A62-0E7A-7F16-D1465376C3B7}"/>
              </a:ext>
            </a:extLst>
          </p:cNvPr>
          <p:cNvSpPr/>
          <p:nvPr/>
        </p:nvSpPr>
        <p:spPr>
          <a:xfrm>
            <a:off x="1970476" y="3734537"/>
            <a:ext cx="2932281" cy="677241"/>
          </a:xfrm>
          <a:prstGeom prst="roundRect">
            <a:avLst/>
          </a:prstGeom>
          <a:solidFill>
            <a:schemeClr val="bg2">
              <a:lumMod val="75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bg-BG" sz="1600"/>
              <a:t>Продукт „Пенсионер“</a:t>
            </a:r>
            <a:endParaRPr lang="en-GB" sz="1600"/>
          </a:p>
        </p:txBody>
      </p:sp>
      <p:sp>
        <p:nvSpPr>
          <p:cNvPr id="8" name="Rectangle: Rounded Corners 7">
            <a:extLst>
              <a:ext uri="{FF2B5EF4-FFF2-40B4-BE49-F238E27FC236}">
                <a16:creationId xmlns:a16="http://schemas.microsoft.com/office/drawing/2014/main" id="{08188786-9005-71AE-F6A2-F67784655144}"/>
              </a:ext>
            </a:extLst>
          </p:cNvPr>
          <p:cNvSpPr/>
          <p:nvPr/>
        </p:nvSpPr>
        <p:spPr>
          <a:xfrm>
            <a:off x="7116007" y="3736763"/>
            <a:ext cx="1410640" cy="138004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bg-BG" sz="1000">
                <a:ea typeface="+mn-lt"/>
                <a:cs typeface="+mn-lt"/>
              </a:rPr>
              <a:t>Разбирам, че оскъпяването по кредитите Ви притеснява. Нека Ви разкажа как можете да контролирате това!  </a:t>
            </a:r>
            <a:endParaRPr lang="en-US"/>
          </a:p>
        </p:txBody>
      </p:sp>
      <p:sp>
        <p:nvSpPr>
          <p:cNvPr id="10" name="Rectangle: Rounded Corners 9">
            <a:extLst>
              <a:ext uri="{FF2B5EF4-FFF2-40B4-BE49-F238E27FC236}">
                <a16:creationId xmlns:a16="http://schemas.microsoft.com/office/drawing/2014/main" id="{7BDCBA62-00F1-FCCE-1DE6-017B987E3C42}"/>
              </a:ext>
            </a:extLst>
          </p:cNvPr>
          <p:cNvSpPr/>
          <p:nvPr/>
        </p:nvSpPr>
        <p:spPr>
          <a:xfrm>
            <a:off x="8946400" y="3450025"/>
            <a:ext cx="1122658" cy="486912"/>
          </a:xfrm>
          <a:prstGeom prst="roundRect">
            <a:avLst/>
          </a:prstGeom>
          <a:solidFill>
            <a:srgbClr val="4472C4"/>
          </a:solidFill>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p>
            <a:pPr algn="ctr"/>
            <a:r>
              <a:rPr lang="bg-BG" sz="1000">
                <a:ea typeface="+mn-lt"/>
                <a:cs typeface="+mn-lt"/>
              </a:rPr>
              <a:t>Да , искам! </a:t>
            </a:r>
            <a:endParaRPr lang="bg-BG" sz="1000"/>
          </a:p>
        </p:txBody>
      </p:sp>
      <p:cxnSp>
        <p:nvCxnSpPr>
          <p:cNvPr id="13" name="Connector: Elbow 12">
            <a:extLst>
              <a:ext uri="{FF2B5EF4-FFF2-40B4-BE49-F238E27FC236}">
                <a16:creationId xmlns:a16="http://schemas.microsoft.com/office/drawing/2014/main" id="{A5B736EB-45C5-BB51-3E12-D99DC3A989C2}"/>
              </a:ext>
            </a:extLst>
          </p:cNvPr>
          <p:cNvCxnSpPr/>
          <p:nvPr/>
        </p:nvCxnSpPr>
        <p:spPr>
          <a:xfrm flipV="1">
            <a:off x="8519642" y="3678286"/>
            <a:ext cx="370262" cy="504906"/>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Connector: Elbow 15">
            <a:extLst>
              <a:ext uri="{FF2B5EF4-FFF2-40B4-BE49-F238E27FC236}">
                <a16:creationId xmlns:a16="http://schemas.microsoft.com/office/drawing/2014/main" id="{6F2EAD60-F843-DEED-63C6-33122068EB8C}"/>
              </a:ext>
            </a:extLst>
          </p:cNvPr>
          <p:cNvCxnSpPr>
            <a:cxnSpLocks/>
          </p:cNvCxnSpPr>
          <p:nvPr/>
        </p:nvCxnSpPr>
        <p:spPr>
          <a:xfrm>
            <a:off x="8519639" y="4204976"/>
            <a:ext cx="370262" cy="357734"/>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Rectangle: Rounded Corners 19">
            <a:extLst>
              <a:ext uri="{FF2B5EF4-FFF2-40B4-BE49-F238E27FC236}">
                <a16:creationId xmlns:a16="http://schemas.microsoft.com/office/drawing/2014/main" id="{6E1C25B6-FF0D-FF8B-D5F3-06E1AB76467E}"/>
              </a:ext>
            </a:extLst>
          </p:cNvPr>
          <p:cNvSpPr/>
          <p:nvPr/>
        </p:nvSpPr>
        <p:spPr>
          <a:xfrm>
            <a:off x="10276958" y="3018050"/>
            <a:ext cx="1344197" cy="953304"/>
          </a:xfrm>
          <a:prstGeom prst="roundRect">
            <a:avLst/>
          </a:prstGeom>
          <a:solidFill>
            <a:srgbClr val="4472C4"/>
          </a:solidFill>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p>
            <a:r>
              <a:rPr lang="bg-BG" sz="1000">
                <a:ea typeface="+mn-lt"/>
                <a:cs typeface="+mn-lt"/>
              </a:rPr>
              <a:t>Ако желаете мога да Ви разкажа за вариантите, от които може да се възползвате</a:t>
            </a:r>
            <a:endParaRPr lang="en-US"/>
          </a:p>
        </p:txBody>
      </p:sp>
      <p:cxnSp>
        <p:nvCxnSpPr>
          <p:cNvPr id="25" name="Connector: Elbow 24">
            <a:extLst>
              <a:ext uri="{FF2B5EF4-FFF2-40B4-BE49-F238E27FC236}">
                <a16:creationId xmlns:a16="http://schemas.microsoft.com/office/drawing/2014/main" id="{AA16B208-57CC-7DC5-D833-7C9AE6F98125}"/>
              </a:ext>
            </a:extLst>
          </p:cNvPr>
          <p:cNvCxnSpPr>
            <a:cxnSpLocks/>
          </p:cNvCxnSpPr>
          <p:nvPr/>
        </p:nvCxnSpPr>
        <p:spPr>
          <a:xfrm>
            <a:off x="9821443" y="3554290"/>
            <a:ext cx="370262" cy="7018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Connector: Elbow 47">
            <a:extLst>
              <a:ext uri="{FF2B5EF4-FFF2-40B4-BE49-F238E27FC236}">
                <a16:creationId xmlns:a16="http://schemas.microsoft.com/office/drawing/2014/main" id="{B120BBAB-3312-6A6B-36FD-DC3474147CDF}"/>
              </a:ext>
            </a:extLst>
          </p:cNvPr>
          <p:cNvCxnSpPr>
            <a:cxnSpLocks/>
          </p:cNvCxnSpPr>
          <p:nvPr/>
        </p:nvCxnSpPr>
        <p:spPr>
          <a:xfrm flipV="1">
            <a:off x="11471791" y="3387689"/>
            <a:ext cx="485717" cy="36527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50" name="Rectangle: Rounded Corners 49">
            <a:extLst>
              <a:ext uri="{FF2B5EF4-FFF2-40B4-BE49-F238E27FC236}">
                <a16:creationId xmlns:a16="http://schemas.microsoft.com/office/drawing/2014/main" id="{E7B90139-28B6-4B92-5473-F6D5B2E86435}"/>
              </a:ext>
            </a:extLst>
          </p:cNvPr>
          <p:cNvSpPr/>
          <p:nvPr/>
        </p:nvSpPr>
        <p:spPr>
          <a:xfrm>
            <a:off x="8949231" y="5136315"/>
            <a:ext cx="1122658" cy="486912"/>
          </a:xfrm>
          <a:prstGeom prst="roundRect">
            <a:avLst/>
          </a:prstGeom>
          <a:solidFill>
            <a:srgbClr val="4472C4"/>
          </a:solidFill>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p>
            <a:pPr algn="ctr"/>
            <a:r>
              <a:rPr lang="bg-BG" sz="1000"/>
              <a:t>Нека помисля!</a:t>
            </a:r>
            <a:endParaRPr lang="bg-BG" sz="1000" dirty="0"/>
          </a:p>
        </p:txBody>
      </p:sp>
      <p:sp>
        <p:nvSpPr>
          <p:cNvPr id="54" name="Rectangle: Rounded Corners 53">
            <a:extLst>
              <a:ext uri="{FF2B5EF4-FFF2-40B4-BE49-F238E27FC236}">
                <a16:creationId xmlns:a16="http://schemas.microsoft.com/office/drawing/2014/main" id="{11425B3E-94A0-C166-16D9-341C4549BA8D}"/>
              </a:ext>
            </a:extLst>
          </p:cNvPr>
          <p:cNvSpPr/>
          <p:nvPr/>
        </p:nvSpPr>
        <p:spPr>
          <a:xfrm>
            <a:off x="8947923" y="4324864"/>
            <a:ext cx="1122658" cy="486912"/>
          </a:xfrm>
          <a:prstGeom prst="roundRect">
            <a:avLst/>
          </a:prstGeom>
          <a:solidFill>
            <a:srgbClr val="4472C4"/>
          </a:solidFill>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p>
            <a:pPr algn="ctr"/>
            <a:r>
              <a:rPr lang="bg-BG" sz="1000"/>
              <a:t>Не, не искам </a:t>
            </a:r>
            <a:endParaRPr lang="bg-BG" sz="1000" dirty="0"/>
          </a:p>
        </p:txBody>
      </p:sp>
      <p:cxnSp>
        <p:nvCxnSpPr>
          <p:cNvPr id="56" name="Connector: Elbow 55">
            <a:extLst>
              <a:ext uri="{FF2B5EF4-FFF2-40B4-BE49-F238E27FC236}">
                <a16:creationId xmlns:a16="http://schemas.microsoft.com/office/drawing/2014/main" id="{32D5BBA7-AB62-16CB-86E5-5F0EB1507F57}"/>
              </a:ext>
            </a:extLst>
          </p:cNvPr>
          <p:cNvCxnSpPr>
            <a:cxnSpLocks/>
          </p:cNvCxnSpPr>
          <p:nvPr/>
        </p:nvCxnSpPr>
        <p:spPr>
          <a:xfrm flipV="1">
            <a:off x="9834296" y="4559877"/>
            <a:ext cx="370262" cy="20298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58" name="Rectangle: Rounded Corners 57">
            <a:extLst>
              <a:ext uri="{FF2B5EF4-FFF2-40B4-BE49-F238E27FC236}">
                <a16:creationId xmlns:a16="http://schemas.microsoft.com/office/drawing/2014/main" id="{B14664F1-7E8C-8C36-DA8A-F04414AFB51C}"/>
              </a:ext>
            </a:extLst>
          </p:cNvPr>
          <p:cNvSpPr/>
          <p:nvPr/>
        </p:nvSpPr>
        <p:spPr>
          <a:xfrm>
            <a:off x="10249512" y="4212893"/>
            <a:ext cx="1292352" cy="795154"/>
          </a:xfrm>
          <a:prstGeom prst="roundRect">
            <a:avLst/>
          </a:prstGeom>
          <a:solidFill>
            <a:srgbClr val="4472C4"/>
          </a:solidFill>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p>
            <a:r>
              <a:rPr lang="bg-BG" sz="1000"/>
              <a:t>Ако изникне нужда от допълнително финансиране</a:t>
            </a:r>
            <a:endParaRPr lang="bg-BG" sz="1000">
              <a:solidFill>
                <a:srgbClr val="000000"/>
              </a:solidFill>
            </a:endParaRPr>
          </a:p>
          <a:p>
            <a:endParaRPr lang="bg-BG" sz="1000" dirty="0"/>
          </a:p>
        </p:txBody>
      </p:sp>
      <p:sp>
        <p:nvSpPr>
          <p:cNvPr id="60" name="Rectangle: Rounded Corners 59">
            <a:extLst>
              <a:ext uri="{FF2B5EF4-FFF2-40B4-BE49-F238E27FC236}">
                <a16:creationId xmlns:a16="http://schemas.microsoft.com/office/drawing/2014/main" id="{0730A06C-E70A-2852-9CFF-92208E438E39}"/>
              </a:ext>
            </a:extLst>
          </p:cNvPr>
          <p:cNvSpPr/>
          <p:nvPr/>
        </p:nvSpPr>
        <p:spPr>
          <a:xfrm>
            <a:off x="11759567" y="4379104"/>
            <a:ext cx="1298017" cy="376033"/>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p>
            <a:r>
              <a:rPr lang="bg-BG" sz="1000"/>
              <a:t>Разговорът приключва </a:t>
            </a:r>
            <a:endParaRPr lang="en-US"/>
          </a:p>
        </p:txBody>
      </p:sp>
      <p:cxnSp>
        <p:nvCxnSpPr>
          <p:cNvPr id="62" name="Connector: Elbow 61">
            <a:extLst>
              <a:ext uri="{FF2B5EF4-FFF2-40B4-BE49-F238E27FC236}">
                <a16:creationId xmlns:a16="http://schemas.microsoft.com/office/drawing/2014/main" id="{2AA11FFC-867B-6499-D725-B7FC5115D5BE}"/>
              </a:ext>
            </a:extLst>
          </p:cNvPr>
          <p:cNvCxnSpPr>
            <a:cxnSpLocks/>
          </p:cNvCxnSpPr>
          <p:nvPr/>
        </p:nvCxnSpPr>
        <p:spPr>
          <a:xfrm>
            <a:off x="11355462" y="4549157"/>
            <a:ext cx="370262" cy="7018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Connector: Elbow 63">
            <a:extLst>
              <a:ext uri="{FF2B5EF4-FFF2-40B4-BE49-F238E27FC236}">
                <a16:creationId xmlns:a16="http://schemas.microsoft.com/office/drawing/2014/main" id="{824E54E4-7FB9-02E9-ECF5-D527793F79C8}"/>
              </a:ext>
            </a:extLst>
          </p:cNvPr>
          <p:cNvCxnSpPr>
            <a:cxnSpLocks/>
          </p:cNvCxnSpPr>
          <p:nvPr/>
        </p:nvCxnSpPr>
        <p:spPr>
          <a:xfrm>
            <a:off x="8531185" y="4816885"/>
            <a:ext cx="381807" cy="58864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66" name="Rectangle: Rounded Corners 65">
            <a:extLst>
              <a:ext uri="{FF2B5EF4-FFF2-40B4-BE49-F238E27FC236}">
                <a16:creationId xmlns:a16="http://schemas.microsoft.com/office/drawing/2014/main" id="{5C08522D-4F34-6032-9831-2C9EECE85198}"/>
              </a:ext>
            </a:extLst>
          </p:cNvPr>
          <p:cNvSpPr/>
          <p:nvPr/>
        </p:nvSpPr>
        <p:spPr>
          <a:xfrm>
            <a:off x="10364966" y="5205802"/>
            <a:ext cx="1292352" cy="795154"/>
          </a:xfrm>
          <a:prstGeom prst="roundRect">
            <a:avLst/>
          </a:prstGeom>
          <a:solidFill>
            <a:srgbClr val="4472C4"/>
          </a:solidFill>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p>
            <a:r>
              <a:rPr lang="bg-BG" sz="1000"/>
              <a:t>Кога Ви е удобно?( отбелязва се ден и час)</a:t>
            </a:r>
            <a:endParaRPr lang="bg-BG" sz="1000" dirty="0"/>
          </a:p>
        </p:txBody>
      </p:sp>
      <p:sp>
        <p:nvSpPr>
          <p:cNvPr id="68" name="Rectangle: Rounded Corners 67">
            <a:extLst>
              <a:ext uri="{FF2B5EF4-FFF2-40B4-BE49-F238E27FC236}">
                <a16:creationId xmlns:a16="http://schemas.microsoft.com/office/drawing/2014/main" id="{ABA0EB8D-1546-951E-92A8-544BA78047F6}"/>
              </a:ext>
            </a:extLst>
          </p:cNvPr>
          <p:cNvSpPr/>
          <p:nvPr/>
        </p:nvSpPr>
        <p:spPr>
          <a:xfrm>
            <a:off x="13341294" y="5429740"/>
            <a:ext cx="1298017" cy="376033"/>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p>
            <a:r>
              <a:rPr lang="bg-BG" sz="1000"/>
              <a:t>Разговорът приключва </a:t>
            </a:r>
            <a:endParaRPr lang="en-US"/>
          </a:p>
        </p:txBody>
      </p:sp>
      <p:cxnSp>
        <p:nvCxnSpPr>
          <p:cNvPr id="70" name="Connector: Elbow 69">
            <a:extLst>
              <a:ext uri="{FF2B5EF4-FFF2-40B4-BE49-F238E27FC236}">
                <a16:creationId xmlns:a16="http://schemas.microsoft.com/office/drawing/2014/main" id="{71644845-96A1-1263-C682-4E3A5E377460}"/>
              </a:ext>
            </a:extLst>
          </p:cNvPr>
          <p:cNvCxnSpPr>
            <a:cxnSpLocks/>
          </p:cNvCxnSpPr>
          <p:nvPr/>
        </p:nvCxnSpPr>
        <p:spPr>
          <a:xfrm>
            <a:off x="11470916" y="5542066"/>
            <a:ext cx="370262" cy="7018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2" name="Connector: Elbow 71">
            <a:extLst>
              <a:ext uri="{FF2B5EF4-FFF2-40B4-BE49-F238E27FC236}">
                <a16:creationId xmlns:a16="http://schemas.microsoft.com/office/drawing/2014/main" id="{79C2C946-59C4-9369-2562-E0CA646954A6}"/>
              </a:ext>
            </a:extLst>
          </p:cNvPr>
          <p:cNvCxnSpPr>
            <a:cxnSpLocks/>
          </p:cNvCxnSpPr>
          <p:nvPr/>
        </p:nvCxnSpPr>
        <p:spPr>
          <a:xfrm>
            <a:off x="9835822" y="5359520"/>
            <a:ext cx="520352" cy="219189"/>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74" name="Rectangle: Rounded Corners 73">
            <a:extLst>
              <a:ext uri="{FF2B5EF4-FFF2-40B4-BE49-F238E27FC236}">
                <a16:creationId xmlns:a16="http://schemas.microsoft.com/office/drawing/2014/main" id="{B09C7903-1585-AF77-85C3-77BD8E11EC8A}"/>
              </a:ext>
            </a:extLst>
          </p:cNvPr>
          <p:cNvSpPr/>
          <p:nvPr/>
        </p:nvSpPr>
        <p:spPr>
          <a:xfrm>
            <a:off x="11865876" y="5205802"/>
            <a:ext cx="1292352" cy="795154"/>
          </a:xfrm>
          <a:prstGeom prst="roundRect">
            <a:avLst/>
          </a:prstGeom>
          <a:solidFill>
            <a:srgbClr val="4472C4"/>
          </a:solidFill>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p>
            <a:r>
              <a:rPr lang="bg-BG" sz="1000" dirty="0"/>
              <a:t>Очаквайте </a:t>
            </a:r>
            <a:r>
              <a:rPr lang="bg-BG" sz="1000"/>
              <a:t>обаждане от нас!</a:t>
            </a:r>
            <a:endParaRPr lang="en-US"/>
          </a:p>
        </p:txBody>
      </p:sp>
      <p:cxnSp>
        <p:nvCxnSpPr>
          <p:cNvPr id="76" name="Connector: Elbow 75">
            <a:extLst>
              <a:ext uri="{FF2B5EF4-FFF2-40B4-BE49-F238E27FC236}">
                <a16:creationId xmlns:a16="http://schemas.microsoft.com/office/drawing/2014/main" id="{C11AFF99-AFCC-CFD2-C3FF-D8B5C1B17507}"/>
              </a:ext>
            </a:extLst>
          </p:cNvPr>
          <p:cNvCxnSpPr>
            <a:cxnSpLocks/>
          </p:cNvCxnSpPr>
          <p:nvPr/>
        </p:nvCxnSpPr>
        <p:spPr>
          <a:xfrm>
            <a:off x="12406099" y="5403521"/>
            <a:ext cx="370262" cy="7018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78" name="Rectangle: Rounded Corners 77">
            <a:extLst>
              <a:ext uri="{FF2B5EF4-FFF2-40B4-BE49-F238E27FC236}">
                <a16:creationId xmlns:a16="http://schemas.microsoft.com/office/drawing/2014/main" id="{CB361AEB-EDD2-E16E-3848-B602B2FDA8F4}"/>
              </a:ext>
            </a:extLst>
          </p:cNvPr>
          <p:cNvSpPr/>
          <p:nvPr/>
        </p:nvSpPr>
        <p:spPr>
          <a:xfrm>
            <a:off x="12001588" y="3129584"/>
            <a:ext cx="1111112" cy="475367"/>
          </a:xfrm>
          <a:prstGeom prst="roundRect">
            <a:avLst/>
          </a:prstGeom>
          <a:solidFill>
            <a:srgbClr val="4472C4"/>
          </a:solidFill>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p>
            <a:pPr algn="ctr"/>
            <a:r>
              <a:rPr lang="bg-BG" sz="1000"/>
              <a:t>Да </a:t>
            </a:r>
            <a:endParaRPr lang="bg-BG" sz="1000" dirty="0"/>
          </a:p>
        </p:txBody>
      </p:sp>
      <p:sp>
        <p:nvSpPr>
          <p:cNvPr id="80" name="Rectangle: Rounded Corners 79">
            <a:extLst>
              <a:ext uri="{FF2B5EF4-FFF2-40B4-BE49-F238E27FC236}">
                <a16:creationId xmlns:a16="http://schemas.microsoft.com/office/drawing/2014/main" id="{EFDCF1EF-9186-004C-C428-396C62A74289}"/>
              </a:ext>
            </a:extLst>
          </p:cNvPr>
          <p:cNvSpPr/>
          <p:nvPr/>
        </p:nvSpPr>
        <p:spPr>
          <a:xfrm>
            <a:off x="13285964" y="2784527"/>
            <a:ext cx="1309561" cy="803213"/>
          </a:xfrm>
          <a:prstGeom prst="roundRect">
            <a:avLst/>
          </a:prstGeom>
          <a:solidFill>
            <a:srgbClr val="4472C4"/>
          </a:solidFill>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p>
            <a:r>
              <a:rPr lang="bg-BG" sz="1000"/>
              <a:t>Представям варианти </a:t>
            </a:r>
            <a:endParaRPr lang="bg-BG" sz="1000" dirty="0"/>
          </a:p>
        </p:txBody>
      </p:sp>
      <p:sp>
        <p:nvSpPr>
          <p:cNvPr id="82" name="Rectangle: Rounded Corners 81">
            <a:extLst>
              <a:ext uri="{FF2B5EF4-FFF2-40B4-BE49-F238E27FC236}">
                <a16:creationId xmlns:a16="http://schemas.microsoft.com/office/drawing/2014/main" id="{644295F1-8644-048F-5F11-4D98595879F2}"/>
              </a:ext>
            </a:extLst>
          </p:cNvPr>
          <p:cNvSpPr/>
          <p:nvPr/>
        </p:nvSpPr>
        <p:spPr>
          <a:xfrm>
            <a:off x="14808003" y="2787141"/>
            <a:ext cx="1295183" cy="736771"/>
          </a:xfrm>
          <a:prstGeom prst="roundRect">
            <a:avLst/>
          </a:prstGeom>
          <a:solidFill>
            <a:schemeClr val="accent2"/>
          </a:solidFill>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p>
            <a:r>
              <a:rPr lang="bg-BG" sz="1000" dirty="0"/>
              <a:t>Разговорът приключва със </a:t>
            </a:r>
            <a:r>
              <a:rPr lang="bg-BG" sz="1000"/>
              <a:t>среща</a:t>
            </a:r>
            <a:endParaRPr lang="bg-BG" sz="1000" dirty="0"/>
          </a:p>
        </p:txBody>
      </p:sp>
      <p:cxnSp>
        <p:nvCxnSpPr>
          <p:cNvPr id="84" name="Connector: Elbow 83">
            <a:extLst>
              <a:ext uri="{FF2B5EF4-FFF2-40B4-BE49-F238E27FC236}">
                <a16:creationId xmlns:a16="http://schemas.microsoft.com/office/drawing/2014/main" id="{E0CAB67E-C3C7-ADE1-2FA7-BC41C148BA60}"/>
              </a:ext>
            </a:extLst>
          </p:cNvPr>
          <p:cNvCxnSpPr>
            <a:cxnSpLocks/>
          </p:cNvCxnSpPr>
          <p:nvPr/>
        </p:nvCxnSpPr>
        <p:spPr>
          <a:xfrm flipV="1">
            <a:off x="14415881" y="3168325"/>
            <a:ext cx="370262" cy="3045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6" name="Connector: Elbow 85">
            <a:extLst>
              <a:ext uri="{FF2B5EF4-FFF2-40B4-BE49-F238E27FC236}">
                <a16:creationId xmlns:a16="http://schemas.microsoft.com/office/drawing/2014/main" id="{B0233C61-BB9D-D3FF-EFC5-257C1DA3C4C3}"/>
              </a:ext>
            </a:extLst>
          </p:cNvPr>
          <p:cNvCxnSpPr>
            <a:cxnSpLocks/>
          </p:cNvCxnSpPr>
          <p:nvPr/>
        </p:nvCxnSpPr>
        <p:spPr>
          <a:xfrm flipV="1">
            <a:off x="12891880" y="3306870"/>
            <a:ext cx="370262" cy="3045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9" name="Connector: Elbow 88">
            <a:extLst>
              <a:ext uri="{FF2B5EF4-FFF2-40B4-BE49-F238E27FC236}">
                <a16:creationId xmlns:a16="http://schemas.microsoft.com/office/drawing/2014/main" id="{44560C7B-0B9A-410D-8F91-E318C4052B4E}"/>
              </a:ext>
            </a:extLst>
          </p:cNvPr>
          <p:cNvCxnSpPr>
            <a:cxnSpLocks/>
          </p:cNvCxnSpPr>
          <p:nvPr/>
        </p:nvCxnSpPr>
        <p:spPr>
          <a:xfrm>
            <a:off x="6764730" y="4355066"/>
            <a:ext cx="347171" cy="18455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0" name="Connector: Elbow 89">
            <a:extLst>
              <a:ext uri="{FF2B5EF4-FFF2-40B4-BE49-F238E27FC236}">
                <a16:creationId xmlns:a16="http://schemas.microsoft.com/office/drawing/2014/main" id="{06FAEED5-4240-CD78-26BE-F3508270E459}"/>
              </a:ext>
            </a:extLst>
          </p:cNvPr>
          <p:cNvCxnSpPr>
            <a:cxnSpLocks/>
          </p:cNvCxnSpPr>
          <p:nvPr/>
        </p:nvCxnSpPr>
        <p:spPr>
          <a:xfrm flipV="1">
            <a:off x="12972699" y="5615961"/>
            <a:ext cx="370262" cy="3045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Текстово поле 23">
            <a:extLst>
              <a:ext uri="{FF2B5EF4-FFF2-40B4-BE49-F238E27FC236}">
                <a16:creationId xmlns:a16="http://schemas.microsoft.com/office/drawing/2014/main" id="{55F59E9B-258A-85B6-53E3-EE429A3D296D}"/>
              </a:ext>
            </a:extLst>
          </p:cNvPr>
          <p:cNvSpPr txBox="1"/>
          <p:nvPr/>
        </p:nvSpPr>
        <p:spPr>
          <a:xfrm>
            <a:off x="3362960" y="6360160"/>
            <a:ext cx="6390640" cy="3487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bg-BG" sz="1600" i="1"/>
              <a:t>Съдържа сценарии от дървото, изпратено като документ</a:t>
            </a:r>
          </a:p>
        </p:txBody>
      </p:sp>
    </p:spTree>
    <p:extLst>
      <p:ext uri="{BB962C8B-B14F-4D97-AF65-F5344CB8AC3E}">
        <p14:creationId xmlns:p14="http://schemas.microsoft.com/office/powerpoint/2010/main" val="33506306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E4C258-514F-375E-4B63-EF8807339846}"/>
            </a:ext>
          </a:extLst>
        </p:cNvPr>
        <p:cNvGrpSpPr/>
        <p:nvPr/>
      </p:nvGrpSpPr>
      <p:grpSpPr>
        <a:xfrm>
          <a:off x="0" y="0"/>
          <a:ext cx="0" cy="0"/>
          <a:chOff x="0" y="0"/>
          <a:chExt cx="0" cy="0"/>
        </a:xfrm>
      </p:grpSpPr>
      <p:sp>
        <p:nvSpPr>
          <p:cNvPr id="27" name="Rectangle 3">
            <a:extLst>
              <a:ext uri="{FF2B5EF4-FFF2-40B4-BE49-F238E27FC236}">
                <a16:creationId xmlns:a16="http://schemas.microsoft.com/office/drawing/2014/main" id="{785025B6-7A38-56BD-0CC1-B010D0025E7E}"/>
              </a:ext>
            </a:extLst>
          </p:cNvPr>
          <p:cNvSpPr/>
          <p:nvPr/>
        </p:nvSpPr>
        <p:spPr>
          <a:xfrm>
            <a:off x="1443475" y="4245"/>
            <a:ext cx="5338363" cy="677242"/>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28" name="Rectangle 4">
            <a:extLst>
              <a:ext uri="{FF2B5EF4-FFF2-40B4-BE49-F238E27FC236}">
                <a16:creationId xmlns:a16="http://schemas.microsoft.com/office/drawing/2014/main" id="{5084B4B7-39D7-D9EC-A2B2-A71C0588B96F}"/>
              </a:ext>
            </a:extLst>
          </p:cNvPr>
          <p:cNvSpPr/>
          <p:nvPr/>
        </p:nvSpPr>
        <p:spPr>
          <a:xfrm>
            <a:off x="6788435" y="4245"/>
            <a:ext cx="5417300" cy="677242"/>
          </a:xfrm>
          <a:prstGeom prst="rect">
            <a:avLst/>
          </a:prstGeom>
          <a:solidFill>
            <a:schemeClr val="bg2">
              <a:lumMod val="75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29" name="Rectangle 28">
            <a:extLst>
              <a:ext uri="{FF2B5EF4-FFF2-40B4-BE49-F238E27FC236}">
                <a16:creationId xmlns:a16="http://schemas.microsoft.com/office/drawing/2014/main" id="{6CD3642D-00E2-D1DA-A876-A6D4D46C140E}"/>
              </a:ext>
            </a:extLst>
          </p:cNvPr>
          <p:cNvSpPr/>
          <p:nvPr/>
        </p:nvSpPr>
        <p:spPr>
          <a:xfrm>
            <a:off x="-1671" y="1599"/>
            <a:ext cx="1451167" cy="6866954"/>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200">
              <a:latin typeface="Aptos"/>
              <a:ea typeface="Calibri"/>
              <a:cs typeface="Calibri"/>
            </a:endParaRPr>
          </a:p>
        </p:txBody>
      </p:sp>
      <p:sp>
        <p:nvSpPr>
          <p:cNvPr id="30" name="Rectangle 29">
            <a:extLst>
              <a:ext uri="{FF2B5EF4-FFF2-40B4-BE49-F238E27FC236}">
                <a16:creationId xmlns:a16="http://schemas.microsoft.com/office/drawing/2014/main" id="{D1EDD914-2B02-947D-81A9-CC82F1BDF33E}"/>
              </a:ext>
            </a:extLst>
          </p:cNvPr>
          <p:cNvSpPr/>
          <p:nvPr/>
        </p:nvSpPr>
        <p:spPr>
          <a:xfrm>
            <a:off x="-1671" y="2528038"/>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Типове клиенти</a:t>
            </a:r>
            <a:endParaRPr lang="en-GB" sz="1400">
              <a:latin typeface="Aptos"/>
              <a:ea typeface="Calibri"/>
              <a:cs typeface="Calibri"/>
            </a:endParaRPr>
          </a:p>
        </p:txBody>
      </p:sp>
      <p:sp>
        <p:nvSpPr>
          <p:cNvPr id="31" name="Rectangle 30">
            <a:extLst>
              <a:ext uri="{FF2B5EF4-FFF2-40B4-BE49-F238E27FC236}">
                <a16:creationId xmlns:a16="http://schemas.microsoft.com/office/drawing/2014/main" id="{F147C82E-BB7D-8062-CE94-5679EB2EABC1}"/>
              </a:ext>
            </a:extLst>
          </p:cNvPr>
          <p:cNvSpPr/>
          <p:nvPr/>
        </p:nvSpPr>
        <p:spPr>
          <a:xfrm>
            <a:off x="8626" y="1913210"/>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b="1">
                <a:solidFill>
                  <a:srgbClr val="2F5597"/>
                </a:solidFill>
                <a:latin typeface="Aptos"/>
                <a:ea typeface="Calibri"/>
                <a:cs typeface="Calibri"/>
              </a:rPr>
              <a:t>Сценарии</a:t>
            </a:r>
            <a:endParaRPr lang="en-GB" sz="1400" b="1">
              <a:solidFill>
                <a:srgbClr val="2F5597"/>
              </a:solidFill>
              <a:latin typeface="Aptos"/>
              <a:ea typeface="Calibri"/>
              <a:cs typeface="Calibri"/>
            </a:endParaRPr>
          </a:p>
        </p:txBody>
      </p:sp>
      <p:sp>
        <p:nvSpPr>
          <p:cNvPr id="32" name="Rectangle 31">
            <a:extLst>
              <a:ext uri="{FF2B5EF4-FFF2-40B4-BE49-F238E27FC236}">
                <a16:creationId xmlns:a16="http://schemas.microsoft.com/office/drawing/2014/main" id="{C710C53C-42E7-FC69-B91A-CB80F27D9091}"/>
              </a:ext>
            </a:extLst>
          </p:cNvPr>
          <p:cNvSpPr/>
          <p:nvPr/>
        </p:nvSpPr>
        <p:spPr>
          <a:xfrm>
            <a:off x="-1671" y="1298382"/>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a:solidFill>
                  <a:schemeClr val="bg1"/>
                </a:solidFill>
                <a:latin typeface="Aptos"/>
                <a:ea typeface="Calibri"/>
                <a:cs typeface="Calibri"/>
              </a:rPr>
              <a:t>Стъпки в обаждането</a:t>
            </a:r>
            <a:endParaRPr lang="bg-BG" sz="1400">
              <a:solidFill>
                <a:srgbClr val="000000"/>
              </a:solidFill>
              <a:latin typeface="Aptos"/>
              <a:ea typeface="Calibri"/>
              <a:cs typeface="Calibri"/>
            </a:endParaRPr>
          </a:p>
        </p:txBody>
      </p:sp>
      <p:sp>
        <p:nvSpPr>
          <p:cNvPr id="33" name="Rectangle 28">
            <a:extLst>
              <a:ext uri="{FF2B5EF4-FFF2-40B4-BE49-F238E27FC236}">
                <a16:creationId xmlns:a16="http://schemas.microsoft.com/office/drawing/2014/main" id="{E73AB349-9454-F032-C386-F21A4224A67C}"/>
              </a:ext>
            </a:extLst>
          </p:cNvPr>
          <p:cNvSpPr/>
          <p:nvPr/>
        </p:nvSpPr>
        <p:spPr>
          <a:xfrm>
            <a:off x="6154" y="690328"/>
            <a:ext cx="1435083"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a:solidFill>
                  <a:schemeClr val="bg1"/>
                </a:solidFill>
                <a:latin typeface="Aptos"/>
                <a:ea typeface="Calibri"/>
                <a:cs typeface="Calibri"/>
              </a:rPr>
              <a:t>Подготовка</a:t>
            </a:r>
            <a:endParaRPr lang="en-GB" sz="1400">
              <a:solidFill>
                <a:schemeClr val="bg1"/>
              </a:solidFill>
              <a:latin typeface="Aptos"/>
              <a:ea typeface="Calibri"/>
              <a:cs typeface="Calibri"/>
            </a:endParaRPr>
          </a:p>
        </p:txBody>
      </p:sp>
      <p:pic>
        <p:nvPicPr>
          <p:cNvPr id="35" name="Picture 34">
            <a:extLst>
              <a:ext uri="{FF2B5EF4-FFF2-40B4-BE49-F238E27FC236}">
                <a16:creationId xmlns:a16="http://schemas.microsoft.com/office/drawing/2014/main" id="{8F2B7AF6-FA72-7E79-A7C7-2539E2159921}"/>
              </a:ext>
            </a:extLst>
          </p:cNvPr>
          <p:cNvPicPr>
            <a:picLocks noChangeAspect="1"/>
          </p:cNvPicPr>
          <p:nvPr/>
        </p:nvPicPr>
        <p:blipFill>
          <a:blip r:embed="rId2"/>
          <a:stretch>
            <a:fillRect/>
          </a:stretch>
        </p:blipFill>
        <p:spPr>
          <a:xfrm>
            <a:off x="11122828" y="5851667"/>
            <a:ext cx="982751" cy="995681"/>
          </a:xfrm>
          <a:prstGeom prst="rect">
            <a:avLst/>
          </a:prstGeom>
        </p:spPr>
      </p:pic>
      <p:sp>
        <p:nvSpPr>
          <p:cNvPr id="3" name="Овал 2">
            <a:extLst>
              <a:ext uri="{FF2B5EF4-FFF2-40B4-BE49-F238E27FC236}">
                <a16:creationId xmlns:a16="http://schemas.microsoft.com/office/drawing/2014/main" id="{7F2FB4E5-5B13-57CA-3E7F-EED198DDBBDC}"/>
              </a:ext>
            </a:extLst>
          </p:cNvPr>
          <p:cNvSpPr/>
          <p:nvPr/>
        </p:nvSpPr>
        <p:spPr>
          <a:xfrm>
            <a:off x="16277461" y="1430065"/>
            <a:ext cx="177402" cy="159446"/>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37" name="Правоъгълник: със заоблени ъгли 16">
            <a:extLst>
              <a:ext uri="{FF2B5EF4-FFF2-40B4-BE49-F238E27FC236}">
                <a16:creationId xmlns:a16="http://schemas.microsoft.com/office/drawing/2014/main" id="{6C36AA6D-57B1-522B-21DB-288A2B33ED00}"/>
              </a:ext>
            </a:extLst>
          </p:cNvPr>
          <p:cNvSpPr/>
          <p:nvPr/>
        </p:nvSpPr>
        <p:spPr>
          <a:xfrm>
            <a:off x="5132534" y="5592090"/>
            <a:ext cx="2744630" cy="590809"/>
          </a:xfrm>
          <a:prstGeom prst="roundRect">
            <a:avLst>
              <a:gd name="adj" fmla="val 50000"/>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200"/>
              <a:t>Тренирай</a:t>
            </a:r>
          </a:p>
        </p:txBody>
      </p:sp>
      <p:sp>
        <p:nvSpPr>
          <p:cNvPr id="52" name="Rectangle: Rounded Corners 4">
            <a:extLst>
              <a:ext uri="{FF2B5EF4-FFF2-40B4-BE49-F238E27FC236}">
                <a16:creationId xmlns:a16="http://schemas.microsoft.com/office/drawing/2014/main" id="{432889B8-613B-D657-FAFD-41947DA4140C}"/>
              </a:ext>
            </a:extLst>
          </p:cNvPr>
          <p:cNvSpPr/>
          <p:nvPr/>
        </p:nvSpPr>
        <p:spPr>
          <a:xfrm>
            <a:off x="5269750" y="4312988"/>
            <a:ext cx="1615389" cy="493958"/>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000">
                <a:ea typeface="+mn-lt"/>
                <a:cs typeface="+mn-lt"/>
              </a:rPr>
              <a:t>Искам да се посъветвам със семейството си.</a:t>
            </a:r>
            <a:endParaRPr lang="bg-BG" sz="1000"/>
          </a:p>
        </p:txBody>
      </p:sp>
      <p:sp>
        <p:nvSpPr>
          <p:cNvPr id="5" name="Правоъгълник: със заоблени ъгли 37">
            <a:extLst>
              <a:ext uri="{FF2B5EF4-FFF2-40B4-BE49-F238E27FC236}">
                <a16:creationId xmlns:a16="http://schemas.microsoft.com/office/drawing/2014/main" id="{936BA30B-D4B0-89B6-5B8B-048B87C70102}"/>
              </a:ext>
            </a:extLst>
          </p:cNvPr>
          <p:cNvSpPr/>
          <p:nvPr/>
        </p:nvSpPr>
        <p:spPr>
          <a:xfrm>
            <a:off x="5267705" y="1058208"/>
            <a:ext cx="4325063" cy="65453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bg-BG" sz="1600" b="1">
                <a:solidFill>
                  <a:srgbClr val="1F3864"/>
                </a:solidFill>
              </a:rPr>
              <a:t>1.Отваряне и Предложение</a:t>
            </a:r>
          </a:p>
        </p:txBody>
      </p:sp>
      <p:sp>
        <p:nvSpPr>
          <p:cNvPr id="7" name="Правоъгълник: със заоблени ъгли 41">
            <a:extLst>
              <a:ext uri="{FF2B5EF4-FFF2-40B4-BE49-F238E27FC236}">
                <a16:creationId xmlns:a16="http://schemas.microsoft.com/office/drawing/2014/main" id="{42B7B27A-AA23-73B1-7B44-F847C7FC02C0}"/>
              </a:ext>
            </a:extLst>
          </p:cNvPr>
          <p:cNvSpPr/>
          <p:nvPr/>
        </p:nvSpPr>
        <p:spPr>
          <a:xfrm>
            <a:off x="5301961" y="3278527"/>
            <a:ext cx="4333237" cy="474146"/>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bg-BG" sz="1600" b="1">
                <a:solidFill>
                  <a:schemeClr val="accent1">
                    <a:lumMod val="49000"/>
                  </a:schemeClr>
                </a:solidFill>
              </a:rPr>
              <a:t>2. Възражение и отговор</a:t>
            </a:r>
          </a:p>
        </p:txBody>
      </p:sp>
      <p:sp>
        <p:nvSpPr>
          <p:cNvPr id="15" name="TextBox 14">
            <a:extLst>
              <a:ext uri="{FF2B5EF4-FFF2-40B4-BE49-F238E27FC236}">
                <a16:creationId xmlns:a16="http://schemas.microsoft.com/office/drawing/2014/main" id="{B0CD0B04-3BB3-6320-211A-17E9EED57621}"/>
              </a:ext>
            </a:extLst>
          </p:cNvPr>
          <p:cNvSpPr txBox="1"/>
          <p:nvPr/>
        </p:nvSpPr>
        <p:spPr>
          <a:xfrm>
            <a:off x="5376312" y="1578758"/>
            <a:ext cx="6443040"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a:ea typeface="+mn-lt"/>
                <a:cs typeface="+mn-lt"/>
              </a:rPr>
              <a:t>-</a:t>
            </a:r>
            <a:r>
              <a:rPr lang="en-US" sz="1400">
                <a:ea typeface="+mn-lt"/>
                <a:cs typeface="+mn-lt"/>
              </a:rPr>
              <a:t>Добър ден, търся г-н/г-жа (две </a:t>
            </a:r>
            <a:r>
              <a:rPr lang="en-US" sz="1400" err="1">
                <a:ea typeface="+mn-lt"/>
                <a:cs typeface="+mn-lt"/>
              </a:rPr>
              <a:t>имена</a:t>
            </a:r>
            <a:r>
              <a:rPr lang="en-US" sz="1400">
                <a:ea typeface="+mn-lt"/>
                <a:cs typeface="+mn-lt"/>
              </a:rPr>
              <a:t> </a:t>
            </a:r>
            <a:r>
              <a:rPr lang="en-US" sz="1400" err="1">
                <a:ea typeface="+mn-lt"/>
                <a:cs typeface="+mn-lt"/>
              </a:rPr>
              <a:t>на</a:t>
            </a:r>
            <a:r>
              <a:rPr lang="en-US" sz="1400">
                <a:ea typeface="+mn-lt"/>
                <a:cs typeface="+mn-lt"/>
              </a:rPr>
              <a:t> </a:t>
            </a:r>
            <a:r>
              <a:rPr lang="en-US" sz="1400" err="1">
                <a:ea typeface="+mn-lt"/>
                <a:cs typeface="+mn-lt"/>
              </a:rPr>
              <a:t>клиента</a:t>
            </a:r>
            <a:r>
              <a:rPr lang="en-US" sz="1400">
                <a:ea typeface="+mn-lt"/>
                <a:cs typeface="+mn-lt"/>
              </a:rPr>
              <a:t>).</a:t>
            </a:r>
            <a:br>
              <a:rPr lang="en-US" sz="1400">
                <a:ea typeface="+mn-lt"/>
                <a:cs typeface="+mn-lt"/>
              </a:rPr>
            </a:br>
            <a:r>
              <a:rPr lang="en-US" sz="1400">
                <a:ea typeface="+mn-lt"/>
                <a:cs typeface="+mn-lt"/>
              </a:rPr>
              <a:t> </a:t>
            </a:r>
            <a:r>
              <a:rPr lang="en-US" sz="1400" b="1">
                <a:ea typeface="+mn-lt"/>
                <a:cs typeface="+mn-lt"/>
              </a:rPr>
              <a:t>-</a:t>
            </a:r>
            <a:r>
              <a:rPr lang="en-US" sz="1400" err="1">
                <a:ea typeface="+mn-lt"/>
                <a:cs typeface="+mn-lt"/>
              </a:rPr>
              <a:t>Да</a:t>
            </a:r>
            <a:r>
              <a:rPr lang="en-US" sz="1400">
                <a:ea typeface="+mn-lt"/>
                <a:cs typeface="+mn-lt"/>
              </a:rPr>
              <a:t> (</a:t>
            </a:r>
            <a:r>
              <a:rPr lang="en-US" sz="1400" err="1">
                <a:ea typeface="+mn-lt"/>
                <a:cs typeface="+mn-lt"/>
              </a:rPr>
              <a:t>на</a:t>
            </a:r>
            <a:r>
              <a:rPr lang="en-US" sz="1400">
                <a:ea typeface="+mn-lt"/>
                <a:cs typeface="+mn-lt"/>
              </a:rPr>
              <a:t> </a:t>
            </a:r>
            <a:r>
              <a:rPr lang="en-US" sz="1400" err="1">
                <a:ea typeface="+mn-lt"/>
                <a:cs typeface="+mn-lt"/>
              </a:rPr>
              <a:t>телефона</a:t>
            </a:r>
            <a:r>
              <a:rPr lang="en-US" sz="1400">
                <a:ea typeface="+mn-lt"/>
                <a:cs typeface="+mn-lt"/>
              </a:rPr>
              <a:t>, </a:t>
            </a:r>
            <a:r>
              <a:rPr lang="en-US" sz="1400" err="1">
                <a:ea typeface="+mn-lt"/>
                <a:cs typeface="+mn-lt"/>
              </a:rPr>
              <a:t>аз</a:t>
            </a:r>
            <a:r>
              <a:rPr lang="en-US" sz="1400">
                <a:ea typeface="+mn-lt"/>
                <a:cs typeface="+mn-lt"/>
              </a:rPr>
              <a:t> </a:t>
            </a:r>
            <a:r>
              <a:rPr lang="en-US" sz="1400" err="1">
                <a:ea typeface="+mn-lt"/>
                <a:cs typeface="+mn-lt"/>
              </a:rPr>
              <a:t>съм</a:t>
            </a:r>
            <a:r>
              <a:rPr lang="en-US" sz="1400">
                <a:ea typeface="+mn-lt"/>
                <a:cs typeface="+mn-lt"/>
              </a:rPr>
              <a:t>).</a:t>
            </a:r>
            <a:br>
              <a:rPr lang="en-US" sz="1400">
                <a:ea typeface="+mn-lt"/>
                <a:cs typeface="+mn-lt"/>
              </a:rPr>
            </a:br>
            <a:r>
              <a:rPr lang="en-US" sz="1400">
                <a:ea typeface="+mn-lt"/>
                <a:cs typeface="+mn-lt"/>
              </a:rPr>
              <a:t> </a:t>
            </a:r>
            <a:r>
              <a:rPr lang="en-US" sz="1400" b="1">
                <a:ea typeface="+mn-lt"/>
                <a:cs typeface="+mn-lt"/>
              </a:rPr>
              <a:t>-</a:t>
            </a:r>
            <a:r>
              <a:rPr lang="en-US" sz="1400" err="1">
                <a:ea typeface="+mn-lt"/>
                <a:cs typeface="+mn-lt"/>
              </a:rPr>
              <a:t>Здравейте</a:t>
            </a:r>
            <a:r>
              <a:rPr lang="en-US" sz="1400">
                <a:ea typeface="+mn-lt"/>
                <a:cs typeface="+mn-lt"/>
              </a:rPr>
              <a:t> г-н/г-</a:t>
            </a:r>
            <a:r>
              <a:rPr lang="en-US" sz="1400" err="1">
                <a:ea typeface="+mn-lt"/>
                <a:cs typeface="+mn-lt"/>
              </a:rPr>
              <a:t>жо</a:t>
            </a:r>
            <a:r>
              <a:rPr lang="en-US" sz="1400">
                <a:ea typeface="+mn-lt"/>
                <a:cs typeface="+mn-lt"/>
              </a:rPr>
              <a:t> (</a:t>
            </a:r>
            <a:r>
              <a:rPr lang="en-US" sz="1400" err="1">
                <a:ea typeface="+mn-lt"/>
                <a:cs typeface="+mn-lt"/>
              </a:rPr>
              <a:t>фамилия</a:t>
            </a:r>
            <a:r>
              <a:rPr lang="en-US" sz="1400">
                <a:ea typeface="+mn-lt"/>
                <a:cs typeface="+mn-lt"/>
              </a:rPr>
              <a:t> </a:t>
            </a:r>
            <a:r>
              <a:rPr lang="en-US" sz="1400" err="1">
                <a:ea typeface="+mn-lt"/>
                <a:cs typeface="+mn-lt"/>
              </a:rPr>
              <a:t>на</a:t>
            </a:r>
            <a:r>
              <a:rPr lang="en-US" sz="1400">
                <a:ea typeface="+mn-lt"/>
                <a:cs typeface="+mn-lt"/>
              </a:rPr>
              <a:t> </a:t>
            </a:r>
            <a:r>
              <a:rPr lang="en-US" sz="1400" err="1">
                <a:ea typeface="+mn-lt"/>
                <a:cs typeface="+mn-lt"/>
              </a:rPr>
              <a:t>клиента</a:t>
            </a:r>
            <a:r>
              <a:rPr lang="en-US" sz="1400">
                <a:ea typeface="+mn-lt"/>
                <a:cs typeface="+mn-lt"/>
              </a:rPr>
              <a:t>), </a:t>
            </a:r>
            <a:r>
              <a:rPr lang="en-US" sz="1400" err="1">
                <a:ea typeface="+mn-lt"/>
                <a:cs typeface="+mn-lt"/>
              </a:rPr>
              <a:t>обаждам</a:t>
            </a:r>
            <a:r>
              <a:rPr lang="en-US" sz="1400">
                <a:ea typeface="+mn-lt"/>
                <a:cs typeface="+mn-lt"/>
              </a:rPr>
              <a:t> </a:t>
            </a:r>
            <a:r>
              <a:rPr lang="en-US" sz="1400" err="1">
                <a:ea typeface="+mn-lt"/>
                <a:cs typeface="+mn-lt"/>
              </a:rPr>
              <a:t>се</a:t>
            </a:r>
            <a:r>
              <a:rPr lang="en-US" sz="1400">
                <a:ea typeface="+mn-lt"/>
                <a:cs typeface="+mn-lt"/>
              </a:rPr>
              <a:t> </a:t>
            </a:r>
            <a:r>
              <a:rPr lang="en-US" sz="1400" err="1">
                <a:ea typeface="+mn-lt"/>
                <a:cs typeface="+mn-lt"/>
              </a:rPr>
              <a:t>от</a:t>
            </a:r>
            <a:r>
              <a:rPr lang="en-US" sz="1400">
                <a:ea typeface="+mn-lt"/>
                <a:cs typeface="+mn-lt"/>
              </a:rPr>
              <a:t> </a:t>
            </a:r>
            <a:r>
              <a:rPr lang="en-US" sz="1400" err="1">
                <a:ea typeface="+mn-lt"/>
                <a:cs typeface="+mn-lt"/>
              </a:rPr>
              <a:t>Изи</a:t>
            </a:r>
            <a:r>
              <a:rPr lang="en-US" sz="1400">
                <a:ea typeface="+mn-lt"/>
                <a:cs typeface="+mn-lt"/>
              </a:rPr>
              <a:t> </a:t>
            </a:r>
            <a:r>
              <a:rPr lang="en-US" sz="1400" err="1">
                <a:ea typeface="+mn-lt"/>
                <a:cs typeface="+mn-lt"/>
              </a:rPr>
              <a:t>Кредит</a:t>
            </a:r>
            <a:r>
              <a:rPr lang="en-US" sz="1400">
                <a:ea typeface="+mn-lt"/>
                <a:cs typeface="+mn-lt"/>
              </a:rPr>
              <a:t> </a:t>
            </a:r>
            <a:r>
              <a:rPr lang="en-US" sz="1400" err="1">
                <a:ea typeface="+mn-lt"/>
                <a:cs typeface="+mn-lt"/>
              </a:rPr>
              <a:t>във</a:t>
            </a:r>
            <a:r>
              <a:rPr lang="en-US" sz="1400">
                <a:ea typeface="+mn-lt"/>
                <a:cs typeface="+mn-lt"/>
              </a:rPr>
              <a:t> </a:t>
            </a:r>
            <a:r>
              <a:rPr lang="en-US" sz="1400" err="1">
                <a:ea typeface="+mn-lt"/>
                <a:cs typeface="+mn-lt"/>
              </a:rPr>
              <a:t>връзка</a:t>
            </a:r>
            <a:r>
              <a:rPr lang="en-US" sz="1400">
                <a:ea typeface="+mn-lt"/>
                <a:cs typeface="+mn-lt"/>
              </a:rPr>
              <a:t> с </a:t>
            </a:r>
            <a:r>
              <a:rPr lang="en-US" sz="1400" err="1">
                <a:ea typeface="+mn-lt"/>
                <a:cs typeface="+mn-lt"/>
              </a:rPr>
              <a:t>изготвено</a:t>
            </a:r>
            <a:r>
              <a:rPr lang="en-US" sz="1400">
                <a:ea typeface="+mn-lt"/>
                <a:cs typeface="+mn-lt"/>
              </a:rPr>
              <a:t> </a:t>
            </a:r>
            <a:r>
              <a:rPr lang="en-US" sz="1400" err="1">
                <a:ea typeface="+mn-lt"/>
                <a:cs typeface="+mn-lt"/>
              </a:rPr>
              <a:t>предложение</a:t>
            </a:r>
            <a:r>
              <a:rPr lang="en-US" sz="1400">
                <a:ea typeface="+mn-lt"/>
                <a:cs typeface="+mn-lt"/>
              </a:rPr>
              <a:t>, </a:t>
            </a:r>
            <a:r>
              <a:rPr lang="en-US" sz="1400" err="1">
                <a:ea typeface="+mn-lt"/>
                <a:cs typeface="+mn-lt"/>
              </a:rPr>
              <a:t>специално</a:t>
            </a:r>
            <a:r>
              <a:rPr lang="en-US" sz="1400">
                <a:ea typeface="+mn-lt"/>
                <a:cs typeface="+mn-lt"/>
              </a:rPr>
              <a:t> </a:t>
            </a:r>
            <a:r>
              <a:rPr lang="en-US" sz="1400" err="1">
                <a:ea typeface="+mn-lt"/>
                <a:cs typeface="+mn-lt"/>
              </a:rPr>
              <a:t>за</a:t>
            </a:r>
            <a:r>
              <a:rPr lang="en-US" sz="1400">
                <a:ea typeface="+mn-lt"/>
                <a:cs typeface="+mn-lt"/>
              </a:rPr>
              <a:t> </a:t>
            </a:r>
            <a:r>
              <a:rPr lang="en-US" sz="1400" err="1">
                <a:ea typeface="+mn-lt"/>
                <a:cs typeface="+mn-lt"/>
              </a:rPr>
              <a:t>Вас</a:t>
            </a:r>
            <a:r>
              <a:rPr lang="en-US" sz="1400">
                <a:ea typeface="+mn-lt"/>
                <a:cs typeface="+mn-lt"/>
              </a:rPr>
              <a:t>. </a:t>
            </a:r>
            <a:r>
              <a:rPr lang="en-US" sz="1400" err="1">
                <a:ea typeface="+mn-lt"/>
                <a:cs typeface="+mn-lt"/>
              </a:rPr>
              <a:t>Удобно</a:t>
            </a:r>
            <a:r>
              <a:rPr lang="en-US" sz="1400">
                <a:ea typeface="+mn-lt"/>
                <a:cs typeface="+mn-lt"/>
              </a:rPr>
              <a:t> </a:t>
            </a:r>
            <a:r>
              <a:rPr lang="en-US" sz="1400" err="1">
                <a:ea typeface="+mn-lt"/>
                <a:cs typeface="+mn-lt"/>
              </a:rPr>
              <a:t>ли</a:t>
            </a:r>
            <a:r>
              <a:rPr lang="en-US" sz="1400">
                <a:ea typeface="+mn-lt"/>
                <a:cs typeface="+mn-lt"/>
              </a:rPr>
              <a:t> е </a:t>
            </a:r>
            <a:r>
              <a:rPr lang="en-US" sz="1400" err="1">
                <a:ea typeface="+mn-lt"/>
                <a:cs typeface="+mn-lt"/>
              </a:rPr>
              <a:t>да</a:t>
            </a:r>
            <a:r>
              <a:rPr lang="en-US" sz="1400">
                <a:ea typeface="+mn-lt"/>
                <a:cs typeface="+mn-lt"/>
              </a:rPr>
              <a:t> </a:t>
            </a:r>
            <a:r>
              <a:rPr lang="en-US" sz="1400" err="1">
                <a:ea typeface="+mn-lt"/>
                <a:cs typeface="+mn-lt"/>
              </a:rPr>
              <a:t>ми</a:t>
            </a:r>
            <a:r>
              <a:rPr lang="en-US" sz="1400">
                <a:ea typeface="+mn-lt"/>
                <a:cs typeface="+mn-lt"/>
              </a:rPr>
              <a:t> </a:t>
            </a:r>
            <a:r>
              <a:rPr lang="en-US" sz="1400" err="1">
                <a:ea typeface="+mn-lt"/>
                <a:cs typeface="+mn-lt"/>
              </a:rPr>
              <a:t>отделите</a:t>
            </a:r>
            <a:r>
              <a:rPr lang="en-US" sz="1400">
                <a:ea typeface="+mn-lt"/>
                <a:cs typeface="+mn-lt"/>
              </a:rPr>
              <a:t> </a:t>
            </a:r>
            <a:r>
              <a:rPr lang="en-US" sz="1400" err="1">
                <a:ea typeface="+mn-lt"/>
                <a:cs typeface="+mn-lt"/>
              </a:rPr>
              <a:t>една</a:t>
            </a:r>
            <a:r>
              <a:rPr lang="en-US" sz="1400">
                <a:ea typeface="+mn-lt"/>
                <a:cs typeface="+mn-lt"/>
              </a:rPr>
              <a:t>, </a:t>
            </a:r>
            <a:r>
              <a:rPr lang="en-US" sz="1400" err="1">
                <a:ea typeface="+mn-lt"/>
                <a:cs typeface="+mn-lt"/>
              </a:rPr>
              <a:t>две</a:t>
            </a:r>
            <a:r>
              <a:rPr lang="en-US" sz="1400">
                <a:ea typeface="+mn-lt"/>
                <a:cs typeface="+mn-lt"/>
              </a:rPr>
              <a:t> </a:t>
            </a:r>
            <a:r>
              <a:rPr lang="en-US" sz="1400" err="1">
                <a:ea typeface="+mn-lt"/>
                <a:cs typeface="+mn-lt"/>
              </a:rPr>
              <a:t>минути</a:t>
            </a:r>
            <a:r>
              <a:rPr lang="en-US" sz="1400">
                <a:ea typeface="+mn-lt"/>
                <a:cs typeface="+mn-lt"/>
              </a:rPr>
              <a:t>, </a:t>
            </a:r>
            <a:r>
              <a:rPr lang="en-US" sz="1400" err="1">
                <a:ea typeface="+mn-lt"/>
                <a:cs typeface="+mn-lt"/>
              </a:rPr>
              <a:t>за</a:t>
            </a:r>
            <a:r>
              <a:rPr lang="en-US" sz="1400">
                <a:ea typeface="+mn-lt"/>
                <a:cs typeface="+mn-lt"/>
              </a:rPr>
              <a:t> </a:t>
            </a:r>
            <a:r>
              <a:rPr lang="en-US" sz="1400" err="1">
                <a:ea typeface="+mn-lt"/>
                <a:cs typeface="+mn-lt"/>
              </a:rPr>
              <a:t>да</a:t>
            </a:r>
            <a:r>
              <a:rPr lang="en-US" sz="1400">
                <a:ea typeface="+mn-lt"/>
                <a:cs typeface="+mn-lt"/>
              </a:rPr>
              <a:t> </a:t>
            </a:r>
            <a:r>
              <a:rPr lang="en-US" sz="1400" err="1">
                <a:ea typeface="+mn-lt"/>
                <a:cs typeface="+mn-lt"/>
              </a:rPr>
              <a:t>Ви</a:t>
            </a:r>
            <a:r>
              <a:rPr lang="en-US" sz="1400">
                <a:ea typeface="+mn-lt"/>
                <a:cs typeface="+mn-lt"/>
              </a:rPr>
              <a:t> </a:t>
            </a:r>
            <a:r>
              <a:rPr lang="en-US" sz="1400" err="1">
                <a:ea typeface="+mn-lt"/>
                <a:cs typeface="+mn-lt"/>
              </a:rPr>
              <a:t>запозная</a:t>
            </a:r>
            <a:r>
              <a:rPr lang="en-US" sz="1400">
                <a:ea typeface="+mn-lt"/>
                <a:cs typeface="+mn-lt"/>
              </a:rPr>
              <a:t>? </a:t>
            </a:r>
            <a:br>
              <a:rPr lang="en-US" sz="1400">
                <a:ea typeface="+mn-lt"/>
                <a:cs typeface="+mn-lt"/>
              </a:rPr>
            </a:br>
            <a:r>
              <a:rPr lang="en-US" sz="1400">
                <a:ea typeface="+mn-lt"/>
                <a:cs typeface="+mn-lt"/>
              </a:rPr>
              <a:t>-</a:t>
            </a:r>
            <a:r>
              <a:rPr lang="en-US" sz="1400" err="1">
                <a:ea typeface="+mn-lt"/>
                <a:cs typeface="+mn-lt"/>
              </a:rPr>
              <a:t>Да</a:t>
            </a:r>
            <a:r>
              <a:rPr lang="en-US" sz="1400">
                <a:ea typeface="+mn-lt"/>
                <a:cs typeface="+mn-lt"/>
              </a:rPr>
              <a:t> (</a:t>
            </a:r>
            <a:r>
              <a:rPr lang="en-US" sz="1400" err="1">
                <a:ea typeface="+mn-lt"/>
                <a:cs typeface="+mn-lt"/>
              </a:rPr>
              <a:t>слушам</a:t>
            </a:r>
            <a:r>
              <a:rPr lang="en-US" sz="1400">
                <a:ea typeface="+mn-lt"/>
                <a:cs typeface="+mn-lt"/>
              </a:rPr>
              <a:t> </a:t>
            </a:r>
            <a:r>
              <a:rPr lang="en-US" sz="1400" err="1">
                <a:ea typeface="+mn-lt"/>
                <a:cs typeface="+mn-lt"/>
              </a:rPr>
              <a:t>Ви</a:t>
            </a:r>
            <a:r>
              <a:rPr lang="en-US" sz="1400">
                <a:ea typeface="+mn-lt"/>
                <a:cs typeface="+mn-lt"/>
              </a:rPr>
              <a:t>).</a:t>
            </a:r>
            <a:br>
              <a:rPr lang="en-US" sz="1400">
                <a:ea typeface="+mn-lt"/>
                <a:cs typeface="+mn-lt"/>
              </a:rPr>
            </a:br>
            <a:r>
              <a:rPr lang="en-US" sz="1400" b="1">
                <a:ea typeface="+mn-lt"/>
                <a:cs typeface="+mn-lt"/>
              </a:rPr>
              <a:t> (</a:t>
            </a:r>
            <a:r>
              <a:rPr lang="en-US" sz="1400" b="1" err="1">
                <a:ea typeface="+mn-lt"/>
                <a:cs typeface="+mn-lt"/>
              </a:rPr>
              <a:t>Представяне</a:t>
            </a:r>
            <a:r>
              <a:rPr lang="en-US" sz="1400" b="1">
                <a:ea typeface="+mn-lt"/>
                <a:cs typeface="+mn-lt"/>
              </a:rPr>
              <a:t> </a:t>
            </a:r>
            <a:r>
              <a:rPr lang="en-US" sz="1400" b="1" err="1">
                <a:ea typeface="+mn-lt"/>
                <a:cs typeface="+mn-lt"/>
              </a:rPr>
              <a:t>на</a:t>
            </a:r>
            <a:r>
              <a:rPr lang="en-US" sz="1400" b="1">
                <a:ea typeface="+mn-lt"/>
                <a:cs typeface="+mn-lt"/>
              </a:rPr>
              <a:t> </a:t>
            </a:r>
            <a:r>
              <a:rPr lang="en-US" sz="1400" b="1" err="1">
                <a:ea typeface="+mn-lt"/>
                <a:cs typeface="+mn-lt"/>
              </a:rPr>
              <a:t>предложнието</a:t>
            </a:r>
            <a:r>
              <a:rPr lang="en-US" sz="1400">
                <a:ea typeface="+mn-lt"/>
                <a:cs typeface="+mn-lt"/>
              </a:rPr>
              <a:t>)</a:t>
            </a:r>
            <a:br>
              <a:rPr lang="en-US" sz="1400">
                <a:ea typeface="+mn-lt"/>
                <a:cs typeface="+mn-lt"/>
              </a:rPr>
            </a:br>
            <a:r>
              <a:rPr lang="en-US" sz="1400">
                <a:ea typeface="+mn-lt"/>
                <a:cs typeface="+mn-lt"/>
              </a:rPr>
              <a:t> -</a:t>
            </a:r>
            <a:r>
              <a:rPr lang="en-US" sz="1400" err="1">
                <a:ea typeface="+mn-lt"/>
                <a:cs typeface="+mn-lt"/>
              </a:rPr>
              <a:t>Как</a:t>
            </a:r>
            <a:r>
              <a:rPr lang="en-US" sz="1400">
                <a:ea typeface="+mn-lt"/>
                <a:cs typeface="+mn-lt"/>
              </a:rPr>
              <a:t> </a:t>
            </a:r>
            <a:r>
              <a:rPr lang="en-US" sz="1400" err="1">
                <a:ea typeface="+mn-lt"/>
                <a:cs typeface="+mn-lt"/>
              </a:rPr>
              <a:t>Ви</a:t>
            </a:r>
            <a:r>
              <a:rPr lang="en-US" sz="1400">
                <a:ea typeface="+mn-lt"/>
                <a:cs typeface="+mn-lt"/>
              </a:rPr>
              <a:t> </a:t>
            </a:r>
            <a:r>
              <a:rPr lang="en-US" sz="1400" err="1">
                <a:ea typeface="+mn-lt"/>
                <a:cs typeface="+mn-lt"/>
              </a:rPr>
              <a:t>се</a:t>
            </a:r>
            <a:r>
              <a:rPr lang="en-US" sz="1400">
                <a:ea typeface="+mn-lt"/>
                <a:cs typeface="+mn-lt"/>
              </a:rPr>
              <a:t> </a:t>
            </a:r>
            <a:r>
              <a:rPr lang="en-US" sz="1400" err="1">
                <a:ea typeface="+mn-lt"/>
                <a:cs typeface="+mn-lt"/>
              </a:rPr>
              <a:t>струва</a:t>
            </a:r>
            <a:r>
              <a:rPr lang="en-US" sz="1400">
                <a:ea typeface="+mn-lt"/>
                <a:cs typeface="+mn-lt"/>
              </a:rPr>
              <a:t> </a:t>
            </a:r>
            <a:r>
              <a:rPr lang="en-US" sz="1400" err="1">
                <a:ea typeface="+mn-lt"/>
                <a:cs typeface="+mn-lt"/>
              </a:rPr>
              <a:t>моето</a:t>
            </a:r>
            <a:r>
              <a:rPr lang="en-US" sz="1400">
                <a:ea typeface="+mn-lt"/>
                <a:cs typeface="+mn-lt"/>
              </a:rPr>
              <a:t> </a:t>
            </a:r>
            <a:r>
              <a:rPr lang="en-US" sz="1400" err="1">
                <a:ea typeface="+mn-lt"/>
                <a:cs typeface="+mn-lt"/>
              </a:rPr>
              <a:t>предложение</a:t>
            </a:r>
            <a:r>
              <a:rPr lang="en-US" sz="1400">
                <a:ea typeface="+mn-lt"/>
                <a:cs typeface="+mn-lt"/>
              </a:rPr>
              <a:t>?</a:t>
            </a:r>
            <a:endParaRPr lang="en-US">
              <a:ea typeface="+mn-lt"/>
              <a:cs typeface="+mn-lt"/>
            </a:endParaRPr>
          </a:p>
          <a:p>
            <a:endParaRPr lang="en-US" sz="1400"/>
          </a:p>
        </p:txBody>
      </p:sp>
      <p:sp>
        <p:nvSpPr>
          <p:cNvPr id="6" name="Rectangle: Rounded Corners 9">
            <a:extLst>
              <a:ext uri="{FF2B5EF4-FFF2-40B4-BE49-F238E27FC236}">
                <a16:creationId xmlns:a16="http://schemas.microsoft.com/office/drawing/2014/main" id="{CF46230E-F207-8967-C490-27DBAD9DC98B}"/>
              </a:ext>
            </a:extLst>
          </p:cNvPr>
          <p:cNvSpPr/>
          <p:nvPr/>
        </p:nvSpPr>
        <p:spPr>
          <a:xfrm>
            <a:off x="2074389" y="2001818"/>
            <a:ext cx="2932281" cy="677241"/>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bg-BG" sz="1600"/>
              <a:t>Предварително одобрен клиент</a:t>
            </a:r>
            <a:endParaRPr lang="en-GB" sz="1600"/>
          </a:p>
        </p:txBody>
      </p:sp>
      <p:sp>
        <p:nvSpPr>
          <p:cNvPr id="11" name="Rectangle: Rounded Corners 11">
            <a:extLst>
              <a:ext uri="{FF2B5EF4-FFF2-40B4-BE49-F238E27FC236}">
                <a16:creationId xmlns:a16="http://schemas.microsoft.com/office/drawing/2014/main" id="{3E36449C-0A86-D298-D312-C72F0A12D70A}"/>
              </a:ext>
            </a:extLst>
          </p:cNvPr>
          <p:cNvSpPr/>
          <p:nvPr/>
        </p:nvSpPr>
        <p:spPr>
          <a:xfrm>
            <a:off x="2074388" y="1198060"/>
            <a:ext cx="2932281" cy="677241"/>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bg-BG" sz="1600"/>
              <a:t>Лоялен клиент</a:t>
            </a:r>
            <a:endParaRPr lang="en-GB" sz="1600"/>
          </a:p>
        </p:txBody>
      </p:sp>
      <p:sp>
        <p:nvSpPr>
          <p:cNvPr id="17" name="Rectangle: Rounded Corners 13">
            <a:extLst>
              <a:ext uri="{FF2B5EF4-FFF2-40B4-BE49-F238E27FC236}">
                <a16:creationId xmlns:a16="http://schemas.microsoft.com/office/drawing/2014/main" id="{021C140D-3C61-EA41-60C6-E5AC012E4EE8}"/>
              </a:ext>
            </a:extLst>
          </p:cNvPr>
          <p:cNvSpPr/>
          <p:nvPr/>
        </p:nvSpPr>
        <p:spPr>
          <a:xfrm>
            <a:off x="2074387" y="2862032"/>
            <a:ext cx="2932281" cy="677241"/>
          </a:xfrm>
          <a:prstGeom prst="roundRect">
            <a:avLst/>
          </a:prstGeom>
          <a:solidFill>
            <a:schemeClr val="bg2">
              <a:lumMod val="75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bg-BG" sz="1600"/>
              <a:t>Промо кампания</a:t>
            </a:r>
            <a:endParaRPr lang="en-GB" sz="1600"/>
          </a:p>
        </p:txBody>
      </p:sp>
      <p:sp>
        <p:nvSpPr>
          <p:cNvPr id="19" name="Rectangle 9">
            <a:extLst>
              <a:ext uri="{FF2B5EF4-FFF2-40B4-BE49-F238E27FC236}">
                <a16:creationId xmlns:a16="http://schemas.microsoft.com/office/drawing/2014/main" id="{07AEE0C7-C77E-F651-642C-DA78B5BBEF15}"/>
              </a:ext>
            </a:extLst>
          </p:cNvPr>
          <p:cNvSpPr/>
          <p:nvPr/>
        </p:nvSpPr>
        <p:spPr>
          <a:xfrm>
            <a:off x="2074385" y="4670395"/>
            <a:ext cx="2932281" cy="677241"/>
          </a:xfrm>
          <a:prstGeom prst="roundRect">
            <a:avLst/>
          </a:prstGeom>
          <a:solidFill>
            <a:schemeClr val="bg2">
              <a:lumMod val="75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По препоръка</a:t>
            </a:r>
            <a:endParaRPr lang="en-GB" sz="1600"/>
          </a:p>
        </p:txBody>
      </p:sp>
      <p:sp>
        <p:nvSpPr>
          <p:cNvPr id="21" name="Rectangle 11">
            <a:extLst>
              <a:ext uri="{FF2B5EF4-FFF2-40B4-BE49-F238E27FC236}">
                <a16:creationId xmlns:a16="http://schemas.microsoft.com/office/drawing/2014/main" id="{78CCE927-BDC3-1F8B-3064-CE88A6D40565}"/>
              </a:ext>
            </a:extLst>
          </p:cNvPr>
          <p:cNvSpPr/>
          <p:nvPr/>
        </p:nvSpPr>
        <p:spPr>
          <a:xfrm>
            <a:off x="2074386" y="3757628"/>
            <a:ext cx="2932281" cy="677241"/>
          </a:xfrm>
          <a:prstGeom prst="roundRect">
            <a:avLst/>
          </a:prstGeom>
          <a:solidFill>
            <a:schemeClr val="bg2">
              <a:lumMod val="75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bg-BG" sz="1600"/>
              <a:t>Продукт „Пенсионер“</a:t>
            </a:r>
            <a:endParaRPr lang="en-GB" sz="1600"/>
          </a:p>
        </p:txBody>
      </p:sp>
      <p:sp>
        <p:nvSpPr>
          <p:cNvPr id="13" name="Rectangle: Rounded Corners 12">
            <a:extLst>
              <a:ext uri="{FF2B5EF4-FFF2-40B4-BE49-F238E27FC236}">
                <a16:creationId xmlns:a16="http://schemas.microsoft.com/office/drawing/2014/main" id="{127958BD-1DBE-659A-CBAB-92DF9DCA10C1}"/>
              </a:ext>
            </a:extLst>
          </p:cNvPr>
          <p:cNvSpPr/>
          <p:nvPr/>
        </p:nvSpPr>
        <p:spPr>
          <a:xfrm>
            <a:off x="7139098" y="3840671"/>
            <a:ext cx="1445275" cy="148395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bg-BG" sz="1000">
                <a:ea typeface="+mn-lt"/>
                <a:cs typeface="+mn-lt"/>
              </a:rPr>
              <a:t>Мнението на Вашите близки е от голямо значение при  вземане на подобно решение. </a:t>
            </a:r>
            <a:endParaRPr lang="en-US">
              <a:ea typeface="+mn-lt"/>
              <a:cs typeface="+mn-lt"/>
            </a:endParaRPr>
          </a:p>
        </p:txBody>
      </p:sp>
      <p:sp>
        <p:nvSpPr>
          <p:cNvPr id="16" name="Rectangle: Rounded Corners 15">
            <a:extLst>
              <a:ext uri="{FF2B5EF4-FFF2-40B4-BE49-F238E27FC236}">
                <a16:creationId xmlns:a16="http://schemas.microsoft.com/office/drawing/2014/main" id="{C2720A86-9976-794A-E92B-0853BB1C2BE5}"/>
              </a:ext>
            </a:extLst>
          </p:cNvPr>
          <p:cNvSpPr/>
          <p:nvPr/>
        </p:nvSpPr>
        <p:spPr>
          <a:xfrm>
            <a:off x="8854036" y="3761753"/>
            <a:ext cx="1122658" cy="486912"/>
          </a:xfrm>
          <a:prstGeom prst="roundRect">
            <a:avLst/>
          </a:prstGeom>
          <a:solidFill>
            <a:srgbClr val="4472C4"/>
          </a:solidFill>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p>
            <a:pPr algn="ctr"/>
            <a:r>
              <a:rPr lang="bg-BG" sz="1000"/>
              <a:t>Да</a:t>
            </a:r>
            <a:endParaRPr lang="bg-BG" sz="1000" dirty="0"/>
          </a:p>
        </p:txBody>
      </p:sp>
      <p:cxnSp>
        <p:nvCxnSpPr>
          <p:cNvPr id="20" name="Connector: Elbow 19">
            <a:extLst>
              <a:ext uri="{FF2B5EF4-FFF2-40B4-BE49-F238E27FC236}">
                <a16:creationId xmlns:a16="http://schemas.microsoft.com/office/drawing/2014/main" id="{1E5904D6-D745-20B7-B466-8FD3F0E67CDD}"/>
              </a:ext>
            </a:extLst>
          </p:cNvPr>
          <p:cNvCxnSpPr/>
          <p:nvPr/>
        </p:nvCxnSpPr>
        <p:spPr>
          <a:xfrm flipV="1">
            <a:off x="8427278" y="3990014"/>
            <a:ext cx="370262" cy="504906"/>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Connector: Elbow 22">
            <a:extLst>
              <a:ext uri="{FF2B5EF4-FFF2-40B4-BE49-F238E27FC236}">
                <a16:creationId xmlns:a16="http://schemas.microsoft.com/office/drawing/2014/main" id="{EC4CCCDB-FDE6-E8B2-2A85-494D10CDE9EC}"/>
              </a:ext>
            </a:extLst>
          </p:cNvPr>
          <p:cNvCxnSpPr>
            <a:cxnSpLocks/>
          </p:cNvCxnSpPr>
          <p:nvPr/>
        </p:nvCxnSpPr>
        <p:spPr>
          <a:xfrm>
            <a:off x="8427275" y="4516704"/>
            <a:ext cx="370262" cy="357734"/>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Rectangle: Rounded Corners 24">
            <a:extLst>
              <a:ext uri="{FF2B5EF4-FFF2-40B4-BE49-F238E27FC236}">
                <a16:creationId xmlns:a16="http://schemas.microsoft.com/office/drawing/2014/main" id="{4C2EA490-3AA4-E430-A908-DF653C415646}"/>
              </a:ext>
            </a:extLst>
          </p:cNvPr>
          <p:cNvSpPr/>
          <p:nvPr/>
        </p:nvSpPr>
        <p:spPr>
          <a:xfrm>
            <a:off x="10173048" y="3329778"/>
            <a:ext cx="1344197" cy="953304"/>
          </a:xfrm>
          <a:prstGeom prst="roundRect">
            <a:avLst/>
          </a:prstGeom>
          <a:solidFill>
            <a:srgbClr val="4472C4"/>
          </a:solidFill>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p>
            <a:r>
              <a:rPr lang="bg-BG" sz="1000">
                <a:ea typeface="+mn-lt"/>
                <a:cs typeface="+mn-lt"/>
              </a:rPr>
              <a:t>Ако желаете мога да Ви разкажа за вариантите, от които може да се възползвате</a:t>
            </a:r>
            <a:endParaRPr lang="en-US"/>
          </a:p>
        </p:txBody>
      </p:sp>
      <p:cxnSp>
        <p:nvCxnSpPr>
          <p:cNvPr id="38" name="Connector: Elbow 37">
            <a:extLst>
              <a:ext uri="{FF2B5EF4-FFF2-40B4-BE49-F238E27FC236}">
                <a16:creationId xmlns:a16="http://schemas.microsoft.com/office/drawing/2014/main" id="{852E6553-025D-EC70-E509-71AC95940F80}"/>
              </a:ext>
            </a:extLst>
          </p:cNvPr>
          <p:cNvCxnSpPr>
            <a:cxnSpLocks/>
          </p:cNvCxnSpPr>
          <p:nvPr/>
        </p:nvCxnSpPr>
        <p:spPr>
          <a:xfrm>
            <a:off x="9729079" y="3866018"/>
            <a:ext cx="370262" cy="7018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Connector: Elbow 41">
            <a:extLst>
              <a:ext uri="{FF2B5EF4-FFF2-40B4-BE49-F238E27FC236}">
                <a16:creationId xmlns:a16="http://schemas.microsoft.com/office/drawing/2014/main" id="{674F5426-493E-0941-DAC9-9BF9996D56AC}"/>
              </a:ext>
            </a:extLst>
          </p:cNvPr>
          <p:cNvCxnSpPr>
            <a:cxnSpLocks/>
          </p:cNvCxnSpPr>
          <p:nvPr/>
        </p:nvCxnSpPr>
        <p:spPr>
          <a:xfrm>
            <a:off x="6773443" y="4501019"/>
            <a:ext cx="370262" cy="7018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48" name="Rectangle: Rounded Corners 47">
            <a:extLst>
              <a:ext uri="{FF2B5EF4-FFF2-40B4-BE49-F238E27FC236}">
                <a16:creationId xmlns:a16="http://schemas.microsoft.com/office/drawing/2014/main" id="{FF3A48B0-E5A4-2F12-B64F-73D193706EF2}"/>
              </a:ext>
            </a:extLst>
          </p:cNvPr>
          <p:cNvSpPr/>
          <p:nvPr/>
        </p:nvSpPr>
        <p:spPr>
          <a:xfrm>
            <a:off x="11750419" y="3350254"/>
            <a:ext cx="1309561" cy="803213"/>
          </a:xfrm>
          <a:prstGeom prst="roundRect">
            <a:avLst/>
          </a:prstGeom>
          <a:solidFill>
            <a:srgbClr val="4472C4"/>
          </a:solidFill>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p>
            <a:r>
              <a:rPr lang="bg-BG" sz="1000"/>
              <a:t>Представям варианти </a:t>
            </a:r>
            <a:endParaRPr lang="bg-BG" sz="1000" dirty="0"/>
          </a:p>
        </p:txBody>
      </p:sp>
      <p:cxnSp>
        <p:nvCxnSpPr>
          <p:cNvPr id="50" name="Connector: Elbow 49">
            <a:extLst>
              <a:ext uri="{FF2B5EF4-FFF2-40B4-BE49-F238E27FC236}">
                <a16:creationId xmlns:a16="http://schemas.microsoft.com/office/drawing/2014/main" id="{CA2E7F85-AB3A-F79F-6F7E-C84B7BEA8577}"/>
              </a:ext>
            </a:extLst>
          </p:cNvPr>
          <p:cNvCxnSpPr>
            <a:cxnSpLocks/>
          </p:cNvCxnSpPr>
          <p:nvPr/>
        </p:nvCxnSpPr>
        <p:spPr>
          <a:xfrm flipV="1">
            <a:off x="11367230" y="3869113"/>
            <a:ext cx="370262" cy="3045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58" name="Rectangle: Rounded Corners 57">
            <a:extLst>
              <a:ext uri="{FF2B5EF4-FFF2-40B4-BE49-F238E27FC236}">
                <a16:creationId xmlns:a16="http://schemas.microsoft.com/office/drawing/2014/main" id="{3A6F0879-6D1B-CC35-318A-3ADFAE979895}"/>
              </a:ext>
            </a:extLst>
          </p:cNvPr>
          <p:cNvSpPr/>
          <p:nvPr/>
        </p:nvSpPr>
        <p:spPr>
          <a:xfrm>
            <a:off x="13295548" y="3364414"/>
            <a:ext cx="1295183" cy="736771"/>
          </a:xfrm>
          <a:prstGeom prst="roundRect">
            <a:avLst/>
          </a:prstGeom>
          <a:solidFill>
            <a:schemeClr val="accent2"/>
          </a:solidFill>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p>
            <a:r>
              <a:rPr lang="bg-BG" sz="1000" dirty="0"/>
              <a:t>Разговорът приключва със </a:t>
            </a:r>
            <a:r>
              <a:rPr lang="bg-BG" sz="1000"/>
              <a:t>среща</a:t>
            </a:r>
            <a:endParaRPr lang="bg-BG" sz="1000" dirty="0"/>
          </a:p>
        </p:txBody>
      </p:sp>
      <p:cxnSp>
        <p:nvCxnSpPr>
          <p:cNvPr id="60" name="Connector: Elbow 59">
            <a:extLst>
              <a:ext uri="{FF2B5EF4-FFF2-40B4-BE49-F238E27FC236}">
                <a16:creationId xmlns:a16="http://schemas.microsoft.com/office/drawing/2014/main" id="{FBFF27DE-C2A6-F348-3ECD-578E8ECE75E4}"/>
              </a:ext>
            </a:extLst>
          </p:cNvPr>
          <p:cNvCxnSpPr>
            <a:cxnSpLocks/>
          </p:cNvCxnSpPr>
          <p:nvPr/>
        </p:nvCxnSpPr>
        <p:spPr>
          <a:xfrm flipV="1">
            <a:off x="12903427" y="3745598"/>
            <a:ext cx="370262" cy="3045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 name="Connector: Elbow 65">
            <a:extLst>
              <a:ext uri="{FF2B5EF4-FFF2-40B4-BE49-F238E27FC236}">
                <a16:creationId xmlns:a16="http://schemas.microsoft.com/office/drawing/2014/main" id="{80BA067E-86EE-C893-B76F-961ADEDED678}"/>
              </a:ext>
            </a:extLst>
          </p:cNvPr>
          <p:cNvCxnSpPr>
            <a:cxnSpLocks/>
          </p:cNvCxnSpPr>
          <p:nvPr/>
        </p:nvCxnSpPr>
        <p:spPr>
          <a:xfrm flipV="1">
            <a:off x="11379427" y="3699417"/>
            <a:ext cx="485717" cy="36527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68" name="Rectangle: Rounded Corners 67">
            <a:extLst>
              <a:ext uri="{FF2B5EF4-FFF2-40B4-BE49-F238E27FC236}">
                <a16:creationId xmlns:a16="http://schemas.microsoft.com/office/drawing/2014/main" id="{B40DA313-59BC-8FFD-F102-D8904796A317}"/>
              </a:ext>
            </a:extLst>
          </p:cNvPr>
          <p:cNvSpPr/>
          <p:nvPr/>
        </p:nvSpPr>
        <p:spPr>
          <a:xfrm>
            <a:off x="8856867" y="5448043"/>
            <a:ext cx="1122658" cy="486912"/>
          </a:xfrm>
          <a:prstGeom prst="roundRect">
            <a:avLst/>
          </a:prstGeom>
          <a:solidFill>
            <a:srgbClr val="4472C4"/>
          </a:solidFill>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p>
            <a:pPr algn="ctr"/>
            <a:r>
              <a:rPr lang="bg-BG" sz="1000"/>
              <a:t>Нека помисля!</a:t>
            </a:r>
            <a:endParaRPr lang="bg-BG" sz="1000" dirty="0"/>
          </a:p>
        </p:txBody>
      </p:sp>
      <p:sp>
        <p:nvSpPr>
          <p:cNvPr id="70" name="Rectangle: Rounded Corners 69">
            <a:extLst>
              <a:ext uri="{FF2B5EF4-FFF2-40B4-BE49-F238E27FC236}">
                <a16:creationId xmlns:a16="http://schemas.microsoft.com/office/drawing/2014/main" id="{CB7E8A06-5730-9EBC-40FD-5FDBAAD85642}"/>
              </a:ext>
            </a:extLst>
          </p:cNvPr>
          <p:cNvSpPr/>
          <p:nvPr/>
        </p:nvSpPr>
        <p:spPr>
          <a:xfrm>
            <a:off x="8855559" y="4636592"/>
            <a:ext cx="1122658" cy="486912"/>
          </a:xfrm>
          <a:prstGeom prst="roundRect">
            <a:avLst/>
          </a:prstGeom>
          <a:solidFill>
            <a:srgbClr val="4472C4"/>
          </a:solidFill>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p>
            <a:pPr algn="ctr"/>
            <a:r>
              <a:rPr lang="bg-BG" sz="1000"/>
              <a:t>Не, не искам </a:t>
            </a:r>
            <a:endParaRPr lang="bg-BG" sz="1000" dirty="0"/>
          </a:p>
        </p:txBody>
      </p:sp>
      <p:cxnSp>
        <p:nvCxnSpPr>
          <p:cNvPr id="72" name="Connector: Elbow 71">
            <a:extLst>
              <a:ext uri="{FF2B5EF4-FFF2-40B4-BE49-F238E27FC236}">
                <a16:creationId xmlns:a16="http://schemas.microsoft.com/office/drawing/2014/main" id="{76865485-AA5F-5FDD-504B-4736CA02372F}"/>
              </a:ext>
            </a:extLst>
          </p:cNvPr>
          <p:cNvCxnSpPr>
            <a:cxnSpLocks/>
          </p:cNvCxnSpPr>
          <p:nvPr/>
        </p:nvCxnSpPr>
        <p:spPr>
          <a:xfrm flipV="1">
            <a:off x="9741932" y="4871605"/>
            <a:ext cx="370262" cy="20298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74" name="Rectangle: Rounded Corners 73">
            <a:extLst>
              <a:ext uri="{FF2B5EF4-FFF2-40B4-BE49-F238E27FC236}">
                <a16:creationId xmlns:a16="http://schemas.microsoft.com/office/drawing/2014/main" id="{25D240A7-FF01-738C-5791-659760EFDFC9}"/>
              </a:ext>
            </a:extLst>
          </p:cNvPr>
          <p:cNvSpPr/>
          <p:nvPr/>
        </p:nvSpPr>
        <p:spPr>
          <a:xfrm>
            <a:off x="10157148" y="4524621"/>
            <a:ext cx="1292352" cy="795154"/>
          </a:xfrm>
          <a:prstGeom prst="roundRect">
            <a:avLst/>
          </a:prstGeom>
          <a:solidFill>
            <a:srgbClr val="4472C4"/>
          </a:solidFill>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p>
            <a:r>
              <a:rPr lang="bg-BG" sz="1000"/>
              <a:t>Ако изникне нужда от допълнително финансиране</a:t>
            </a:r>
            <a:endParaRPr lang="bg-BG" sz="1000">
              <a:solidFill>
                <a:srgbClr val="000000"/>
              </a:solidFill>
            </a:endParaRPr>
          </a:p>
          <a:p>
            <a:endParaRPr lang="bg-BG" sz="1000" dirty="0"/>
          </a:p>
        </p:txBody>
      </p:sp>
      <p:sp>
        <p:nvSpPr>
          <p:cNvPr id="76" name="Rectangle: Rounded Corners 75">
            <a:extLst>
              <a:ext uri="{FF2B5EF4-FFF2-40B4-BE49-F238E27FC236}">
                <a16:creationId xmlns:a16="http://schemas.microsoft.com/office/drawing/2014/main" id="{7610740E-84FE-CC4A-4D2C-CBF9C9202BB0}"/>
              </a:ext>
            </a:extLst>
          </p:cNvPr>
          <p:cNvSpPr/>
          <p:nvPr/>
        </p:nvSpPr>
        <p:spPr>
          <a:xfrm>
            <a:off x="11667203" y="4690832"/>
            <a:ext cx="1298017" cy="376033"/>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p>
            <a:r>
              <a:rPr lang="bg-BG" sz="1000"/>
              <a:t>Разговорът приключва </a:t>
            </a:r>
            <a:endParaRPr lang="en-US"/>
          </a:p>
        </p:txBody>
      </p:sp>
      <p:cxnSp>
        <p:nvCxnSpPr>
          <p:cNvPr id="78" name="Connector: Elbow 77">
            <a:extLst>
              <a:ext uri="{FF2B5EF4-FFF2-40B4-BE49-F238E27FC236}">
                <a16:creationId xmlns:a16="http://schemas.microsoft.com/office/drawing/2014/main" id="{DBAEEC26-62E3-4A65-5AB6-BAD99A310555}"/>
              </a:ext>
            </a:extLst>
          </p:cNvPr>
          <p:cNvCxnSpPr>
            <a:cxnSpLocks/>
          </p:cNvCxnSpPr>
          <p:nvPr/>
        </p:nvCxnSpPr>
        <p:spPr>
          <a:xfrm>
            <a:off x="11263098" y="4860885"/>
            <a:ext cx="370262" cy="7018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0" name="Connector: Elbow 79">
            <a:extLst>
              <a:ext uri="{FF2B5EF4-FFF2-40B4-BE49-F238E27FC236}">
                <a16:creationId xmlns:a16="http://schemas.microsoft.com/office/drawing/2014/main" id="{1D7A9E5A-9909-75D3-61EF-D326BB3768FF}"/>
              </a:ext>
            </a:extLst>
          </p:cNvPr>
          <p:cNvCxnSpPr>
            <a:cxnSpLocks/>
          </p:cNvCxnSpPr>
          <p:nvPr/>
        </p:nvCxnSpPr>
        <p:spPr>
          <a:xfrm>
            <a:off x="8438821" y="5128613"/>
            <a:ext cx="381807" cy="58864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82" name="Rectangle: Rounded Corners 81">
            <a:extLst>
              <a:ext uri="{FF2B5EF4-FFF2-40B4-BE49-F238E27FC236}">
                <a16:creationId xmlns:a16="http://schemas.microsoft.com/office/drawing/2014/main" id="{1BF71466-C6F2-DFFA-F822-3B4E78213C12}"/>
              </a:ext>
            </a:extLst>
          </p:cNvPr>
          <p:cNvSpPr/>
          <p:nvPr/>
        </p:nvSpPr>
        <p:spPr>
          <a:xfrm>
            <a:off x="10272602" y="5517530"/>
            <a:ext cx="1292352" cy="795154"/>
          </a:xfrm>
          <a:prstGeom prst="roundRect">
            <a:avLst/>
          </a:prstGeom>
          <a:solidFill>
            <a:srgbClr val="4472C4"/>
          </a:solidFill>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p>
            <a:r>
              <a:rPr lang="bg-BG" sz="1000"/>
              <a:t>Кога Ви е удобно?( отбелязва се ден и час)</a:t>
            </a:r>
            <a:endParaRPr lang="bg-BG" sz="1000" dirty="0"/>
          </a:p>
        </p:txBody>
      </p:sp>
      <p:sp>
        <p:nvSpPr>
          <p:cNvPr id="84" name="Rectangle: Rounded Corners 83">
            <a:extLst>
              <a:ext uri="{FF2B5EF4-FFF2-40B4-BE49-F238E27FC236}">
                <a16:creationId xmlns:a16="http://schemas.microsoft.com/office/drawing/2014/main" id="{67803A34-DB08-6882-01AD-D95334CEFB2F}"/>
              </a:ext>
            </a:extLst>
          </p:cNvPr>
          <p:cNvSpPr/>
          <p:nvPr/>
        </p:nvSpPr>
        <p:spPr>
          <a:xfrm>
            <a:off x="13248930" y="5741468"/>
            <a:ext cx="1298017" cy="376033"/>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p>
            <a:r>
              <a:rPr lang="bg-BG" sz="1000"/>
              <a:t>Разговорът приключва </a:t>
            </a:r>
            <a:endParaRPr lang="en-US"/>
          </a:p>
        </p:txBody>
      </p:sp>
      <p:cxnSp>
        <p:nvCxnSpPr>
          <p:cNvPr id="86" name="Connector: Elbow 85">
            <a:extLst>
              <a:ext uri="{FF2B5EF4-FFF2-40B4-BE49-F238E27FC236}">
                <a16:creationId xmlns:a16="http://schemas.microsoft.com/office/drawing/2014/main" id="{02675D06-22E3-5610-38A2-9B6494A69FCD}"/>
              </a:ext>
            </a:extLst>
          </p:cNvPr>
          <p:cNvCxnSpPr>
            <a:cxnSpLocks/>
          </p:cNvCxnSpPr>
          <p:nvPr/>
        </p:nvCxnSpPr>
        <p:spPr>
          <a:xfrm>
            <a:off x="11378552" y="5853794"/>
            <a:ext cx="370262" cy="7018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8" name="Connector: Elbow 87">
            <a:extLst>
              <a:ext uri="{FF2B5EF4-FFF2-40B4-BE49-F238E27FC236}">
                <a16:creationId xmlns:a16="http://schemas.microsoft.com/office/drawing/2014/main" id="{00273BEB-09DC-B46F-2FFC-47F8218F0AB7}"/>
              </a:ext>
            </a:extLst>
          </p:cNvPr>
          <p:cNvCxnSpPr>
            <a:cxnSpLocks/>
          </p:cNvCxnSpPr>
          <p:nvPr/>
        </p:nvCxnSpPr>
        <p:spPr>
          <a:xfrm>
            <a:off x="9743458" y="5671248"/>
            <a:ext cx="520352" cy="219189"/>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90" name="Rectangle: Rounded Corners 89">
            <a:extLst>
              <a:ext uri="{FF2B5EF4-FFF2-40B4-BE49-F238E27FC236}">
                <a16:creationId xmlns:a16="http://schemas.microsoft.com/office/drawing/2014/main" id="{4998432C-62F6-7F5A-DF39-ADD9B5B6A68E}"/>
              </a:ext>
            </a:extLst>
          </p:cNvPr>
          <p:cNvSpPr/>
          <p:nvPr/>
        </p:nvSpPr>
        <p:spPr>
          <a:xfrm>
            <a:off x="11773512" y="5517530"/>
            <a:ext cx="1292352" cy="795154"/>
          </a:xfrm>
          <a:prstGeom prst="roundRect">
            <a:avLst/>
          </a:prstGeom>
          <a:solidFill>
            <a:srgbClr val="4472C4"/>
          </a:solidFill>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p>
            <a:r>
              <a:rPr lang="bg-BG" sz="1000" dirty="0"/>
              <a:t>Очаквайте </a:t>
            </a:r>
            <a:r>
              <a:rPr lang="bg-BG" sz="1000"/>
              <a:t>обаждане от нас!</a:t>
            </a:r>
            <a:endParaRPr lang="en-US"/>
          </a:p>
        </p:txBody>
      </p:sp>
      <p:cxnSp>
        <p:nvCxnSpPr>
          <p:cNvPr id="92" name="Connector: Elbow 91">
            <a:extLst>
              <a:ext uri="{FF2B5EF4-FFF2-40B4-BE49-F238E27FC236}">
                <a16:creationId xmlns:a16="http://schemas.microsoft.com/office/drawing/2014/main" id="{3D4B1BCC-470D-660B-D13C-DA5BB90E25C9}"/>
              </a:ext>
            </a:extLst>
          </p:cNvPr>
          <p:cNvCxnSpPr>
            <a:cxnSpLocks/>
          </p:cNvCxnSpPr>
          <p:nvPr/>
        </p:nvCxnSpPr>
        <p:spPr>
          <a:xfrm>
            <a:off x="12313735" y="5715249"/>
            <a:ext cx="370262" cy="7018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3" name="Connector: Elbow 92">
            <a:extLst>
              <a:ext uri="{FF2B5EF4-FFF2-40B4-BE49-F238E27FC236}">
                <a16:creationId xmlns:a16="http://schemas.microsoft.com/office/drawing/2014/main" id="{BFAC7826-238C-106E-DD1E-643F0E635ACF}"/>
              </a:ext>
            </a:extLst>
          </p:cNvPr>
          <p:cNvCxnSpPr>
            <a:cxnSpLocks/>
          </p:cNvCxnSpPr>
          <p:nvPr/>
        </p:nvCxnSpPr>
        <p:spPr>
          <a:xfrm flipV="1">
            <a:off x="12868790" y="5927688"/>
            <a:ext cx="370262" cy="3045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Текстово поле 23">
            <a:extLst>
              <a:ext uri="{FF2B5EF4-FFF2-40B4-BE49-F238E27FC236}">
                <a16:creationId xmlns:a16="http://schemas.microsoft.com/office/drawing/2014/main" id="{64C5EADE-513D-D648-013B-A79A047A4C07}"/>
              </a:ext>
            </a:extLst>
          </p:cNvPr>
          <p:cNvSpPr txBox="1"/>
          <p:nvPr/>
        </p:nvSpPr>
        <p:spPr>
          <a:xfrm>
            <a:off x="3362960" y="6360160"/>
            <a:ext cx="6390640" cy="3487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bg-BG" sz="1600" i="1"/>
              <a:t>Съдържа сценарии от дървото, изпратено като документ</a:t>
            </a:r>
          </a:p>
        </p:txBody>
      </p:sp>
    </p:spTree>
    <p:extLst>
      <p:ext uri="{BB962C8B-B14F-4D97-AF65-F5344CB8AC3E}">
        <p14:creationId xmlns:p14="http://schemas.microsoft.com/office/powerpoint/2010/main" val="38866985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61872-0CAD-3005-7D65-576FDF65B654}"/>
            </a:ext>
          </a:extLst>
        </p:cNvPr>
        <p:cNvGrpSpPr/>
        <p:nvPr/>
      </p:nvGrpSpPr>
      <p:grpSpPr>
        <a:xfrm>
          <a:off x="0" y="0"/>
          <a:ext cx="0" cy="0"/>
          <a:chOff x="0" y="0"/>
          <a:chExt cx="0" cy="0"/>
        </a:xfrm>
      </p:grpSpPr>
      <p:sp>
        <p:nvSpPr>
          <p:cNvPr id="27" name="Rectangle 3">
            <a:extLst>
              <a:ext uri="{FF2B5EF4-FFF2-40B4-BE49-F238E27FC236}">
                <a16:creationId xmlns:a16="http://schemas.microsoft.com/office/drawing/2014/main" id="{C81D5DF9-6958-5898-676A-0DBD2C476142}"/>
              </a:ext>
            </a:extLst>
          </p:cNvPr>
          <p:cNvSpPr/>
          <p:nvPr/>
        </p:nvSpPr>
        <p:spPr>
          <a:xfrm>
            <a:off x="1443475" y="4245"/>
            <a:ext cx="5338363" cy="677242"/>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28" name="Rectangle 4">
            <a:extLst>
              <a:ext uri="{FF2B5EF4-FFF2-40B4-BE49-F238E27FC236}">
                <a16:creationId xmlns:a16="http://schemas.microsoft.com/office/drawing/2014/main" id="{6E5B5E78-CC16-A665-11BB-0A59D62A2CEE}"/>
              </a:ext>
            </a:extLst>
          </p:cNvPr>
          <p:cNvSpPr/>
          <p:nvPr/>
        </p:nvSpPr>
        <p:spPr>
          <a:xfrm>
            <a:off x="6788435" y="4245"/>
            <a:ext cx="5417300" cy="677242"/>
          </a:xfrm>
          <a:prstGeom prst="rect">
            <a:avLst/>
          </a:prstGeom>
          <a:solidFill>
            <a:schemeClr val="bg2">
              <a:lumMod val="75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29" name="Rectangle 28">
            <a:extLst>
              <a:ext uri="{FF2B5EF4-FFF2-40B4-BE49-F238E27FC236}">
                <a16:creationId xmlns:a16="http://schemas.microsoft.com/office/drawing/2014/main" id="{860499AA-7DA2-3B75-D4EB-FD88EC54EB67}"/>
              </a:ext>
            </a:extLst>
          </p:cNvPr>
          <p:cNvSpPr/>
          <p:nvPr/>
        </p:nvSpPr>
        <p:spPr>
          <a:xfrm>
            <a:off x="-1671" y="1599"/>
            <a:ext cx="1451167" cy="6866954"/>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200">
              <a:latin typeface="Aptos"/>
              <a:ea typeface="Calibri"/>
              <a:cs typeface="Calibri"/>
            </a:endParaRPr>
          </a:p>
        </p:txBody>
      </p:sp>
      <p:sp>
        <p:nvSpPr>
          <p:cNvPr id="30" name="Rectangle 29">
            <a:extLst>
              <a:ext uri="{FF2B5EF4-FFF2-40B4-BE49-F238E27FC236}">
                <a16:creationId xmlns:a16="http://schemas.microsoft.com/office/drawing/2014/main" id="{FD52AECA-7498-EC96-633B-433F0FC43C88}"/>
              </a:ext>
            </a:extLst>
          </p:cNvPr>
          <p:cNvSpPr/>
          <p:nvPr/>
        </p:nvSpPr>
        <p:spPr>
          <a:xfrm>
            <a:off x="-1671" y="2528038"/>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Типове клиенти</a:t>
            </a:r>
            <a:endParaRPr lang="en-GB" sz="1400">
              <a:latin typeface="Aptos"/>
              <a:ea typeface="Calibri"/>
              <a:cs typeface="Calibri"/>
            </a:endParaRPr>
          </a:p>
        </p:txBody>
      </p:sp>
      <p:sp>
        <p:nvSpPr>
          <p:cNvPr id="31" name="Rectangle 30">
            <a:extLst>
              <a:ext uri="{FF2B5EF4-FFF2-40B4-BE49-F238E27FC236}">
                <a16:creationId xmlns:a16="http://schemas.microsoft.com/office/drawing/2014/main" id="{0200961C-74F8-61B0-4A56-719A64286925}"/>
              </a:ext>
            </a:extLst>
          </p:cNvPr>
          <p:cNvSpPr/>
          <p:nvPr/>
        </p:nvSpPr>
        <p:spPr>
          <a:xfrm>
            <a:off x="8626" y="1913210"/>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b="1">
                <a:solidFill>
                  <a:srgbClr val="2F5597"/>
                </a:solidFill>
                <a:latin typeface="Aptos"/>
                <a:ea typeface="Calibri"/>
                <a:cs typeface="Calibri"/>
              </a:rPr>
              <a:t>Сценарии</a:t>
            </a:r>
            <a:endParaRPr lang="en-GB" sz="1400" b="1">
              <a:solidFill>
                <a:srgbClr val="2F5597"/>
              </a:solidFill>
              <a:latin typeface="Aptos"/>
              <a:ea typeface="Calibri"/>
              <a:cs typeface="Calibri"/>
            </a:endParaRPr>
          </a:p>
        </p:txBody>
      </p:sp>
      <p:sp>
        <p:nvSpPr>
          <p:cNvPr id="32" name="Rectangle 31">
            <a:extLst>
              <a:ext uri="{FF2B5EF4-FFF2-40B4-BE49-F238E27FC236}">
                <a16:creationId xmlns:a16="http://schemas.microsoft.com/office/drawing/2014/main" id="{082841C2-ABCA-EC27-698A-E9309604A605}"/>
              </a:ext>
            </a:extLst>
          </p:cNvPr>
          <p:cNvSpPr/>
          <p:nvPr/>
        </p:nvSpPr>
        <p:spPr>
          <a:xfrm>
            <a:off x="-1671" y="1298382"/>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a:solidFill>
                  <a:schemeClr val="bg1"/>
                </a:solidFill>
                <a:latin typeface="Aptos"/>
                <a:ea typeface="Calibri"/>
                <a:cs typeface="Calibri"/>
              </a:rPr>
              <a:t>Стъпки в обаждането</a:t>
            </a:r>
            <a:endParaRPr lang="bg-BG" sz="1400">
              <a:solidFill>
                <a:srgbClr val="000000"/>
              </a:solidFill>
              <a:latin typeface="Aptos"/>
              <a:ea typeface="Calibri"/>
              <a:cs typeface="Calibri"/>
            </a:endParaRPr>
          </a:p>
        </p:txBody>
      </p:sp>
      <p:sp>
        <p:nvSpPr>
          <p:cNvPr id="33" name="Rectangle 28">
            <a:extLst>
              <a:ext uri="{FF2B5EF4-FFF2-40B4-BE49-F238E27FC236}">
                <a16:creationId xmlns:a16="http://schemas.microsoft.com/office/drawing/2014/main" id="{98551D9F-6846-B642-ABB8-DA760C057CFE}"/>
              </a:ext>
            </a:extLst>
          </p:cNvPr>
          <p:cNvSpPr/>
          <p:nvPr/>
        </p:nvSpPr>
        <p:spPr>
          <a:xfrm>
            <a:off x="6154" y="690328"/>
            <a:ext cx="1435083"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a:solidFill>
                  <a:schemeClr val="bg1"/>
                </a:solidFill>
                <a:latin typeface="Aptos"/>
                <a:ea typeface="Calibri"/>
                <a:cs typeface="Calibri"/>
              </a:rPr>
              <a:t>Подготовка</a:t>
            </a:r>
            <a:endParaRPr lang="en-GB" sz="1400">
              <a:solidFill>
                <a:schemeClr val="bg1"/>
              </a:solidFill>
              <a:latin typeface="Aptos"/>
              <a:ea typeface="Calibri"/>
              <a:cs typeface="Calibri"/>
            </a:endParaRPr>
          </a:p>
        </p:txBody>
      </p:sp>
      <p:pic>
        <p:nvPicPr>
          <p:cNvPr id="35" name="Picture 34">
            <a:extLst>
              <a:ext uri="{FF2B5EF4-FFF2-40B4-BE49-F238E27FC236}">
                <a16:creationId xmlns:a16="http://schemas.microsoft.com/office/drawing/2014/main" id="{CBFDAA85-FFD0-DB25-9625-44DEEF5307F9}"/>
              </a:ext>
            </a:extLst>
          </p:cNvPr>
          <p:cNvPicPr>
            <a:picLocks noChangeAspect="1"/>
          </p:cNvPicPr>
          <p:nvPr/>
        </p:nvPicPr>
        <p:blipFill>
          <a:blip r:embed="rId2"/>
          <a:stretch>
            <a:fillRect/>
          </a:stretch>
        </p:blipFill>
        <p:spPr>
          <a:xfrm>
            <a:off x="11122828" y="5851667"/>
            <a:ext cx="982751" cy="995681"/>
          </a:xfrm>
          <a:prstGeom prst="rect">
            <a:avLst/>
          </a:prstGeom>
        </p:spPr>
      </p:pic>
      <p:sp>
        <p:nvSpPr>
          <p:cNvPr id="3" name="Овал 2">
            <a:extLst>
              <a:ext uri="{FF2B5EF4-FFF2-40B4-BE49-F238E27FC236}">
                <a16:creationId xmlns:a16="http://schemas.microsoft.com/office/drawing/2014/main" id="{8A90466D-08E1-E50B-D000-ADCF500674BF}"/>
              </a:ext>
            </a:extLst>
          </p:cNvPr>
          <p:cNvSpPr/>
          <p:nvPr/>
        </p:nvSpPr>
        <p:spPr>
          <a:xfrm>
            <a:off x="16277461" y="1430065"/>
            <a:ext cx="177402" cy="159446"/>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37" name="Правоъгълник: със заоблени ъгли 16">
            <a:extLst>
              <a:ext uri="{FF2B5EF4-FFF2-40B4-BE49-F238E27FC236}">
                <a16:creationId xmlns:a16="http://schemas.microsoft.com/office/drawing/2014/main" id="{14ECEE1E-BFA0-A7B7-E248-9D3BA15296CD}"/>
              </a:ext>
            </a:extLst>
          </p:cNvPr>
          <p:cNvSpPr/>
          <p:nvPr/>
        </p:nvSpPr>
        <p:spPr>
          <a:xfrm>
            <a:off x="6887443" y="5545908"/>
            <a:ext cx="2744630" cy="590809"/>
          </a:xfrm>
          <a:prstGeom prst="roundRect">
            <a:avLst>
              <a:gd name="adj" fmla="val 50000"/>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bg-BG" sz="1200"/>
              <a:t>Тренирай</a:t>
            </a:r>
          </a:p>
        </p:txBody>
      </p:sp>
      <p:sp>
        <p:nvSpPr>
          <p:cNvPr id="39" name="Rectangle: Rounded Corners 1">
            <a:extLst>
              <a:ext uri="{FF2B5EF4-FFF2-40B4-BE49-F238E27FC236}">
                <a16:creationId xmlns:a16="http://schemas.microsoft.com/office/drawing/2014/main" id="{F997D3AF-106D-5A77-1E51-0635D3174467}"/>
              </a:ext>
            </a:extLst>
          </p:cNvPr>
          <p:cNvSpPr/>
          <p:nvPr/>
        </p:nvSpPr>
        <p:spPr>
          <a:xfrm>
            <a:off x="5328806" y="3803315"/>
            <a:ext cx="2746843" cy="520853"/>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200"/>
              <a:t>Харесва ми!</a:t>
            </a:r>
          </a:p>
        </p:txBody>
      </p:sp>
      <p:sp>
        <p:nvSpPr>
          <p:cNvPr id="41" name="Rectangle: Rounded Corners 4">
            <a:extLst>
              <a:ext uri="{FF2B5EF4-FFF2-40B4-BE49-F238E27FC236}">
                <a16:creationId xmlns:a16="http://schemas.microsoft.com/office/drawing/2014/main" id="{310245B6-521C-1833-12AE-8269371CBA86}"/>
              </a:ext>
            </a:extLst>
          </p:cNvPr>
          <p:cNvSpPr/>
          <p:nvPr/>
        </p:nvSpPr>
        <p:spPr>
          <a:xfrm>
            <a:off x="5327477" y="4380931"/>
            <a:ext cx="2746843" cy="493958"/>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200">
                <a:ea typeface="+mn-lt"/>
                <a:cs typeface="+mn-lt"/>
              </a:rPr>
              <a:t>Нямам нужда</a:t>
            </a:r>
            <a:endParaRPr lang="bg-BG"/>
          </a:p>
        </p:txBody>
      </p:sp>
      <p:sp>
        <p:nvSpPr>
          <p:cNvPr id="43" name="Rectangle: Rounded Corners 4">
            <a:extLst>
              <a:ext uri="{FF2B5EF4-FFF2-40B4-BE49-F238E27FC236}">
                <a16:creationId xmlns:a16="http://schemas.microsoft.com/office/drawing/2014/main" id="{5A47540E-0B9B-B4DD-CE92-AE4BE8847573}"/>
              </a:ext>
            </a:extLst>
          </p:cNvPr>
          <p:cNvSpPr/>
          <p:nvPr/>
        </p:nvSpPr>
        <p:spPr>
          <a:xfrm>
            <a:off x="8352386" y="3777036"/>
            <a:ext cx="2746843" cy="493958"/>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200">
                <a:ea typeface="+mn-lt"/>
                <a:cs typeface="+mn-lt"/>
              </a:rPr>
              <a:t>Вече имам кредит другаде</a:t>
            </a:r>
            <a:endParaRPr lang="bg-BG"/>
          </a:p>
        </p:txBody>
      </p:sp>
      <p:sp>
        <p:nvSpPr>
          <p:cNvPr id="45" name="Rectangle: Rounded Corners 4">
            <a:extLst>
              <a:ext uri="{FF2B5EF4-FFF2-40B4-BE49-F238E27FC236}">
                <a16:creationId xmlns:a16="http://schemas.microsoft.com/office/drawing/2014/main" id="{DF883BCD-A634-FDEC-3D18-666E79A06D4F}"/>
              </a:ext>
            </a:extLst>
          </p:cNvPr>
          <p:cNvSpPr/>
          <p:nvPr/>
        </p:nvSpPr>
        <p:spPr>
          <a:xfrm>
            <a:off x="8352386" y="4332847"/>
            <a:ext cx="2746843" cy="493958"/>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200">
                <a:ea typeface="+mn-lt"/>
                <a:cs typeface="+mn-lt"/>
              </a:rPr>
              <a:t>Не искам, защото са Ви високи лихвите!</a:t>
            </a:r>
            <a:endParaRPr lang="bg-BG">
              <a:ea typeface="+mn-lt"/>
              <a:cs typeface="+mn-lt"/>
            </a:endParaRPr>
          </a:p>
        </p:txBody>
      </p:sp>
      <p:sp>
        <p:nvSpPr>
          <p:cNvPr id="52" name="Rectangle: Rounded Corners 4">
            <a:extLst>
              <a:ext uri="{FF2B5EF4-FFF2-40B4-BE49-F238E27FC236}">
                <a16:creationId xmlns:a16="http://schemas.microsoft.com/office/drawing/2014/main" id="{AF90DFF6-8C1C-5765-F0FB-99E7CACB9F61}"/>
              </a:ext>
            </a:extLst>
          </p:cNvPr>
          <p:cNvSpPr/>
          <p:nvPr/>
        </p:nvSpPr>
        <p:spPr>
          <a:xfrm>
            <a:off x="6874568" y="4971079"/>
            <a:ext cx="2746843" cy="493958"/>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200">
                <a:ea typeface="+mn-lt"/>
                <a:cs typeface="+mn-lt"/>
              </a:rPr>
              <a:t>Искам да се посъветвам със семейството си.</a:t>
            </a:r>
            <a:endParaRPr lang="bg-BG"/>
          </a:p>
        </p:txBody>
      </p:sp>
      <p:sp>
        <p:nvSpPr>
          <p:cNvPr id="5" name="Правоъгълник: със заоблени ъгли 37">
            <a:extLst>
              <a:ext uri="{FF2B5EF4-FFF2-40B4-BE49-F238E27FC236}">
                <a16:creationId xmlns:a16="http://schemas.microsoft.com/office/drawing/2014/main" id="{EEA81797-5FB1-1371-52D2-027C66B35900}"/>
              </a:ext>
            </a:extLst>
          </p:cNvPr>
          <p:cNvSpPr/>
          <p:nvPr/>
        </p:nvSpPr>
        <p:spPr>
          <a:xfrm>
            <a:off x="5267705" y="1058208"/>
            <a:ext cx="4325063" cy="65453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bg-BG" sz="1600" b="1">
                <a:solidFill>
                  <a:srgbClr val="1F3864"/>
                </a:solidFill>
              </a:rPr>
              <a:t>1.Отваряне и Предложение</a:t>
            </a:r>
          </a:p>
        </p:txBody>
      </p:sp>
      <p:sp>
        <p:nvSpPr>
          <p:cNvPr id="7" name="Правоъгълник: със заоблени ъгли 41">
            <a:extLst>
              <a:ext uri="{FF2B5EF4-FFF2-40B4-BE49-F238E27FC236}">
                <a16:creationId xmlns:a16="http://schemas.microsoft.com/office/drawing/2014/main" id="{CECEB19D-8FCA-BB6E-7C7C-CBB04CBEFEB3}"/>
              </a:ext>
            </a:extLst>
          </p:cNvPr>
          <p:cNvSpPr/>
          <p:nvPr/>
        </p:nvSpPr>
        <p:spPr>
          <a:xfrm>
            <a:off x="5301961" y="3278527"/>
            <a:ext cx="4333237" cy="474146"/>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bg-BG" sz="1600" b="1">
                <a:solidFill>
                  <a:schemeClr val="accent1">
                    <a:lumMod val="49000"/>
                  </a:schemeClr>
                </a:solidFill>
              </a:rPr>
              <a:t>2. Възражение и отговор</a:t>
            </a:r>
          </a:p>
        </p:txBody>
      </p:sp>
      <p:sp>
        <p:nvSpPr>
          <p:cNvPr id="15" name="TextBox 14">
            <a:extLst>
              <a:ext uri="{FF2B5EF4-FFF2-40B4-BE49-F238E27FC236}">
                <a16:creationId xmlns:a16="http://schemas.microsoft.com/office/drawing/2014/main" id="{65A68A51-92E7-AA6A-78E2-8DC451BF3561}"/>
              </a:ext>
            </a:extLst>
          </p:cNvPr>
          <p:cNvSpPr txBox="1"/>
          <p:nvPr/>
        </p:nvSpPr>
        <p:spPr>
          <a:xfrm>
            <a:off x="5376312" y="1578758"/>
            <a:ext cx="6443040"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a:ea typeface="+mn-lt"/>
                <a:cs typeface="+mn-lt"/>
              </a:rPr>
              <a:t>-</a:t>
            </a:r>
            <a:r>
              <a:rPr lang="en-US" sz="1400">
                <a:ea typeface="+mn-lt"/>
                <a:cs typeface="+mn-lt"/>
              </a:rPr>
              <a:t>Добър ден, търся г-н/г-жа (две </a:t>
            </a:r>
            <a:r>
              <a:rPr lang="en-US" sz="1400" err="1">
                <a:ea typeface="+mn-lt"/>
                <a:cs typeface="+mn-lt"/>
              </a:rPr>
              <a:t>имена</a:t>
            </a:r>
            <a:r>
              <a:rPr lang="en-US" sz="1400">
                <a:ea typeface="+mn-lt"/>
                <a:cs typeface="+mn-lt"/>
              </a:rPr>
              <a:t> </a:t>
            </a:r>
            <a:r>
              <a:rPr lang="en-US" sz="1400" err="1">
                <a:ea typeface="+mn-lt"/>
                <a:cs typeface="+mn-lt"/>
              </a:rPr>
              <a:t>на</a:t>
            </a:r>
            <a:r>
              <a:rPr lang="en-US" sz="1400">
                <a:ea typeface="+mn-lt"/>
                <a:cs typeface="+mn-lt"/>
              </a:rPr>
              <a:t> </a:t>
            </a:r>
            <a:r>
              <a:rPr lang="en-US" sz="1400" err="1">
                <a:ea typeface="+mn-lt"/>
                <a:cs typeface="+mn-lt"/>
              </a:rPr>
              <a:t>клиента</a:t>
            </a:r>
            <a:r>
              <a:rPr lang="en-US" sz="1400">
                <a:ea typeface="+mn-lt"/>
                <a:cs typeface="+mn-lt"/>
              </a:rPr>
              <a:t>).</a:t>
            </a:r>
            <a:br>
              <a:rPr lang="en-US" sz="1400">
                <a:ea typeface="+mn-lt"/>
                <a:cs typeface="+mn-lt"/>
              </a:rPr>
            </a:br>
            <a:r>
              <a:rPr lang="en-US" sz="1400">
                <a:ea typeface="+mn-lt"/>
                <a:cs typeface="+mn-lt"/>
              </a:rPr>
              <a:t> </a:t>
            </a:r>
            <a:r>
              <a:rPr lang="en-US" sz="1400" b="1">
                <a:ea typeface="+mn-lt"/>
                <a:cs typeface="+mn-lt"/>
              </a:rPr>
              <a:t>-</a:t>
            </a:r>
            <a:r>
              <a:rPr lang="en-US" sz="1400" err="1">
                <a:ea typeface="+mn-lt"/>
                <a:cs typeface="+mn-lt"/>
              </a:rPr>
              <a:t>Да</a:t>
            </a:r>
            <a:r>
              <a:rPr lang="en-US" sz="1400">
                <a:ea typeface="+mn-lt"/>
                <a:cs typeface="+mn-lt"/>
              </a:rPr>
              <a:t> (</a:t>
            </a:r>
            <a:r>
              <a:rPr lang="en-US" sz="1400" err="1">
                <a:ea typeface="+mn-lt"/>
                <a:cs typeface="+mn-lt"/>
              </a:rPr>
              <a:t>на</a:t>
            </a:r>
            <a:r>
              <a:rPr lang="en-US" sz="1400">
                <a:ea typeface="+mn-lt"/>
                <a:cs typeface="+mn-lt"/>
              </a:rPr>
              <a:t> </a:t>
            </a:r>
            <a:r>
              <a:rPr lang="en-US" sz="1400" err="1">
                <a:ea typeface="+mn-lt"/>
                <a:cs typeface="+mn-lt"/>
              </a:rPr>
              <a:t>телефона</a:t>
            </a:r>
            <a:r>
              <a:rPr lang="en-US" sz="1400">
                <a:ea typeface="+mn-lt"/>
                <a:cs typeface="+mn-lt"/>
              </a:rPr>
              <a:t>, </a:t>
            </a:r>
            <a:r>
              <a:rPr lang="en-US" sz="1400" err="1">
                <a:ea typeface="+mn-lt"/>
                <a:cs typeface="+mn-lt"/>
              </a:rPr>
              <a:t>аз</a:t>
            </a:r>
            <a:r>
              <a:rPr lang="en-US" sz="1400">
                <a:ea typeface="+mn-lt"/>
                <a:cs typeface="+mn-lt"/>
              </a:rPr>
              <a:t> </a:t>
            </a:r>
            <a:r>
              <a:rPr lang="en-US" sz="1400" err="1">
                <a:ea typeface="+mn-lt"/>
                <a:cs typeface="+mn-lt"/>
              </a:rPr>
              <a:t>съм</a:t>
            </a:r>
            <a:r>
              <a:rPr lang="en-US" sz="1400">
                <a:ea typeface="+mn-lt"/>
                <a:cs typeface="+mn-lt"/>
              </a:rPr>
              <a:t>).</a:t>
            </a:r>
            <a:br>
              <a:rPr lang="en-US" sz="1400">
                <a:ea typeface="+mn-lt"/>
                <a:cs typeface="+mn-lt"/>
              </a:rPr>
            </a:br>
            <a:r>
              <a:rPr lang="en-US" sz="1400">
                <a:ea typeface="+mn-lt"/>
                <a:cs typeface="+mn-lt"/>
              </a:rPr>
              <a:t> </a:t>
            </a:r>
            <a:r>
              <a:rPr lang="en-US" sz="1400" b="1">
                <a:ea typeface="+mn-lt"/>
                <a:cs typeface="+mn-lt"/>
              </a:rPr>
              <a:t>-</a:t>
            </a:r>
            <a:r>
              <a:rPr lang="en-US" sz="1400" err="1">
                <a:ea typeface="+mn-lt"/>
                <a:cs typeface="+mn-lt"/>
              </a:rPr>
              <a:t>Здравейте</a:t>
            </a:r>
            <a:r>
              <a:rPr lang="en-US" sz="1400">
                <a:ea typeface="+mn-lt"/>
                <a:cs typeface="+mn-lt"/>
              </a:rPr>
              <a:t> г-н/г-</a:t>
            </a:r>
            <a:r>
              <a:rPr lang="en-US" sz="1400" err="1">
                <a:ea typeface="+mn-lt"/>
                <a:cs typeface="+mn-lt"/>
              </a:rPr>
              <a:t>жо</a:t>
            </a:r>
            <a:r>
              <a:rPr lang="en-US" sz="1400">
                <a:ea typeface="+mn-lt"/>
                <a:cs typeface="+mn-lt"/>
              </a:rPr>
              <a:t> (</a:t>
            </a:r>
            <a:r>
              <a:rPr lang="en-US" sz="1400" err="1">
                <a:ea typeface="+mn-lt"/>
                <a:cs typeface="+mn-lt"/>
              </a:rPr>
              <a:t>фамилия</a:t>
            </a:r>
            <a:r>
              <a:rPr lang="en-US" sz="1400">
                <a:ea typeface="+mn-lt"/>
                <a:cs typeface="+mn-lt"/>
              </a:rPr>
              <a:t> </a:t>
            </a:r>
            <a:r>
              <a:rPr lang="en-US" sz="1400" err="1">
                <a:ea typeface="+mn-lt"/>
                <a:cs typeface="+mn-lt"/>
              </a:rPr>
              <a:t>на</a:t>
            </a:r>
            <a:r>
              <a:rPr lang="en-US" sz="1400">
                <a:ea typeface="+mn-lt"/>
                <a:cs typeface="+mn-lt"/>
              </a:rPr>
              <a:t> </a:t>
            </a:r>
            <a:r>
              <a:rPr lang="en-US" sz="1400" err="1">
                <a:ea typeface="+mn-lt"/>
                <a:cs typeface="+mn-lt"/>
              </a:rPr>
              <a:t>клиента</a:t>
            </a:r>
            <a:r>
              <a:rPr lang="en-US" sz="1400">
                <a:ea typeface="+mn-lt"/>
                <a:cs typeface="+mn-lt"/>
              </a:rPr>
              <a:t>), </a:t>
            </a:r>
            <a:r>
              <a:rPr lang="en-US" sz="1400" err="1">
                <a:ea typeface="+mn-lt"/>
                <a:cs typeface="+mn-lt"/>
              </a:rPr>
              <a:t>обаждам</a:t>
            </a:r>
            <a:r>
              <a:rPr lang="en-US" sz="1400">
                <a:ea typeface="+mn-lt"/>
                <a:cs typeface="+mn-lt"/>
              </a:rPr>
              <a:t> </a:t>
            </a:r>
            <a:r>
              <a:rPr lang="en-US" sz="1400" err="1">
                <a:ea typeface="+mn-lt"/>
                <a:cs typeface="+mn-lt"/>
              </a:rPr>
              <a:t>се</a:t>
            </a:r>
            <a:r>
              <a:rPr lang="en-US" sz="1400">
                <a:ea typeface="+mn-lt"/>
                <a:cs typeface="+mn-lt"/>
              </a:rPr>
              <a:t> </a:t>
            </a:r>
            <a:r>
              <a:rPr lang="en-US" sz="1400" err="1">
                <a:ea typeface="+mn-lt"/>
                <a:cs typeface="+mn-lt"/>
              </a:rPr>
              <a:t>от</a:t>
            </a:r>
            <a:r>
              <a:rPr lang="en-US" sz="1400">
                <a:ea typeface="+mn-lt"/>
                <a:cs typeface="+mn-lt"/>
              </a:rPr>
              <a:t> </a:t>
            </a:r>
            <a:r>
              <a:rPr lang="en-US" sz="1400" err="1">
                <a:ea typeface="+mn-lt"/>
                <a:cs typeface="+mn-lt"/>
              </a:rPr>
              <a:t>Изи</a:t>
            </a:r>
            <a:r>
              <a:rPr lang="en-US" sz="1400">
                <a:ea typeface="+mn-lt"/>
                <a:cs typeface="+mn-lt"/>
              </a:rPr>
              <a:t> </a:t>
            </a:r>
            <a:r>
              <a:rPr lang="en-US" sz="1400" err="1">
                <a:ea typeface="+mn-lt"/>
                <a:cs typeface="+mn-lt"/>
              </a:rPr>
              <a:t>Кредит</a:t>
            </a:r>
            <a:r>
              <a:rPr lang="en-US" sz="1400">
                <a:ea typeface="+mn-lt"/>
                <a:cs typeface="+mn-lt"/>
              </a:rPr>
              <a:t> </a:t>
            </a:r>
            <a:r>
              <a:rPr lang="en-US" sz="1400" err="1">
                <a:ea typeface="+mn-lt"/>
                <a:cs typeface="+mn-lt"/>
              </a:rPr>
              <a:t>във</a:t>
            </a:r>
            <a:r>
              <a:rPr lang="en-US" sz="1400">
                <a:ea typeface="+mn-lt"/>
                <a:cs typeface="+mn-lt"/>
              </a:rPr>
              <a:t> </a:t>
            </a:r>
            <a:r>
              <a:rPr lang="en-US" sz="1400" err="1">
                <a:ea typeface="+mn-lt"/>
                <a:cs typeface="+mn-lt"/>
              </a:rPr>
              <a:t>връзка</a:t>
            </a:r>
            <a:r>
              <a:rPr lang="en-US" sz="1400">
                <a:ea typeface="+mn-lt"/>
                <a:cs typeface="+mn-lt"/>
              </a:rPr>
              <a:t> с </a:t>
            </a:r>
            <a:r>
              <a:rPr lang="en-US" sz="1400" err="1">
                <a:ea typeface="+mn-lt"/>
                <a:cs typeface="+mn-lt"/>
              </a:rPr>
              <a:t>изготвено</a:t>
            </a:r>
            <a:r>
              <a:rPr lang="en-US" sz="1400">
                <a:ea typeface="+mn-lt"/>
                <a:cs typeface="+mn-lt"/>
              </a:rPr>
              <a:t> </a:t>
            </a:r>
            <a:r>
              <a:rPr lang="en-US" sz="1400" err="1">
                <a:ea typeface="+mn-lt"/>
                <a:cs typeface="+mn-lt"/>
              </a:rPr>
              <a:t>предложение</a:t>
            </a:r>
            <a:r>
              <a:rPr lang="en-US" sz="1400">
                <a:ea typeface="+mn-lt"/>
                <a:cs typeface="+mn-lt"/>
              </a:rPr>
              <a:t>, </a:t>
            </a:r>
            <a:r>
              <a:rPr lang="en-US" sz="1400" err="1">
                <a:ea typeface="+mn-lt"/>
                <a:cs typeface="+mn-lt"/>
              </a:rPr>
              <a:t>специално</a:t>
            </a:r>
            <a:r>
              <a:rPr lang="en-US" sz="1400">
                <a:ea typeface="+mn-lt"/>
                <a:cs typeface="+mn-lt"/>
              </a:rPr>
              <a:t> </a:t>
            </a:r>
            <a:r>
              <a:rPr lang="en-US" sz="1400" err="1">
                <a:ea typeface="+mn-lt"/>
                <a:cs typeface="+mn-lt"/>
              </a:rPr>
              <a:t>за</a:t>
            </a:r>
            <a:r>
              <a:rPr lang="en-US" sz="1400">
                <a:ea typeface="+mn-lt"/>
                <a:cs typeface="+mn-lt"/>
              </a:rPr>
              <a:t> </a:t>
            </a:r>
            <a:r>
              <a:rPr lang="en-US" sz="1400" err="1">
                <a:ea typeface="+mn-lt"/>
                <a:cs typeface="+mn-lt"/>
              </a:rPr>
              <a:t>Вас</a:t>
            </a:r>
            <a:r>
              <a:rPr lang="en-US" sz="1400">
                <a:ea typeface="+mn-lt"/>
                <a:cs typeface="+mn-lt"/>
              </a:rPr>
              <a:t>. </a:t>
            </a:r>
            <a:r>
              <a:rPr lang="en-US" sz="1400" err="1">
                <a:ea typeface="+mn-lt"/>
                <a:cs typeface="+mn-lt"/>
              </a:rPr>
              <a:t>Удобно</a:t>
            </a:r>
            <a:r>
              <a:rPr lang="en-US" sz="1400">
                <a:ea typeface="+mn-lt"/>
                <a:cs typeface="+mn-lt"/>
              </a:rPr>
              <a:t> </a:t>
            </a:r>
            <a:r>
              <a:rPr lang="en-US" sz="1400" err="1">
                <a:ea typeface="+mn-lt"/>
                <a:cs typeface="+mn-lt"/>
              </a:rPr>
              <a:t>ли</a:t>
            </a:r>
            <a:r>
              <a:rPr lang="en-US" sz="1400">
                <a:ea typeface="+mn-lt"/>
                <a:cs typeface="+mn-lt"/>
              </a:rPr>
              <a:t> е </a:t>
            </a:r>
            <a:r>
              <a:rPr lang="en-US" sz="1400" err="1">
                <a:ea typeface="+mn-lt"/>
                <a:cs typeface="+mn-lt"/>
              </a:rPr>
              <a:t>да</a:t>
            </a:r>
            <a:r>
              <a:rPr lang="en-US" sz="1400">
                <a:ea typeface="+mn-lt"/>
                <a:cs typeface="+mn-lt"/>
              </a:rPr>
              <a:t> </a:t>
            </a:r>
            <a:r>
              <a:rPr lang="en-US" sz="1400" err="1">
                <a:ea typeface="+mn-lt"/>
                <a:cs typeface="+mn-lt"/>
              </a:rPr>
              <a:t>ми</a:t>
            </a:r>
            <a:r>
              <a:rPr lang="en-US" sz="1400">
                <a:ea typeface="+mn-lt"/>
                <a:cs typeface="+mn-lt"/>
              </a:rPr>
              <a:t> </a:t>
            </a:r>
            <a:r>
              <a:rPr lang="en-US" sz="1400" err="1">
                <a:ea typeface="+mn-lt"/>
                <a:cs typeface="+mn-lt"/>
              </a:rPr>
              <a:t>отделите</a:t>
            </a:r>
            <a:r>
              <a:rPr lang="en-US" sz="1400">
                <a:ea typeface="+mn-lt"/>
                <a:cs typeface="+mn-lt"/>
              </a:rPr>
              <a:t> </a:t>
            </a:r>
            <a:r>
              <a:rPr lang="en-US" sz="1400" err="1">
                <a:ea typeface="+mn-lt"/>
                <a:cs typeface="+mn-lt"/>
              </a:rPr>
              <a:t>една</a:t>
            </a:r>
            <a:r>
              <a:rPr lang="en-US" sz="1400">
                <a:ea typeface="+mn-lt"/>
                <a:cs typeface="+mn-lt"/>
              </a:rPr>
              <a:t>, </a:t>
            </a:r>
            <a:r>
              <a:rPr lang="en-US" sz="1400" err="1">
                <a:ea typeface="+mn-lt"/>
                <a:cs typeface="+mn-lt"/>
              </a:rPr>
              <a:t>две</a:t>
            </a:r>
            <a:r>
              <a:rPr lang="en-US" sz="1400">
                <a:ea typeface="+mn-lt"/>
                <a:cs typeface="+mn-lt"/>
              </a:rPr>
              <a:t> </a:t>
            </a:r>
            <a:r>
              <a:rPr lang="en-US" sz="1400" err="1">
                <a:ea typeface="+mn-lt"/>
                <a:cs typeface="+mn-lt"/>
              </a:rPr>
              <a:t>минути</a:t>
            </a:r>
            <a:r>
              <a:rPr lang="en-US" sz="1400">
                <a:ea typeface="+mn-lt"/>
                <a:cs typeface="+mn-lt"/>
              </a:rPr>
              <a:t>, </a:t>
            </a:r>
            <a:r>
              <a:rPr lang="en-US" sz="1400" err="1">
                <a:ea typeface="+mn-lt"/>
                <a:cs typeface="+mn-lt"/>
              </a:rPr>
              <a:t>за</a:t>
            </a:r>
            <a:r>
              <a:rPr lang="en-US" sz="1400">
                <a:ea typeface="+mn-lt"/>
                <a:cs typeface="+mn-lt"/>
              </a:rPr>
              <a:t> </a:t>
            </a:r>
            <a:r>
              <a:rPr lang="en-US" sz="1400" err="1">
                <a:ea typeface="+mn-lt"/>
                <a:cs typeface="+mn-lt"/>
              </a:rPr>
              <a:t>да</a:t>
            </a:r>
            <a:r>
              <a:rPr lang="en-US" sz="1400">
                <a:ea typeface="+mn-lt"/>
                <a:cs typeface="+mn-lt"/>
              </a:rPr>
              <a:t> </a:t>
            </a:r>
            <a:r>
              <a:rPr lang="en-US" sz="1400" err="1">
                <a:ea typeface="+mn-lt"/>
                <a:cs typeface="+mn-lt"/>
              </a:rPr>
              <a:t>Ви</a:t>
            </a:r>
            <a:r>
              <a:rPr lang="en-US" sz="1400">
                <a:ea typeface="+mn-lt"/>
                <a:cs typeface="+mn-lt"/>
              </a:rPr>
              <a:t> </a:t>
            </a:r>
            <a:r>
              <a:rPr lang="en-US" sz="1400" err="1">
                <a:ea typeface="+mn-lt"/>
                <a:cs typeface="+mn-lt"/>
              </a:rPr>
              <a:t>запозная</a:t>
            </a:r>
            <a:r>
              <a:rPr lang="en-US" sz="1400">
                <a:ea typeface="+mn-lt"/>
                <a:cs typeface="+mn-lt"/>
              </a:rPr>
              <a:t>? </a:t>
            </a:r>
            <a:br>
              <a:rPr lang="en-US" sz="1400">
                <a:ea typeface="+mn-lt"/>
                <a:cs typeface="+mn-lt"/>
              </a:rPr>
            </a:br>
            <a:r>
              <a:rPr lang="en-US" sz="1400">
                <a:ea typeface="+mn-lt"/>
                <a:cs typeface="+mn-lt"/>
              </a:rPr>
              <a:t>-</a:t>
            </a:r>
            <a:r>
              <a:rPr lang="en-US" sz="1400" err="1">
                <a:ea typeface="+mn-lt"/>
                <a:cs typeface="+mn-lt"/>
              </a:rPr>
              <a:t>Да</a:t>
            </a:r>
            <a:r>
              <a:rPr lang="en-US" sz="1400">
                <a:ea typeface="+mn-lt"/>
                <a:cs typeface="+mn-lt"/>
              </a:rPr>
              <a:t> (</a:t>
            </a:r>
            <a:r>
              <a:rPr lang="en-US" sz="1400" err="1">
                <a:ea typeface="+mn-lt"/>
                <a:cs typeface="+mn-lt"/>
              </a:rPr>
              <a:t>слушам</a:t>
            </a:r>
            <a:r>
              <a:rPr lang="en-US" sz="1400">
                <a:ea typeface="+mn-lt"/>
                <a:cs typeface="+mn-lt"/>
              </a:rPr>
              <a:t> </a:t>
            </a:r>
            <a:r>
              <a:rPr lang="en-US" sz="1400" err="1">
                <a:ea typeface="+mn-lt"/>
                <a:cs typeface="+mn-lt"/>
              </a:rPr>
              <a:t>Ви</a:t>
            </a:r>
            <a:r>
              <a:rPr lang="en-US" sz="1400">
                <a:ea typeface="+mn-lt"/>
                <a:cs typeface="+mn-lt"/>
              </a:rPr>
              <a:t>).</a:t>
            </a:r>
            <a:br>
              <a:rPr lang="en-US" sz="1400">
                <a:ea typeface="+mn-lt"/>
                <a:cs typeface="+mn-lt"/>
              </a:rPr>
            </a:br>
            <a:r>
              <a:rPr lang="en-US" sz="1400" b="1">
                <a:ea typeface="+mn-lt"/>
                <a:cs typeface="+mn-lt"/>
              </a:rPr>
              <a:t> (</a:t>
            </a:r>
            <a:r>
              <a:rPr lang="en-US" sz="1400" b="1" err="1">
                <a:ea typeface="+mn-lt"/>
                <a:cs typeface="+mn-lt"/>
              </a:rPr>
              <a:t>Представяне</a:t>
            </a:r>
            <a:r>
              <a:rPr lang="en-US" sz="1400" b="1">
                <a:ea typeface="+mn-lt"/>
                <a:cs typeface="+mn-lt"/>
              </a:rPr>
              <a:t> </a:t>
            </a:r>
            <a:r>
              <a:rPr lang="en-US" sz="1400" b="1" err="1">
                <a:ea typeface="+mn-lt"/>
                <a:cs typeface="+mn-lt"/>
              </a:rPr>
              <a:t>на</a:t>
            </a:r>
            <a:r>
              <a:rPr lang="en-US" sz="1400" b="1">
                <a:ea typeface="+mn-lt"/>
                <a:cs typeface="+mn-lt"/>
              </a:rPr>
              <a:t> </a:t>
            </a:r>
            <a:r>
              <a:rPr lang="en-US" sz="1400" b="1" err="1">
                <a:ea typeface="+mn-lt"/>
                <a:cs typeface="+mn-lt"/>
              </a:rPr>
              <a:t>предложнието</a:t>
            </a:r>
            <a:r>
              <a:rPr lang="en-US" sz="1400">
                <a:ea typeface="+mn-lt"/>
                <a:cs typeface="+mn-lt"/>
              </a:rPr>
              <a:t>)</a:t>
            </a:r>
            <a:br>
              <a:rPr lang="en-US" sz="1400">
                <a:ea typeface="+mn-lt"/>
                <a:cs typeface="+mn-lt"/>
              </a:rPr>
            </a:br>
            <a:r>
              <a:rPr lang="en-US" sz="1400">
                <a:ea typeface="+mn-lt"/>
                <a:cs typeface="+mn-lt"/>
              </a:rPr>
              <a:t> -</a:t>
            </a:r>
            <a:r>
              <a:rPr lang="en-US" sz="1400" err="1">
                <a:ea typeface="+mn-lt"/>
                <a:cs typeface="+mn-lt"/>
              </a:rPr>
              <a:t>Как</a:t>
            </a:r>
            <a:r>
              <a:rPr lang="en-US" sz="1400">
                <a:ea typeface="+mn-lt"/>
                <a:cs typeface="+mn-lt"/>
              </a:rPr>
              <a:t> </a:t>
            </a:r>
            <a:r>
              <a:rPr lang="en-US" sz="1400" err="1">
                <a:ea typeface="+mn-lt"/>
                <a:cs typeface="+mn-lt"/>
              </a:rPr>
              <a:t>Ви</a:t>
            </a:r>
            <a:r>
              <a:rPr lang="en-US" sz="1400">
                <a:ea typeface="+mn-lt"/>
                <a:cs typeface="+mn-lt"/>
              </a:rPr>
              <a:t> </a:t>
            </a:r>
            <a:r>
              <a:rPr lang="en-US" sz="1400" err="1">
                <a:ea typeface="+mn-lt"/>
                <a:cs typeface="+mn-lt"/>
              </a:rPr>
              <a:t>се</a:t>
            </a:r>
            <a:r>
              <a:rPr lang="en-US" sz="1400">
                <a:ea typeface="+mn-lt"/>
                <a:cs typeface="+mn-lt"/>
              </a:rPr>
              <a:t> </a:t>
            </a:r>
            <a:r>
              <a:rPr lang="en-US" sz="1400" err="1">
                <a:ea typeface="+mn-lt"/>
                <a:cs typeface="+mn-lt"/>
              </a:rPr>
              <a:t>струва</a:t>
            </a:r>
            <a:r>
              <a:rPr lang="en-US" sz="1400">
                <a:ea typeface="+mn-lt"/>
                <a:cs typeface="+mn-lt"/>
              </a:rPr>
              <a:t> </a:t>
            </a:r>
            <a:r>
              <a:rPr lang="en-US" sz="1400" err="1">
                <a:ea typeface="+mn-lt"/>
                <a:cs typeface="+mn-lt"/>
              </a:rPr>
              <a:t>моето</a:t>
            </a:r>
            <a:r>
              <a:rPr lang="en-US" sz="1400">
                <a:ea typeface="+mn-lt"/>
                <a:cs typeface="+mn-lt"/>
              </a:rPr>
              <a:t> </a:t>
            </a:r>
            <a:r>
              <a:rPr lang="en-US" sz="1400" err="1">
                <a:ea typeface="+mn-lt"/>
                <a:cs typeface="+mn-lt"/>
              </a:rPr>
              <a:t>предложение</a:t>
            </a:r>
            <a:r>
              <a:rPr lang="en-US" sz="1400">
                <a:ea typeface="+mn-lt"/>
                <a:cs typeface="+mn-lt"/>
              </a:rPr>
              <a:t>?</a:t>
            </a:r>
            <a:endParaRPr lang="en-US">
              <a:ea typeface="+mn-lt"/>
              <a:cs typeface="+mn-lt"/>
            </a:endParaRPr>
          </a:p>
          <a:p>
            <a:endParaRPr lang="en-US" sz="1400"/>
          </a:p>
        </p:txBody>
      </p:sp>
      <p:sp>
        <p:nvSpPr>
          <p:cNvPr id="6" name="Rectangle: Rounded Corners 9">
            <a:extLst>
              <a:ext uri="{FF2B5EF4-FFF2-40B4-BE49-F238E27FC236}">
                <a16:creationId xmlns:a16="http://schemas.microsoft.com/office/drawing/2014/main" id="{5138C87A-55BA-2218-57E0-B4A60AF7DB1A}"/>
              </a:ext>
            </a:extLst>
          </p:cNvPr>
          <p:cNvSpPr/>
          <p:nvPr/>
        </p:nvSpPr>
        <p:spPr>
          <a:xfrm>
            <a:off x="2074389" y="2001818"/>
            <a:ext cx="2932281" cy="677241"/>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bg-BG" sz="1600"/>
              <a:t>Предварително одобрен клиент</a:t>
            </a:r>
            <a:endParaRPr lang="en-GB" sz="1600"/>
          </a:p>
        </p:txBody>
      </p:sp>
      <p:sp>
        <p:nvSpPr>
          <p:cNvPr id="11" name="Rectangle: Rounded Corners 11">
            <a:extLst>
              <a:ext uri="{FF2B5EF4-FFF2-40B4-BE49-F238E27FC236}">
                <a16:creationId xmlns:a16="http://schemas.microsoft.com/office/drawing/2014/main" id="{1D1771AD-CC2E-AFC0-3C18-7A659F7A3CC4}"/>
              </a:ext>
            </a:extLst>
          </p:cNvPr>
          <p:cNvSpPr/>
          <p:nvPr/>
        </p:nvSpPr>
        <p:spPr>
          <a:xfrm>
            <a:off x="2074388" y="1198060"/>
            <a:ext cx="2932281" cy="677241"/>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bg-BG" sz="1600"/>
              <a:t>Лоялен клиент</a:t>
            </a:r>
            <a:endParaRPr lang="en-GB" sz="1600"/>
          </a:p>
        </p:txBody>
      </p:sp>
      <p:sp>
        <p:nvSpPr>
          <p:cNvPr id="17" name="Rectangle: Rounded Corners 13">
            <a:extLst>
              <a:ext uri="{FF2B5EF4-FFF2-40B4-BE49-F238E27FC236}">
                <a16:creationId xmlns:a16="http://schemas.microsoft.com/office/drawing/2014/main" id="{87F7D18D-1D36-E5DB-1E8E-A27CB8BE486D}"/>
              </a:ext>
            </a:extLst>
          </p:cNvPr>
          <p:cNvSpPr/>
          <p:nvPr/>
        </p:nvSpPr>
        <p:spPr>
          <a:xfrm>
            <a:off x="2074387" y="2862032"/>
            <a:ext cx="2932281" cy="677241"/>
          </a:xfrm>
          <a:prstGeom prst="roundRect">
            <a:avLst/>
          </a:prstGeom>
          <a:solidFill>
            <a:schemeClr val="bg2">
              <a:lumMod val="75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bg-BG" sz="1600"/>
              <a:t>Промо кампания</a:t>
            </a:r>
            <a:endParaRPr lang="en-GB" sz="1600"/>
          </a:p>
        </p:txBody>
      </p:sp>
      <p:sp>
        <p:nvSpPr>
          <p:cNvPr id="19" name="Rectangle 9">
            <a:extLst>
              <a:ext uri="{FF2B5EF4-FFF2-40B4-BE49-F238E27FC236}">
                <a16:creationId xmlns:a16="http://schemas.microsoft.com/office/drawing/2014/main" id="{DD470D8A-5A06-C139-591E-FE579A0B7FB2}"/>
              </a:ext>
            </a:extLst>
          </p:cNvPr>
          <p:cNvSpPr/>
          <p:nvPr/>
        </p:nvSpPr>
        <p:spPr>
          <a:xfrm>
            <a:off x="2074385" y="4670395"/>
            <a:ext cx="2932281" cy="677241"/>
          </a:xfrm>
          <a:prstGeom prst="roundRect">
            <a:avLst/>
          </a:prstGeom>
          <a:solidFill>
            <a:schemeClr val="bg2">
              <a:lumMod val="75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По препоръка</a:t>
            </a:r>
            <a:endParaRPr lang="en-GB" sz="1600"/>
          </a:p>
        </p:txBody>
      </p:sp>
      <p:sp>
        <p:nvSpPr>
          <p:cNvPr id="21" name="Rectangle 11">
            <a:extLst>
              <a:ext uri="{FF2B5EF4-FFF2-40B4-BE49-F238E27FC236}">
                <a16:creationId xmlns:a16="http://schemas.microsoft.com/office/drawing/2014/main" id="{22FF6954-3289-2538-7658-1AB70E72639F}"/>
              </a:ext>
            </a:extLst>
          </p:cNvPr>
          <p:cNvSpPr/>
          <p:nvPr/>
        </p:nvSpPr>
        <p:spPr>
          <a:xfrm>
            <a:off x="2074386" y="3757628"/>
            <a:ext cx="2932281" cy="677241"/>
          </a:xfrm>
          <a:prstGeom prst="roundRect">
            <a:avLst/>
          </a:prstGeom>
          <a:solidFill>
            <a:schemeClr val="bg2">
              <a:lumMod val="75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bg-BG" sz="1600"/>
              <a:t>Продукт „Пенсионер“</a:t>
            </a:r>
            <a:endParaRPr lang="en-GB" sz="1600"/>
          </a:p>
        </p:txBody>
      </p:sp>
      <p:sp>
        <p:nvSpPr>
          <p:cNvPr id="12" name="Текстово поле 23">
            <a:extLst>
              <a:ext uri="{FF2B5EF4-FFF2-40B4-BE49-F238E27FC236}">
                <a16:creationId xmlns:a16="http://schemas.microsoft.com/office/drawing/2014/main" id="{8D2705A0-EE2A-8533-C00C-AD065EBDB876}"/>
              </a:ext>
            </a:extLst>
          </p:cNvPr>
          <p:cNvSpPr txBox="1"/>
          <p:nvPr/>
        </p:nvSpPr>
        <p:spPr>
          <a:xfrm>
            <a:off x="3362960" y="6360160"/>
            <a:ext cx="6390640" cy="3487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bg-BG" sz="1600" i="1"/>
              <a:t>Съдържа сценарии от дървото, изпратено като документ</a:t>
            </a:r>
          </a:p>
        </p:txBody>
      </p:sp>
    </p:spTree>
    <p:extLst>
      <p:ext uri="{BB962C8B-B14F-4D97-AF65-F5344CB8AC3E}">
        <p14:creationId xmlns:p14="http://schemas.microsoft.com/office/powerpoint/2010/main" val="182436163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4EEFF3-F2FC-81EA-9E2B-537E6FF51E71}"/>
            </a:ext>
          </a:extLst>
        </p:cNvPr>
        <p:cNvGrpSpPr/>
        <p:nvPr/>
      </p:nvGrpSpPr>
      <p:grpSpPr>
        <a:xfrm>
          <a:off x="0" y="0"/>
          <a:ext cx="0" cy="0"/>
          <a:chOff x="0" y="0"/>
          <a:chExt cx="0" cy="0"/>
        </a:xfrm>
      </p:grpSpPr>
      <p:sp>
        <p:nvSpPr>
          <p:cNvPr id="25" name="Rectangle 28">
            <a:extLst>
              <a:ext uri="{FF2B5EF4-FFF2-40B4-BE49-F238E27FC236}">
                <a16:creationId xmlns:a16="http://schemas.microsoft.com/office/drawing/2014/main" id="{153C2D11-3DE2-01E5-1CA0-0BBA333B25BF}"/>
              </a:ext>
            </a:extLst>
          </p:cNvPr>
          <p:cNvSpPr/>
          <p:nvPr/>
        </p:nvSpPr>
        <p:spPr>
          <a:xfrm>
            <a:off x="-15824" y="1599"/>
            <a:ext cx="1465320" cy="6859628"/>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400">
              <a:latin typeface="Aptos"/>
              <a:ea typeface="Calibri"/>
              <a:cs typeface="Calibri"/>
            </a:endParaRPr>
          </a:p>
        </p:txBody>
      </p:sp>
      <p:sp>
        <p:nvSpPr>
          <p:cNvPr id="26" name="Rectangle 29">
            <a:extLst>
              <a:ext uri="{FF2B5EF4-FFF2-40B4-BE49-F238E27FC236}">
                <a16:creationId xmlns:a16="http://schemas.microsoft.com/office/drawing/2014/main" id="{684B0BD6-0B0F-8E6B-F35B-8C216E75A327}"/>
              </a:ext>
            </a:extLst>
          </p:cNvPr>
          <p:cNvSpPr/>
          <p:nvPr/>
        </p:nvSpPr>
        <p:spPr>
          <a:xfrm>
            <a:off x="-1671" y="2528038"/>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Типове клиенти</a:t>
            </a:r>
            <a:endParaRPr lang="en-GB" sz="1400">
              <a:latin typeface="Aptos"/>
              <a:ea typeface="Calibri"/>
              <a:cs typeface="Calibri"/>
            </a:endParaRPr>
          </a:p>
        </p:txBody>
      </p:sp>
      <p:sp>
        <p:nvSpPr>
          <p:cNvPr id="27" name="Rectangle 30">
            <a:extLst>
              <a:ext uri="{FF2B5EF4-FFF2-40B4-BE49-F238E27FC236}">
                <a16:creationId xmlns:a16="http://schemas.microsoft.com/office/drawing/2014/main" id="{30B92F19-845D-97D4-A7F7-18D92B8E074E}"/>
              </a:ext>
            </a:extLst>
          </p:cNvPr>
          <p:cNvSpPr/>
          <p:nvPr/>
        </p:nvSpPr>
        <p:spPr>
          <a:xfrm>
            <a:off x="8626" y="1913210"/>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002060"/>
                </a:solidFill>
                <a:latin typeface="Aptos"/>
                <a:ea typeface="Calibri"/>
                <a:cs typeface="Calibri"/>
              </a:rPr>
              <a:t>Сценарии</a:t>
            </a:r>
            <a:endParaRPr lang="en-GB" sz="1400">
              <a:solidFill>
                <a:srgbClr val="002060"/>
              </a:solidFill>
              <a:latin typeface="Aptos"/>
              <a:ea typeface="Calibri"/>
              <a:cs typeface="Calibri"/>
            </a:endParaRPr>
          </a:p>
        </p:txBody>
      </p:sp>
      <p:sp>
        <p:nvSpPr>
          <p:cNvPr id="28" name="Rectangle 31">
            <a:extLst>
              <a:ext uri="{FF2B5EF4-FFF2-40B4-BE49-F238E27FC236}">
                <a16:creationId xmlns:a16="http://schemas.microsoft.com/office/drawing/2014/main" id="{F11F6356-20C6-F2A2-23FE-009383E3A184}"/>
              </a:ext>
            </a:extLst>
          </p:cNvPr>
          <p:cNvSpPr/>
          <p:nvPr/>
        </p:nvSpPr>
        <p:spPr>
          <a:xfrm>
            <a:off x="-1671" y="1298382"/>
            <a:ext cx="1442908" cy="4485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chemeClr val="bg1"/>
                </a:solidFill>
                <a:latin typeface="Aptos"/>
                <a:ea typeface="Calibri"/>
                <a:cs typeface="Calibri"/>
              </a:rPr>
              <a:t>Стъпки в обаждането</a:t>
            </a:r>
            <a:endParaRPr lang="en-GB" sz="1400">
              <a:solidFill>
                <a:schemeClr val="bg1"/>
              </a:solidFill>
              <a:latin typeface="Aptos"/>
              <a:ea typeface="Calibri"/>
              <a:cs typeface="Calibri"/>
            </a:endParaRPr>
          </a:p>
        </p:txBody>
      </p:sp>
      <p:sp>
        <p:nvSpPr>
          <p:cNvPr id="29" name="Rectangle 3">
            <a:extLst>
              <a:ext uri="{FF2B5EF4-FFF2-40B4-BE49-F238E27FC236}">
                <a16:creationId xmlns:a16="http://schemas.microsoft.com/office/drawing/2014/main" id="{4F1F2F53-9E5B-242C-F3E9-97B04AFD7C24}"/>
              </a:ext>
            </a:extLst>
          </p:cNvPr>
          <p:cNvSpPr/>
          <p:nvPr/>
        </p:nvSpPr>
        <p:spPr>
          <a:xfrm>
            <a:off x="1443475" y="4245"/>
            <a:ext cx="5338363" cy="67724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30" name="Rectangle 4">
            <a:extLst>
              <a:ext uri="{FF2B5EF4-FFF2-40B4-BE49-F238E27FC236}">
                <a16:creationId xmlns:a16="http://schemas.microsoft.com/office/drawing/2014/main" id="{16A4B12D-EBBF-C4A1-69C8-7DEC0348C664}"/>
              </a:ext>
            </a:extLst>
          </p:cNvPr>
          <p:cNvSpPr/>
          <p:nvPr/>
        </p:nvSpPr>
        <p:spPr>
          <a:xfrm>
            <a:off x="6788435" y="4245"/>
            <a:ext cx="5417300" cy="677242"/>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31" name="Rectangle 28">
            <a:extLst>
              <a:ext uri="{FF2B5EF4-FFF2-40B4-BE49-F238E27FC236}">
                <a16:creationId xmlns:a16="http://schemas.microsoft.com/office/drawing/2014/main" id="{3E676773-1D22-7270-DC4F-0480B8696B7F}"/>
              </a:ext>
            </a:extLst>
          </p:cNvPr>
          <p:cNvSpPr/>
          <p:nvPr/>
        </p:nvSpPr>
        <p:spPr>
          <a:xfrm>
            <a:off x="-15827" y="690328"/>
            <a:ext cx="1465322"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FFFFFF"/>
                </a:solidFill>
                <a:latin typeface="Aptos"/>
                <a:ea typeface="Calibri"/>
                <a:cs typeface="Calibri"/>
              </a:rPr>
              <a:t>Подготовка</a:t>
            </a:r>
            <a:endParaRPr lang="en-GB" sz="1400">
              <a:solidFill>
                <a:srgbClr val="FFFFFF"/>
              </a:solidFill>
              <a:latin typeface="Aptos"/>
              <a:ea typeface="Calibri"/>
              <a:cs typeface="Calibri"/>
            </a:endParaRPr>
          </a:p>
        </p:txBody>
      </p:sp>
      <p:pic>
        <p:nvPicPr>
          <p:cNvPr id="2" name="Картина 1" descr="Картина, която съдържа текст, екранна снимка, софтуер, Уеб страница&#10;&#10;Генерирано от ИИ съдържание може да е неправилно.">
            <a:extLst>
              <a:ext uri="{FF2B5EF4-FFF2-40B4-BE49-F238E27FC236}">
                <a16:creationId xmlns:a16="http://schemas.microsoft.com/office/drawing/2014/main" id="{0B9C7C17-44A4-9524-2465-1F82C2329CC6}"/>
              </a:ext>
            </a:extLst>
          </p:cNvPr>
          <p:cNvPicPr>
            <a:picLocks noChangeAspect="1"/>
          </p:cNvPicPr>
          <p:nvPr/>
        </p:nvPicPr>
        <p:blipFill>
          <a:blip r:embed="rId2"/>
          <a:stretch>
            <a:fillRect/>
          </a:stretch>
        </p:blipFill>
        <p:spPr>
          <a:xfrm>
            <a:off x="1574800" y="794695"/>
            <a:ext cx="10434320" cy="5868049"/>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
        <p:nvSpPr>
          <p:cNvPr id="4" name="Балонче за говор: правоъгълник със заоблени ъгли 10">
            <a:extLst>
              <a:ext uri="{FF2B5EF4-FFF2-40B4-BE49-F238E27FC236}">
                <a16:creationId xmlns:a16="http://schemas.microsoft.com/office/drawing/2014/main" id="{5F587896-12A8-63FB-B8E9-39B1F8CE76F1}"/>
              </a:ext>
            </a:extLst>
          </p:cNvPr>
          <p:cNvSpPr/>
          <p:nvPr/>
        </p:nvSpPr>
        <p:spPr>
          <a:xfrm>
            <a:off x="2120325" y="1147868"/>
            <a:ext cx="9527978" cy="4249795"/>
          </a:xfrm>
          <a:prstGeom prst="roundRect">
            <a:avLst>
              <a:gd name="adj" fmla="val 3452"/>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bg-BG" sz="1400"/>
          </a:p>
        </p:txBody>
      </p:sp>
      <p:sp>
        <p:nvSpPr>
          <p:cNvPr id="6" name="Правоъгълник: със заоблени ъгли 16">
            <a:extLst>
              <a:ext uri="{FF2B5EF4-FFF2-40B4-BE49-F238E27FC236}">
                <a16:creationId xmlns:a16="http://schemas.microsoft.com/office/drawing/2014/main" id="{41890AA3-74EE-D79D-1198-6EAE8D708F1C}"/>
              </a:ext>
            </a:extLst>
          </p:cNvPr>
          <p:cNvSpPr/>
          <p:nvPr/>
        </p:nvSpPr>
        <p:spPr>
          <a:xfrm>
            <a:off x="4599484" y="4786502"/>
            <a:ext cx="4372414" cy="410235"/>
          </a:xfrm>
          <a:prstGeom prst="roundRect">
            <a:avLst>
              <a:gd name="adj" fmla="val 50000"/>
            </a:avLst>
          </a:prstGeom>
          <a:solidFill>
            <a:schemeClr val="bg1"/>
          </a:solidFill>
          <a:ln>
            <a:noFill/>
          </a:ln>
          <a:effectLst>
            <a:outerShdw blurRad="50800" dist="38100" dir="5400000" algn="t" rotWithShape="0">
              <a:prstClr val="black">
                <a:alpha val="40000"/>
              </a:prstClr>
            </a:outerShdw>
          </a:effectLst>
        </p:spPr>
        <p:style>
          <a:lnRef idx="2">
            <a:schemeClr val="accent4">
              <a:shade val="15000"/>
            </a:schemeClr>
          </a:lnRef>
          <a:fillRef idx="1">
            <a:schemeClr val="accent4"/>
          </a:fillRef>
          <a:effectRef idx="0">
            <a:schemeClr val="accent4"/>
          </a:effectRef>
          <a:fontRef idx="minor">
            <a:schemeClr val="lt1"/>
          </a:fontRef>
        </p:style>
        <p:txBody>
          <a:bodyPr lIns="91440" tIns="45720" rIns="91440" bIns="45720" rtlCol="0" anchor="ctr"/>
          <a:lstStyle/>
          <a:p>
            <a:pPr algn="ctr"/>
            <a:r>
              <a:rPr lang="bg-BG" b="1">
                <a:solidFill>
                  <a:srgbClr val="002060"/>
                </a:solidFill>
              </a:rPr>
              <a:t>Продължи</a:t>
            </a:r>
          </a:p>
        </p:txBody>
      </p:sp>
      <p:sp>
        <p:nvSpPr>
          <p:cNvPr id="8" name="Текстово поле 15">
            <a:extLst>
              <a:ext uri="{FF2B5EF4-FFF2-40B4-BE49-F238E27FC236}">
                <a16:creationId xmlns:a16="http://schemas.microsoft.com/office/drawing/2014/main" id="{1D0EDCC6-6351-6A0C-97CE-550EB514F962}"/>
              </a:ext>
            </a:extLst>
          </p:cNvPr>
          <p:cNvSpPr txBox="1"/>
          <p:nvPr/>
        </p:nvSpPr>
        <p:spPr>
          <a:xfrm>
            <a:off x="2447945" y="1322064"/>
            <a:ext cx="8876030" cy="3293209"/>
          </a:xfrm>
          <a:prstGeom prst="rect">
            <a:avLst/>
          </a:prstGeom>
          <a:noFill/>
        </p:spPr>
        <p:txBody>
          <a:bodyPr wrap="square" lIns="91440" tIns="45720" rIns="91440" bIns="45720" rtlCol="0" anchor="t">
            <a:spAutoFit/>
          </a:bodyPr>
          <a:lstStyle/>
          <a:p>
            <a:r>
              <a:rPr lang="ru-RU" sz="1600" b="1" i="1">
                <a:solidFill>
                  <a:schemeClr val="bg1"/>
                </a:solidFill>
              </a:rPr>
              <a:t>Примерен персонаж за тренировка </a:t>
            </a:r>
            <a:endParaRPr lang="bg-BG"/>
          </a:p>
          <a:p>
            <a:r>
              <a:rPr lang="ru-RU" sz="1200" b="1">
                <a:solidFill>
                  <a:schemeClr val="bg1"/>
                </a:solidFill>
              </a:rPr>
              <a:t>Към предварително одобрен клиент</a:t>
            </a:r>
            <a:br>
              <a:rPr lang="ru-RU" sz="1200"/>
            </a:br>
            <a:r>
              <a:rPr lang="ru-RU" sz="1200">
                <a:solidFill>
                  <a:schemeClr val="bg1"/>
                </a:solidFill>
              </a:rPr>
              <a:t>Тип контакт: </a:t>
            </a:r>
            <a:r>
              <a:rPr lang="ru-RU" sz="1200" b="1">
                <a:solidFill>
                  <a:schemeClr val="bg1"/>
                </a:solidFill>
              </a:rPr>
              <a:t>топъл</a:t>
            </a:r>
            <a:br>
              <a:rPr lang="ru-RU" sz="1200"/>
            </a:br>
            <a:r>
              <a:rPr lang="ru-RU" sz="1200">
                <a:solidFill>
                  <a:schemeClr val="bg1"/>
                </a:solidFill>
              </a:rPr>
              <a:t>Персонаж: </a:t>
            </a:r>
            <a:r>
              <a:rPr lang="ru-RU" sz="1200" b="1">
                <a:solidFill>
                  <a:schemeClr val="bg1"/>
                </a:solidFill>
              </a:rPr>
              <a:t>Даниела Иванова</a:t>
            </a:r>
            <a:br>
              <a:rPr lang="ru-RU" sz="1200"/>
            </a:br>
            <a:r>
              <a:rPr lang="ru-RU" sz="1200">
                <a:solidFill>
                  <a:schemeClr val="bg1"/>
                </a:solidFill>
              </a:rPr>
              <a:t>Профил: </a:t>
            </a:r>
            <a:r>
              <a:rPr lang="ru-RU" sz="1200" b="1">
                <a:solidFill>
                  <a:schemeClr val="bg1"/>
                </a:solidFill>
              </a:rPr>
              <a:t>предварително одобрен клиент, 34 г.</a:t>
            </a:r>
            <a:br>
              <a:rPr lang="ru-RU" sz="1200"/>
            </a:br>
            <a:r>
              <a:rPr lang="ru-RU" sz="1200" b="1">
                <a:solidFill>
                  <a:schemeClr val="bg1"/>
                </a:solidFill>
              </a:rPr>
              <a:t>Контекст: </a:t>
            </a:r>
            <a:r>
              <a:rPr lang="ru-RU" sz="1200">
                <a:solidFill>
                  <a:schemeClr val="bg1"/>
                </a:solidFill>
              </a:rPr>
              <a:t>цени удобството и бързината, но иска да знае каква е уловката.</a:t>
            </a:r>
            <a:br>
              <a:rPr lang="ru-RU" sz="1200"/>
            </a:br>
            <a:r>
              <a:rPr lang="ru-RU" sz="1200" b="1">
                <a:solidFill>
                  <a:schemeClr val="bg1"/>
                </a:solidFill>
              </a:rPr>
              <a:t>Цел: </a:t>
            </a:r>
            <a:r>
              <a:rPr lang="ru-RU" sz="1200">
                <a:solidFill>
                  <a:schemeClr val="bg1"/>
                </a:solidFill>
              </a:rPr>
              <a:t>да се активира интерес чрез яснота, сигурност и усещане за подготвено предложение.</a:t>
            </a:r>
            <a:br>
              <a:rPr lang="ru-RU" sz="1200"/>
            </a:br>
            <a:r>
              <a:rPr lang="ru-RU" sz="1200" b="1">
                <a:solidFill>
                  <a:schemeClr val="bg1"/>
                </a:solidFill>
              </a:rPr>
              <a:t>Логика на разговора: </a:t>
            </a:r>
            <a:r>
              <a:rPr lang="ru-RU" sz="1200">
                <a:solidFill>
                  <a:schemeClr val="bg1"/>
                </a:solidFill>
              </a:rPr>
              <a:t>започваш конкретно и уверено; обясняваш защо се свързваш с клиента; подчертаваш, че има преференциални условия; представяш най-важните параметри; насочваш към лесна следваща стъпка.</a:t>
            </a:r>
            <a:br>
              <a:rPr lang="ru-RU" sz="1200"/>
            </a:br>
            <a:r>
              <a:rPr lang="ru-RU" sz="1200" b="1">
                <a:solidFill>
                  <a:schemeClr val="bg1"/>
                </a:solidFill>
              </a:rPr>
              <a:t>Примерни реплики: </a:t>
            </a:r>
            <a:r>
              <a:rPr lang="ru-RU" sz="1200">
                <a:solidFill>
                  <a:schemeClr val="bg1"/>
                </a:solidFill>
              </a:rPr>
              <a:t>„Обаждам се, защото сте сред клиентите, за които имаме преференциални условия.“ / „Имате предварително одобрение и мога да мина с Вас през параметрите.“ / „Нека уточним какво е най-удобно за Вас.“</a:t>
            </a:r>
            <a:br>
              <a:rPr lang="ru-RU" sz="1200"/>
            </a:br>
            <a:r>
              <a:rPr lang="ru-RU" sz="1200" b="1">
                <a:solidFill>
                  <a:schemeClr val="bg1"/>
                </a:solidFill>
              </a:rPr>
              <a:t>Възможни възражения</a:t>
            </a:r>
            <a:r>
              <a:rPr lang="ru-RU" sz="1200">
                <a:solidFill>
                  <a:schemeClr val="bg1"/>
                </a:solidFill>
              </a:rPr>
              <a:t>: „Каква е уловката?“, „Не искам да бързам.“, „Не съм сигурен, че ми е нужно.“</a:t>
            </a:r>
            <a:br>
              <a:rPr lang="ru-RU" sz="1200"/>
            </a:br>
            <a:r>
              <a:rPr lang="ru-RU" sz="1200" b="1">
                <a:solidFill>
                  <a:schemeClr val="bg1"/>
                </a:solidFill>
              </a:rPr>
              <a:t>Подходящи техники: огледална; относителна; тирбушон</a:t>
            </a:r>
            <a:br>
              <a:rPr lang="ru-RU" sz="1200"/>
            </a:br>
            <a:r>
              <a:rPr lang="ru-RU" sz="1200" b="1">
                <a:solidFill>
                  <a:schemeClr val="bg1"/>
                </a:solidFill>
              </a:rPr>
              <a:t>Следваща стъпка / финализиране: </a:t>
            </a:r>
            <a:r>
              <a:rPr lang="ru-RU" sz="1200">
                <a:solidFill>
                  <a:schemeClr val="bg1"/>
                </a:solidFill>
              </a:rPr>
              <a:t>преглед на параметрите, лична среща или преминаване към оформяне на документите; при поредно кандидатстване е възможно документите да се оформят в офис или на друго удобно място чрез мобилното приложение на кредитния консултант, без процесът задължително да завършва с посещение на адрес.</a:t>
            </a:r>
            <a:br>
              <a:rPr lang="ru-RU" sz="1200"/>
            </a:br>
            <a:r>
              <a:rPr lang="ru-RU" sz="1200" b="1">
                <a:solidFill>
                  <a:schemeClr val="bg1"/>
                </a:solidFill>
              </a:rPr>
              <a:t>Какво да не правиш: </a:t>
            </a:r>
            <a:r>
              <a:rPr lang="ru-RU" sz="1200">
                <a:solidFill>
                  <a:schemeClr val="bg1"/>
                </a:solidFill>
              </a:rPr>
              <a:t>да звучиш неясно; да премълчаваш важни условия; да избързваш към затваряне без доверие.</a:t>
            </a:r>
            <a:endParaRPr lang="bg-BG" sz="1200">
              <a:solidFill>
                <a:schemeClr val="bg1"/>
              </a:solidFill>
            </a:endParaRPr>
          </a:p>
        </p:txBody>
      </p:sp>
    </p:spTree>
    <p:extLst>
      <p:ext uri="{BB962C8B-B14F-4D97-AF65-F5344CB8AC3E}">
        <p14:creationId xmlns:p14="http://schemas.microsoft.com/office/powerpoint/2010/main" val="145173219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0AFE58-2BA3-2DED-0682-9BA5917E9E00}"/>
            </a:ext>
          </a:extLst>
        </p:cNvPr>
        <p:cNvGrpSpPr/>
        <p:nvPr/>
      </p:nvGrpSpPr>
      <p:grpSpPr>
        <a:xfrm>
          <a:off x="0" y="0"/>
          <a:ext cx="0" cy="0"/>
          <a:chOff x="0" y="0"/>
          <a:chExt cx="0" cy="0"/>
        </a:xfrm>
      </p:grpSpPr>
      <p:sp>
        <p:nvSpPr>
          <p:cNvPr id="25" name="Rectangle 28">
            <a:extLst>
              <a:ext uri="{FF2B5EF4-FFF2-40B4-BE49-F238E27FC236}">
                <a16:creationId xmlns:a16="http://schemas.microsoft.com/office/drawing/2014/main" id="{66001658-DD97-89DB-4324-EC89A17679A8}"/>
              </a:ext>
            </a:extLst>
          </p:cNvPr>
          <p:cNvSpPr/>
          <p:nvPr/>
        </p:nvSpPr>
        <p:spPr>
          <a:xfrm>
            <a:off x="-15824" y="1599"/>
            <a:ext cx="1465320" cy="6859628"/>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400">
              <a:latin typeface="Aptos"/>
              <a:ea typeface="Calibri"/>
              <a:cs typeface="Calibri"/>
            </a:endParaRPr>
          </a:p>
        </p:txBody>
      </p:sp>
      <p:sp>
        <p:nvSpPr>
          <p:cNvPr id="26" name="Rectangle 29">
            <a:extLst>
              <a:ext uri="{FF2B5EF4-FFF2-40B4-BE49-F238E27FC236}">
                <a16:creationId xmlns:a16="http://schemas.microsoft.com/office/drawing/2014/main" id="{E0111FFD-F77B-5188-F610-5B13F92851D3}"/>
              </a:ext>
            </a:extLst>
          </p:cNvPr>
          <p:cNvSpPr/>
          <p:nvPr/>
        </p:nvSpPr>
        <p:spPr>
          <a:xfrm>
            <a:off x="-1671" y="2528038"/>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Типове клиенти</a:t>
            </a:r>
            <a:endParaRPr lang="en-GB" sz="1400">
              <a:latin typeface="Aptos"/>
              <a:ea typeface="Calibri"/>
              <a:cs typeface="Calibri"/>
            </a:endParaRPr>
          </a:p>
        </p:txBody>
      </p:sp>
      <p:sp>
        <p:nvSpPr>
          <p:cNvPr id="27" name="Rectangle 30">
            <a:extLst>
              <a:ext uri="{FF2B5EF4-FFF2-40B4-BE49-F238E27FC236}">
                <a16:creationId xmlns:a16="http://schemas.microsoft.com/office/drawing/2014/main" id="{15BF9B93-376B-94E2-703F-15DBFEAC9404}"/>
              </a:ext>
            </a:extLst>
          </p:cNvPr>
          <p:cNvSpPr/>
          <p:nvPr/>
        </p:nvSpPr>
        <p:spPr>
          <a:xfrm>
            <a:off x="8626" y="1913210"/>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002060"/>
                </a:solidFill>
                <a:latin typeface="Aptos"/>
                <a:ea typeface="Calibri"/>
                <a:cs typeface="Calibri"/>
              </a:rPr>
              <a:t>Сценарии</a:t>
            </a:r>
            <a:endParaRPr lang="en-GB" sz="1400">
              <a:solidFill>
                <a:srgbClr val="002060"/>
              </a:solidFill>
              <a:latin typeface="Aptos"/>
              <a:ea typeface="Calibri"/>
              <a:cs typeface="Calibri"/>
            </a:endParaRPr>
          </a:p>
        </p:txBody>
      </p:sp>
      <p:sp>
        <p:nvSpPr>
          <p:cNvPr id="28" name="Rectangle 31">
            <a:extLst>
              <a:ext uri="{FF2B5EF4-FFF2-40B4-BE49-F238E27FC236}">
                <a16:creationId xmlns:a16="http://schemas.microsoft.com/office/drawing/2014/main" id="{54A3D4E6-8F62-67BD-C637-93E08E138F80}"/>
              </a:ext>
            </a:extLst>
          </p:cNvPr>
          <p:cNvSpPr/>
          <p:nvPr/>
        </p:nvSpPr>
        <p:spPr>
          <a:xfrm>
            <a:off x="-1671" y="1298382"/>
            <a:ext cx="1442908" cy="4485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chemeClr val="bg1"/>
                </a:solidFill>
                <a:latin typeface="Aptos"/>
                <a:ea typeface="Calibri"/>
                <a:cs typeface="Calibri"/>
              </a:rPr>
              <a:t>Стъпки в обаждането</a:t>
            </a:r>
            <a:endParaRPr lang="en-GB" sz="1400">
              <a:solidFill>
                <a:schemeClr val="bg1"/>
              </a:solidFill>
              <a:latin typeface="Aptos"/>
              <a:ea typeface="Calibri"/>
              <a:cs typeface="Calibri"/>
            </a:endParaRPr>
          </a:p>
        </p:txBody>
      </p:sp>
      <p:sp>
        <p:nvSpPr>
          <p:cNvPr id="29" name="Rectangle 3">
            <a:extLst>
              <a:ext uri="{FF2B5EF4-FFF2-40B4-BE49-F238E27FC236}">
                <a16:creationId xmlns:a16="http://schemas.microsoft.com/office/drawing/2014/main" id="{93AFA2FC-58BD-2EFC-813C-CF840FA409C7}"/>
              </a:ext>
            </a:extLst>
          </p:cNvPr>
          <p:cNvSpPr/>
          <p:nvPr/>
        </p:nvSpPr>
        <p:spPr>
          <a:xfrm>
            <a:off x="1443475" y="4245"/>
            <a:ext cx="5338363" cy="67724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30" name="Rectangle 4">
            <a:extLst>
              <a:ext uri="{FF2B5EF4-FFF2-40B4-BE49-F238E27FC236}">
                <a16:creationId xmlns:a16="http://schemas.microsoft.com/office/drawing/2014/main" id="{D79CF2DE-6D21-240B-838E-104B2246A538}"/>
              </a:ext>
            </a:extLst>
          </p:cNvPr>
          <p:cNvSpPr/>
          <p:nvPr/>
        </p:nvSpPr>
        <p:spPr>
          <a:xfrm>
            <a:off x="6788435" y="4245"/>
            <a:ext cx="5417300" cy="677242"/>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31" name="Rectangle 28">
            <a:extLst>
              <a:ext uri="{FF2B5EF4-FFF2-40B4-BE49-F238E27FC236}">
                <a16:creationId xmlns:a16="http://schemas.microsoft.com/office/drawing/2014/main" id="{BCBFFD20-5B24-859E-8FFA-547E1E4DDE9F}"/>
              </a:ext>
            </a:extLst>
          </p:cNvPr>
          <p:cNvSpPr/>
          <p:nvPr/>
        </p:nvSpPr>
        <p:spPr>
          <a:xfrm>
            <a:off x="-15827" y="690328"/>
            <a:ext cx="1465322"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FFFFFF"/>
                </a:solidFill>
                <a:latin typeface="Aptos"/>
                <a:ea typeface="Calibri"/>
                <a:cs typeface="Calibri"/>
              </a:rPr>
              <a:t>Подготовка</a:t>
            </a:r>
            <a:endParaRPr lang="en-GB" sz="1400">
              <a:solidFill>
                <a:srgbClr val="FFFFFF"/>
              </a:solidFill>
              <a:latin typeface="Aptos"/>
              <a:ea typeface="Calibri"/>
              <a:cs typeface="Calibri"/>
            </a:endParaRPr>
          </a:p>
        </p:txBody>
      </p:sp>
      <p:pic>
        <p:nvPicPr>
          <p:cNvPr id="2" name="Картина 1" descr="Картина, която съдържа текст, екранна снимка, софтуер, Уеб страница&#10;&#10;Генерирано от ИИ съдържание може да е неправилно.">
            <a:extLst>
              <a:ext uri="{FF2B5EF4-FFF2-40B4-BE49-F238E27FC236}">
                <a16:creationId xmlns:a16="http://schemas.microsoft.com/office/drawing/2014/main" id="{5CD3F27D-6E54-6AE1-3B4E-357E408C8E64}"/>
              </a:ext>
            </a:extLst>
          </p:cNvPr>
          <p:cNvPicPr>
            <a:picLocks noChangeAspect="1"/>
          </p:cNvPicPr>
          <p:nvPr/>
        </p:nvPicPr>
        <p:blipFill>
          <a:blip r:embed="rId2"/>
          <a:stretch>
            <a:fillRect/>
          </a:stretch>
        </p:blipFill>
        <p:spPr>
          <a:xfrm>
            <a:off x="1574800" y="794695"/>
            <a:ext cx="10434320" cy="5868049"/>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Tree>
    <p:extLst>
      <p:ext uri="{BB962C8B-B14F-4D97-AF65-F5344CB8AC3E}">
        <p14:creationId xmlns:p14="http://schemas.microsoft.com/office/powerpoint/2010/main" val="4233481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0C7524-2605-0F3E-D2A4-67769D6B5319}"/>
            </a:ext>
          </a:extLst>
        </p:cNvPr>
        <p:cNvGrpSpPr/>
        <p:nvPr/>
      </p:nvGrpSpPr>
      <p:grpSpPr>
        <a:xfrm>
          <a:off x="0" y="0"/>
          <a:ext cx="0" cy="0"/>
          <a:chOff x="0" y="0"/>
          <a:chExt cx="0" cy="0"/>
        </a:xfrm>
      </p:grpSpPr>
      <p:sp>
        <p:nvSpPr>
          <p:cNvPr id="25" name="Rectangle 28">
            <a:extLst>
              <a:ext uri="{FF2B5EF4-FFF2-40B4-BE49-F238E27FC236}">
                <a16:creationId xmlns:a16="http://schemas.microsoft.com/office/drawing/2014/main" id="{9644B966-7BF3-716B-4B63-472D6E28B643}"/>
              </a:ext>
            </a:extLst>
          </p:cNvPr>
          <p:cNvSpPr/>
          <p:nvPr/>
        </p:nvSpPr>
        <p:spPr>
          <a:xfrm>
            <a:off x="-15824" y="1599"/>
            <a:ext cx="1465320" cy="6859628"/>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400">
              <a:latin typeface="Aptos"/>
              <a:ea typeface="Calibri"/>
              <a:cs typeface="Calibri"/>
            </a:endParaRPr>
          </a:p>
        </p:txBody>
      </p:sp>
      <p:sp>
        <p:nvSpPr>
          <p:cNvPr id="26" name="Rectangle 29">
            <a:extLst>
              <a:ext uri="{FF2B5EF4-FFF2-40B4-BE49-F238E27FC236}">
                <a16:creationId xmlns:a16="http://schemas.microsoft.com/office/drawing/2014/main" id="{FD11E996-8F5D-D426-AE62-7E057D0C35F3}"/>
              </a:ext>
            </a:extLst>
          </p:cNvPr>
          <p:cNvSpPr/>
          <p:nvPr/>
        </p:nvSpPr>
        <p:spPr>
          <a:xfrm>
            <a:off x="-1671" y="2528038"/>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Типове клиенти</a:t>
            </a:r>
            <a:endParaRPr lang="en-GB" sz="1400">
              <a:latin typeface="Aptos"/>
              <a:ea typeface="Calibri"/>
              <a:cs typeface="Calibri"/>
            </a:endParaRPr>
          </a:p>
        </p:txBody>
      </p:sp>
      <p:sp>
        <p:nvSpPr>
          <p:cNvPr id="27" name="Rectangle 30">
            <a:extLst>
              <a:ext uri="{FF2B5EF4-FFF2-40B4-BE49-F238E27FC236}">
                <a16:creationId xmlns:a16="http://schemas.microsoft.com/office/drawing/2014/main" id="{068D2F3A-BC28-3510-BCCB-6EE621D39BB1}"/>
              </a:ext>
            </a:extLst>
          </p:cNvPr>
          <p:cNvSpPr/>
          <p:nvPr/>
        </p:nvSpPr>
        <p:spPr>
          <a:xfrm>
            <a:off x="8626" y="1913210"/>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002060"/>
                </a:solidFill>
                <a:latin typeface="Aptos"/>
                <a:ea typeface="Calibri"/>
                <a:cs typeface="Calibri"/>
              </a:rPr>
              <a:t>Сценарии</a:t>
            </a:r>
            <a:endParaRPr lang="en-GB" sz="1400">
              <a:solidFill>
                <a:srgbClr val="002060"/>
              </a:solidFill>
              <a:latin typeface="Aptos"/>
              <a:ea typeface="Calibri"/>
              <a:cs typeface="Calibri"/>
            </a:endParaRPr>
          </a:p>
        </p:txBody>
      </p:sp>
      <p:sp>
        <p:nvSpPr>
          <p:cNvPr id="28" name="Rectangle 31">
            <a:extLst>
              <a:ext uri="{FF2B5EF4-FFF2-40B4-BE49-F238E27FC236}">
                <a16:creationId xmlns:a16="http://schemas.microsoft.com/office/drawing/2014/main" id="{37EFD810-066E-5B2E-524B-977F9C2F9143}"/>
              </a:ext>
            </a:extLst>
          </p:cNvPr>
          <p:cNvSpPr/>
          <p:nvPr/>
        </p:nvSpPr>
        <p:spPr>
          <a:xfrm>
            <a:off x="-1671" y="1298382"/>
            <a:ext cx="1442908" cy="4485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chemeClr val="bg1"/>
                </a:solidFill>
                <a:latin typeface="Aptos"/>
                <a:ea typeface="Calibri"/>
                <a:cs typeface="Calibri"/>
              </a:rPr>
              <a:t>Стъпки в обаждането</a:t>
            </a:r>
            <a:endParaRPr lang="en-GB" sz="1400">
              <a:solidFill>
                <a:schemeClr val="bg1"/>
              </a:solidFill>
              <a:latin typeface="Aptos"/>
              <a:ea typeface="Calibri"/>
              <a:cs typeface="Calibri"/>
            </a:endParaRPr>
          </a:p>
        </p:txBody>
      </p:sp>
      <p:sp>
        <p:nvSpPr>
          <p:cNvPr id="29" name="Rectangle 3">
            <a:extLst>
              <a:ext uri="{FF2B5EF4-FFF2-40B4-BE49-F238E27FC236}">
                <a16:creationId xmlns:a16="http://schemas.microsoft.com/office/drawing/2014/main" id="{3AE5A04E-A687-887F-C957-828D89377543}"/>
              </a:ext>
            </a:extLst>
          </p:cNvPr>
          <p:cNvSpPr/>
          <p:nvPr/>
        </p:nvSpPr>
        <p:spPr>
          <a:xfrm>
            <a:off x="1443475" y="4245"/>
            <a:ext cx="5338363" cy="67724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30" name="Rectangle 4">
            <a:extLst>
              <a:ext uri="{FF2B5EF4-FFF2-40B4-BE49-F238E27FC236}">
                <a16:creationId xmlns:a16="http://schemas.microsoft.com/office/drawing/2014/main" id="{93A1CDE9-CD38-D569-C86D-9D9BA0BAFCA4}"/>
              </a:ext>
            </a:extLst>
          </p:cNvPr>
          <p:cNvSpPr/>
          <p:nvPr/>
        </p:nvSpPr>
        <p:spPr>
          <a:xfrm>
            <a:off x="6788435" y="4245"/>
            <a:ext cx="5417300" cy="677242"/>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31" name="Rectangle 28">
            <a:extLst>
              <a:ext uri="{FF2B5EF4-FFF2-40B4-BE49-F238E27FC236}">
                <a16:creationId xmlns:a16="http://schemas.microsoft.com/office/drawing/2014/main" id="{24DBBABF-D784-8767-8E32-D4A5FA864B44}"/>
              </a:ext>
            </a:extLst>
          </p:cNvPr>
          <p:cNvSpPr/>
          <p:nvPr/>
        </p:nvSpPr>
        <p:spPr>
          <a:xfrm>
            <a:off x="-15827" y="690328"/>
            <a:ext cx="1465322"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FFFFFF"/>
                </a:solidFill>
                <a:latin typeface="Aptos"/>
                <a:ea typeface="Calibri"/>
                <a:cs typeface="Calibri"/>
              </a:rPr>
              <a:t>Подготовка</a:t>
            </a:r>
            <a:endParaRPr lang="en-GB" sz="1400">
              <a:solidFill>
                <a:srgbClr val="FFFFFF"/>
              </a:solidFill>
              <a:latin typeface="Aptos"/>
              <a:ea typeface="Calibri"/>
              <a:cs typeface="Calibri"/>
            </a:endParaRPr>
          </a:p>
        </p:txBody>
      </p:sp>
      <p:pic>
        <p:nvPicPr>
          <p:cNvPr id="3" name="Картина 2" descr="Картина, която съдържа текст, екранна снимка, Шрифт, Уеб страница&#10;&#10;Генерирано от ИИ съдържание може да е неправилно.">
            <a:extLst>
              <a:ext uri="{FF2B5EF4-FFF2-40B4-BE49-F238E27FC236}">
                <a16:creationId xmlns:a16="http://schemas.microsoft.com/office/drawing/2014/main" id="{005BC466-C645-0E2C-461F-5FFEA9AD2C8F}"/>
              </a:ext>
            </a:extLst>
          </p:cNvPr>
          <p:cNvPicPr>
            <a:picLocks noChangeAspect="1"/>
          </p:cNvPicPr>
          <p:nvPr/>
        </p:nvPicPr>
        <p:blipFill>
          <a:blip r:embed="rId2"/>
          <a:stretch>
            <a:fillRect/>
          </a:stretch>
        </p:blipFill>
        <p:spPr>
          <a:xfrm>
            <a:off x="1564640" y="807110"/>
            <a:ext cx="10525760" cy="5904180"/>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Tree>
    <p:extLst>
      <p:ext uri="{BB962C8B-B14F-4D97-AF65-F5344CB8AC3E}">
        <p14:creationId xmlns:p14="http://schemas.microsoft.com/office/powerpoint/2010/main" val="183727529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EBC9B5-63CC-1AC4-8CCA-57B7F6AAB624}"/>
            </a:ext>
          </a:extLst>
        </p:cNvPr>
        <p:cNvGrpSpPr/>
        <p:nvPr/>
      </p:nvGrpSpPr>
      <p:grpSpPr>
        <a:xfrm>
          <a:off x="0" y="0"/>
          <a:ext cx="0" cy="0"/>
          <a:chOff x="0" y="0"/>
          <a:chExt cx="0" cy="0"/>
        </a:xfrm>
      </p:grpSpPr>
      <p:sp>
        <p:nvSpPr>
          <p:cNvPr id="28" name="Правоъгълник: със заоблени ъгли 27">
            <a:extLst>
              <a:ext uri="{FF2B5EF4-FFF2-40B4-BE49-F238E27FC236}">
                <a16:creationId xmlns:a16="http://schemas.microsoft.com/office/drawing/2014/main" id="{D3D4E33B-0FB9-B2F6-7C79-622545DC18C1}"/>
              </a:ext>
            </a:extLst>
          </p:cNvPr>
          <p:cNvSpPr/>
          <p:nvPr/>
        </p:nvSpPr>
        <p:spPr>
          <a:xfrm>
            <a:off x="4204938" y="251749"/>
            <a:ext cx="3671794" cy="6172583"/>
          </a:xfrm>
          <a:prstGeom prst="roundRect">
            <a:avLst/>
          </a:prstGeom>
          <a:solidFill>
            <a:schemeClr val="bg1">
              <a:lumMod val="95000"/>
            </a:schemeClr>
          </a:solidFill>
          <a:ln>
            <a:noFill/>
          </a:ln>
          <a:effectLst>
            <a:outerShdw blurRad="63500" dist="38100" dir="270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pic>
        <p:nvPicPr>
          <p:cNvPr id="33" name="Picture 10" descr="Картина, която съдържа текст, екранна снимка&#10;&#10;Генерирано от ИИ съдържание може да е неправилно.">
            <a:extLst>
              <a:ext uri="{FF2B5EF4-FFF2-40B4-BE49-F238E27FC236}">
                <a16:creationId xmlns:a16="http://schemas.microsoft.com/office/drawing/2014/main" id="{49B4E9E1-87BB-223A-6987-45FEBE847B6A}"/>
              </a:ext>
            </a:extLst>
          </p:cNvPr>
          <p:cNvPicPr>
            <a:picLocks noChangeAspect="1"/>
          </p:cNvPicPr>
          <p:nvPr/>
        </p:nvPicPr>
        <p:blipFill>
          <a:blip r:embed="rId2"/>
          <a:srcRect b="88415"/>
          <a:stretch>
            <a:fillRect/>
          </a:stretch>
        </p:blipFill>
        <p:spPr>
          <a:xfrm>
            <a:off x="4174655" y="278693"/>
            <a:ext cx="3740239" cy="77148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34" name="Правоъгълник: със заоблени ъгли 33">
            <a:extLst>
              <a:ext uri="{FF2B5EF4-FFF2-40B4-BE49-F238E27FC236}">
                <a16:creationId xmlns:a16="http://schemas.microsoft.com/office/drawing/2014/main" id="{5064C8F8-9D10-E596-5F34-0806B58878A1}"/>
              </a:ext>
            </a:extLst>
          </p:cNvPr>
          <p:cNvSpPr/>
          <p:nvPr/>
        </p:nvSpPr>
        <p:spPr>
          <a:xfrm>
            <a:off x="4283281" y="1489796"/>
            <a:ext cx="3302259" cy="363776"/>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bg-BG" sz="1300" b="1">
                <a:solidFill>
                  <a:srgbClr val="1F3864"/>
                </a:solidFill>
              </a:rPr>
              <a:t>Отваряне и предложение</a:t>
            </a:r>
          </a:p>
          <a:p>
            <a:endParaRPr lang="bg-BG" sz="1200">
              <a:solidFill>
                <a:srgbClr val="1F3864"/>
              </a:solidFill>
            </a:endParaRPr>
          </a:p>
        </p:txBody>
      </p:sp>
      <p:sp>
        <p:nvSpPr>
          <p:cNvPr id="35" name="Правоъгълник: със заоблени ъгли 34">
            <a:extLst>
              <a:ext uri="{FF2B5EF4-FFF2-40B4-BE49-F238E27FC236}">
                <a16:creationId xmlns:a16="http://schemas.microsoft.com/office/drawing/2014/main" id="{FC8EACCD-CECB-79F4-27CB-CEB1D260F90B}"/>
              </a:ext>
            </a:extLst>
          </p:cNvPr>
          <p:cNvSpPr/>
          <p:nvPr/>
        </p:nvSpPr>
        <p:spPr>
          <a:xfrm>
            <a:off x="4280091" y="2256930"/>
            <a:ext cx="3312284" cy="393855"/>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1050" b="1">
                <a:solidFill>
                  <a:srgbClr val="000000"/>
                </a:solidFill>
              </a:rPr>
              <a:t>-</a:t>
            </a:r>
            <a:r>
              <a:rPr lang="en-US" sz="1050" err="1">
                <a:solidFill>
                  <a:srgbClr val="000000"/>
                </a:solidFill>
              </a:rPr>
              <a:t>Добър</a:t>
            </a:r>
            <a:r>
              <a:rPr lang="en-US" sz="1050">
                <a:solidFill>
                  <a:srgbClr val="000000"/>
                </a:solidFill>
              </a:rPr>
              <a:t> </a:t>
            </a:r>
            <a:r>
              <a:rPr lang="en-US" sz="1050" err="1">
                <a:solidFill>
                  <a:srgbClr val="000000"/>
                </a:solidFill>
              </a:rPr>
              <a:t>ден</a:t>
            </a:r>
            <a:r>
              <a:rPr lang="en-US" sz="1050">
                <a:solidFill>
                  <a:srgbClr val="000000"/>
                </a:solidFill>
              </a:rPr>
              <a:t>, </a:t>
            </a:r>
            <a:r>
              <a:rPr lang="en-US" sz="1050" err="1">
                <a:solidFill>
                  <a:srgbClr val="000000"/>
                </a:solidFill>
              </a:rPr>
              <a:t>търся</a:t>
            </a:r>
            <a:r>
              <a:rPr lang="en-US" sz="1050">
                <a:solidFill>
                  <a:srgbClr val="000000"/>
                </a:solidFill>
              </a:rPr>
              <a:t> г-н/г-</a:t>
            </a:r>
            <a:r>
              <a:rPr lang="en-US" sz="1050" err="1">
                <a:solidFill>
                  <a:srgbClr val="000000"/>
                </a:solidFill>
              </a:rPr>
              <a:t>жа</a:t>
            </a:r>
            <a:r>
              <a:rPr lang="en-US" sz="1050">
                <a:solidFill>
                  <a:srgbClr val="000000"/>
                </a:solidFill>
              </a:rPr>
              <a:t> (</a:t>
            </a:r>
            <a:r>
              <a:rPr lang="en-US" sz="1050" err="1">
                <a:solidFill>
                  <a:srgbClr val="000000"/>
                </a:solidFill>
              </a:rPr>
              <a:t>две</a:t>
            </a:r>
            <a:r>
              <a:rPr lang="en-US" sz="1050">
                <a:solidFill>
                  <a:srgbClr val="000000"/>
                </a:solidFill>
              </a:rPr>
              <a:t> </a:t>
            </a:r>
            <a:r>
              <a:rPr lang="en-US" sz="1050" err="1">
                <a:solidFill>
                  <a:srgbClr val="000000"/>
                </a:solidFill>
              </a:rPr>
              <a:t>имена</a:t>
            </a:r>
            <a:r>
              <a:rPr lang="en-US" sz="1050">
                <a:solidFill>
                  <a:srgbClr val="000000"/>
                </a:solidFill>
              </a:rPr>
              <a:t> </a:t>
            </a:r>
            <a:r>
              <a:rPr lang="en-US" sz="1050" err="1">
                <a:solidFill>
                  <a:srgbClr val="000000"/>
                </a:solidFill>
              </a:rPr>
              <a:t>на</a:t>
            </a:r>
            <a:r>
              <a:rPr lang="en-US" sz="1050">
                <a:solidFill>
                  <a:srgbClr val="000000"/>
                </a:solidFill>
              </a:rPr>
              <a:t> </a:t>
            </a:r>
            <a:r>
              <a:rPr lang="en-US" sz="1050" err="1">
                <a:solidFill>
                  <a:srgbClr val="000000"/>
                </a:solidFill>
              </a:rPr>
              <a:t>клиента</a:t>
            </a:r>
            <a:r>
              <a:rPr lang="en-US" sz="1050">
                <a:solidFill>
                  <a:srgbClr val="000000"/>
                </a:solidFill>
              </a:rPr>
              <a:t>).</a:t>
            </a:r>
            <a:br>
              <a:rPr lang="en-US" sz="1050"/>
            </a:br>
            <a:r>
              <a:rPr lang="en-US" sz="1050">
                <a:solidFill>
                  <a:srgbClr val="000000"/>
                </a:solidFill>
              </a:rPr>
              <a:t> </a:t>
            </a:r>
            <a:r>
              <a:rPr lang="en-US" sz="1050" b="1">
                <a:solidFill>
                  <a:srgbClr val="000000"/>
                </a:solidFill>
              </a:rPr>
              <a:t>-</a:t>
            </a:r>
            <a:r>
              <a:rPr lang="en-US" sz="1050" err="1">
                <a:solidFill>
                  <a:srgbClr val="000000"/>
                </a:solidFill>
              </a:rPr>
              <a:t>Да</a:t>
            </a:r>
            <a:r>
              <a:rPr lang="en-US" sz="1050">
                <a:solidFill>
                  <a:srgbClr val="000000"/>
                </a:solidFill>
              </a:rPr>
              <a:t> (</a:t>
            </a:r>
            <a:r>
              <a:rPr lang="en-US" sz="1050" err="1">
                <a:solidFill>
                  <a:srgbClr val="000000"/>
                </a:solidFill>
              </a:rPr>
              <a:t>на</a:t>
            </a:r>
            <a:r>
              <a:rPr lang="en-US" sz="1050">
                <a:solidFill>
                  <a:srgbClr val="000000"/>
                </a:solidFill>
              </a:rPr>
              <a:t> </a:t>
            </a:r>
            <a:r>
              <a:rPr lang="en-US" sz="1050" err="1">
                <a:solidFill>
                  <a:srgbClr val="000000"/>
                </a:solidFill>
              </a:rPr>
              <a:t>телефона</a:t>
            </a:r>
            <a:r>
              <a:rPr lang="en-US" sz="1050">
                <a:solidFill>
                  <a:srgbClr val="000000"/>
                </a:solidFill>
              </a:rPr>
              <a:t>, </a:t>
            </a:r>
            <a:r>
              <a:rPr lang="en-US" sz="1050" err="1">
                <a:solidFill>
                  <a:srgbClr val="000000"/>
                </a:solidFill>
              </a:rPr>
              <a:t>аз</a:t>
            </a:r>
            <a:r>
              <a:rPr lang="en-US" sz="1050">
                <a:solidFill>
                  <a:srgbClr val="000000"/>
                </a:solidFill>
              </a:rPr>
              <a:t> </a:t>
            </a:r>
            <a:r>
              <a:rPr lang="en-US" sz="1050" err="1">
                <a:solidFill>
                  <a:srgbClr val="000000"/>
                </a:solidFill>
              </a:rPr>
              <a:t>съм</a:t>
            </a:r>
            <a:r>
              <a:rPr lang="en-US" sz="1050">
                <a:solidFill>
                  <a:srgbClr val="000000"/>
                </a:solidFill>
              </a:rPr>
              <a:t>).</a:t>
            </a:r>
            <a:br>
              <a:rPr lang="en-US" sz="1050"/>
            </a:br>
            <a:r>
              <a:rPr lang="en-US" sz="1050">
                <a:solidFill>
                  <a:srgbClr val="000000"/>
                </a:solidFill>
              </a:rPr>
              <a:t> </a:t>
            </a:r>
            <a:r>
              <a:rPr lang="en-US" sz="1050" b="1">
                <a:solidFill>
                  <a:srgbClr val="000000"/>
                </a:solidFill>
              </a:rPr>
              <a:t>-</a:t>
            </a:r>
            <a:r>
              <a:rPr lang="en-US" sz="1050" err="1">
                <a:solidFill>
                  <a:srgbClr val="000000"/>
                </a:solidFill>
              </a:rPr>
              <a:t>Здравейте</a:t>
            </a:r>
            <a:r>
              <a:rPr lang="en-US" sz="1050">
                <a:solidFill>
                  <a:srgbClr val="000000"/>
                </a:solidFill>
              </a:rPr>
              <a:t> г-н/г-</a:t>
            </a:r>
            <a:r>
              <a:rPr lang="en-US" sz="1050" err="1">
                <a:solidFill>
                  <a:srgbClr val="000000"/>
                </a:solidFill>
              </a:rPr>
              <a:t>жо</a:t>
            </a:r>
            <a:r>
              <a:rPr lang="en-US" sz="1050">
                <a:solidFill>
                  <a:srgbClr val="000000"/>
                </a:solidFill>
              </a:rPr>
              <a:t> (</a:t>
            </a:r>
            <a:r>
              <a:rPr lang="en-US" sz="1050" err="1">
                <a:solidFill>
                  <a:srgbClr val="000000"/>
                </a:solidFill>
              </a:rPr>
              <a:t>фамилия</a:t>
            </a:r>
            <a:r>
              <a:rPr lang="en-US" sz="1050">
                <a:solidFill>
                  <a:srgbClr val="000000"/>
                </a:solidFill>
              </a:rPr>
              <a:t> </a:t>
            </a:r>
            <a:r>
              <a:rPr lang="en-US" sz="1050" err="1">
                <a:solidFill>
                  <a:srgbClr val="000000"/>
                </a:solidFill>
              </a:rPr>
              <a:t>на</a:t>
            </a:r>
            <a:r>
              <a:rPr lang="en-US" sz="1050">
                <a:solidFill>
                  <a:srgbClr val="000000"/>
                </a:solidFill>
              </a:rPr>
              <a:t> </a:t>
            </a:r>
            <a:r>
              <a:rPr lang="en-US" sz="1050" err="1">
                <a:solidFill>
                  <a:srgbClr val="000000"/>
                </a:solidFill>
              </a:rPr>
              <a:t>клиента</a:t>
            </a:r>
            <a:r>
              <a:rPr lang="en-US" sz="1050">
                <a:solidFill>
                  <a:srgbClr val="000000"/>
                </a:solidFill>
              </a:rPr>
              <a:t>), </a:t>
            </a:r>
            <a:r>
              <a:rPr lang="en-US" sz="1050" err="1">
                <a:solidFill>
                  <a:srgbClr val="000000"/>
                </a:solidFill>
              </a:rPr>
              <a:t>обаждам</a:t>
            </a:r>
            <a:r>
              <a:rPr lang="en-US" sz="1050">
                <a:solidFill>
                  <a:srgbClr val="000000"/>
                </a:solidFill>
              </a:rPr>
              <a:t> </a:t>
            </a:r>
            <a:r>
              <a:rPr lang="en-US" sz="1050" err="1">
                <a:solidFill>
                  <a:srgbClr val="000000"/>
                </a:solidFill>
              </a:rPr>
              <a:t>се</a:t>
            </a:r>
            <a:r>
              <a:rPr lang="en-US" sz="1050">
                <a:solidFill>
                  <a:srgbClr val="000000"/>
                </a:solidFill>
              </a:rPr>
              <a:t> </a:t>
            </a:r>
            <a:r>
              <a:rPr lang="en-US" sz="1050" err="1">
                <a:solidFill>
                  <a:srgbClr val="000000"/>
                </a:solidFill>
              </a:rPr>
              <a:t>от</a:t>
            </a:r>
            <a:r>
              <a:rPr lang="en-US" sz="1050">
                <a:solidFill>
                  <a:srgbClr val="000000"/>
                </a:solidFill>
              </a:rPr>
              <a:t> </a:t>
            </a:r>
            <a:r>
              <a:rPr lang="en-US" sz="1050" err="1">
                <a:solidFill>
                  <a:srgbClr val="000000"/>
                </a:solidFill>
              </a:rPr>
              <a:t>Изи</a:t>
            </a:r>
            <a:r>
              <a:rPr lang="en-US" sz="1050">
                <a:solidFill>
                  <a:srgbClr val="000000"/>
                </a:solidFill>
              </a:rPr>
              <a:t> </a:t>
            </a:r>
            <a:r>
              <a:rPr lang="en-US" sz="1050" err="1">
                <a:solidFill>
                  <a:srgbClr val="000000"/>
                </a:solidFill>
              </a:rPr>
              <a:t>Кредит</a:t>
            </a:r>
            <a:r>
              <a:rPr lang="en-US" sz="1050">
                <a:solidFill>
                  <a:srgbClr val="000000"/>
                </a:solidFill>
              </a:rPr>
              <a:t> </a:t>
            </a:r>
            <a:r>
              <a:rPr lang="en-US" sz="1050" err="1">
                <a:solidFill>
                  <a:srgbClr val="000000"/>
                </a:solidFill>
              </a:rPr>
              <a:t>във</a:t>
            </a:r>
            <a:r>
              <a:rPr lang="en-US" sz="1050">
                <a:solidFill>
                  <a:srgbClr val="000000"/>
                </a:solidFill>
              </a:rPr>
              <a:t> </a:t>
            </a:r>
            <a:r>
              <a:rPr lang="en-US" sz="1050" err="1">
                <a:solidFill>
                  <a:srgbClr val="000000"/>
                </a:solidFill>
              </a:rPr>
              <a:t>връзка</a:t>
            </a:r>
            <a:r>
              <a:rPr lang="en-US" sz="1050">
                <a:solidFill>
                  <a:srgbClr val="000000"/>
                </a:solidFill>
              </a:rPr>
              <a:t> с </a:t>
            </a:r>
            <a:r>
              <a:rPr lang="en-US" sz="1050" err="1">
                <a:solidFill>
                  <a:srgbClr val="000000"/>
                </a:solidFill>
              </a:rPr>
              <a:t>изготвено</a:t>
            </a:r>
            <a:r>
              <a:rPr lang="en-US" sz="1050">
                <a:solidFill>
                  <a:srgbClr val="000000"/>
                </a:solidFill>
              </a:rPr>
              <a:t> </a:t>
            </a:r>
            <a:r>
              <a:rPr lang="en-US" sz="1050" err="1">
                <a:solidFill>
                  <a:srgbClr val="000000"/>
                </a:solidFill>
              </a:rPr>
              <a:t>предложение</a:t>
            </a:r>
            <a:r>
              <a:rPr lang="en-US" sz="1050">
                <a:solidFill>
                  <a:srgbClr val="000000"/>
                </a:solidFill>
              </a:rPr>
              <a:t>, </a:t>
            </a:r>
            <a:r>
              <a:rPr lang="en-US" sz="1050" err="1">
                <a:solidFill>
                  <a:srgbClr val="000000"/>
                </a:solidFill>
              </a:rPr>
              <a:t>специално</a:t>
            </a:r>
            <a:r>
              <a:rPr lang="en-US" sz="1050">
                <a:solidFill>
                  <a:srgbClr val="000000"/>
                </a:solidFill>
              </a:rPr>
              <a:t> </a:t>
            </a:r>
            <a:r>
              <a:rPr lang="en-US" sz="1050" err="1">
                <a:solidFill>
                  <a:srgbClr val="000000"/>
                </a:solidFill>
              </a:rPr>
              <a:t>за</a:t>
            </a:r>
            <a:r>
              <a:rPr lang="en-US" sz="1050">
                <a:solidFill>
                  <a:srgbClr val="000000"/>
                </a:solidFill>
              </a:rPr>
              <a:t> </a:t>
            </a:r>
            <a:r>
              <a:rPr lang="en-US" sz="1050" err="1">
                <a:solidFill>
                  <a:srgbClr val="000000"/>
                </a:solidFill>
              </a:rPr>
              <a:t>Вас</a:t>
            </a:r>
            <a:r>
              <a:rPr lang="en-US" sz="1050">
                <a:solidFill>
                  <a:srgbClr val="000000"/>
                </a:solidFill>
              </a:rPr>
              <a:t>. </a:t>
            </a:r>
            <a:r>
              <a:rPr lang="en-US" sz="1050" err="1">
                <a:solidFill>
                  <a:srgbClr val="000000"/>
                </a:solidFill>
              </a:rPr>
              <a:t>Удобно</a:t>
            </a:r>
            <a:r>
              <a:rPr lang="en-US" sz="1050">
                <a:solidFill>
                  <a:srgbClr val="000000"/>
                </a:solidFill>
              </a:rPr>
              <a:t> </a:t>
            </a:r>
            <a:r>
              <a:rPr lang="en-US" sz="1050" err="1">
                <a:solidFill>
                  <a:srgbClr val="000000"/>
                </a:solidFill>
              </a:rPr>
              <a:t>ли</a:t>
            </a:r>
            <a:r>
              <a:rPr lang="en-US" sz="1050">
                <a:solidFill>
                  <a:srgbClr val="000000"/>
                </a:solidFill>
              </a:rPr>
              <a:t> е </a:t>
            </a:r>
            <a:r>
              <a:rPr lang="en-US" sz="1050" err="1">
                <a:solidFill>
                  <a:srgbClr val="000000"/>
                </a:solidFill>
              </a:rPr>
              <a:t>да</a:t>
            </a:r>
            <a:r>
              <a:rPr lang="en-US" sz="1050">
                <a:solidFill>
                  <a:srgbClr val="000000"/>
                </a:solidFill>
              </a:rPr>
              <a:t> </a:t>
            </a:r>
            <a:r>
              <a:rPr lang="en-US" sz="1050" err="1">
                <a:solidFill>
                  <a:srgbClr val="000000"/>
                </a:solidFill>
              </a:rPr>
              <a:t>ми</a:t>
            </a:r>
            <a:r>
              <a:rPr lang="en-US" sz="1050">
                <a:solidFill>
                  <a:srgbClr val="000000"/>
                </a:solidFill>
              </a:rPr>
              <a:t> </a:t>
            </a:r>
            <a:r>
              <a:rPr lang="en-US" sz="1050" err="1">
                <a:solidFill>
                  <a:srgbClr val="000000"/>
                </a:solidFill>
              </a:rPr>
              <a:t>отделите</a:t>
            </a:r>
            <a:r>
              <a:rPr lang="en-US" sz="1050">
                <a:solidFill>
                  <a:srgbClr val="000000"/>
                </a:solidFill>
              </a:rPr>
              <a:t> </a:t>
            </a:r>
            <a:r>
              <a:rPr lang="en-US" sz="1050" err="1">
                <a:solidFill>
                  <a:srgbClr val="000000"/>
                </a:solidFill>
              </a:rPr>
              <a:t>една</a:t>
            </a:r>
            <a:r>
              <a:rPr lang="en-US" sz="1050">
                <a:solidFill>
                  <a:srgbClr val="000000"/>
                </a:solidFill>
              </a:rPr>
              <a:t>, </a:t>
            </a:r>
            <a:r>
              <a:rPr lang="en-US" sz="1050" err="1">
                <a:solidFill>
                  <a:srgbClr val="000000"/>
                </a:solidFill>
              </a:rPr>
              <a:t>две</a:t>
            </a:r>
            <a:r>
              <a:rPr lang="en-US" sz="1050">
                <a:solidFill>
                  <a:srgbClr val="000000"/>
                </a:solidFill>
              </a:rPr>
              <a:t> </a:t>
            </a:r>
            <a:r>
              <a:rPr lang="en-US" sz="1050" err="1">
                <a:solidFill>
                  <a:srgbClr val="000000"/>
                </a:solidFill>
              </a:rPr>
              <a:t>минути</a:t>
            </a:r>
            <a:r>
              <a:rPr lang="en-US" sz="1050">
                <a:solidFill>
                  <a:srgbClr val="000000"/>
                </a:solidFill>
              </a:rPr>
              <a:t>, </a:t>
            </a:r>
            <a:r>
              <a:rPr lang="en-US" sz="1050" err="1">
                <a:solidFill>
                  <a:srgbClr val="000000"/>
                </a:solidFill>
              </a:rPr>
              <a:t>за</a:t>
            </a:r>
            <a:r>
              <a:rPr lang="en-US" sz="1050">
                <a:solidFill>
                  <a:srgbClr val="000000"/>
                </a:solidFill>
              </a:rPr>
              <a:t> </a:t>
            </a:r>
            <a:r>
              <a:rPr lang="en-US" sz="1050" err="1">
                <a:solidFill>
                  <a:srgbClr val="000000"/>
                </a:solidFill>
              </a:rPr>
              <a:t>да</a:t>
            </a:r>
            <a:r>
              <a:rPr lang="en-US" sz="1050">
                <a:solidFill>
                  <a:srgbClr val="000000"/>
                </a:solidFill>
              </a:rPr>
              <a:t> </a:t>
            </a:r>
            <a:r>
              <a:rPr lang="en-US" sz="1050" err="1">
                <a:solidFill>
                  <a:srgbClr val="000000"/>
                </a:solidFill>
              </a:rPr>
              <a:t>Ви</a:t>
            </a:r>
            <a:r>
              <a:rPr lang="en-US" sz="1050">
                <a:solidFill>
                  <a:srgbClr val="000000"/>
                </a:solidFill>
              </a:rPr>
              <a:t> </a:t>
            </a:r>
            <a:r>
              <a:rPr lang="en-US" sz="1050" err="1">
                <a:solidFill>
                  <a:srgbClr val="000000"/>
                </a:solidFill>
              </a:rPr>
              <a:t>запозная</a:t>
            </a:r>
            <a:r>
              <a:rPr lang="en-US" sz="1050">
                <a:solidFill>
                  <a:srgbClr val="000000"/>
                </a:solidFill>
              </a:rPr>
              <a:t>? </a:t>
            </a:r>
            <a:br>
              <a:rPr lang="en-US" sz="1050"/>
            </a:br>
            <a:r>
              <a:rPr lang="en-US" sz="1050">
                <a:solidFill>
                  <a:srgbClr val="000000"/>
                </a:solidFill>
              </a:rPr>
              <a:t>-</a:t>
            </a:r>
            <a:r>
              <a:rPr lang="en-US" sz="1050" err="1">
                <a:solidFill>
                  <a:srgbClr val="000000"/>
                </a:solidFill>
              </a:rPr>
              <a:t>Да</a:t>
            </a:r>
            <a:r>
              <a:rPr lang="en-US" sz="1050">
                <a:solidFill>
                  <a:srgbClr val="000000"/>
                </a:solidFill>
              </a:rPr>
              <a:t> (</a:t>
            </a:r>
            <a:r>
              <a:rPr lang="en-US" sz="1050" err="1">
                <a:solidFill>
                  <a:srgbClr val="000000"/>
                </a:solidFill>
              </a:rPr>
              <a:t>слушам</a:t>
            </a:r>
            <a:r>
              <a:rPr lang="en-US" sz="1050">
                <a:solidFill>
                  <a:srgbClr val="000000"/>
                </a:solidFill>
              </a:rPr>
              <a:t> </a:t>
            </a:r>
            <a:r>
              <a:rPr lang="en-US" sz="1050" err="1">
                <a:solidFill>
                  <a:srgbClr val="000000"/>
                </a:solidFill>
              </a:rPr>
              <a:t>Ви</a:t>
            </a:r>
            <a:r>
              <a:rPr lang="en-US" sz="1050">
                <a:solidFill>
                  <a:srgbClr val="000000"/>
                </a:solidFill>
              </a:rPr>
              <a:t>).</a:t>
            </a:r>
            <a:br>
              <a:rPr lang="en-US" sz="1050"/>
            </a:br>
            <a:r>
              <a:rPr lang="en-US" sz="1050">
                <a:solidFill>
                  <a:srgbClr val="000000"/>
                </a:solidFill>
              </a:rPr>
              <a:t> (</a:t>
            </a:r>
            <a:r>
              <a:rPr lang="en-US" sz="1050" b="1" err="1">
                <a:solidFill>
                  <a:srgbClr val="000000"/>
                </a:solidFill>
              </a:rPr>
              <a:t>Представяне</a:t>
            </a:r>
            <a:r>
              <a:rPr lang="en-US" sz="1050" b="1">
                <a:solidFill>
                  <a:srgbClr val="000000"/>
                </a:solidFill>
              </a:rPr>
              <a:t> </a:t>
            </a:r>
            <a:r>
              <a:rPr lang="en-US" sz="1050" b="1" err="1">
                <a:solidFill>
                  <a:srgbClr val="000000"/>
                </a:solidFill>
              </a:rPr>
              <a:t>на</a:t>
            </a:r>
            <a:r>
              <a:rPr lang="en-US" sz="1050" b="1">
                <a:solidFill>
                  <a:srgbClr val="000000"/>
                </a:solidFill>
              </a:rPr>
              <a:t> </a:t>
            </a:r>
            <a:r>
              <a:rPr lang="en-US" sz="1050" b="1" err="1">
                <a:solidFill>
                  <a:srgbClr val="000000"/>
                </a:solidFill>
              </a:rPr>
              <a:t>предложнието</a:t>
            </a:r>
            <a:r>
              <a:rPr lang="en-US" sz="1050">
                <a:solidFill>
                  <a:srgbClr val="000000"/>
                </a:solidFill>
              </a:rPr>
              <a:t>)</a:t>
            </a:r>
            <a:br>
              <a:rPr lang="en-US" sz="1050"/>
            </a:br>
            <a:r>
              <a:rPr lang="en-US" sz="1050">
                <a:solidFill>
                  <a:srgbClr val="000000"/>
                </a:solidFill>
              </a:rPr>
              <a:t> -</a:t>
            </a:r>
            <a:r>
              <a:rPr lang="en-US" sz="1050" err="1">
                <a:solidFill>
                  <a:srgbClr val="000000"/>
                </a:solidFill>
              </a:rPr>
              <a:t>Как</a:t>
            </a:r>
            <a:r>
              <a:rPr lang="en-US" sz="1050">
                <a:solidFill>
                  <a:srgbClr val="000000"/>
                </a:solidFill>
              </a:rPr>
              <a:t> </a:t>
            </a:r>
            <a:r>
              <a:rPr lang="en-US" sz="1050" err="1">
                <a:solidFill>
                  <a:srgbClr val="000000"/>
                </a:solidFill>
              </a:rPr>
              <a:t>Ви</a:t>
            </a:r>
            <a:r>
              <a:rPr lang="en-US" sz="1050">
                <a:solidFill>
                  <a:srgbClr val="000000"/>
                </a:solidFill>
              </a:rPr>
              <a:t> </a:t>
            </a:r>
            <a:r>
              <a:rPr lang="en-US" sz="1050" err="1">
                <a:solidFill>
                  <a:srgbClr val="000000"/>
                </a:solidFill>
              </a:rPr>
              <a:t>се</a:t>
            </a:r>
            <a:r>
              <a:rPr lang="en-US" sz="1050">
                <a:solidFill>
                  <a:srgbClr val="000000"/>
                </a:solidFill>
              </a:rPr>
              <a:t> </a:t>
            </a:r>
            <a:r>
              <a:rPr lang="en-US" sz="1050" err="1">
                <a:solidFill>
                  <a:srgbClr val="000000"/>
                </a:solidFill>
              </a:rPr>
              <a:t>струва</a:t>
            </a:r>
            <a:r>
              <a:rPr lang="en-US" sz="1050">
                <a:solidFill>
                  <a:srgbClr val="000000"/>
                </a:solidFill>
              </a:rPr>
              <a:t> </a:t>
            </a:r>
            <a:r>
              <a:rPr lang="en-US" sz="1050" err="1">
                <a:solidFill>
                  <a:srgbClr val="000000"/>
                </a:solidFill>
              </a:rPr>
              <a:t>моето</a:t>
            </a:r>
            <a:r>
              <a:rPr lang="en-US" sz="1050">
                <a:solidFill>
                  <a:srgbClr val="000000"/>
                </a:solidFill>
              </a:rPr>
              <a:t> </a:t>
            </a:r>
            <a:r>
              <a:rPr lang="en-US" sz="1050" err="1">
                <a:solidFill>
                  <a:srgbClr val="000000"/>
                </a:solidFill>
              </a:rPr>
              <a:t>предложение</a:t>
            </a:r>
            <a:r>
              <a:rPr lang="en-US" sz="1050">
                <a:solidFill>
                  <a:srgbClr val="000000"/>
                </a:solidFill>
              </a:rPr>
              <a:t>?</a:t>
            </a:r>
            <a:endParaRPr lang="en-US" sz="1050"/>
          </a:p>
        </p:txBody>
      </p:sp>
      <p:sp>
        <p:nvSpPr>
          <p:cNvPr id="40" name="Правоъгълник: със заоблени ъгли 39">
            <a:extLst>
              <a:ext uri="{FF2B5EF4-FFF2-40B4-BE49-F238E27FC236}">
                <a16:creationId xmlns:a16="http://schemas.microsoft.com/office/drawing/2014/main" id="{B22617D4-C8AA-13AC-1879-D9E264B861F6}"/>
              </a:ext>
            </a:extLst>
          </p:cNvPr>
          <p:cNvSpPr/>
          <p:nvPr/>
        </p:nvSpPr>
        <p:spPr>
          <a:xfrm>
            <a:off x="4305321" y="3216103"/>
            <a:ext cx="3312282" cy="377658"/>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bg-BG" sz="1300" b="1">
                <a:solidFill>
                  <a:srgbClr val="1F3864"/>
                </a:solidFill>
              </a:rPr>
              <a:t>Възражения и отговор</a:t>
            </a:r>
          </a:p>
        </p:txBody>
      </p:sp>
      <p:sp>
        <p:nvSpPr>
          <p:cNvPr id="43" name="Rectangle: Rounded Corners 11">
            <a:extLst>
              <a:ext uri="{FF2B5EF4-FFF2-40B4-BE49-F238E27FC236}">
                <a16:creationId xmlns:a16="http://schemas.microsoft.com/office/drawing/2014/main" id="{58827759-AF24-17F0-CCC4-1BFD62117545}"/>
              </a:ext>
            </a:extLst>
          </p:cNvPr>
          <p:cNvSpPr/>
          <p:nvPr/>
        </p:nvSpPr>
        <p:spPr>
          <a:xfrm>
            <a:off x="4169865" y="1046439"/>
            <a:ext cx="3740184" cy="296385"/>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bg-BG" sz="1600"/>
              <a:t>Предварително одобрен клиент</a:t>
            </a:r>
            <a:endParaRPr lang="en-GB" sz="1600"/>
          </a:p>
        </p:txBody>
      </p:sp>
      <p:sp>
        <p:nvSpPr>
          <p:cNvPr id="47" name="Правоъгълник: със заоблени ъгли 16">
            <a:extLst>
              <a:ext uri="{FF2B5EF4-FFF2-40B4-BE49-F238E27FC236}">
                <a16:creationId xmlns:a16="http://schemas.microsoft.com/office/drawing/2014/main" id="{45295115-78C2-9EBE-E21F-49F21E1A63E6}"/>
              </a:ext>
            </a:extLst>
          </p:cNvPr>
          <p:cNvSpPr/>
          <p:nvPr/>
        </p:nvSpPr>
        <p:spPr>
          <a:xfrm>
            <a:off x="4883554" y="5391326"/>
            <a:ext cx="2344027" cy="434737"/>
          </a:xfrm>
          <a:prstGeom prst="roundRect">
            <a:avLst>
              <a:gd name="adj" fmla="val 50000"/>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200"/>
              <a:t>Тренирай</a:t>
            </a:r>
          </a:p>
        </p:txBody>
      </p:sp>
      <p:sp>
        <p:nvSpPr>
          <p:cNvPr id="48" name="Знак за умножение 47">
            <a:extLst>
              <a:ext uri="{FF2B5EF4-FFF2-40B4-BE49-F238E27FC236}">
                <a16:creationId xmlns:a16="http://schemas.microsoft.com/office/drawing/2014/main" id="{8E0F0320-881E-6C3B-3EB6-BCE5B3596313}"/>
              </a:ext>
            </a:extLst>
          </p:cNvPr>
          <p:cNvSpPr/>
          <p:nvPr/>
        </p:nvSpPr>
        <p:spPr>
          <a:xfrm>
            <a:off x="7606015" y="1025759"/>
            <a:ext cx="256069" cy="305689"/>
          </a:xfrm>
          <a:prstGeom prst="mathMultiply">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59" name="Правоъгълник: със заоблени ъгли 58">
            <a:extLst>
              <a:ext uri="{FF2B5EF4-FFF2-40B4-BE49-F238E27FC236}">
                <a16:creationId xmlns:a16="http://schemas.microsoft.com/office/drawing/2014/main" id="{9FC6CBAE-75A9-CF07-17BB-FD5B4CE0940F}"/>
              </a:ext>
            </a:extLst>
          </p:cNvPr>
          <p:cNvSpPr/>
          <p:nvPr/>
        </p:nvSpPr>
        <p:spPr>
          <a:xfrm>
            <a:off x="64571" y="256478"/>
            <a:ext cx="3671794" cy="6172583"/>
          </a:xfrm>
          <a:prstGeom prst="roundRect">
            <a:avLst/>
          </a:prstGeom>
          <a:solidFill>
            <a:schemeClr val="bg1">
              <a:lumMod val="95000"/>
            </a:schemeClr>
          </a:solidFill>
          <a:ln>
            <a:noFill/>
          </a:ln>
          <a:effectLst>
            <a:outerShdw blurRad="63500" dist="38100" dir="270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pic>
        <p:nvPicPr>
          <p:cNvPr id="60" name="Picture 10" descr="Картина, която съдържа текст, екранна снимка&#10;&#10;Генерирано от ИИ съдържание може да е неправилно.">
            <a:extLst>
              <a:ext uri="{FF2B5EF4-FFF2-40B4-BE49-F238E27FC236}">
                <a16:creationId xmlns:a16="http://schemas.microsoft.com/office/drawing/2014/main" id="{52A523AD-D807-8A8A-1F73-B5AD3D5C4911}"/>
              </a:ext>
            </a:extLst>
          </p:cNvPr>
          <p:cNvPicPr>
            <a:picLocks noChangeAspect="1"/>
          </p:cNvPicPr>
          <p:nvPr/>
        </p:nvPicPr>
        <p:blipFill>
          <a:blip r:embed="rId2"/>
          <a:srcRect b="88415"/>
          <a:stretch>
            <a:fillRect/>
          </a:stretch>
        </p:blipFill>
        <p:spPr>
          <a:xfrm>
            <a:off x="33205" y="260331"/>
            <a:ext cx="3740239" cy="77148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50" name="Rectangle: Rounded Corners 9">
            <a:extLst>
              <a:ext uri="{FF2B5EF4-FFF2-40B4-BE49-F238E27FC236}">
                <a16:creationId xmlns:a16="http://schemas.microsoft.com/office/drawing/2014/main" id="{8D23933B-9D60-EE1D-B363-3FD92DA3DF89}"/>
              </a:ext>
            </a:extLst>
          </p:cNvPr>
          <p:cNvSpPr/>
          <p:nvPr/>
        </p:nvSpPr>
        <p:spPr>
          <a:xfrm>
            <a:off x="415090" y="1978727"/>
            <a:ext cx="2932281" cy="677241"/>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bg-BG" sz="1600"/>
              <a:t>Предварително одобрен клиент</a:t>
            </a:r>
            <a:endParaRPr lang="en-GB" sz="1600"/>
          </a:p>
        </p:txBody>
      </p:sp>
      <p:sp>
        <p:nvSpPr>
          <p:cNvPr id="52" name="Rectangle: Rounded Corners 11">
            <a:extLst>
              <a:ext uri="{FF2B5EF4-FFF2-40B4-BE49-F238E27FC236}">
                <a16:creationId xmlns:a16="http://schemas.microsoft.com/office/drawing/2014/main" id="{33BF9531-2CF8-A7ED-40C9-9129026218C2}"/>
              </a:ext>
            </a:extLst>
          </p:cNvPr>
          <p:cNvSpPr/>
          <p:nvPr/>
        </p:nvSpPr>
        <p:spPr>
          <a:xfrm>
            <a:off x="415089" y="1174969"/>
            <a:ext cx="2932281" cy="677241"/>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bg-BG" sz="1600"/>
              <a:t>Лоялен клиент</a:t>
            </a:r>
            <a:endParaRPr lang="en-GB" sz="1600"/>
          </a:p>
        </p:txBody>
      </p:sp>
      <p:sp>
        <p:nvSpPr>
          <p:cNvPr id="54" name="Rectangle: Rounded Corners 13">
            <a:extLst>
              <a:ext uri="{FF2B5EF4-FFF2-40B4-BE49-F238E27FC236}">
                <a16:creationId xmlns:a16="http://schemas.microsoft.com/office/drawing/2014/main" id="{0E8EB732-B8B5-0293-0392-F2DACA1575BA}"/>
              </a:ext>
            </a:extLst>
          </p:cNvPr>
          <p:cNvSpPr/>
          <p:nvPr/>
        </p:nvSpPr>
        <p:spPr>
          <a:xfrm>
            <a:off x="415088" y="2838941"/>
            <a:ext cx="2932281" cy="677241"/>
          </a:xfrm>
          <a:prstGeom prst="roundRect">
            <a:avLst/>
          </a:prstGeom>
          <a:solidFill>
            <a:schemeClr val="bg2">
              <a:lumMod val="75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bg-BG" sz="1600"/>
              <a:t>Промо кампания</a:t>
            </a:r>
            <a:endParaRPr lang="en-GB" sz="1600"/>
          </a:p>
        </p:txBody>
      </p:sp>
      <p:sp>
        <p:nvSpPr>
          <p:cNvPr id="56" name="Rectangle 9">
            <a:extLst>
              <a:ext uri="{FF2B5EF4-FFF2-40B4-BE49-F238E27FC236}">
                <a16:creationId xmlns:a16="http://schemas.microsoft.com/office/drawing/2014/main" id="{28D6C12E-27D2-EF65-67FD-865779DAD2C3}"/>
              </a:ext>
            </a:extLst>
          </p:cNvPr>
          <p:cNvSpPr/>
          <p:nvPr/>
        </p:nvSpPr>
        <p:spPr>
          <a:xfrm>
            <a:off x="415086" y="4647304"/>
            <a:ext cx="2932281" cy="677241"/>
          </a:xfrm>
          <a:prstGeom prst="roundRect">
            <a:avLst/>
          </a:prstGeom>
          <a:solidFill>
            <a:schemeClr val="bg2">
              <a:lumMod val="75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По препоръка</a:t>
            </a:r>
            <a:endParaRPr lang="en-GB" sz="1600"/>
          </a:p>
        </p:txBody>
      </p:sp>
      <p:sp>
        <p:nvSpPr>
          <p:cNvPr id="58" name="Rectangle 11">
            <a:extLst>
              <a:ext uri="{FF2B5EF4-FFF2-40B4-BE49-F238E27FC236}">
                <a16:creationId xmlns:a16="http://schemas.microsoft.com/office/drawing/2014/main" id="{1B1E0DD0-3DC5-A0C1-76FA-FAAB43CDCCC5}"/>
              </a:ext>
            </a:extLst>
          </p:cNvPr>
          <p:cNvSpPr/>
          <p:nvPr/>
        </p:nvSpPr>
        <p:spPr>
          <a:xfrm>
            <a:off x="415087" y="3734537"/>
            <a:ext cx="2932281" cy="677241"/>
          </a:xfrm>
          <a:prstGeom prst="roundRect">
            <a:avLst/>
          </a:prstGeom>
          <a:solidFill>
            <a:schemeClr val="bg2">
              <a:lumMod val="75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bg-BG" sz="1600"/>
              <a:t>Продукт „Пенсионер“</a:t>
            </a:r>
            <a:endParaRPr lang="en-GB" sz="1600"/>
          </a:p>
        </p:txBody>
      </p:sp>
      <p:sp>
        <p:nvSpPr>
          <p:cNvPr id="62" name="Стрелка надясно 61">
            <a:extLst>
              <a:ext uri="{FF2B5EF4-FFF2-40B4-BE49-F238E27FC236}">
                <a16:creationId xmlns:a16="http://schemas.microsoft.com/office/drawing/2014/main" id="{F05F5642-24C8-4B9F-D3FF-BF67B9D91BB5}"/>
              </a:ext>
            </a:extLst>
          </p:cNvPr>
          <p:cNvSpPr/>
          <p:nvPr/>
        </p:nvSpPr>
        <p:spPr>
          <a:xfrm>
            <a:off x="3872209" y="2862209"/>
            <a:ext cx="262040" cy="34335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3" name="Rectangle: Rounded Corners 1">
            <a:extLst>
              <a:ext uri="{FF2B5EF4-FFF2-40B4-BE49-F238E27FC236}">
                <a16:creationId xmlns:a16="http://schemas.microsoft.com/office/drawing/2014/main" id="{F2AD146C-C5FB-B0AD-1BBB-FA3B197988C1}"/>
              </a:ext>
            </a:extLst>
          </p:cNvPr>
          <p:cNvSpPr/>
          <p:nvPr/>
        </p:nvSpPr>
        <p:spPr>
          <a:xfrm>
            <a:off x="4373781" y="3618588"/>
            <a:ext cx="3312570" cy="486217"/>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200"/>
              <a:t>Харесва ми!</a:t>
            </a:r>
          </a:p>
        </p:txBody>
      </p:sp>
      <p:sp>
        <p:nvSpPr>
          <p:cNvPr id="5" name="Rectangle: Rounded Corners 4">
            <a:extLst>
              <a:ext uri="{FF2B5EF4-FFF2-40B4-BE49-F238E27FC236}">
                <a16:creationId xmlns:a16="http://schemas.microsoft.com/office/drawing/2014/main" id="{97A82A12-B78B-ACF4-DC8F-90900EC4564E}"/>
              </a:ext>
            </a:extLst>
          </p:cNvPr>
          <p:cNvSpPr/>
          <p:nvPr/>
        </p:nvSpPr>
        <p:spPr>
          <a:xfrm>
            <a:off x="4372452" y="4196204"/>
            <a:ext cx="3312570" cy="470868"/>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200">
                <a:ea typeface="+mn-lt"/>
                <a:cs typeface="+mn-lt"/>
              </a:rPr>
              <a:t>Нямам нужда</a:t>
            </a:r>
            <a:endParaRPr lang="bg-BG"/>
          </a:p>
        </p:txBody>
      </p:sp>
      <p:sp>
        <p:nvSpPr>
          <p:cNvPr id="13" name="Rectangle: Rounded Corners 4">
            <a:extLst>
              <a:ext uri="{FF2B5EF4-FFF2-40B4-BE49-F238E27FC236}">
                <a16:creationId xmlns:a16="http://schemas.microsoft.com/office/drawing/2014/main" id="{F23A4904-44BB-A400-1433-3184E8C20E7E}"/>
              </a:ext>
            </a:extLst>
          </p:cNvPr>
          <p:cNvSpPr/>
          <p:nvPr/>
        </p:nvSpPr>
        <p:spPr>
          <a:xfrm>
            <a:off x="4372811" y="4750386"/>
            <a:ext cx="3312570" cy="470868"/>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200"/>
              <a:t>Нека да помисля</a:t>
            </a:r>
          </a:p>
        </p:txBody>
      </p:sp>
      <p:sp>
        <p:nvSpPr>
          <p:cNvPr id="16" name="Знак плюс 40">
            <a:extLst>
              <a:ext uri="{FF2B5EF4-FFF2-40B4-BE49-F238E27FC236}">
                <a16:creationId xmlns:a16="http://schemas.microsoft.com/office/drawing/2014/main" id="{6D59732E-AD87-41B4-AB8D-50A4AD19FFD6}"/>
              </a:ext>
            </a:extLst>
          </p:cNvPr>
          <p:cNvSpPr/>
          <p:nvPr/>
        </p:nvSpPr>
        <p:spPr>
          <a:xfrm>
            <a:off x="7354810" y="3636772"/>
            <a:ext cx="317560" cy="337408"/>
          </a:xfrm>
          <a:prstGeom prst="mathPlu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17" name="Правоъгълник: със заоблени ъгли 27">
            <a:extLst>
              <a:ext uri="{FF2B5EF4-FFF2-40B4-BE49-F238E27FC236}">
                <a16:creationId xmlns:a16="http://schemas.microsoft.com/office/drawing/2014/main" id="{6CC82883-D71A-8151-01D2-78FC8119D55E}"/>
              </a:ext>
            </a:extLst>
          </p:cNvPr>
          <p:cNvSpPr/>
          <p:nvPr/>
        </p:nvSpPr>
        <p:spPr>
          <a:xfrm>
            <a:off x="8355889" y="275561"/>
            <a:ext cx="3775703" cy="6161038"/>
          </a:xfrm>
          <a:prstGeom prst="roundRect">
            <a:avLst/>
          </a:prstGeom>
          <a:solidFill>
            <a:schemeClr val="bg1">
              <a:lumMod val="95000"/>
            </a:schemeClr>
          </a:solidFill>
          <a:ln>
            <a:noFill/>
          </a:ln>
          <a:effectLst>
            <a:outerShdw blurRad="63500" dist="38100" dir="270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pic>
        <p:nvPicPr>
          <p:cNvPr id="18" name="Picture 10" descr="Картина, която съдържа текст, екранна снимка&#10;&#10;Генерирано от ИИ съдържание може да е неправилно.">
            <a:extLst>
              <a:ext uri="{FF2B5EF4-FFF2-40B4-BE49-F238E27FC236}">
                <a16:creationId xmlns:a16="http://schemas.microsoft.com/office/drawing/2014/main" id="{EB838A1D-2FA1-F98A-E105-0B8671B7106C}"/>
              </a:ext>
            </a:extLst>
          </p:cNvPr>
          <p:cNvPicPr>
            <a:picLocks noChangeAspect="1"/>
          </p:cNvPicPr>
          <p:nvPr/>
        </p:nvPicPr>
        <p:blipFill>
          <a:blip r:embed="rId2"/>
          <a:srcRect b="88415"/>
          <a:stretch>
            <a:fillRect/>
          </a:stretch>
        </p:blipFill>
        <p:spPr>
          <a:xfrm>
            <a:off x="8360243" y="256325"/>
            <a:ext cx="3774875" cy="86384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22" name="Rectangle: Rounded Corners 11">
            <a:extLst>
              <a:ext uri="{FF2B5EF4-FFF2-40B4-BE49-F238E27FC236}">
                <a16:creationId xmlns:a16="http://schemas.microsoft.com/office/drawing/2014/main" id="{A9BF3173-4DA6-5B85-A368-54761AFE500D}"/>
              </a:ext>
            </a:extLst>
          </p:cNvPr>
          <p:cNvSpPr/>
          <p:nvPr/>
        </p:nvSpPr>
        <p:spPr>
          <a:xfrm>
            <a:off x="8355453" y="1127979"/>
            <a:ext cx="3740184" cy="296385"/>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bg-BG" sz="1600"/>
              <a:t>Предварително одобрен клиент</a:t>
            </a:r>
            <a:endParaRPr lang="en-GB" sz="1600"/>
          </a:p>
        </p:txBody>
      </p:sp>
      <p:sp>
        <p:nvSpPr>
          <p:cNvPr id="23" name="Правоъгълник: със заоблени ъгли 16">
            <a:extLst>
              <a:ext uri="{FF2B5EF4-FFF2-40B4-BE49-F238E27FC236}">
                <a16:creationId xmlns:a16="http://schemas.microsoft.com/office/drawing/2014/main" id="{3A41B575-63A8-F316-278D-69441C32DFC7}"/>
              </a:ext>
            </a:extLst>
          </p:cNvPr>
          <p:cNvSpPr/>
          <p:nvPr/>
        </p:nvSpPr>
        <p:spPr>
          <a:xfrm>
            <a:off x="8881116" y="5342567"/>
            <a:ext cx="2344027" cy="434737"/>
          </a:xfrm>
          <a:prstGeom prst="roundRect">
            <a:avLst>
              <a:gd name="adj" fmla="val 50000"/>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200"/>
              <a:t>Тренирай</a:t>
            </a:r>
          </a:p>
        </p:txBody>
      </p:sp>
      <p:sp>
        <p:nvSpPr>
          <p:cNvPr id="24" name="Знак за умножение 47">
            <a:extLst>
              <a:ext uri="{FF2B5EF4-FFF2-40B4-BE49-F238E27FC236}">
                <a16:creationId xmlns:a16="http://schemas.microsoft.com/office/drawing/2014/main" id="{46CB311C-4D3C-6D1A-3F6C-31DFC2E28733}"/>
              </a:ext>
            </a:extLst>
          </p:cNvPr>
          <p:cNvSpPr/>
          <p:nvPr/>
        </p:nvSpPr>
        <p:spPr>
          <a:xfrm>
            <a:off x="11800983" y="1095754"/>
            <a:ext cx="256069" cy="305689"/>
          </a:xfrm>
          <a:prstGeom prst="mathMultiply">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25" name="Rectangle: Rounded Corners 1">
            <a:extLst>
              <a:ext uri="{FF2B5EF4-FFF2-40B4-BE49-F238E27FC236}">
                <a16:creationId xmlns:a16="http://schemas.microsoft.com/office/drawing/2014/main" id="{92DE13CC-5063-FA5D-C296-449A934C4CBB}"/>
              </a:ext>
            </a:extLst>
          </p:cNvPr>
          <p:cNvSpPr/>
          <p:nvPr/>
        </p:nvSpPr>
        <p:spPr>
          <a:xfrm>
            <a:off x="8574883" y="1904088"/>
            <a:ext cx="3205415" cy="533841"/>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200"/>
              <a:t>Харесва ми!</a:t>
            </a:r>
          </a:p>
        </p:txBody>
      </p:sp>
      <p:sp>
        <p:nvSpPr>
          <p:cNvPr id="26" name="Rectangle: Rounded Corners 25">
            <a:extLst>
              <a:ext uri="{FF2B5EF4-FFF2-40B4-BE49-F238E27FC236}">
                <a16:creationId xmlns:a16="http://schemas.microsoft.com/office/drawing/2014/main" id="{436316BD-CB60-4F9E-818C-C8C2EEBD238D}"/>
              </a:ext>
            </a:extLst>
          </p:cNvPr>
          <p:cNvSpPr/>
          <p:nvPr/>
        </p:nvSpPr>
        <p:spPr>
          <a:xfrm>
            <a:off x="8573554" y="2517422"/>
            <a:ext cx="3229227" cy="387525"/>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200">
                <a:ea typeface="+mn-lt"/>
                <a:cs typeface="+mn-lt"/>
              </a:rPr>
              <a:t>Нямам нужда</a:t>
            </a:r>
            <a:endParaRPr lang="bg-BG"/>
          </a:p>
        </p:txBody>
      </p:sp>
      <p:sp>
        <p:nvSpPr>
          <p:cNvPr id="27" name="Rectangle: Rounded Corners 4">
            <a:extLst>
              <a:ext uri="{FF2B5EF4-FFF2-40B4-BE49-F238E27FC236}">
                <a16:creationId xmlns:a16="http://schemas.microsoft.com/office/drawing/2014/main" id="{A0D7FB77-E9C3-497C-EE1E-56A5AEAD040C}"/>
              </a:ext>
            </a:extLst>
          </p:cNvPr>
          <p:cNvSpPr/>
          <p:nvPr/>
        </p:nvSpPr>
        <p:spPr>
          <a:xfrm>
            <a:off x="8573913" y="3000166"/>
            <a:ext cx="3205415" cy="411338"/>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200"/>
              <a:t>Нека да помисля</a:t>
            </a:r>
          </a:p>
        </p:txBody>
      </p:sp>
      <p:sp>
        <p:nvSpPr>
          <p:cNvPr id="32" name="Знак плюс 40">
            <a:extLst>
              <a:ext uri="{FF2B5EF4-FFF2-40B4-BE49-F238E27FC236}">
                <a16:creationId xmlns:a16="http://schemas.microsoft.com/office/drawing/2014/main" id="{C612DAC7-95DC-2804-A714-3F98A1EBCA4C}"/>
              </a:ext>
            </a:extLst>
          </p:cNvPr>
          <p:cNvSpPr/>
          <p:nvPr/>
        </p:nvSpPr>
        <p:spPr>
          <a:xfrm>
            <a:off x="11438653" y="1969898"/>
            <a:ext cx="317560" cy="337408"/>
          </a:xfrm>
          <a:prstGeom prst="mathPlu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37" name="Rectangle: Rounded Corners 4">
            <a:extLst>
              <a:ext uri="{FF2B5EF4-FFF2-40B4-BE49-F238E27FC236}">
                <a16:creationId xmlns:a16="http://schemas.microsoft.com/office/drawing/2014/main" id="{F9B6489E-754E-0C79-ECA1-4D3F0CE8F4D8}"/>
              </a:ext>
            </a:extLst>
          </p:cNvPr>
          <p:cNvSpPr/>
          <p:nvPr/>
        </p:nvSpPr>
        <p:spPr>
          <a:xfrm>
            <a:off x="8578605" y="3515098"/>
            <a:ext cx="3234999" cy="482052"/>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200">
                <a:ea typeface="+mn-lt"/>
                <a:cs typeface="+mn-lt"/>
              </a:rPr>
              <a:t>Вече имам кредит другаде</a:t>
            </a:r>
            <a:endParaRPr lang="bg-BG"/>
          </a:p>
        </p:txBody>
      </p:sp>
      <p:sp>
        <p:nvSpPr>
          <p:cNvPr id="39" name="Rectangle: Rounded Corners 4">
            <a:extLst>
              <a:ext uri="{FF2B5EF4-FFF2-40B4-BE49-F238E27FC236}">
                <a16:creationId xmlns:a16="http://schemas.microsoft.com/office/drawing/2014/main" id="{6540E7D2-0A02-0A0C-BA02-4D41B217806A}"/>
              </a:ext>
            </a:extLst>
          </p:cNvPr>
          <p:cNvSpPr/>
          <p:nvPr/>
        </p:nvSpPr>
        <p:spPr>
          <a:xfrm>
            <a:off x="8578605" y="4106629"/>
            <a:ext cx="3234999" cy="482052"/>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200">
                <a:ea typeface="+mn-lt"/>
                <a:cs typeface="+mn-lt"/>
              </a:rPr>
              <a:t>Не искам, защото са Ви високи лихвите!</a:t>
            </a:r>
            <a:endParaRPr lang="bg-BG">
              <a:ea typeface="+mn-lt"/>
              <a:cs typeface="+mn-lt"/>
            </a:endParaRPr>
          </a:p>
        </p:txBody>
      </p:sp>
      <p:sp>
        <p:nvSpPr>
          <p:cNvPr id="44" name="Rectangle: Rounded Corners 4">
            <a:extLst>
              <a:ext uri="{FF2B5EF4-FFF2-40B4-BE49-F238E27FC236}">
                <a16:creationId xmlns:a16="http://schemas.microsoft.com/office/drawing/2014/main" id="{A480CC42-F821-B30F-F772-E346C1A853CF}"/>
              </a:ext>
            </a:extLst>
          </p:cNvPr>
          <p:cNvSpPr/>
          <p:nvPr/>
        </p:nvSpPr>
        <p:spPr>
          <a:xfrm>
            <a:off x="8578605" y="4663681"/>
            <a:ext cx="3234999" cy="482052"/>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200">
                <a:ea typeface="+mn-lt"/>
                <a:cs typeface="+mn-lt"/>
              </a:rPr>
              <a:t>Искам да се посъветвам със семейството си.</a:t>
            </a:r>
            <a:endParaRPr lang="bg-BG"/>
          </a:p>
        </p:txBody>
      </p:sp>
      <p:sp>
        <p:nvSpPr>
          <p:cNvPr id="2" name="Стрелка надясно 61">
            <a:extLst>
              <a:ext uri="{FF2B5EF4-FFF2-40B4-BE49-F238E27FC236}">
                <a16:creationId xmlns:a16="http://schemas.microsoft.com/office/drawing/2014/main" id="{14EC78B9-2B24-C60E-FAB9-A7087F75D20B}"/>
              </a:ext>
            </a:extLst>
          </p:cNvPr>
          <p:cNvSpPr/>
          <p:nvPr/>
        </p:nvSpPr>
        <p:spPr>
          <a:xfrm>
            <a:off x="7976605" y="2898494"/>
            <a:ext cx="262040" cy="34335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cxnSp>
        <p:nvCxnSpPr>
          <p:cNvPr id="10" name="Straight Arrow Connector 9">
            <a:extLst>
              <a:ext uri="{FF2B5EF4-FFF2-40B4-BE49-F238E27FC236}">
                <a16:creationId xmlns:a16="http://schemas.microsoft.com/office/drawing/2014/main" id="{CC90D716-3780-7BCC-B8CD-951B89F08D80}"/>
              </a:ext>
            </a:extLst>
          </p:cNvPr>
          <p:cNvCxnSpPr/>
          <p:nvPr/>
        </p:nvCxnSpPr>
        <p:spPr>
          <a:xfrm>
            <a:off x="11861679" y="1535470"/>
            <a:ext cx="14882" cy="4041235"/>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DA527B40-7FB6-29CD-149B-CF1863335168}"/>
              </a:ext>
            </a:extLst>
          </p:cNvPr>
          <p:cNvSpPr txBox="1"/>
          <p:nvPr/>
        </p:nvSpPr>
        <p:spPr>
          <a:xfrm>
            <a:off x="8568247" y="1329786"/>
            <a:ext cx="3158313" cy="6001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a:t>-</a:t>
            </a:r>
            <a:r>
              <a:rPr lang="en-US" sz="1100" err="1"/>
              <a:t>Да</a:t>
            </a:r>
            <a:r>
              <a:rPr lang="en-US" sz="1100"/>
              <a:t> (</a:t>
            </a:r>
            <a:r>
              <a:rPr lang="en-US" sz="1100" err="1"/>
              <a:t>слушам</a:t>
            </a:r>
            <a:r>
              <a:rPr lang="en-US" sz="1100"/>
              <a:t> </a:t>
            </a:r>
            <a:r>
              <a:rPr lang="en-US" sz="1100" err="1"/>
              <a:t>Ви</a:t>
            </a:r>
            <a:r>
              <a:rPr lang="en-US" sz="1100"/>
              <a:t>).</a:t>
            </a:r>
            <a:br>
              <a:rPr lang="en-US" sz="1100"/>
            </a:br>
            <a:r>
              <a:rPr lang="en-US" sz="1100"/>
              <a:t> (</a:t>
            </a:r>
            <a:r>
              <a:rPr lang="en-US" sz="1100" b="1" err="1"/>
              <a:t>Представяне</a:t>
            </a:r>
            <a:r>
              <a:rPr lang="en-US" sz="1100" b="1"/>
              <a:t> </a:t>
            </a:r>
            <a:r>
              <a:rPr lang="en-US" sz="1100" b="1" err="1"/>
              <a:t>на</a:t>
            </a:r>
            <a:r>
              <a:rPr lang="en-US" sz="1100" b="1"/>
              <a:t> </a:t>
            </a:r>
            <a:r>
              <a:rPr lang="en-US" sz="1100" b="1" err="1"/>
              <a:t>предложнието</a:t>
            </a:r>
            <a:r>
              <a:rPr lang="en-US" sz="1100"/>
              <a:t>)</a:t>
            </a:r>
            <a:br>
              <a:rPr lang="en-US" sz="1100"/>
            </a:br>
            <a:r>
              <a:rPr lang="en-US" sz="1100"/>
              <a:t> -</a:t>
            </a:r>
            <a:r>
              <a:rPr lang="en-US" sz="1100" err="1"/>
              <a:t>Как</a:t>
            </a:r>
            <a:r>
              <a:rPr lang="en-US" sz="1100"/>
              <a:t> </a:t>
            </a:r>
            <a:r>
              <a:rPr lang="en-US" sz="1100" err="1"/>
              <a:t>Ви</a:t>
            </a:r>
            <a:r>
              <a:rPr lang="en-US" sz="1100"/>
              <a:t> </a:t>
            </a:r>
            <a:r>
              <a:rPr lang="en-US" sz="1100" err="1"/>
              <a:t>се</a:t>
            </a:r>
            <a:r>
              <a:rPr lang="en-US" sz="1100"/>
              <a:t> </a:t>
            </a:r>
            <a:r>
              <a:rPr lang="en-US" sz="1100" err="1"/>
              <a:t>струва</a:t>
            </a:r>
            <a:r>
              <a:rPr lang="en-US" sz="1100"/>
              <a:t> </a:t>
            </a:r>
            <a:r>
              <a:rPr lang="en-US" sz="1100" err="1"/>
              <a:t>моето</a:t>
            </a:r>
            <a:r>
              <a:rPr lang="en-US" sz="1100"/>
              <a:t> </a:t>
            </a:r>
            <a:r>
              <a:rPr lang="en-US" sz="1100" err="1"/>
              <a:t>предложение</a:t>
            </a:r>
            <a:r>
              <a:rPr lang="en-US" sz="1100"/>
              <a:t>?</a:t>
            </a:r>
            <a:endParaRPr lang="en-US"/>
          </a:p>
        </p:txBody>
      </p:sp>
      <p:pic>
        <p:nvPicPr>
          <p:cNvPr id="8" name="Picture 7">
            <a:extLst>
              <a:ext uri="{FF2B5EF4-FFF2-40B4-BE49-F238E27FC236}">
                <a16:creationId xmlns:a16="http://schemas.microsoft.com/office/drawing/2014/main" id="{AB5AA0EF-FAC4-A9E9-95FA-077CD2197E01}"/>
              </a:ext>
            </a:extLst>
          </p:cNvPr>
          <p:cNvPicPr>
            <a:picLocks noChangeAspect="1"/>
          </p:cNvPicPr>
          <p:nvPr/>
        </p:nvPicPr>
        <p:blipFill>
          <a:blip r:embed="rId3"/>
          <a:stretch>
            <a:fillRect/>
          </a:stretch>
        </p:blipFill>
        <p:spPr>
          <a:xfrm>
            <a:off x="7687312" y="1489796"/>
            <a:ext cx="152401" cy="2085990"/>
          </a:xfrm>
          <a:prstGeom prst="rect">
            <a:avLst/>
          </a:prstGeom>
        </p:spPr>
      </p:pic>
      <p:pic>
        <p:nvPicPr>
          <p:cNvPr id="11" name="Picture 10">
            <a:extLst>
              <a:ext uri="{FF2B5EF4-FFF2-40B4-BE49-F238E27FC236}">
                <a16:creationId xmlns:a16="http://schemas.microsoft.com/office/drawing/2014/main" id="{968B877D-DC3B-6082-A887-F0BA1188CA0A}"/>
              </a:ext>
            </a:extLst>
          </p:cNvPr>
          <p:cNvPicPr>
            <a:picLocks noChangeAspect="1"/>
          </p:cNvPicPr>
          <p:nvPr/>
        </p:nvPicPr>
        <p:blipFill>
          <a:blip r:embed="rId4"/>
          <a:stretch>
            <a:fillRect/>
          </a:stretch>
        </p:blipFill>
        <p:spPr>
          <a:xfrm>
            <a:off x="7698984" y="5025301"/>
            <a:ext cx="152401" cy="685805"/>
          </a:xfrm>
          <a:prstGeom prst="rect">
            <a:avLst/>
          </a:prstGeom>
        </p:spPr>
      </p:pic>
      <p:sp>
        <p:nvSpPr>
          <p:cNvPr id="12" name="Rectangle 11">
            <a:extLst>
              <a:ext uri="{FF2B5EF4-FFF2-40B4-BE49-F238E27FC236}">
                <a16:creationId xmlns:a16="http://schemas.microsoft.com/office/drawing/2014/main" id="{54593910-4297-01A2-574B-02412A5A91C8}"/>
              </a:ext>
            </a:extLst>
          </p:cNvPr>
          <p:cNvSpPr/>
          <p:nvPr/>
        </p:nvSpPr>
        <p:spPr>
          <a:xfrm>
            <a:off x="7672370" y="1414732"/>
            <a:ext cx="204362" cy="4362572"/>
          </a:xfrm>
          <a:prstGeom prst="rect">
            <a:avLst/>
          </a:prstGeom>
          <a:noFill/>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a:p>
        </p:txBody>
      </p:sp>
      <p:pic>
        <p:nvPicPr>
          <p:cNvPr id="6" name="Picture 5">
            <a:extLst>
              <a:ext uri="{FF2B5EF4-FFF2-40B4-BE49-F238E27FC236}">
                <a16:creationId xmlns:a16="http://schemas.microsoft.com/office/drawing/2014/main" id="{24432A00-6B66-7427-1B1A-CC0F26F7B636}"/>
              </a:ext>
            </a:extLst>
          </p:cNvPr>
          <p:cNvPicPr>
            <a:picLocks noChangeAspect="1"/>
          </p:cNvPicPr>
          <p:nvPr/>
        </p:nvPicPr>
        <p:blipFill>
          <a:blip r:embed="rId3"/>
          <a:stretch>
            <a:fillRect/>
          </a:stretch>
        </p:blipFill>
        <p:spPr>
          <a:xfrm>
            <a:off x="11889857" y="1432068"/>
            <a:ext cx="152401" cy="2085990"/>
          </a:xfrm>
          <a:prstGeom prst="rect">
            <a:avLst/>
          </a:prstGeom>
        </p:spPr>
      </p:pic>
      <p:sp>
        <p:nvSpPr>
          <p:cNvPr id="7" name="Rectangle 6">
            <a:extLst>
              <a:ext uri="{FF2B5EF4-FFF2-40B4-BE49-F238E27FC236}">
                <a16:creationId xmlns:a16="http://schemas.microsoft.com/office/drawing/2014/main" id="{1225D4D5-8E77-98F1-C5D4-367E0A8B2FC1}"/>
              </a:ext>
            </a:extLst>
          </p:cNvPr>
          <p:cNvSpPr/>
          <p:nvPr/>
        </p:nvSpPr>
        <p:spPr>
          <a:xfrm>
            <a:off x="11863369" y="1345459"/>
            <a:ext cx="204362" cy="4362572"/>
          </a:xfrm>
          <a:prstGeom prst="rect">
            <a:avLst/>
          </a:prstGeom>
          <a:noFill/>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a:p>
        </p:txBody>
      </p:sp>
      <p:pic>
        <p:nvPicPr>
          <p:cNvPr id="9" name="Picture 8">
            <a:extLst>
              <a:ext uri="{FF2B5EF4-FFF2-40B4-BE49-F238E27FC236}">
                <a16:creationId xmlns:a16="http://schemas.microsoft.com/office/drawing/2014/main" id="{5D6E002B-761A-CFD6-AB1F-CB35619DF1EB}"/>
              </a:ext>
            </a:extLst>
          </p:cNvPr>
          <p:cNvPicPr>
            <a:picLocks noChangeAspect="1"/>
          </p:cNvPicPr>
          <p:nvPr/>
        </p:nvPicPr>
        <p:blipFill>
          <a:blip r:embed="rId4"/>
          <a:stretch>
            <a:fillRect/>
          </a:stretch>
        </p:blipFill>
        <p:spPr>
          <a:xfrm>
            <a:off x="11878438" y="4990664"/>
            <a:ext cx="152401" cy="685805"/>
          </a:xfrm>
          <a:prstGeom prst="rect">
            <a:avLst/>
          </a:prstGeom>
        </p:spPr>
      </p:pic>
    </p:spTree>
    <p:extLst>
      <p:ext uri="{BB962C8B-B14F-4D97-AF65-F5344CB8AC3E}">
        <p14:creationId xmlns:p14="http://schemas.microsoft.com/office/powerpoint/2010/main" val="221585435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E837CD-E6C7-376E-AA1D-34B8F9E0171C}"/>
            </a:ext>
          </a:extLst>
        </p:cNvPr>
        <p:cNvGrpSpPr/>
        <p:nvPr/>
      </p:nvGrpSpPr>
      <p:grpSpPr>
        <a:xfrm>
          <a:off x="0" y="0"/>
          <a:ext cx="0" cy="0"/>
          <a:chOff x="0" y="0"/>
          <a:chExt cx="0" cy="0"/>
        </a:xfrm>
      </p:grpSpPr>
      <p:sp>
        <p:nvSpPr>
          <p:cNvPr id="27" name="Rectangle 3">
            <a:extLst>
              <a:ext uri="{FF2B5EF4-FFF2-40B4-BE49-F238E27FC236}">
                <a16:creationId xmlns:a16="http://schemas.microsoft.com/office/drawing/2014/main" id="{DC69680C-42D6-7EAA-9364-23D9F1D5806A}"/>
              </a:ext>
            </a:extLst>
          </p:cNvPr>
          <p:cNvSpPr/>
          <p:nvPr/>
        </p:nvSpPr>
        <p:spPr>
          <a:xfrm>
            <a:off x="1443475" y="4245"/>
            <a:ext cx="5338363" cy="677242"/>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28" name="Rectangle 4">
            <a:extLst>
              <a:ext uri="{FF2B5EF4-FFF2-40B4-BE49-F238E27FC236}">
                <a16:creationId xmlns:a16="http://schemas.microsoft.com/office/drawing/2014/main" id="{82B105C9-C177-0B74-8612-DECE82B17C08}"/>
              </a:ext>
            </a:extLst>
          </p:cNvPr>
          <p:cNvSpPr/>
          <p:nvPr/>
        </p:nvSpPr>
        <p:spPr>
          <a:xfrm>
            <a:off x="6788435" y="4245"/>
            <a:ext cx="5417300" cy="677242"/>
          </a:xfrm>
          <a:prstGeom prst="rect">
            <a:avLst/>
          </a:prstGeom>
          <a:solidFill>
            <a:schemeClr val="bg2">
              <a:lumMod val="75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29" name="Rectangle 28">
            <a:extLst>
              <a:ext uri="{FF2B5EF4-FFF2-40B4-BE49-F238E27FC236}">
                <a16:creationId xmlns:a16="http://schemas.microsoft.com/office/drawing/2014/main" id="{75ADB0DA-BABF-BDC6-69F9-5CE1156BD8A3}"/>
              </a:ext>
            </a:extLst>
          </p:cNvPr>
          <p:cNvSpPr/>
          <p:nvPr/>
        </p:nvSpPr>
        <p:spPr>
          <a:xfrm>
            <a:off x="-1671" y="1599"/>
            <a:ext cx="1451167" cy="6866954"/>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200">
              <a:latin typeface="Aptos"/>
              <a:ea typeface="Calibri"/>
              <a:cs typeface="Calibri"/>
            </a:endParaRPr>
          </a:p>
        </p:txBody>
      </p:sp>
      <p:sp>
        <p:nvSpPr>
          <p:cNvPr id="30" name="Rectangle 29">
            <a:extLst>
              <a:ext uri="{FF2B5EF4-FFF2-40B4-BE49-F238E27FC236}">
                <a16:creationId xmlns:a16="http://schemas.microsoft.com/office/drawing/2014/main" id="{8080A81C-3187-C209-3C77-120D07B84822}"/>
              </a:ext>
            </a:extLst>
          </p:cNvPr>
          <p:cNvSpPr/>
          <p:nvPr/>
        </p:nvSpPr>
        <p:spPr>
          <a:xfrm>
            <a:off x="-1671" y="2528038"/>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Типове клиенти</a:t>
            </a:r>
            <a:endParaRPr lang="en-GB" sz="1400">
              <a:latin typeface="Aptos"/>
              <a:ea typeface="Calibri"/>
              <a:cs typeface="Calibri"/>
            </a:endParaRPr>
          </a:p>
        </p:txBody>
      </p:sp>
      <p:sp>
        <p:nvSpPr>
          <p:cNvPr id="31" name="Rectangle 30">
            <a:extLst>
              <a:ext uri="{FF2B5EF4-FFF2-40B4-BE49-F238E27FC236}">
                <a16:creationId xmlns:a16="http://schemas.microsoft.com/office/drawing/2014/main" id="{9BB633A3-7B88-5A49-1197-B8A0F11EAC10}"/>
              </a:ext>
            </a:extLst>
          </p:cNvPr>
          <p:cNvSpPr/>
          <p:nvPr/>
        </p:nvSpPr>
        <p:spPr>
          <a:xfrm>
            <a:off x="8626" y="1913210"/>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b="1">
                <a:solidFill>
                  <a:srgbClr val="2F5597"/>
                </a:solidFill>
                <a:latin typeface="Aptos"/>
                <a:ea typeface="Calibri"/>
                <a:cs typeface="Calibri"/>
              </a:rPr>
              <a:t>Сценарии</a:t>
            </a:r>
            <a:endParaRPr lang="en-GB" sz="1400" b="1">
              <a:solidFill>
                <a:srgbClr val="2F5597"/>
              </a:solidFill>
              <a:latin typeface="Aptos"/>
              <a:ea typeface="Calibri"/>
              <a:cs typeface="Calibri"/>
            </a:endParaRPr>
          </a:p>
        </p:txBody>
      </p:sp>
      <p:sp>
        <p:nvSpPr>
          <p:cNvPr id="32" name="Rectangle 31">
            <a:extLst>
              <a:ext uri="{FF2B5EF4-FFF2-40B4-BE49-F238E27FC236}">
                <a16:creationId xmlns:a16="http://schemas.microsoft.com/office/drawing/2014/main" id="{11DC95DF-127F-839F-DAC0-FE8A2643A1E9}"/>
              </a:ext>
            </a:extLst>
          </p:cNvPr>
          <p:cNvSpPr/>
          <p:nvPr/>
        </p:nvSpPr>
        <p:spPr>
          <a:xfrm>
            <a:off x="-1671" y="1298382"/>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a:solidFill>
                  <a:schemeClr val="bg1"/>
                </a:solidFill>
                <a:latin typeface="Aptos"/>
                <a:ea typeface="Calibri"/>
                <a:cs typeface="Calibri"/>
              </a:rPr>
              <a:t>Стъпки в обаждането</a:t>
            </a:r>
            <a:endParaRPr lang="bg-BG" sz="1400">
              <a:solidFill>
                <a:srgbClr val="000000"/>
              </a:solidFill>
              <a:latin typeface="Aptos"/>
              <a:ea typeface="Calibri"/>
              <a:cs typeface="Calibri"/>
            </a:endParaRPr>
          </a:p>
        </p:txBody>
      </p:sp>
      <p:sp>
        <p:nvSpPr>
          <p:cNvPr id="33" name="Rectangle 28">
            <a:extLst>
              <a:ext uri="{FF2B5EF4-FFF2-40B4-BE49-F238E27FC236}">
                <a16:creationId xmlns:a16="http://schemas.microsoft.com/office/drawing/2014/main" id="{DF9EB6C9-A2DA-C33F-99CE-CED1E7DC97B2}"/>
              </a:ext>
            </a:extLst>
          </p:cNvPr>
          <p:cNvSpPr/>
          <p:nvPr/>
        </p:nvSpPr>
        <p:spPr>
          <a:xfrm>
            <a:off x="6154" y="690328"/>
            <a:ext cx="1435083"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a:solidFill>
                  <a:schemeClr val="bg1"/>
                </a:solidFill>
                <a:latin typeface="Aptos"/>
                <a:ea typeface="Calibri"/>
                <a:cs typeface="Calibri"/>
              </a:rPr>
              <a:t>Подготовка</a:t>
            </a:r>
            <a:endParaRPr lang="en-GB" sz="1400">
              <a:solidFill>
                <a:schemeClr val="bg1"/>
              </a:solidFill>
              <a:latin typeface="Aptos"/>
              <a:ea typeface="Calibri"/>
              <a:cs typeface="Calibri"/>
            </a:endParaRPr>
          </a:p>
        </p:txBody>
      </p:sp>
      <p:pic>
        <p:nvPicPr>
          <p:cNvPr id="35" name="Picture 34">
            <a:extLst>
              <a:ext uri="{FF2B5EF4-FFF2-40B4-BE49-F238E27FC236}">
                <a16:creationId xmlns:a16="http://schemas.microsoft.com/office/drawing/2014/main" id="{00340250-FF2D-3F0E-13F4-CEB369A6316A}"/>
              </a:ext>
            </a:extLst>
          </p:cNvPr>
          <p:cNvPicPr>
            <a:picLocks noChangeAspect="1"/>
          </p:cNvPicPr>
          <p:nvPr/>
        </p:nvPicPr>
        <p:blipFill>
          <a:blip r:embed="rId2"/>
          <a:stretch>
            <a:fillRect/>
          </a:stretch>
        </p:blipFill>
        <p:spPr>
          <a:xfrm>
            <a:off x="11031388" y="5709427"/>
            <a:ext cx="982751" cy="995681"/>
          </a:xfrm>
          <a:prstGeom prst="rect">
            <a:avLst/>
          </a:prstGeom>
        </p:spPr>
      </p:pic>
      <p:sp>
        <p:nvSpPr>
          <p:cNvPr id="2" name="Rectangle: Rounded Corners 1">
            <a:extLst>
              <a:ext uri="{FF2B5EF4-FFF2-40B4-BE49-F238E27FC236}">
                <a16:creationId xmlns:a16="http://schemas.microsoft.com/office/drawing/2014/main" id="{3768ED31-04D9-7BD7-312D-04B8436BA4E8}"/>
              </a:ext>
            </a:extLst>
          </p:cNvPr>
          <p:cNvSpPr/>
          <p:nvPr/>
        </p:nvSpPr>
        <p:spPr>
          <a:xfrm>
            <a:off x="5328603" y="4298817"/>
            <a:ext cx="1752316" cy="467065"/>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400">
                <a:ea typeface="+mn-lt"/>
                <a:cs typeface="+mn-lt"/>
              </a:rPr>
              <a:t>Вече имам кредит другаде</a:t>
            </a:r>
            <a:endParaRPr lang="en-US" sz="1400"/>
          </a:p>
        </p:txBody>
      </p:sp>
      <p:sp>
        <p:nvSpPr>
          <p:cNvPr id="8" name="Rectangle: Rounded Corners 9">
            <a:extLst>
              <a:ext uri="{FF2B5EF4-FFF2-40B4-BE49-F238E27FC236}">
                <a16:creationId xmlns:a16="http://schemas.microsoft.com/office/drawing/2014/main" id="{5FC6CC7C-EF13-0961-994B-FA2AAF07A3B8}"/>
              </a:ext>
            </a:extLst>
          </p:cNvPr>
          <p:cNvSpPr/>
          <p:nvPr/>
        </p:nvSpPr>
        <p:spPr>
          <a:xfrm>
            <a:off x="1896200" y="2012494"/>
            <a:ext cx="2932281" cy="677241"/>
          </a:xfrm>
          <a:prstGeom prst="roundRect">
            <a:avLst/>
          </a:prstGeom>
          <a:solidFill>
            <a:schemeClr val="bg2">
              <a:lumMod val="75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bg-BG" sz="1600"/>
              <a:t>Предварително одобрен клиент</a:t>
            </a:r>
            <a:endParaRPr lang="en-GB" sz="1600"/>
          </a:p>
        </p:txBody>
      </p:sp>
      <p:sp>
        <p:nvSpPr>
          <p:cNvPr id="10" name="Rectangle: Rounded Corners 11">
            <a:extLst>
              <a:ext uri="{FF2B5EF4-FFF2-40B4-BE49-F238E27FC236}">
                <a16:creationId xmlns:a16="http://schemas.microsoft.com/office/drawing/2014/main" id="{C6F9F2A8-E422-A923-0A9A-2DA7D56B385E}"/>
              </a:ext>
            </a:extLst>
          </p:cNvPr>
          <p:cNvSpPr/>
          <p:nvPr/>
        </p:nvSpPr>
        <p:spPr>
          <a:xfrm>
            <a:off x="1896199" y="1147427"/>
            <a:ext cx="2932281" cy="677241"/>
          </a:xfrm>
          <a:prstGeom prst="roundRect">
            <a:avLst/>
          </a:prstGeom>
          <a:solidFill>
            <a:schemeClr val="bg2">
              <a:lumMod val="75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bg-BG" sz="1600"/>
              <a:t>Лоялен клиент</a:t>
            </a:r>
            <a:endParaRPr lang="en-GB" sz="1600"/>
          </a:p>
        </p:txBody>
      </p:sp>
      <p:sp>
        <p:nvSpPr>
          <p:cNvPr id="12" name="Rectangle: Rounded Corners 13">
            <a:extLst>
              <a:ext uri="{FF2B5EF4-FFF2-40B4-BE49-F238E27FC236}">
                <a16:creationId xmlns:a16="http://schemas.microsoft.com/office/drawing/2014/main" id="{BCA2FEB4-B122-03CC-6BDF-675DFCB3360E}"/>
              </a:ext>
            </a:extLst>
          </p:cNvPr>
          <p:cNvSpPr/>
          <p:nvPr/>
        </p:nvSpPr>
        <p:spPr>
          <a:xfrm>
            <a:off x="1896198" y="2951536"/>
            <a:ext cx="2932281" cy="677241"/>
          </a:xfrm>
          <a:prstGeom prst="roundRect">
            <a:avLst/>
          </a:prstGeom>
          <a:solidFill>
            <a:schemeClr val="accent1"/>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bg-BG" sz="1600"/>
              <a:t>Промо кампания</a:t>
            </a:r>
            <a:endParaRPr lang="en-GB" sz="1600"/>
          </a:p>
        </p:txBody>
      </p:sp>
      <p:sp>
        <p:nvSpPr>
          <p:cNvPr id="14" name="Rectangle 9">
            <a:extLst>
              <a:ext uri="{FF2B5EF4-FFF2-40B4-BE49-F238E27FC236}">
                <a16:creationId xmlns:a16="http://schemas.microsoft.com/office/drawing/2014/main" id="{95D82C5D-3254-56ED-E36A-5F3CEB38F936}"/>
              </a:ext>
            </a:extLst>
          </p:cNvPr>
          <p:cNvSpPr/>
          <p:nvPr/>
        </p:nvSpPr>
        <p:spPr>
          <a:xfrm>
            <a:off x="1896196" y="4777416"/>
            <a:ext cx="2932281" cy="677241"/>
          </a:xfrm>
          <a:prstGeom prst="roundRect">
            <a:avLst/>
          </a:prstGeom>
          <a:solidFill>
            <a:schemeClr val="bg2">
              <a:lumMod val="75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bg-BG" sz="1600"/>
              <a:t>Препоръка</a:t>
            </a:r>
            <a:endParaRPr lang="en-GB" sz="1600"/>
          </a:p>
        </p:txBody>
      </p:sp>
      <p:sp>
        <p:nvSpPr>
          <p:cNvPr id="16" name="Rectangle 11">
            <a:extLst>
              <a:ext uri="{FF2B5EF4-FFF2-40B4-BE49-F238E27FC236}">
                <a16:creationId xmlns:a16="http://schemas.microsoft.com/office/drawing/2014/main" id="{4C1D13CF-5FCD-AFDC-49D3-D02879C8E3A5}"/>
              </a:ext>
            </a:extLst>
          </p:cNvPr>
          <p:cNvSpPr/>
          <p:nvPr/>
        </p:nvSpPr>
        <p:spPr>
          <a:xfrm>
            <a:off x="1896197" y="3838374"/>
            <a:ext cx="2932281" cy="677241"/>
          </a:xfrm>
          <a:prstGeom prst="roundRect">
            <a:avLst/>
          </a:prstGeom>
          <a:solidFill>
            <a:schemeClr val="bg2">
              <a:lumMod val="75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bg-BG" sz="1600"/>
              <a:t>Продукт „Пенсионер“</a:t>
            </a:r>
            <a:endParaRPr lang="en-GB" sz="1600"/>
          </a:p>
        </p:txBody>
      </p:sp>
      <p:sp>
        <p:nvSpPr>
          <p:cNvPr id="7" name="Правоъгълник: със заоблени ъгли 16">
            <a:extLst>
              <a:ext uri="{FF2B5EF4-FFF2-40B4-BE49-F238E27FC236}">
                <a16:creationId xmlns:a16="http://schemas.microsoft.com/office/drawing/2014/main" id="{8BA725BE-D613-D8A5-1A5E-E1FA46E337D7}"/>
              </a:ext>
            </a:extLst>
          </p:cNvPr>
          <p:cNvSpPr/>
          <p:nvPr/>
        </p:nvSpPr>
        <p:spPr>
          <a:xfrm>
            <a:off x="5040688" y="5639983"/>
            <a:ext cx="2744630" cy="590809"/>
          </a:xfrm>
          <a:prstGeom prst="roundRect">
            <a:avLst>
              <a:gd name="adj" fmla="val 50000"/>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200"/>
              <a:t>Тренирай</a:t>
            </a:r>
          </a:p>
        </p:txBody>
      </p:sp>
      <p:sp>
        <p:nvSpPr>
          <p:cNvPr id="11" name="Правоъгълник: със заоблени ъгли 37">
            <a:extLst>
              <a:ext uri="{FF2B5EF4-FFF2-40B4-BE49-F238E27FC236}">
                <a16:creationId xmlns:a16="http://schemas.microsoft.com/office/drawing/2014/main" id="{A5678A26-3B85-D887-F070-081D9DB00730}"/>
              </a:ext>
            </a:extLst>
          </p:cNvPr>
          <p:cNvSpPr/>
          <p:nvPr/>
        </p:nvSpPr>
        <p:spPr>
          <a:xfrm>
            <a:off x="5222212" y="955850"/>
            <a:ext cx="4325063" cy="65453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bg-BG" sz="1600" b="1">
                <a:solidFill>
                  <a:srgbClr val="1F3864"/>
                </a:solidFill>
              </a:rPr>
              <a:t>1.Отваряне и Предложение</a:t>
            </a:r>
          </a:p>
        </p:txBody>
      </p:sp>
      <p:sp>
        <p:nvSpPr>
          <p:cNvPr id="15" name="Правоъгълник: със заоблени ъгли 41">
            <a:extLst>
              <a:ext uri="{FF2B5EF4-FFF2-40B4-BE49-F238E27FC236}">
                <a16:creationId xmlns:a16="http://schemas.microsoft.com/office/drawing/2014/main" id="{EED4415E-D35B-AA63-C514-DB7371037CE7}"/>
              </a:ext>
            </a:extLst>
          </p:cNvPr>
          <p:cNvSpPr/>
          <p:nvPr/>
        </p:nvSpPr>
        <p:spPr>
          <a:xfrm>
            <a:off x="5221816" y="3244408"/>
            <a:ext cx="4297519" cy="521771"/>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bg-BG" sz="1600" b="1">
                <a:solidFill>
                  <a:schemeClr val="accent1">
                    <a:lumMod val="49000"/>
                  </a:schemeClr>
                </a:solidFill>
              </a:rPr>
              <a:t>2. Възражение и отговор</a:t>
            </a:r>
          </a:p>
        </p:txBody>
      </p:sp>
      <p:sp>
        <p:nvSpPr>
          <p:cNvPr id="19" name="TextBox 18">
            <a:extLst>
              <a:ext uri="{FF2B5EF4-FFF2-40B4-BE49-F238E27FC236}">
                <a16:creationId xmlns:a16="http://schemas.microsoft.com/office/drawing/2014/main" id="{3F49467B-6C2E-ABEF-D0D1-EC63B3BE7A6B}"/>
              </a:ext>
            </a:extLst>
          </p:cNvPr>
          <p:cNvSpPr txBox="1"/>
          <p:nvPr/>
        </p:nvSpPr>
        <p:spPr>
          <a:xfrm>
            <a:off x="5330820" y="1476400"/>
            <a:ext cx="6443040"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a:ea typeface="+mn-lt"/>
                <a:cs typeface="+mn-lt"/>
              </a:rPr>
              <a:t>-</a:t>
            </a:r>
            <a:r>
              <a:rPr lang="en-US" sz="1400">
                <a:ea typeface="+mn-lt"/>
                <a:cs typeface="+mn-lt"/>
              </a:rPr>
              <a:t>Добър ден, търся г-н/г-жа (две </a:t>
            </a:r>
            <a:r>
              <a:rPr lang="en-US" sz="1400" err="1">
                <a:ea typeface="+mn-lt"/>
                <a:cs typeface="+mn-lt"/>
              </a:rPr>
              <a:t>имена</a:t>
            </a:r>
            <a:r>
              <a:rPr lang="en-US" sz="1400">
                <a:ea typeface="+mn-lt"/>
                <a:cs typeface="+mn-lt"/>
              </a:rPr>
              <a:t> </a:t>
            </a:r>
            <a:r>
              <a:rPr lang="en-US" sz="1400" err="1">
                <a:ea typeface="+mn-lt"/>
                <a:cs typeface="+mn-lt"/>
              </a:rPr>
              <a:t>на</a:t>
            </a:r>
            <a:r>
              <a:rPr lang="en-US" sz="1400">
                <a:ea typeface="+mn-lt"/>
                <a:cs typeface="+mn-lt"/>
              </a:rPr>
              <a:t> </a:t>
            </a:r>
            <a:r>
              <a:rPr lang="en-US" sz="1400" err="1">
                <a:ea typeface="+mn-lt"/>
                <a:cs typeface="+mn-lt"/>
              </a:rPr>
              <a:t>клиента</a:t>
            </a:r>
            <a:r>
              <a:rPr lang="en-US" sz="1400">
                <a:ea typeface="+mn-lt"/>
                <a:cs typeface="+mn-lt"/>
              </a:rPr>
              <a:t>).</a:t>
            </a:r>
            <a:br>
              <a:rPr lang="en-US" sz="1400">
                <a:ea typeface="+mn-lt"/>
                <a:cs typeface="+mn-lt"/>
              </a:rPr>
            </a:br>
            <a:r>
              <a:rPr lang="en-US" sz="1400">
                <a:ea typeface="+mn-lt"/>
                <a:cs typeface="+mn-lt"/>
              </a:rPr>
              <a:t> </a:t>
            </a:r>
            <a:r>
              <a:rPr lang="en-US" sz="1400" b="1">
                <a:ea typeface="+mn-lt"/>
                <a:cs typeface="+mn-lt"/>
              </a:rPr>
              <a:t>-</a:t>
            </a:r>
            <a:r>
              <a:rPr lang="en-US" sz="1400" err="1">
                <a:ea typeface="+mn-lt"/>
                <a:cs typeface="+mn-lt"/>
              </a:rPr>
              <a:t>Да</a:t>
            </a:r>
            <a:r>
              <a:rPr lang="en-US" sz="1400">
                <a:ea typeface="+mn-lt"/>
                <a:cs typeface="+mn-lt"/>
              </a:rPr>
              <a:t> (</a:t>
            </a:r>
            <a:r>
              <a:rPr lang="en-US" sz="1400" err="1">
                <a:ea typeface="+mn-lt"/>
                <a:cs typeface="+mn-lt"/>
              </a:rPr>
              <a:t>на</a:t>
            </a:r>
            <a:r>
              <a:rPr lang="en-US" sz="1400">
                <a:ea typeface="+mn-lt"/>
                <a:cs typeface="+mn-lt"/>
              </a:rPr>
              <a:t> </a:t>
            </a:r>
            <a:r>
              <a:rPr lang="en-US" sz="1400" err="1">
                <a:ea typeface="+mn-lt"/>
                <a:cs typeface="+mn-lt"/>
              </a:rPr>
              <a:t>телефона</a:t>
            </a:r>
            <a:r>
              <a:rPr lang="en-US" sz="1400">
                <a:ea typeface="+mn-lt"/>
                <a:cs typeface="+mn-lt"/>
              </a:rPr>
              <a:t>, </a:t>
            </a:r>
            <a:r>
              <a:rPr lang="en-US" sz="1400" err="1">
                <a:ea typeface="+mn-lt"/>
                <a:cs typeface="+mn-lt"/>
              </a:rPr>
              <a:t>аз</a:t>
            </a:r>
            <a:r>
              <a:rPr lang="en-US" sz="1400">
                <a:ea typeface="+mn-lt"/>
                <a:cs typeface="+mn-lt"/>
              </a:rPr>
              <a:t> </a:t>
            </a:r>
            <a:r>
              <a:rPr lang="en-US" sz="1400" err="1">
                <a:ea typeface="+mn-lt"/>
                <a:cs typeface="+mn-lt"/>
              </a:rPr>
              <a:t>съм</a:t>
            </a:r>
            <a:r>
              <a:rPr lang="en-US" sz="1400">
                <a:ea typeface="+mn-lt"/>
                <a:cs typeface="+mn-lt"/>
              </a:rPr>
              <a:t>).</a:t>
            </a:r>
            <a:br>
              <a:rPr lang="en-US" sz="1400">
                <a:ea typeface="+mn-lt"/>
                <a:cs typeface="+mn-lt"/>
              </a:rPr>
            </a:br>
            <a:r>
              <a:rPr lang="en-US" sz="1400">
                <a:ea typeface="+mn-lt"/>
                <a:cs typeface="+mn-lt"/>
              </a:rPr>
              <a:t> </a:t>
            </a:r>
            <a:r>
              <a:rPr lang="en-US" sz="1400" b="1">
                <a:ea typeface="+mn-lt"/>
                <a:cs typeface="+mn-lt"/>
              </a:rPr>
              <a:t>-</a:t>
            </a:r>
            <a:r>
              <a:rPr lang="en-US" sz="1400" err="1">
                <a:ea typeface="+mn-lt"/>
                <a:cs typeface="+mn-lt"/>
              </a:rPr>
              <a:t>Здравейте</a:t>
            </a:r>
            <a:r>
              <a:rPr lang="en-US" sz="1400">
                <a:ea typeface="+mn-lt"/>
                <a:cs typeface="+mn-lt"/>
              </a:rPr>
              <a:t> г-н/г-</a:t>
            </a:r>
            <a:r>
              <a:rPr lang="en-US" sz="1400" err="1">
                <a:ea typeface="+mn-lt"/>
                <a:cs typeface="+mn-lt"/>
              </a:rPr>
              <a:t>жо</a:t>
            </a:r>
            <a:r>
              <a:rPr lang="en-US" sz="1400">
                <a:ea typeface="+mn-lt"/>
                <a:cs typeface="+mn-lt"/>
              </a:rPr>
              <a:t> (</a:t>
            </a:r>
            <a:r>
              <a:rPr lang="en-US" sz="1400" err="1">
                <a:ea typeface="+mn-lt"/>
                <a:cs typeface="+mn-lt"/>
              </a:rPr>
              <a:t>фамилия</a:t>
            </a:r>
            <a:r>
              <a:rPr lang="en-US" sz="1400">
                <a:ea typeface="+mn-lt"/>
                <a:cs typeface="+mn-lt"/>
              </a:rPr>
              <a:t> </a:t>
            </a:r>
            <a:r>
              <a:rPr lang="en-US" sz="1400" err="1">
                <a:ea typeface="+mn-lt"/>
                <a:cs typeface="+mn-lt"/>
              </a:rPr>
              <a:t>на</a:t>
            </a:r>
            <a:r>
              <a:rPr lang="en-US" sz="1400">
                <a:ea typeface="+mn-lt"/>
                <a:cs typeface="+mn-lt"/>
              </a:rPr>
              <a:t> </a:t>
            </a:r>
            <a:r>
              <a:rPr lang="en-US" sz="1400" err="1">
                <a:ea typeface="+mn-lt"/>
                <a:cs typeface="+mn-lt"/>
              </a:rPr>
              <a:t>клиента</a:t>
            </a:r>
            <a:r>
              <a:rPr lang="en-US" sz="1400">
                <a:ea typeface="+mn-lt"/>
                <a:cs typeface="+mn-lt"/>
              </a:rPr>
              <a:t>), </a:t>
            </a:r>
            <a:r>
              <a:rPr lang="en-US" sz="1400" err="1">
                <a:ea typeface="+mn-lt"/>
                <a:cs typeface="+mn-lt"/>
              </a:rPr>
              <a:t>обаждам</a:t>
            </a:r>
            <a:r>
              <a:rPr lang="en-US" sz="1400">
                <a:ea typeface="+mn-lt"/>
                <a:cs typeface="+mn-lt"/>
              </a:rPr>
              <a:t> </a:t>
            </a:r>
            <a:r>
              <a:rPr lang="en-US" sz="1400" err="1">
                <a:ea typeface="+mn-lt"/>
                <a:cs typeface="+mn-lt"/>
              </a:rPr>
              <a:t>се</a:t>
            </a:r>
            <a:r>
              <a:rPr lang="en-US" sz="1400">
                <a:ea typeface="+mn-lt"/>
                <a:cs typeface="+mn-lt"/>
              </a:rPr>
              <a:t> </a:t>
            </a:r>
            <a:r>
              <a:rPr lang="en-US" sz="1400" err="1">
                <a:ea typeface="+mn-lt"/>
                <a:cs typeface="+mn-lt"/>
              </a:rPr>
              <a:t>от</a:t>
            </a:r>
            <a:r>
              <a:rPr lang="en-US" sz="1400">
                <a:ea typeface="+mn-lt"/>
                <a:cs typeface="+mn-lt"/>
              </a:rPr>
              <a:t> </a:t>
            </a:r>
            <a:r>
              <a:rPr lang="en-US" sz="1400" err="1">
                <a:ea typeface="+mn-lt"/>
                <a:cs typeface="+mn-lt"/>
              </a:rPr>
              <a:t>Изи</a:t>
            </a:r>
            <a:r>
              <a:rPr lang="en-US" sz="1400">
                <a:ea typeface="+mn-lt"/>
                <a:cs typeface="+mn-lt"/>
              </a:rPr>
              <a:t> </a:t>
            </a:r>
            <a:r>
              <a:rPr lang="en-US" sz="1400" err="1">
                <a:ea typeface="+mn-lt"/>
                <a:cs typeface="+mn-lt"/>
              </a:rPr>
              <a:t>Кредит</a:t>
            </a:r>
            <a:r>
              <a:rPr lang="en-US" sz="1400">
                <a:ea typeface="+mn-lt"/>
                <a:cs typeface="+mn-lt"/>
              </a:rPr>
              <a:t> </a:t>
            </a:r>
            <a:r>
              <a:rPr lang="en-US" sz="1400" err="1">
                <a:ea typeface="+mn-lt"/>
                <a:cs typeface="+mn-lt"/>
              </a:rPr>
              <a:t>във</a:t>
            </a:r>
            <a:r>
              <a:rPr lang="en-US" sz="1400">
                <a:ea typeface="+mn-lt"/>
                <a:cs typeface="+mn-lt"/>
              </a:rPr>
              <a:t> </a:t>
            </a:r>
            <a:r>
              <a:rPr lang="en-US" sz="1400" err="1">
                <a:ea typeface="+mn-lt"/>
                <a:cs typeface="+mn-lt"/>
              </a:rPr>
              <a:t>връзка</a:t>
            </a:r>
            <a:r>
              <a:rPr lang="en-US" sz="1400">
                <a:ea typeface="+mn-lt"/>
                <a:cs typeface="+mn-lt"/>
              </a:rPr>
              <a:t> с </a:t>
            </a:r>
            <a:r>
              <a:rPr lang="en-US" sz="1400" err="1">
                <a:ea typeface="+mn-lt"/>
                <a:cs typeface="+mn-lt"/>
              </a:rPr>
              <a:t>изготвено</a:t>
            </a:r>
            <a:r>
              <a:rPr lang="en-US" sz="1400">
                <a:ea typeface="+mn-lt"/>
                <a:cs typeface="+mn-lt"/>
              </a:rPr>
              <a:t> </a:t>
            </a:r>
            <a:r>
              <a:rPr lang="en-US" sz="1400" err="1">
                <a:ea typeface="+mn-lt"/>
                <a:cs typeface="+mn-lt"/>
              </a:rPr>
              <a:t>предложение</a:t>
            </a:r>
            <a:r>
              <a:rPr lang="en-US" sz="1400">
                <a:ea typeface="+mn-lt"/>
                <a:cs typeface="+mn-lt"/>
              </a:rPr>
              <a:t>, </a:t>
            </a:r>
            <a:r>
              <a:rPr lang="en-US" sz="1400" err="1">
                <a:ea typeface="+mn-lt"/>
                <a:cs typeface="+mn-lt"/>
              </a:rPr>
              <a:t>специално</a:t>
            </a:r>
            <a:r>
              <a:rPr lang="en-US" sz="1400">
                <a:ea typeface="+mn-lt"/>
                <a:cs typeface="+mn-lt"/>
              </a:rPr>
              <a:t> </a:t>
            </a:r>
            <a:r>
              <a:rPr lang="en-US" sz="1400" err="1">
                <a:ea typeface="+mn-lt"/>
                <a:cs typeface="+mn-lt"/>
              </a:rPr>
              <a:t>за</a:t>
            </a:r>
            <a:r>
              <a:rPr lang="en-US" sz="1400">
                <a:ea typeface="+mn-lt"/>
                <a:cs typeface="+mn-lt"/>
              </a:rPr>
              <a:t> </a:t>
            </a:r>
            <a:r>
              <a:rPr lang="en-US" sz="1400" err="1">
                <a:ea typeface="+mn-lt"/>
                <a:cs typeface="+mn-lt"/>
              </a:rPr>
              <a:t>Вас</a:t>
            </a:r>
            <a:r>
              <a:rPr lang="en-US" sz="1400">
                <a:ea typeface="+mn-lt"/>
                <a:cs typeface="+mn-lt"/>
              </a:rPr>
              <a:t>. </a:t>
            </a:r>
            <a:r>
              <a:rPr lang="en-US" sz="1400" err="1">
                <a:ea typeface="+mn-lt"/>
                <a:cs typeface="+mn-lt"/>
              </a:rPr>
              <a:t>Удобно</a:t>
            </a:r>
            <a:r>
              <a:rPr lang="en-US" sz="1400">
                <a:ea typeface="+mn-lt"/>
                <a:cs typeface="+mn-lt"/>
              </a:rPr>
              <a:t> </a:t>
            </a:r>
            <a:r>
              <a:rPr lang="en-US" sz="1400" err="1">
                <a:ea typeface="+mn-lt"/>
                <a:cs typeface="+mn-lt"/>
              </a:rPr>
              <a:t>ли</a:t>
            </a:r>
            <a:r>
              <a:rPr lang="en-US" sz="1400">
                <a:ea typeface="+mn-lt"/>
                <a:cs typeface="+mn-lt"/>
              </a:rPr>
              <a:t> е </a:t>
            </a:r>
            <a:r>
              <a:rPr lang="en-US" sz="1400" err="1">
                <a:ea typeface="+mn-lt"/>
                <a:cs typeface="+mn-lt"/>
              </a:rPr>
              <a:t>да</a:t>
            </a:r>
            <a:r>
              <a:rPr lang="en-US" sz="1400">
                <a:ea typeface="+mn-lt"/>
                <a:cs typeface="+mn-lt"/>
              </a:rPr>
              <a:t> </a:t>
            </a:r>
            <a:r>
              <a:rPr lang="en-US" sz="1400" err="1">
                <a:ea typeface="+mn-lt"/>
                <a:cs typeface="+mn-lt"/>
              </a:rPr>
              <a:t>ми</a:t>
            </a:r>
            <a:r>
              <a:rPr lang="en-US" sz="1400">
                <a:ea typeface="+mn-lt"/>
                <a:cs typeface="+mn-lt"/>
              </a:rPr>
              <a:t> </a:t>
            </a:r>
            <a:r>
              <a:rPr lang="en-US" sz="1400" err="1">
                <a:ea typeface="+mn-lt"/>
                <a:cs typeface="+mn-lt"/>
              </a:rPr>
              <a:t>отделите</a:t>
            </a:r>
            <a:r>
              <a:rPr lang="en-US" sz="1400">
                <a:ea typeface="+mn-lt"/>
                <a:cs typeface="+mn-lt"/>
              </a:rPr>
              <a:t> </a:t>
            </a:r>
            <a:r>
              <a:rPr lang="en-US" sz="1400" err="1">
                <a:ea typeface="+mn-lt"/>
                <a:cs typeface="+mn-lt"/>
              </a:rPr>
              <a:t>една</a:t>
            </a:r>
            <a:r>
              <a:rPr lang="en-US" sz="1400">
                <a:ea typeface="+mn-lt"/>
                <a:cs typeface="+mn-lt"/>
              </a:rPr>
              <a:t>, </a:t>
            </a:r>
            <a:r>
              <a:rPr lang="en-US" sz="1400" err="1">
                <a:ea typeface="+mn-lt"/>
                <a:cs typeface="+mn-lt"/>
              </a:rPr>
              <a:t>две</a:t>
            </a:r>
            <a:r>
              <a:rPr lang="en-US" sz="1400">
                <a:ea typeface="+mn-lt"/>
                <a:cs typeface="+mn-lt"/>
              </a:rPr>
              <a:t> </a:t>
            </a:r>
            <a:r>
              <a:rPr lang="en-US" sz="1400" err="1">
                <a:ea typeface="+mn-lt"/>
                <a:cs typeface="+mn-lt"/>
              </a:rPr>
              <a:t>минути</a:t>
            </a:r>
            <a:r>
              <a:rPr lang="en-US" sz="1400">
                <a:ea typeface="+mn-lt"/>
                <a:cs typeface="+mn-lt"/>
              </a:rPr>
              <a:t>, </a:t>
            </a:r>
            <a:r>
              <a:rPr lang="en-US" sz="1400" err="1">
                <a:ea typeface="+mn-lt"/>
                <a:cs typeface="+mn-lt"/>
              </a:rPr>
              <a:t>за</a:t>
            </a:r>
            <a:r>
              <a:rPr lang="en-US" sz="1400">
                <a:ea typeface="+mn-lt"/>
                <a:cs typeface="+mn-lt"/>
              </a:rPr>
              <a:t> </a:t>
            </a:r>
            <a:r>
              <a:rPr lang="en-US" sz="1400" err="1">
                <a:ea typeface="+mn-lt"/>
                <a:cs typeface="+mn-lt"/>
              </a:rPr>
              <a:t>да</a:t>
            </a:r>
            <a:r>
              <a:rPr lang="en-US" sz="1400">
                <a:ea typeface="+mn-lt"/>
                <a:cs typeface="+mn-lt"/>
              </a:rPr>
              <a:t> </a:t>
            </a:r>
            <a:r>
              <a:rPr lang="en-US" sz="1400" err="1">
                <a:ea typeface="+mn-lt"/>
                <a:cs typeface="+mn-lt"/>
              </a:rPr>
              <a:t>Ви</a:t>
            </a:r>
            <a:r>
              <a:rPr lang="en-US" sz="1400">
                <a:ea typeface="+mn-lt"/>
                <a:cs typeface="+mn-lt"/>
              </a:rPr>
              <a:t> </a:t>
            </a:r>
            <a:r>
              <a:rPr lang="en-US" sz="1400" err="1">
                <a:ea typeface="+mn-lt"/>
                <a:cs typeface="+mn-lt"/>
              </a:rPr>
              <a:t>запозная</a:t>
            </a:r>
            <a:r>
              <a:rPr lang="en-US" sz="1400">
                <a:ea typeface="+mn-lt"/>
                <a:cs typeface="+mn-lt"/>
              </a:rPr>
              <a:t>? </a:t>
            </a:r>
            <a:br>
              <a:rPr lang="en-US" sz="1400">
                <a:ea typeface="+mn-lt"/>
                <a:cs typeface="+mn-lt"/>
              </a:rPr>
            </a:br>
            <a:r>
              <a:rPr lang="en-US" sz="1400">
                <a:ea typeface="+mn-lt"/>
                <a:cs typeface="+mn-lt"/>
              </a:rPr>
              <a:t>-</a:t>
            </a:r>
            <a:r>
              <a:rPr lang="en-US" sz="1400" err="1">
                <a:ea typeface="+mn-lt"/>
                <a:cs typeface="+mn-lt"/>
              </a:rPr>
              <a:t>Да</a:t>
            </a:r>
            <a:r>
              <a:rPr lang="en-US" sz="1400">
                <a:ea typeface="+mn-lt"/>
                <a:cs typeface="+mn-lt"/>
              </a:rPr>
              <a:t> (</a:t>
            </a:r>
            <a:r>
              <a:rPr lang="en-US" sz="1400" err="1">
                <a:ea typeface="+mn-lt"/>
                <a:cs typeface="+mn-lt"/>
              </a:rPr>
              <a:t>слушам</a:t>
            </a:r>
            <a:r>
              <a:rPr lang="en-US" sz="1400">
                <a:ea typeface="+mn-lt"/>
                <a:cs typeface="+mn-lt"/>
              </a:rPr>
              <a:t> </a:t>
            </a:r>
            <a:r>
              <a:rPr lang="en-US" sz="1400" err="1">
                <a:ea typeface="+mn-lt"/>
                <a:cs typeface="+mn-lt"/>
              </a:rPr>
              <a:t>Ви</a:t>
            </a:r>
            <a:r>
              <a:rPr lang="en-US" sz="1400">
                <a:ea typeface="+mn-lt"/>
                <a:cs typeface="+mn-lt"/>
              </a:rPr>
              <a:t>).</a:t>
            </a:r>
            <a:br>
              <a:rPr lang="en-US" sz="1400">
                <a:ea typeface="+mn-lt"/>
                <a:cs typeface="+mn-lt"/>
              </a:rPr>
            </a:br>
            <a:r>
              <a:rPr lang="en-US" sz="1400" b="1">
                <a:ea typeface="+mn-lt"/>
                <a:cs typeface="+mn-lt"/>
              </a:rPr>
              <a:t> (</a:t>
            </a:r>
            <a:r>
              <a:rPr lang="en-US" sz="1400" b="1" err="1">
                <a:ea typeface="+mn-lt"/>
                <a:cs typeface="+mn-lt"/>
              </a:rPr>
              <a:t>Представяне</a:t>
            </a:r>
            <a:r>
              <a:rPr lang="en-US" sz="1400" b="1">
                <a:ea typeface="+mn-lt"/>
                <a:cs typeface="+mn-lt"/>
              </a:rPr>
              <a:t> </a:t>
            </a:r>
            <a:r>
              <a:rPr lang="en-US" sz="1400" b="1" err="1">
                <a:ea typeface="+mn-lt"/>
                <a:cs typeface="+mn-lt"/>
              </a:rPr>
              <a:t>на</a:t>
            </a:r>
            <a:r>
              <a:rPr lang="en-US" sz="1400" b="1">
                <a:ea typeface="+mn-lt"/>
                <a:cs typeface="+mn-lt"/>
              </a:rPr>
              <a:t> </a:t>
            </a:r>
            <a:r>
              <a:rPr lang="en-US" sz="1400" b="1" err="1">
                <a:ea typeface="+mn-lt"/>
                <a:cs typeface="+mn-lt"/>
              </a:rPr>
              <a:t>предложнието</a:t>
            </a:r>
            <a:r>
              <a:rPr lang="en-US" sz="1400">
                <a:ea typeface="+mn-lt"/>
                <a:cs typeface="+mn-lt"/>
              </a:rPr>
              <a:t>)</a:t>
            </a:r>
            <a:br>
              <a:rPr lang="en-US" sz="1400">
                <a:ea typeface="+mn-lt"/>
                <a:cs typeface="+mn-lt"/>
              </a:rPr>
            </a:br>
            <a:r>
              <a:rPr lang="en-US" sz="1400">
                <a:ea typeface="+mn-lt"/>
                <a:cs typeface="+mn-lt"/>
              </a:rPr>
              <a:t> -</a:t>
            </a:r>
            <a:r>
              <a:rPr lang="en-US" sz="1400" err="1">
                <a:ea typeface="+mn-lt"/>
                <a:cs typeface="+mn-lt"/>
              </a:rPr>
              <a:t>Как</a:t>
            </a:r>
            <a:r>
              <a:rPr lang="en-US" sz="1400">
                <a:ea typeface="+mn-lt"/>
                <a:cs typeface="+mn-lt"/>
              </a:rPr>
              <a:t> </a:t>
            </a:r>
            <a:r>
              <a:rPr lang="en-US" sz="1400" err="1">
                <a:ea typeface="+mn-lt"/>
                <a:cs typeface="+mn-lt"/>
              </a:rPr>
              <a:t>Ви</a:t>
            </a:r>
            <a:r>
              <a:rPr lang="en-US" sz="1400">
                <a:ea typeface="+mn-lt"/>
                <a:cs typeface="+mn-lt"/>
              </a:rPr>
              <a:t> </a:t>
            </a:r>
            <a:r>
              <a:rPr lang="en-US" sz="1400" err="1">
                <a:ea typeface="+mn-lt"/>
                <a:cs typeface="+mn-lt"/>
              </a:rPr>
              <a:t>се</a:t>
            </a:r>
            <a:r>
              <a:rPr lang="en-US" sz="1400">
                <a:ea typeface="+mn-lt"/>
                <a:cs typeface="+mn-lt"/>
              </a:rPr>
              <a:t> </a:t>
            </a:r>
            <a:r>
              <a:rPr lang="en-US" sz="1400" err="1">
                <a:ea typeface="+mn-lt"/>
                <a:cs typeface="+mn-lt"/>
              </a:rPr>
              <a:t>струва</a:t>
            </a:r>
            <a:r>
              <a:rPr lang="en-US" sz="1400">
                <a:ea typeface="+mn-lt"/>
                <a:cs typeface="+mn-lt"/>
              </a:rPr>
              <a:t> </a:t>
            </a:r>
            <a:r>
              <a:rPr lang="en-US" sz="1400" err="1">
                <a:ea typeface="+mn-lt"/>
                <a:cs typeface="+mn-lt"/>
              </a:rPr>
              <a:t>моето</a:t>
            </a:r>
            <a:r>
              <a:rPr lang="en-US" sz="1400">
                <a:ea typeface="+mn-lt"/>
                <a:cs typeface="+mn-lt"/>
              </a:rPr>
              <a:t> </a:t>
            </a:r>
            <a:r>
              <a:rPr lang="en-US" sz="1400" err="1">
                <a:ea typeface="+mn-lt"/>
                <a:cs typeface="+mn-lt"/>
              </a:rPr>
              <a:t>предложение</a:t>
            </a:r>
            <a:r>
              <a:rPr lang="en-US" sz="1400">
                <a:ea typeface="+mn-lt"/>
                <a:cs typeface="+mn-lt"/>
              </a:rPr>
              <a:t>?</a:t>
            </a:r>
            <a:endParaRPr lang="en-US">
              <a:ea typeface="+mn-lt"/>
              <a:cs typeface="+mn-lt"/>
            </a:endParaRPr>
          </a:p>
          <a:p>
            <a:endParaRPr lang="en-US" sz="1400"/>
          </a:p>
        </p:txBody>
      </p:sp>
      <p:sp>
        <p:nvSpPr>
          <p:cNvPr id="13" name="Rectangle: Rounded Corners 12">
            <a:extLst>
              <a:ext uri="{FF2B5EF4-FFF2-40B4-BE49-F238E27FC236}">
                <a16:creationId xmlns:a16="http://schemas.microsoft.com/office/drawing/2014/main" id="{6893FC29-1596-400F-9FB3-2B8C2A5FBA37}"/>
              </a:ext>
            </a:extLst>
          </p:cNvPr>
          <p:cNvSpPr/>
          <p:nvPr/>
        </p:nvSpPr>
        <p:spPr>
          <a:xfrm>
            <a:off x="7485462" y="3679034"/>
            <a:ext cx="1352913" cy="180722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bg-BG" sz="1000">
                <a:ea typeface="+mn-lt"/>
                <a:cs typeface="+mn-lt"/>
              </a:rPr>
              <a:t>Нашето предложение може да Ви осигури допълнително финансиране при нужда. Както обясних по-рано при усвояване на кредит ….....</a:t>
            </a:r>
            <a:endParaRPr lang="en-US">
              <a:ea typeface="+mn-lt"/>
              <a:cs typeface="+mn-lt"/>
            </a:endParaRPr>
          </a:p>
        </p:txBody>
      </p:sp>
      <p:sp>
        <p:nvSpPr>
          <p:cNvPr id="18" name="Rectangle: Rounded Corners 17">
            <a:extLst>
              <a:ext uri="{FF2B5EF4-FFF2-40B4-BE49-F238E27FC236}">
                <a16:creationId xmlns:a16="http://schemas.microsoft.com/office/drawing/2014/main" id="{C766D168-A1AE-8DB5-3902-27502D83A761}"/>
              </a:ext>
            </a:extLst>
          </p:cNvPr>
          <p:cNvSpPr/>
          <p:nvPr/>
        </p:nvSpPr>
        <p:spPr>
          <a:xfrm>
            <a:off x="9154218" y="3727116"/>
            <a:ext cx="1122658" cy="486912"/>
          </a:xfrm>
          <a:prstGeom prst="roundRect">
            <a:avLst/>
          </a:prstGeom>
          <a:solidFill>
            <a:srgbClr val="4472C4"/>
          </a:solidFill>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p>
            <a:pPr algn="ctr"/>
            <a:r>
              <a:rPr lang="bg-BG" sz="1000"/>
              <a:t>Да</a:t>
            </a:r>
            <a:endParaRPr lang="bg-BG" sz="1000" dirty="0"/>
          </a:p>
        </p:txBody>
      </p:sp>
      <p:cxnSp>
        <p:nvCxnSpPr>
          <p:cNvPr id="21" name="Connector: Elbow 20">
            <a:extLst>
              <a:ext uri="{FF2B5EF4-FFF2-40B4-BE49-F238E27FC236}">
                <a16:creationId xmlns:a16="http://schemas.microsoft.com/office/drawing/2014/main" id="{00FB24EE-AA78-F7FD-5D1E-2AE991E21352}"/>
              </a:ext>
            </a:extLst>
          </p:cNvPr>
          <p:cNvCxnSpPr/>
          <p:nvPr/>
        </p:nvCxnSpPr>
        <p:spPr>
          <a:xfrm flipV="1">
            <a:off x="8727460" y="3955377"/>
            <a:ext cx="370262" cy="504906"/>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Connector: Elbow 22">
            <a:extLst>
              <a:ext uri="{FF2B5EF4-FFF2-40B4-BE49-F238E27FC236}">
                <a16:creationId xmlns:a16="http://schemas.microsoft.com/office/drawing/2014/main" id="{B759D162-584E-1A24-BDC8-6B2718536AA7}"/>
              </a:ext>
            </a:extLst>
          </p:cNvPr>
          <p:cNvCxnSpPr>
            <a:cxnSpLocks/>
          </p:cNvCxnSpPr>
          <p:nvPr/>
        </p:nvCxnSpPr>
        <p:spPr>
          <a:xfrm>
            <a:off x="8727457" y="4482067"/>
            <a:ext cx="370262" cy="357734"/>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Rectangle: Rounded Corners 24">
            <a:extLst>
              <a:ext uri="{FF2B5EF4-FFF2-40B4-BE49-F238E27FC236}">
                <a16:creationId xmlns:a16="http://schemas.microsoft.com/office/drawing/2014/main" id="{AE03467F-CC4F-DD39-9135-4B2F97EDD0B2}"/>
              </a:ext>
            </a:extLst>
          </p:cNvPr>
          <p:cNvSpPr/>
          <p:nvPr/>
        </p:nvSpPr>
        <p:spPr>
          <a:xfrm>
            <a:off x="10484776" y="3295141"/>
            <a:ext cx="1344197" cy="953304"/>
          </a:xfrm>
          <a:prstGeom prst="roundRect">
            <a:avLst/>
          </a:prstGeom>
          <a:solidFill>
            <a:srgbClr val="4472C4"/>
          </a:solidFill>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p>
            <a:r>
              <a:rPr lang="bg-BG" sz="1000">
                <a:ea typeface="+mn-lt"/>
                <a:cs typeface="+mn-lt"/>
              </a:rPr>
              <a:t>Ако желаете мога да Ви разкажа за вариантите, от които може да се възползвате</a:t>
            </a:r>
            <a:endParaRPr lang="en-US"/>
          </a:p>
        </p:txBody>
      </p:sp>
      <p:cxnSp>
        <p:nvCxnSpPr>
          <p:cNvPr id="34" name="Connector: Elbow 33">
            <a:extLst>
              <a:ext uri="{FF2B5EF4-FFF2-40B4-BE49-F238E27FC236}">
                <a16:creationId xmlns:a16="http://schemas.microsoft.com/office/drawing/2014/main" id="{C689AFC4-5F9F-456E-AFD9-9BB78F55E2C0}"/>
              </a:ext>
            </a:extLst>
          </p:cNvPr>
          <p:cNvCxnSpPr>
            <a:cxnSpLocks/>
          </p:cNvCxnSpPr>
          <p:nvPr/>
        </p:nvCxnSpPr>
        <p:spPr>
          <a:xfrm flipV="1">
            <a:off x="11517974" y="2810417"/>
            <a:ext cx="658897" cy="1081088"/>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Connector: Elbow 36">
            <a:extLst>
              <a:ext uri="{FF2B5EF4-FFF2-40B4-BE49-F238E27FC236}">
                <a16:creationId xmlns:a16="http://schemas.microsoft.com/office/drawing/2014/main" id="{285E4DCA-5AE4-CC6D-B3CC-144EE985BC69}"/>
              </a:ext>
            </a:extLst>
          </p:cNvPr>
          <p:cNvCxnSpPr>
            <a:cxnSpLocks/>
          </p:cNvCxnSpPr>
          <p:nvPr/>
        </p:nvCxnSpPr>
        <p:spPr>
          <a:xfrm>
            <a:off x="10029261" y="3831381"/>
            <a:ext cx="370262" cy="7018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Connector: Elbow 38">
            <a:extLst>
              <a:ext uri="{FF2B5EF4-FFF2-40B4-BE49-F238E27FC236}">
                <a16:creationId xmlns:a16="http://schemas.microsoft.com/office/drawing/2014/main" id="{0160C74A-BE03-D99E-D261-5A87ED0DD8A2}"/>
              </a:ext>
            </a:extLst>
          </p:cNvPr>
          <p:cNvCxnSpPr>
            <a:cxnSpLocks/>
          </p:cNvCxnSpPr>
          <p:nvPr/>
        </p:nvCxnSpPr>
        <p:spPr>
          <a:xfrm>
            <a:off x="7073625" y="4466382"/>
            <a:ext cx="370262" cy="7018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41" name="Rectangle: Rounded Corners 40">
            <a:extLst>
              <a:ext uri="{FF2B5EF4-FFF2-40B4-BE49-F238E27FC236}">
                <a16:creationId xmlns:a16="http://schemas.microsoft.com/office/drawing/2014/main" id="{12CC8E51-1E1C-C971-ABF4-3D578A1D7AA2}"/>
              </a:ext>
            </a:extLst>
          </p:cNvPr>
          <p:cNvSpPr/>
          <p:nvPr/>
        </p:nvSpPr>
        <p:spPr>
          <a:xfrm>
            <a:off x="12197862" y="2633129"/>
            <a:ext cx="1111112" cy="475367"/>
          </a:xfrm>
          <a:prstGeom prst="roundRect">
            <a:avLst/>
          </a:prstGeom>
          <a:solidFill>
            <a:srgbClr val="4472C4"/>
          </a:solidFill>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p>
            <a:pPr algn="ctr"/>
            <a:r>
              <a:rPr lang="bg-BG" sz="1000"/>
              <a:t>Да </a:t>
            </a:r>
            <a:endParaRPr lang="bg-BG" sz="1000" dirty="0"/>
          </a:p>
        </p:txBody>
      </p:sp>
      <p:sp>
        <p:nvSpPr>
          <p:cNvPr id="43" name="Rectangle: Rounded Corners 42">
            <a:extLst>
              <a:ext uri="{FF2B5EF4-FFF2-40B4-BE49-F238E27FC236}">
                <a16:creationId xmlns:a16="http://schemas.microsoft.com/office/drawing/2014/main" id="{C9D82863-A060-25F7-0194-A259BF6E687D}"/>
              </a:ext>
            </a:extLst>
          </p:cNvPr>
          <p:cNvSpPr/>
          <p:nvPr/>
        </p:nvSpPr>
        <p:spPr>
          <a:xfrm>
            <a:off x="12192197" y="3320410"/>
            <a:ext cx="1122658" cy="486912"/>
          </a:xfrm>
          <a:prstGeom prst="roundRect">
            <a:avLst/>
          </a:prstGeom>
          <a:solidFill>
            <a:srgbClr val="4472C4"/>
          </a:solidFill>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p>
            <a:pPr algn="ctr"/>
            <a:r>
              <a:rPr lang="bg-BG" sz="1000"/>
              <a:t>Не, не искам </a:t>
            </a:r>
            <a:endParaRPr lang="bg-BG" sz="1000" dirty="0"/>
          </a:p>
        </p:txBody>
      </p:sp>
      <p:sp>
        <p:nvSpPr>
          <p:cNvPr id="45" name="Rectangle: Rounded Corners 44">
            <a:extLst>
              <a:ext uri="{FF2B5EF4-FFF2-40B4-BE49-F238E27FC236}">
                <a16:creationId xmlns:a16="http://schemas.microsoft.com/office/drawing/2014/main" id="{DB613200-AC1E-0287-D0D1-D602AF5CBC7F}"/>
              </a:ext>
            </a:extLst>
          </p:cNvPr>
          <p:cNvSpPr/>
          <p:nvPr/>
        </p:nvSpPr>
        <p:spPr>
          <a:xfrm>
            <a:off x="13482237" y="2288072"/>
            <a:ext cx="1309561" cy="803213"/>
          </a:xfrm>
          <a:prstGeom prst="roundRect">
            <a:avLst/>
          </a:prstGeom>
          <a:solidFill>
            <a:srgbClr val="4472C4"/>
          </a:solidFill>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p>
            <a:r>
              <a:rPr lang="bg-BG" sz="1000"/>
              <a:t>Представям варианти </a:t>
            </a:r>
            <a:endParaRPr lang="bg-BG" sz="1000" dirty="0"/>
          </a:p>
        </p:txBody>
      </p:sp>
      <p:cxnSp>
        <p:nvCxnSpPr>
          <p:cNvPr id="47" name="Connector: Elbow 46">
            <a:extLst>
              <a:ext uri="{FF2B5EF4-FFF2-40B4-BE49-F238E27FC236}">
                <a16:creationId xmlns:a16="http://schemas.microsoft.com/office/drawing/2014/main" id="{59EBC3A4-095A-B175-97BF-9C4BBF89FCC2}"/>
              </a:ext>
            </a:extLst>
          </p:cNvPr>
          <p:cNvCxnSpPr>
            <a:cxnSpLocks/>
          </p:cNvCxnSpPr>
          <p:nvPr/>
        </p:nvCxnSpPr>
        <p:spPr>
          <a:xfrm flipV="1">
            <a:off x="13075957" y="2899294"/>
            <a:ext cx="370262" cy="3045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Connector: Elbow 48">
            <a:extLst>
              <a:ext uri="{FF2B5EF4-FFF2-40B4-BE49-F238E27FC236}">
                <a16:creationId xmlns:a16="http://schemas.microsoft.com/office/drawing/2014/main" id="{FF7B5E7F-0AFA-DFF6-D9CA-6397A09D2C99}"/>
              </a:ext>
            </a:extLst>
          </p:cNvPr>
          <p:cNvCxnSpPr>
            <a:cxnSpLocks/>
          </p:cNvCxnSpPr>
          <p:nvPr/>
        </p:nvCxnSpPr>
        <p:spPr>
          <a:xfrm flipV="1">
            <a:off x="13078569" y="3555423"/>
            <a:ext cx="370262" cy="20298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51" name="Rectangle: Rounded Corners 50">
            <a:extLst>
              <a:ext uri="{FF2B5EF4-FFF2-40B4-BE49-F238E27FC236}">
                <a16:creationId xmlns:a16="http://schemas.microsoft.com/office/drawing/2014/main" id="{AFDA6D52-93B7-4BE4-3ED6-6C93518FF3E2}"/>
              </a:ext>
            </a:extLst>
          </p:cNvPr>
          <p:cNvSpPr/>
          <p:nvPr/>
        </p:nvSpPr>
        <p:spPr>
          <a:xfrm>
            <a:off x="13493785" y="3208439"/>
            <a:ext cx="1292352" cy="795154"/>
          </a:xfrm>
          <a:prstGeom prst="roundRect">
            <a:avLst/>
          </a:prstGeom>
          <a:solidFill>
            <a:srgbClr val="4472C4"/>
          </a:solidFill>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p>
            <a:r>
              <a:rPr lang="bg-BG" sz="1000"/>
              <a:t>Ако изникне нужда от допълнително финансиране</a:t>
            </a:r>
            <a:endParaRPr lang="bg-BG" sz="1000">
              <a:solidFill>
                <a:srgbClr val="000000"/>
              </a:solidFill>
            </a:endParaRPr>
          </a:p>
          <a:p>
            <a:endParaRPr lang="bg-BG" sz="1000" dirty="0"/>
          </a:p>
        </p:txBody>
      </p:sp>
      <p:sp>
        <p:nvSpPr>
          <p:cNvPr id="53" name="Rectangle: Rounded Corners 52">
            <a:extLst>
              <a:ext uri="{FF2B5EF4-FFF2-40B4-BE49-F238E27FC236}">
                <a16:creationId xmlns:a16="http://schemas.microsoft.com/office/drawing/2014/main" id="{36012A7A-8F92-7BF4-76D2-DDFD43D45ADF}"/>
              </a:ext>
            </a:extLst>
          </p:cNvPr>
          <p:cNvSpPr/>
          <p:nvPr/>
        </p:nvSpPr>
        <p:spPr>
          <a:xfrm>
            <a:off x="15004276" y="2290686"/>
            <a:ext cx="1295183" cy="736771"/>
          </a:xfrm>
          <a:prstGeom prst="roundRect">
            <a:avLst/>
          </a:prstGeom>
          <a:solidFill>
            <a:schemeClr val="accent2"/>
          </a:solidFill>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p>
            <a:r>
              <a:rPr lang="bg-BG" sz="1000" dirty="0"/>
              <a:t>Разговорът приключва със </a:t>
            </a:r>
            <a:r>
              <a:rPr lang="bg-BG" sz="1000"/>
              <a:t>среща</a:t>
            </a:r>
            <a:endParaRPr lang="bg-BG" sz="1000" dirty="0"/>
          </a:p>
        </p:txBody>
      </p:sp>
      <p:cxnSp>
        <p:nvCxnSpPr>
          <p:cNvPr id="55" name="Connector: Elbow 54">
            <a:extLst>
              <a:ext uri="{FF2B5EF4-FFF2-40B4-BE49-F238E27FC236}">
                <a16:creationId xmlns:a16="http://schemas.microsoft.com/office/drawing/2014/main" id="{DABAC494-4F04-576C-2949-AD668566E532}"/>
              </a:ext>
            </a:extLst>
          </p:cNvPr>
          <p:cNvCxnSpPr>
            <a:cxnSpLocks/>
          </p:cNvCxnSpPr>
          <p:nvPr/>
        </p:nvCxnSpPr>
        <p:spPr>
          <a:xfrm flipV="1">
            <a:off x="14612154" y="2671870"/>
            <a:ext cx="370262" cy="3045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57" name="Rectangle: Rounded Corners 56">
            <a:extLst>
              <a:ext uri="{FF2B5EF4-FFF2-40B4-BE49-F238E27FC236}">
                <a16:creationId xmlns:a16="http://schemas.microsoft.com/office/drawing/2014/main" id="{FE4B62CF-C658-30C3-C8B7-9F6F56624288}"/>
              </a:ext>
            </a:extLst>
          </p:cNvPr>
          <p:cNvSpPr/>
          <p:nvPr/>
        </p:nvSpPr>
        <p:spPr>
          <a:xfrm>
            <a:off x="15003840" y="3374650"/>
            <a:ext cx="1298017" cy="376033"/>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p>
            <a:r>
              <a:rPr lang="bg-BG" sz="1000"/>
              <a:t>Разговорът приключва </a:t>
            </a:r>
            <a:endParaRPr lang="en-US"/>
          </a:p>
        </p:txBody>
      </p:sp>
      <p:cxnSp>
        <p:nvCxnSpPr>
          <p:cNvPr id="59" name="Connector: Elbow 58">
            <a:extLst>
              <a:ext uri="{FF2B5EF4-FFF2-40B4-BE49-F238E27FC236}">
                <a16:creationId xmlns:a16="http://schemas.microsoft.com/office/drawing/2014/main" id="{318E3C50-5FCA-9B33-4924-62DD7F3B1FBB}"/>
              </a:ext>
            </a:extLst>
          </p:cNvPr>
          <p:cNvCxnSpPr>
            <a:cxnSpLocks/>
          </p:cNvCxnSpPr>
          <p:nvPr/>
        </p:nvCxnSpPr>
        <p:spPr>
          <a:xfrm>
            <a:off x="14599736" y="3544703"/>
            <a:ext cx="370262" cy="7018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Connector: Elbow 60">
            <a:extLst>
              <a:ext uri="{FF2B5EF4-FFF2-40B4-BE49-F238E27FC236}">
                <a16:creationId xmlns:a16="http://schemas.microsoft.com/office/drawing/2014/main" id="{FF139A58-5605-7495-301E-CAAF2C36E413}"/>
              </a:ext>
            </a:extLst>
          </p:cNvPr>
          <p:cNvCxnSpPr>
            <a:cxnSpLocks/>
          </p:cNvCxnSpPr>
          <p:nvPr/>
        </p:nvCxnSpPr>
        <p:spPr>
          <a:xfrm flipV="1">
            <a:off x="11679609" y="3664780"/>
            <a:ext cx="485717" cy="36527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63" name="Rectangle: Rounded Corners 62">
            <a:extLst>
              <a:ext uri="{FF2B5EF4-FFF2-40B4-BE49-F238E27FC236}">
                <a16:creationId xmlns:a16="http://schemas.microsoft.com/office/drawing/2014/main" id="{0C0932D0-5BF1-CF8F-3215-8D6B365F3D6E}"/>
              </a:ext>
            </a:extLst>
          </p:cNvPr>
          <p:cNvSpPr/>
          <p:nvPr/>
        </p:nvSpPr>
        <p:spPr>
          <a:xfrm>
            <a:off x="9157049" y="5413406"/>
            <a:ext cx="1122658" cy="486912"/>
          </a:xfrm>
          <a:prstGeom prst="roundRect">
            <a:avLst/>
          </a:prstGeom>
          <a:solidFill>
            <a:srgbClr val="4472C4"/>
          </a:solidFill>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p>
            <a:pPr algn="ctr"/>
            <a:r>
              <a:rPr lang="bg-BG" sz="1000"/>
              <a:t>Нека помисля!</a:t>
            </a:r>
            <a:endParaRPr lang="bg-BG" sz="1000" dirty="0"/>
          </a:p>
        </p:txBody>
      </p:sp>
      <p:sp>
        <p:nvSpPr>
          <p:cNvPr id="65" name="Rectangle: Rounded Corners 64">
            <a:extLst>
              <a:ext uri="{FF2B5EF4-FFF2-40B4-BE49-F238E27FC236}">
                <a16:creationId xmlns:a16="http://schemas.microsoft.com/office/drawing/2014/main" id="{B77AAEB8-E50B-5796-0833-57B1E0E49788}"/>
              </a:ext>
            </a:extLst>
          </p:cNvPr>
          <p:cNvSpPr/>
          <p:nvPr/>
        </p:nvSpPr>
        <p:spPr>
          <a:xfrm>
            <a:off x="9155741" y="4601955"/>
            <a:ext cx="1122658" cy="486912"/>
          </a:xfrm>
          <a:prstGeom prst="roundRect">
            <a:avLst/>
          </a:prstGeom>
          <a:solidFill>
            <a:srgbClr val="4472C4"/>
          </a:solidFill>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p>
            <a:pPr algn="ctr"/>
            <a:r>
              <a:rPr lang="bg-BG" sz="1000"/>
              <a:t>Не, не искам </a:t>
            </a:r>
            <a:endParaRPr lang="bg-BG" sz="1000" dirty="0"/>
          </a:p>
        </p:txBody>
      </p:sp>
      <p:cxnSp>
        <p:nvCxnSpPr>
          <p:cNvPr id="67" name="Connector: Elbow 66">
            <a:extLst>
              <a:ext uri="{FF2B5EF4-FFF2-40B4-BE49-F238E27FC236}">
                <a16:creationId xmlns:a16="http://schemas.microsoft.com/office/drawing/2014/main" id="{A8BF1787-61FC-A26C-E16C-ACB0B5F07797}"/>
              </a:ext>
            </a:extLst>
          </p:cNvPr>
          <p:cNvCxnSpPr>
            <a:cxnSpLocks/>
          </p:cNvCxnSpPr>
          <p:nvPr/>
        </p:nvCxnSpPr>
        <p:spPr>
          <a:xfrm flipV="1">
            <a:off x="10042114" y="4836968"/>
            <a:ext cx="370262" cy="20298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69" name="Rectangle: Rounded Corners 68">
            <a:extLst>
              <a:ext uri="{FF2B5EF4-FFF2-40B4-BE49-F238E27FC236}">
                <a16:creationId xmlns:a16="http://schemas.microsoft.com/office/drawing/2014/main" id="{6345E39B-776D-D82A-8730-DAC5B9A1282A}"/>
              </a:ext>
            </a:extLst>
          </p:cNvPr>
          <p:cNvSpPr/>
          <p:nvPr/>
        </p:nvSpPr>
        <p:spPr>
          <a:xfrm>
            <a:off x="10457330" y="4489984"/>
            <a:ext cx="1292352" cy="795154"/>
          </a:xfrm>
          <a:prstGeom prst="roundRect">
            <a:avLst/>
          </a:prstGeom>
          <a:solidFill>
            <a:srgbClr val="4472C4"/>
          </a:solidFill>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p>
            <a:r>
              <a:rPr lang="bg-BG" sz="1000"/>
              <a:t>Ако изникне нужда от допълнително финансиране</a:t>
            </a:r>
            <a:endParaRPr lang="bg-BG" sz="1000">
              <a:solidFill>
                <a:srgbClr val="000000"/>
              </a:solidFill>
            </a:endParaRPr>
          </a:p>
          <a:p>
            <a:endParaRPr lang="bg-BG" sz="1000" dirty="0"/>
          </a:p>
        </p:txBody>
      </p:sp>
      <p:sp>
        <p:nvSpPr>
          <p:cNvPr id="71" name="Rectangle: Rounded Corners 70">
            <a:extLst>
              <a:ext uri="{FF2B5EF4-FFF2-40B4-BE49-F238E27FC236}">
                <a16:creationId xmlns:a16="http://schemas.microsoft.com/office/drawing/2014/main" id="{7BDA230E-3F86-344C-E633-DFD182D51200}"/>
              </a:ext>
            </a:extLst>
          </p:cNvPr>
          <p:cNvSpPr/>
          <p:nvPr/>
        </p:nvSpPr>
        <p:spPr>
          <a:xfrm>
            <a:off x="11967385" y="4656195"/>
            <a:ext cx="1298017" cy="376033"/>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p>
            <a:r>
              <a:rPr lang="bg-BG" sz="1000"/>
              <a:t>Разговорът приключва </a:t>
            </a:r>
            <a:endParaRPr lang="en-US"/>
          </a:p>
        </p:txBody>
      </p:sp>
      <p:cxnSp>
        <p:nvCxnSpPr>
          <p:cNvPr id="73" name="Connector: Elbow 72">
            <a:extLst>
              <a:ext uri="{FF2B5EF4-FFF2-40B4-BE49-F238E27FC236}">
                <a16:creationId xmlns:a16="http://schemas.microsoft.com/office/drawing/2014/main" id="{D2B638B8-653C-92E3-A5D9-3899FEE3316D}"/>
              </a:ext>
            </a:extLst>
          </p:cNvPr>
          <p:cNvCxnSpPr>
            <a:cxnSpLocks/>
          </p:cNvCxnSpPr>
          <p:nvPr/>
        </p:nvCxnSpPr>
        <p:spPr>
          <a:xfrm>
            <a:off x="11563280" y="4826248"/>
            <a:ext cx="370262" cy="7018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5" name="Connector: Elbow 74">
            <a:extLst>
              <a:ext uri="{FF2B5EF4-FFF2-40B4-BE49-F238E27FC236}">
                <a16:creationId xmlns:a16="http://schemas.microsoft.com/office/drawing/2014/main" id="{451CA51D-571B-4BF2-C09A-E3CA53A2B982}"/>
              </a:ext>
            </a:extLst>
          </p:cNvPr>
          <p:cNvCxnSpPr>
            <a:cxnSpLocks/>
          </p:cNvCxnSpPr>
          <p:nvPr/>
        </p:nvCxnSpPr>
        <p:spPr>
          <a:xfrm>
            <a:off x="8739003" y="5093976"/>
            <a:ext cx="381807" cy="58864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77" name="Rectangle: Rounded Corners 76">
            <a:extLst>
              <a:ext uri="{FF2B5EF4-FFF2-40B4-BE49-F238E27FC236}">
                <a16:creationId xmlns:a16="http://schemas.microsoft.com/office/drawing/2014/main" id="{1BDAE4DA-7256-47DF-10E7-67C9F471E83E}"/>
              </a:ext>
            </a:extLst>
          </p:cNvPr>
          <p:cNvSpPr/>
          <p:nvPr/>
        </p:nvSpPr>
        <p:spPr>
          <a:xfrm>
            <a:off x="10572784" y="5482893"/>
            <a:ext cx="1292352" cy="795154"/>
          </a:xfrm>
          <a:prstGeom prst="roundRect">
            <a:avLst/>
          </a:prstGeom>
          <a:solidFill>
            <a:srgbClr val="4472C4"/>
          </a:solidFill>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p>
            <a:r>
              <a:rPr lang="bg-BG" sz="1000"/>
              <a:t>Кога Ви е удобно?( отбелязва се ден и час)</a:t>
            </a:r>
            <a:endParaRPr lang="bg-BG" sz="1000" dirty="0"/>
          </a:p>
        </p:txBody>
      </p:sp>
      <p:sp>
        <p:nvSpPr>
          <p:cNvPr id="79" name="Rectangle: Rounded Corners 78">
            <a:extLst>
              <a:ext uri="{FF2B5EF4-FFF2-40B4-BE49-F238E27FC236}">
                <a16:creationId xmlns:a16="http://schemas.microsoft.com/office/drawing/2014/main" id="{A55C2461-9D12-B41E-44E5-9D921E2B21E0}"/>
              </a:ext>
            </a:extLst>
          </p:cNvPr>
          <p:cNvSpPr/>
          <p:nvPr/>
        </p:nvSpPr>
        <p:spPr>
          <a:xfrm>
            <a:off x="13549112" y="5706831"/>
            <a:ext cx="1298017" cy="376033"/>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p>
            <a:r>
              <a:rPr lang="bg-BG" sz="1000"/>
              <a:t>Разговорът приключва </a:t>
            </a:r>
            <a:endParaRPr lang="en-US"/>
          </a:p>
        </p:txBody>
      </p:sp>
      <p:cxnSp>
        <p:nvCxnSpPr>
          <p:cNvPr id="81" name="Connector: Elbow 80">
            <a:extLst>
              <a:ext uri="{FF2B5EF4-FFF2-40B4-BE49-F238E27FC236}">
                <a16:creationId xmlns:a16="http://schemas.microsoft.com/office/drawing/2014/main" id="{822F04A8-C1AA-6F9D-7BB1-6552274A1E3C}"/>
              </a:ext>
            </a:extLst>
          </p:cNvPr>
          <p:cNvCxnSpPr>
            <a:cxnSpLocks/>
          </p:cNvCxnSpPr>
          <p:nvPr/>
        </p:nvCxnSpPr>
        <p:spPr>
          <a:xfrm>
            <a:off x="11678734" y="5819157"/>
            <a:ext cx="370262" cy="7018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3" name="Connector: Elbow 82">
            <a:extLst>
              <a:ext uri="{FF2B5EF4-FFF2-40B4-BE49-F238E27FC236}">
                <a16:creationId xmlns:a16="http://schemas.microsoft.com/office/drawing/2014/main" id="{3E720D45-8B51-8620-BA75-C2F53BCBD969}"/>
              </a:ext>
            </a:extLst>
          </p:cNvPr>
          <p:cNvCxnSpPr>
            <a:cxnSpLocks/>
          </p:cNvCxnSpPr>
          <p:nvPr/>
        </p:nvCxnSpPr>
        <p:spPr>
          <a:xfrm>
            <a:off x="10043640" y="5636611"/>
            <a:ext cx="520352" cy="219189"/>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85" name="Rectangle: Rounded Corners 84">
            <a:extLst>
              <a:ext uri="{FF2B5EF4-FFF2-40B4-BE49-F238E27FC236}">
                <a16:creationId xmlns:a16="http://schemas.microsoft.com/office/drawing/2014/main" id="{177D1DB9-61DD-3B6F-9243-C391CCEB1055}"/>
              </a:ext>
            </a:extLst>
          </p:cNvPr>
          <p:cNvSpPr/>
          <p:nvPr/>
        </p:nvSpPr>
        <p:spPr>
          <a:xfrm>
            <a:off x="12073694" y="5482893"/>
            <a:ext cx="1292352" cy="795154"/>
          </a:xfrm>
          <a:prstGeom prst="roundRect">
            <a:avLst/>
          </a:prstGeom>
          <a:solidFill>
            <a:srgbClr val="4472C4"/>
          </a:solidFill>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p>
            <a:r>
              <a:rPr lang="bg-BG" sz="1000" dirty="0"/>
              <a:t>Очаквайте </a:t>
            </a:r>
            <a:r>
              <a:rPr lang="bg-BG" sz="1000"/>
              <a:t>обаждане от нас!</a:t>
            </a:r>
            <a:endParaRPr lang="en-US"/>
          </a:p>
        </p:txBody>
      </p:sp>
      <p:cxnSp>
        <p:nvCxnSpPr>
          <p:cNvPr id="87" name="Connector: Elbow 86">
            <a:extLst>
              <a:ext uri="{FF2B5EF4-FFF2-40B4-BE49-F238E27FC236}">
                <a16:creationId xmlns:a16="http://schemas.microsoft.com/office/drawing/2014/main" id="{14C2B443-8B33-78A3-0350-9AF60A4C594F}"/>
              </a:ext>
            </a:extLst>
          </p:cNvPr>
          <p:cNvCxnSpPr>
            <a:cxnSpLocks/>
          </p:cNvCxnSpPr>
          <p:nvPr/>
        </p:nvCxnSpPr>
        <p:spPr>
          <a:xfrm>
            <a:off x="12613917" y="5680612"/>
            <a:ext cx="370262" cy="7018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3" name="Текстово поле 23">
            <a:extLst>
              <a:ext uri="{FF2B5EF4-FFF2-40B4-BE49-F238E27FC236}">
                <a16:creationId xmlns:a16="http://schemas.microsoft.com/office/drawing/2014/main" id="{E9D82CB5-883D-7CB4-C4BA-6A909EE3DD42}"/>
              </a:ext>
            </a:extLst>
          </p:cNvPr>
          <p:cNvSpPr txBox="1"/>
          <p:nvPr/>
        </p:nvSpPr>
        <p:spPr>
          <a:xfrm>
            <a:off x="3362960" y="6360160"/>
            <a:ext cx="6390640" cy="348714"/>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bg-BG" sz="1600" i="1"/>
              <a:t>Съдържа сценарии от дървото, изпратено като документ</a:t>
            </a:r>
          </a:p>
        </p:txBody>
      </p:sp>
    </p:spTree>
    <p:extLst>
      <p:ext uri="{BB962C8B-B14F-4D97-AF65-F5344CB8AC3E}">
        <p14:creationId xmlns:p14="http://schemas.microsoft.com/office/powerpoint/2010/main" val="364432955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769441-555F-96FD-2DCC-BD652C36FE52}"/>
            </a:ext>
          </a:extLst>
        </p:cNvPr>
        <p:cNvGrpSpPr/>
        <p:nvPr/>
      </p:nvGrpSpPr>
      <p:grpSpPr>
        <a:xfrm>
          <a:off x="0" y="0"/>
          <a:ext cx="0" cy="0"/>
          <a:chOff x="0" y="0"/>
          <a:chExt cx="0" cy="0"/>
        </a:xfrm>
      </p:grpSpPr>
      <p:sp>
        <p:nvSpPr>
          <p:cNvPr id="22" name="Rectangle: Rounded Corners 21">
            <a:extLst>
              <a:ext uri="{FF2B5EF4-FFF2-40B4-BE49-F238E27FC236}">
                <a16:creationId xmlns:a16="http://schemas.microsoft.com/office/drawing/2014/main" id="{EC4D5E3C-1A23-478A-BA73-0D7C243CBAE9}"/>
              </a:ext>
            </a:extLst>
          </p:cNvPr>
          <p:cNvSpPr/>
          <p:nvPr/>
        </p:nvSpPr>
        <p:spPr>
          <a:xfrm>
            <a:off x="1896200" y="2012494"/>
            <a:ext cx="2932281" cy="677241"/>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bg-BG" sz="1600"/>
              <a:t>Предварително одобрен клиент</a:t>
            </a:r>
            <a:endParaRPr lang="en-GB" sz="1600"/>
          </a:p>
        </p:txBody>
      </p:sp>
      <p:sp>
        <p:nvSpPr>
          <p:cNvPr id="23" name="Rectangle: Rounded Corners 22">
            <a:extLst>
              <a:ext uri="{FF2B5EF4-FFF2-40B4-BE49-F238E27FC236}">
                <a16:creationId xmlns:a16="http://schemas.microsoft.com/office/drawing/2014/main" id="{5F309138-056B-4A56-8574-644347D47AD4}"/>
              </a:ext>
            </a:extLst>
          </p:cNvPr>
          <p:cNvSpPr/>
          <p:nvPr/>
        </p:nvSpPr>
        <p:spPr>
          <a:xfrm>
            <a:off x="1896199" y="1147427"/>
            <a:ext cx="2932281" cy="677241"/>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bg-BG" sz="1600"/>
              <a:t>Лоялен клиент</a:t>
            </a:r>
            <a:endParaRPr lang="en-GB" sz="1600"/>
          </a:p>
        </p:txBody>
      </p:sp>
      <p:sp>
        <p:nvSpPr>
          <p:cNvPr id="24" name="Rectangle: Rounded Corners 23">
            <a:extLst>
              <a:ext uri="{FF2B5EF4-FFF2-40B4-BE49-F238E27FC236}">
                <a16:creationId xmlns:a16="http://schemas.microsoft.com/office/drawing/2014/main" id="{ED8D1D6C-E445-4E73-BBB2-AF6C2728A00B}"/>
              </a:ext>
            </a:extLst>
          </p:cNvPr>
          <p:cNvSpPr/>
          <p:nvPr/>
        </p:nvSpPr>
        <p:spPr>
          <a:xfrm>
            <a:off x="1896198" y="2951536"/>
            <a:ext cx="2932281" cy="677241"/>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bg-BG" sz="1600"/>
              <a:t>Промо кампания</a:t>
            </a:r>
            <a:endParaRPr lang="en-GB" sz="1600"/>
          </a:p>
        </p:txBody>
      </p:sp>
      <p:sp>
        <p:nvSpPr>
          <p:cNvPr id="25" name="Rectangle 9">
            <a:extLst>
              <a:ext uri="{FF2B5EF4-FFF2-40B4-BE49-F238E27FC236}">
                <a16:creationId xmlns:a16="http://schemas.microsoft.com/office/drawing/2014/main" id="{E7E21754-3BCF-4A7F-BEB3-FFBD33E36FE7}"/>
              </a:ext>
            </a:extLst>
          </p:cNvPr>
          <p:cNvSpPr/>
          <p:nvPr/>
        </p:nvSpPr>
        <p:spPr>
          <a:xfrm>
            <a:off x="1896196" y="4777416"/>
            <a:ext cx="2932281" cy="677241"/>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bg-BG" sz="1600"/>
              <a:t>По препоръка</a:t>
            </a:r>
            <a:endParaRPr lang="en-GB" sz="1600"/>
          </a:p>
        </p:txBody>
      </p:sp>
      <p:sp>
        <p:nvSpPr>
          <p:cNvPr id="26" name="Rectangle 11">
            <a:extLst>
              <a:ext uri="{FF2B5EF4-FFF2-40B4-BE49-F238E27FC236}">
                <a16:creationId xmlns:a16="http://schemas.microsoft.com/office/drawing/2014/main" id="{6571FDBE-98DE-423D-8258-8EFA8D4AA187}"/>
              </a:ext>
            </a:extLst>
          </p:cNvPr>
          <p:cNvSpPr/>
          <p:nvPr/>
        </p:nvSpPr>
        <p:spPr>
          <a:xfrm>
            <a:off x="1896197" y="3838374"/>
            <a:ext cx="2932281" cy="677241"/>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bg-BG" sz="1600"/>
              <a:t>Продукт „Пенсионер“</a:t>
            </a:r>
            <a:endParaRPr lang="en-GB" sz="1600"/>
          </a:p>
        </p:txBody>
      </p:sp>
      <p:sp>
        <p:nvSpPr>
          <p:cNvPr id="27" name="Rectangle 28">
            <a:extLst>
              <a:ext uri="{FF2B5EF4-FFF2-40B4-BE49-F238E27FC236}">
                <a16:creationId xmlns:a16="http://schemas.microsoft.com/office/drawing/2014/main" id="{C916A5D3-6C70-48A2-B845-070DFA86F806}"/>
              </a:ext>
            </a:extLst>
          </p:cNvPr>
          <p:cNvSpPr/>
          <p:nvPr/>
        </p:nvSpPr>
        <p:spPr>
          <a:xfrm>
            <a:off x="-15824" y="1599"/>
            <a:ext cx="1465320" cy="6859628"/>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400">
              <a:latin typeface="Aptos"/>
              <a:ea typeface="Calibri"/>
              <a:cs typeface="Calibri"/>
            </a:endParaRPr>
          </a:p>
        </p:txBody>
      </p:sp>
      <p:sp>
        <p:nvSpPr>
          <p:cNvPr id="28" name="Rectangle 29">
            <a:extLst>
              <a:ext uri="{FF2B5EF4-FFF2-40B4-BE49-F238E27FC236}">
                <a16:creationId xmlns:a16="http://schemas.microsoft.com/office/drawing/2014/main" id="{AE6BDBD1-7912-4E32-BCBA-87252DAD5BF6}"/>
              </a:ext>
            </a:extLst>
          </p:cNvPr>
          <p:cNvSpPr/>
          <p:nvPr/>
        </p:nvSpPr>
        <p:spPr>
          <a:xfrm>
            <a:off x="-1671" y="2528038"/>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Типове клиенти</a:t>
            </a:r>
            <a:endParaRPr lang="en-GB" sz="1400">
              <a:latin typeface="Aptos"/>
              <a:ea typeface="Calibri"/>
              <a:cs typeface="Calibri"/>
            </a:endParaRPr>
          </a:p>
        </p:txBody>
      </p:sp>
      <p:sp>
        <p:nvSpPr>
          <p:cNvPr id="29" name="Rectangle 30">
            <a:extLst>
              <a:ext uri="{FF2B5EF4-FFF2-40B4-BE49-F238E27FC236}">
                <a16:creationId xmlns:a16="http://schemas.microsoft.com/office/drawing/2014/main" id="{F5C7FD06-D25D-40E2-B985-A4F1F2D8B243}"/>
              </a:ext>
            </a:extLst>
          </p:cNvPr>
          <p:cNvSpPr/>
          <p:nvPr/>
        </p:nvSpPr>
        <p:spPr>
          <a:xfrm>
            <a:off x="8626" y="1913210"/>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002060"/>
                </a:solidFill>
                <a:latin typeface="Aptos"/>
                <a:ea typeface="Calibri"/>
                <a:cs typeface="Calibri"/>
              </a:rPr>
              <a:t>Сценарии</a:t>
            </a:r>
            <a:endParaRPr lang="en-GB" sz="1400">
              <a:solidFill>
                <a:srgbClr val="002060"/>
              </a:solidFill>
              <a:latin typeface="Aptos"/>
              <a:ea typeface="Calibri"/>
              <a:cs typeface="Calibri"/>
            </a:endParaRPr>
          </a:p>
        </p:txBody>
      </p:sp>
      <p:sp>
        <p:nvSpPr>
          <p:cNvPr id="30" name="Rectangle 31">
            <a:extLst>
              <a:ext uri="{FF2B5EF4-FFF2-40B4-BE49-F238E27FC236}">
                <a16:creationId xmlns:a16="http://schemas.microsoft.com/office/drawing/2014/main" id="{077C2308-6222-408A-BF83-CCFDA03F31F1}"/>
              </a:ext>
            </a:extLst>
          </p:cNvPr>
          <p:cNvSpPr/>
          <p:nvPr/>
        </p:nvSpPr>
        <p:spPr>
          <a:xfrm>
            <a:off x="-1671" y="1298382"/>
            <a:ext cx="1442908" cy="4485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chemeClr val="bg1"/>
                </a:solidFill>
                <a:latin typeface="Aptos"/>
                <a:ea typeface="Calibri"/>
                <a:cs typeface="Calibri"/>
              </a:rPr>
              <a:t>Стъпки в обаждането</a:t>
            </a:r>
            <a:endParaRPr lang="en-GB" sz="1400">
              <a:solidFill>
                <a:schemeClr val="bg1"/>
              </a:solidFill>
              <a:latin typeface="Aptos"/>
              <a:ea typeface="Calibri"/>
              <a:cs typeface="Calibri"/>
            </a:endParaRPr>
          </a:p>
        </p:txBody>
      </p:sp>
      <p:sp>
        <p:nvSpPr>
          <p:cNvPr id="31" name="Rectangle 3">
            <a:extLst>
              <a:ext uri="{FF2B5EF4-FFF2-40B4-BE49-F238E27FC236}">
                <a16:creationId xmlns:a16="http://schemas.microsoft.com/office/drawing/2014/main" id="{6E1C2BF4-D810-4092-A25A-86A305D1475C}"/>
              </a:ext>
            </a:extLst>
          </p:cNvPr>
          <p:cNvSpPr/>
          <p:nvPr/>
        </p:nvSpPr>
        <p:spPr>
          <a:xfrm>
            <a:off x="1443475" y="4245"/>
            <a:ext cx="5338363" cy="67724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32" name="Rectangle 4">
            <a:extLst>
              <a:ext uri="{FF2B5EF4-FFF2-40B4-BE49-F238E27FC236}">
                <a16:creationId xmlns:a16="http://schemas.microsoft.com/office/drawing/2014/main" id="{F3982593-2954-4250-A619-61D80C7ADD5E}"/>
              </a:ext>
            </a:extLst>
          </p:cNvPr>
          <p:cNvSpPr/>
          <p:nvPr/>
        </p:nvSpPr>
        <p:spPr>
          <a:xfrm>
            <a:off x="6788435" y="4245"/>
            <a:ext cx="5417300" cy="677242"/>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33" name="Rectangle 28">
            <a:extLst>
              <a:ext uri="{FF2B5EF4-FFF2-40B4-BE49-F238E27FC236}">
                <a16:creationId xmlns:a16="http://schemas.microsoft.com/office/drawing/2014/main" id="{BE934018-33CA-479E-A782-2C430FFC85EA}"/>
              </a:ext>
            </a:extLst>
          </p:cNvPr>
          <p:cNvSpPr/>
          <p:nvPr/>
        </p:nvSpPr>
        <p:spPr>
          <a:xfrm>
            <a:off x="-15827" y="690328"/>
            <a:ext cx="1465322"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FFFFFF"/>
                </a:solidFill>
                <a:latin typeface="Aptos"/>
                <a:ea typeface="Calibri"/>
                <a:cs typeface="Calibri"/>
              </a:rPr>
              <a:t>Подготовка</a:t>
            </a:r>
            <a:endParaRPr lang="en-GB" sz="1400">
              <a:solidFill>
                <a:srgbClr val="FFFFFF"/>
              </a:solidFill>
              <a:latin typeface="Aptos"/>
              <a:ea typeface="Calibri"/>
              <a:cs typeface="Calibri"/>
            </a:endParaRPr>
          </a:p>
        </p:txBody>
      </p:sp>
      <p:pic>
        <p:nvPicPr>
          <p:cNvPr id="34" name="Picture 33">
            <a:extLst>
              <a:ext uri="{FF2B5EF4-FFF2-40B4-BE49-F238E27FC236}">
                <a16:creationId xmlns:a16="http://schemas.microsoft.com/office/drawing/2014/main" id="{D55E3D73-92A1-4B4D-A43A-9217D277FE73}"/>
              </a:ext>
            </a:extLst>
          </p:cNvPr>
          <p:cNvPicPr>
            <a:picLocks noChangeAspect="1"/>
          </p:cNvPicPr>
          <p:nvPr/>
        </p:nvPicPr>
        <p:blipFill>
          <a:blip r:embed="rId2"/>
          <a:stretch>
            <a:fillRect/>
          </a:stretch>
        </p:blipFill>
        <p:spPr>
          <a:xfrm>
            <a:off x="11045226" y="5586704"/>
            <a:ext cx="982751" cy="995681"/>
          </a:xfrm>
          <a:prstGeom prst="rect">
            <a:avLst/>
          </a:prstGeom>
        </p:spPr>
      </p:pic>
      <p:sp>
        <p:nvSpPr>
          <p:cNvPr id="4" name="Rectangle: Rounded Corners 3">
            <a:extLst>
              <a:ext uri="{FF2B5EF4-FFF2-40B4-BE49-F238E27FC236}">
                <a16:creationId xmlns:a16="http://schemas.microsoft.com/office/drawing/2014/main" id="{C0567E8F-824D-ED2D-7DC1-C6259607CC5B}"/>
              </a:ext>
            </a:extLst>
          </p:cNvPr>
          <p:cNvSpPr/>
          <p:nvPr/>
        </p:nvSpPr>
        <p:spPr>
          <a:xfrm>
            <a:off x="5328603" y="4298817"/>
            <a:ext cx="3230134" cy="467065"/>
          </a:xfrm>
          <a:prstGeom prst="roundRect">
            <a:avLst/>
          </a:prstGeom>
          <a:solidFill>
            <a:srgbClr val="A5A5A5"/>
          </a:solidFill>
          <a:ln>
            <a:solidFill>
              <a:srgbClr val="A5A5A5"/>
            </a:solid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400">
                <a:ea typeface="+mn-lt"/>
                <a:cs typeface="+mn-lt"/>
              </a:rPr>
              <a:t>Вече имам кредит другаде</a:t>
            </a:r>
            <a:endParaRPr lang="en-US" sz="1400"/>
          </a:p>
        </p:txBody>
      </p:sp>
      <p:sp>
        <p:nvSpPr>
          <p:cNvPr id="6" name="Правоъгълник: със заоблени ъгли 16">
            <a:extLst>
              <a:ext uri="{FF2B5EF4-FFF2-40B4-BE49-F238E27FC236}">
                <a16:creationId xmlns:a16="http://schemas.microsoft.com/office/drawing/2014/main" id="{E4AC7A5A-31B6-D398-094F-D0248F41480C}"/>
              </a:ext>
            </a:extLst>
          </p:cNvPr>
          <p:cNvSpPr/>
          <p:nvPr/>
        </p:nvSpPr>
        <p:spPr>
          <a:xfrm>
            <a:off x="5329324" y="5443710"/>
            <a:ext cx="2744630" cy="590809"/>
          </a:xfrm>
          <a:prstGeom prst="roundRect">
            <a:avLst>
              <a:gd name="adj" fmla="val 50000"/>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200"/>
              <a:t>Тренирай</a:t>
            </a:r>
          </a:p>
        </p:txBody>
      </p:sp>
      <p:sp>
        <p:nvSpPr>
          <p:cNvPr id="20" name="Правоъгълник: със заоблени ъгли 37">
            <a:extLst>
              <a:ext uri="{FF2B5EF4-FFF2-40B4-BE49-F238E27FC236}">
                <a16:creationId xmlns:a16="http://schemas.microsoft.com/office/drawing/2014/main" id="{1576130C-01B4-2E5F-B186-5D5AA6AFF28F}"/>
              </a:ext>
            </a:extLst>
          </p:cNvPr>
          <p:cNvSpPr/>
          <p:nvPr/>
        </p:nvSpPr>
        <p:spPr>
          <a:xfrm>
            <a:off x="5222212" y="1059759"/>
            <a:ext cx="4325063" cy="65453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bg-BG" sz="1600" b="1">
                <a:solidFill>
                  <a:srgbClr val="1F3864"/>
                </a:solidFill>
              </a:rPr>
              <a:t>1.Отваряне и Предложение</a:t>
            </a:r>
          </a:p>
        </p:txBody>
      </p:sp>
      <p:sp>
        <p:nvSpPr>
          <p:cNvPr id="36" name="Правоъгълник: със заоблени ъгли 41">
            <a:extLst>
              <a:ext uri="{FF2B5EF4-FFF2-40B4-BE49-F238E27FC236}">
                <a16:creationId xmlns:a16="http://schemas.microsoft.com/office/drawing/2014/main" id="{4D817267-B2A1-0DF4-4C3D-6688E9B7A7D7}"/>
              </a:ext>
            </a:extLst>
          </p:cNvPr>
          <p:cNvSpPr/>
          <p:nvPr/>
        </p:nvSpPr>
        <p:spPr>
          <a:xfrm>
            <a:off x="5221816" y="3348317"/>
            <a:ext cx="4297519" cy="521771"/>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bg-BG" sz="1600" b="1">
                <a:solidFill>
                  <a:schemeClr val="accent1">
                    <a:lumMod val="49000"/>
                  </a:schemeClr>
                </a:solidFill>
              </a:rPr>
              <a:t>2. Възражение и отговор</a:t>
            </a:r>
          </a:p>
        </p:txBody>
      </p:sp>
      <p:sp>
        <p:nvSpPr>
          <p:cNvPr id="38" name="TextBox 37">
            <a:extLst>
              <a:ext uri="{FF2B5EF4-FFF2-40B4-BE49-F238E27FC236}">
                <a16:creationId xmlns:a16="http://schemas.microsoft.com/office/drawing/2014/main" id="{C5B4A478-531F-E502-7D7D-0E3A35BCDB05}"/>
              </a:ext>
            </a:extLst>
          </p:cNvPr>
          <p:cNvSpPr txBox="1"/>
          <p:nvPr/>
        </p:nvSpPr>
        <p:spPr>
          <a:xfrm>
            <a:off x="5330820" y="1580309"/>
            <a:ext cx="6443040"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a:ea typeface="+mn-lt"/>
                <a:cs typeface="+mn-lt"/>
              </a:rPr>
              <a:t>-</a:t>
            </a:r>
            <a:r>
              <a:rPr lang="en-US" sz="1400">
                <a:ea typeface="+mn-lt"/>
                <a:cs typeface="+mn-lt"/>
              </a:rPr>
              <a:t>Добър ден, търся г-н/г-жа (две </a:t>
            </a:r>
            <a:r>
              <a:rPr lang="en-US" sz="1400" err="1">
                <a:ea typeface="+mn-lt"/>
                <a:cs typeface="+mn-lt"/>
              </a:rPr>
              <a:t>имена</a:t>
            </a:r>
            <a:r>
              <a:rPr lang="en-US" sz="1400">
                <a:ea typeface="+mn-lt"/>
                <a:cs typeface="+mn-lt"/>
              </a:rPr>
              <a:t> </a:t>
            </a:r>
            <a:r>
              <a:rPr lang="en-US" sz="1400" err="1">
                <a:ea typeface="+mn-lt"/>
                <a:cs typeface="+mn-lt"/>
              </a:rPr>
              <a:t>на</a:t>
            </a:r>
            <a:r>
              <a:rPr lang="en-US" sz="1400">
                <a:ea typeface="+mn-lt"/>
                <a:cs typeface="+mn-lt"/>
              </a:rPr>
              <a:t> </a:t>
            </a:r>
            <a:r>
              <a:rPr lang="en-US" sz="1400" err="1">
                <a:ea typeface="+mn-lt"/>
                <a:cs typeface="+mn-lt"/>
              </a:rPr>
              <a:t>клиента</a:t>
            </a:r>
            <a:r>
              <a:rPr lang="en-US" sz="1400">
                <a:ea typeface="+mn-lt"/>
                <a:cs typeface="+mn-lt"/>
              </a:rPr>
              <a:t>).</a:t>
            </a:r>
            <a:br>
              <a:rPr lang="en-US" sz="1400">
                <a:ea typeface="+mn-lt"/>
                <a:cs typeface="+mn-lt"/>
              </a:rPr>
            </a:br>
            <a:r>
              <a:rPr lang="en-US" sz="1400">
                <a:ea typeface="+mn-lt"/>
                <a:cs typeface="+mn-lt"/>
              </a:rPr>
              <a:t> </a:t>
            </a:r>
            <a:r>
              <a:rPr lang="en-US" sz="1400" b="1">
                <a:ea typeface="+mn-lt"/>
                <a:cs typeface="+mn-lt"/>
              </a:rPr>
              <a:t>-</a:t>
            </a:r>
            <a:r>
              <a:rPr lang="en-US" sz="1400" err="1">
                <a:ea typeface="+mn-lt"/>
                <a:cs typeface="+mn-lt"/>
              </a:rPr>
              <a:t>Да</a:t>
            </a:r>
            <a:r>
              <a:rPr lang="en-US" sz="1400">
                <a:ea typeface="+mn-lt"/>
                <a:cs typeface="+mn-lt"/>
              </a:rPr>
              <a:t> (</a:t>
            </a:r>
            <a:r>
              <a:rPr lang="en-US" sz="1400" err="1">
                <a:ea typeface="+mn-lt"/>
                <a:cs typeface="+mn-lt"/>
              </a:rPr>
              <a:t>на</a:t>
            </a:r>
            <a:r>
              <a:rPr lang="en-US" sz="1400">
                <a:ea typeface="+mn-lt"/>
                <a:cs typeface="+mn-lt"/>
              </a:rPr>
              <a:t> </a:t>
            </a:r>
            <a:r>
              <a:rPr lang="en-US" sz="1400" err="1">
                <a:ea typeface="+mn-lt"/>
                <a:cs typeface="+mn-lt"/>
              </a:rPr>
              <a:t>телефона</a:t>
            </a:r>
            <a:r>
              <a:rPr lang="en-US" sz="1400">
                <a:ea typeface="+mn-lt"/>
                <a:cs typeface="+mn-lt"/>
              </a:rPr>
              <a:t>, </a:t>
            </a:r>
            <a:r>
              <a:rPr lang="en-US" sz="1400" err="1">
                <a:ea typeface="+mn-lt"/>
                <a:cs typeface="+mn-lt"/>
              </a:rPr>
              <a:t>аз</a:t>
            </a:r>
            <a:r>
              <a:rPr lang="en-US" sz="1400">
                <a:ea typeface="+mn-lt"/>
                <a:cs typeface="+mn-lt"/>
              </a:rPr>
              <a:t> </a:t>
            </a:r>
            <a:r>
              <a:rPr lang="en-US" sz="1400" err="1">
                <a:ea typeface="+mn-lt"/>
                <a:cs typeface="+mn-lt"/>
              </a:rPr>
              <a:t>съм</a:t>
            </a:r>
            <a:r>
              <a:rPr lang="en-US" sz="1400">
                <a:ea typeface="+mn-lt"/>
                <a:cs typeface="+mn-lt"/>
              </a:rPr>
              <a:t>).</a:t>
            </a:r>
            <a:br>
              <a:rPr lang="en-US" sz="1400">
                <a:ea typeface="+mn-lt"/>
                <a:cs typeface="+mn-lt"/>
              </a:rPr>
            </a:br>
            <a:r>
              <a:rPr lang="en-US" sz="1400">
                <a:ea typeface="+mn-lt"/>
                <a:cs typeface="+mn-lt"/>
              </a:rPr>
              <a:t> </a:t>
            </a:r>
            <a:r>
              <a:rPr lang="en-US" sz="1400" b="1">
                <a:ea typeface="+mn-lt"/>
                <a:cs typeface="+mn-lt"/>
              </a:rPr>
              <a:t>-</a:t>
            </a:r>
            <a:r>
              <a:rPr lang="en-US" sz="1400" err="1">
                <a:ea typeface="+mn-lt"/>
                <a:cs typeface="+mn-lt"/>
              </a:rPr>
              <a:t>Здравейте</a:t>
            </a:r>
            <a:r>
              <a:rPr lang="en-US" sz="1400">
                <a:ea typeface="+mn-lt"/>
                <a:cs typeface="+mn-lt"/>
              </a:rPr>
              <a:t> г-н/г-</a:t>
            </a:r>
            <a:r>
              <a:rPr lang="en-US" sz="1400" err="1">
                <a:ea typeface="+mn-lt"/>
                <a:cs typeface="+mn-lt"/>
              </a:rPr>
              <a:t>жо</a:t>
            </a:r>
            <a:r>
              <a:rPr lang="en-US" sz="1400">
                <a:ea typeface="+mn-lt"/>
                <a:cs typeface="+mn-lt"/>
              </a:rPr>
              <a:t> (</a:t>
            </a:r>
            <a:r>
              <a:rPr lang="en-US" sz="1400" err="1">
                <a:ea typeface="+mn-lt"/>
                <a:cs typeface="+mn-lt"/>
              </a:rPr>
              <a:t>фамилия</a:t>
            </a:r>
            <a:r>
              <a:rPr lang="en-US" sz="1400">
                <a:ea typeface="+mn-lt"/>
                <a:cs typeface="+mn-lt"/>
              </a:rPr>
              <a:t> </a:t>
            </a:r>
            <a:r>
              <a:rPr lang="en-US" sz="1400" err="1">
                <a:ea typeface="+mn-lt"/>
                <a:cs typeface="+mn-lt"/>
              </a:rPr>
              <a:t>на</a:t>
            </a:r>
            <a:r>
              <a:rPr lang="en-US" sz="1400">
                <a:ea typeface="+mn-lt"/>
                <a:cs typeface="+mn-lt"/>
              </a:rPr>
              <a:t> </a:t>
            </a:r>
            <a:r>
              <a:rPr lang="en-US" sz="1400" err="1">
                <a:ea typeface="+mn-lt"/>
                <a:cs typeface="+mn-lt"/>
              </a:rPr>
              <a:t>клиента</a:t>
            </a:r>
            <a:r>
              <a:rPr lang="en-US" sz="1400">
                <a:ea typeface="+mn-lt"/>
                <a:cs typeface="+mn-lt"/>
              </a:rPr>
              <a:t>), </a:t>
            </a:r>
            <a:r>
              <a:rPr lang="en-US" sz="1400" err="1">
                <a:ea typeface="+mn-lt"/>
                <a:cs typeface="+mn-lt"/>
              </a:rPr>
              <a:t>обаждам</a:t>
            </a:r>
            <a:r>
              <a:rPr lang="en-US" sz="1400">
                <a:ea typeface="+mn-lt"/>
                <a:cs typeface="+mn-lt"/>
              </a:rPr>
              <a:t> </a:t>
            </a:r>
            <a:r>
              <a:rPr lang="en-US" sz="1400" err="1">
                <a:ea typeface="+mn-lt"/>
                <a:cs typeface="+mn-lt"/>
              </a:rPr>
              <a:t>се</a:t>
            </a:r>
            <a:r>
              <a:rPr lang="en-US" sz="1400">
                <a:ea typeface="+mn-lt"/>
                <a:cs typeface="+mn-lt"/>
              </a:rPr>
              <a:t> </a:t>
            </a:r>
            <a:r>
              <a:rPr lang="en-US" sz="1400" err="1">
                <a:ea typeface="+mn-lt"/>
                <a:cs typeface="+mn-lt"/>
              </a:rPr>
              <a:t>от</a:t>
            </a:r>
            <a:r>
              <a:rPr lang="en-US" sz="1400">
                <a:ea typeface="+mn-lt"/>
                <a:cs typeface="+mn-lt"/>
              </a:rPr>
              <a:t> </a:t>
            </a:r>
            <a:r>
              <a:rPr lang="en-US" sz="1400" err="1">
                <a:ea typeface="+mn-lt"/>
                <a:cs typeface="+mn-lt"/>
              </a:rPr>
              <a:t>Изи</a:t>
            </a:r>
            <a:r>
              <a:rPr lang="en-US" sz="1400">
                <a:ea typeface="+mn-lt"/>
                <a:cs typeface="+mn-lt"/>
              </a:rPr>
              <a:t> </a:t>
            </a:r>
            <a:r>
              <a:rPr lang="en-US" sz="1400" err="1">
                <a:ea typeface="+mn-lt"/>
                <a:cs typeface="+mn-lt"/>
              </a:rPr>
              <a:t>Кредит</a:t>
            </a:r>
            <a:r>
              <a:rPr lang="en-US" sz="1400">
                <a:ea typeface="+mn-lt"/>
                <a:cs typeface="+mn-lt"/>
              </a:rPr>
              <a:t> </a:t>
            </a:r>
            <a:r>
              <a:rPr lang="en-US" sz="1400" err="1">
                <a:ea typeface="+mn-lt"/>
                <a:cs typeface="+mn-lt"/>
              </a:rPr>
              <a:t>във</a:t>
            </a:r>
            <a:r>
              <a:rPr lang="en-US" sz="1400">
                <a:ea typeface="+mn-lt"/>
                <a:cs typeface="+mn-lt"/>
              </a:rPr>
              <a:t> </a:t>
            </a:r>
            <a:r>
              <a:rPr lang="en-US" sz="1400" err="1">
                <a:ea typeface="+mn-lt"/>
                <a:cs typeface="+mn-lt"/>
              </a:rPr>
              <a:t>връзка</a:t>
            </a:r>
            <a:r>
              <a:rPr lang="en-US" sz="1400">
                <a:ea typeface="+mn-lt"/>
                <a:cs typeface="+mn-lt"/>
              </a:rPr>
              <a:t> с </a:t>
            </a:r>
            <a:r>
              <a:rPr lang="en-US" sz="1400" err="1">
                <a:ea typeface="+mn-lt"/>
                <a:cs typeface="+mn-lt"/>
              </a:rPr>
              <a:t>изготвено</a:t>
            </a:r>
            <a:r>
              <a:rPr lang="en-US" sz="1400">
                <a:ea typeface="+mn-lt"/>
                <a:cs typeface="+mn-lt"/>
              </a:rPr>
              <a:t> </a:t>
            </a:r>
            <a:r>
              <a:rPr lang="en-US" sz="1400" err="1">
                <a:ea typeface="+mn-lt"/>
                <a:cs typeface="+mn-lt"/>
              </a:rPr>
              <a:t>предложение</a:t>
            </a:r>
            <a:r>
              <a:rPr lang="en-US" sz="1400">
                <a:ea typeface="+mn-lt"/>
                <a:cs typeface="+mn-lt"/>
              </a:rPr>
              <a:t>, </a:t>
            </a:r>
            <a:r>
              <a:rPr lang="en-US" sz="1400" err="1">
                <a:ea typeface="+mn-lt"/>
                <a:cs typeface="+mn-lt"/>
              </a:rPr>
              <a:t>специално</a:t>
            </a:r>
            <a:r>
              <a:rPr lang="en-US" sz="1400">
                <a:ea typeface="+mn-lt"/>
                <a:cs typeface="+mn-lt"/>
              </a:rPr>
              <a:t> </a:t>
            </a:r>
            <a:r>
              <a:rPr lang="en-US" sz="1400" err="1">
                <a:ea typeface="+mn-lt"/>
                <a:cs typeface="+mn-lt"/>
              </a:rPr>
              <a:t>за</a:t>
            </a:r>
            <a:r>
              <a:rPr lang="en-US" sz="1400">
                <a:ea typeface="+mn-lt"/>
                <a:cs typeface="+mn-lt"/>
              </a:rPr>
              <a:t> </a:t>
            </a:r>
            <a:r>
              <a:rPr lang="en-US" sz="1400" err="1">
                <a:ea typeface="+mn-lt"/>
                <a:cs typeface="+mn-lt"/>
              </a:rPr>
              <a:t>Вас</a:t>
            </a:r>
            <a:r>
              <a:rPr lang="en-US" sz="1400">
                <a:ea typeface="+mn-lt"/>
                <a:cs typeface="+mn-lt"/>
              </a:rPr>
              <a:t>. </a:t>
            </a:r>
            <a:r>
              <a:rPr lang="en-US" sz="1400" err="1">
                <a:ea typeface="+mn-lt"/>
                <a:cs typeface="+mn-lt"/>
              </a:rPr>
              <a:t>Удобно</a:t>
            </a:r>
            <a:r>
              <a:rPr lang="en-US" sz="1400">
                <a:ea typeface="+mn-lt"/>
                <a:cs typeface="+mn-lt"/>
              </a:rPr>
              <a:t> </a:t>
            </a:r>
            <a:r>
              <a:rPr lang="en-US" sz="1400" err="1">
                <a:ea typeface="+mn-lt"/>
                <a:cs typeface="+mn-lt"/>
              </a:rPr>
              <a:t>ли</a:t>
            </a:r>
            <a:r>
              <a:rPr lang="en-US" sz="1400">
                <a:ea typeface="+mn-lt"/>
                <a:cs typeface="+mn-lt"/>
              </a:rPr>
              <a:t> е </a:t>
            </a:r>
            <a:r>
              <a:rPr lang="en-US" sz="1400" err="1">
                <a:ea typeface="+mn-lt"/>
                <a:cs typeface="+mn-lt"/>
              </a:rPr>
              <a:t>да</a:t>
            </a:r>
            <a:r>
              <a:rPr lang="en-US" sz="1400">
                <a:ea typeface="+mn-lt"/>
                <a:cs typeface="+mn-lt"/>
              </a:rPr>
              <a:t> </a:t>
            </a:r>
            <a:r>
              <a:rPr lang="en-US" sz="1400" err="1">
                <a:ea typeface="+mn-lt"/>
                <a:cs typeface="+mn-lt"/>
              </a:rPr>
              <a:t>ми</a:t>
            </a:r>
            <a:r>
              <a:rPr lang="en-US" sz="1400">
                <a:ea typeface="+mn-lt"/>
                <a:cs typeface="+mn-lt"/>
              </a:rPr>
              <a:t> </a:t>
            </a:r>
            <a:r>
              <a:rPr lang="en-US" sz="1400" err="1">
                <a:ea typeface="+mn-lt"/>
                <a:cs typeface="+mn-lt"/>
              </a:rPr>
              <a:t>отделите</a:t>
            </a:r>
            <a:r>
              <a:rPr lang="en-US" sz="1400">
                <a:ea typeface="+mn-lt"/>
                <a:cs typeface="+mn-lt"/>
              </a:rPr>
              <a:t> </a:t>
            </a:r>
            <a:r>
              <a:rPr lang="en-US" sz="1400" err="1">
                <a:ea typeface="+mn-lt"/>
                <a:cs typeface="+mn-lt"/>
              </a:rPr>
              <a:t>една</a:t>
            </a:r>
            <a:r>
              <a:rPr lang="en-US" sz="1400">
                <a:ea typeface="+mn-lt"/>
                <a:cs typeface="+mn-lt"/>
              </a:rPr>
              <a:t>, </a:t>
            </a:r>
            <a:r>
              <a:rPr lang="en-US" sz="1400" err="1">
                <a:ea typeface="+mn-lt"/>
                <a:cs typeface="+mn-lt"/>
              </a:rPr>
              <a:t>две</a:t>
            </a:r>
            <a:r>
              <a:rPr lang="en-US" sz="1400">
                <a:ea typeface="+mn-lt"/>
                <a:cs typeface="+mn-lt"/>
              </a:rPr>
              <a:t> </a:t>
            </a:r>
            <a:r>
              <a:rPr lang="en-US" sz="1400" err="1">
                <a:ea typeface="+mn-lt"/>
                <a:cs typeface="+mn-lt"/>
              </a:rPr>
              <a:t>минути</a:t>
            </a:r>
            <a:r>
              <a:rPr lang="en-US" sz="1400">
                <a:ea typeface="+mn-lt"/>
                <a:cs typeface="+mn-lt"/>
              </a:rPr>
              <a:t>, </a:t>
            </a:r>
            <a:r>
              <a:rPr lang="en-US" sz="1400" err="1">
                <a:ea typeface="+mn-lt"/>
                <a:cs typeface="+mn-lt"/>
              </a:rPr>
              <a:t>за</a:t>
            </a:r>
            <a:r>
              <a:rPr lang="en-US" sz="1400">
                <a:ea typeface="+mn-lt"/>
                <a:cs typeface="+mn-lt"/>
              </a:rPr>
              <a:t> </a:t>
            </a:r>
            <a:r>
              <a:rPr lang="en-US" sz="1400" err="1">
                <a:ea typeface="+mn-lt"/>
                <a:cs typeface="+mn-lt"/>
              </a:rPr>
              <a:t>да</a:t>
            </a:r>
            <a:r>
              <a:rPr lang="en-US" sz="1400">
                <a:ea typeface="+mn-lt"/>
                <a:cs typeface="+mn-lt"/>
              </a:rPr>
              <a:t> </a:t>
            </a:r>
            <a:r>
              <a:rPr lang="en-US" sz="1400" err="1">
                <a:ea typeface="+mn-lt"/>
                <a:cs typeface="+mn-lt"/>
              </a:rPr>
              <a:t>Ви</a:t>
            </a:r>
            <a:r>
              <a:rPr lang="en-US" sz="1400">
                <a:ea typeface="+mn-lt"/>
                <a:cs typeface="+mn-lt"/>
              </a:rPr>
              <a:t> </a:t>
            </a:r>
            <a:r>
              <a:rPr lang="en-US" sz="1400" err="1">
                <a:ea typeface="+mn-lt"/>
                <a:cs typeface="+mn-lt"/>
              </a:rPr>
              <a:t>запозная</a:t>
            </a:r>
            <a:r>
              <a:rPr lang="en-US" sz="1400">
                <a:ea typeface="+mn-lt"/>
                <a:cs typeface="+mn-lt"/>
              </a:rPr>
              <a:t>? </a:t>
            </a:r>
            <a:br>
              <a:rPr lang="en-US" sz="1400">
                <a:ea typeface="+mn-lt"/>
                <a:cs typeface="+mn-lt"/>
              </a:rPr>
            </a:br>
            <a:r>
              <a:rPr lang="en-US" sz="1400">
                <a:ea typeface="+mn-lt"/>
                <a:cs typeface="+mn-lt"/>
              </a:rPr>
              <a:t>-</a:t>
            </a:r>
            <a:r>
              <a:rPr lang="en-US" sz="1400" err="1">
                <a:ea typeface="+mn-lt"/>
                <a:cs typeface="+mn-lt"/>
              </a:rPr>
              <a:t>Да</a:t>
            </a:r>
            <a:r>
              <a:rPr lang="en-US" sz="1400">
                <a:ea typeface="+mn-lt"/>
                <a:cs typeface="+mn-lt"/>
              </a:rPr>
              <a:t> (</a:t>
            </a:r>
            <a:r>
              <a:rPr lang="en-US" sz="1400" err="1">
                <a:ea typeface="+mn-lt"/>
                <a:cs typeface="+mn-lt"/>
              </a:rPr>
              <a:t>слушам</a:t>
            </a:r>
            <a:r>
              <a:rPr lang="en-US" sz="1400">
                <a:ea typeface="+mn-lt"/>
                <a:cs typeface="+mn-lt"/>
              </a:rPr>
              <a:t> </a:t>
            </a:r>
            <a:r>
              <a:rPr lang="en-US" sz="1400" err="1">
                <a:ea typeface="+mn-lt"/>
                <a:cs typeface="+mn-lt"/>
              </a:rPr>
              <a:t>Ви</a:t>
            </a:r>
            <a:r>
              <a:rPr lang="en-US" sz="1400">
                <a:ea typeface="+mn-lt"/>
                <a:cs typeface="+mn-lt"/>
              </a:rPr>
              <a:t>).</a:t>
            </a:r>
            <a:br>
              <a:rPr lang="en-US" sz="1400">
                <a:ea typeface="+mn-lt"/>
                <a:cs typeface="+mn-lt"/>
              </a:rPr>
            </a:br>
            <a:r>
              <a:rPr lang="en-US" sz="1400" b="1">
                <a:ea typeface="+mn-lt"/>
                <a:cs typeface="+mn-lt"/>
              </a:rPr>
              <a:t> (</a:t>
            </a:r>
            <a:r>
              <a:rPr lang="en-US" sz="1400" b="1" err="1">
                <a:ea typeface="+mn-lt"/>
                <a:cs typeface="+mn-lt"/>
              </a:rPr>
              <a:t>Представяне</a:t>
            </a:r>
            <a:r>
              <a:rPr lang="en-US" sz="1400" b="1">
                <a:ea typeface="+mn-lt"/>
                <a:cs typeface="+mn-lt"/>
              </a:rPr>
              <a:t> </a:t>
            </a:r>
            <a:r>
              <a:rPr lang="en-US" sz="1400" b="1" err="1">
                <a:ea typeface="+mn-lt"/>
                <a:cs typeface="+mn-lt"/>
              </a:rPr>
              <a:t>на</a:t>
            </a:r>
            <a:r>
              <a:rPr lang="en-US" sz="1400" b="1">
                <a:ea typeface="+mn-lt"/>
                <a:cs typeface="+mn-lt"/>
              </a:rPr>
              <a:t> </a:t>
            </a:r>
            <a:r>
              <a:rPr lang="en-US" sz="1400" b="1" err="1">
                <a:ea typeface="+mn-lt"/>
                <a:cs typeface="+mn-lt"/>
              </a:rPr>
              <a:t>предложнието</a:t>
            </a:r>
            <a:r>
              <a:rPr lang="en-US" sz="1400">
                <a:ea typeface="+mn-lt"/>
                <a:cs typeface="+mn-lt"/>
              </a:rPr>
              <a:t>)</a:t>
            </a:r>
            <a:br>
              <a:rPr lang="en-US" sz="1400">
                <a:ea typeface="+mn-lt"/>
                <a:cs typeface="+mn-lt"/>
              </a:rPr>
            </a:br>
            <a:r>
              <a:rPr lang="en-US" sz="1400">
                <a:ea typeface="+mn-lt"/>
                <a:cs typeface="+mn-lt"/>
              </a:rPr>
              <a:t> -</a:t>
            </a:r>
            <a:r>
              <a:rPr lang="en-US" sz="1400" err="1">
                <a:ea typeface="+mn-lt"/>
                <a:cs typeface="+mn-lt"/>
              </a:rPr>
              <a:t>Как</a:t>
            </a:r>
            <a:r>
              <a:rPr lang="en-US" sz="1400">
                <a:ea typeface="+mn-lt"/>
                <a:cs typeface="+mn-lt"/>
              </a:rPr>
              <a:t> </a:t>
            </a:r>
            <a:r>
              <a:rPr lang="en-US" sz="1400" err="1">
                <a:ea typeface="+mn-lt"/>
                <a:cs typeface="+mn-lt"/>
              </a:rPr>
              <a:t>Ви</a:t>
            </a:r>
            <a:r>
              <a:rPr lang="en-US" sz="1400">
                <a:ea typeface="+mn-lt"/>
                <a:cs typeface="+mn-lt"/>
              </a:rPr>
              <a:t> </a:t>
            </a:r>
            <a:r>
              <a:rPr lang="en-US" sz="1400" err="1">
                <a:ea typeface="+mn-lt"/>
                <a:cs typeface="+mn-lt"/>
              </a:rPr>
              <a:t>се</a:t>
            </a:r>
            <a:r>
              <a:rPr lang="en-US" sz="1400">
                <a:ea typeface="+mn-lt"/>
                <a:cs typeface="+mn-lt"/>
              </a:rPr>
              <a:t> </a:t>
            </a:r>
            <a:r>
              <a:rPr lang="en-US" sz="1400" err="1">
                <a:ea typeface="+mn-lt"/>
                <a:cs typeface="+mn-lt"/>
              </a:rPr>
              <a:t>струва</a:t>
            </a:r>
            <a:r>
              <a:rPr lang="en-US" sz="1400">
                <a:ea typeface="+mn-lt"/>
                <a:cs typeface="+mn-lt"/>
              </a:rPr>
              <a:t> </a:t>
            </a:r>
            <a:r>
              <a:rPr lang="en-US" sz="1400" err="1">
                <a:ea typeface="+mn-lt"/>
                <a:cs typeface="+mn-lt"/>
              </a:rPr>
              <a:t>моето</a:t>
            </a:r>
            <a:r>
              <a:rPr lang="en-US" sz="1400">
                <a:ea typeface="+mn-lt"/>
                <a:cs typeface="+mn-lt"/>
              </a:rPr>
              <a:t> </a:t>
            </a:r>
            <a:r>
              <a:rPr lang="en-US" sz="1400" err="1">
                <a:ea typeface="+mn-lt"/>
                <a:cs typeface="+mn-lt"/>
              </a:rPr>
              <a:t>предложение</a:t>
            </a:r>
            <a:r>
              <a:rPr lang="en-US" sz="1400">
                <a:ea typeface="+mn-lt"/>
                <a:cs typeface="+mn-lt"/>
              </a:rPr>
              <a:t>?</a:t>
            </a:r>
            <a:endParaRPr lang="en-US">
              <a:ea typeface="+mn-lt"/>
              <a:cs typeface="+mn-lt"/>
            </a:endParaRPr>
          </a:p>
          <a:p>
            <a:endParaRPr lang="en-US" sz="1400"/>
          </a:p>
        </p:txBody>
      </p:sp>
    </p:spTree>
    <p:extLst>
      <p:ext uri="{BB962C8B-B14F-4D97-AF65-F5344CB8AC3E}">
        <p14:creationId xmlns:p14="http://schemas.microsoft.com/office/powerpoint/2010/main" val="288412452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E38853-6703-29B8-968B-121FC8FC7770}"/>
            </a:ext>
          </a:extLst>
        </p:cNvPr>
        <p:cNvGrpSpPr/>
        <p:nvPr/>
      </p:nvGrpSpPr>
      <p:grpSpPr>
        <a:xfrm>
          <a:off x="0" y="0"/>
          <a:ext cx="0" cy="0"/>
          <a:chOff x="0" y="0"/>
          <a:chExt cx="0" cy="0"/>
        </a:xfrm>
      </p:grpSpPr>
      <p:sp>
        <p:nvSpPr>
          <p:cNvPr id="25" name="Rectangle 28">
            <a:extLst>
              <a:ext uri="{FF2B5EF4-FFF2-40B4-BE49-F238E27FC236}">
                <a16:creationId xmlns:a16="http://schemas.microsoft.com/office/drawing/2014/main" id="{7CA92ABC-0C98-1778-93B5-FEC008B61CBF}"/>
              </a:ext>
            </a:extLst>
          </p:cNvPr>
          <p:cNvSpPr/>
          <p:nvPr/>
        </p:nvSpPr>
        <p:spPr>
          <a:xfrm>
            <a:off x="-15824" y="1599"/>
            <a:ext cx="1465320" cy="6859628"/>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400">
              <a:latin typeface="Aptos"/>
              <a:ea typeface="Calibri"/>
              <a:cs typeface="Calibri"/>
            </a:endParaRPr>
          </a:p>
        </p:txBody>
      </p:sp>
      <p:sp>
        <p:nvSpPr>
          <p:cNvPr id="26" name="Rectangle 29">
            <a:extLst>
              <a:ext uri="{FF2B5EF4-FFF2-40B4-BE49-F238E27FC236}">
                <a16:creationId xmlns:a16="http://schemas.microsoft.com/office/drawing/2014/main" id="{A9C1D1E3-EC84-7E8B-631A-A5041646C063}"/>
              </a:ext>
            </a:extLst>
          </p:cNvPr>
          <p:cNvSpPr/>
          <p:nvPr/>
        </p:nvSpPr>
        <p:spPr>
          <a:xfrm>
            <a:off x="-1671" y="2528038"/>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Типове клиенти</a:t>
            </a:r>
            <a:endParaRPr lang="en-GB" sz="1400">
              <a:latin typeface="Aptos"/>
              <a:ea typeface="Calibri"/>
              <a:cs typeface="Calibri"/>
            </a:endParaRPr>
          </a:p>
        </p:txBody>
      </p:sp>
      <p:sp>
        <p:nvSpPr>
          <p:cNvPr id="27" name="Rectangle 30">
            <a:extLst>
              <a:ext uri="{FF2B5EF4-FFF2-40B4-BE49-F238E27FC236}">
                <a16:creationId xmlns:a16="http://schemas.microsoft.com/office/drawing/2014/main" id="{0D65892A-F460-D7E9-1ECB-71BA508FB132}"/>
              </a:ext>
            </a:extLst>
          </p:cNvPr>
          <p:cNvSpPr/>
          <p:nvPr/>
        </p:nvSpPr>
        <p:spPr>
          <a:xfrm>
            <a:off x="8626" y="1913210"/>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002060"/>
                </a:solidFill>
                <a:latin typeface="Aptos"/>
                <a:ea typeface="Calibri"/>
                <a:cs typeface="Calibri"/>
              </a:rPr>
              <a:t>Сценарии</a:t>
            </a:r>
            <a:endParaRPr lang="en-GB" sz="1400">
              <a:solidFill>
                <a:srgbClr val="002060"/>
              </a:solidFill>
              <a:latin typeface="Aptos"/>
              <a:ea typeface="Calibri"/>
              <a:cs typeface="Calibri"/>
            </a:endParaRPr>
          </a:p>
        </p:txBody>
      </p:sp>
      <p:sp>
        <p:nvSpPr>
          <p:cNvPr id="28" name="Rectangle 31">
            <a:extLst>
              <a:ext uri="{FF2B5EF4-FFF2-40B4-BE49-F238E27FC236}">
                <a16:creationId xmlns:a16="http://schemas.microsoft.com/office/drawing/2014/main" id="{E4ECA1CB-98C0-743D-42F1-C369C001E34C}"/>
              </a:ext>
            </a:extLst>
          </p:cNvPr>
          <p:cNvSpPr/>
          <p:nvPr/>
        </p:nvSpPr>
        <p:spPr>
          <a:xfrm>
            <a:off x="-1671" y="1298382"/>
            <a:ext cx="1442908" cy="4485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chemeClr val="bg1"/>
                </a:solidFill>
                <a:latin typeface="Aptos"/>
                <a:ea typeface="Calibri"/>
                <a:cs typeface="Calibri"/>
              </a:rPr>
              <a:t>Стъпки в обаждането</a:t>
            </a:r>
            <a:endParaRPr lang="en-GB" sz="1400">
              <a:solidFill>
                <a:schemeClr val="bg1"/>
              </a:solidFill>
              <a:latin typeface="Aptos"/>
              <a:ea typeface="Calibri"/>
              <a:cs typeface="Calibri"/>
            </a:endParaRPr>
          </a:p>
        </p:txBody>
      </p:sp>
      <p:sp>
        <p:nvSpPr>
          <p:cNvPr id="29" name="Rectangle 3">
            <a:extLst>
              <a:ext uri="{FF2B5EF4-FFF2-40B4-BE49-F238E27FC236}">
                <a16:creationId xmlns:a16="http://schemas.microsoft.com/office/drawing/2014/main" id="{B6C395AD-08EA-B3AE-B125-58F0BFF5DDC3}"/>
              </a:ext>
            </a:extLst>
          </p:cNvPr>
          <p:cNvSpPr/>
          <p:nvPr/>
        </p:nvSpPr>
        <p:spPr>
          <a:xfrm>
            <a:off x="1443475" y="4245"/>
            <a:ext cx="5338363" cy="67724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30" name="Rectangle 4">
            <a:extLst>
              <a:ext uri="{FF2B5EF4-FFF2-40B4-BE49-F238E27FC236}">
                <a16:creationId xmlns:a16="http://schemas.microsoft.com/office/drawing/2014/main" id="{C931D55F-9531-5033-A528-57E3BE900912}"/>
              </a:ext>
            </a:extLst>
          </p:cNvPr>
          <p:cNvSpPr/>
          <p:nvPr/>
        </p:nvSpPr>
        <p:spPr>
          <a:xfrm>
            <a:off x="6788435" y="4245"/>
            <a:ext cx="5417300" cy="677242"/>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31" name="Rectangle 28">
            <a:extLst>
              <a:ext uri="{FF2B5EF4-FFF2-40B4-BE49-F238E27FC236}">
                <a16:creationId xmlns:a16="http://schemas.microsoft.com/office/drawing/2014/main" id="{7EC47DD7-8023-BF89-5732-43840EAB9820}"/>
              </a:ext>
            </a:extLst>
          </p:cNvPr>
          <p:cNvSpPr/>
          <p:nvPr/>
        </p:nvSpPr>
        <p:spPr>
          <a:xfrm>
            <a:off x="-15827" y="690328"/>
            <a:ext cx="1465322"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FFFFFF"/>
                </a:solidFill>
                <a:latin typeface="Aptos"/>
                <a:ea typeface="Calibri"/>
                <a:cs typeface="Calibri"/>
              </a:rPr>
              <a:t>Подготовка</a:t>
            </a:r>
            <a:endParaRPr lang="en-GB" sz="1400">
              <a:solidFill>
                <a:srgbClr val="FFFFFF"/>
              </a:solidFill>
              <a:latin typeface="Aptos"/>
              <a:ea typeface="Calibri"/>
              <a:cs typeface="Calibri"/>
            </a:endParaRPr>
          </a:p>
        </p:txBody>
      </p:sp>
      <p:pic>
        <p:nvPicPr>
          <p:cNvPr id="2" name="Картина 1" descr="Картина, която съдържа текст, екранна снимка, софтуер, Уеб страница&#10;&#10;Генерирано от ИИ съдържание може да е неправилно.">
            <a:extLst>
              <a:ext uri="{FF2B5EF4-FFF2-40B4-BE49-F238E27FC236}">
                <a16:creationId xmlns:a16="http://schemas.microsoft.com/office/drawing/2014/main" id="{7A242F8C-E17C-A95D-30D8-E42B46074EC4}"/>
              </a:ext>
            </a:extLst>
          </p:cNvPr>
          <p:cNvPicPr>
            <a:picLocks noChangeAspect="1"/>
          </p:cNvPicPr>
          <p:nvPr/>
        </p:nvPicPr>
        <p:blipFill>
          <a:blip r:embed="rId2"/>
          <a:stretch>
            <a:fillRect/>
          </a:stretch>
        </p:blipFill>
        <p:spPr>
          <a:xfrm>
            <a:off x="1574800" y="794695"/>
            <a:ext cx="10434320" cy="5868049"/>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
        <p:nvSpPr>
          <p:cNvPr id="4" name="Балонче за говор: правоъгълник със заоблени ъгли 10">
            <a:extLst>
              <a:ext uri="{FF2B5EF4-FFF2-40B4-BE49-F238E27FC236}">
                <a16:creationId xmlns:a16="http://schemas.microsoft.com/office/drawing/2014/main" id="{6B54161E-506C-CF0F-9A2B-6E1812177AD6}"/>
              </a:ext>
            </a:extLst>
          </p:cNvPr>
          <p:cNvSpPr/>
          <p:nvPr/>
        </p:nvSpPr>
        <p:spPr>
          <a:xfrm>
            <a:off x="2384221" y="1332046"/>
            <a:ext cx="9278376" cy="4649851"/>
          </a:xfrm>
          <a:prstGeom prst="roundRect">
            <a:avLst>
              <a:gd name="adj" fmla="val 3452"/>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bg-BG" sz="1400"/>
          </a:p>
        </p:txBody>
      </p:sp>
      <p:sp>
        <p:nvSpPr>
          <p:cNvPr id="6" name="Правоъгълник: със заоблени ъгли 16">
            <a:extLst>
              <a:ext uri="{FF2B5EF4-FFF2-40B4-BE49-F238E27FC236}">
                <a16:creationId xmlns:a16="http://schemas.microsoft.com/office/drawing/2014/main" id="{D2C105DF-2BD3-73CB-DABA-2DF245CD0676}"/>
              </a:ext>
            </a:extLst>
          </p:cNvPr>
          <p:cNvSpPr/>
          <p:nvPr/>
        </p:nvSpPr>
        <p:spPr>
          <a:xfrm>
            <a:off x="4888614" y="5107637"/>
            <a:ext cx="4259158" cy="484456"/>
          </a:xfrm>
          <a:prstGeom prst="roundRect">
            <a:avLst>
              <a:gd name="adj" fmla="val 50000"/>
            </a:avLst>
          </a:prstGeom>
          <a:solidFill>
            <a:schemeClr val="bg1"/>
          </a:solidFill>
          <a:ln>
            <a:noFill/>
          </a:ln>
          <a:effectLst>
            <a:outerShdw blurRad="50800" dist="38100" dir="5400000" algn="t" rotWithShape="0">
              <a:prstClr val="black">
                <a:alpha val="40000"/>
              </a:prstClr>
            </a:outerShdw>
          </a:effectLst>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bg-BG" b="1">
                <a:solidFill>
                  <a:srgbClr val="002060"/>
                </a:solidFill>
              </a:rPr>
              <a:t>Тренирай</a:t>
            </a:r>
          </a:p>
        </p:txBody>
      </p:sp>
      <p:sp>
        <p:nvSpPr>
          <p:cNvPr id="8" name="Текстово поле 15">
            <a:extLst>
              <a:ext uri="{FF2B5EF4-FFF2-40B4-BE49-F238E27FC236}">
                <a16:creationId xmlns:a16="http://schemas.microsoft.com/office/drawing/2014/main" id="{4A87B872-18E2-39F0-F014-4AEA4D18C7AF}"/>
              </a:ext>
            </a:extLst>
          </p:cNvPr>
          <p:cNvSpPr txBox="1"/>
          <p:nvPr/>
        </p:nvSpPr>
        <p:spPr>
          <a:xfrm>
            <a:off x="2704069" y="1435530"/>
            <a:ext cx="8724354" cy="3231654"/>
          </a:xfrm>
          <a:prstGeom prst="rect">
            <a:avLst/>
          </a:prstGeom>
          <a:noFill/>
        </p:spPr>
        <p:txBody>
          <a:bodyPr wrap="square" rtlCol="0">
            <a:spAutoFit/>
          </a:bodyPr>
          <a:lstStyle/>
          <a:p>
            <a:r>
              <a:rPr lang="ru-RU" sz="1200" b="1">
                <a:solidFill>
                  <a:schemeClr val="bg1"/>
                </a:solidFill>
              </a:rPr>
              <a:t>По промо кампания</a:t>
            </a:r>
            <a:br>
              <a:rPr lang="ru-RU" sz="1200">
                <a:solidFill>
                  <a:schemeClr val="bg1"/>
                </a:solidFill>
              </a:rPr>
            </a:br>
            <a:r>
              <a:rPr lang="ru-RU" sz="1200">
                <a:solidFill>
                  <a:schemeClr val="bg1"/>
                </a:solidFill>
              </a:rPr>
              <a:t>Тип контакт: </a:t>
            </a:r>
            <a:r>
              <a:rPr lang="ru-RU" sz="1200" b="1">
                <a:solidFill>
                  <a:schemeClr val="bg1"/>
                </a:solidFill>
              </a:rPr>
              <a:t>студен</a:t>
            </a:r>
            <a:br>
              <a:rPr lang="ru-RU" sz="1200">
                <a:solidFill>
                  <a:schemeClr val="bg1"/>
                </a:solidFill>
              </a:rPr>
            </a:br>
            <a:r>
              <a:rPr lang="ru-RU" sz="1200">
                <a:solidFill>
                  <a:schemeClr val="bg1"/>
                </a:solidFill>
              </a:rPr>
              <a:t>Персонаж: </a:t>
            </a:r>
            <a:r>
              <a:rPr lang="ru-RU" sz="1200" b="1">
                <a:solidFill>
                  <a:schemeClr val="bg1"/>
                </a:solidFill>
              </a:rPr>
              <a:t>Николай Тодоров</a:t>
            </a:r>
            <a:br>
              <a:rPr lang="ru-RU" sz="1200">
                <a:solidFill>
                  <a:schemeClr val="bg1"/>
                </a:solidFill>
              </a:rPr>
            </a:br>
            <a:r>
              <a:rPr lang="ru-RU" sz="1200">
                <a:solidFill>
                  <a:schemeClr val="bg1"/>
                </a:solidFill>
              </a:rPr>
              <a:t>Профил: </a:t>
            </a:r>
            <a:r>
              <a:rPr lang="ru-RU" sz="1200" b="1">
                <a:solidFill>
                  <a:schemeClr val="bg1"/>
                </a:solidFill>
              </a:rPr>
              <a:t>клиент по промо кампания, 29 г.</a:t>
            </a:r>
            <a:br>
              <a:rPr lang="ru-RU" sz="1200">
                <a:solidFill>
                  <a:schemeClr val="bg1"/>
                </a:solidFill>
              </a:rPr>
            </a:br>
            <a:r>
              <a:rPr lang="ru-RU" sz="1200" b="1">
                <a:solidFill>
                  <a:schemeClr val="bg1"/>
                </a:solidFill>
              </a:rPr>
              <a:t>Контекст: </a:t>
            </a:r>
            <a:r>
              <a:rPr lang="ru-RU" sz="1200">
                <a:solidFill>
                  <a:schemeClr val="bg1"/>
                </a:solidFill>
              </a:rPr>
              <a:t>не е планирал разговор, но може да се заинтересува при добра оферта.</a:t>
            </a:r>
            <a:br>
              <a:rPr lang="ru-RU" sz="1200">
                <a:solidFill>
                  <a:schemeClr val="bg1"/>
                </a:solidFill>
              </a:rPr>
            </a:br>
            <a:r>
              <a:rPr lang="ru-RU" sz="1200">
                <a:solidFill>
                  <a:schemeClr val="bg1"/>
                </a:solidFill>
              </a:rPr>
              <a:t>Цел: да се събуди интерес у клиент, който не е търсил контакт в момента.</a:t>
            </a:r>
            <a:br>
              <a:rPr lang="ru-RU" sz="1200">
                <a:solidFill>
                  <a:schemeClr val="bg1"/>
                </a:solidFill>
              </a:rPr>
            </a:br>
            <a:r>
              <a:rPr lang="ru-RU" sz="1200" b="1">
                <a:solidFill>
                  <a:schemeClr val="bg1"/>
                </a:solidFill>
              </a:rPr>
              <a:t>Логика на разговора: </a:t>
            </a:r>
            <a:r>
              <a:rPr lang="ru-RU" sz="1200">
                <a:solidFill>
                  <a:schemeClr val="bg1"/>
                </a:solidFill>
              </a:rPr>
              <a:t>започваш енергично, но не настоятелно; даваш причина защо обаждането е актуално; показваш стойността на предложението; създаваш интерес; насочваш към кратка следваща стъпка.</a:t>
            </a:r>
            <a:br>
              <a:rPr lang="ru-RU" sz="1200">
                <a:solidFill>
                  <a:schemeClr val="bg1"/>
                </a:solidFill>
              </a:rPr>
            </a:br>
            <a:r>
              <a:rPr lang="ru-RU" sz="1200" b="1">
                <a:solidFill>
                  <a:schemeClr val="bg1"/>
                </a:solidFill>
              </a:rPr>
              <a:t>Примерни реплики: </a:t>
            </a:r>
            <a:r>
              <a:rPr lang="ru-RU" sz="1200">
                <a:solidFill>
                  <a:schemeClr val="bg1"/>
                </a:solidFill>
              </a:rPr>
              <a:t>„Обаждам се със специално предложение за този месец.“ / „Мога да Ви насоча към вариант с по-добри условия според нуждата Ви.“ / „Ако проявявате интерес, можем да изберем удобно време за следващ разговор.“</a:t>
            </a:r>
            <a:br>
              <a:rPr lang="ru-RU" sz="1200">
                <a:solidFill>
                  <a:schemeClr val="bg1"/>
                </a:solidFill>
              </a:rPr>
            </a:br>
            <a:r>
              <a:rPr lang="ru-RU" sz="1200" b="1">
                <a:solidFill>
                  <a:schemeClr val="bg1"/>
                </a:solidFill>
              </a:rPr>
              <a:t>Възможни възражения: </a:t>
            </a:r>
            <a:r>
              <a:rPr lang="ru-RU" sz="1200">
                <a:solidFill>
                  <a:schemeClr val="bg1"/>
                </a:solidFill>
              </a:rPr>
              <a:t>„Не се интересувам.“, „Не искам оферти по телефона.“, „В момента не ми е актуално.“</a:t>
            </a:r>
            <a:br>
              <a:rPr lang="ru-RU" sz="1200">
                <a:solidFill>
                  <a:schemeClr val="bg1"/>
                </a:solidFill>
              </a:rPr>
            </a:br>
            <a:r>
              <a:rPr lang="ru-RU" sz="1200" b="1">
                <a:solidFill>
                  <a:schemeClr val="bg1"/>
                </a:solidFill>
              </a:rPr>
              <a:t>Подходящи техники: алтернативна; относителна; тирбушон</a:t>
            </a:r>
            <a:br>
              <a:rPr lang="ru-RU" sz="1200">
                <a:solidFill>
                  <a:schemeClr val="bg1"/>
                </a:solidFill>
              </a:rPr>
            </a:br>
            <a:r>
              <a:rPr lang="ru-RU" sz="1200" b="1">
                <a:solidFill>
                  <a:schemeClr val="bg1"/>
                </a:solidFill>
              </a:rPr>
              <a:t>Следваща стъпка / финализиране: </a:t>
            </a:r>
            <a:r>
              <a:rPr lang="ru-RU" sz="1200">
                <a:solidFill>
                  <a:schemeClr val="bg1"/>
                </a:solidFill>
              </a:rPr>
              <a:t>follow-up разговор, среща или изпращане на информация; ако клиентът прояви интерес, личната среща може да се проведе в офис, на адрес или на друго удобно място, а при желание клиентът може да бъде насочен и към онлайн кандидатстване през easycredit.bg или мобилното приложение.</a:t>
            </a:r>
            <a:br>
              <a:rPr lang="ru-RU" sz="1200">
                <a:solidFill>
                  <a:schemeClr val="bg1"/>
                </a:solidFill>
              </a:rPr>
            </a:br>
            <a:r>
              <a:rPr lang="ru-RU" sz="1200" b="1">
                <a:solidFill>
                  <a:schemeClr val="bg1"/>
                </a:solidFill>
              </a:rPr>
              <a:t>Какво да не правиш: </a:t>
            </a:r>
            <a:r>
              <a:rPr lang="ru-RU" sz="1200">
                <a:solidFill>
                  <a:schemeClr val="bg1"/>
                </a:solidFill>
              </a:rPr>
              <a:t>да звучиш като масова реклама; да претовариш клиента с детайли; да настояваш прекалено агресивно</a:t>
            </a:r>
            <a:endParaRPr lang="bg-BG" sz="1200">
              <a:solidFill>
                <a:schemeClr val="bg1"/>
              </a:solidFill>
            </a:endParaRPr>
          </a:p>
        </p:txBody>
      </p:sp>
    </p:spTree>
    <p:extLst>
      <p:ext uri="{BB962C8B-B14F-4D97-AF65-F5344CB8AC3E}">
        <p14:creationId xmlns:p14="http://schemas.microsoft.com/office/powerpoint/2010/main" val="711910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BD5891-ECFE-C8D2-9D56-BB3C8F5C59C4}"/>
            </a:ext>
          </a:extLst>
        </p:cNvPr>
        <p:cNvGrpSpPr/>
        <p:nvPr/>
      </p:nvGrpSpPr>
      <p:grpSpPr>
        <a:xfrm>
          <a:off x="0" y="0"/>
          <a:ext cx="0" cy="0"/>
          <a:chOff x="0" y="0"/>
          <a:chExt cx="0" cy="0"/>
        </a:xfrm>
      </p:grpSpPr>
      <p:sp>
        <p:nvSpPr>
          <p:cNvPr id="25" name="Rectangle 28">
            <a:extLst>
              <a:ext uri="{FF2B5EF4-FFF2-40B4-BE49-F238E27FC236}">
                <a16:creationId xmlns:a16="http://schemas.microsoft.com/office/drawing/2014/main" id="{7F30284F-486B-3FDC-B4CC-91EF80B95089}"/>
              </a:ext>
            </a:extLst>
          </p:cNvPr>
          <p:cNvSpPr/>
          <p:nvPr/>
        </p:nvSpPr>
        <p:spPr>
          <a:xfrm>
            <a:off x="-15824" y="1599"/>
            <a:ext cx="1465320" cy="6859628"/>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400">
              <a:latin typeface="Aptos"/>
              <a:ea typeface="Calibri"/>
              <a:cs typeface="Calibri"/>
            </a:endParaRPr>
          </a:p>
        </p:txBody>
      </p:sp>
      <p:sp>
        <p:nvSpPr>
          <p:cNvPr id="26" name="Rectangle 29">
            <a:extLst>
              <a:ext uri="{FF2B5EF4-FFF2-40B4-BE49-F238E27FC236}">
                <a16:creationId xmlns:a16="http://schemas.microsoft.com/office/drawing/2014/main" id="{7995323A-82F5-7B21-8229-6E598DD5B694}"/>
              </a:ext>
            </a:extLst>
          </p:cNvPr>
          <p:cNvSpPr/>
          <p:nvPr/>
        </p:nvSpPr>
        <p:spPr>
          <a:xfrm>
            <a:off x="-1671" y="2528038"/>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Типове клиенти</a:t>
            </a:r>
            <a:endParaRPr lang="en-GB" sz="1400">
              <a:latin typeface="Aptos"/>
              <a:ea typeface="Calibri"/>
              <a:cs typeface="Calibri"/>
            </a:endParaRPr>
          </a:p>
        </p:txBody>
      </p:sp>
      <p:sp>
        <p:nvSpPr>
          <p:cNvPr id="27" name="Rectangle 30">
            <a:extLst>
              <a:ext uri="{FF2B5EF4-FFF2-40B4-BE49-F238E27FC236}">
                <a16:creationId xmlns:a16="http://schemas.microsoft.com/office/drawing/2014/main" id="{5CF923CC-6988-0EB6-68A0-AEB936D9A603}"/>
              </a:ext>
            </a:extLst>
          </p:cNvPr>
          <p:cNvSpPr/>
          <p:nvPr/>
        </p:nvSpPr>
        <p:spPr>
          <a:xfrm>
            <a:off x="8626" y="1913210"/>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002060"/>
                </a:solidFill>
                <a:latin typeface="Aptos"/>
                <a:ea typeface="Calibri"/>
                <a:cs typeface="Calibri"/>
              </a:rPr>
              <a:t>Сценарии</a:t>
            </a:r>
            <a:endParaRPr lang="en-GB" sz="1400">
              <a:solidFill>
                <a:srgbClr val="002060"/>
              </a:solidFill>
              <a:latin typeface="Aptos"/>
              <a:ea typeface="Calibri"/>
              <a:cs typeface="Calibri"/>
            </a:endParaRPr>
          </a:p>
        </p:txBody>
      </p:sp>
      <p:sp>
        <p:nvSpPr>
          <p:cNvPr id="28" name="Rectangle 31">
            <a:extLst>
              <a:ext uri="{FF2B5EF4-FFF2-40B4-BE49-F238E27FC236}">
                <a16:creationId xmlns:a16="http://schemas.microsoft.com/office/drawing/2014/main" id="{2F903691-A656-92F0-ED12-86365404D5D9}"/>
              </a:ext>
            </a:extLst>
          </p:cNvPr>
          <p:cNvSpPr/>
          <p:nvPr/>
        </p:nvSpPr>
        <p:spPr>
          <a:xfrm>
            <a:off x="-1671" y="1298382"/>
            <a:ext cx="1442908" cy="4485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chemeClr val="bg1"/>
                </a:solidFill>
                <a:latin typeface="Aptos"/>
                <a:ea typeface="Calibri"/>
                <a:cs typeface="Calibri"/>
              </a:rPr>
              <a:t>Стъпки в обаждането</a:t>
            </a:r>
            <a:endParaRPr lang="en-GB" sz="1400">
              <a:solidFill>
                <a:schemeClr val="bg1"/>
              </a:solidFill>
              <a:latin typeface="Aptos"/>
              <a:ea typeface="Calibri"/>
              <a:cs typeface="Calibri"/>
            </a:endParaRPr>
          </a:p>
        </p:txBody>
      </p:sp>
      <p:sp>
        <p:nvSpPr>
          <p:cNvPr id="29" name="Rectangle 3">
            <a:extLst>
              <a:ext uri="{FF2B5EF4-FFF2-40B4-BE49-F238E27FC236}">
                <a16:creationId xmlns:a16="http://schemas.microsoft.com/office/drawing/2014/main" id="{BB65E4C3-1828-3194-15E5-F4222CF97DAD}"/>
              </a:ext>
            </a:extLst>
          </p:cNvPr>
          <p:cNvSpPr/>
          <p:nvPr/>
        </p:nvSpPr>
        <p:spPr>
          <a:xfrm>
            <a:off x="1443475" y="4245"/>
            <a:ext cx="5338363" cy="67724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30" name="Rectangle 4">
            <a:extLst>
              <a:ext uri="{FF2B5EF4-FFF2-40B4-BE49-F238E27FC236}">
                <a16:creationId xmlns:a16="http://schemas.microsoft.com/office/drawing/2014/main" id="{9AA1580C-0483-0D5C-3976-A17EE5D38A71}"/>
              </a:ext>
            </a:extLst>
          </p:cNvPr>
          <p:cNvSpPr/>
          <p:nvPr/>
        </p:nvSpPr>
        <p:spPr>
          <a:xfrm>
            <a:off x="6788435" y="4245"/>
            <a:ext cx="5417300" cy="677242"/>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31" name="Rectangle 28">
            <a:extLst>
              <a:ext uri="{FF2B5EF4-FFF2-40B4-BE49-F238E27FC236}">
                <a16:creationId xmlns:a16="http://schemas.microsoft.com/office/drawing/2014/main" id="{A3EA6AAC-80F5-8E87-D5DB-A6A0D6916213}"/>
              </a:ext>
            </a:extLst>
          </p:cNvPr>
          <p:cNvSpPr/>
          <p:nvPr/>
        </p:nvSpPr>
        <p:spPr>
          <a:xfrm>
            <a:off x="-15827" y="690328"/>
            <a:ext cx="1465322"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FFFFFF"/>
                </a:solidFill>
                <a:latin typeface="Aptos"/>
                <a:ea typeface="Calibri"/>
                <a:cs typeface="Calibri"/>
              </a:rPr>
              <a:t>Подготовка</a:t>
            </a:r>
            <a:endParaRPr lang="en-GB" sz="1400">
              <a:solidFill>
                <a:srgbClr val="FFFFFF"/>
              </a:solidFill>
              <a:latin typeface="Aptos"/>
              <a:ea typeface="Calibri"/>
              <a:cs typeface="Calibri"/>
            </a:endParaRPr>
          </a:p>
        </p:txBody>
      </p:sp>
      <p:pic>
        <p:nvPicPr>
          <p:cNvPr id="2" name="Картина 1" descr="Картина, която съдържа текст, екранна снимка, софтуер, Уеб страница&#10;&#10;Генерирано от ИИ съдържание може да е неправилно.">
            <a:extLst>
              <a:ext uri="{FF2B5EF4-FFF2-40B4-BE49-F238E27FC236}">
                <a16:creationId xmlns:a16="http://schemas.microsoft.com/office/drawing/2014/main" id="{59D7323E-DB76-6A1B-8958-5EC82366388F}"/>
              </a:ext>
            </a:extLst>
          </p:cNvPr>
          <p:cNvPicPr>
            <a:picLocks noChangeAspect="1"/>
          </p:cNvPicPr>
          <p:nvPr/>
        </p:nvPicPr>
        <p:blipFill>
          <a:blip r:embed="rId2"/>
          <a:stretch>
            <a:fillRect/>
          </a:stretch>
        </p:blipFill>
        <p:spPr>
          <a:xfrm>
            <a:off x="1574800" y="794695"/>
            <a:ext cx="10434320" cy="5868049"/>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Tree>
    <p:extLst>
      <p:ext uri="{BB962C8B-B14F-4D97-AF65-F5344CB8AC3E}">
        <p14:creationId xmlns:p14="http://schemas.microsoft.com/office/powerpoint/2010/main" val="194341296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2A942E-4A3F-7F29-F11D-F63CAA62F1E8}"/>
            </a:ext>
          </a:extLst>
        </p:cNvPr>
        <p:cNvGrpSpPr/>
        <p:nvPr/>
      </p:nvGrpSpPr>
      <p:grpSpPr>
        <a:xfrm>
          <a:off x="0" y="0"/>
          <a:ext cx="0" cy="0"/>
          <a:chOff x="0" y="0"/>
          <a:chExt cx="0" cy="0"/>
        </a:xfrm>
      </p:grpSpPr>
      <p:sp>
        <p:nvSpPr>
          <p:cNvPr id="25" name="Rectangle 28">
            <a:extLst>
              <a:ext uri="{FF2B5EF4-FFF2-40B4-BE49-F238E27FC236}">
                <a16:creationId xmlns:a16="http://schemas.microsoft.com/office/drawing/2014/main" id="{93AEC1F8-D5F7-33C5-197C-118CA640A70B}"/>
              </a:ext>
            </a:extLst>
          </p:cNvPr>
          <p:cNvSpPr/>
          <p:nvPr/>
        </p:nvSpPr>
        <p:spPr>
          <a:xfrm>
            <a:off x="-15824" y="1599"/>
            <a:ext cx="1465320" cy="6859628"/>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400">
              <a:latin typeface="Aptos"/>
              <a:ea typeface="Calibri"/>
              <a:cs typeface="Calibri"/>
            </a:endParaRPr>
          </a:p>
        </p:txBody>
      </p:sp>
      <p:sp>
        <p:nvSpPr>
          <p:cNvPr id="26" name="Rectangle 29">
            <a:extLst>
              <a:ext uri="{FF2B5EF4-FFF2-40B4-BE49-F238E27FC236}">
                <a16:creationId xmlns:a16="http://schemas.microsoft.com/office/drawing/2014/main" id="{79FECB78-4E87-D235-0911-2C1D84049EC1}"/>
              </a:ext>
            </a:extLst>
          </p:cNvPr>
          <p:cNvSpPr/>
          <p:nvPr/>
        </p:nvSpPr>
        <p:spPr>
          <a:xfrm>
            <a:off x="-1671" y="2528038"/>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Типове клиенти</a:t>
            </a:r>
            <a:endParaRPr lang="en-GB" sz="1400">
              <a:latin typeface="Aptos"/>
              <a:ea typeface="Calibri"/>
              <a:cs typeface="Calibri"/>
            </a:endParaRPr>
          </a:p>
        </p:txBody>
      </p:sp>
      <p:sp>
        <p:nvSpPr>
          <p:cNvPr id="27" name="Rectangle 30">
            <a:extLst>
              <a:ext uri="{FF2B5EF4-FFF2-40B4-BE49-F238E27FC236}">
                <a16:creationId xmlns:a16="http://schemas.microsoft.com/office/drawing/2014/main" id="{A53700DE-928B-FF84-EF0F-C7DCE83F0F7A}"/>
              </a:ext>
            </a:extLst>
          </p:cNvPr>
          <p:cNvSpPr/>
          <p:nvPr/>
        </p:nvSpPr>
        <p:spPr>
          <a:xfrm>
            <a:off x="8626" y="1913210"/>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002060"/>
                </a:solidFill>
                <a:latin typeface="Aptos"/>
                <a:ea typeface="Calibri"/>
                <a:cs typeface="Calibri"/>
              </a:rPr>
              <a:t>Сценарии</a:t>
            </a:r>
            <a:endParaRPr lang="en-GB" sz="1400">
              <a:solidFill>
                <a:srgbClr val="002060"/>
              </a:solidFill>
              <a:latin typeface="Aptos"/>
              <a:ea typeface="Calibri"/>
              <a:cs typeface="Calibri"/>
            </a:endParaRPr>
          </a:p>
        </p:txBody>
      </p:sp>
      <p:sp>
        <p:nvSpPr>
          <p:cNvPr id="28" name="Rectangle 31">
            <a:extLst>
              <a:ext uri="{FF2B5EF4-FFF2-40B4-BE49-F238E27FC236}">
                <a16:creationId xmlns:a16="http://schemas.microsoft.com/office/drawing/2014/main" id="{BBCE5271-F08D-9EC7-8C2F-308BD50B0944}"/>
              </a:ext>
            </a:extLst>
          </p:cNvPr>
          <p:cNvSpPr/>
          <p:nvPr/>
        </p:nvSpPr>
        <p:spPr>
          <a:xfrm>
            <a:off x="-1671" y="1298382"/>
            <a:ext cx="1442908" cy="4485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chemeClr val="bg1"/>
                </a:solidFill>
                <a:latin typeface="Aptos"/>
                <a:ea typeface="Calibri"/>
                <a:cs typeface="Calibri"/>
              </a:rPr>
              <a:t>Стъпки в обаждането</a:t>
            </a:r>
            <a:endParaRPr lang="en-GB" sz="1400">
              <a:solidFill>
                <a:schemeClr val="bg1"/>
              </a:solidFill>
              <a:latin typeface="Aptos"/>
              <a:ea typeface="Calibri"/>
              <a:cs typeface="Calibri"/>
            </a:endParaRPr>
          </a:p>
        </p:txBody>
      </p:sp>
      <p:sp>
        <p:nvSpPr>
          <p:cNvPr id="29" name="Rectangle 3">
            <a:extLst>
              <a:ext uri="{FF2B5EF4-FFF2-40B4-BE49-F238E27FC236}">
                <a16:creationId xmlns:a16="http://schemas.microsoft.com/office/drawing/2014/main" id="{B927436C-0C2A-EB44-909E-D0196C6A4F22}"/>
              </a:ext>
            </a:extLst>
          </p:cNvPr>
          <p:cNvSpPr/>
          <p:nvPr/>
        </p:nvSpPr>
        <p:spPr>
          <a:xfrm>
            <a:off x="1443475" y="4245"/>
            <a:ext cx="5338363" cy="67724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30" name="Rectangle 4">
            <a:extLst>
              <a:ext uri="{FF2B5EF4-FFF2-40B4-BE49-F238E27FC236}">
                <a16:creationId xmlns:a16="http://schemas.microsoft.com/office/drawing/2014/main" id="{983D022C-2DF7-10BC-B454-DC5EA4BB693E}"/>
              </a:ext>
            </a:extLst>
          </p:cNvPr>
          <p:cNvSpPr/>
          <p:nvPr/>
        </p:nvSpPr>
        <p:spPr>
          <a:xfrm>
            <a:off x="6788435" y="4245"/>
            <a:ext cx="5417300" cy="677242"/>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31" name="Rectangle 28">
            <a:extLst>
              <a:ext uri="{FF2B5EF4-FFF2-40B4-BE49-F238E27FC236}">
                <a16:creationId xmlns:a16="http://schemas.microsoft.com/office/drawing/2014/main" id="{49E96408-7854-9A66-9FDD-B973DFBF03ED}"/>
              </a:ext>
            </a:extLst>
          </p:cNvPr>
          <p:cNvSpPr/>
          <p:nvPr/>
        </p:nvSpPr>
        <p:spPr>
          <a:xfrm>
            <a:off x="-15827" y="690328"/>
            <a:ext cx="1465322"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FFFFFF"/>
                </a:solidFill>
                <a:latin typeface="Aptos"/>
                <a:ea typeface="Calibri"/>
                <a:cs typeface="Calibri"/>
              </a:rPr>
              <a:t>Подготовка</a:t>
            </a:r>
            <a:endParaRPr lang="en-GB" sz="1400">
              <a:solidFill>
                <a:srgbClr val="FFFFFF"/>
              </a:solidFill>
              <a:latin typeface="Aptos"/>
              <a:ea typeface="Calibri"/>
              <a:cs typeface="Calibri"/>
            </a:endParaRPr>
          </a:p>
        </p:txBody>
      </p:sp>
      <p:pic>
        <p:nvPicPr>
          <p:cNvPr id="3" name="Картина 2" descr="Картина, която съдържа текст, екранна снимка, Шрифт, Уеб страница&#10;&#10;Генерирано от ИИ съдържание може да е неправилно.">
            <a:extLst>
              <a:ext uri="{FF2B5EF4-FFF2-40B4-BE49-F238E27FC236}">
                <a16:creationId xmlns:a16="http://schemas.microsoft.com/office/drawing/2014/main" id="{CE14A20C-EA72-CAF0-BE73-2F88794FDD49}"/>
              </a:ext>
            </a:extLst>
          </p:cNvPr>
          <p:cNvPicPr>
            <a:picLocks noChangeAspect="1"/>
          </p:cNvPicPr>
          <p:nvPr/>
        </p:nvPicPr>
        <p:blipFill>
          <a:blip r:embed="rId2"/>
          <a:stretch>
            <a:fillRect/>
          </a:stretch>
        </p:blipFill>
        <p:spPr>
          <a:xfrm>
            <a:off x="1564640" y="807110"/>
            <a:ext cx="10525760" cy="5904180"/>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Tree>
    <p:extLst>
      <p:ext uri="{BB962C8B-B14F-4D97-AF65-F5344CB8AC3E}">
        <p14:creationId xmlns:p14="http://schemas.microsoft.com/office/powerpoint/2010/main" val="45444150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375AB6-B11C-F357-9C19-25BDFD3F3696}"/>
            </a:ext>
          </a:extLst>
        </p:cNvPr>
        <p:cNvGrpSpPr/>
        <p:nvPr/>
      </p:nvGrpSpPr>
      <p:grpSpPr>
        <a:xfrm>
          <a:off x="0" y="0"/>
          <a:ext cx="0" cy="0"/>
          <a:chOff x="0" y="0"/>
          <a:chExt cx="0" cy="0"/>
        </a:xfrm>
      </p:grpSpPr>
      <p:sp>
        <p:nvSpPr>
          <p:cNvPr id="28" name="Правоъгълник: със заоблени ъгли 27">
            <a:extLst>
              <a:ext uri="{FF2B5EF4-FFF2-40B4-BE49-F238E27FC236}">
                <a16:creationId xmlns:a16="http://schemas.microsoft.com/office/drawing/2014/main" id="{1399A1AA-5104-8F95-038F-35A1F099BD21}"/>
              </a:ext>
            </a:extLst>
          </p:cNvPr>
          <p:cNvSpPr/>
          <p:nvPr/>
        </p:nvSpPr>
        <p:spPr>
          <a:xfrm>
            <a:off x="5298509" y="251749"/>
            <a:ext cx="3671794" cy="6172583"/>
          </a:xfrm>
          <a:prstGeom prst="roundRect">
            <a:avLst/>
          </a:prstGeom>
          <a:solidFill>
            <a:schemeClr val="bg1">
              <a:lumMod val="95000"/>
            </a:schemeClr>
          </a:solidFill>
          <a:ln>
            <a:noFill/>
          </a:ln>
          <a:effectLst>
            <a:outerShdw blurRad="63500" dist="38100" dir="270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pic>
        <p:nvPicPr>
          <p:cNvPr id="33" name="Picture 10" descr="Картина, която съдържа текст, екранна снимка&#10;&#10;Генерирано от ИИ съдържание може да е неправилно.">
            <a:extLst>
              <a:ext uri="{FF2B5EF4-FFF2-40B4-BE49-F238E27FC236}">
                <a16:creationId xmlns:a16="http://schemas.microsoft.com/office/drawing/2014/main" id="{6ACCBA89-862E-EC5B-86B4-76D7B8D9F1BE}"/>
              </a:ext>
            </a:extLst>
          </p:cNvPr>
          <p:cNvPicPr>
            <a:picLocks noChangeAspect="1"/>
          </p:cNvPicPr>
          <p:nvPr/>
        </p:nvPicPr>
        <p:blipFill>
          <a:blip r:embed="rId2"/>
          <a:srcRect b="88415"/>
          <a:stretch>
            <a:fillRect/>
          </a:stretch>
        </p:blipFill>
        <p:spPr>
          <a:xfrm>
            <a:off x="5232507" y="278693"/>
            <a:ext cx="3740239" cy="77148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34" name="Правоъгълник: със заоблени ъгли 33">
            <a:extLst>
              <a:ext uri="{FF2B5EF4-FFF2-40B4-BE49-F238E27FC236}">
                <a16:creationId xmlns:a16="http://schemas.microsoft.com/office/drawing/2014/main" id="{AFDBD0FF-AE1C-C2BF-AD79-F31DA5C91277}"/>
              </a:ext>
            </a:extLst>
          </p:cNvPr>
          <p:cNvSpPr/>
          <p:nvPr/>
        </p:nvSpPr>
        <p:spPr>
          <a:xfrm>
            <a:off x="5376852" y="1535289"/>
            <a:ext cx="3302259" cy="363776"/>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bg-BG" sz="1300" b="1">
                <a:solidFill>
                  <a:srgbClr val="1F3864"/>
                </a:solidFill>
              </a:rPr>
              <a:t>Отваряне и предложение</a:t>
            </a:r>
          </a:p>
          <a:p>
            <a:endParaRPr lang="bg-BG" sz="1200">
              <a:solidFill>
                <a:srgbClr val="1F3864"/>
              </a:solidFill>
            </a:endParaRPr>
          </a:p>
        </p:txBody>
      </p:sp>
      <p:sp>
        <p:nvSpPr>
          <p:cNvPr id="35" name="Правоъгълник: със заоблени ъгли 34">
            <a:extLst>
              <a:ext uri="{FF2B5EF4-FFF2-40B4-BE49-F238E27FC236}">
                <a16:creationId xmlns:a16="http://schemas.microsoft.com/office/drawing/2014/main" id="{9984A38B-6E6A-CFAD-68B6-561309193A3D}"/>
              </a:ext>
            </a:extLst>
          </p:cNvPr>
          <p:cNvSpPr/>
          <p:nvPr/>
        </p:nvSpPr>
        <p:spPr>
          <a:xfrm>
            <a:off x="5373662" y="2256930"/>
            <a:ext cx="3312284" cy="393855"/>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1050" b="1">
                <a:solidFill>
                  <a:srgbClr val="000000"/>
                </a:solidFill>
              </a:rPr>
              <a:t>-</a:t>
            </a:r>
            <a:r>
              <a:rPr lang="en-US" sz="1050" err="1">
                <a:solidFill>
                  <a:srgbClr val="000000"/>
                </a:solidFill>
              </a:rPr>
              <a:t>Добър</a:t>
            </a:r>
            <a:r>
              <a:rPr lang="en-US" sz="1050">
                <a:solidFill>
                  <a:srgbClr val="000000"/>
                </a:solidFill>
              </a:rPr>
              <a:t> </a:t>
            </a:r>
            <a:r>
              <a:rPr lang="en-US" sz="1050" err="1">
                <a:solidFill>
                  <a:srgbClr val="000000"/>
                </a:solidFill>
              </a:rPr>
              <a:t>ден</a:t>
            </a:r>
            <a:r>
              <a:rPr lang="en-US" sz="1050">
                <a:solidFill>
                  <a:srgbClr val="000000"/>
                </a:solidFill>
              </a:rPr>
              <a:t>, </a:t>
            </a:r>
            <a:r>
              <a:rPr lang="en-US" sz="1050" err="1">
                <a:solidFill>
                  <a:srgbClr val="000000"/>
                </a:solidFill>
              </a:rPr>
              <a:t>търся</a:t>
            </a:r>
            <a:r>
              <a:rPr lang="en-US" sz="1050">
                <a:solidFill>
                  <a:srgbClr val="000000"/>
                </a:solidFill>
              </a:rPr>
              <a:t> г-н/г-</a:t>
            </a:r>
            <a:r>
              <a:rPr lang="en-US" sz="1050" err="1">
                <a:solidFill>
                  <a:srgbClr val="000000"/>
                </a:solidFill>
              </a:rPr>
              <a:t>жа</a:t>
            </a:r>
            <a:r>
              <a:rPr lang="en-US" sz="1050">
                <a:solidFill>
                  <a:srgbClr val="000000"/>
                </a:solidFill>
              </a:rPr>
              <a:t> (</a:t>
            </a:r>
            <a:r>
              <a:rPr lang="en-US" sz="1050" err="1">
                <a:solidFill>
                  <a:srgbClr val="000000"/>
                </a:solidFill>
              </a:rPr>
              <a:t>две</a:t>
            </a:r>
            <a:r>
              <a:rPr lang="en-US" sz="1050">
                <a:solidFill>
                  <a:srgbClr val="000000"/>
                </a:solidFill>
              </a:rPr>
              <a:t> </a:t>
            </a:r>
            <a:r>
              <a:rPr lang="en-US" sz="1050" err="1">
                <a:solidFill>
                  <a:srgbClr val="000000"/>
                </a:solidFill>
              </a:rPr>
              <a:t>имена</a:t>
            </a:r>
            <a:r>
              <a:rPr lang="en-US" sz="1050">
                <a:solidFill>
                  <a:srgbClr val="000000"/>
                </a:solidFill>
              </a:rPr>
              <a:t> </a:t>
            </a:r>
            <a:r>
              <a:rPr lang="en-US" sz="1050" err="1">
                <a:solidFill>
                  <a:srgbClr val="000000"/>
                </a:solidFill>
              </a:rPr>
              <a:t>на</a:t>
            </a:r>
            <a:r>
              <a:rPr lang="en-US" sz="1050">
                <a:solidFill>
                  <a:srgbClr val="000000"/>
                </a:solidFill>
              </a:rPr>
              <a:t> </a:t>
            </a:r>
            <a:r>
              <a:rPr lang="en-US" sz="1050" err="1">
                <a:solidFill>
                  <a:srgbClr val="000000"/>
                </a:solidFill>
              </a:rPr>
              <a:t>клиента</a:t>
            </a:r>
            <a:r>
              <a:rPr lang="en-US" sz="1050">
                <a:solidFill>
                  <a:srgbClr val="000000"/>
                </a:solidFill>
              </a:rPr>
              <a:t>).</a:t>
            </a:r>
            <a:br>
              <a:rPr lang="en-US" sz="1050"/>
            </a:br>
            <a:r>
              <a:rPr lang="en-US" sz="1050">
                <a:solidFill>
                  <a:srgbClr val="000000"/>
                </a:solidFill>
              </a:rPr>
              <a:t> </a:t>
            </a:r>
            <a:r>
              <a:rPr lang="en-US" sz="1050" b="1">
                <a:solidFill>
                  <a:srgbClr val="000000"/>
                </a:solidFill>
              </a:rPr>
              <a:t>-</a:t>
            </a:r>
            <a:r>
              <a:rPr lang="en-US" sz="1050" err="1">
                <a:solidFill>
                  <a:srgbClr val="000000"/>
                </a:solidFill>
              </a:rPr>
              <a:t>Да</a:t>
            </a:r>
            <a:r>
              <a:rPr lang="en-US" sz="1050">
                <a:solidFill>
                  <a:srgbClr val="000000"/>
                </a:solidFill>
              </a:rPr>
              <a:t> (</a:t>
            </a:r>
            <a:r>
              <a:rPr lang="en-US" sz="1050" err="1">
                <a:solidFill>
                  <a:srgbClr val="000000"/>
                </a:solidFill>
              </a:rPr>
              <a:t>на</a:t>
            </a:r>
            <a:r>
              <a:rPr lang="en-US" sz="1050">
                <a:solidFill>
                  <a:srgbClr val="000000"/>
                </a:solidFill>
              </a:rPr>
              <a:t> </a:t>
            </a:r>
            <a:r>
              <a:rPr lang="en-US" sz="1050" err="1">
                <a:solidFill>
                  <a:srgbClr val="000000"/>
                </a:solidFill>
              </a:rPr>
              <a:t>телефона</a:t>
            </a:r>
            <a:r>
              <a:rPr lang="en-US" sz="1050">
                <a:solidFill>
                  <a:srgbClr val="000000"/>
                </a:solidFill>
              </a:rPr>
              <a:t>, </a:t>
            </a:r>
            <a:r>
              <a:rPr lang="en-US" sz="1050" err="1">
                <a:solidFill>
                  <a:srgbClr val="000000"/>
                </a:solidFill>
              </a:rPr>
              <a:t>аз</a:t>
            </a:r>
            <a:r>
              <a:rPr lang="en-US" sz="1050">
                <a:solidFill>
                  <a:srgbClr val="000000"/>
                </a:solidFill>
              </a:rPr>
              <a:t> </a:t>
            </a:r>
            <a:r>
              <a:rPr lang="en-US" sz="1050" err="1">
                <a:solidFill>
                  <a:srgbClr val="000000"/>
                </a:solidFill>
              </a:rPr>
              <a:t>съм</a:t>
            </a:r>
            <a:r>
              <a:rPr lang="en-US" sz="1050">
                <a:solidFill>
                  <a:srgbClr val="000000"/>
                </a:solidFill>
              </a:rPr>
              <a:t>).</a:t>
            </a:r>
            <a:br>
              <a:rPr lang="en-US" sz="1050"/>
            </a:br>
            <a:r>
              <a:rPr lang="en-US" sz="1050">
                <a:solidFill>
                  <a:srgbClr val="000000"/>
                </a:solidFill>
              </a:rPr>
              <a:t> </a:t>
            </a:r>
            <a:r>
              <a:rPr lang="en-US" sz="1050" b="1">
                <a:solidFill>
                  <a:srgbClr val="000000"/>
                </a:solidFill>
              </a:rPr>
              <a:t>-</a:t>
            </a:r>
            <a:r>
              <a:rPr lang="en-US" sz="1050" err="1">
                <a:solidFill>
                  <a:srgbClr val="000000"/>
                </a:solidFill>
              </a:rPr>
              <a:t>Здравейте</a:t>
            </a:r>
            <a:r>
              <a:rPr lang="en-US" sz="1050">
                <a:solidFill>
                  <a:srgbClr val="000000"/>
                </a:solidFill>
              </a:rPr>
              <a:t> г-н/г-</a:t>
            </a:r>
            <a:r>
              <a:rPr lang="en-US" sz="1050" err="1">
                <a:solidFill>
                  <a:srgbClr val="000000"/>
                </a:solidFill>
              </a:rPr>
              <a:t>жо</a:t>
            </a:r>
            <a:r>
              <a:rPr lang="en-US" sz="1050">
                <a:solidFill>
                  <a:srgbClr val="000000"/>
                </a:solidFill>
              </a:rPr>
              <a:t> (</a:t>
            </a:r>
            <a:r>
              <a:rPr lang="en-US" sz="1050" err="1">
                <a:solidFill>
                  <a:srgbClr val="000000"/>
                </a:solidFill>
              </a:rPr>
              <a:t>фамилия</a:t>
            </a:r>
            <a:r>
              <a:rPr lang="en-US" sz="1050">
                <a:solidFill>
                  <a:srgbClr val="000000"/>
                </a:solidFill>
              </a:rPr>
              <a:t> </a:t>
            </a:r>
            <a:r>
              <a:rPr lang="en-US" sz="1050" err="1">
                <a:solidFill>
                  <a:srgbClr val="000000"/>
                </a:solidFill>
              </a:rPr>
              <a:t>на</a:t>
            </a:r>
            <a:r>
              <a:rPr lang="en-US" sz="1050">
                <a:solidFill>
                  <a:srgbClr val="000000"/>
                </a:solidFill>
              </a:rPr>
              <a:t> </a:t>
            </a:r>
            <a:r>
              <a:rPr lang="en-US" sz="1050" err="1">
                <a:solidFill>
                  <a:srgbClr val="000000"/>
                </a:solidFill>
              </a:rPr>
              <a:t>клиента</a:t>
            </a:r>
            <a:r>
              <a:rPr lang="en-US" sz="1050">
                <a:solidFill>
                  <a:srgbClr val="000000"/>
                </a:solidFill>
              </a:rPr>
              <a:t>), </a:t>
            </a:r>
            <a:r>
              <a:rPr lang="en-US" sz="1050" err="1">
                <a:solidFill>
                  <a:srgbClr val="000000"/>
                </a:solidFill>
              </a:rPr>
              <a:t>обаждам</a:t>
            </a:r>
            <a:r>
              <a:rPr lang="en-US" sz="1050">
                <a:solidFill>
                  <a:srgbClr val="000000"/>
                </a:solidFill>
              </a:rPr>
              <a:t> </a:t>
            </a:r>
            <a:r>
              <a:rPr lang="en-US" sz="1050" err="1">
                <a:solidFill>
                  <a:srgbClr val="000000"/>
                </a:solidFill>
              </a:rPr>
              <a:t>се</a:t>
            </a:r>
            <a:r>
              <a:rPr lang="en-US" sz="1050">
                <a:solidFill>
                  <a:srgbClr val="000000"/>
                </a:solidFill>
              </a:rPr>
              <a:t> </a:t>
            </a:r>
            <a:r>
              <a:rPr lang="en-US" sz="1050" err="1">
                <a:solidFill>
                  <a:srgbClr val="000000"/>
                </a:solidFill>
              </a:rPr>
              <a:t>от</a:t>
            </a:r>
            <a:r>
              <a:rPr lang="en-US" sz="1050">
                <a:solidFill>
                  <a:srgbClr val="000000"/>
                </a:solidFill>
              </a:rPr>
              <a:t> </a:t>
            </a:r>
            <a:r>
              <a:rPr lang="en-US" sz="1050" err="1">
                <a:solidFill>
                  <a:srgbClr val="000000"/>
                </a:solidFill>
              </a:rPr>
              <a:t>Изи</a:t>
            </a:r>
            <a:r>
              <a:rPr lang="en-US" sz="1050">
                <a:solidFill>
                  <a:srgbClr val="000000"/>
                </a:solidFill>
              </a:rPr>
              <a:t> </a:t>
            </a:r>
            <a:r>
              <a:rPr lang="en-US" sz="1050" err="1">
                <a:solidFill>
                  <a:srgbClr val="000000"/>
                </a:solidFill>
              </a:rPr>
              <a:t>Кредит</a:t>
            </a:r>
            <a:r>
              <a:rPr lang="en-US" sz="1050">
                <a:solidFill>
                  <a:srgbClr val="000000"/>
                </a:solidFill>
              </a:rPr>
              <a:t> </a:t>
            </a:r>
            <a:r>
              <a:rPr lang="en-US" sz="1050" err="1">
                <a:solidFill>
                  <a:srgbClr val="000000"/>
                </a:solidFill>
              </a:rPr>
              <a:t>във</a:t>
            </a:r>
            <a:r>
              <a:rPr lang="en-US" sz="1050">
                <a:solidFill>
                  <a:srgbClr val="000000"/>
                </a:solidFill>
              </a:rPr>
              <a:t> </a:t>
            </a:r>
            <a:r>
              <a:rPr lang="en-US" sz="1050" err="1">
                <a:solidFill>
                  <a:srgbClr val="000000"/>
                </a:solidFill>
              </a:rPr>
              <a:t>връзка</a:t>
            </a:r>
            <a:r>
              <a:rPr lang="en-US" sz="1050">
                <a:solidFill>
                  <a:srgbClr val="000000"/>
                </a:solidFill>
              </a:rPr>
              <a:t> с </a:t>
            </a:r>
            <a:r>
              <a:rPr lang="en-US" sz="1050" err="1">
                <a:solidFill>
                  <a:srgbClr val="000000"/>
                </a:solidFill>
              </a:rPr>
              <a:t>изготвено</a:t>
            </a:r>
            <a:r>
              <a:rPr lang="en-US" sz="1050">
                <a:solidFill>
                  <a:srgbClr val="000000"/>
                </a:solidFill>
              </a:rPr>
              <a:t> </a:t>
            </a:r>
            <a:r>
              <a:rPr lang="en-US" sz="1050" err="1">
                <a:solidFill>
                  <a:srgbClr val="000000"/>
                </a:solidFill>
              </a:rPr>
              <a:t>предложение</a:t>
            </a:r>
            <a:r>
              <a:rPr lang="en-US" sz="1050">
                <a:solidFill>
                  <a:srgbClr val="000000"/>
                </a:solidFill>
              </a:rPr>
              <a:t>, </a:t>
            </a:r>
            <a:r>
              <a:rPr lang="en-US" sz="1050" err="1">
                <a:solidFill>
                  <a:srgbClr val="000000"/>
                </a:solidFill>
              </a:rPr>
              <a:t>специално</a:t>
            </a:r>
            <a:r>
              <a:rPr lang="en-US" sz="1050">
                <a:solidFill>
                  <a:srgbClr val="000000"/>
                </a:solidFill>
              </a:rPr>
              <a:t> </a:t>
            </a:r>
            <a:r>
              <a:rPr lang="en-US" sz="1050" err="1">
                <a:solidFill>
                  <a:srgbClr val="000000"/>
                </a:solidFill>
              </a:rPr>
              <a:t>за</a:t>
            </a:r>
            <a:r>
              <a:rPr lang="en-US" sz="1050">
                <a:solidFill>
                  <a:srgbClr val="000000"/>
                </a:solidFill>
              </a:rPr>
              <a:t> </a:t>
            </a:r>
            <a:r>
              <a:rPr lang="en-US" sz="1050" err="1">
                <a:solidFill>
                  <a:srgbClr val="000000"/>
                </a:solidFill>
              </a:rPr>
              <a:t>Вас</a:t>
            </a:r>
            <a:r>
              <a:rPr lang="en-US" sz="1050">
                <a:solidFill>
                  <a:srgbClr val="000000"/>
                </a:solidFill>
              </a:rPr>
              <a:t>. </a:t>
            </a:r>
            <a:r>
              <a:rPr lang="en-US" sz="1050" err="1">
                <a:solidFill>
                  <a:srgbClr val="000000"/>
                </a:solidFill>
              </a:rPr>
              <a:t>Удобно</a:t>
            </a:r>
            <a:r>
              <a:rPr lang="en-US" sz="1050">
                <a:solidFill>
                  <a:srgbClr val="000000"/>
                </a:solidFill>
              </a:rPr>
              <a:t> </a:t>
            </a:r>
            <a:r>
              <a:rPr lang="en-US" sz="1050" err="1">
                <a:solidFill>
                  <a:srgbClr val="000000"/>
                </a:solidFill>
              </a:rPr>
              <a:t>ли</a:t>
            </a:r>
            <a:r>
              <a:rPr lang="en-US" sz="1050">
                <a:solidFill>
                  <a:srgbClr val="000000"/>
                </a:solidFill>
              </a:rPr>
              <a:t> е </a:t>
            </a:r>
            <a:r>
              <a:rPr lang="en-US" sz="1050" err="1">
                <a:solidFill>
                  <a:srgbClr val="000000"/>
                </a:solidFill>
              </a:rPr>
              <a:t>да</a:t>
            </a:r>
            <a:r>
              <a:rPr lang="en-US" sz="1050">
                <a:solidFill>
                  <a:srgbClr val="000000"/>
                </a:solidFill>
              </a:rPr>
              <a:t> </a:t>
            </a:r>
            <a:r>
              <a:rPr lang="en-US" sz="1050" err="1">
                <a:solidFill>
                  <a:srgbClr val="000000"/>
                </a:solidFill>
              </a:rPr>
              <a:t>ми</a:t>
            </a:r>
            <a:r>
              <a:rPr lang="en-US" sz="1050">
                <a:solidFill>
                  <a:srgbClr val="000000"/>
                </a:solidFill>
              </a:rPr>
              <a:t> </a:t>
            </a:r>
            <a:r>
              <a:rPr lang="en-US" sz="1050" err="1">
                <a:solidFill>
                  <a:srgbClr val="000000"/>
                </a:solidFill>
              </a:rPr>
              <a:t>отделите</a:t>
            </a:r>
            <a:r>
              <a:rPr lang="en-US" sz="1050">
                <a:solidFill>
                  <a:srgbClr val="000000"/>
                </a:solidFill>
              </a:rPr>
              <a:t> </a:t>
            </a:r>
            <a:r>
              <a:rPr lang="en-US" sz="1050" err="1">
                <a:solidFill>
                  <a:srgbClr val="000000"/>
                </a:solidFill>
              </a:rPr>
              <a:t>една</a:t>
            </a:r>
            <a:r>
              <a:rPr lang="en-US" sz="1050">
                <a:solidFill>
                  <a:srgbClr val="000000"/>
                </a:solidFill>
              </a:rPr>
              <a:t>, </a:t>
            </a:r>
            <a:r>
              <a:rPr lang="en-US" sz="1050" err="1">
                <a:solidFill>
                  <a:srgbClr val="000000"/>
                </a:solidFill>
              </a:rPr>
              <a:t>две</a:t>
            </a:r>
            <a:r>
              <a:rPr lang="en-US" sz="1050">
                <a:solidFill>
                  <a:srgbClr val="000000"/>
                </a:solidFill>
              </a:rPr>
              <a:t> </a:t>
            </a:r>
            <a:r>
              <a:rPr lang="en-US" sz="1050" err="1">
                <a:solidFill>
                  <a:srgbClr val="000000"/>
                </a:solidFill>
              </a:rPr>
              <a:t>минути</a:t>
            </a:r>
            <a:r>
              <a:rPr lang="en-US" sz="1050">
                <a:solidFill>
                  <a:srgbClr val="000000"/>
                </a:solidFill>
              </a:rPr>
              <a:t>, </a:t>
            </a:r>
            <a:r>
              <a:rPr lang="en-US" sz="1050" err="1">
                <a:solidFill>
                  <a:srgbClr val="000000"/>
                </a:solidFill>
              </a:rPr>
              <a:t>за</a:t>
            </a:r>
            <a:r>
              <a:rPr lang="en-US" sz="1050">
                <a:solidFill>
                  <a:srgbClr val="000000"/>
                </a:solidFill>
              </a:rPr>
              <a:t> </a:t>
            </a:r>
            <a:r>
              <a:rPr lang="en-US" sz="1050" err="1">
                <a:solidFill>
                  <a:srgbClr val="000000"/>
                </a:solidFill>
              </a:rPr>
              <a:t>да</a:t>
            </a:r>
            <a:r>
              <a:rPr lang="en-US" sz="1050">
                <a:solidFill>
                  <a:srgbClr val="000000"/>
                </a:solidFill>
              </a:rPr>
              <a:t> </a:t>
            </a:r>
            <a:r>
              <a:rPr lang="en-US" sz="1050" err="1">
                <a:solidFill>
                  <a:srgbClr val="000000"/>
                </a:solidFill>
              </a:rPr>
              <a:t>Ви</a:t>
            </a:r>
            <a:r>
              <a:rPr lang="en-US" sz="1050">
                <a:solidFill>
                  <a:srgbClr val="000000"/>
                </a:solidFill>
              </a:rPr>
              <a:t> </a:t>
            </a:r>
            <a:r>
              <a:rPr lang="en-US" sz="1050" err="1">
                <a:solidFill>
                  <a:srgbClr val="000000"/>
                </a:solidFill>
              </a:rPr>
              <a:t>запозная</a:t>
            </a:r>
            <a:r>
              <a:rPr lang="en-US" sz="1050">
                <a:solidFill>
                  <a:srgbClr val="000000"/>
                </a:solidFill>
              </a:rPr>
              <a:t>? </a:t>
            </a:r>
            <a:br>
              <a:rPr lang="en-US" sz="1050"/>
            </a:br>
            <a:r>
              <a:rPr lang="en-US" sz="1050">
                <a:solidFill>
                  <a:srgbClr val="000000"/>
                </a:solidFill>
              </a:rPr>
              <a:t>-</a:t>
            </a:r>
            <a:r>
              <a:rPr lang="en-US" sz="1050" err="1">
                <a:solidFill>
                  <a:srgbClr val="000000"/>
                </a:solidFill>
              </a:rPr>
              <a:t>Да</a:t>
            </a:r>
            <a:r>
              <a:rPr lang="en-US" sz="1050">
                <a:solidFill>
                  <a:srgbClr val="000000"/>
                </a:solidFill>
              </a:rPr>
              <a:t> (</a:t>
            </a:r>
            <a:r>
              <a:rPr lang="en-US" sz="1050" err="1">
                <a:solidFill>
                  <a:srgbClr val="000000"/>
                </a:solidFill>
              </a:rPr>
              <a:t>слушам</a:t>
            </a:r>
            <a:r>
              <a:rPr lang="en-US" sz="1050">
                <a:solidFill>
                  <a:srgbClr val="000000"/>
                </a:solidFill>
              </a:rPr>
              <a:t> </a:t>
            </a:r>
            <a:r>
              <a:rPr lang="en-US" sz="1050" err="1">
                <a:solidFill>
                  <a:srgbClr val="000000"/>
                </a:solidFill>
              </a:rPr>
              <a:t>Ви</a:t>
            </a:r>
            <a:r>
              <a:rPr lang="en-US" sz="1050">
                <a:solidFill>
                  <a:srgbClr val="000000"/>
                </a:solidFill>
              </a:rPr>
              <a:t>).</a:t>
            </a:r>
            <a:br>
              <a:rPr lang="en-US" sz="1050"/>
            </a:br>
            <a:r>
              <a:rPr lang="en-US" sz="1050">
                <a:solidFill>
                  <a:srgbClr val="000000"/>
                </a:solidFill>
              </a:rPr>
              <a:t> (</a:t>
            </a:r>
            <a:r>
              <a:rPr lang="en-US" sz="1050" b="1" err="1">
                <a:solidFill>
                  <a:srgbClr val="000000"/>
                </a:solidFill>
              </a:rPr>
              <a:t>Представяне</a:t>
            </a:r>
            <a:r>
              <a:rPr lang="en-US" sz="1050" b="1">
                <a:solidFill>
                  <a:srgbClr val="000000"/>
                </a:solidFill>
              </a:rPr>
              <a:t> </a:t>
            </a:r>
            <a:r>
              <a:rPr lang="en-US" sz="1050" b="1" err="1">
                <a:solidFill>
                  <a:srgbClr val="000000"/>
                </a:solidFill>
              </a:rPr>
              <a:t>на</a:t>
            </a:r>
            <a:r>
              <a:rPr lang="en-US" sz="1050" b="1">
                <a:solidFill>
                  <a:srgbClr val="000000"/>
                </a:solidFill>
              </a:rPr>
              <a:t> </a:t>
            </a:r>
            <a:r>
              <a:rPr lang="en-US" sz="1050" b="1" err="1">
                <a:solidFill>
                  <a:srgbClr val="000000"/>
                </a:solidFill>
              </a:rPr>
              <a:t>предложнието</a:t>
            </a:r>
            <a:r>
              <a:rPr lang="en-US" sz="1050">
                <a:solidFill>
                  <a:srgbClr val="000000"/>
                </a:solidFill>
              </a:rPr>
              <a:t>)</a:t>
            </a:r>
            <a:br>
              <a:rPr lang="en-US" sz="1050"/>
            </a:br>
            <a:r>
              <a:rPr lang="en-US" sz="1050">
                <a:solidFill>
                  <a:srgbClr val="000000"/>
                </a:solidFill>
              </a:rPr>
              <a:t> -</a:t>
            </a:r>
            <a:r>
              <a:rPr lang="en-US" sz="1050" err="1">
                <a:solidFill>
                  <a:srgbClr val="000000"/>
                </a:solidFill>
              </a:rPr>
              <a:t>Как</a:t>
            </a:r>
            <a:r>
              <a:rPr lang="en-US" sz="1050">
                <a:solidFill>
                  <a:srgbClr val="000000"/>
                </a:solidFill>
              </a:rPr>
              <a:t> </a:t>
            </a:r>
            <a:r>
              <a:rPr lang="en-US" sz="1050" err="1">
                <a:solidFill>
                  <a:srgbClr val="000000"/>
                </a:solidFill>
              </a:rPr>
              <a:t>Ви</a:t>
            </a:r>
            <a:r>
              <a:rPr lang="en-US" sz="1050">
                <a:solidFill>
                  <a:srgbClr val="000000"/>
                </a:solidFill>
              </a:rPr>
              <a:t> </a:t>
            </a:r>
            <a:r>
              <a:rPr lang="en-US" sz="1050" err="1">
                <a:solidFill>
                  <a:srgbClr val="000000"/>
                </a:solidFill>
              </a:rPr>
              <a:t>се</a:t>
            </a:r>
            <a:r>
              <a:rPr lang="en-US" sz="1050">
                <a:solidFill>
                  <a:srgbClr val="000000"/>
                </a:solidFill>
              </a:rPr>
              <a:t> </a:t>
            </a:r>
            <a:r>
              <a:rPr lang="en-US" sz="1050" err="1">
                <a:solidFill>
                  <a:srgbClr val="000000"/>
                </a:solidFill>
              </a:rPr>
              <a:t>струва</a:t>
            </a:r>
            <a:r>
              <a:rPr lang="en-US" sz="1050">
                <a:solidFill>
                  <a:srgbClr val="000000"/>
                </a:solidFill>
              </a:rPr>
              <a:t> </a:t>
            </a:r>
            <a:r>
              <a:rPr lang="en-US" sz="1050" err="1">
                <a:solidFill>
                  <a:srgbClr val="000000"/>
                </a:solidFill>
              </a:rPr>
              <a:t>моето</a:t>
            </a:r>
            <a:r>
              <a:rPr lang="en-US" sz="1050">
                <a:solidFill>
                  <a:srgbClr val="000000"/>
                </a:solidFill>
              </a:rPr>
              <a:t> </a:t>
            </a:r>
            <a:r>
              <a:rPr lang="en-US" sz="1050" err="1">
                <a:solidFill>
                  <a:srgbClr val="000000"/>
                </a:solidFill>
              </a:rPr>
              <a:t>предложение</a:t>
            </a:r>
            <a:r>
              <a:rPr lang="en-US" sz="1050">
                <a:solidFill>
                  <a:srgbClr val="000000"/>
                </a:solidFill>
              </a:rPr>
              <a:t>?</a:t>
            </a:r>
            <a:endParaRPr lang="en-US" sz="1050"/>
          </a:p>
        </p:txBody>
      </p:sp>
      <p:sp>
        <p:nvSpPr>
          <p:cNvPr id="40" name="Правоъгълник: със заоблени ъгли 39">
            <a:extLst>
              <a:ext uri="{FF2B5EF4-FFF2-40B4-BE49-F238E27FC236}">
                <a16:creationId xmlns:a16="http://schemas.microsoft.com/office/drawing/2014/main" id="{6BD608B9-17F2-CA3D-2A6B-D036190DEF43}"/>
              </a:ext>
            </a:extLst>
          </p:cNvPr>
          <p:cNvSpPr/>
          <p:nvPr/>
        </p:nvSpPr>
        <p:spPr>
          <a:xfrm>
            <a:off x="5398892" y="3216103"/>
            <a:ext cx="3312282" cy="377658"/>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bg-BG" sz="1300" b="1">
                <a:solidFill>
                  <a:srgbClr val="1F3864"/>
                </a:solidFill>
              </a:rPr>
              <a:t>Възражения и отговор</a:t>
            </a:r>
          </a:p>
        </p:txBody>
      </p:sp>
      <p:sp>
        <p:nvSpPr>
          <p:cNvPr id="43" name="Rectangle: Rounded Corners 11">
            <a:extLst>
              <a:ext uri="{FF2B5EF4-FFF2-40B4-BE49-F238E27FC236}">
                <a16:creationId xmlns:a16="http://schemas.microsoft.com/office/drawing/2014/main" id="{487E7208-7B9D-EC1C-029A-A5D800C622A5}"/>
              </a:ext>
            </a:extLst>
          </p:cNvPr>
          <p:cNvSpPr/>
          <p:nvPr/>
        </p:nvSpPr>
        <p:spPr>
          <a:xfrm>
            <a:off x="5228800" y="1046439"/>
            <a:ext cx="3740184" cy="355916"/>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bg-BG" sz="1600"/>
              <a:t>Промо кампания</a:t>
            </a:r>
          </a:p>
        </p:txBody>
      </p:sp>
      <p:sp>
        <p:nvSpPr>
          <p:cNvPr id="47" name="Правоъгълник: със заоблени ъгли 16">
            <a:extLst>
              <a:ext uri="{FF2B5EF4-FFF2-40B4-BE49-F238E27FC236}">
                <a16:creationId xmlns:a16="http://schemas.microsoft.com/office/drawing/2014/main" id="{94DA0653-2240-5F1C-0571-56B3BA372645}"/>
              </a:ext>
            </a:extLst>
          </p:cNvPr>
          <p:cNvSpPr/>
          <p:nvPr/>
        </p:nvSpPr>
        <p:spPr>
          <a:xfrm>
            <a:off x="5962392" y="4972772"/>
            <a:ext cx="2344027" cy="434737"/>
          </a:xfrm>
          <a:prstGeom prst="roundRect">
            <a:avLst>
              <a:gd name="adj" fmla="val 50000"/>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200"/>
              <a:t>Тренирай</a:t>
            </a:r>
          </a:p>
        </p:txBody>
      </p:sp>
      <p:sp>
        <p:nvSpPr>
          <p:cNvPr id="48" name="Знак за умножение 47">
            <a:extLst>
              <a:ext uri="{FF2B5EF4-FFF2-40B4-BE49-F238E27FC236}">
                <a16:creationId xmlns:a16="http://schemas.microsoft.com/office/drawing/2014/main" id="{30E81E91-3584-0CB5-A830-948D05167EDA}"/>
              </a:ext>
            </a:extLst>
          </p:cNvPr>
          <p:cNvSpPr/>
          <p:nvPr/>
        </p:nvSpPr>
        <p:spPr>
          <a:xfrm>
            <a:off x="8533086" y="1017254"/>
            <a:ext cx="434474" cy="375237"/>
          </a:xfrm>
          <a:prstGeom prst="mathMultiply">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59" name="Правоъгълник: със заоблени ъгли 58">
            <a:extLst>
              <a:ext uri="{FF2B5EF4-FFF2-40B4-BE49-F238E27FC236}">
                <a16:creationId xmlns:a16="http://schemas.microsoft.com/office/drawing/2014/main" id="{67516CFE-BA4C-4C7D-E2B1-A3F59C84AC7D}"/>
              </a:ext>
            </a:extLst>
          </p:cNvPr>
          <p:cNvSpPr/>
          <p:nvPr/>
        </p:nvSpPr>
        <p:spPr>
          <a:xfrm>
            <a:off x="719415" y="256478"/>
            <a:ext cx="3671794" cy="6172583"/>
          </a:xfrm>
          <a:prstGeom prst="roundRect">
            <a:avLst/>
          </a:prstGeom>
          <a:solidFill>
            <a:schemeClr val="bg1">
              <a:lumMod val="95000"/>
            </a:schemeClr>
          </a:solidFill>
          <a:ln>
            <a:noFill/>
          </a:ln>
          <a:effectLst>
            <a:outerShdw blurRad="63500" dist="38100" dir="270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pic>
        <p:nvPicPr>
          <p:cNvPr id="60" name="Picture 10" descr="Картина, която съдържа текст, екранна снимка&#10;&#10;Генерирано от ИИ съдържание може да е неправилно.">
            <a:extLst>
              <a:ext uri="{FF2B5EF4-FFF2-40B4-BE49-F238E27FC236}">
                <a16:creationId xmlns:a16="http://schemas.microsoft.com/office/drawing/2014/main" id="{876506DC-C8CF-2608-BB51-999A593440AC}"/>
              </a:ext>
            </a:extLst>
          </p:cNvPr>
          <p:cNvPicPr>
            <a:picLocks noChangeAspect="1"/>
          </p:cNvPicPr>
          <p:nvPr/>
        </p:nvPicPr>
        <p:blipFill>
          <a:blip r:embed="rId2"/>
          <a:srcRect b="88415"/>
          <a:stretch>
            <a:fillRect/>
          </a:stretch>
        </p:blipFill>
        <p:spPr>
          <a:xfrm>
            <a:off x="688049" y="260331"/>
            <a:ext cx="3740239" cy="77148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50" name="Rectangle: Rounded Corners 9">
            <a:extLst>
              <a:ext uri="{FF2B5EF4-FFF2-40B4-BE49-F238E27FC236}">
                <a16:creationId xmlns:a16="http://schemas.microsoft.com/office/drawing/2014/main" id="{C930E92D-2AE1-228A-8EA4-7AF467CFDE95}"/>
              </a:ext>
            </a:extLst>
          </p:cNvPr>
          <p:cNvSpPr/>
          <p:nvPr/>
        </p:nvSpPr>
        <p:spPr>
          <a:xfrm>
            <a:off x="1069934" y="1978727"/>
            <a:ext cx="2932281" cy="677241"/>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bg-BG" sz="1600"/>
              <a:t>Предварително одобрен клиент</a:t>
            </a:r>
            <a:endParaRPr lang="en-GB" sz="1600"/>
          </a:p>
        </p:txBody>
      </p:sp>
      <p:sp>
        <p:nvSpPr>
          <p:cNvPr id="52" name="Rectangle: Rounded Corners 11">
            <a:extLst>
              <a:ext uri="{FF2B5EF4-FFF2-40B4-BE49-F238E27FC236}">
                <a16:creationId xmlns:a16="http://schemas.microsoft.com/office/drawing/2014/main" id="{EE4B8D79-22F9-6BFB-8E0D-118DC93D607E}"/>
              </a:ext>
            </a:extLst>
          </p:cNvPr>
          <p:cNvSpPr/>
          <p:nvPr/>
        </p:nvSpPr>
        <p:spPr>
          <a:xfrm>
            <a:off x="1069933" y="1174969"/>
            <a:ext cx="2932281" cy="677241"/>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bg-BG" sz="1600"/>
              <a:t>Лоялен клиент</a:t>
            </a:r>
            <a:endParaRPr lang="en-GB" sz="1600"/>
          </a:p>
        </p:txBody>
      </p:sp>
      <p:sp>
        <p:nvSpPr>
          <p:cNvPr id="54" name="Rectangle: Rounded Corners 13">
            <a:extLst>
              <a:ext uri="{FF2B5EF4-FFF2-40B4-BE49-F238E27FC236}">
                <a16:creationId xmlns:a16="http://schemas.microsoft.com/office/drawing/2014/main" id="{D1993D8C-713E-3E5D-8536-896E362D51A2}"/>
              </a:ext>
            </a:extLst>
          </p:cNvPr>
          <p:cNvSpPr/>
          <p:nvPr/>
        </p:nvSpPr>
        <p:spPr>
          <a:xfrm>
            <a:off x="1069932" y="2838941"/>
            <a:ext cx="2932281" cy="677241"/>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bg-BG" sz="1600"/>
              <a:t>Промо кампания</a:t>
            </a:r>
            <a:endParaRPr lang="en-GB" sz="1600"/>
          </a:p>
        </p:txBody>
      </p:sp>
      <p:sp>
        <p:nvSpPr>
          <p:cNvPr id="56" name="Rectangle 9">
            <a:extLst>
              <a:ext uri="{FF2B5EF4-FFF2-40B4-BE49-F238E27FC236}">
                <a16:creationId xmlns:a16="http://schemas.microsoft.com/office/drawing/2014/main" id="{CD278D3D-A513-CFA7-17C3-50D370943F9D}"/>
              </a:ext>
            </a:extLst>
          </p:cNvPr>
          <p:cNvSpPr/>
          <p:nvPr/>
        </p:nvSpPr>
        <p:spPr>
          <a:xfrm>
            <a:off x="1069930" y="4647304"/>
            <a:ext cx="2932281" cy="677241"/>
          </a:xfrm>
          <a:prstGeom prst="roundRect">
            <a:avLst/>
          </a:prstGeom>
          <a:solidFill>
            <a:schemeClr val="bg2">
              <a:lumMod val="75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По препоръка</a:t>
            </a:r>
            <a:endParaRPr lang="en-GB" sz="1600"/>
          </a:p>
        </p:txBody>
      </p:sp>
      <p:sp>
        <p:nvSpPr>
          <p:cNvPr id="58" name="Rectangle 11">
            <a:extLst>
              <a:ext uri="{FF2B5EF4-FFF2-40B4-BE49-F238E27FC236}">
                <a16:creationId xmlns:a16="http://schemas.microsoft.com/office/drawing/2014/main" id="{44119998-7168-A4DF-314B-0690E05A16E6}"/>
              </a:ext>
            </a:extLst>
          </p:cNvPr>
          <p:cNvSpPr/>
          <p:nvPr/>
        </p:nvSpPr>
        <p:spPr>
          <a:xfrm>
            <a:off x="1069931" y="3734537"/>
            <a:ext cx="2932281" cy="677241"/>
          </a:xfrm>
          <a:prstGeom prst="roundRect">
            <a:avLst/>
          </a:prstGeom>
          <a:solidFill>
            <a:schemeClr val="bg2">
              <a:lumMod val="75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bg-BG" sz="1600"/>
              <a:t>Продукт „Пенсионер“</a:t>
            </a:r>
            <a:endParaRPr lang="en-GB" sz="1600"/>
          </a:p>
        </p:txBody>
      </p:sp>
      <p:sp>
        <p:nvSpPr>
          <p:cNvPr id="62" name="Стрелка надясно 61">
            <a:extLst>
              <a:ext uri="{FF2B5EF4-FFF2-40B4-BE49-F238E27FC236}">
                <a16:creationId xmlns:a16="http://schemas.microsoft.com/office/drawing/2014/main" id="{A3558241-9AB1-3AD1-13EE-691FF6EFBB87}"/>
              </a:ext>
            </a:extLst>
          </p:cNvPr>
          <p:cNvSpPr/>
          <p:nvPr/>
        </p:nvSpPr>
        <p:spPr>
          <a:xfrm>
            <a:off x="4693637" y="2830445"/>
            <a:ext cx="427026" cy="34392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4" name="Rectangle: Rounded Corners 3">
            <a:extLst>
              <a:ext uri="{FF2B5EF4-FFF2-40B4-BE49-F238E27FC236}">
                <a16:creationId xmlns:a16="http://schemas.microsoft.com/office/drawing/2014/main" id="{012D547F-8117-3DC7-0B5B-448C57A47399}"/>
              </a:ext>
            </a:extLst>
          </p:cNvPr>
          <p:cNvSpPr/>
          <p:nvPr/>
        </p:nvSpPr>
        <p:spPr>
          <a:xfrm>
            <a:off x="5495291" y="3678971"/>
            <a:ext cx="3256472" cy="502783"/>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400">
                <a:ea typeface="+mn-lt"/>
                <a:cs typeface="+mn-lt"/>
              </a:rPr>
              <a:t>Вече имам кредит другаде</a:t>
            </a:r>
            <a:endParaRPr lang="en-US" sz="1400"/>
          </a:p>
        </p:txBody>
      </p:sp>
      <p:sp>
        <p:nvSpPr>
          <p:cNvPr id="41" name="Знак плюс 40">
            <a:extLst>
              <a:ext uri="{FF2B5EF4-FFF2-40B4-BE49-F238E27FC236}">
                <a16:creationId xmlns:a16="http://schemas.microsoft.com/office/drawing/2014/main" id="{ABBD45EF-070B-4712-CBD2-E6FC5F5AC72D}"/>
              </a:ext>
            </a:extLst>
          </p:cNvPr>
          <p:cNvSpPr/>
          <p:nvPr/>
        </p:nvSpPr>
        <p:spPr>
          <a:xfrm>
            <a:off x="8378748" y="3743928"/>
            <a:ext cx="317560" cy="337408"/>
          </a:xfrm>
          <a:prstGeom prst="mathPlu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Tree>
    <p:extLst>
      <p:ext uri="{BB962C8B-B14F-4D97-AF65-F5344CB8AC3E}">
        <p14:creationId xmlns:p14="http://schemas.microsoft.com/office/powerpoint/2010/main" val="34752630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2CB8D7-F3BA-5444-34C0-56C11484F7EF}"/>
            </a:ext>
          </a:extLst>
        </p:cNvPr>
        <p:cNvGrpSpPr/>
        <p:nvPr/>
      </p:nvGrpSpPr>
      <p:grpSpPr>
        <a:xfrm>
          <a:off x="0" y="0"/>
          <a:ext cx="0" cy="0"/>
          <a:chOff x="0" y="0"/>
          <a:chExt cx="0" cy="0"/>
        </a:xfrm>
      </p:grpSpPr>
      <p:sp>
        <p:nvSpPr>
          <p:cNvPr id="27" name="Rectangle 3">
            <a:extLst>
              <a:ext uri="{FF2B5EF4-FFF2-40B4-BE49-F238E27FC236}">
                <a16:creationId xmlns:a16="http://schemas.microsoft.com/office/drawing/2014/main" id="{B76BACC2-9FC6-6B3C-5FDC-209D767D2B93}"/>
              </a:ext>
            </a:extLst>
          </p:cNvPr>
          <p:cNvSpPr/>
          <p:nvPr/>
        </p:nvSpPr>
        <p:spPr>
          <a:xfrm>
            <a:off x="1443475" y="4245"/>
            <a:ext cx="5338363" cy="677242"/>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28" name="Rectangle 4">
            <a:extLst>
              <a:ext uri="{FF2B5EF4-FFF2-40B4-BE49-F238E27FC236}">
                <a16:creationId xmlns:a16="http://schemas.microsoft.com/office/drawing/2014/main" id="{9C8907DA-C812-3688-9CBB-420397289505}"/>
              </a:ext>
            </a:extLst>
          </p:cNvPr>
          <p:cNvSpPr/>
          <p:nvPr/>
        </p:nvSpPr>
        <p:spPr>
          <a:xfrm>
            <a:off x="6788435" y="4245"/>
            <a:ext cx="5417300" cy="677242"/>
          </a:xfrm>
          <a:prstGeom prst="rect">
            <a:avLst/>
          </a:prstGeom>
          <a:solidFill>
            <a:schemeClr val="bg2">
              <a:lumMod val="75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29" name="Rectangle 28">
            <a:extLst>
              <a:ext uri="{FF2B5EF4-FFF2-40B4-BE49-F238E27FC236}">
                <a16:creationId xmlns:a16="http://schemas.microsoft.com/office/drawing/2014/main" id="{2916E808-2A30-68F5-F5E5-75213238369E}"/>
              </a:ext>
            </a:extLst>
          </p:cNvPr>
          <p:cNvSpPr/>
          <p:nvPr/>
        </p:nvSpPr>
        <p:spPr>
          <a:xfrm>
            <a:off x="-1671" y="1599"/>
            <a:ext cx="1451167" cy="6866954"/>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200">
              <a:latin typeface="Aptos"/>
              <a:ea typeface="Calibri"/>
              <a:cs typeface="Calibri"/>
            </a:endParaRPr>
          </a:p>
        </p:txBody>
      </p:sp>
      <p:sp>
        <p:nvSpPr>
          <p:cNvPr id="30" name="Rectangle 29">
            <a:extLst>
              <a:ext uri="{FF2B5EF4-FFF2-40B4-BE49-F238E27FC236}">
                <a16:creationId xmlns:a16="http://schemas.microsoft.com/office/drawing/2014/main" id="{DBB1717C-5604-E459-70B9-DE63C08C0ED5}"/>
              </a:ext>
            </a:extLst>
          </p:cNvPr>
          <p:cNvSpPr/>
          <p:nvPr/>
        </p:nvSpPr>
        <p:spPr>
          <a:xfrm>
            <a:off x="-1671" y="2528038"/>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Типове клиенти</a:t>
            </a:r>
            <a:endParaRPr lang="en-GB" sz="1400">
              <a:latin typeface="Aptos"/>
              <a:ea typeface="Calibri"/>
              <a:cs typeface="Calibri"/>
            </a:endParaRPr>
          </a:p>
        </p:txBody>
      </p:sp>
      <p:sp>
        <p:nvSpPr>
          <p:cNvPr id="31" name="Rectangle 30">
            <a:extLst>
              <a:ext uri="{FF2B5EF4-FFF2-40B4-BE49-F238E27FC236}">
                <a16:creationId xmlns:a16="http://schemas.microsoft.com/office/drawing/2014/main" id="{2BC2390D-BFED-0DE8-6927-A30767BF4D2E}"/>
              </a:ext>
            </a:extLst>
          </p:cNvPr>
          <p:cNvSpPr/>
          <p:nvPr/>
        </p:nvSpPr>
        <p:spPr>
          <a:xfrm>
            <a:off x="8626" y="1913210"/>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b="1">
                <a:solidFill>
                  <a:srgbClr val="2F5597"/>
                </a:solidFill>
                <a:latin typeface="Aptos"/>
                <a:ea typeface="Calibri"/>
                <a:cs typeface="Calibri"/>
              </a:rPr>
              <a:t>Сценарии</a:t>
            </a:r>
            <a:endParaRPr lang="en-GB" sz="1400" b="1">
              <a:solidFill>
                <a:srgbClr val="2F5597"/>
              </a:solidFill>
              <a:latin typeface="Aptos"/>
              <a:ea typeface="Calibri"/>
              <a:cs typeface="Calibri"/>
            </a:endParaRPr>
          </a:p>
        </p:txBody>
      </p:sp>
      <p:sp>
        <p:nvSpPr>
          <p:cNvPr id="32" name="Rectangle 31">
            <a:extLst>
              <a:ext uri="{FF2B5EF4-FFF2-40B4-BE49-F238E27FC236}">
                <a16:creationId xmlns:a16="http://schemas.microsoft.com/office/drawing/2014/main" id="{548ACC2E-55D9-6158-2563-565E57E8B7CD}"/>
              </a:ext>
            </a:extLst>
          </p:cNvPr>
          <p:cNvSpPr/>
          <p:nvPr/>
        </p:nvSpPr>
        <p:spPr>
          <a:xfrm>
            <a:off x="-1671" y="1298382"/>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a:solidFill>
                  <a:schemeClr val="bg1"/>
                </a:solidFill>
                <a:latin typeface="Aptos"/>
                <a:ea typeface="Calibri"/>
                <a:cs typeface="Calibri"/>
              </a:rPr>
              <a:t>Стъпки в обаждането</a:t>
            </a:r>
            <a:endParaRPr lang="bg-BG" sz="1400">
              <a:solidFill>
                <a:srgbClr val="000000"/>
              </a:solidFill>
              <a:latin typeface="Aptos"/>
              <a:ea typeface="Calibri"/>
              <a:cs typeface="Calibri"/>
            </a:endParaRPr>
          </a:p>
        </p:txBody>
      </p:sp>
      <p:sp>
        <p:nvSpPr>
          <p:cNvPr id="33" name="Rectangle 28">
            <a:extLst>
              <a:ext uri="{FF2B5EF4-FFF2-40B4-BE49-F238E27FC236}">
                <a16:creationId xmlns:a16="http://schemas.microsoft.com/office/drawing/2014/main" id="{264B7E18-56F5-F65F-CA3A-6B189B072C24}"/>
              </a:ext>
            </a:extLst>
          </p:cNvPr>
          <p:cNvSpPr/>
          <p:nvPr/>
        </p:nvSpPr>
        <p:spPr>
          <a:xfrm>
            <a:off x="6154" y="690328"/>
            <a:ext cx="1435083"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a:solidFill>
                  <a:schemeClr val="bg1"/>
                </a:solidFill>
                <a:latin typeface="Aptos"/>
                <a:ea typeface="Calibri"/>
                <a:cs typeface="Calibri"/>
              </a:rPr>
              <a:t>Подготовка</a:t>
            </a:r>
            <a:endParaRPr lang="en-GB" sz="1400">
              <a:solidFill>
                <a:schemeClr val="bg1"/>
              </a:solidFill>
              <a:latin typeface="Aptos"/>
              <a:ea typeface="Calibri"/>
              <a:cs typeface="Calibri"/>
            </a:endParaRPr>
          </a:p>
        </p:txBody>
      </p:sp>
      <p:pic>
        <p:nvPicPr>
          <p:cNvPr id="35" name="Picture 34">
            <a:extLst>
              <a:ext uri="{FF2B5EF4-FFF2-40B4-BE49-F238E27FC236}">
                <a16:creationId xmlns:a16="http://schemas.microsoft.com/office/drawing/2014/main" id="{230E27F6-F02D-AFA8-7678-9C676068BA6B}"/>
              </a:ext>
            </a:extLst>
          </p:cNvPr>
          <p:cNvPicPr>
            <a:picLocks noChangeAspect="1"/>
          </p:cNvPicPr>
          <p:nvPr/>
        </p:nvPicPr>
        <p:blipFill>
          <a:blip r:embed="rId3"/>
          <a:stretch>
            <a:fillRect/>
          </a:stretch>
        </p:blipFill>
        <p:spPr>
          <a:xfrm>
            <a:off x="11031388" y="5709427"/>
            <a:ext cx="982751" cy="995681"/>
          </a:xfrm>
          <a:prstGeom prst="rect">
            <a:avLst/>
          </a:prstGeom>
        </p:spPr>
      </p:pic>
      <p:sp>
        <p:nvSpPr>
          <p:cNvPr id="2" name="Rectangle: Rounded Corners 1">
            <a:extLst>
              <a:ext uri="{FF2B5EF4-FFF2-40B4-BE49-F238E27FC236}">
                <a16:creationId xmlns:a16="http://schemas.microsoft.com/office/drawing/2014/main" id="{8EBAE91A-0CA8-300A-43A5-451F10D9AB4D}"/>
              </a:ext>
            </a:extLst>
          </p:cNvPr>
          <p:cNvSpPr/>
          <p:nvPr/>
        </p:nvSpPr>
        <p:spPr>
          <a:xfrm>
            <a:off x="5412796" y="3766179"/>
            <a:ext cx="1841407" cy="677241"/>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ru-RU" sz="1200" dirty="0"/>
              <a:t>Искам да се </a:t>
            </a:r>
            <a:r>
              <a:rPr lang="ru-RU" sz="1200" dirty="0" err="1"/>
              <a:t>посъветвам</a:t>
            </a:r>
            <a:r>
              <a:rPr lang="ru-RU" sz="1200" dirty="0"/>
              <a:t> </a:t>
            </a:r>
            <a:r>
              <a:rPr lang="ru-RU" sz="1200" dirty="0" err="1"/>
              <a:t>със</a:t>
            </a:r>
            <a:r>
              <a:rPr lang="ru-RU" sz="1200" dirty="0"/>
              <a:t> </a:t>
            </a:r>
            <a:r>
              <a:rPr lang="ru-RU" sz="1200" dirty="0" err="1"/>
              <a:t>семейстовто</a:t>
            </a:r>
            <a:r>
              <a:rPr lang="ru-RU" sz="1200" dirty="0"/>
              <a:t> си</a:t>
            </a:r>
            <a:endParaRPr lang="en-GB" sz="1200" dirty="0"/>
          </a:p>
        </p:txBody>
      </p:sp>
      <p:sp>
        <p:nvSpPr>
          <p:cNvPr id="8" name="Rectangle: Rounded Corners 9">
            <a:extLst>
              <a:ext uri="{FF2B5EF4-FFF2-40B4-BE49-F238E27FC236}">
                <a16:creationId xmlns:a16="http://schemas.microsoft.com/office/drawing/2014/main" id="{3D693F60-2DE9-5618-7756-32D1876C0333}"/>
              </a:ext>
            </a:extLst>
          </p:cNvPr>
          <p:cNvSpPr/>
          <p:nvPr/>
        </p:nvSpPr>
        <p:spPr>
          <a:xfrm>
            <a:off x="1896200" y="2012494"/>
            <a:ext cx="2932281" cy="677241"/>
          </a:xfrm>
          <a:prstGeom prst="roundRect">
            <a:avLst/>
          </a:prstGeom>
          <a:solidFill>
            <a:schemeClr val="bg2">
              <a:lumMod val="75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bg-BG" sz="1600"/>
              <a:t>Предварително одобрен клиент</a:t>
            </a:r>
            <a:endParaRPr lang="en-GB" sz="1600"/>
          </a:p>
        </p:txBody>
      </p:sp>
      <p:sp>
        <p:nvSpPr>
          <p:cNvPr id="10" name="Rectangle: Rounded Corners 11">
            <a:extLst>
              <a:ext uri="{FF2B5EF4-FFF2-40B4-BE49-F238E27FC236}">
                <a16:creationId xmlns:a16="http://schemas.microsoft.com/office/drawing/2014/main" id="{5410807E-E763-6496-F65B-FAF517AB4856}"/>
              </a:ext>
            </a:extLst>
          </p:cNvPr>
          <p:cNvSpPr/>
          <p:nvPr/>
        </p:nvSpPr>
        <p:spPr>
          <a:xfrm>
            <a:off x="1896199" y="1147427"/>
            <a:ext cx="2932281" cy="677241"/>
          </a:xfrm>
          <a:prstGeom prst="roundRect">
            <a:avLst/>
          </a:prstGeom>
          <a:solidFill>
            <a:schemeClr val="bg2">
              <a:lumMod val="75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bg-BG" sz="1600"/>
              <a:t>Лоялен клиент</a:t>
            </a:r>
            <a:endParaRPr lang="en-GB" sz="1600"/>
          </a:p>
        </p:txBody>
      </p:sp>
      <p:sp>
        <p:nvSpPr>
          <p:cNvPr id="12" name="Rectangle: Rounded Corners 13">
            <a:extLst>
              <a:ext uri="{FF2B5EF4-FFF2-40B4-BE49-F238E27FC236}">
                <a16:creationId xmlns:a16="http://schemas.microsoft.com/office/drawing/2014/main" id="{FEE6B801-A225-CC1D-BF01-B500FDE33AFE}"/>
              </a:ext>
            </a:extLst>
          </p:cNvPr>
          <p:cNvSpPr/>
          <p:nvPr/>
        </p:nvSpPr>
        <p:spPr>
          <a:xfrm>
            <a:off x="1896198" y="2951536"/>
            <a:ext cx="2932281" cy="677241"/>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bg-BG" sz="1600"/>
              <a:t>Промо кампания</a:t>
            </a:r>
            <a:endParaRPr lang="en-GB" sz="1600"/>
          </a:p>
        </p:txBody>
      </p:sp>
      <p:sp>
        <p:nvSpPr>
          <p:cNvPr id="14" name="Rectangle 9">
            <a:extLst>
              <a:ext uri="{FF2B5EF4-FFF2-40B4-BE49-F238E27FC236}">
                <a16:creationId xmlns:a16="http://schemas.microsoft.com/office/drawing/2014/main" id="{842A69A4-19C4-4F0D-EE05-66EA3FBCE76D}"/>
              </a:ext>
            </a:extLst>
          </p:cNvPr>
          <p:cNvSpPr/>
          <p:nvPr/>
        </p:nvSpPr>
        <p:spPr>
          <a:xfrm>
            <a:off x="1896196" y="4777416"/>
            <a:ext cx="2932281" cy="677241"/>
          </a:xfrm>
          <a:prstGeom prst="roundRect">
            <a:avLst/>
          </a:prstGeom>
          <a:solidFill>
            <a:schemeClr val="bg2">
              <a:lumMod val="75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bg-BG" sz="1600"/>
              <a:t>По препоръка</a:t>
            </a:r>
            <a:endParaRPr lang="en-GB" sz="1600"/>
          </a:p>
        </p:txBody>
      </p:sp>
      <p:sp>
        <p:nvSpPr>
          <p:cNvPr id="16" name="Rectangle 11">
            <a:extLst>
              <a:ext uri="{FF2B5EF4-FFF2-40B4-BE49-F238E27FC236}">
                <a16:creationId xmlns:a16="http://schemas.microsoft.com/office/drawing/2014/main" id="{2732CEE4-51E7-CBD9-BBCA-A2362AA8A43E}"/>
              </a:ext>
            </a:extLst>
          </p:cNvPr>
          <p:cNvSpPr/>
          <p:nvPr/>
        </p:nvSpPr>
        <p:spPr>
          <a:xfrm>
            <a:off x="1896197" y="3838374"/>
            <a:ext cx="2932281" cy="677241"/>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bg-BG" sz="1600"/>
              <a:t>Продукт „Пенсионер“</a:t>
            </a:r>
            <a:endParaRPr lang="en-GB" sz="1600"/>
          </a:p>
        </p:txBody>
      </p:sp>
      <p:sp>
        <p:nvSpPr>
          <p:cNvPr id="36" name="Правоъгълник: със заоблени ъгли 37">
            <a:extLst>
              <a:ext uri="{FF2B5EF4-FFF2-40B4-BE49-F238E27FC236}">
                <a16:creationId xmlns:a16="http://schemas.microsoft.com/office/drawing/2014/main" id="{B35D3C06-3B6E-9318-3626-B350EA104F96}"/>
              </a:ext>
            </a:extLst>
          </p:cNvPr>
          <p:cNvSpPr/>
          <p:nvPr/>
        </p:nvSpPr>
        <p:spPr>
          <a:xfrm>
            <a:off x="5222212" y="955850"/>
            <a:ext cx="4325063" cy="65453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bg-BG" sz="1600" b="1">
                <a:solidFill>
                  <a:srgbClr val="1F3864"/>
                </a:solidFill>
              </a:rPr>
              <a:t>1.Отваряне и Предложение</a:t>
            </a:r>
          </a:p>
        </p:txBody>
      </p:sp>
      <p:sp>
        <p:nvSpPr>
          <p:cNvPr id="38" name="Правоъгълник: със заоблени ъгли 41">
            <a:extLst>
              <a:ext uri="{FF2B5EF4-FFF2-40B4-BE49-F238E27FC236}">
                <a16:creationId xmlns:a16="http://schemas.microsoft.com/office/drawing/2014/main" id="{DCBD0284-69D1-F471-9A2D-299F26F05776}"/>
              </a:ext>
            </a:extLst>
          </p:cNvPr>
          <p:cNvSpPr/>
          <p:nvPr/>
        </p:nvSpPr>
        <p:spPr>
          <a:xfrm>
            <a:off x="5221816" y="3244408"/>
            <a:ext cx="4297519" cy="521771"/>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bg-BG" sz="1600" b="1">
                <a:solidFill>
                  <a:schemeClr val="accent1">
                    <a:lumMod val="49000"/>
                  </a:schemeClr>
                </a:solidFill>
              </a:rPr>
              <a:t>2. Възражение и отговор</a:t>
            </a:r>
          </a:p>
        </p:txBody>
      </p:sp>
      <p:sp>
        <p:nvSpPr>
          <p:cNvPr id="40" name="TextBox 39">
            <a:extLst>
              <a:ext uri="{FF2B5EF4-FFF2-40B4-BE49-F238E27FC236}">
                <a16:creationId xmlns:a16="http://schemas.microsoft.com/office/drawing/2014/main" id="{AA8337D0-9D3F-3563-C0FE-10EECFC71E2D}"/>
              </a:ext>
            </a:extLst>
          </p:cNvPr>
          <p:cNvSpPr txBox="1"/>
          <p:nvPr/>
        </p:nvSpPr>
        <p:spPr>
          <a:xfrm>
            <a:off x="5330820" y="1476400"/>
            <a:ext cx="6443040" cy="210826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ru-RU" sz="1300" dirty="0">
                <a:highlight>
                  <a:srgbClr val="FFFFFF"/>
                </a:highlight>
              </a:rPr>
              <a:t>-</a:t>
            </a:r>
            <a:r>
              <a:rPr lang="ru-RU" sz="1300" dirty="0" err="1">
                <a:highlight>
                  <a:srgbClr val="FFFFFF"/>
                </a:highlight>
              </a:rPr>
              <a:t>Добър</a:t>
            </a:r>
            <a:r>
              <a:rPr lang="ru-RU" sz="1300" dirty="0">
                <a:highlight>
                  <a:srgbClr val="FFFFFF"/>
                </a:highlight>
              </a:rPr>
              <a:t> ден, </a:t>
            </a:r>
            <a:r>
              <a:rPr lang="ru-RU" sz="1300" dirty="0" err="1">
                <a:highlight>
                  <a:srgbClr val="FFFFFF"/>
                </a:highlight>
              </a:rPr>
              <a:t>търся</a:t>
            </a:r>
            <a:r>
              <a:rPr lang="ru-RU" sz="1300" dirty="0">
                <a:highlight>
                  <a:srgbClr val="FFFFFF"/>
                </a:highlight>
              </a:rPr>
              <a:t> г-н/г-жа (две имена на клиента).</a:t>
            </a:r>
            <a:br>
              <a:rPr lang="ru-RU" sz="1300" dirty="0">
                <a:highlight>
                  <a:srgbClr val="FFFFFF"/>
                </a:highlight>
              </a:rPr>
            </a:br>
            <a:r>
              <a:rPr lang="ru-RU" sz="1300" dirty="0">
                <a:highlight>
                  <a:srgbClr val="FFFFFF"/>
                </a:highlight>
              </a:rPr>
              <a:t>-Да (на телефона, аз </a:t>
            </a:r>
            <a:r>
              <a:rPr lang="ru-RU" sz="1300" dirty="0" err="1">
                <a:highlight>
                  <a:srgbClr val="FFFFFF"/>
                </a:highlight>
              </a:rPr>
              <a:t>съм</a:t>
            </a:r>
            <a:r>
              <a:rPr lang="ru-RU" sz="1300" dirty="0">
                <a:highlight>
                  <a:srgbClr val="FFFFFF"/>
                </a:highlight>
              </a:rPr>
              <a:t>).</a:t>
            </a:r>
            <a:br>
              <a:rPr lang="ru-RU" sz="1300" dirty="0">
                <a:highlight>
                  <a:srgbClr val="FFFFFF"/>
                </a:highlight>
              </a:rPr>
            </a:br>
            <a:r>
              <a:rPr lang="ru-RU" sz="1300" dirty="0">
                <a:highlight>
                  <a:srgbClr val="FFFFFF"/>
                </a:highlight>
              </a:rPr>
              <a:t>-</a:t>
            </a:r>
            <a:r>
              <a:rPr lang="ru-RU" sz="1300" dirty="0" err="1">
                <a:highlight>
                  <a:srgbClr val="FFFFFF"/>
                </a:highlight>
              </a:rPr>
              <a:t>Здравейте</a:t>
            </a:r>
            <a:r>
              <a:rPr lang="ru-RU" sz="1300" dirty="0">
                <a:highlight>
                  <a:srgbClr val="FFFFFF"/>
                </a:highlight>
              </a:rPr>
              <a:t> г-н/г-</a:t>
            </a:r>
            <a:r>
              <a:rPr lang="ru-RU" sz="1300" dirty="0" err="1">
                <a:highlight>
                  <a:srgbClr val="FFFFFF"/>
                </a:highlight>
              </a:rPr>
              <a:t>жо</a:t>
            </a:r>
            <a:r>
              <a:rPr lang="ru-RU" sz="1300" dirty="0">
                <a:highlight>
                  <a:srgbClr val="FFFFFF"/>
                </a:highlight>
              </a:rPr>
              <a:t> (фамилия на клиента), </a:t>
            </a:r>
            <a:r>
              <a:rPr lang="ru-RU" sz="1300" dirty="0" err="1">
                <a:highlight>
                  <a:srgbClr val="FFFFFF"/>
                </a:highlight>
              </a:rPr>
              <a:t>обаждам</a:t>
            </a:r>
            <a:r>
              <a:rPr lang="ru-RU" sz="1300" dirty="0">
                <a:highlight>
                  <a:srgbClr val="FFFFFF"/>
                </a:highlight>
              </a:rPr>
              <a:t> се от Изи Кредит, </a:t>
            </a:r>
            <a:r>
              <a:rPr lang="ru-RU" sz="1300" dirty="0" err="1">
                <a:highlight>
                  <a:srgbClr val="FFFFFF"/>
                </a:highlight>
              </a:rPr>
              <a:t>във</a:t>
            </a:r>
            <a:r>
              <a:rPr lang="ru-RU" sz="1300" dirty="0">
                <a:highlight>
                  <a:srgbClr val="FFFFFF"/>
                </a:highlight>
              </a:rPr>
              <a:t> </a:t>
            </a:r>
            <a:r>
              <a:rPr lang="ru-RU" sz="1300" dirty="0" err="1">
                <a:highlight>
                  <a:srgbClr val="FFFFFF"/>
                </a:highlight>
              </a:rPr>
              <a:t>връзка</a:t>
            </a:r>
            <a:r>
              <a:rPr lang="ru-RU" sz="1300" dirty="0">
                <a:highlight>
                  <a:srgbClr val="FFFFFF"/>
                </a:highlight>
              </a:rPr>
              <a:t> </a:t>
            </a:r>
            <a:r>
              <a:rPr lang="ru-RU" sz="1300" dirty="0" err="1">
                <a:highlight>
                  <a:srgbClr val="FFFFFF"/>
                </a:highlight>
              </a:rPr>
              <a:t>със</a:t>
            </a:r>
            <a:r>
              <a:rPr lang="ru-RU" sz="1300" dirty="0">
                <a:highlight>
                  <a:srgbClr val="FFFFFF"/>
                </a:highlight>
              </a:rPr>
              <a:t> </a:t>
            </a:r>
            <a:r>
              <a:rPr lang="ru-RU" sz="1300" dirty="0" err="1">
                <a:highlight>
                  <a:srgbClr val="FFFFFF"/>
                </a:highlight>
              </a:rPr>
              <a:t>специално</a:t>
            </a:r>
            <a:r>
              <a:rPr lang="ru-RU" sz="1300" dirty="0">
                <a:highlight>
                  <a:srgbClr val="FFFFFF"/>
                </a:highlight>
              </a:rPr>
              <a:t> </a:t>
            </a:r>
            <a:r>
              <a:rPr lang="ru-RU" sz="1300" dirty="0" err="1">
                <a:highlight>
                  <a:srgbClr val="FFFFFF"/>
                </a:highlight>
              </a:rPr>
              <a:t>изготвено</a:t>
            </a:r>
            <a:r>
              <a:rPr lang="ru-RU" sz="1300" dirty="0">
                <a:highlight>
                  <a:srgbClr val="FFFFFF"/>
                </a:highlight>
              </a:rPr>
              <a:t> предложение за Вас. </a:t>
            </a:r>
            <a:r>
              <a:rPr lang="ru-RU" sz="1300" dirty="0" err="1">
                <a:highlight>
                  <a:srgbClr val="FFFFFF"/>
                </a:highlight>
              </a:rPr>
              <a:t>Предложението</a:t>
            </a:r>
            <a:r>
              <a:rPr lang="ru-RU" sz="1300" dirty="0">
                <a:highlight>
                  <a:srgbClr val="FFFFFF"/>
                </a:highlight>
              </a:rPr>
              <a:t> е валидно само за </a:t>
            </a:r>
            <a:r>
              <a:rPr lang="ru-RU" sz="1300" dirty="0" err="1">
                <a:highlight>
                  <a:srgbClr val="FFFFFF"/>
                </a:highlight>
              </a:rPr>
              <a:t>нашите</a:t>
            </a:r>
            <a:r>
              <a:rPr lang="ru-RU" sz="1300" dirty="0">
                <a:highlight>
                  <a:srgbClr val="FFFFFF"/>
                </a:highlight>
              </a:rPr>
              <a:t> </a:t>
            </a:r>
            <a:r>
              <a:rPr lang="ru-RU" sz="1300" dirty="0" err="1">
                <a:highlight>
                  <a:srgbClr val="FFFFFF"/>
                </a:highlight>
              </a:rPr>
              <a:t>пенсионери</a:t>
            </a:r>
            <a:r>
              <a:rPr lang="ru-RU" sz="1300" dirty="0">
                <a:highlight>
                  <a:srgbClr val="FFFFFF"/>
                </a:highlight>
              </a:rPr>
              <a:t> . Удобно ли е да ми отделите </a:t>
            </a:r>
            <a:r>
              <a:rPr lang="ru-RU" sz="1300" dirty="0" err="1">
                <a:highlight>
                  <a:srgbClr val="FFFFFF"/>
                </a:highlight>
              </a:rPr>
              <a:t>една</a:t>
            </a:r>
            <a:r>
              <a:rPr lang="ru-RU" sz="1300" dirty="0">
                <a:highlight>
                  <a:srgbClr val="FFFFFF"/>
                </a:highlight>
              </a:rPr>
              <a:t>, две </a:t>
            </a:r>
            <a:r>
              <a:rPr lang="ru-RU" sz="1300" dirty="0" err="1">
                <a:highlight>
                  <a:srgbClr val="FFFFFF"/>
                </a:highlight>
              </a:rPr>
              <a:t>минути</a:t>
            </a:r>
            <a:r>
              <a:rPr lang="ru-RU" sz="1300" dirty="0">
                <a:highlight>
                  <a:srgbClr val="FFFFFF"/>
                </a:highlight>
              </a:rPr>
              <a:t>, за да Ви </a:t>
            </a:r>
            <a:r>
              <a:rPr lang="ru-RU" sz="1300" dirty="0" err="1">
                <a:highlight>
                  <a:srgbClr val="FFFFFF"/>
                </a:highlight>
              </a:rPr>
              <a:t>запозная</a:t>
            </a:r>
            <a:r>
              <a:rPr lang="ru-RU" sz="1300" dirty="0">
                <a:highlight>
                  <a:srgbClr val="FFFFFF"/>
                </a:highlight>
              </a:rPr>
              <a:t>? </a:t>
            </a:r>
            <a:br>
              <a:rPr lang="ru-RU" sz="1300" dirty="0">
                <a:highlight>
                  <a:srgbClr val="FFFFFF"/>
                </a:highlight>
              </a:rPr>
            </a:br>
            <a:r>
              <a:rPr lang="ru-RU" sz="1300" dirty="0">
                <a:highlight>
                  <a:srgbClr val="FFFFFF"/>
                </a:highlight>
              </a:rPr>
              <a:t>-Да (</a:t>
            </a:r>
            <a:r>
              <a:rPr lang="ru-RU" sz="1300" dirty="0" err="1">
                <a:highlight>
                  <a:srgbClr val="FFFFFF"/>
                </a:highlight>
              </a:rPr>
              <a:t>слушам</a:t>
            </a:r>
            <a:r>
              <a:rPr lang="ru-RU" sz="1300" dirty="0">
                <a:highlight>
                  <a:srgbClr val="FFFFFF"/>
                </a:highlight>
              </a:rPr>
              <a:t> Ви).</a:t>
            </a:r>
            <a:br>
              <a:rPr lang="ru-RU" sz="1300" dirty="0">
                <a:highlight>
                  <a:srgbClr val="FFFFFF"/>
                </a:highlight>
              </a:rPr>
            </a:br>
            <a:r>
              <a:rPr lang="ru-RU" sz="1300" dirty="0">
                <a:highlight>
                  <a:srgbClr val="FFFFFF"/>
                </a:highlight>
              </a:rPr>
              <a:t>(</a:t>
            </a:r>
            <a:r>
              <a:rPr lang="ru-RU" sz="1300" dirty="0" err="1">
                <a:highlight>
                  <a:srgbClr val="FFFFFF"/>
                </a:highlight>
              </a:rPr>
              <a:t>Представяне</a:t>
            </a:r>
            <a:r>
              <a:rPr lang="ru-RU" sz="1300" dirty="0">
                <a:highlight>
                  <a:srgbClr val="FFFFFF"/>
                </a:highlight>
              </a:rPr>
              <a:t> на </a:t>
            </a:r>
            <a:r>
              <a:rPr lang="ru-RU" sz="1300" dirty="0" err="1">
                <a:highlight>
                  <a:srgbClr val="FFFFFF"/>
                </a:highlight>
              </a:rPr>
              <a:t>предложнието</a:t>
            </a:r>
            <a:r>
              <a:rPr lang="ru-RU" sz="1300" dirty="0">
                <a:highlight>
                  <a:srgbClr val="FFFFFF"/>
                </a:highlight>
              </a:rPr>
              <a:t>)</a:t>
            </a:r>
            <a:br>
              <a:rPr lang="ru-RU" sz="1300" dirty="0">
                <a:highlight>
                  <a:srgbClr val="FFFFFF"/>
                </a:highlight>
              </a:rPr>
            </a:br>
            <a:r>
              <a:rPr lang="ru-RU" sz="1300" dirty="0">
                <a:highlight>
                  <a:srgbClr val="FFFFFF"/>
                </a:highlight>
              </a:rPr>
              <a:t>-Как Ви се </a:t>
            </a:r>
            <a:r>
              <a:rPr lang="ru-RU" sz="1300" dirty="0" err="1">
                <a:highlight>
                  <a:srgbClr val="FFFFFF"/>
                </a:highlight>
              </a:rPr>
              <a:t>струва</a:t>
            </a:r>
            <a:r>
              <a:rPr lang="ru-RU" sz="1300" dirty="0">
                <a:highlight>
                  <a:srgbClr val="FFFFFF"/>
                </a:highlight>
              </a:rPr>
              <a:t> </a:t>
            </a:r>
            <a:r>
              <a:rPr lang="ru-RU" sz="1300" dirty="0" err="1">
                <a:highlight>
                  <a:srgbClr val="FFFFFF"/>
                </a:highlight>
              </a:rPr>
              <a:t>моето</a:t>
            </a:r>
            <a:r>
              <a:rPr lang="ru-RU" sz="1300" dirty="0">
                <a:highlight>
                  <a:srgbClr val="FFFFFF"/>
                </a:highlight>
              </a:rPr>
              <a:t> предложение?</a:t>
            </a:r>
          </a:p>
          <a:p>
            <a:endParaRPr lang="en-US" sz="1400" dirty="0"/>
          </a:p>
        </p:txBody>
      </p:sp>
      <p:sp>
        <p:nvSpPr>
          <p:cNvPr id="42" name="Правоъгълник: със заоблени ъгли 16">
            <a:extLst>
              <a:ext uri="{FF2B5EF4-FFF2-40B4-BE49-F238E27FC236}">
                <a16:creationId xmlns:a16="http://schemas.microsoft.com/office/drawing/2014/main" id="{26338D12-77FE-2225-20B2-297FC753F863}"/>
              </a:ext>
            </a:extLst>
          </p:cNvPr>
          <p:cNvSpPr/>
          <p:nvPr/>
        </p:nvSpPr>
        <p:spPr>
          <a:xfrm>
            <a:off x="5336179" y="5153992"/>
            <a:ext cx="2744630" cy="590809"/>
          </a:xfrm>
          <a:prstGeom prst="roundRect">
            <a:avLst>
              <a:gd name="adj" fmla="val 50000"/>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200"/>
              <a:t>Тренирай</a:t>
            </a:r>
          </a:p>
        </p:txBody>
      </p:sp>
    </p:spTree>
    <p:extLst>
      <p:ext uri="{BB962C8B-B14F-4D97-AF65-F5344CB8AC3E}">
        <p14:creationId xmlns:p14="http://schemas.microsoft.com/office/powerpoint/2010/main" val="2381002646"/>
      </p:ext>
    </p:extLst>
  </p:cSld>
  <p:clrMapOvr>
    <a:masterClrMapping/>
  </p:clrMapOvr>
  <p:extLst>
    <p:ext uri="{6950BFC3-D8DA-4A85-94F7-54DA5524770B}">
      <p188:commentRel xmlns:p188="http://schemas.microsoft.com/office/powerpoint/2018/8/main" r:id="rId2"/>
    </p:ext>
  </p:extLs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D3F2DB-75A2-6D30-0F3D-6DF0B1184699}"/>
            </a:ext>
          </a:extLst>
        </p:cNvPr>
        <p:cNvGrpSpPr/>
        <p:nvPr/>
      </p:nvGrpSpPr>
      <p:grpSpPr>
        <a:xfrm>
          <a:off x="0" y="0"/>
          <a:ext cx="0" cy="0"/>
          <a:chOff x="0" y="0"/>
          <a:chExt cx="0" cy="0"/>
        </a:xfrm>
      </p:grpSpPr>
      <p:sp>
        <p:nvSpPr>
          <p:cNvPr id="27" name="Rectangle 3">
            <a:extLst>
              <a:ext uri="{FF2B5EF4-FFF2-40B4-BE49-F238E27FC236}">
                <a16:creationId xmlns:a16="http://schemas.microsoft.com/office/drawing/2014/main" id="{14E299A0-418C-87CD-7527-6C507852FF5F}"/>
              </a:ext>
            </a:extLst>
          </p:cNvPr>
          <p:cNvSpPr/>
          <p:nvPr/>
        </p:nvSpPr>
        <p:spPr>
          <a:xfrm>
            <a:off x="1443475" y="4245"/>
            <a:ext cx="5338363" cy="677242"/>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28" name="Rectangle 4">
            <a:extLst>
              <a:ext uri="{FF2B5EF4-FFF2-40B4-BE49-F238E27FC236}">
                <a16:creationId xmlns:a16="http://schemas.microsoft.com/office/drawing/2014/main" id="{B19C5349-82EE-0EC8-9C57-8AF0F9D95C3C}"/>
              </a:ext>
            </a:extLst>
          </p:cNvPr>
          <p:cNvSpPr/>
          <p:nvPr/>
        </p:nvSpPr>
        <p:spPr>
          <a:xfrm>
            <a:off x="6788435" y="4245"/>
            <a:ext cx="5417300" cy="677242"/>
          </a:xfrm>
          <a:prstGeom prst="rect">
            <a:avLst/>
          </a:prstGeom>
          <a:solidFill>
            <a:schemeClr val="bg2">
              <a:lumMod val="75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29" name="Rectangle 28">
            <a:extLst>
              <a:ext uri="{FF2B5EF4-FFF2-40B4-BE49-F238E27FC236}">
                <a16:creationId xmlns:a16="http://schemas.microsoft.com/office/drawing/2014/main" id="{925A3058-07DC-4BF8-F6E5-2360AB8FBFB2}"/>
              </a:ext>
            </a:extLst>
          </p:cNvPr>
          <p:cNvSpPr/>
          <p:nvPr/>
        </p:nvSpPr>
        <p:spPr>
          <a:xfrm>
            <a:off x="-1671" y="1599"/>
            <a:ext cx="1451167" cy="6866954"/>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200">
              <a:latin typeface="Aptos"/>
              <a:ea typeface="Calibri"/>
              <a:cs typeface="Calibri"/>
            </a:endParaRPr>
          </a:p>
        </p:txBody>
      </p:sp>
      <p:sp>
        <p:nvSpPr>
          <p:cNvPr id="30" name="Rectangle 29">
            <a:extLst>
              <a:ext uri="{FF2B5EF4-FFF2-40B4-BE49-F238E27FC236}">
                <a16:creationId xmlns:a16="http://schemas.microsoft.com/office/drawing/2014/main" id="{916D4487-E27B-96B5-34DF-E0E14EAE1DCA}"/>
              </a:ext>
            </a:extLst>
          </p:cNvPr>
          <p:cNvSpPr/>
          <p:nvPr/>
        </p:nvSpPr>
        <p:spPr>
          <a:xfrm>
            <a:off x="-1671" y="2528038"/>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Типове клиенти</a:t>
            </a:r>
            <a:endParaRPr lang="en-GB" sz="1400">
              <a:latin typeface="Aptos"/>
              <a:ea typeface="Calibri"/>
              <a:cs typeface="Calibri"/>
            </a:endParaRPr>
          </a:p>
        </p:txBody>
      </p:sp>
      <p:sp>
        <p:nvSpPr>
          <p:cNvPr id="31" name="Rectangle 30">
            <a:extLst>
              <a:ext uri="{FF2B5EF4-FFF2-40B4-BE49-F238E27FC236}">
                <a16:creationId xmlns:a16="http://schemas.microsoft.com/office/drawing/2014/main" id="{B7878AC0-C734-4F9F-E220-A2CC4FECDD69}"/>
              </a:ext>
            </a:extLst>
          </p:cNvPr>
          <p:cNvSpPr/>
          <p:nvPr/>
        </p:nvSpPr>
        <p:spPr>
          <a:xfrm>
            <a:off x="8626" y="1913210"/>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b="1">
                <a:solidFill>
                  <a:srgbClr val="2F5597"/>
                </a:solidFill>
                <a:latin typeface="Aptos"/>
                <a:ea typeface="Calibri"/>
                <a:cs typeface="Calibri"/>
              </a:rPr>
              <a:t>Сценарии</a:t>
            </a:r>
            <a:endParaRPr lang="en-GB" sz="1400" b="1">
              <a:solidFill>
                <a:srgbClr val="2F5597"/>
              </a:solidFill>
              <a:latin typeface="Aptos"/>
              <a:ea typeface="Calibri"/>
              <a:cs typeface="Calibri"/>
            </a:endParaRPr>
          </a:p>
        </p:txBody>
      </p:sp>
      <p:sp>
        <p:nvSpPr>
          <p:cNvPr id="32" name="Rectangle 31">
            <a:extLst>
              <a:ext uri="{FF2B5EF4-FFF2-40B4-BE49-F238E27FC236}">
                <a16:creationId xmlns:a16="http://schemas.microsoft.com/office/drawing/2014/main" id="{674606B8-65FA-420E-8832-C04A5E67FF72}"/>
              </a:ext>
            </a:extLst>
          </p:cNvPr>
          <p:cNvSpPr/>
          <p:nvPr/>
        </p:nvSpPr>
        <p:spPr>
          <a:xfrm>
            <a:off x="-1671" y="1298382"/>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a:solidFill>
                  <a:schemeClr val="bg1"/>
                </a:solidFill>
                <a:latin typeface="Aptos"/>
                <a:ea typeface="Calibri"/>
                <a:cs typeface="Calibri"/>
              </a:rPr>
              <a:t>Стъпки в обаждането</a:t>
            </a:r>
            <a:endParaRPr lang="bg-BG" sz="1400">
              <a:solidFill>
                <a:srgbClr val="000000"/>
              </a:solidFill>
              <a:latin typeface="Aptos"/>
              <a:ea typeface="Calibri"/>
              <a:cs typeface="Calibri"/>
            </a:endParaRPr>
          </a:p>
        </p:txBody>
      </p:sp>
      <p:sp>
        <p:nvSpPr>
          <p:cNvPr id="33" name="Rectangle 28">
            <a:extLst>
              <a:ext uri="{FF2B5EF4-FFF2-40B4-BE49-F238E27FC236}">
                <a16:creationId xmlns:a16="http://schemas.microsoft.com/office/drawing/2014/main" id="{643C13BE-C398-78A7-7EDB-DD2CC29FC2DF}"/>
              </a:ext>
            </a:extLst>
          </p:cNvPr>
          <p:cNvSpPr/>
          <p:nvPr/>
        </p:nvSpPr>
        <p:spPr>
          <a:xfrm>
            <a:off x="6154" y="690328"/>
            <a:ext cx="1435083"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a:solidFill>
                  <a:schemeClr val="bg1"/>
                </a:solidFill>
                <a:latin typeface="Aptos"/>
                <a:ea typeface="Calibri"/>
                <a:cs typeface="Calibri"/>
              </a:rPr>
              <a:t>Подготовка</a:t>
            </a:r>
            <a:endParaRPr lang="en-GB" sz="1400">
              <a:solidFill>
                <a:schemeClr val="bg1"/>
              </a:solidFill>
              <a:latin typeface="Aptos"/>
              <a:ea typeface="Calibri"/>
              <a:cs typeface="Calibri"/>
            </a:endParaRPr>
          </a:p>
        </p:txBody>
      </p:sp>
      <p:pic>
        <p:nvPicPr>
          <p:cNvPr id="35" name="Picture 34">
            <a:extLst>
              <a:ext uri="{FF2B5EF4-FFF2-40B4-BE49-F238E27FC236}">
                <a16:creationId xmlns:a16="http://schemas.microsoft.com/office/drawing/2014/main" id="{80CFA286-6892-5993-C488-C5FBF0D1E7F9}"/>
              </a:ext>
            </a:extLst>
          </p:cNvPr>
          <p:cNvPicPr>
            <a:picLocks noChangeAspect="1"/>
          </p:cNvPicPr>
          <p:nvPr/>
        </p:nvPicPr>
        <p:blipFill>
          <a:blip r:embed="rId3"/>
          <a:stretch>
            <a:fillRect/>
          </a:stretch>
        </p:blipFill>
        <p:spPr>
          <a:xfrm>
            <a:off x="11031388" y="5709427"/>
            <a:ext cx="982751" cy="995681"/>
          </a:xfrm>
          <a:prstGeom prst="rect">
            <a:avLst/>
          </a:prstGeom>
        </p:spPr>
      </p:pic>
      <p:sp>
        <p:nvSpPr>
          <p:cNvPr id="2" name="Rectangle: Rounded Corners 1">
            <a:extLst>
              <a:ext uri="{FF2B5EF4-FFF2-40B4-BE49-F238E27FC236}">
                <a16:creationId xmlns:a16="http://schemas.microsoft.com/office/drawing/2014/main" id="{6B8B64F0-DF31-E8B4-825E-C4DA13A6629D}"/>
              </a:ext>
            </a:extLst>
          </p:cNvPr>
          <p:cNvSpPr/>
          <p:nvPr/>
        </p:nvSpPr>
        <p:spPr>
          <a:xfrm>
            <a:off x="5608496" y="4071201"/>
            <a:ext cx="1923383" cy="677241"/>
          </a:xfrm>
          <a:prstGeom prst="roundRect">
            <a:avLst/>
          </a:prstGeo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sz="1200" dirty="0"/>
              <a:t>Искам да се </a:t>
            </a:r>
            <a:r>
              <a:rPr lang="ru-RU" sz="1200" dirty="0" err="1"/>
              <a:t>посъветвам</a:t>
            </a:r>
            <a:r>
              <a:rPr lang="ru-RU" sz="1200" dirty="0"/>
              <a:t> </a:t>
            </a:r>
            <a:r>
              <a:rPr lang="ru-RU" sz="1200" dirty="0" err="1"/>
              <a:t>със</a:t>
            </a:r>
            <a:r>
              <a:rPr lang="ru-RU" sz="1200" dirty="0"/>
              <a:t> </a:t>
            </a:r>
            <a:r>
              <a:rPr lang="ru-RU" sz="1200" dirty="0" err="1"/>
              <a:t>семейстовто</a:t>
            </a:r>
            <a:r>
              <a:rPr lang="ru-RU" sz="1200" dirty="0"/>
              <a:t> си</a:t>
            </a:r>
            <a:endParaRPr lang="en-GB" sz="1200" dirty="0"/>
          </a:p>
        </p:txBody>
      </p:sp>
      <p:sp>
        <p:nvSpPr>
          <p:cNvPr id="8" name="Rectangle: Rounded Corners 9">
            <a:extLst>
              <a:ext uri="{FF2B5EF4-FFF2-40B4-BE49-F238E27FC236}">
                <a16:creationId xmlns:a16="http://schemas.microsoft.com/office/drawing/2014/main" id="{83219B12-BC1C-C7A5-25C3-3B1B69A46CF1}"/>
              </a:ext>
            </a:extLst>
          </p:cNvPr>
          <p:cNvSpPr/>
          <p:nvPr/>
        </p:nvSpPr>
        <p:spPr>
          <a:xfrm>
            <a:off x="1896200" y="2012494"/>
            <a:ext cx="2932281" cy="677241"/>
          </a:xfrm>
          <a:prstGeom prst="roundRect">
            <a:avLst/>
          </a:prstGeom>
          <a:solidFill>
            <a:schemeClr val="bg2">
              <a:lumMod val="75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bg-BG" sz="1600"/>
              <a:t>Предварително одобрен клиент</a:t>
            </a:r>
            <a:endParaRPr lang="en-GB" sz="1600"/>
          </a:p>
        </p:txBody>
      </p:sp>
      <p:sp>
        <p:nvSpPr>
          <p:cNvPr id="10" name="Rectangle: Rounded Corners 11">
            <a:extLst>
              <a:ext uri="{FF2B5EF4-FFF2-40B4-BE49-F238E27FC236}">
                <a16:creationId xmlns:a16="http://schemas.microsoft.com/office/drawing/2014/main" id="{FC066788-9722-7A08-EB04-F338ECE50882}"/>
              </a:ext>
            </a:extLst>
          </p:cNvPr>
          <p:cNvSpPr/>
          <p:nvPr/>
        </p:nvSpPr>
        <p:spPr>
          <a:xfrm>
            <a:off x="1896199" y="1147427"/>
            <a:ext cx="2932281" cy="677241"/>
          </a:xfrm>
          <a:prstGeom prst="roundRect">
            <a:avLst/>
          </a:prstGeom>
          <a:solidFill>
            <a:schemeClr val="bg2">
              <a:lumMod val="75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bg-BG" sz="1600"/>
              <a:t>Лоялен клиент</a:t>
            </a:r>
            <a:endParaRPr lang="en-GB" sz="1600"/>
          </a:p>
        </p:txBody>
      </p:sp>
      <p:sp>
        <p:nvSpPr>
          <p:cNvPr id="12" name="Rectangle: Rounded Corners 13">
            <a:extLst>
              <a:ext uri="{FF2B5EF4-FFF2-40B4-BE49-F238E27FC236}">
                <a16:creationId xmlns:a16="http://schemas.microsoft.com/office/drawing/2014/main" id="{EAFE9A8A-3A84-099E-5F61-4B213D6C5D97}"/>
              </a:ext>
            </a:extLst>
          </p:cNvPr>
          <p:cNvSpPr/>
          <p:nvPr/>
        </p:nvSpPr>
        <p:spPr>
          <a:xfrm>
            <a:off x="1896198" y="2951536"/>
            <a:ext cx="2932281" cy="677241"/>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bg-BG" sz="1600"/>
              <a:t>Промо кампания</a:t>
            </a:r>
            <a:endParaRPr lang="en-GB" sz="1600"/>
          </a:p>
        </p:txBody>
      </p:sp>
      <p:sp>
        <p:nvSpPr>
          <p:cNvPr id="14" name="Rectangle 9">
            <a:extLst>
              <a:ext uri="{FF2B5EF4-FFF2-40B4-BE49-F238E27FC236}">
                <a16:creationId xmlns:a16="http://schemas.microsoft.com/office/drawing/2014/main" id="{55CC3E0D-FA46-7DCC-E73D-4F83B5CFD8DB}"/>
              </a:ext>
            </a:extLst>
          </p:cNvPr>
          <p:cNvSpPr/>
          <p:nvPr/>
        </p:nvSpPr>
        <p:spPr>
          <a:xfrm>
            <a:off x="1896196" y="4777416"/>
            <a:ext cx="2932281" cy="677241"/>
          </a:xfrm>
          <a:prstGeom prst="roundRect">
            <a:avLst/>
          </a:prstGeom>
          <a:solidFill>
            <a:schemeClr val="bg2">
              <a:lumMod val="75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bg-BG" sz="1600"/>
              <a:t>По препоръка</a:t>
            </a:r>
            <a:endParaRPr lang="en-GB" sz="1600"/>
          </a:p>
        </p:txBody>
      </p:sp>
      <p:sp>
        <p:nvSpPr>
          <p:cNvPr id="16" name="Rectangle 11">
            <a:extLst>
              <a:ext uri="{FF2B5EF4-FFF2-40B4-BE49-F238E27FC236}">
                <a16:creationId xmlns:a16="http://schemas.microsoft.com/office/drawing/2014/main" id="{BE3E30DB-5E63-B4A1-21AA-7FFFF8F67E78}"/>
              </a:ext>
            </a:extLst>
          </p:cNvPr>
          <p:cNvSpPr/>
          <p:nvPr/>
        </p:nvSpPr>
        <p:spPr>
          <a:xfrm>
            <a:off x="1896197" y="3838374"/>
            <a:ext cx="2932281" cy="677241"/>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bg-BG" sz="1600"/>
              <a:t>Продукт „Пенсионер“</a:t>
            </a:r>
            <a:endParaRPr lang="en-GB" sz="1600"/>
          </a:p>
        </p:txBody>
      </p:sp>
      <p:sp>
        <p:nvSpPr>
          <p:cNvPr id="36" name="Правоъгълник: със заоблени ъгли 37">
            <a:extLst>
              <a:ext uri="{FF2B5EF4-FFF2-40B4-BE49-F238E27FC236}">
                <a16:creationId xmlns:a16="http://schemas.microsoft.com/office/drawing/2014/main" id="{C48380FE-1FCC-BB57-AAD8-8194FEF77617}"/>
              </a:ext>
            </a:extLst>
          </p:cNvPr>
          <p:cNvSpPr/>
          <p:nvPr/>
        </p:nvSpPr>
        <p:spPr>
          <a:xfrm>
            <a:off x="5222212" y="955850"/>
            <a:ext cx="4325063" cy="65453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bg-BG" sz="1600" b="1">
                <a:solidFill>
                  <a:srgbClr val="1F3864"/>
                </a:solidFill>
              </a:rPr>
              <a:t>1.Отваряне и Предложение</a:t>
            </a:r>
          </a:p>
        </p:txBody>
      </p:sp>
      <p:sp>
        <p:nvSpPr>
          <p:cNvPr id="38" name="Правоъгълник: със заоблени ъгли 41">
            <a:extLst>
              <a:ext uri="{FF2B5EF4-FFF2-40B4-BE49-F238E27FC236}">
                <a16:creationId xmlns:a16="http://schemas.microsoft.com/office/drawing/2014/main" id="{3AECF2DB-5B6C-9973-9B6C-D5BAF435D920}"/>
              </a:ext>
            </a:extLst>
          </p:cNvPr>
          <p:cNvSpPr/>
          <p:nvPr/>
        </p:nvSpPr>
        <p:spPr>
          <a:xfrm>
            <a:off x="5221816" y="3244408"/>
            <a:ext cx="4297519" cy="521771"/>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bg-BG" sz="1600" b="1">
                <a:solidFill>
                  <a:schemeClr val="accent1">
                    <a:lumMod val="49000"/>
                  </a:schemeClr>
                </a:solidFill>
              </a:rPr>
              <a:t>2. Възражение и отговор</a:t>
            </a:r>
          </a:p>
        </p:txBody>
      </p:sp>
      <p:sp>
        <p:nvSpPr>
          <p:cNvPr id="40" name="TextBox 39">
            <a:extLst>
              <a:ext uri="{FF2B5EF4-FFF2-40B4-BE49-F238E27FC236}">
                <a16:creationId xmlns:a16="http://schemas.microsoft.com/office/drawing/2014/main" id="{E62CD558-61F5-79B8-1722-B558334C09AB}"/>
              </a:ext>
            </a:extLst>
          </p:cNvPr>
          <p:cNvSpPr txBox="1"/>
          <p:nvPr/>
        </p:nvSpPr>
        <p:spPr>
          <a:xfrm>
            <a:off x="5330820" y="1476400"/>
            <a:ext cx="6443040" cy="210826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ru-RU" sz="1300" dirty="0">
                <a:highlight>
                  <a:srgbClr val="FFFFFF"/>
                </a:highlight>
              </a:rPr>
              <a:t>-</a:t>
            </a:r>
            <a:r>
              <a:rPr lang="ru-RU" sz="1300" dirty="0" err="1">
                <a:highlight>
                  <a:srgbClr val="FFFFFF"/>
                </a:highlight>
              </a:rPr>
              <a:t>Добър</a:t>
            </a:r>
            <a:r>
              <a:rPr lang="ru-RU" sz="1300" dirty="0">
                <a:highlight>
                  <a:srgbClr val="FFFFFF"/>
                </a:highlight>
              </a:rPr>
              <a:t> ден, </a:t>
            </a:r>
            <a:r>
              <a:rPr lang="ru-RU" sz="1300" dirty="0" err="1">
                <a:highlight>
                  <a:srgbClr val="FFFFFF"/>
                </a:highlight>
              </a:rPr>
              <a:t>търся</a:t>
            </a:r>
            <a:r>
              <a:rPr lang="ru-RU" sz="1300" dirty="0">
                <a:highlight>
                  <a:srgbClr val="FFFFFF"/>
                </a:highlight>
              </a:rPr>
              <a:t> г-н/г-жа (две имена на клиента).</a:t>
            </a:r>
            <a:br>
              <a:rPr lang="ru-RU" sz="1300" dirty="0">
                <a:highlight>
                  <a:srgbClr val="FFFFFF"/>
                </a:highlight>
              </a:rPr>
            </a:br>
            <a:r>
              <a:rPr lang="ru-RU" sz="1300" dirty="0">
                <a:highlight>
                  <a:srgbClr val="FFFFFF"/>
                </a:highlight>
              </a:rPr>
              <a:t>-Да (на телефона, аз </a:t>
            </a:r>
            <a:r>
              <a:rPr lang="ru-RU" sz="1300" dirty="0" err="1">
                <a:highlight>
                  <a:srgbClr val="FFFFFF"/>
                </a:highlight>
              </a:rPr>
              <a:t>съм</a:t>
            </a:r>
            <a:r>
              <a:rPr lang="ru-RU" sz="1300" dirty="0">
                <a:highlight>
                  <a:srgbClr val="FFFFFF"/>
                </a:highlight>
              </a:rPr>
              <a:t>).</a:t>
            </a:r>
            <a:br>
              <a:rPr lang="ru-RU" sz="1300" dirty="0">
                <a:highlight>
                  <a:srgbClr val="FFFFFF"/>
                </a:highlight>
              </a:rPr>
            </a:br>
            <a:r>
              <a:rPr lang="ru-RU" sz="1300" dirty="0">
                <a:highlight>
                  <a:srgbClr val="FFFFFF"/>
                </a:highlight>
              </a:rPr>
              <a:t>-</a:t>
            </a:r>
            <a:r>
              <a:rPr lang="ru-RU" sz="1300" dirty="0" err="1">
                <a:highlight>
                  <a:srgbClr val="FFFFFF"/>
                </a:highlight>
              </a:rPr>
              <a:t>Здравейте</a:t>
            </a:r>
            <a:r>
              <a:rPr lang="ru-RU" sz="1300" dirty="0">
                <a:highlight>
                  <a:srgbClr val="FFFFFF"/>
                </a:highlight>
              </a:rPr>
              <a:t> г-н/г-</a:t>
            </a:r>
            <a:r>
              <a:rPr lang="ru-RU" sz="1300" dirty="0" err="1">
                <a:highlight>
                  <a:srgbClr val="FFFFFF"/>
                </a:highlight>
              </a:rPr>
              <a:t>жо</a:t>
            </a:r>
            <a:r>
              <a:rPr lang="ru-RU" sz="1300" dirty="0">
                <a:highlight>
                  <a:srgbClr val="FFFFFF"/>
                </a:highlight>
              </a:rPr>
              <a:t> (фамилия на клиента), </a:t>
            </a:r>
            <a:r>
              <a:rPr lang="ru-RU" sz="1300" dirty="0" err="1">
                <a:highlight>
                  <a:srgbClr val="FFFFFF"/>
                </a:highlight>
              </a:rPr>
              <a:t>обаждам</a:t>
            </a:r>
            <a:r>
              <a:rPr lang="ru-RU" sz="1300" dirty="0">
                <a:highlight>
                  <a:srgbClr val="FFFFFF"/>
                </a:highlight>
              </a:rPr>
              <a:t> се от Изи Кредит, </a:t>
            </a:r>
            <a:r>
              <a:rPr lang="ru-RU" sz="1300" dirty="0" err="1">
                <a:highlight>
                  <a:srgbClr val="FFFFFF"/>
                </a:highlight>
              </a:rPr>
              <a:t>във</a:t>
            </a:r>
            <a:r>
              <a:rPr lang="ru-RU" sz="1300" dirty="0">
                <a:highlight>
                  <a:srgbClr val="FFFFFF"/>
                </a:highlight>
              </a:rPr>
              <a:t> </a:t>
            </a:r>
            <a:r>
              <a:rPr lang="ru-RU" sz="1300" dirty="0" err="1">
                <a:highlight>
                  <a:srgbClr val="FFFFFF"/>
                </a:highlight>
              </a:rPr>
              <a:t>връзка</a:t>
            </a:r>
            <a:r>
              <a:rPr lang="ru-RU" sz="1300" dirty="0">
                <a:highlight>
                  <a:srgbClr val="FFFFFF"/>
                </a:highlight>
              </a:rPr>
              <a:t> </a:t>
            </a:r>
            <a:r>
              <a:rPr lang="ru-RU" sz="1300" dirty="0" err="1">
                <a:highlight>
                  <a:srgbClr val="FFFFFF"/>
                </a:highlight>
              </a:rPr>
              <a:t>със</a:t>
            </a:r>
            <a:r>
              <a:rPr lang="ru-RU" sz="1300" dirty="0">
                <a:highlight>
                  <a:srgbClr val="FFFFFF"/>
                </a:highlight>
              </a:rPr>
              <a:t> </a:t>
            </a:r>
            <a:r>
              <a:rPr lang="ru-RU" sz="1300" dirty="0" err="1">
                <a:highlight>
                  <a:srgbClr val="FFFFFF"/>
                </a:highlight>
              </a:rPr>
              <a:t>специално</a:t>
            </a:r>
            <a:r>
              <a:rPr lang="ru-RU" sz="1300" dirty="0">
                <a:highlight>
                  <a:srgbClr val="FFFFFF"/>
                </a:highlight>
              </a:rPr>
              <a:t> </a:t>
            </a:r>
            <a:r>
              <a:rPr lang="ru-RU" sz="1300" dirty="0" err="1">
                <a:highlight>
                  <a:srgbClr val="FFFFFF"/>
                </a:highlight>
              </a:rPr>
              <a:t>изготвено</a:t>
            </a:r>
            <a:r>
              <a:rPr lang="ru-RU" sz="1300" dirty="0">
                <a:highlight>
                  <a:srgbClr val="FFFFFF"/>
                </a:highlight>
              </a:rPr>
              <a:t> предложение за Вас. </a:t>
            </a:r>
            <a:r>
              <a:rPr lang="ru-RU" sz="1300" dirty="0" err="1">
                <a:highlight>
                  <a:srgbClr val="FFFFFF"/>
                </a:highlight>
              </a:rPr>
              <a:t>Предложението</a:t>
            </a:r>
            <a:r>
              <a:rPr lang="ru-RU" sz="1300" dirty="0">
                <a:highlight>
                  <a:srgbClr val="FFFFFF"/>
                </a:highlight>
              </a:rPr>
              <a:t> е валидно само за </a:t>
            </a:r>
            <a:r>
              <a:rPr lang="ru-RU" sz="1300" dirty="0" err="1">
                <a:highlight>
                  <a:srgbClr val="FFFFFF"/>
                </a:highlight>
              </a:rPr>
              <a:t>нашите</a:t>
            </a:r>
            <a:r>
              <a:rPr lang="ru-RU" sz="1300" dirty="0">
                <a:highlight>
                  <a:srgbClr val="FFFFFF"/>
                </a:highlight>
              </a:rPr>
              <a:t> </a:t>
            </a:r>
            <a:r>
              <a:rPr lang="ru-RU" sz="1300" dirty="0" err="1">
                <a:highlight>
                  <a:srgbClr val="FFFFFF"/>
                </a:highlight>
              </a:rPr>
              <a:t>пенсионери</a:t>
            </a:r>
            <a:r>
              <a:rPr lang="ru-RU" sz="1300" dirty="0">
                <a:highlight>
                  <a:srgbClr val="FFFFFF"/>
                </a:highlight>
              </a:rPr>
              <a:t> . Удобно ли е да ми отделите </a:t>
            </a:r>
            <a:r>
              <a:rPr lang="ru-RU" sz="1300" dirty="0" err="1">
                <a:highlight>
                  <a:srgbClr val="FFFFFF"/>
                </a:highlight>
              </a:rPr>
              <a:t>една</a:t>
            </a:r>
            <a:r>
              <a:rPr lang="ru-RU" sz="1300" dirty="0">
                <a:highlight>
                  <a:srgbClr val="FFFFFF"/>
                </a:highlight>
              </a:rPr>
              <a:t>, две </a:t>
            </a:r>
            <a:r>
              <a:rPr lang="ru-RU" sz="1300" dirty="0" err="1">
                <a:highlight>
                  <a:srgbClr val="FFFFFF"/>
                </a:highlight>
              </a:rPr>
              <a:t>минути</a:t>
            </a:r>
            <a:r>
              <a:rPr lang="ru-RU" sz="1300" dirty="0">
                <a:highlight>
                  <a:srgbClr val="FFFFFF"/>
                </a:highlight>
              </a:rPr>
              <a:t>, за да Ви </a:t>
            </a:r>
            <a:r>
              <a:rPr lang="ru-RU" sz="1300" dirty="0" err="1">
                <a:highlight>
                  <a:srgbClr val="FFFFFF"/>
                </a:highlight>
              </a:rPr>
              <a:t>запозная</a:t>
            </a:r>
            <a:r>
              <a:rPr lang="ru-RU" sz="1300" dirty="0">
                <a:highlight>
                  <a:srgbClr val="FFFFFF"/>
                </a:highlight>
              </a:rPr>
              <a:t>? </a:t>
            </a:r>
            <a:br>
              <a:rPr lang="ru-RU" sz="1300" dirty="0">
                <a:highlight>
                  <a:srgbClr val="FFFFFF"/>
                </a:highlight>
              </a:rPr>
            </a:br>
            <a:r>
              <a:rPr lang="ru-RU" sz="1300" dirty="0">
                <a:highlight>
                  <a:srgbClr val="FFFFFF"/>
                </a:highlight>
              </a:rPr>
              <a:t>-Да (</a:t>
            </a:r>
            <a:r>
              <a:rPr lang="ru-RU" sz="1300" dirty="0" err="1">
                <a:highlight>
                  <a:srgbClr val="FFFFFF"/>
                </a:highlight>
              </a:rPr>
              <a:t>слушам</a:t>
            </a:r>
            <a:r>
              <a:rPr lang="ru-RU" sz="1300" dirty="0">
                <a:highlight>
                  <a:srgbClr val="FFFFFF"/>
                </a:highlight>
              </a:rPr>
              <a:t> Ви).</a:t>
            </a:r>
            <a:br>
              <a:rPr lang="ru-RU" sz="1300" dirty="0">
                <a:highlight>
                  <a:srgbClr val="FFFFFF"/>
                </a:highlight>
              </a:rPr>
            </a:br>
            <a:r>
              <a:rPr lang="ru-RU" sz="1300" dirty="0">
                <a:highlight>
                  <a:srgbClr val="FFFFFF"/>
                </a:highlight>
              </a:rPr>
              <a:t>(</a:t>
            </a:r>
            <a:r>
              <a:rPr lang="ru-RU" sz="1300" dirty="0" err="1">
                <a:highlight>
                  <a:srgbClr val="FFFFFF"/>
                </a:highlight>
              </a:rPr>
              <a:t>Представяне</a:t>
            </a:r>
            <a:r>
              <a:rPr lang="ru-RU" sz="1300" dirty="0">
                <a:highlight>
                  <a:srgbClr val="FFFFFF"/>
                </a:highlight>
              </a:rPr>
              <a:t> на </a:t>
            </a:r>
            <a:r>
              <a:rPr lang="ru-RU" sz="1300" dirty="0" err="1">
                <a:highlight>
                  <a:srgbClr val="FFFFFF"/>
                </a:highlight>
              </a:rPr>
              <a:t>предложнието</a:t>
            </a:r>
            <a:r>
              <a:rPr lang="ru-RU" sz="1300" dirty="0">
                <a:highlight>
                  <a:srgbClr val="FFFFFF"/>
                </a:highlight>
              </a:rPr>
              <a:t>)</a:t>
            </a:r>
            <a:br>
              <a:rPr lang="ru-RU" sz="1300" dirty="0">
                <a:highlight>
                  <a:srgbClr val="FFFFFF"/>
                </a:highlight>
              </a:rPr>
            </a:br>
            <a:r>
              <a:rPr lang="ru-RU" sz="1300" dirty="0">
                <a:highlight>
                  <a:srgbClr val="FFFFFF"/>
                </a:highlight>
              </a:rPr>
              <a:t>-Как Ви се </a:t>
            </a:r>
            <a:r>
              <a:rPr lang="ru-RU" sz="1300" dirty="0" err="1">
                <a:highlight>
                  <a:srgbClr val="FFFFFF"/>
                </a:highlight>
              </a:rPr>
              <a:t>струва</a:t>
            </a:r>
            <a:r>
              <a:rPr lang="ru-RU" sz="1300" dirty="0">
                <a:highlight>
                  <a:srgbClr val="FFFFFF"/>
                </a:highlight>
              </a:rPr>
              <a:t> </a:t>
            </a:r>
            <a:r>
              <a:rPr lang="ru-RU" sz="1300" dirty="0" err="1">
                <a:highlight>
                  <a:srgbClr val="FFFFFF"/>
                </a:highlight>
              </a:rPr>
              <a:t>моето</a:t>
            </a:r>
            <a:r>
              <a:rPr lang="ru-RU" sz="1300" dirty="0">
                <a:highlight>
                  <a:srgbClr val="FFFFFF"/>
                </a:highlight>
              </a:rPr>
              <a:t> предложение?</a:t>
            </a:r>
          </a:p>
          <a:p>
            <a:endParaRPr lang="en-US" sz="1400" dirty="0"/>
          </a:p>
        </p:txBody>
      </p:sp>
      <p:sp>
        <p:nvSpPr>
          <p:cNvPr id="42" name="Правоъгълник: със заоблени ъгли 16">
            <a:extLst>
              <a:ext uri="{FF2B5EF4-FFF2-40B4-BE49-F238E27FC236}">
                <a16:creationId xmlns:a16="http://schemas.microsoft.com/office/drawing/2014/main" id="{F81E80EB-4BC4-EC37-0199-511E57E9D606}"/>
              </a:ext>
            </a:extLst>
          </p:cNvPr>
          <p:cNvSpPr/>
          <p:nvPr/>
        </p:nvSpPr>
        <p:spPr>
          <a:xfrm>
            <a:off x="5330820" y="5556781"/>
            <a:ext cx="2744630" cy="590809"/>
          </a:xfrm>
          <a:prstGeom prst="roundRect">
            <a:avLst>
              <a:gd name="adj" fmla="val 50000"/>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200"/>
              <a:t>Тренирай</a:t>
            </a:r>
          </a:p>
        </p:txBody>
      </p:sp>
      <p:sp>
        <p:nvSpPr>
          <p:cNvPr id="6" name="Rectangle: Rounded Corners 12">
            <a:extLst>
              <a:ext uri="{FF2B5EF4-FFF2-40B4-BE49-F238E27FC236}">
                <a16:creationId xmlns:a16="http://schemas.microsoft.com/office/drawing/2014/main" id="{224E7A86-6FFE-EC80-4913-BA807FB4F99B}"/>
              </a:ext>
            </a:extLst>
          </p:cNvPr>
          <p:cNvSpPr/>
          <p:nvPr/>
        </p:nvSpPr>
        <p:spPr>
          <a:xfrm>
            <a:off x="7902141" y="3826606"/>
            <a:ext cx="4111998" cy="137801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ru-RU" sz="1000" dirty="0" err="1">
                <a:ea typeface="+mn-lt"/>
                <a:cs typeface="+mn-lt"/>
              </a:rPr>
              <a:t>Наистина</a:t>
            </a:r>
            <a:r>
              <a:rPr lang="ru-RU" sz="1000" dirty="0">
                <a:ea typeface="+mn-lt"/>
                <a:cs typeface="+mn-lt"/>
              </a:rPr>
              <a:t>, </a:t>
            </a:r>
            <a:r>
              <a:rPr lang="ru-RU" sz="1000" dirty="0" err="1">
                <a:ea typeface="+mn-lt"/>
                <a:cs typeface="+mn-lt"/>
              </a:rPr>
              <a:t>мнението</a:t>
            </a:r>
            <a:r>
              <a:rPr lang="ru-RU" sz="1000" dirty="0">
                <a:ea typeface="+mn-lt"/>
                <a:cs typeface="+mn-lt"/>
              </a:rPr>
              <a:t> на </a:t>
            </a:r>
            <a:r>
              <a:rPr lang="ru-RU" sz="1000" dirty="0" err="1">
                <a:ea typeface="+mn-lt"/>
                <a:cs typeface="+mn-lt"/>
              </a:rPr>
              <a:t>Вашите</a:t>
            </a:r>
            <a:r>
              <a:rPr lang="ru-RU" sz="1000" dirty="0">
                <a:ea typeface="+mn-lt"/>
                <a:cs typeface="+mn-lt"/>
              </a:rPr>
              <a:t> близки е от </a:t>
            </a:r>
            <a:r>
              <a:rPr lang="ru-RU" sz="1000" dirty="0" err="1">
                <a:ea typeface="+mn-lt"/>
                <a:cs typeface="+mn-lt"/>
              </a:rPr>
              <a:t>голямо</a:t>
            </a:r>
            <a:r>
              <a:rPr lang="ru-RU" sz="1000" dirty="0">
                <a:ea typeface="+mn-lt"/>
                <a:cs typeface="+mn-lt"/>
              </a:rPr>
              <a:t> значение, за </a:t>
            </a:r>
            <a:r>
              <a:rPr lang="ru-RU" sz="1000" dirty="0" err="1">
                <a:ea typeface="+mn-lt"/>
                <a:cs typeface="+mn-lt"/>
              </a:rPr>
              <a:t>вземането</a:t>
            </a:r>
            <a:r>
              <a:rPr lang="ru-RU" sz="1000" dirty="0">
                <a:ea typeface="+mn-lt"/>
                <a:cs typeface="+mn-lt"/>
              </a:rPr>
              <a:t> на подобно решение. . </a:t>
            </a:r>
            <a:r>
              <a:rPr lang="ru-RU" sz="1000" dirty="0" err="1">
                <a:ea typeface="+mn-lt"/>
                <a:cs typeface="+mn-lt"/>
              </a:rPr>
              <a:t>Ще</a:t>
            </a:r>
            <a:r>
              <a:rPr lang="ru-RU" sz="1000" dirty="0">
                <a:ea typeface="+mn-lt"/>
                <a:cs typeface="+mn-lt"/>
              </a:rPr>
              <a:t> се </a:t>
            </a:r>
            <a:r>
              <a:rPr lang="ru-RU" sz="1000" dirty="0" err="1">
                <a:ea typeface="+mn-lt"/>
                <a:cs typeface="+mn-lt"/>
              </a:rPr>
              <a:t>радвам</a:t>
            </a:r>
            <a:r>
              <a:rPr lang="ru-RU" sz="1000" dirty="0">
                <a:ea typeface="+mn-lt"/>
                <a:cs typeface="+mn-lt"/>
              </a:rPr>
              <a:t> да </a:t>
            </a:r>
            <a:r>
              <a:rPr lang="ru-RU" sz="1000" dirty="0" err="1">
                <a:ea typeface="+mn-lt"/>
                <a:cs typeface="+mn-lt"/>
              </a:rPr>
              <a:t>обсъдим</a:t>
            </a:r>
            <a:r>
              <a:rPr lang="ru-RU" sz="1000" dirty="0">
                <a:ea typeface="+mn-lt"/>
                <a:cs typeface="+mn-lt"/>
              </a:rPr>
              <a:t> </a:t>
            </a:r>
            <a:r>
              <a:rPr lang="ru-RU" sz="1000" dirty="0" err="1">
                <a:ea typeface="+mn-lt"/>
                <a:cs typeface="+mn-lt"/>
              </a:rPr>
              <a:t>всички</a:t>
            </a:r>
            <a:r>
              <a:rPr lang="ru-RU" sz="1000" dirty="0">
                <a:ea typeface="+mn-lt"/>
                <a:cs typeface="+mn-lt"/>
              </a:rPr>
              <a:t> </a:t>
            </a:r>
            <a:r>
              <a:rPr lang="ru-RU" sz="1000" dirty="0" err="1">
                <a:ea typeface="+mn-lt"/>
                <a:cs typeface="+mn-lt"/>
              </a:rPr>
              <a:t>възможности</a:t>
            </a:r>
            <a:r>
              <a:rPr lang="ru-RU" sz="1000" dirty="0">
                <a:ea typeface="+mn-lt"/>
                <a:cs typeface="+mn-lt"/>
              </a:rPr>
              <a:t>, </a:t>
            </a:r>
            <a:r>
              <a:rPr lang="ru-RU" sz="1000" dirty="0" err="1">
                <a:ea typeface="+mn-lt"/>
                <a:cs typeface="+mn-lt"/>
              </a:rPr>
              <a:t>които</a:t>
            </a:r>
            <a:r>
              <a:rPr lang="ru-RU" sz="1000" dirty="0">
                <a:ea typeface="+mn-lt"/>
                <a:cs typeface="+mn-lt"/>
              </a:rPr>
              <a:t> </a:t>
            </a:r>
            <a:r>
              <a:rPr lang="ru-RU" sz="1000" dirty="0" err="1">
                <a:ea typeface="+mn-lt"/>
                <a:cs typeface="+mn-lt"/>
              </a:rPr>
              <a:t>предлагаме</a:t>
            </a:r>
            <a:r>
              <a:rPr lang="ru-RU" sz="1000" dirty="0">
                <a:ea typeface="+mn-lt"/>
                <a:cs typeface="+mn-lt"/>
              </a:rPr>
              <a:t> на </a:t>
            </a:r>
            <a:r>
              <a:rPr lang="ru-RU" sz="1000" dirty="0" err="1">
                <a:ea typeface="+mn-lt"/>
                <a:cs typeface="+mn-lt"/>
              </a:rPr>
              <a:t>среща</a:t>
            </a:r>
            <a:r>
              <a:rPr lang="ru-RU" sz="1000" dirty="0">
                <a:ea typeface="+mn-lt"/>
                <a:cs typeface="+mn-lt"/>
              </a:rPr>
              <a:t>. На </a:t>
            </a:r>
            <a:r>
              <a:rPr lang="ru-RU" sz="1000" dirty="0" err="1">
                <a:ea typeface="+mn-lt"/>
                <a:cs typeface="+mn-lt"/>
              </a:rPr>
              <a:t>срещата</a:t>
            </a:r>
            <a:r>
              <a:rPr lang="ru-RU" sz="1000" dirty="0">
                <a:ea typeface="+mn-lt"/>
                <a:cs typeface="+mn-lt"/>
              </a:rPr>
              <a:t> </a:t>
            </a:r>
            <a:r>
              <a:rPr lang="ru-RU" sz="1000" dirty="0" err="1">
                <a:ea typeface="+mn-lt"/>
                <a:cs typeface="+mn-lt"/>
              </a:rPr>
              <a:t>може</a:t>
            </a:r>
            <a:r>
              <a:rPr lang="ru-RU" sz="1000" dirty="0">
                <a:ea typeface="+mn-lt"/>
                <a:cs typeface="+mn-lt"/>
              </a:rPr>
              <a:t> да </a:t>
            </a:r>
            <a:r>
              <a:rPr lang="ru-RU" sz="1000" dirty="0" err="1">
                <a:ea typeface="+mn-lt"/>
                <a:cs typeface="+mn-lt"/>
              </a:rPr>
              <a:t>присъства</a:t>
            </a:r>
            <a:r>
              <a:rPr lang="ru-RU" sz="1000" dirty="0">
                <a:ea typeface="+mn-lt"/>
                <a:cs typeface="+mn-lt"/>
              </a:rPr>
              <a:t> и </a:t>
            </a:r>
            <a:r>
              <a:rPr lang="ru-RU" sz="1000" dirty="0" err="1">
                <a:ea typeface="+mn-lt"/>
                <a:cs typeface="+mn-lt"/>
              </a:rPr>
              <a:t>Вашето</a:t>
            </a:r>
            <a:r>
              <a:rPr lang="ru-RU" sz="1000" dirty="0">
                <a:ea typeface="+mn-lt"/>
                <a:cs typeface="+mn-lt"/>
              </a:rPr>
              <a:t> семейство. </a:t>
            </a:r>
            <a:r>
              <a:rPr lang="ru-RU" sz="1000" dirty="0" err="1">
                <a:ea typeface="+mn-lt"/>
                <a:cs typeface="+mn-lt"/>
              </a:rPr>
              <a:t>Вярвам</a:t>
            </a:r>
            <a:r>
              <a:rPr lang="ru-RU" sz="1000" dirty="0">
                <a:ea typeface="+mn-lt"/>
                <a:cs typeface="+mn-lt"/>
              </a:rPr>
              <a:t>, че </a:t>
            </a:r>
            <a:r>
              <a:rPr lang="ru-RU" sz="1000" dirty="0" err="1">
                <a:ea typeface="+mn-lt"/>
                <a:cs typeface="+mn-lt"/>
              </a:rPr>
              <a:t>тази</a:t>
            </a:r>
            <a:r>
              <a:rPr lang="ru-RU" sz="1000" dirty="0">
                <a:ea typeface="+mn-lt"/>
                <a:cs typeface="+mn-lt"/>
              </a:rPr>
              <a:t> </a:t>
            </a:r>
            <a:r>
              <a:rPr lang="ru-RU" sz="1000" dirty="0" err="1">
                <a:ea typeface="+mn-lt"/>
                <a:cs typeface="+mn-lt"/>
              </a:rPr>
              <a:t>среща</a:t>
            </a:r>
            <a:r>
              <a:rPr lang="ru-RU" sz="1000" dirty="0">
                <a:ea typeface="+mn-lt"/>
                <a:cs typeface="+mn-lt"/>
              </a:rPr>
              <a:t> </a:t>
            </a:r>
            <a:r>
              <a:rPr lang="ru-RU" sz="1000" dirty="0" err="1">
                <a:ea typeface="+mn-lt"/>
                <a:cs typeface="+mn-lt"/>
              </a:rPr>
              <a:t>ще</a:t>
            </a:r>
            <a:r>
              <a:rPr lang="ru-RU" sz="1000" dirty="0">
                <a:ea typeface="+mn-lt"/>
                <a:cs typeface="+mn-lt"/>
              </a:rPr>
              <a:t> Ви </a:t>
            </a:r>
            <a:r>
              <a:rPr lang="ru-RU" sz="1000" dirty="0" err="1">
                <a:ea typeface="+mn-lt"/>
                <a:cs typeface="+mn-lt"/>
              </a:rPr>
              <a:t>бъде</a:t>
            </a:r>
            <a:r>
              <a:rPr lang="ru-RU" sz="1000" dirty="0">
                <a:ea typeface="+mn-lt"/>
                <a:cs typeface="+mn-lt"/>
              </a:rPr>
              <a:t> </a:t>
            </a:r>
            <a:r>
              <a:rPr lang="ru-RU" sz="1000" dirty="0" err="1">
                <a:ea typeface="+mn-lt"/>
                <a:cs typeface="+mn-lt"/>
              </a:rPr>
              <a:t>изключително</a:t>
            </a:r>
            <a:r>
              <a:rPr lang="ru-RU" sz="1000" dirty="0">
                <a:ea typeface="+mn-lt"/>
                <a:cs typeface="+mn-lt"/>
              </a:rPr>
              <a:t> полезна при </a:t>
            </a:r>
            <a:r>
              <a:rPr lang="ru-RU" sz="1000" dirty="0" err="1">
                <a:ea typeface="+mn-lt"/>
                <a:cs typeface="+mn-lt"/>
              </a:rPr>
              <a:t>вземането</a:t>
            </a:r>
            <a:r>
              <a:rPr lang="ru-RU" sz="1000" dirty="0">
                <a:ea typeface="+mn-lt"/>
                <a:cs typeface="+mn-lt"/>
              </a:rPr>
              <a:t> на решение, </a:t>
            </a:r>
            <a:r>
              <a:rPr lang="ru-RU" sz="1000" dirty="0" err="1">
                <a:ea typeface="+mn-lt"/>
                <a:cs typeface="+mn-lt"/>
              </a:rPr>
              <a:t>защото</a:t>
            </a:r>
            <a:r>
              <a:rPr lang="ru-RU" sz="1000" dirty="0">
                <a:ea typeface="+mn-lt"/>
                <a:cs typeface="+mn-lt"/>
              </a:rPr>
              <a:t> </a:t>
            </a:r>
            <a:r>
              <a:rPr lang="ru-RU" sz="1000" dirty="0" err="1">
                <a:ea typeface="+mn-lt"/>
                <a:cs typeface="+mn-lt"/>
              </a:rPr>
              <a:t>ще</a:t>
            </a:r>
            <a:r>
              <a:rPr lang="ru-RU" sz="1000" dirty="0">
                <a:ea typeface="+mn-lt"/>
                <a:cs typeface="+mn-lt"/>
              </a:rPr>
              <a:t> получите, подробна информация.</a:t>
            </a:r>
            <a:endParaRPr lang="en-US" dirty="0">
              <a:ea typeface="+mn-lt"/>
              <a:cs typeface="+mn-lt"/>
            </a:endParaRPr>
          </a:p>
        </p:txBody>
      </p:sp>
      <p:cxnSp>
        <p:nvCxnSpPr>
          <p:cNvPr id="17" name="Connector: Elbow 41">
            <a:extLst>
              <a:ext uri="{FF2B5EF4-FFF2-40B4-BE49-F238E27FC236}">
                <a16:creationId xmlns:a16="http://schemas.microsoft.com/office/drawing/2014/main" id="{2CC7F9CF-AB9F-8290-1F53-49F17B88283A}"/>
              </a:ext>
            </a:extLst>
          </p:cNvPr>
          <p:cNvCxnSpPr>
            <a:cxnSpLocks/>
          </p:cNvCxnSpPr>
          <p:nvPr/>
        </p:nvCxnSpPr>
        <p:spPr>
          <a:xfrm>
            <a:off x="7531879" y="4494403"/>
            <a:ext cx="370262" cy="7018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97507406"/>
      </p:ext>
    </p:extLst>
  </p:cSld>
  <p:clrMapOvr>
    <a:masterClrMapping/>
  </p:clrMapOvr>
  <p:extLst>
    <p:ext uri="{6950BFC3-D8DA-4A85-94F7-54DA5524770B}">
      <p188:commentRel xmlns:p188="http://schemas.microsoft.com/office/powerpoint/2018/8/main" r:id="rId2"/>
    </p:ext>
  </p:extLs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36E29E-ADF1-0385-F01F-1576407D285A}"/>
            </a:ext>
          </a:extLst>
        </p:cNvPr>
        <p:cNvGrpSpPr/>
        <p:nvPr/>
      </p:nvGrpSpPr>
      <p:grpSpPr>
        <a:xfrm>
          <a:off x="0" y="0"/>
          <a:ext cx="0" cy="0"/>
          <a:chOff x="0" y="0"/>
          <a:chExt cx="0" cy="0"/>
        </a:xfrm>
      </p:grpSpPr>
      <p:sp>
        <p:nvSpPr>
          <p:cNvPr id="25" name="Rectangle 28">
            <a:extLst>
              <a:ext uri="{FF2B5EF4-FFF2-40B4-BE49-F238E27FC236}">
                <a16:creationId xmlns:a16="http://schemas.microsoft.com/office/drawing/2014/main" id="{D5014AEB-BB95-CA21-416C-1A94301FD703}"/>
              </a:ext>
            </a:extLst>
          </p:cNvPr>
          <p:cNvSpPr/>
          <p:nvPr/>
        </p:nvSpPr>
        <p:spPr>
          <a:xfrm>
            <a:off x="-15824" y="1599"/>
            <a:ext cx="1465320" cy="6859628"/>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400">
              <a:latin typeface="Aptos"/>
              <a:ea typeface="Calibri"/>
              <a:cs typeface="Calibri"/>
            </a:endParaRPr>
          </a:p>
        </p:txBody>
      </p:sp>
      <p:sp>
        <p:nvSpPr>
          <p:cNvPr id="26" name="Rectangle 29">
            <a:extLst>
              <a:ext uri="{FF2B5EF4-FFF2-40B4-BE49-F238E27FC236}">
                <a16:creationId xmlns:a16="http://schemas.microsoft.com/office/drawing/2014/main" id="{352B946D-B714-2C51-5F5E-8BE615065CF3}"/>
              </a:ext>
            </a:extLst>
          </p:cNvPr>
          <p:cNvSpPr/>
          <p:nvPr/>
        </p:nvSpPr>
        <p:spPr>
          <a:xfrm>
            <a:off x="-1671" y="2528038"/>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Типове клиенти</a:t>
            </a:r>
            <a:endParaRPr lang="en-GB" sz="1400">
              <a:latin typeface="Aptos"/>
              <a:ea typeface="Calibri"/>
              <a:cs typeface="Calibri"/>
            </a:endParaRPr>
          </a:p>
        </p:txBody>
      </p:sp>
      <p:sp>
        <p:nvSpPr>
          <p:cNvPr id="27" name="Rectangle 30">
            <a:extLst>
              <a:ext uri="{FF2B5EF4-FFF2-40B4-BE49-F238E27FC236}">
                <a16:creationId xmlns:a16="http://schemas.microsoft.com/office/drawing/2014/main" id="{D2A926AB-2CDD-8647-AC1A-B78D1957273E}"/>
              </a:ext>
            </a:extLst>
          </p:cNvPr>
          <p:cNvSpPr/>
          <p:nvPr/>
        </p:nvSpPr>
        <p:spPr>
          <a:xfrm>
            <a:off x="8626" y="1913210"/>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002060"/>
                </a:solidFill>
                <a:latin typeface="Aptos"/>
                <a:ea typeface="Calibri"/>
                <a:cs typeface="Calibri"/>
              </a:rPr>
              <a:t>Сценарии</a:t>
            </a:r>
            <a:endParaRPr lang="en-GB" sz="1400">
              <a:solidFill>
                <a:srgbClr val="002060"/>
              </a:solidFill>
              <a:latin typeface="Aptos"/>
              <a:ea typeface="Calibri"/>
              <a:cs typeface="Calibri"/>
            </a:endParaRPr>
          </a:p>
        </p:txBody>
      </p:sp>
      <p:sp>
        <p:nvSpPr>
          <p:cNvPr id="28" name="Rectangle 31">
            <a:extLst>
              <a:ext uri="{FF2B5EF4-FFF2-40B4-BE49-F238E27FC236}">
                <a16:creationId xmlns:a16="http://schemas.microsoft.com/office/drawing/2014/main" id="{1DAC3158-F9D9-9B7C-85C6-E46BA0E93910}"/>
              </a:ext>
            </a:extLst>
          </p:cNvPr>
          <p:cNvSpPr/>
          <p:nvPr/>
        </p:nvSpPr>
        <p:spPr>
          <a:xfrm>
            <a:off x="-1671" y="1298382"/>
            <a:ext cx="1442908" cy="4485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chemeClr val="bg1"/>
                </a:solidFill>
                <a:latin typeface="Aptos"/>
                <a:ea typeface="Calibri"/>
                <a:cs typeface="Calibri"/>
              </a:rPr>
              <a:t>Стъпки в обаждането</a:t>
            </a:r>
            <a:endParaRPr lang="en-GB" sz="1400">
              <a:solidFill>
                <a:schemeClr val="bg1"/>
              </a:solidFill>
              <a:latin typeface="Aptos"/>
              <a:ea typeface="Calibri"/>
              <a:cs typeface="Calibri"/>
            </a:endParaRPr>
          </a:p>
        </p:txBody>
      </p:sp>
      <p:sp>
        <p:nvSpPr>
          <p:cNvPr id="29" name="Rectangle 3">
            <a:extLst>
              <a:ext uri="{FF2B5EF4-FFF2-40B4-BE49-F238E27FC236}">
                <a16:creationId xmlns:a16="http://schemas.microsoft.com/office/drawing/2014/main" id="{842F2BF7-2530-09B3-B6D8-C870EDB36A24}"/>
              </a:ext>
            </a:extLst>
          </p:cNvPr>
          <p:cNvSpPr/>
          <p:nvPr/>
        </p:nvSpPr>
        <p:spPr>
          <a:xfrm>
            <a:off x="1443475" y="4245"/>
            <a:ext cx="5338363" cy="67724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30" name="Rectangle 4">
            <a:extLst>
              <a:ext uri="{FF2B5EF4-FFF2-40B4-BE49-F238E27FC236}">
                <a16:creationId xmlns:a16="http://schemas.microsoft.com/office/drawing/2014/main" id="{785F579B-17A0-BEE3-6033-B139F11EE31A}"/>
              </a:ext>
            </a:extLst>
          </p:cNvPr>
          <p:cNvSpPr/>
          <p:nvPr/>
        </p:nvSpPr>
        <p:spPr>
          <a:xfrm>
            <a:off x="6788435" y="4245"/>
            <a:ext cx="5417300" cy="677242"/>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31" name="Rectangle 28">
            <a:extLst>
              <a:ext uri="{FF2B5EF4-FFF2-40B4-BE49-F238E27FC236}">
                <a16:creationId xmlns:a16="http://schemas.microsoft.com/office/drawing/2014/main" id="{7B63D138-5D4F-A923-D2B4-FF2B36B7F5C0}"/>
              </a:ext>
            </a:extLst>
          </p:cNvPr>
          <p:cNvSpPr/>
          <p:nvPr/>
        </p:nvSpPr>
        <p:spPr>
          <a:xfrm>
            <a:off x="-15827" y="690328"/>
            <a:ext cx="1465322"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FFFFFF"/>
                </a:solidFill>
                <a:latin typeface="Aptos"/>
                <a:ea typeface="Calibri"/>
                <a:cs typeface="Calibri"/>
              </a:rPr>
              <a:t>Подготовка</a:t>
            </a:r>
            <a:endParaRPr lang="en-GB" sz="1400">
              <a:solidFill>
                <a:srgbClr val="FFFFFF"/>
              </a:solidFill>
              <a:latin typeface="Aptos"/>
              <a:ea typeface="Calibri"/>
              <a:cs typeface="Calibri"/>
            </a:endParaRPr>
          </a:p>
        </p:txBody>
      </p:sp>
      <p:pic>
        <p:nvPicPr>
          <p:cNvPr id="2" name="Картина 1" descr="Картина, която съдържа текст, екранна снимка, софтуер, Уеб страница&#10;&#10;Генерирано от ИИ съдържание може да е неправилно.">
            <a:extLst>
              <a:ext uri="{FF2B5EF4-FFF2-40B4-BE49-F238E27FC236}">
                <a16:creationId xmlns:a16="http://schemas.microsoft.com/office/drawing/2014/main" id="{D9031E4C-CB88-869A-BA50-95DD25AF068A}"/>
              </a:ext>
            </a:extLst>
          </p:cNvPr>
          <p:cNvPicPr>
            <a:picLocks noChangeAspect="1"/>
          </p:cNvPicPr>
          <p:nvPr/>
        </p:nvPicPr>
        <p:blipFill>
          <a:blip r:embed="rId2"/>
          <a:stretch>
            <a:fillRect/>
          </a:stretch>
        </p:blipFill>
        <p:spPr>
          <a:xfrm>
            <a:off x="1574800" y="794695"/>
            <a:ext cx="10434320" cy="5868049"/>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
        <p:nvSpPr>
          <p:cNvPr id="4" name="Балонче за говор: правоъгълник със заоблени ъгли 10">
            <a:extLst>
              <a:ext uri="{FF2B5EF4-FFF2-40B4-BE49-F238E27FC236}">
                <a16:creationId xmlns:a16="http://schemas.microsoft.com/office/drawing/2014/main" id="{FF2A75A7-60FF-4A3B-3305-DAB5C4DC5F4D}"/>
              </a:ext>
            </a:extLst>
          </p:cNvPr>
          <p:cNvSpPr/>
          <p:nvPr/>
        </p:nvSpPr>
        <p:spPr>
          <a:xfrm>
            <a:off x="2314227" y="1338179"/>
            <a:ext cx="9108802" cy="4421949"/>
          </a:xfrm>
          <a:prstGeom prst="roundRect">
            <a:avLst>
              <a:gd name="adj" fmla="val 3452"/>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bg-BG" sz="1400"/>
          </a:p>
        </p:txBody>
      </p:sp>
      <p:sp>
        <p:nvSpPr>
          <p:cNvPr id="6" name="Правоъгълник: със заоблени ъгли 16">
            <a:extLst>
              <a:ext uri="{FF2B5EF4-FFF2-40B4-BE49-F238E27FC236}">
                <a16:creationId xmlns:a16="http://schemas.microsoft.com/office/drawing/2014/main" id="{16C7D69B-F36F-E7C9-407B-3A14A80EE94B}"/>
              </a:ext>
            </a:extLst>
          </p:cNvPr>
          <p:cNvSpPr/>
          <p:nvPr/>
        </p:nvSpPr>
        <p:spPr>
          <a:xfrm>
            <a:off x="4519521" y="5101371"/>
            <a:ext cx="4206482" cy="459561"/>
          </a:xfrm>
          <a:prstGeom prst="roundRect">
            <a:avLst>
              <a:gd name="adj" fmla="val 50000"/>
            </a:avLst>
          </a:prstGeom>
          <a:solidFill>
            <a:schemeClr val="bg1"/>
          </a:solidFill>
          <a:ln>
            <a:noFill/>
          </a:ln>
          <a:effectLst>
            <a:outerShdw blurRad="50800" dist="38100" dir="5400000" algn="t" rotWithShape="0">
              <a:prstClr val="black">
                <a:alpha val="40000"/>
              </a:prstClr>
            </a:outerShdw>
          </a:effectLst>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bg-BG" b="1">
                <a:solidFill>
                  <a:srgbClr val="002060"/>
                </a:solidFill>
              </a:rPr>
              <a:t>Тренирай</a:t>
            </a:r>
          </a:p>
        </p:txBody>
      </p:sp>
      <p:sp>
        <p:nvSpPr>
          <p:cNvPr id="8" name="Текстово поле 15">
            <a:extLst>
              <a:ext uri="{FF2B5EF4-FFF2-40B4-BE49-F238E27FC236}">
                <a16:creationId xmlns:a16="http://schemas.microsoft.com/office/drawing/2014/main" id="{CF59E3E1-0C6A-EFD6-ED9A-17163AABE672}"/>
              </a:ext>
            </a:extLst>
          </p:cNvPr>
          <p:cNvSpPr txBox="1"/>
          <p:nvPr/>
        </p:nvSpPr>
        <p:spPr>
          <a:xfrm>
            <a:off x="3042789" y="1663241"/>
            <a:ext cx="7870480" cy="3529787"/>
          </a:xfrm>
          <a:prstGeom prst="rect">
            <a:avLst/>
          </a:prstGeom>
          <a:noFill/>
        </p:spPr>
        <p:txBody>
          <a:bodyPr wrap="square" rtlCol="0">
            <a:spAutoFit/>
          </a:bodyPr>
          <a:lstStyle/>
          <a:p>
            <a:r>
              <a:rPr lang="ru-RU" sz="1200" b="1" dirty="0">
                <a:solidFill>
                  <a:schemeClr val="bg1"/>
                </a:solidFill>
              </a:rPr>
              <a:t>За продукт „Пенсионер“</a:t>
            </a:r>
            <a:br>
              <a:rPr lang="ru-RU" sz="1200" dirty="0">
                <a:solidFill>
                  <a:schemeClr val="bg1"/>
                </a:solidFill>
              </a:rPr>
            </a:br>
            <a:r>
              <a:rPr lang="ru-RU" sz="1200" dirty="0">
                <a:solidFill>
                  <a:schemeClr val="bg1"/>
                </a:solidFill>
              </a:rPr>
              <a:t>Тип контакт: </a:t>
            </a:r>
            <a:r>
              <a:rPr lang="ru-RU" sz="1200" b="1" dirty="0" err="1">
                <a:solidFill>
                  <a:schemeClr val="bg1"/>
                </a:solidFill>
              </a:rPr>
              <a:t>топъл</a:t>
            </a:r>
            <a:r>
              <a:rPr lang="ru-RU" sz="1200" b="1" dirty="0">
                <a:solidFill>
                  <a:schemeClr val="bg1"/>
                </a:solidFill>
              </a:rPr>
              <a:t> / регулярен</a:t>
            </a:r>
            <a:br>
              <a:rPr lang="ru-RU" sz="1200" dirty="0">
                <a:solidFill>
                  <a:schemeClr val="bg1"/>
                </a:solidFill>
              </a:rPr>
            </a:br>
            <a:r>
              <a:rPr lang="ru-RU" sz="1200" dirty="0">
                <a:solidFill>
                  <a:schemeClr val="bg1"/>
                </a:solidFill>
              </a:rPr>
              <a:t>Персонаж: </a:t>
            </a:r>
            <a:r>
              <a:rPr lang="ru-RU" sz="1200" b="1" dirty="0">
                <a:solidFill>
                  <a:schemeClr val="bg1"/>
                </a:solidFill>
              </a:rPr>
              <a:t>Мария Стоянова</a:t>
            </a:r>
            <a:br>
              <a:rPr lang="ru-RU" sz="1200" dirty="0">
                <a:solidFill>
                  <a:schemeClr val="bg1"/>
                </a:solidFill>
              </a:rPr>
            </a:br>
            <a:r>
              <a:rPr lang="ru-RU" sz="1200" dirty="0" err="1">
                <a:solidFill>
                  <a:schemeClr val="bg1"/>
                </a:solidFill>
              </a:rPr>
              <a:t>Профил</a:t>
            </a:r>
            <a:r>
              <a:rPr lang="ru-RU" sz="1200" dirty="0">
                <a:solidFill>
                  <a:schemeClr val="bg1"/>
                </a:solidFill>
              </a:rPr>
              <a:t>: </a:t>
            </a:r>
            <a:r>
              <a:rPr lang="ru-RU" sz="1200" b="1" dirty="0">
                <a:solidFill>
                  <a:schemeClr val="bg1"/>
                </a:solidFill>
              </a:rPr>
              <a:t>клиент за продукт „Пенсионер“, 67 г.</a:t>
            </a:r>
            <a:br>
              <a:rPr lang="ru-RU" sz="1200" dirty="0">
                <a:solidFill>
                  <a:schemeClr val="bg1"/>
                </a:solidFill>
              </a:rPr>
            </a:br>
            <a:r>
              <a:rPr lang="ru-RU" sz="1200" b="1" dirty="0">
                <a:solidFill>
                  <a:schemeClr val="bg1"/>
                </a:solidFill>
              </a:rPr>
              <a:t>Контекст: </a:t>
            </a:r>
            <a:r>
              <a:rPr lang="ru-RU" sz="1200" dirty="0">
                <a:solidFill>
                  <a:schemeClr val="bg1"/>
                </a:solidFill>
              </a:rPr>
              <a:t>иска уважение, разбираем </a:t>
            </a:r>
            <a:r>
              <a:rPr lang="ru-RU" sz="1200" dirty="0" err="1">
                <a:solidFill>
                  <a:schemeClr val="bg1"/>
                </a:solidFill>
              </a:rPr>
              <a:t>език</a:t>
            </a:r>
            <a:r>
              <a:rPr lang="ru-RU" sz="1200" dirty="0">
                <a:solidFill>
                  <a:schemeClr val="bg1"/>
                </a:solidFill>
              </a:rPr>
              <a:t> и спокойствие.</a:t>
            </a:r>
            <a:br>
              <a:rPr lang="ru-RU" sz="1200" dirty="0">
                <a:solidFill>
                  <a:schemeClr val="bg1"/>
                </a:solidFill>
              </a:rPr>
            </a:br>
            <a:r>
              <a:rPr lang="ru-RU" sz="1200" b="1" dirty="0">
                <a:solidFill>
                  <a:schemeClr val="bg1"/>
                </a:solidFill>
              </a:rPr>
              <a:t>Цел: </a:t>
            </a:r>
            <a:r>
              <a:rPr lang="ru-RU" sz="1200" dirty="0">
                <a:solidFill>
                  <a:schemeClr val="bg1"/>
                </a:solidFill>
              </a:rPr>
              <a:t>да се </a:t>
            </a:r>
            <a:r>
              <a:rPr lang="ru-RU" sz="1200" dirty="0" err="1">
                <a:solidFill>
                  <a:schemeClr val="bg1"/>
                </a:solidFill>
              </a:rPr>
              <a:t>обясни</a:t>
            </a:r>
            <a:r>
              <a:rPr lang="ru-RU" sz="1200" dirty="0">
                <a:solidFill>
                  <a:schemeClr val="bg1"/>
                </a:solidFill>
              </a:rPr>
              <a:t> </a:t>
            </a:r>
            <a:r>
              <a:rPr lang="ru-RU" sz="1200" dirty="0" err="1">
                <a:solidFill>
                  <a:schemeClr val="bg1"/>
                </a:solidFill>
              </a:rPr>
              <a:t>предложението</a:t>
            </a:r>
            <a:r>
              <a:rPr lang="ru-RU" sz="1200" dirty="0">
                <a:solidFill>
                  <a:schemeClr val="bg1"/>
                </a:solidFill>
              </a:rPr>
              <a:t> </a:t>
            </a:r>
            <a:r>
              <a:rPr lang="ru-RU" sz="1200" dirty="0" err="1">
                <a:solidFill>
                  <a:schemeClr val="bg1"/>
                </a:solidFill>
              </a:rPr>
              <a:t>човешки</a:t>
            </a:r>
            <a:r>
              <a:rPr lang="ru-RU" sz="1200" dirty="0">
                <a:solidFill>
                  <a:schemeClr val="bg1"/>
                </a:solidFill>
              </a:rPr>
              <a:t>, спокойно и разбираемо.</a:t>
            </a:r>
            <a:br>
              <a:rPr lang="ru-RU" sz="1200" dirty="0">
                <a:solidFill>
                  <a:schemeClr val="bg1"/>
                </a:solidFill>
              </a:rPr>
            </a:br>
            <a:r>
              <a:rPr lang="ru-RU" sz="1200" b="1" dirty="0">
                <a:solidFill>
                  <a:schemeClr val="bg1"/>
                </a:solidFill>
              </a:rPr>
              <a:t>Логика на разговора: </a:t>
            </a:r>
            <a:r>
              <a:rPr lang="ru-RU" sz="1200" dirty="0" err="1">
                <a:solidFill>
                  <a:schemeClr val="bg1"/>
                </a:solidFill>
              </a:rPr>
              <a:t>започваш</a:t>
            </a:r>
            <a:r>
              <a:rPr lang="ru-RU" sz="1200" dirty="0">
                <a:solidFill>
                  <a:schemeClr val="bg1"/>
                </a:solidFill>
              </a:rPr>
              <a:t> спокойно и </a:t>
            </a:r>
            <a:r>
              <a:rPr lang="ru-RU" sz="1200" dirty="0" err="1">
                <a:solidFill>
                  <a:schemeClr val="bg1"/>
                </a:solidFill>
              </a:rPr>
              <a:t>уважително</a:t>
            </a:r>
            <a:r>
              <a:rPr lang="ru-RU" sz="1200" dirty="0">
                <a:solidFill>
                  <a:schemeClr val="bg1"/>
                </a:solidFill>
              </a:rPr>
              <a:t>; </a:t>
            </a:r>
            <a:r>
              <a:rPr lang="ru-RU" sz="1200" dirty="0" err="1">
                <a:solidFill>
                  <a:schemeClr val="bg1"/>
                </a:solidFill>
              </a:rPr>
              <a:t>обясняваш</a:t>
            </a:r>
            <a:r>
              <a:rPr lang="ru-RU" sz="1200" dirty="0">
                <a:solidFill>
                  <a:schemeClr val="bg1"/>
                </a:solidFill>
              </a:rPr>
              <a:t> повода с </a:t>
            </a:r>
            <a:r>
              <a:rPr lang="ru-RU" sz="1200" dirty="0" err="1">
                <a:solidFill>
                  <a:schemeClr val="bg1"/>
                </a:solidFill>
              </a:rPr>
              <a:t>достъпен</a:t>
            </a:r>
            <a:r>
              <a:rPr lang="ru-RU" sz="1200" dirty="0">
                <a:solidFill>
                  <a:schemeClr val="bg1"/>
                </a:solidFill>
              </a:rPr>
              <a:t> </a:t>
            </a:r>
            <a:r>
              <a:rPr lang="ru-RU" sz="1200" dirty="0" err="1">
                <a:solidFill>
                  <a:schemeClr val="bg1"/>
                </a:solidFill>
              </a:rPr>
              <a:t>език</a:t>
            </a:r>
            <a:r>
              <a:rPr lang="ru-RU" sz="1200" dirty="0">
                <a:solidFill>
                  <a:schemeClr val="bg1"/>
                </a:solidFill>
              </a:rPr>
              <a:t>; </a:t>
            </a:r>
            <a:r>
              <a:rPr lang="ru-RU" sz="1200" dirty="0" err="1">
                <a:solidFill>
                  <a:schemeClr val="bg1"/>
                </a:solidFill>
              </a:rPr>
              <a:t>даваш</a:t>
            </a:r>
            <a:r>
              <a:rPr lang="ru-RU" sz="1200" dirty="0">
                <a:solidFill>
                  <a:schemeClr val="bg1"/>
                </a:solidFill>
              </a:rPr>
              <a:t> информация на малки </a:t>
            </a:r>
            <a:r>
              <a:rPr lang="ru-RU" sz="1200" dirty="0" err="1">
                <a:solidFill>
                  <a:schemeClr val="bg1"/>
                </a:solidFill>
              </a:rPr>
              <a:t>стъпки</a:t>
            </a:r>
            <a:r>
              <a:rPr lang="ru-RU" sz="1200" dirty="0">
                <a:solidFill>
                  <a:schemeClr val="bg1"/>
                </a:solidFill>
              </a:rPr>
              <a:t>; </a:t>
            </a:r>
            <a:r>
              <a:rPr lang="ru-RU" sz="1200" dirty="0" err="1">
                <a:solidFill>
                  <a:schemeClr val="bg1"/>
                </a:solidFill>
              </a:rPr>
              <a:t>проверяваш</a:t>
            </a:r>
            <a:r>
              <a:rPr lang="ru-RU" sz="1200" dirty="0">
                <a:solidFill>
                  <a:schemeClr val="bg1"/>
                </a:solidFill>
              </a:rPr>
              <a:t> дали </a:t>
            </a:r>
            <a:r>
              <a:rPr lang="ru-RU" sz="1200" dirty="0" err="1">
                <a:solidFill>
                  <a:schemeClr val="bg1"/>
                </a:solidFill>
              </a:rPr>
              <a:t>клиентът</a:t>
            </a:r>
            <a:r>
              <a:rPr lang="ru-RU" sz="1200" dirty="0">
                <a:solidFill>
                  <a:schemeClr val="bg1"/>
                </a:solidFill>
              </a:rPr>
              <a:t> следи разговора; </a:t>
            </a:r>
            <a:r>
              <a:rPr lang="ru-RU" sz="1200" dirty="0" err="1">
                <a:solidFill>
                  <a:schemeClr val="bg1"/>
                </a:solidFill>
              </a:rPr>
              <a:t>насочваш</a:t>
            </a:r>
            <a:r>
              <a:rPr lang="ru-RU" sz="1200" dirty="0">
                <a:solidFill>
                  <a:schemeClr val="bg1"/>
                </a:solidFill>
              </a:rPr>
              <a:t> </a:t>
            </a:r>
            <a:r>
              <a:rPr lang="ru-RU" sz="1200" dirty="0" err="1">
                <a:solidFill>
                  <a:schemeClr val="bg1"/>
                </a:solidFill>
              </a:rPr>
              <a:t>към</a:t>
            </a:r>
            <a:r>
              <a:rPr lang="ru-RU" sz="1200" dirty="0">
                <a:solidFill>
                  <a:schemeClr val="bg1"/>
                </a:solidFill>
              </a:rPr>
              <a:t> удобна </a:t>
            </a:r>
            <a:r>
              <a:rPr lang="ru-RU" sz="1200" dirty="0" err="1">
                <a:solidFill>
                  <a:schemeClr val="bg1"/>
                </a:solidFill>
              </a:rPr>
              <a:t>следваща</a:t>
            </a:r>
            <a:r>
              <a:rPr lang="ru-RU" sz="1200" dirty="0">
                <a:solidFill>
                  <a:schemeClr val="bg1"/>
                </a:solidFill>
              </a:rPr>
              <a:t> </a:t>
            </a:r>
            <a:r>
              <a:rPr lang="ru-RU" sz="1200" dirty="0" err="1">
                <a:solidFill>
                  <a:schemeClr val="bg1"/>
                </a:solidFill>
              </a:rPr>
              <a:t>стъпка</a:t>
            </a:r>
            <a:r>
              <a:rPr lang="ru-RU" sz="1200" dirty="0">
                <a:solidFill>
                  <a:schemeClr val="bg1"/>
                </a:solidFill>
              </a:rPr>
              <a:t>.</a:t>
            </a:r>
            <a:br>
              <a:rPr lang="ru-RU" sz="1200" dirty="0">
                <a:solidFill>
                  <a:schemeClr val="bg1"/>
                </a:solidFill>
              </a:rPr>
            </a:br>
            <a:r>
              <a:rPr lang="ru-RU" sz="1200" b="1" dirty="0" err="1">
                <a:solidFill>
                  <a:schemeClr val="bg1"/>
                </a:solidFill>
              </a:rPr>
              <a:t>Примерни</a:t>
            </a:r>
            <a:r>
              <a:rPr lang="ru-RU" sz="1200" b="1" dirty="0">
                <a:solidFill>
                  <a:schemeClr val="bg1"/>
                </a:solidFill>
              </a:rPr>
              <a:t> реплики: </a:t>
            </a:r>
            <a:r>
              <a:rPr lang="ru-RU" sz="1200" dirty="0">
                <a:solidFill>
                  <a:schemeClr val="bg1"/>
                </a:solidFill>
              </a:rPr>
              <a:t>„</a:t>
            </a:r>
            <a:r>
              <a:rPr lang="ru-RU" sz="1200" dirty="0" err="1">
                <a:solidFill>
                  <a:schemeClr val="bg1"/>
                </a:solidFill>
              </a:rPr>
              <a:t>Ще</a:t>
            </a:r>
            <a:r>
              <a:rPr lang="ru-RU" sz="1200" dirty="0">
                <a:solidFill>
                  <a:schemeClr val="bg1"/>
                </a:solidFill>
              </a:rPr>
              <a:t> Ви </a:t>
            </a:r>
            <a:r>
              <a:rPr lang="ru-RU" sz="1200" dirty="0" err="1">
                <a:solidFill>
                  <a:schemeClr val="bg1"/>
                </a:solidFill>
              </a:rPr>
              <a:t>обясня</a:t>
            </a:r>
            <a:r>
              <a:rPr lang="ru-RU" sz="1200" dirty="0">
                <a:solidFill>
                  <a:schemeClr val="bg1"/>
                </a:solidFill>
              </a:rPr>
              <a:t> </a:t>
            </a:r>
            <a:r>
              <a:rPr lang="ru-RU" sz="1200" dirty="0" err="1">
                <a:solidFill>
                  <a:schemeClr val="bg1"/>
                </a:solidFill>
              </a:rPr>
              <a:t>съвсем</a:t>
            </a:r>
            <a:r>
              <a:rPr lang="ru-RU" sz="1200" dirty="0">
                <a:solidFill>
                  <a:schemeClr val="bg1"/>
                </a:solidFill>
              </a:rPr>
              <a:t> спокойно и разбираемо </a:t>
            </a:r>
            <a:r>
              <a:rPr lang="ru-RU" sz="1200" dirty="0" err="1">
                <a:solidFill>
                  <a:schemeClr val="bg1"/>
                </a:solidFill>
              </a:rPr>
              <a:t>какво</a:t>
            </a:r>
            <a:r>
              <a:rPr lang="ru-RU" sz="1200" dirty="0">
                <a:solidFill>
                  <a:schemeClr val="bg1"/>
                </a:solidFill>
              </a:rPr>
              <a:t> </a:t>
            </a:r>
            <a:r>
              <a:rPr lang="ru-RU" sz="1200" dirty="0" err="1">
                <a:solidFill>
                  <a:schemeClr val="bg1"/>
                </a:solidFill>
              </a:rPr>
              <a:t>представлява</a:t>
            </a:r>
            <a:r>
              <a:rPr lang="ru-RU" sz="1200" dirty="0">
                <a:solidFill>
                  <a:schemeClr val="bg1"/>
                </a:solidFill>
              </a:rPr>
              <a:t> </a:t>
            </a:r>
            <a:r>
              <a:rPr lang="ru-RU" sz="1200" dirty="0" err="1">
                <a:solidFill>
                  <a:schemeClr val="bg1"/>
                </a:solidFill>
              </a:rPr>
              <a:t>предложението</a:t>
            </a:r>
            <a:r>
              <a:rPr lang="ru-RU" sz="1200" dirty="0">
                <a:solidFill>
                  <a:schemeClr val="bg1"/>
                </a:solidFill>
              </a:rPr>
              <a:t>.“ / „</a:t>
            </a:r>
            <a:r>
              <a:rPr lang="ru-RU" sz="1200" dirty="0" err="1">
                <a:solidFill>
                  <a:schemeClr val="bg1"/>
                </a:solidFill>
              </a:rPr>
              <a:t>Нека</a:t>
            </a:r>
            <a:r>
              <a:rPr lang="ru-RU" sz="1200" dirty="0">
                <a:solidFill>
                  <a:schemeClr val="bg1"/>
                </a:solidFill>
              </a:rPr>
              <a:t> минем точка по точка.“ / „Най-</a:t>
            </a:r>
            <a:r>
              <a:rPr lang="ru-RU" sz="1200" dirty="0" err="1">
                <a:solidFill>
                  <a:schemeClr val="bg1"/>
                </a:solidFill>
              </a:rPr>
              <a:t>важното</a:t>
            </a:r>
            <a:r>
              <a:rPr lang="ru-RU" sz="1200" dirty="0">
                <a:solidFill>
                  <a:schemeClr val="bg1"/>
                </a:solidFill>
              </a:rPr>
              <a:t> за Вас е </a:t>
            </a:r>
            <a:r>
              <a:rPr lang="ru-RU" sz="1200" dirty="0" err="1">
                <a:solidFill>
                  <a:schemeClr val="bg1"/>
                </a:solidFill>
              </a:rPr>
              <a:t>следното</a:t>
            </a:r>
            <a:r>
              <a:rPr lang="ru-RU" sz="1200" dirty="0">
                <a:solidFill>
                  <a:schemeClr val="bg1"/>
                </a:solidFill>
              </a:rPr>
              <a:t>.“</a:t>
            </a:r>
            <a:br>
              <a:rPr lang="ru-RU" sz="1200" dirty="0">
                <a:solidFill>
                  <a:schemeClr val="bg1"/>
                </a:solidFill>
              </a:rPr>
            </a:br>
            <a:r>
              <a:rPr lang="ru-RU" sz="1200" b="1" dirty="0" err="1">
                <a:solidFill>
                  <a:schemeClr val="bg1"/>
                </a:solidFill>
              </a:rPr>
              <a:t>Възможни</a:t>
            </a:r>
            <a:r>
              <a:rPr lang="ru-RU" sz="1200" b="1" dirty="0">
                <a:solidFill>
                  <a:schemeClr val="bg1"/>
                </a:solidFill>
              </a:rPr>
              <a:t> </a:t>
            </a:r>
            <a:r>
              <a:rPr lang="ru-RU" sz="1200" b="1" dirty="0" err="1">
                <a:solidFill>
                  <a:schemeClr val="bg1"/>
                </a:solidFill>
              </a:rPr>
              <a:t>възражения</a:t>
            </a:r>
            <a:r>
              <a:rPr lang="ru-RU" sz="1200" b="1" dirty="0">
                <a:solidFill>
                  <a:schemeClr val="bg1"/>
                </a:solidFill>
              </a:rPr>
              <a:t>: </a:t>
            </a:r>
            <a:r>
              <a:rPr lang="ru-RU" sz="1200" dirty="0">
                <a:solidFill>
                  <a:schemeClr val="bg1"/>
                </a:solidFill>
              </a:rPr>
              <a:t>„Не </a:t>
            </a:r>
            <a:r>
              <a:rPr lang="ru-RU" sz="1200" dirty="0" err="1">
                <a:solidFill>
                  <a:schemeClr val="bg1"/>
                </a:solidFill>
              </a:rPr>
              <a:t>съм</a:t>
            </a:r>
            <a:r>
              <a:rPr lang="ru-RU" sz="1200" dirty="0">
                <a:solidFill>
                  <a:schemeClr val="bg1"/>
                </a:solidFill>
              </a:rPr>
              <a:t> </a:t>
            </a:r>
            <a:r>
              <a:rPr lang="ru-RU" sz="1200" dirty="0" err="1">
                <a:solidFill>
                  <a:schemeClr val="bg1"/>
                </a:solidFill>
              </a:rPr>
              <a:t>сигурен</a:t>
            </a:r>
            <a:r>
              <a:rPr lang="ru-RU" sz="1200" dirty="0">
                <a:solidFill>
                  <a:schemeClr val="bg1"/>
                </a:solidFill>
              </a:rPr>
              <a:t>, че </a:t>
            </a:r>
            <a:r>
              <a:rPr lang="ru-RU" sz="1200" dirty="0" err="1">
                <a:solidFill>
                  <a:schemeClr val="bg1"/>
                </a:solidFill>
              </a:rPr>
              <a:t>разбирам</a:t>
            </a:r>
            <a:r>
              <a:rPr lang="ru-RU" sz="1200" dirty="0">
                <a:solidFill>
                  <a:schemeClr val="bg1"/>
                </a:solidFill>
              </a:rPr>
              <a:t>.“, „Не искам да се </a:t>
            </a:r>
            <a:r>
              <a:rPr lang="ru-RU" sz="1200" dirty="0" err="1">
                <a:solidFill>
                  <a:schemeClr val="bg1"/>
                </a:solidFill>
              </a:rPr>
              <a:t>объркам</a:t>
            </a:r>
            <a:r>
              <a:rPr lang="ru-RU" sz="1200" dirty="0">
                <a:solidFill>
                  <a:schemeClr val="bg1"/>
                </a:solidFill>
              </a:rPr>
              <a:t>.“, „</a:t>
            </a:r>
            <a:r>
              <a:rPr lang="ru-RU" sz="1200" dirty="0" err="1">
                <a:solidFill>
                  <a:schemeClr val="bg1"/>
                </a:solidFill>
              </a:rPr>
              <a:t>Трябва</a:t>
            </a:r>
            <a:r>
              <a:rPr lang="ru-RU" sz="1200" dirty="0">
                <a:solidFill>
                  <a:schemeClr val="bg1"/>
                </a:solidFill>
              </a:rPr>
              <a:t> да </a:t>
            </a:r>
            <a:r>
              <a:rPr lang="ru-RU" sz="1200" dirty="0" err="1">
                <a:solidFill>
                  <a:schemeClr val="bg1"/>
                </a:solidFill>
              </a:rPr>
              <a:t>попитам</a:t>
            </a:r>
            <a:r>
              <a:rPr lang="ru-RU" sz="1200" dirty="0">
                <a:solidFill>
                  <a:schemeClr val="bg1"/>
                </a:solidFill>
              </a:rPr>
              <a:t> </a:t>
            </a:r>
            <a:r>
              <a:rPr lang="ru-RU" sz="1200" dirty="0" err="1">
                <a:solidFill>
                  <a:schemeClr val="bg1"/>
                </a:solidFill>
              </a:rPr>
              <a:t>близък</a:t>
            </a:r>
            <a:r>
              <a:rPr lang="ru-RU" sz="1200" dirty="0">
                <a:solidFill>
                  <a:schemeClr val="bg1"/>
                </a:solidFill>
              </a:rPr>
              <a:t> </a:t>
            </a:r>
            <a:r>
              <a:rPr lang="ru-RU" sz="1200" dirty="0" err="1">
                <a:solidFill>
                  <a:schemeClr val="bg1"/>
                </a:solidFill>
              </a:rPr>
              <a:t>човек</a:t>
            </a:r>
            <a:r>
              <a:rPr lang="ru-RU" sz="1200" dirty="0">
                <a:solidFill>
                  <a:schemeClr val="bg1"/>
                </a:solidFill>
              </a:rPr>
              <a:t>.“</a:t>
            </a:r>
            <a:br>
              <a:rPr lang="ru-RU" sz="1200" dirty="0">
                <a:solidFill>
                  <a:schemeClr val="bg1"/>
                </a:solidFill>
              </a:rPr>
            </a:br>
            <a:r>
              <a:rPr lang="ru-RU" sz="1200" b="1" dirty="0" err="1">
                <a:solidFill>
                  <a:schemeClr val="bg1"/>
                </a:solidFill>
              </a:rPr>
              <a:t>Подходящи</a:t>
            </a:r>
            <a:r>
              <a:rPr lang="ru-RU" sz="1200" b="1" dirty="0">
                <a:solidFill>
                  <a:schemeClr val="bg1"/>
                </a:solidFill>
              </a:rPr>
              <a:t> техники: </a:t>
            </a:r>
            <a:r>
              <a:rPr lang="ru-RU" sz="1200" b="1" dirty="0" err="1">
                <a:solidFill>
                  <a:schemeClr val="bg1"/>
                </a:solidFill>
              </a:rPr>
              <a:t>огледална</a:t>
            </a:r>
            <a:r>
              <a:rPr lang="ru-RU" sz="1200" b="1" dirty="0">
                <a:solidFill>
                  <a:schemeClr val="bg1"/>
                </a:solidFill>
              </a:rPr>
              <a:t>; </a:t>
            </a:r>
            <a:r>
              <a:rPr lang="ru-RU" sz="1200" b="1" dirty="0" err="1">
                <a:solidFill>
                  <a:schemeClr val="bg1"/>
                </a:solidFill>
              </a:rPr>
              <a:t>тирбушон</a:t>
            </a:r>
            <a:r>
              <a:rPr lang="ru-RU" sz="1200" b="1" dirty="0">
                <a:solidFill>
                  <a:schemeClr val="bg1"/>
                </a:solidFill>
              </a:rPr>
              <a:t>; </a:t>
            </a:r>
            <a:r>
              <a:rPr lang="ru-RU" sz="1200" b="1" dirty="0" err="1">
                <a:solidFill>
                  <a:schemeClr val="bg1"/>
                </a:solidFill>
              </a:rPr>
              <a:t>относителна</a:t>
            </a:r>
            <a:br>
              <a:rPr lang="ru-RU" sz="1200" dirty="0">
                <a:solidFill>
                  <a:schemeClr val="bg1"/>
                </a:solidFill>
              </a:rPr>
            </a:br>
            <a:r>
              <a:rPr lang="ru-RU" sz="1200" dirty="0" err="1">
                <a:solidFill>
                  <a:schemeClr val="bg1"/>
                </a:solidFill>
              </a:rPr>
              <a:t>Следваща</a:t>
            </a:r>
            <a:r>
              <a:rPr lang="ru-RU" sz="1200" dirty="0">
                <a:solidFill>
                  <a:schemeClr val="bg1"/>
                </a:solidFill>
              </a:rPr>
              <a:t> </a:t>
            </a:r>
            <a:r>
              <a:rPr lang="ru-RU" sz="1200" dirty="0" err="1">
                <a:solidFill>
                  <a:schemeClr val="bg1"/>
                </a:solidFill>
              </a:rPr>
              <a:t>стъпка</a:t>
            </a:r>
            <a:r>
              <a:rPr lang="ru-RU" sz="1200" dirty="0">
                <a:solidFill>
                  <a:schemeClr val="bg1"/>
                </a:solidFill>
              </a:rPr>
              <a:t> / </a:t>
            </a:r>
            <a:r>
              <a:rPr lang="ru-RU" sz="1200" dirty="0" err="1">
                <a:solidFill>
                  <a:schemeClr val="bg1"/>
                </a:solidFill>
              </a:rPr>
              <a:t>финализиране</a:t>
            </a:r>
            <a:r>
              <a:rPr lang="ru-RU" sz="1200" dirty="0">
                <a:solidFill>
                  <a:schemeClr val="bg1"/>
                </a:solidFill>
              </a:rPr>
              <a:t>: повторно </a:t>
            </a:r>
            <a:r>
              <a:rPr lang="ru-RU" sz="1200" dirty="0" err="1">
                <a:solidFill>
                  <a:schemeClr val="bg1"/>
                </a:solidFill>
              </a:rPr>
              <a:t>обяснение</a:t>
            </a:r>
            <a:r>
              <a:rPr lang="ru-RU" sz="1200" dirty="0">
                <a:solidFill>
                  <a:schemeClr val="bg1"/>
                </a:solidFill>
              </a:rPr>
              <a:t>, </a:t>
            </a:r>
            <a:r>
              <a:rPr lang="ru-RU" sz="1200" dirty="0" err="1">
                <a:solidFill>
                  <a:schemeClr val="bg1"/>
                </a:solidFill>
              </a:rPr>
              <a:t>лична</a:t>
            </a:r>
            <a:r>
              <a:rPr lang="ru-RU" sz="1200" dirty="0">
                <a:solidFill>
                  <a:schemeClr val="bg1"/>
                </a:solidFill>
              </a:rPr>
              <a:t> </a:t>
            </a:r>
            <a:r>
              <a:rPr lang="ru-RU" sz="1200" dirty="0" err="1">
                <a:solidFill>
                  <a:schemeClr val="bg1"/>
                </a:solidFill>
              </a:rPr>
              <a:t>среща</a:t>
            </a:r>
            <a:r>
              <a:rPr lang="ru-RU" sz="1200" dirty="0">
                <a:solidFill>
                  <a:schemeClr val="bg1"/>
                </a:solidFill>
              </a:rPr>
              <a:t> или разговор с </a:t>
            </a:r>
            <a:r>
              <a:rPr lang="ru-RU" sz="1200" dirty="0" err="1">
                <a:solidFill>
                  <a:schemeClr val="bg1"/>
                </a:solidFill>
              </a:rPr>
              <a:t>близък</a:t>
            </a:r>
            <a:r>
              <a:rPr lang="ru-RU" sz="1200" dirty="0">
                <a:solidFill>
                  <a:schemeClr val="bg1"/>
                </a:solidFill>
              </a:rPr>
              <a:t> </a:t>
            </a:r>
            <a:r>
              <a:rPr lang="ru-RU" sz="1200" dirty="0" err="1">
                <a:solidFill>
                  <a:schemeClr val="bg1"/>
                </a:solidFill>
              </a:rPr>
              <a:t>човек</a:t>
            </a:r>
            <a:r>
              <a:rPr lang="ru-RU" sz="1200" dirty="0">
                <a:solidFill>
                  <a:schemeClr val="bg1"/>
                </a:solidFill>
              </a:rPr>
              <a:t>; </a:t>
            </a:r>
            <a:r>
              <a:rPr lang="ru-RU" sz="1200" dirty="0" err="1">
                <a:solidFill>
                  <a:schemeClr val="bg1"/>
                </a:solidFill>
              </a:rPr>
              <a:t>ако</a:t>
            </a:r>
            <a:r>
              <a:rPr lang="ru-RU" sz="1200" dirty="0">
                <a:solidFill>
                  <a:schemeClr val="bg1"/>
                </a:solidFill>
              </a:rPr>
              <a:t> се </a:t>
            </a:r>
            <a:r>
              <a:rPr lang="ru-RU" sz="1200" dirty="0" err="1">
                <a:solidFill>
                  <a:schemeClr val="bg1"/>
                </a:solidFill>
              </a:rPr>
              <a:t>стигне</a:t>
            </a:r>
            <a:r>
              <a:rPr lang="ru-RU" sz="1200" dirty="0">
                <a:solidFill>
                  <a:schemeClr val="bg1"/>
                </a:solidFill>
              </a:rPr>
              <a:t> до </a:t>
            </a:r>
            <a:r>
              <a:rPr lang="ru-RU" sz="1200" dirty="0" err="1">
                <a:solidFill>
                  <a:schemeClr val="bg1"/>
                </a:solidFill>
              </a:rPr>
              <a:t>кандидатстване</a:t>
            </a:r>
            <a:r>
              <a:rPr lang="ru-RU" sz="1200" dirty="0">
                <a:solidFill>
                  <a:schemeClr val="bg1"/>
                </a:solidFill>
              </a:rPr>
              <a:t>, </a:t>
            </a:r>
            <a:r>
              <a:rPr lang="ru-RU" sz="1200" dirty="0" err="1">
                <a:solidFill>
                  <a:schemeClr val="bg1"/>
                </a:solidFill>
              </a:rPr>
              <a:t>документите</a:t>
            </a:r>
            <a:r>
              <a:rPr lang="ru-RU" sz="1200" dirty="0">
                <a:solidFill>
                  <a:schemeClr val="bg1"/>
                </a:solidFill>
              </a:rPr>
              <a:t> </a:t>
            </a:r>
            <a:r>
              <a:rPr lang="ru-RU" sz="1200" dirty="0" err="1">
                <a:solidFill>
                  <a:schemeClr val="bg1"/>
                </a:solidFill>
              </a:rPr>
              <a:t>могат</a:t>
            </a:r>
            <a:r>
              <a:rPr lang="ru-RU" sz="1200" dirty="0">
                <a:solidFill>
                  <a:schemeClr val="bg1"/>
                </a:solidFill>
              </a:rPr>
              <a:t> да се оформят при </a:t>
            </a:r>
            <a:r>
              <a:rPr lang="ru-RU" sz="1200" dirty="0" err="1">
                <a:solidFill>
                  <a:schemeClr val="bg1"/>
                </a:solidFill>
              </a:rPr>
              <a:t>лична</a:t>
            </a:r>
            <a:r>
              <a:rPr lang="ru-RU" sz="1200" dirty="0">
                <a:solidFill>
                  <a:schemeClr val="bg1"/>
                </a:solidFill>
              </a:rPr>
              <a:t> </a:t>
            </a:r>
            <a:r>
              <a:rPr lang="ru-RU" sz="1200" dirty="0" err="1">
                <a:solidFill>
                  <a:schemeClr val="bg1"/>
                </a:solidFill>
              </a:rPr>
              <a:t>среща</a:t>
            </a:r>
            <a:r>
              <a:rPr lang="ru-RU" sz="1200" dirty="0">
                <a:solidFill>
                  <a:schemeClr val="bg1"/>
                </a:solidFill>
              </a:rPr>
              <a:t> в офис или на </a:t>
            </a:r>
            <a:r>
              <a:rPr lang="ru-RU" sz="1200" dirty="0" err="1">
                <a:solidFill>
                  <a:schemeClr val="bg1"/>
                </a:solidFill>
              </a:rPr>
              <a:t>друго</a:t>
            </a:r>
            <a:r>
              <a:rPr lang="ru-RU" sz="1200" dirty="0">
                <a:solidFill>
                  <a:schemeClr val="bg1"/>
                </a:solidFill>
              </a:rPr>
              <a:t> удобно </a:t>
            </a:r>
            <a:r>
              <a:rPr lang="ru-RU" sz="1200" dirty="0" err="1">
                <a:solidFill>
                  <a:schemeClr val="bg1"/>
                </a:solidFill>
              </a:rPr>
              <a:t>място</a:t>
            </a:r>
            <a:r>
              <a:rPr lang="ru-RU" sz="1200" dirty="0">
                <a:solidFill>
                  <a:schemeClr val="bg1"/>
                </a:solidFill>
              </a:rPr>
              <a:t> чрез </a:t>
            </a:r>
            <a:r>
              <a:rPr lang="ru-RU" sz="1200" dirty="0" err="1">
                <a:solidFill>
                  <a:schemeClr val="bg1"/>
                </a:solidFill>
              </a:rPr>
              <a:t>мобилното</a:t>
            </a:r>
            <a:r>
              <a:rPr lang="ru-RU" sz="1200" dirty="0">
                <a:solidFill>
                  <a:schemeClr val="bg1"/>
                </a:solidFill>
              </a:rPr>
              <a:t> приложение на </a:t>
            </a:r>
            <a:r>
              <a:rPr lang="ru-RU" sz="1200" dirty="0" err="1">
                <a:solidFill>
                  <a:schemeClr val="bg1"/>
                </a:solidFill>
              </a:rPr>
              <a:t>кредитния</a:t>
            </a:r>
            <a:r>
              <a:rPr lang="ru-RU" sz="1200" dirty="0">
                <a:solidFill>
                  <a:schemeClr val="bg1"/>
                </a:solidFill>
              </a:rPr>
              <a:t> </a:t>
            </a:r>
            <a:r>
              <a:rPr lang="ru-RU" sz="1200" dirty="0" err="1">
                <a:solidFill>
                  <a:schemeClr val="bg1"/>
                </a:solidFill>
              </a:rPr>
              <a:t>консултант</a:t>
            </a:r>
            <a:r>
              <a:rPr lang="ru-RU" sz="1200" dirty="0">
                <a:solidFill>
                  <a:schemeClr val="bg1"/>
                </a:solidFill>
              </a:rPr>
              <a:t>.</a:t>
            </a:r>
            <a:br>
              <a:rPr lang="ru-RU" sz="1200" dirty="0">
                <a:solidFill>
                  <a:schemeClr val="bg1"/>
                </a:solidFill>
              </a:rPr>
            </a:br>
            <a:r>
              <a:rPr lang="ru-RU" sz="1200" b="1" dirty="0" err="1">
                <a:solidFill>
                  <a:schemeClr val="bg1"/>
                </a:solidFill>
              </a:rPr>
              <a:t>Какво</a:t>
            </a:r>
            <a:r>
              <a:rPr lang="ru-RU" sz="1200" b="1" dirty="0">
                <a:solidFill>
                  <a:schemeClr val="bg1"/>
                </a:solidFill>
              </a:rPr>
              <a:t> да не </a:t>
            </a:r>
            <a:r>
              <a:rPr lang="ru-RU" sz="1200" b="1" dirty="0" err="1">
                <a:solidFill>
                  <a:schemeClr val="bg1"/>
                </a:solidFill>
              </a:rPr>
              <a:t>правиш</a:t>
            </a:r>
            <a:r>
              <a:rPr lang="ru-RU" sz="1200" b="1" dirty="0">
                <a:solidFill>
                  <a:schemeClr val="bg1"/>
                </a:solidFill>
              </a:rPr>
              <a:t>: </a:t>
            </a:r>
            <a:r>
              <a:rPr lang="ru-RU" sz="1200" dirty="0">
                <a:solidFill>
                  <a:schemeClr val="bg1"/>
                </a:solidFill>
              </a:rPr>
              <a:t>да </a:t>
            </a:r>
            <a:r>
              <a:rPr lang="ru-RU" sz="1200" dirty="0" err="1">
                <a:solidFill>
                  <a:schemeClr val="bg1"/>
                </a:solidFill>
              </a:rPr>
              <a:t>говориш</a:t>
            </a:r>
            <a:r>
              <a:rPr lang="ru-RU" sz="1200" dirty="0">
                <a:solidFill>
                  <a:schemeClr val="bg1"/>
                </a:solidFill>
              </a:rPr>
              <a:t> </a:t>
            </a:r>
            <a:r>
              <a:rPr lang="ru-RU" sz="1200" dirty="0" err="1">
                <a:solidFill>
                  <a:schemeClr val="bg1"/>
                </a:solidFill>
              </a:rPr>
              <a:t>бързо</a:t>
            </a:r>
            <a:r>
              <a:rPr lang="ru-RU" sz="1200" dirty="0">
                <a:solidFill>
                  <a:schemeClr val="bg1"/>
                </a:solidFill>
              </a:rPr>
              <a:t>; да </a:t>
            </a:r>
            <a:r>
              <a:rPr lang="ru-RU" sz="1200" dirty="0" err="1">
                <a:solidFill>
                  <a:schemeClr val="bg1"/>
                </a:solidFill>
              </a:rPr>
              <a:t>използваш</a:t>
            </a:r>
            <a:r>
              <a:rPr lang="ru-RU" sz="1200" dirty="0">
                <a:solidFill>
                  <a:schemeClr val="bg1"/>
                </a:solidFill>
              </a:rPr>
              <a:t> сложен </a:t>
            </a:r>
            <a:r>
              <a:rPr lang="ru-RU" sz="1200" dirty="0" err="1">
                <a:solidFill>
                  <a:schemeClr val="bg1"/>
                </a:solidFill>
              </a:rPr>
              <a:t>език</a:t>
            </a:r>
            <a:r>
              <a:rPr lang="ru-RU" sz="1200" dirty="0">
                <a:solidFill>
                  <a:schemeClr val="bg1"/>
                </a:solidFill>
              </a:rPr>
              <a:t>; да </a:t>
            </a:r>
            <a:r>
              <a:rPr lang="ru-RU" sz="1200" dirty="0" err="1">
                <a:solidFill>
                  <a:schemeClr val="bg1"/>
                </a:solidFill>
              </a:rPr>
              <a:t>показваш</a:t>
            </a:r>
            <a:r>
              <a:rPr lang="ru-RU" sz="1200" dirty="0">
                <a:solidFill>
                  <a:schemeClr val="bg1"/>
                </a:solidFill>
              </a:rPr>
              <a:t> </a:t>
            </a:r>
            <a:r>
              <a:rPr lang="ru-RU" sz="1200" dirty="0" err="1">
                <a:solidFill>
                  <a:schemeClr val="bg1"/>
                </a:solidFill>
              </a:rPr>
              <a:t>нетърпение</a:t>
            </a:r>
            <a:r>
              <a:rPr lang="ru-RU" sz="1200" dirty="0">
                <a:solidFill>
                  <a:schemeClr val="bg1"/>
                </a:solidFill>
              </a:rPr>
              <a:t>.</a:t>
            </a:r>
            <a:endParaRPr lang="bg-BG" sz="1200" dirty="0">
              <a:solidFill>
                <a:schemeClr val="bg1"/>
              </a:solidFill>
            </a:endParaRPr>
          </a:p>
        </p:txBody>
      </p:sp>
    </p:spTree>
    <p:extLst>
      <p:ext uri="{BB962C8B-B14F-4D97-AF65-F5344CB8AC3E}">
        <p14:creationId xmlns:p14="http://schemas.microsoft.com/office/powerpoint/2010/main" val="77979048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B3C3BB-2148-3066-4677-910D3D54AA0E}"/>
            </a:ext>
          </a:extLst>
        </p:cNvPr>
        <p:cNvGrpSpPr/>
        <p:nvPr/>
      </p:nvGrpSpPr>
      <p:grpSpPr>
        <a:xfrm>
          <a:off x="0" y="0"/>
          <a:ext cx="0" cy="0"/>
          <a:chOff x="0" y="0"/>
          <a:chExt cx="0" cy="0"/>
        </a:xfrm>
      </p:grpSpPr>
      <p:sp>
        <p:nvSpPr>
          <p:cNvPr id="25" name="Rectangle 28">
            <a:extLst>
              <a:ext uri="{FF2B5EF4-FFF2-40B4-BE49-F238E27FC236}">
                <a16:creationId xmlns:a16="http://schemas.microsoft.com/office/drawing/2014/main" id="{0FF73C78-E470-5EAE-C9FD-517B00152896}"/>
              </a:ext>
            </a:extLst>
          </p:cNvPr>
          <p:cNvSpPr/>
          <p:nvPr/>
        </p:nvSpPr>
        <p:spPr>
          <a:xfrm>
            <a:off x="-15824" y="1599"/>
            <a:ext cx="1465320" cy="6859628"/>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400">
              <a:latin typeface="Aptos"/>
              <a:ea typeface="Calibri"/>
              <a:cs typeface="Calibri"/>
            </a:endParaRPr>
          </a:p>
        </p:txBody>
      </p:sp>
      <p:sp>
        <p:nvSpPr>
          <p:cNvPr id="26" name="Rectangle 29">
            <a:extLst>
              <a:ext uri="{FF2B5EF4-FFF2-40B4-BE49-F238E27FC236}">
                <a16:creationId xmlns:a16="http://schemas.microsoft.com/office/drawing/2014/main" id="{14F7E94E-7B46-E722-FD9C-9CB1092CA696}"/>
              </a:ext>
            </a:extLst>
          </p:cNvPr>
          <p:cNvSpPr/>
          <p:nvPr/>
        </p:nvSpPr>
        <p:spPr>
          <a:xfrm>
            <a:off x="-1671" y="2528038"/>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Типове клиенти</a:t>
            </a:r>
            <a:endParaRPr lang="en-GB" sz="1400">
              <a:latin typeface="Aptos"/>
              <a:ea typeface="Calibri"/>
              <a:cs typeface="Calibri"/>
            </a:endParaRPr>
          </a:p>
        </p:txBody>
      </p:sp>
      <p:sp>
        <p:nvSpPr>
          <p:cNvPr id="27" name="Rectangle 30">
            <a:extLst>
              <a:ext uri="{FF2B5EF4-FFF2-40B4-BE49-F238E27FC236}">
                <a16:creationId xmlns:a16="http://schemas.microsoft.com/office/drawing/2014/main" id="{ADDE68F1-12F6-A79A-10CE-A40D36B5CA6D}"/>
              </a:ext>
            </a:extLst>
          </p:cNvPr>
          <p:cNvSpPr/>
          <p:nvPr/>
        </p:nvSpPr>
        <p:spPr>
          <a:xfrm>
            <a:off x="8626" y="1913210"/>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002060"/>
                </a:solidFill>
                <a:latin typeface="Aptos"/>
                <a:ea typeface="Calibri"/>
                <a:cs typeface="Calibri"/>
              </a:rPr>
              <a:t>Сценарии</a:t>
            </a:r>
            <a:endParaRPr lang="en-GB" sz="1400">
              <a:solidFill>
                <a:srgbClr val="002060"/>
              </a:solidFill>
              <a:latin typeface="Aptos"/>
              <a:ea typeface="Calibri"/>
              <a:cs typeface="Calibri"/>
            </a:endParaRPr>
          </a:p>
        </p:txBody>
      </p:sp>
      <p:sp>
        <p:nvSpPr>
          <p:cNvPr id="28" name="Rectangle 31">
            <a:extLst>
              <a:ext uri="{FF2B5EF4-FFF2-40B4-BE49-F238E27FC236}">
                <a16:creationId xmlns:a16="http://schemas.microsoft.com/office/drawing/2014/main" id="{E8C2CD57-68CF-6B2A-738E-2B53243EA55B}"/>
              </a:ext>
            </a:extLst>
          </p:cNvPr>
          <p:cNvSpPr/>
          <p:nvPr/>
        </p:nvSpPr>
        <p:spPr>
          <a:xfrm>
            <a:off x="-1671" y="1298382"/>
            <a:ext cx="1442908" cy="4485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chemeClr val="bg1"/>
                </a:solidFill>
                <a:latin typeface="Aptos"/>
                <a:ea typeface="Calibri"/>
                <a:cs typeface="Calibri"/>
              </a:rPr>
              <a:t>Стъпки в обаждането</a:t>
            </a:r>
            <a:endParaRPr lang="en-GB" sz="1400">
              <a:solidFill>
                <a:schemeClr val="bg1"/>
              </a:solidFill>
              <a:latin typeface="Aptos"/>
              <a:ea typeface="Calibri"/>
              <a:cs typeface="Calibri"/>
            </a:endParaRPr>
          </a:p>
        </p:txBody>
      </p:sp>
      <p:sp>
        <p:nvSpPr>
          <p:cNvPr id="29" name="Rectangle 3">
            <a:extLst>
              <a:ext uri="{FF2B5EF4-FFF2-40B4-BE49-F238E27FC236}">
                <a16:creationId xmlns:a16="http://schemas.microsoft.com/office/drawing/2014/main" id="{01FECA1D-10F9-AD53-0D33-3D047DC21DCA}"/>
              </a:ext>
            </a:extLst>
          </p:cNvPr>
          <p:cNvSpPr/>
          <p:nvPr/>
        </p:nvSpPr>
        <p:spPr>
          <a:xfrm>
            <a:off x="1443475" y="4245"/>
            <a:ext cx="5338363" cy="67724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30" name="Rectangle 4">
            <a:extLst>
              <a:ext uri="{FF2B5EF4-FFF2-40B4-BE49-F238E27FC236}">
                <a16:creationId xmlns:a16="http://schemas.microsoft.com/office/drawing/2014/main" id="{727209CD-288C-42A1-7D74-865F0009E7F8}"/>
              </a:ext>
            </a:extLst>
          </p:cNvPr>
          <p:cNvSpPr/>
          <p:nvPr/>
        </p:nvSpPr>
        <p:spPr>
          <a:xfrm>
            <a:off x="6788435" y="4245"/>
            <a:ext cx="5417300" cy="677242"/>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31" name="Rectangle 28">
            <a:extLst>
              <a:ext uri="{FF2B5EF4-FFF2-40B4-BE49-F238E27FC236}">
                <a16:creationId xmlns:a16="http://schemas.microsoft.com/office/drawing/2014/main" id="{8CFF36EC-E18E-6A81-8E7E-8FC1301F3523}"/>
              </a:ext>
            </a:extLst>
          </p:cNvPr>
          <p:cNvSpPr/>
          <p:nvPr/>
        </p:nvSpPr>
        <p:spPr>
          <a:xfrm>
            <a:off x="-15827" y="690328"/>
            <a:ext cx="1465322"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FFFFFF"/>
                </a:solidFill>
                <a:latin typeface="Aptos"/>
                <a:ea typeface="Calibri"/>
                <a:cs typeface="Calibri"/>
              </a:rPr>
              <a:t>Подготовка</a:t>
            </a:r>
            <a:endParaRPr lang="en-GB" sz="1400">
              <a:solidFill>
                <a:srgbClr val="FFFFFF"/>
              </a:solidFill>
              <a:latin typeface="Aptos"/>
              <a:ea typeface="Calibri"/>
              <a:cs typeface="Calibri"/>
            </a:endParaRPr>
          </a:p>
        </p:txBody>
      </p:sp>
      <p:pic>
        <p:nvPicPr>
          <p:cNvPr id="2" name="Картина 1" descr="Картина, която съдържа текст, екранна снимка, софтуер, Уеб страница&#10;&#10;Генерирано от ИИ съдържание може да е неправилно.">
            <a:extLst>
              <a:ext uri="{FF2B5EF4-FFF2-40B4-BE49-F238E27FC236}">
                <a16:creationId xmlns:a16="http://schemas.microsoft.com/office/drawing/2014/main" id="{C99439D4-06EF-6554-FE1B-7277684B817C}"/>
              </a:ext>
            </a:extLst>
          </p:cNvPr>
          <p:cNvPicPr>
            <a:picLocks noChangeAspect="1"/>
          </p:cNvPicPr>
          <p:nvPr/>
        </p:nvPicPr>
        <p:blipFill>
          <a:blip r:embed="rId2"/>
          <a:stretch>
            <a:fillRect/>
          </a:stretch>
        </p:blipFill>
        <p:spPr>
          <a:xfrm>
            <a:off x="1574800" y="794695"/>
            <a:ext cx="10434320" cy="5868049"/>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Tree>
    <p:extLst>
      <p:ext uri="{BB962C8B-B14F-4D97-AF65-F5344CB8AC3E}">
        <p14:creationId xmlns:p14="http://schemas.microsoft.com/office/powerpoint/2010/main" val="64058836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077401-021D-D76F-5447-93A678D3C849}"/>
            </a:ext>
          </a:extLst>
        </p:cNvPr>
        <p:cNvGrpSpPr/>
        <p:nvPr/>
      </p:nvGrpSpPr>
      <p:grpSpPr>
        <a:xfrm>
          <a:off x="0" y="0"/>
          <a:ext cx="0" cy="0"/>
          <a:chOff x="0" y="0"/>
          <a:chExt cx="0" cy="0"/>
        </a:xfrm>
      </p:grpSpPr>
      <p:sp>
        <p:nvSpPr>
          <p:cNvPr id="25" name="Rectangle 28">
            <a:extLst>
              <a:ext uri="{FF2B5EF4-FFF2-40B4-BE49-F238E27FC236}">
                <a16:creationId xmlns:a16="http://schemas.microsoft.com/office/drawing/2014/main" id="{E31BA824-8317-48C0-49AA-4B18BBA01F09}"/>
              </a:ext>
            </a:extLst>
          </p:cNvPr>
          <p:cNvSpPr/>
          <p:nvPr/>
        </p:nvSpPr>
        <p:spPr>
          <a:xfrm>
            <a:off x="-15824" y="1599"/>
            <a:ext cx="1465320" cy="6859628"/>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400">
              <a:latin typeface="Aptos"/>
              <a:ea typeface="Calibri"/>
              <a:cs typeface="Calibri"/>
            </a:endParaRPr>
          </a:p>
        </p:txBody>
      </p:sp>
      <p:sp>
        <p:nvSpPr>
          <p:cNvPr id="26" name="Rectangle 29">
            <a:extLst>
              <a:ext uri="{FF2B5EF4-FFF2-40B4-BE49-F238E27FC236}">
                <a16:creationId xmlns:a16="http://schemas.microsoft.com/office/drawing/2014/main" id="{77903431-9114-D0E2-946F-7EE1E6F6459B}"/>
              </a:ext>
            </a:extLst>
          </p:cNvPr>
          <p:cNvSpPr/>
          <p:nvPr/>
        </p:nvSpPr>
        <p:spPr>
          <a:xfrm>
            <a:off x="-1671" y="2528038"/>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Типове клиенти</a:t>
            </a:r>
            <a:endParaRPr lang="en-GB" sz="1400">
              <a:latin typeface="Aptos"/>
              <a:ea typeface="Calibri"/>
              <a:cs typeface="Calibri"/>
            </a:endParaRPr>
          </a:p>
        </p:txBody>
      </p:sp>
      <p:sp>
        <p:nvSpPr>
          <p:cNvPr id="27" name="Rectangle 30">
            <a:extLst>
              <a:ext uri="{FF2B5EF4-FFF2-40B4-BE49-F238E27FC236}">
                <a16:creationId xmlns:a16="http://schemas.microsoft.com/office/drawing/2014/main" id="{9BC848C5-E699-AFC7-15F6-4F52DA75416B}"/>
              </a:ext>
            </a:extLst>
          </p:cNvPr>
          <p:cNvSpPr/>
          <p:nvPr/>
        </p:nvSpPr>
        <p:spPr>
          <a:xfrm>
            <a:off x="8626" y="1913210"/>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002060"/>
                </a:solidFill>
                <a:latin typeface="Aptos"/>
                <a:ea typeface="Calibri"/>
                <a:cs typeface="Calibri"/>
              </a:rPr>
              <a:t>Сценарии</a:t>
            </a:r>
            <a:endParaRPr lang="en-GB" sz="1400">
              <a:solidFill>
                <a:srgbClr val="002060"/>
              </a:solidFill>
              <a:latin typeface="Aptos"/>
              <a:ea typeface="Calibri"/>
              <a:cs typeface="Calibri"/>
            </a:endParaRPr>
          </a:p>
        </p:txBody>
      </p:sp>
      <p:sp>
        <p:nvSpPr>
          <p:cNvPr id="28" name="Rectangle 31">
            <a:extLst>
              <a:ext uri="{FF2B5EF4-FFF2-40B4-BE49-F238E27FC236}">
                <a16:creationId xmlns:a16="http://schemas.microsoft.com/office/drawing/2014/main" id="{88FD4CE3-147F-A49B-7836-ACC67337DE32}"/>
              </a:ext>
            </a:extLst>
          </p:cNvPr>
          <p:cNvSpPr/>
          <p:nvPr/>
        </p:nvSpPr>
        <p:spPr>
          <a:xfrm>
            <a:off x="-1671" y="1298382"/>
            <a:ext cx="1442908" cy="4485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chemeClr val="bg1"/>
                </a:solidFill>
                <a:latin typeface="Aptos"/>
                <a:ea typeface="Calibri"/>
                <a:cs typeface="Calibri"/>
              </a:rPr>
              <a:t>Стъпки в обаждането</a:t>
            </a:r>
            <a:endParaRPr lang="en-GB" sz="1400">
              <a:solidFill>
                <a:schemeClr val="bg1"/>
              </a:solidFill>
              <a:latin typeface="Aptos"/>
              <a:ea typeface="Calibri"/>
              <a:cs typeface="Calibri"/>
            </a:endParaRPr>
          </a:p>
        </p:txBody>
      </p:sp>
      <p:sp>
        <p:nvSpPr>
          <p:cNvPr id="29" name="Rectangle 3">
            <a:extLst>
              <a:ext uri="{FF2B5EF4-FFF2-40B4-BE49-F238E27FC236}">
                <a16:creationId xmlns:a16="http://schemas.microsoft.com/office/drawing/2014/main" id="{61E42548-2385-8AA5-DA65-730C1A73B4E6}"/>
              </a:ext>
            </a:extLst>
          </p:cNvPr>
          <p:cNvSpPr/>
          <p:nvPr/>
        </p:nvSpPr>
        <p:spPr>
          <a:xfrm>
            <a:off x="1443475" y="4245"/>
            <a:ext cx="5338363" cy="67724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30" name="Rectangle 4">
            <a:extLst>
              <a:ext uri="{FF2B5EF4-FFF2-40B4-BE49-F238E27FC236}">
                <a16:creationId xmlns:a16="http://schemas.microsoft.com/office/drawing/2014/main" id="{11EB8997-9BF5-3D32-0835-ACF355419066}"/>
              </a:ext>
            </a:extLst>
          </p:cNvPr>
          <p:cNvSpPr/>
          <p:nvPr/>
        </p:nvSpPr>
        <p:spPr>
          <a:xfrm>
            <a:off x="6788435" y="4245"/>
            <a:ext cx="5417300" cy="677242"/>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31" name="Rectangle 28">
            <a:extLst>
              <a:ext uri="{FF2B5EF4-FFF2-40B4-BE49-F238E27FC236}">
                <a16:creationId xmlns:a16="http://schemas.microsoft.com/office/drawing/2014/main" id="{D3B89811-9E3F-4321-BBB4-E73D07EEEBB3}"/>
              </a:ext>
            </a:extLst>
          </p:cNvPr>
          <p:cNvSpPr/>
          <p:nvPr/>
        </p:nvSpPr>
        <p:spPr>
          <a:xfrm>
            <a:off x="-15827" y="690328"/>
            <a:ext cx="1465322"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FFFFFF"/>
                </a:solidFill>
                <a:latin typeface="Aptos"/>
                <a:ea typeface="Calibri"/>
                <a:cs typeface="Calibri"/>
              </a:rPr>
              <a:t>Подготовка</a:t>
            </a:r>
            <a:endParaRPr lang="en-GB" sz="1400">
              <a:solidFill>
                <a:srgbClr val="FFFFFF"/>
              </a:solidFill>
              <a:latin typeface="Aptos"/>
              <a:ea typeface="Calibri"/>
              <a:cs typeface="Calibri"/>
            </a:endParaRPr>
          </a:p>
        </p:txBody>
      </p:sp>
      <p:pic>
        <p:nvPicPr>
          <p:cNvPr id="3" name="Картина 2" descr="Картина, която съдържа текст, екранна снимка, Шрифт, Уеб страница&#10;&#10;Генерирано от ИИ съдържание може да е неправилно.">
            <a:extLst>
              <a:ext uri="{FF2B5EF4-FFF2-40B4-BE49-F238E27FC236}">
                <a16:creationId xmlns:a16="http://schemas.microsoft.com/office/drawing/2014/main" id="{3EF2AD25-5C9E-FBEF-0A04-5A942D00F4E8}"/>
              </a:ext>
            </a:extLst>
          </p:cNvPr>
          <p:cNvPicPr>
            <a:picLocks noChangeAspect="1"/>
          </p:cNvPicPr>
          <p:nvPr/>
        </p:nvPicPr>
        <p:blipFill>
          <a:blip r:embed="rId2"/>
          <a:stretch>
            <a:fillRect/>
          </a:stretch>
        </p:blipFill>
        <p:spPr>
          <a:xfrm>
            <a:off x="1564640" y="807110"/>
            <a:ext cx="10525760" cy="5904180"/>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Tree>
    <p:extLst>
      <p:ext uri="{BB962C8B-B14F-4D97-AF65-F5344CB8AC3E}">
        <p14:creationId xmlns:p14="http://schemas.microsoft.com/office/powerpoint/2010/main" val="68938960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5298E3-CF03-72DE-9BB1-7CD8960B9B24}"/>
            </a:ext>
          </a:extLst>
        </p:cNvPr>
        <p:cNvGrpSpPr/>
        <p:nvPr/>
      </p:nvGrpSpPr>
      <p:grpSpPr>
        <a:xfrm>
          <a:off x="0" y="0"/>
          <a:ext cx="0" cy="0"/>
          <a:chOff x="0" y="0"/>
          <a:chExt cx="0" cy="0"/>
        </a:xfrm>
      </p:grpSpPr>
      <p:sp>
        <p:nvSpPr>
          <p:cNvPr id="28" name="Правоъгълник: със заоблени ъгли 27">
            <a:extLst>
              <a:ext uri="{FF2B5EF4-FFF2-40B4-BE49-F238E27FC236}">
                <a16:creationId xmlns:a16="http://schemas.microsoft.com/office/drawing/2014/main" id="{6D1582FC-B0C9-995F-2109-8375E10E6B5E}"/>
              </a:ext>
            </a:extLst>
          </p:cNvPr>
          <p:cNvSpPr/>
          <p:nvPr/>
        </p:nvSpPr>
        <p:spPr>
          <a:xfrm>
            <a:off x="5298509" y="251749"/>
            <a:ext cx="3671794" cy="6172583"/>
          </a:xfrm>
          <a:prstGeom prst="roundRect">
            <a:avLst/>
          </a:prstGeom>
          <a:solidFill>
            <a:schemeClr val="bg1">
              <a:lumMod val="95000"/>
            </a:schemeClr>
          </a:solidFill>
          <a:ln>
            <a:noFill/>
          </a:ln>
          <a:effectLst>
            <a:outerShdw blurRad="63500" dist="38100" dir="270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pic>
        <p:nvPicPr>
          <p:cNvPr id="33" name="Picture 10" descr="Картина, която съдържа текст, екранна снимка&#10;&#10;Генерирано от ИИ съдържание може да е неправилно.">
            <a:extLst>
              <a:ext uri="{FF2B5EF4-FFF2-40B4-BE49-F238E27FC236}">
                <a16:creationId xmlns:a16="http://schemas.microsoft.com/office/drawing/2014/main" id="{43454D84-D72E-1C40-8DA5-01605520F05F}"/>
              </a:ext>
            </a:extLst>
          </p:cNvPr>
          <p:cNvPicPr>
            <a:picLocks noChangeAspect="1"/>
          </p:cNvPicPr>
          <p:nvPr/>
        </p:nvPicPr>
        <p:blipFill>
          <a:blip r:embed="rId2"/>
          <a:srcRect b="88415"/>
          <a:stretch>
            <a:fillRect/>
          </a:stretch>
        </p:blipFill>
        <p:spPr>
          <a:xfrm>
            <a:off x="5232507" y="278693"/>
            <a:ext cx="3740239" cy="77148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34" name="Правоъгълник: със заоблени ъгли 33">
            <a:extLst>
              <a:ext uri="{FF2B5EF4-FFF2-40B4-BE49-F238E27FC236}">
                <a16:creationId xmlns:a16="http://schemas.microsoft.com/office/drawing/2014/main" id="{8564953B-F79B-4B47-AC9B-5BD308397253}"/>
              </a:ext>
            </a:extLst>
          </p:cNvPr>
          <p:cNvSpPr/>
          <p:nvPr/>
        </p:nvSpPr>
        <p:spPr>
          <a:xfrm>
            <a:off x="5376852" y="1535289"/>
            <a:ext cx="3302259" cy="363776"/>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bg-BG" sz="1300" b="1">
                <a:solidFill>
                  <a:srgbClr val="1F3864"/>
                </a:solidFill>
              </a:rPr>
              <a:t>Отваряне и предложение</a:t>
            </a:r>
          </a:p>
          <a:p>
            <a:endParaRPr lang="bg-BG" sz="1200">
              <a:solidFill>
                <a:srgbClr val="1F3864"/>
              </a:solidFill>
            </a:endParaRPr>
          </a:p>
        </p:txBody>
      </p:sp>
      <p:sp>
        <p:nvSpPr>
          <p:cNvPr id="35" name="Правоъгълник: със заоблени ъгли 34">
            <a:extLst>
              <a:ext uri="{FF2B5EF4-FFF2-40B4-BE49-F238E27FC236}">
                <a16:creationId xmlns:a16="http://schemas.microsoft.com/office/drawing/2014/main" id="{1E1799F1-D53E-CCF7-E168-D50AD6A811C7}"/>
              </a:ext>
            </a:extLst>
          </p:cNvPr>
          <p:cNvSpPr/>
          <p:nvPr/>
        </p:nvSpPr>
        <p:spPr>
          <a:xfrm>
            <a:off x="5366827" y="2438816"/>
            <a:ext cx="3312284" cy="393855"/>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ru-RU" sz="1050" dirty="0">
                <a:solidFill>
                  <a:schemeClr val="tx1"/>
                </a:solidFill>
              </a:rPr>
              <a:t>-</a:t>
            </a:r>
            <a:r>
              <a:rPr lang="ru-RU" sz="1050" dirty="0" err="1">
                <a:solidFill>
                  <a:schemeClr val="tx1"/>
                </a:solidFill>
              </a:rPr>
              <a:t>Добър</a:t>
            </a:r>
            <a:r>
              <a:rPr lang="ru-RU" sz="1050" dirty="0">
                <a:solidFill>
                  <a:schemeClr val="tx1"/>
                </a:solidFill>
              </a:rPr>
              <a:t> ден, </a:t>
            </a:r>
            <a:r>
              <a:rPr lang="ru-RU" sz="1050" dirty="0" err="1">
                <a:solidFill>
                  <a:schemeClr val="tx1"/>
                </a:solidFill>
              </a:rPr>
              <a:t>търся</a:t>
            </a:r>
            <a:r>
              <a:rPr lang="ru-RU" sz="1050" dirty="0">
                <a:solidFill>
                  <a:schemeClr val="tx1"/>
                </a:solidFill>
              </a:rPr>
              <a:t> г-н/г-жа (две имена на клиента).</a:t>
            </a:r>
            <a:br>
              <a:rPr lang="ru-RU" sz="1050" dirty="0">
                <a:solidFill>
                  <a:schemeClr val="tx1"/>
                </a:solidFill>
              </a:rPr>
            </a:br>
            <a:r>
              <a:rPr lang="ru-RU" sz="1050" dirty="0">
                <a:solidFill>
                  <a:schemeClr val="tx1"/>
                </a:solidFill>
              </a:rPr>
              <a:t>-Да (на телефона, аз </a:t>
            </a:r>
            <a:r>
              <a:rPr lang="ru-RU" sz="1050" dirty="0" err="1">
                <a:solidFill>
                  <a:schemeClr val="tx1"/>
                </a:solidFill>
              </a:rPr>
              <a:t>съм</a:t>
            </a:r>
            <a:r>
              <a:rPr lang="ru-RU" sz="1050" dirty="0">
                <a:solidFill>
                  <a:schemeClr val="tx1"/>
                </a:solidFill>
              </a:rPr>
              <a:t>).</a:t>
            </a:r>
            <a:br>
              <a:rPr lang="ru-RU" sz="1050" dirty="0">
                <a:solidFill>
                  <a:schemeClr val="tx1"/>
                </a:solidFill>
              </a:rPr>
            </a:br>
            <a:r>
              <a:rPr lang="ru-RU" sz="1050" dirty="0">
                <a:solidFill>
                  <a:schemeClr val="tx1"/>
                </a:solidFill>
              </a:rPr>
              <a:t>-</a:t>
            </a:r>
            <a:r>
              <a:rPr lang="ru-RU" sz="1050" dirty="0" err="1">
                <a:solidFill>
                  <a:schemeClr val="tx1"/>
                </a:solidFill>
              </a:rPr>
              <a:t>Здравейте</a:t>
            </a:r>
            <a:r>
              <a:rPr lang="ru-RU" sz="1050" dirty="0">
                <a:solidFill>
                  <a:schemeClr val="tx1"/>
                </a:solidFill>
              </a:rPr>
              <a:t> г-н/г-</a:t>
            </a:r>
            <a:r>
              <a:rPr lang="ru-RU" sz="1050" dirty="0" err="1">
                <a:solidFill>
                  <a:schemeClr val="tx1"/>
                </a:solidFill>
              </a:rPr>
              <a:t>жо</a:t>
            </a:r>
            <a:r>
              <a:rPr lang="ru-RU" sz="1050" dirty="0">
                <a:solidFill>
                  <a:schemeClr val="tx1"/>
                </a:solidFill>
              </a:rPr>
              <a:t> (фамилия на клиента), </a:t>
            </a:r>
            <a:r>
              <a:rPr lang="ru-RU" sz="1050" dirty="0" err="1">
                <a:solidFill>
                  <a:schemeClr val="tx1"/>
                </a:solidFill>
              </a:rPr>
              <a:t>обаждам</a:t>
            </a:r>
            <a:r>
              <a:rPr lang="ru-RU" sz="1050" dirty="0">
                <a:solidFill>
                  <a:schemeClr val="tx1"/>
                </a:solidFill>
              </a:rPr>
              <a:t> се от Изи Кредит, </a:t>
            </a:r>
            <a:r>
              <a:rPr lang="ru-RU" sz="1050" dirty="0" err="1">
                <a:solidFill>
                  <a:schemeClr val="tx1"/>
                </a:solidFill>
              </a:rPr>
              <a:t>във</a:t>
            </a:r>
            <a:r>
              <a:rPr lang="ru-RU" sz="1050" dirty="0">
                <a:solidFill>
                  <a:schemeClr val="tx1"/>
                </a:solidFill>
              </a:rPr>
              <a:t> </a:t>
            </a:r>
            <a:r>
              <a:rPr lang="ru-RU" sz="1050" dirty="0" err="1">
                <a:solidFill>
                  <a:schemeClr val="tx1"/>
                </a:solidFill>
              </a:rPr>
              <a:t>връзка</a:t>
            </a:r>
            <a:r>
              <a:rPr lang="ru-RU" sz="1050" dirty="0">
                <a:solidFill>
                  <a:schemeClr val="tx1"/>
                </a:solidFill>
              </a:rPr>
              <a:t> </a:t>
            </a:r>
            <a:r>
              <a:rPr lang="ru-RU" sz="1050" dirty="0" err="1">
                <a:solidFill>
                  <a:schemeClr val="tx1"/>
                </a:solidFill>
              </a:rPr>
              <a:t>със</a:t>
            </a:r>
            <a:r>
              <a:rPr lang="ru-RU" sz="1050" dirty="0">
                <a:solidFill>
                  <a:schemeClr val="tx1"/>
                </a:solidFill>
              </a:rPr>
              <a:t> </a:t>
            </a:r>
            <a:r>
              <a:rPr lang="ru-RU" sz="1050" dirty="0" err="1">
                <a:solidFill>
                  <a:schemeClr val="tx1"/>
                </a:solidFill>
              </a:rPr>
              <a:t>специално</a:t>
            </a:r>
            <a:r>
              <a:rPr lang="ru-RU" sz="1050" dirty="0">
                <a:solidFill>
                  <a:schemeClr val="tx1"/>
                </a:solidFill>
              </a:rPr>
              <a:t> </a:t>
            </a:r>
            <a:r>
              <a:rPr lang="ru-RU" sz="1050" dirty="0" err="1">
                <a:solidFill>
                  <a:schemeClr val="tx1"/>
                </a:solidFill>
              </a:rPr>
              <a:t>изготвено</a:t>
            </a:r>
            <a:r>
              <a:rPr lang="ru-RU" sz="1050" dirty="0">
                <a:solidFill>
                  <a:schemeClr val="tx1"/>
                </a:solidFill>
              </a:rPr>
              <a:t> предложение за Вас. </a:t>
            </a:r>
            <a:r>
              <a:rPr lang="ru-RU" sz="1050" dirty="0" err="1">
                <a:solidFill>
                  <a:schemeClr val="tx1"/>
                </a:solidFill>
              </a:rPr>
              <a:t>Предложението</a:t>
            </a:r>
            <a:r>
              <a:rPr lang="ru-RU" sz="1050" dirty="0">
                <a:solidFill>
                  <a:schemeClr val="tx1"/>
                </a:solidFill>
              </a:rPr>
              <a:t> е валидно само за </a:t>
            </a:r>
            <a:r>
              <a:rPr lang="ru-RU" sz="1050" dirty="0" err="1">
                <a:solidFill>
                  <a:schemeClr val="tx1"/>
                </a:solidFill>
              </a:rPr>
              <a:t>нашите</a:t>
            </a:r>
            <a:r>
              <a:rPr lang="ru-RU" sz="1050" dirty="0">
                <a:solidFill>
                  <a:schemeClr val="tx1"/>
                </a:solidFill>
              </a:rPr>
              <a:t> </a:t>
            </a:r>
            <a:r>
              <a:rPr lang="ru-RU" sz="1050" dirty="0" err="1">
                <a:solidFill>
                  <a:schemeClr val="tx1"/>
                </a:solidFill>
              </a:rPr>
              <a:t>пенсионери</a:t>
            </a:r>
            <a:r>
              <a:rPr lang="ru-RU" sz="1050" dirty="0">
                <a:solidFill>
                  <a:schemeClr val="tx1"/>
                </a:solidFill>
              </a:rPr>
              <a:t> . Удобно ли е да ми отделите </a:t>
            </a:r>
            <a:r>
              <a:rPr lang="ru-RU" sz="1050" dirty="0" err="1">
                <a:solidFill>
                  <a:schemeClr val="tx1"/>
                </a:solidFill>
              </a:rPr>
              <a:t>една</a:t>
            </a:r>
            <a:r>
              <a:rPr lang="ru-RU" sz="1050" dirty="0">
                <a:solidFill>
                  <a:schemeClr val="tx1"/>
                </a:solidFill>
              </a:rPr>
              <a:t>, две </a:t>
            </a:r>
            <a:r>
              <a:rPr lang="ru-RU" sz="1050" dirty="0" err="1">
                <a:solidFill>
                  <a:schemeClr val="tx1"/>
                </a:solidFill>
              </a:rPr>
              <a:t>минути</a:t>
            </a:r>
            <a:r>
              <a:rPr lang="ru-RU" sz="1050" dirty="0">
                <a:solidFill>
                  <a:schemeClr val="tx1"/>
                </a:solidFill>
              </a:rPr>
              <a:t>, за да Ви </a:t>
            </a:r>
            <a:r>
              <a:rPr lang="ru-RU" sz="1050" dirty="0" err="1">
                <a:solidFill>
                  <a:schemeClr val="tx1"/>
                </a:solidFill>
              </a:rPr>
              <a:t>запозная</a:t>
            </a:r>
            <a:r>
              <a:rPr lang="ru-RU" sz="1050" dirty="0">
                <a:solidFill>
                  <a:schemeClr val="tx1"/>
                </a:solidFill>
              </a:rPr>
              <a:t>? </a:t>
            </a:r>
            <a:br>
              <a:rPr lang="ru-RU" sz="1050" dirty="0">
                <a:solidFill>
                  <a:schemeClr val="tx1"/>
                </a:solidFill>
              </a:rPr>
            </a:br>
            <a:r>
              <a:rPr lang="ru-RU" sz="1050" dirty="0">
                <a:solidFill>
                  <a:schemeClr val="tx1"/>
                </a:solidFill>
              </a:rPr>
              <a:t>-Да (</a:t>
            </a:r>
            <a:r>
              <a:rPr lang="ru-RU" sz="1050" dirty="0" err="1">
                <a:solidFill>
                  <a:schemeClr val="tx1"/>
                </a:solidFill>
              </a:rPr>
              <a:t>слушам</a:t>
            </a:r>
            <a:r>
              <a:rPr lang="ru-RU" sz="1050" dirty="0">
                <a:solidFill>
                  <a:schemeClr val="tx1"/>
                </a:solidFill>
              </a:rPr>
              <a:t> Ви).</a:t>
            </a:r>
            <a:br>
              <a:rPr lang="ru-RU" sz="1050" dirty="0">
                <a:solidFill>
                  <a:schemeClr val="tx1"/>
                </a:solidFill>
              </a:rPr>
            </a:br>
            <a:r>
              <a:rPr lang="ru-RU" sz="1050" dirty="0">
                <a:solidFill>
                  <a:schemeClr val="tx1"/>
                </a:solidFill>
              </a:rPr>
              <a:t>(</a:t>
            </a:r>
            <a:r>
              <a:rPr lang="ru-RU" sz="1050" dirty="0" err="1">
                <a:solidFill>
                  <a:schemeClr val="tx1"/>
                </a:solidFill>
              </a:rPr>
              <a:t>Представяне</a:t>
            </a:r>
            <a:r>
              <a:rPr lang="ru-RU" sz="1050" dirty="0">
                <a:solidFill>
                  <a:schemeClr val="tx1"/>
                </a:solidFill>
              </a:rPr>
              <a:t> на </a:t>
            </a:r>
            <a:r>
              <a:rPr lang="ru-RU" sz="1050" dirty="0" err="1">
                <a:solidFill>
                  <a:schemeClr val="tx1"/>
                </a:solidFill>
              </a:rPr>
              <a:t>предложнието</a:t>
            </a:r>
            <a:r>
              <a:rPr lang="ru-RU" sz="1050" dirty="0">
                <a:solidFill>
                  <a:schemeClr val="tx1"/>
                </a:solidFill>
              </a:rPr>
              <a:t>)</a:t>
            </a:r>
            <a:br>
              <a:rPr lang="ru-RU" sz="1050" dirty="0">
                <a:solidFill>
                  <a:schemeClr val="tx1"/>
                </a:solidFill>
              </a:rPr>
            </a:br>
            <a:r>
              <a:rPr lang="ru-RU" sz="1050" dirty="0">
                <a:solidFill>
                  <a:schemeClr val="tx1"/>
                </a:solidFill>
              </a:rPr>
              <a:t>-Как Ви се </a:t>
            </a:r>
            <a:r>
              <a:rPr lang="ru-RU" sz="1050" dirty="0" err="1">
                <a:solidFill>
                  <a:schemeClr val="tx1"/>
                </a:solidFill>
              </a:rPr>
              <a:t>струва</a:t>
            </a:r>
            <a:r>
              <a:rPr lang="ru-RU" sz="1050" dirty="0">
                <a:solidFill>
                  <a:schemeClr val="tx1"/>
                </a:solidFill>
              </a:rPr>
              <a:t> </a:t>
            </a:r>
            <a:r>
              <a:rPr lang="ru-RU" sz="1050" dirty="0" err="1">
                <a:solidFill>
                  <a:schemeClr val="tx1"/>
                </a:solidFill>
              </a:rPr>
              <a:t>моето</a:t>
            </a:r>
            <a:r>
              <a:rPr lang="ru-RU" sz="1050" dirty="0">
                <a:solidFill>
                  <a:schemeClr val="tx1"/>
                </a:solidFill>
              </a:rPr>
              <a:t> предложение?</a:t>
            </a:r>
          </a:p>
        </p:txBody>
      </p:sp>
      <p:sp>
        <p:nvSpPr>
          <p:cNvPr id="40" name="Правоъгълник: със заоблени ъгли 39">
            <a:extLst>
              <a:ext uri="{FF2B5EF4-FFF2-40B4-BE49-F238E27FC236}">
                <a16:creationId xmlns:a16="http://schemas.microsoft.com/office/drawing/2014/main" id="{A14AC17D-D578-C3BD-F0F4-5BE8907B9A3E}"/>
              </a:ext>
            </a:extLst>
          </p:cNvPr>
          <p:cNvSpPr/>
          <p:nvPr/>
        </p:nvSpPr>
        <p:spPr>
          <a:xfrm>
            <a:off x="5398892" y="3579897"/>
            <a:ext cx="3312282" cy="377658"/>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bg-BG" sz="1300" b="1">
                <a:solidFill>
                  <a:srgbClr val="1F3864"/>
                </a:solidFill>
              </a:rPr>
              <a:t>Възражения и отговор</a:t>
            </a:r>
          </a:p>
        </p:txBody>
      </p:sp>
      <p:sp>
        <p:nvSpPr>
          <p:cNvPr id="43" name="Rectangle: Rounded Corners 11">
            <a:extLst>
              <a:ext uri="{FF2B5EF4-FFF2-40B4-BE49-F238E27FC236}">
                <a16:creationId xmlns:a16="http://schemas.microsoft.com/office/drawing/2014/main" id="{44DD989E-F73F-10C5-49E5-CCC3AAC0CA8E}"/>
              </a:ext>
            </a:extLst>
          </p:cNvPr>
          <p:cNvSpPr/>
          <p:nvPr/>
        </p:nvSpPr>
        <p:spPr>
          <a:xfrm>
            <a:off x="5228800" y="1046439"/>
            <a:ext cx="3740184" cy="355916"/>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bg-BG" sz="1600"/>
              <a:t>Продукт ,,Пенсионер''</a:t>
            </a:r>
          </a:p>
        </p:txBody>
      </p:sp>
      <p:sp>
        <p:nvSpPr>
          <p:cNvPr id="47" name="Правоъгълник: със заоблени ъгли 16">
            <a:extLst>
              <a:ext uri="{FF2B5EF4-FFF2-40B4-BE49-F238E27FC236}">
                <a16:creationId xmlns:a16="http://schemas.microsoft.com/office/drawing/2014/main" id="{6753E72E-9D92-8CC5-3D72-439AE345FB10}"/>
              </a:ext>
            </a:extLst>
          </p:cNvPr>
          <p:cNvSpPr/>
          <p:nvPr/>
        </p:nvSpPr>
        <p:spPr>
          <a:xfrm>
            <a:off x="6040666" y="5105342"/>
            <a:ext cx="2344027" cy="434737"/>
          </a:xfrm>
          <a:prstGeom prst="roundRect">
            <a:avLst>
              <a:gd name="adj" fmla="val 50000"/>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200"/>
              <a:t>Тренирай</a:t>
            </a:r>
          </a:p>
        </p:txBody>
      </p:sp>
      <p:sp>
        <p:nvSpPr>
          <p:cNvPr id="48" name="Знак за умножение 47">
            <a:extLst>
              <a:ext uri="{FF2B5EF4-FFF2-40B4-BE49-F238E27FC236}">
                <a16:creationId xmlns:a16="http://schemas.microsoft.com/office/drawing/2014/main" id="{E3237079-C00E-E86B-316F-BC06CC24DA1F}"/>
              </a:ext>
            </a:extLst>
          </p:cNvPr>
          <p:cNvSpPr/>
          <p:nvPr/>
        </p:nvSpPr>
        <p:spPr>
          <a:xfrm>
            <a:off x="8520991" y="947020"/>
            <a:ext cx="446569" cy="496188"/>
          </a:xfrm>
          <a:prstGeom prst="mathMultiply">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59" name="Правоъгълник: със заоблени ъгли 58">
            <a:extLst>
              <a:ext uri="{FF2B5EF4-FFF2-40B4-BE49-F238E27FC236}">
                <a16:creationId xmlns:a16="http://schemas.microsoft.com/office/drawing/2014/main" id="{E35637E8-DED5-1E5A-8463-EFEDF5DB84E3}"/>
              </a:ext>
            </a:extLst>
          </p:cNvPr>
          <p:cNvSpPr/>
          <p:nvPr/>
        </p:nvSpPr>
        <p:spPr>
          <a:xfrm>
            <a:off x="719415" y="256478"/>
            <a:ext cx="3671794" cy="6172583"/>
          </a:xfrm>
          <a:prstGeom prst="roundRect">
            <a:avLst/>
          </a:prstGeom>
          <a:solidFill>
            <a:schemeClr val="bg1">
              <a:lumMod val="95000"/>
            </a:schemeClr>
          </a:solidFill>
          <a:ln>
            <a:noFill/>
          </a:ln>
          <a:effectLst>
            <a:outerShdw blurRad="63500" dist="38100" dir="270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pic>
        <p:nvPicPr>
          <p:cNvPr id="60" name="Picture 10" descr="Картина, която съдържа текст, екранна снимка&#10;&#10;Генерирано от ИИ съдържание може да е неправилно.">
            <a:extLst>
              <a:ext uri="{FF2B5EF4-FFF2-40B4-BE49-F238E27FC236}">
                <a16:creationId xmlns:a16="http://schemas.microsoft.com/office/drawing/2014/main" id="{3D336EBE-B608-771D-3006-456CD891F5D7}"/>
              </a:ext>
            </a:extLst>
          </p:cNvPr>
          <p:cNvPicPr>
            <a:picLocks noChangeAspect="1"/>
          </p:cNvPicPr>
          <p:nvPr/>
        </p:nvPicPr>
        <p:blipFill>
          <a:blip r:embed="rId2"/>
          <a:srcRect b="88415"/>
          <a:stretch>
            <a:fillRect/>
          </a:stretch>
        </p:blipFill>
        <p:spPr>
          <a:xfrm>
            <a:off x="688049" y="260331"/>
            <a:ext cx="3740239" cy="77148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50" name="Rectangle: Rounded Corners 9">
            <a:extLst>
              <a:ext uri="{FF2B5EF4-FFF2-40B4-BE49-F238E27FC236}">
                <a16:creationId xmlns:a16="http://schemas.microsoft.com/office/drawing/2014/main" id="{04AED33F-1DFE-6121-A36A-A6424BCFD602}"/>
              </a:ext>
            </a:extLst>
          </p:cNvPr>
          <p:cNvSpPr/>
          <p:nvPr/>
        </p:nvSpPr>
        <p:spPr>
          <a:xfrm>
            <a:off x="1069934" y="1978727"/>
            <a:ext cx="2932281" cy="677241"/>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bg-BG" sz="1600"/>
              <a:t>Предварително одобрен клиент</a:t>
            </a:r>
            <a:endParaRPr lang="en-GB" sz="1600"/>
          </a:p>
        </p:txBody>
      </p:sp>
      <p:sp>
        <p:nvSpPr>
          <p:cNvPr id="52" name="Rectangle: Rounded Corners 11">
            <a:extLst>
              <a:ext uri="{FF2B5EF4-FFF2-40B4-BE49-F238E27FC236}">
                <a16:creationId xmlns:a16="http://schemas.microsoft.com/office/drawing/2014/main" id="{EA641BB4-5211-8E22-A2C2-BBE4B0AFB806}"/>
              </a:ext>
            </a:extLst>
          </p:cNvPr>
          <p:cNvSpPr/>
          <p:nvPr/>
        </p:nvSpPr>
        <p:spPr>
          <a:xfrm>
            <a:off x="1069933" y="1174969"/>
            <a:ext cx="2932281" cy="677241"/>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bg-BG" sz="1600"/>
              <a:t>Лоялен клиент</a:t>
            </a:r>
            <a:endParaRPr lang="en-GB" sz="1600"/>
          </a:p>
        </p:txBody>
      </p:sp>
      <p:sp>
        <p:nvSpPr>
          <p:cNvPr id="54" name="Rectangle: Rounded Corners 13">
            <a:extLst>
              <a:ext uri="{FF2B5EF4-FFF2-40B4-BE49-F238E27FC236}">
                <a16:creationId xmlns:a16="http://schemas.microsoft.com/office/drawing/2014/main" id="{7EB38018-78AC-0188-D2E9-B159A65FBAFF}"/>
              </a:ext>
            </a:extLst>
          </p:cNvPr>
          <p:cNvSpPr/>
          <p:nvPr/>
        </p:nvSpPr>
        <p:spPr>
          <a:xfrm>
            <a:off x="1069932" y="2838941"/>
            <a:ext cx="2932281" cy="677241"/>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bg-BG" sz="1600"/>
              <a:t>Промо кампания</a:t>
            </a:r>
            <a:endParaRPr lang="en-GB" sz="1600"/>
          </a:p>
        </p:txBody>
      </p:sp>
      <p:sp>
        <p:nvSpPr>
          <p:cNvPr id="56" name="Rectangle 9">
            <a:extLst>
              <a:ext uri="{FF2B5EF4-FFF2-40B4-BE49-F238E27FC236}">
                <a16:creationId xmlns:a16="http://schemas.microsoft.com/office/drawing/2014/main" id="{6AFB0660-FE26-653B-6B00-25107357B113}"/>
              </a:ext>
            </a:extLst>
          </p:cNvPr>
          <p:cNvSpPr/>
          <p:nvPr/>
        </p:nvSpPr>
        <p:spPr>
          <a:xfrm>
            <a:off x="1069930" y="4647304"/>
            <a:ext cx="2932281" cy="677241"/>
          </a:xfrm>
          <a:prstGeom prst="roundRect">
            <a:avLst/>
          </a:prstGeom>
          <a:solidFill>
            <a:schemeClr val="bg2">
              <a:lumMod val="75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По препоръка</a:t>
            </a:r>
            <a:endParaRPr lang="en-GB" sz="1600"/>
          </a:p>
        </p:txBody>
      </p:sp>
      <p:sp>
        <p:nvSpPr>
          <p:cNvPr id="58" name="Rectangle 11">
            <a:extLst>
              <a:ext uri="{FF2B5EF4-FFF2-40B4-BE49-F238E27FC236}">
                <a16:creationId xmlns:a16="http://schemas.microsoft.com/office/drawing/2014/main" id="{D608C069-7B16-BA60-AF82-876E81651D33}"/>
              </a:ext>
            </a:extLst>
          </p:cNvPr>
          <p:cNvSpPr/>
          <p:nvPr/>
        </p:nvSpPr>
        <p:spPr>
          <a:xfrm>
            <a:off x="1069931" y="3734537"/>
            <a:ext cx="2932281" cy="677241"/>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bg-BG" sz="1600"/>
              <a:t>Продукт „Пенсионер“</a:t>
            </a:r>
            <a:endParaRPr lang="en-GB" sz="1600"/>
          </a:p>
        </p:txBody>
      </p:sp>
      <p:sp>
        <p:nvSpPr>
          <p:cNvPr id="62" name="Стрелка надясно 61">
            <a:extLst>
              <a:ext uri="{FF2B5EF4-FFF2-40B4-BE49-F238E27FC236}">
                <a16:creationId xmlns:a16="http://schemas.microsoft.com/office/drawing/2014/main" id="{36CCE163-A943-872B-3A16-664D2F1B7DCE}"/>
              </a:ext>
            </a:extLst>
          </p:cNvPr>
          <p:cNvSpPr/>
          <p:nvPr/>
        </p:nvSpPr>
        <p:spPr>
          <a:xfrm>
            <a:off x="4584780" y="2818350"/>
            <a:ext cx="535883" cy="30763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4" name="Rectangle: Rounded Corners 3">
            <a:extLst>
              <a:ext uri="{FF2B5EF4-FFF2-40B4-BE49-F238E27FC236}">
                <a16:creationId xmlns:a16="http://schemas.microsoft.com/office/drawing/2014/main" id="{4DBE3D2C-0355-86FB-3E1B-41586EB06629}"/>
              </a:ext>
            </a:extLst>
          </p:cNvPr>
          <p:cNvSpPr/>
          <p:nvPr/>
        </p:nvSpPr>
        <p:spPr>
          <a:xfrm>
            <a:off x="5495291" y="4042765"/>
            <a:ext cx="3256472" cy="502783"/>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endParaRPr lang="ru-RU" sz="1400" dirty="0"/>
          </a:p>
          <a:p>
            <a:pPr algn="ctr"/>
            <a:r>
              <a:rPr lang="ru-RU" sz="1400" dirty="0"/>
              <a:t>Искам да се </a:t>
            </a:r>
            <a:r>
              <a:rPr lang="ru-RU" sz="1400" dirty="0" err="1"/>
              <a:t>посъветвам</a:t>
            </a:r>
            <a:r>
              <a:rPr lang="ru-RU" sz="1400" dirty="0"/>
              <a:t> </a:t>
            </a:r>
            <a:r>
              <a:rPr lang="ru-RU" sz="1400" dirty="0" err="1"/>
              <a:t>със</a:t>
            </a:r>
            <a:r>
              <a:rPr lang="ru-RU" sz="1400" dirty="0"/>
              <a:t> </a:t>
            </a:r>
            <a:r>
              <a:rPr lang="ru-RU" sz="1400" dirty="0" err="1"/>
              <a:t>семейстовто</a:t>
            </a:r>
            <a:r>
              <a:rPr lang="ru-RU" sz="1400" dirty="0"/>
              <a:t> си</a:t>
            </a:r>
            <a:endParaRPr lang="en-GB" sz="1400" dirty="0"/>
          </a:p>
          <a:p>
            <a:pPr algn="ctr"/>
            <a:endParaRPr lang="ru-RU" sz="1400" dirty="0"/>
          </a:p>
        </p:txBody>
      </p:sp>
      <p:sp>
        <p:nvSpPr>
          <p:cNvPr id="41" name="Знак плюс 40">
            <a:extLst>
              <a:ext uri="{FF2B5EF4-FFF2-40B4-BE49-F238E27FC236}">
                <a16:creationId xmlns:a16="http://schemas.microsoft.com/office/drawing/2014/main" id="{CFB21D3B-7807-F29B-99AB-077270815051}"/>
              </a:ext>
            </a:extLst>
          </p:cNvPr>
          <p:cNvSpPr/>
          <p:nvPr/>
        </p:nvSpPr>
        <p:spPr>
          <a:xfrm>
            <a:off x="8384693" y="4116250"/>
            <a:ext cx="317560" cy="337408"/>
          </a:xfrm>
          <a:prstGeom prst="mathPlu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Tree>
    <p:extLst>
      <p:ext uri="{BB962C8B-B14F-4D97-AF65-F5344CB8AC3E}">
        <p14:creationId xmlns:p14="http://schemas.microsoft.com/office/powerpoint/2010/main" val="380686981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5DF26F-5137-529F-FDC4-D7637DE63813}"/>
            </a:ext>
          </a:extLst>
        </p:cNvPr>
        <p:cNvGrpSpPr/>
        <p:nvPr/>
      </p:nvGrpSpPr>
      <p:grpSpPr>
        <a:xfrm>
          <a:off x="0" y="0"/>
          <a:ext cx="0" cy="0"/>
          <a:chOff x="0" y="0"/>
          <a:chExt cx="0" cy="0"/>
        </a:xfrm>
      </p:grpSpPr>
      <p:sp>
        <p:nvSpPr>
          <p:cNvPr id="27" name="Rectangle 3">
            <a:extLst>
              <a:ext uri="{FF2B5EF4-FFF2-40B4-BE49-F238E27FC236}">
                <a16:creationId xmlns:a16="http://schemas.microsoft.com/office/drawing/2014/main" id="{E544AF37-E268-1DA3-07BD-E6D51F87780C}"/>
              </a:ext>
            </a:extLst>
          </p:cNvPr>
          <p:cNvSpPr/>
          <p:nvPr/>
        </p:nvSpPr>
        <p:spPr>
          <a:xfrm>
            <a:off x="1443475" y="4245"/>
            <a:ext cx="5338363" cy="677242"/>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28" name="Rectangle 4">
            <a:extLst>
              <a:ext uri="{FF2B5EF4-FFF2-40B4-BE49-F238E27FC236}">
                <a16:creationId xmlns:a16="http://schemas.microsoft.com/office/drawing/2014/main" id="{CD8B1F81-8CCB-B4C5-9C45-74AB1EA8663C}"/>
              </a:ext>
            </a:extLst>
          </p:cNvPr>
          <p:cNvSpPr/>
          <p:nvPr/>
        </p:nvSpPr>
        <p:spPr>
          <a:xfrm>
            <a:off x="6788435" y="4245"/>
            <a:ext cx="5417300" cy="677242"/>
          </a:xfrm>
          <a:prstGeom prst="rect">
            <a:avLst/>
          </a:prstGeom>
          <a:solidFill>
            <a:schemeClr val="bg2">
              <a:lumMod val="75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29" name="Rectangle 28">
            <a:extLst>
              <a:ext uri="{FF2B5EF4-FFF2-40B4-BE49-F238E27FC236}">
                <a16:creationId xmlns:a16="http://schemas.microsoft.com/office/drawing/2014/main" id="{BE18A3E1-A356-6414-2A10-F1EE11647FE8}"/>
              </a:ext>
            </a:extLst>
          </p:cNvPr>
          <p:cNvSpPr/>
          <p:nvPr/>
        </p:nvSpPr>
        <p:spPr>
          <a:xfrm>
            <a:off x="-1671" y="1599"/>
            <a:ext cx="1451167" cy="6866954"/>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200">
              <a:latin typeface="Aptos"/>
              <a:ea typeface="Calibri"/>
              <a:cs typeface="Calibri"/>
            </a:endParaRPr>
          </a:p>
        </p:txBody>
      </p:sp>
      <p:sp>
        <p:nvSpPr>
          <p:cNvPr id="30" name="Rectangle 29">
            <a:extLst>
              <a:ext uri="{FF2B5EF4-FFF2-40B4-BE49-F238E27FC236}">
                <a16:creationId xmlns:a16="http://schemas.microsoft.com/office/drawing/2014/main" id="{A5534B17-4DAF-BCEC-2DB3-71B5A2930A05}"/>
              </a:ext>
            </a:extLst>
          </p:cNvPr>
          <p:cNvSpPr/>
          <p:nvPr/>
        </p:nvSpPr>
        <p:spPr>
          <a:xfrm>
            <a:off x="-1671" y="2528038"/>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Типове клиенти</a:t>
            </a:r>
            <a:endParaRPr lang="en-GB" sz="1400">
              <a:latin typeface="Aptos"/>
              <a:ea typeface="Calibri"/>
              <a:cs typeface="Calibri"/>
            </a:endParaRPr>
          </a:p>
        </p:txBody>
      </p:sp>
      <p:sp>
        <p:nvSpPr>
          <p:cNvPr id="31" name="Rectangle 30">
            <a:extLst>
              <a:ext uri="{FF2B5EF4-FFF2-40B4-BE49-F238E27FC236}">
                <a16:creationId xmlns:a16="http://schemas.microsoft.com/office/drawing/2014/main" id="{E9E5F112-0049-98C8-78E7-3806A42AC46E}"/>
              </a:ext>
            </a:extLst>
          </p:cNvPr>
          <p:cNvSpPr/>
          <p:nvPr/>
        </p:nvSpPr>
        <p:spPr>
          <a:xfrm>
            <a:off x="8626" y="1913210"/>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b="1">
                <a:solidFill>
                  <a:srgbClr val="2F5597"/>
                </a:solidFill>
                <a:latin typeface="Aptos"/>
                <a:ea typeface="Calibri"/>
                <a:cs typeface="Calibri"/>
              </a:rPr>
              <a:t>Сценарии</a:t>
            </a:r>
            <a:endParaRPr lang="en-GB" sz="1400" b="1">
              <a:solidFill>
                <a:srgbClr val="2F5597"/>
              </a:solidFill>
              <a:latin typeface="Aptos"/>
              <a:ea typeface="Calibri"/>
              <a:cs typeface="Calibri"/>
            </a:endParaRPr>
          </a:p>
        </p:txBody>
      </p:sp>
      <p:sp>
        <p:nvSpPr>
          <p:cNvPr id="32" name="Rectangle 31">
            <a:extLst>
              <a:ext uri="{FF2B5EF4-FFF2-40B4-BE49-F238E27FC236}">
                <a16:creationId xmlns:a16="http://schemas.microsoft.com/office/drawing/2014/main" id="{02D09B4D-5B10-FEA5-8D77-072ECB60C39A}"/>
              </a:ext>
            </a:extLst>
          </p:cNvPr>
          <p:cNvSpPr/>
          <p:nvPr/>
        </p:nvSpPr>
        <p:spPr>
          <a:xfrm>
            <a:off x="-1671" y="1298382"/>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a:solidFill>
                  <a:schemeClr val="bg1"/>
                </a:solidFill>
                <a:latin typeface="Aptos"/>
                <a:ea typeface="Calibri"/>
                <a:cs typeface="Calibri"/>
              </a:rPr>
              <a:t>Стъпки в обаждането</a:t>
            </a:r>
            <a:endParaRPr lang="bg-BG" sz="1400">
              <a:solidFill>
                <a:srgbClr val="000000"/>
              </a:solidFill>
              <a:latin typeface="Aptos"/>
              <a:ea typeface="Calibri"/>
              <a:cs typeface="Calibri"/>
            </a:endParaRPr>
          </a:p>
        </p:txBody>
      </p:sp>
      <p:sp>
        <p:nvSpPr>
          <p:cNvPr id="33" name="Rectangle 28">
            <a:extLst>
              <a:ext uri="{FF2B5EF4-FFF2-40B4-BE49-F238E27FC236}">
                <a16:creationId xmlns:a16="http://schemas.microsoft.com/office/drawing/2014/main" id="{112E6A48-2EA3-970C-FDDB-EABD712A04D0}"/>
              </a:ext>
            </a:extLst>
          </p:cNvPr>
          <p:cNvSpPr/>
          <p:nvPr/>
        </p:nvSpPr>
        <p:spPr>
          <a:xfrm>
            <a:off x="6154" y="690328"/>
            <a:ext cx="1435083"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a:solidFill>
                  <a:schemeClr val="bg1"/>
                </a:solidFill>
                <a:latin typeface="Aptos"/>
                <a:ea typeface="Calibri"/>
                <a:cs typeface="Calibri"/>
              </a:rPr>
              <a:t>Подготовка</a:t>
            </a:r>
            <a:endParaRPr lang="en-GB" sz="1400">
              <a:solidFill>
                <a:schemeClr val="bg1"/>
              </a:solidFill>
              <a:latin typeface="Aptos"/>
              <a:ea typeface="Calibri"/>
              <a:cs typeface="Calibri"/>
            </a:endParaRPr>
          </a:p>
        </p:txBody>
      </p:sp>
      <p:pic>
        <p:nvPicPr>
          <p:cNvPr id="35" name="Picture 34">
            <a:extLst>
              <a:ext uri="{FF2B5EF4-FFF2-40B4-BE49-F238E27FC236}">
                <a16:creationId xmlns:a16="http://schemas.microsoft.com/office/drawing/2014/main" id="{7BE0795C-BF5D-DF75-CAD8-25B4E038C5DA}"/>
              </a:ext>
            </a:extLst>
          </p:cNvPr>
          <p:cNvPicPr>
            <a:picLocks noChangeAspect="1"/>
          </p:cNvPicPr>
          <p:nvPr/>
        </p:nvPicPr>
        <p:blipFill>
          <a:blip r:embed="rId3"/>
          <a:stretch>
            <a:fillRect/>
          </a:stretch>
        </p:blipFill>
        <p:spPr>
          <a:xfrm>
            <a:off x="11031388" y="5709427"/>
            <a:ext cx="982751" cy="995681"/>
          </a:xfrm>
          <a:prstGeom prst="rect">
            <a:avLst/>
          </a:prstGeom>
        </p:spPr>
      </p:pic>
      <p:sp>
        <p:nvSpPr>
          <p:cNvPr id="3" name="Овал 2">
            <a:extLst>
              <a:ext uri="{FF2B5EF4-FFF2-40B4-BE49-F238E27FC236}">
                <a16:creationId xmlns:a16="http://schemas.microsoft.com/office/drawing/2014/main" id="{5D61C701-FF9A-DB91-3197-A482828BC5EF}"/>
              </a:ext>
            </a:extLst>
          </p:cNvPr>
          <p:cNvSpPr/>
          <p:nvPr/>
        </p:nvSpPr>
        <p:spPr>
          <a:xfrm>
            <a:off x="16277461" y="1430065"/>
            <a:ext cx="177402" cy="159446"/>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8" name="Rectangle: Rounded Corners 9">
            <a:extLst>
              <a:ext uri="{FF2B5EF4-FFF2-40B4-BE49-F238E27FC236}">
                <a16:creationId xmlns:a16="http://schemas.microsoft.com/office/drawing/2014/main" id="{99B4C09D-5F0F-1E0D-9051-720819355493}"/>
              </a:ext>
            </a:extLst>
          </p:cNvPr>
          <p:cNvSpPr/>
          <p:nvPr/>
        </p:nvSpPr>
        <p:spPr>
          <a:xfrm>
            <a:off x="1896200" y="2012494"/>
            <a:ext cx="2932281" cy="677241"/>
          </a:xfrm>
          <a:prstGeom prst="roundRect">
            <a:avLst/>
          </a:prstGeom>
          <a:solidFill>
            <a:schemeClr val="bg2">
              <a:lumMod val="75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bg-BG" sz="1600"/>
              <a:t>Предварително одобрен клиент</a:t>
            </a:r>
            <a:endParaRPr lang="en-GB" sz="1600"/>
          </a:p>
        </p:txBody>
      </p:sp>
      <p:sp>
        <p:nvSpPr>
          <p:cNvPr id="10" name="Rectangle: Rounded Corners 11">
            <a:extLst>
              <a:ext uri="{FF2B5EF4-FFF2-40B4-BE49-F238E27FC236}">
                <a16:creationId xmlns:a16="http://schemas.microsoft.com/office/drawing/2014/main" id="{EBF30345-F8A0-951A-4AB7-1CE0EE0F2BD5}"/>
              </a:ext>
            </a:extLst>
          </p:cNvPr>
          <p:cNvSpPr/>
          <p:nvPr/>
        </p:nvSpPr>
        <p:spPr>
          <a:xfrm>
            <a:off x="1896199" y="1147427"/>
            <a:ext cx="2932281" cy="677241"/>
          </a:xfrm>
          <a:prstGeom prst="roundRect">
            <a:avLst/>
          </a:prstGeom>
          <a:solidFill>
            <a:schemeClr val="bg2">
              <a:lumMod val="75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bg-BG" sz="1600"/>
              <a:t>Лоялен клиент</a:t>
            </a:r>
            <a:endParaRPr lang="en-GB" sz="1600"/>
          </a:p>
        </p:txBody>
      </p:sp>
      <p:sp>
        <p:nvSpPr>
          <p:cNvPr id="12" name="Rectangle: Rounded Corners 13">
            <a:extLst>
              <a:ext uri="{FF2B5EF4-FFF2-40B4-BE49-F238E27FC236}">
                <a16:creationId xmlns:a16="http://schemas.microsoft.com/office/drawing/2014/main" id="{CFA3CC61-8D7B-CC47-A1FC-69D554823FC9}"/>
              </a:ext>
            </a:extLst>
          </p:cNvPr>
          <p:cNvSpPr/>
          <p:nvPr/>
        </p:nvSpPr>
        <p:spPr>
          <a:xfrm>
            <a:off x="1896198" y="2951536"/>
            <a:ext cx="2932281" cy="677241"/>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bg-BG" sz="1600"/>
              <a:t>Промо кампания</a:t>
            </a:r>
            <a:endParaRPr lang="en-GB" sz="1600"/>
          </a:p>
        </p:txBody>
      </p:sp>
      <p:sp>
        <p:nvSpPr>
          <p:cNvPr id="14" name="Rectangle 9">
            <a:extLst>
              <a:ext uri="{FF2B5EF4-FFF2-40B4-BE49-F238E27FC236}">
                <a16:creationId xmlns:a16="http://schemas.microsoft.com/office/drawing/2014/main" id="{6D812E8F-5650-40F4-739C-D015BD0FF142}"/>
              </a:ext>
            </a:extLst>
          </p:cNvPr>
          <p:cNvSpPr/>
          <p:nvPr/>
        </p:nvSpPr>
        <p:spPr>
          <a:xfrm>
            <a:off x="1896196" y="4777416"/>
            <a:ext cx="2932281" cy="677241"/>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bg-BG" sz="1600"/>
              <a:t>По препоръка</a:t>
            </a:r>
            <a:endParaRPr lang="en-GB" sz="1600"/>
          </a:p>
        </p:txBody>
      </p:sp>
      <p:sp>
        <p:nvSpPr>
          <p:cNvPr id="16" name="Rectangle 11">
            <a:extLst>
              <a:ext uri="{FF2B5EF4-FFF2-40B4-BE49-F238E27FC236}">
                <a16:creationId xmlns:a16="http://schemas.microsoft.com/office/drawing/2014/main" id="{E3542199-7049-5A11-F9C8-8C666974975E}"/>
              </a:ext>
            </a:extLst>
          </p:cNvPr>
          <p:cNvSpPr/>
          <p:nvPr/>
        </p:nvSpPr>
        <p:spPr>
          <a:xfrm>
            <a:off x="1896197" y="3838374"/>
            <a:ext cx="2932281" cy="677241"/>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bg-BG" sz="1600"/>
              <a:t>Продукт „Пенсионер“</a:t>
            </a:r>
            <a:endParaRPr lang="en-GB" sz="1600"/>
          </a:p>
        </p:txBody>
      </p:sp>
      <p:sp>
        <p:nvSpPr>
          <p:cNvPr id="15" name="Правоъгълник: със заоблени ъгли 37">
            <a:extLst>
              <a:ext uri="{FF2B5EF4-FFF2-40B4-BE49-F238E27FC236}">
                <a16:creationId xmlns:a16="http://schemas.microsoft.com/office/drawing/2014/main" id="{AA3BEA8A-B09D-CE44-B1CD-CF2C23E7799C}"/>
              </a:ext>
            </a:extLst>
          </p:cNvPr>
          <p:cNvSpPr/>
          <p:nvPr/>
        </p:nvSpPr>
        <p:spPr>
          <a:xfrm>
            <a:off x="5222212" y="955850"/>
            <a:ext cx="4325063" cy="65453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bg-BG" sz="1600" b="1">
                <a:solidFill>
                  <a:srgbClr val="1F3864"/>
                </a:solidFill>
              </a:rPr>
              <a:t>1.Отваряне и Предложение</a:t>
            </a:r>
          </a:p>
        </p:txBody>
      </p:sp>
      <p:sp>
        <p:nvSpPr>
          <p:cNvPr id="19" name="TextBox 18">
            <a:extLst>
              <a:ext uri="{FF2B5EF4-FFF2-40B4-BE49-F238E27FC236}">
                <a16:creationId xmlns:a16="http://schemas.microsoft.com/office/drawing/2014/main" id="{EB0A7509-5F70-684C-30F3-8B45A5F1855E}"/>
              </a:ext>
            </a:extLst>
          </p:cNvPr>
          <p:cNvSpPr txBox="1"/>
          <p:nvPr/>
        </p:nvSpPr>
        <p:spPr>
          <a:xfrm>
            <a:off x="5330820" y="1476400"/>
            <a:ext cx="6443040" cy="18928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ru-RU" sz="1300" dirty="0" err="1">
                <a:highlight>
                  <a:srgbClr val="FFFFFF"/>
                </a:highlight>
              </a:rPr>
              <a:t>Добър</a:t>
            </a:r>
            <a:r>
              <a:rPr lang="ru-RU" sz="1300" dirty="0">
                <a:highlight>
                  <a:srgbClr val="FFFFFF"/>
                </a:highlight>
              </a:rPr>
              <a:t> ден, </a:t>
            </a:r>
            <a:r>
              <a:rPr lang="ru-RU" sz="1300" dirty="0" err="1">
                <a:highlight>
                  <a:srgbClr val="FFFFFF"/>
                </a:highlight>
              </a:rPr>
              <a:t>търся</a:t>
            </a:r>
            <a:r>
              <a:rPr lang="ru-RU" sz="1300" dirty="0">
                <a:highlight>
                  <a:srgbClr val="FFFFFF"/>
                </a:highlight>
              </a:rPr>
              <a:t> г-н/г-жа (две имена на клиента).</a:t>
            </a:r>
            <a:br>
              <a:rPr lang="ru-RU" sz="1300" dirty="0">
                <a:highlight>
                  <a:srgbClr val="FFFFFF"/>
                </a:highlight>
              </a:rPr>
            </a:br>
            <a:r>
              <a:rPr lang="ru-RU" sz="1300" dirty="0">
                <a:highlight>
                  <a:srgbClr val="FFFFFF"/>
                </a:highlight>
              </a:rPr>
              <a:t>-Да (на телефона, аз </a:t>
            </a:r>
            <a:r>
              <a:rPr lang="ru-RU" sz="1300" dirty="0" err="1">
                <a:highlight>
                  <a:srgbClr val="FFFFFF"/>
                </a:highlight>
              </a:rPr>
              <a:t>съм</a:t>
            </a:r>
            <a:r>
              <a:rPr lang="ru-RU" sz="1300" dirty="0">
                <a:highlight>
                  <a:srgbClr val="FFFFFF"/>
                </a:highlight>
              </a:rPr>
              <a:t>).</a:t>
            </a:r>
            <a:br>
              <a:rPr lang="ru-RU" sz="1300" dirty="0">
                <a:highlight>
                  <a:srgbClr val="FFFFFF"/>
                </a:highlight>
              </a:rPr>
            </a:br>
            <a:r>
              <a:rPr lang="ru-RU" sz="1300" dirty="0">
                <a:highlight>
                  <a:srgbClr val="FFFFFF"/>
                </a:highlight>
              </a:rPr>
              <a:t>-</a:t>
            </a:r>
            <a:r>
              <a:rPr lang="ru-RU" sz="1300" dirty="0" err="1">
                <a:highlight>
                  <a:srgbClr val="FFFFFF"/>
                </a:highlight>
              </a:rPr>
              <a:t>Здравейте</a:t>
            </a:r>
            <a:r>
              <a:rPr lang="ru-RU" sz="1300" dirty="0">
                <a:highlight>
                  <a:srgbClr val="FFFFFF"/>
                </a:highlight>
              </a:rPr>
              <a:t> г-н/г-</a:t>
            </a:r>
            <a:r>
              <a:rPr lang="ru-RU" sz="1300" dirty="0" err="1">
                <a:highlight>
                  <a:srgbClr val="FFFFFF"/>
                </a:highlight>
              </a:rPr>
              <a:t>жо</a:t>
            </a:r>
            <a:r>
              <a:rPr lang="ru-RU" sz="1300" dirty="0">
                <a:highlight>
                  <a:srgbClr val="FFFFFF"/>
                </a:highlight>
              </a:rPr>
              <a:t> (фамилия на клиента), </a:t>
            </a:r>
            <a:r>
              <a:rPr lang="ru-RU" sz="1300" dirty="0" err="1">
                <a:highlight>
                  <a:srgbClr val="FFFFFF"/>
                </a:highlight>
              </a:rPr>
              <a:t>обаждам</a:t>
            </a:r>
            <a:r>
              <a:rPr lang="ru-RU" sz="1300" dirty="0">
                <a:highlight>
                  <a:srgbClr val="FFFFFF"/>
                </a:highlight>
              </a:rPr>
              <a:t> се от Изи Кредит. Имам </a:t>
            </a:r>
            <a:r>
              <a:rPr lang="ru-RU" sz="1300" dirty="0" err="1">
                <a:highlight>
                  <a:srgbClr val="FFFFFF"/>
                </a:highlight>
              </a:rPr>
              <a:t>Вашия</a:t>
            </a:r>
            <a:r>
              <a:rPr lang="ru-RU" sz="1300" dirty="0">
                <a:highlight>
                  <a:srgbClr val="FFFFFF"/>
                </a:highlight>
              </a:rPr>
              <a:t> телефон от /</a:t>
            </a:r>
            <a:r>
              <a:rPr lang="ru-RU" sz="1300" dirty="0" err="1">
                <a:highlight>
                  <a:srgbClr val="FFFFFF"/>
                </a:highlight>
              </a:rPr>
              <a:t>Име</a:t>
            </a:r>
            <a:r>
              <a:rPr lang="ru-RU" sz="1300" dirty="0">
                <a:highlight>
                  <a:srgbClr val="FFFFFF"/>
                </a:highlight>
              </a:rPr>
              <a:t> на наш клиент/ </a:t>
            </a:r>
            <a:r>
              <a:rPr lang="ru-RU" sz="1300" dirty="0" err="1">
                <a:highlight>
                  <a:srgbClr val="FFFFFF"/>
                </a:highlight>
              </a:rPr>
              <a:t>Изготвихме</a:t>
            </a:r>
            <a:r>
              <a:rPr lang="ru-RU" sz="1300" dirty="0">
                <a:highlight>
                  <a:srgbClr val="FFFFFF"/>
                </a:highlight>
              </a:rPr>
              <a:t> </a:t>
            </a:r>
            <a:r>
              <a:rPr lang="ru-RU" sz="1300" dirty="0" err="1">
                <a:highlight>
                  <a:srgbClr val="FFFFFF"/>
                </a:highlight>
              </a:rPr>
              <a:t>специално</a:t>
            </a:r>
            <a:r>
              <a:rPr lang="ru-RU" sz="1300" dirty="0">
                <a:highlight>
                  <a:srgbClr val="FFFFFF"/>
                </a:highlight>
              </a:rPr>
              <a:t> предложение за Вас. Удобно ли е да ми отделите </a:t>
            </a:r>
            <a:r>
              <a:rPr lang="ru-RU" sz="1300" dirty="0" err="1">
                <a:highlight>
                  <a:srgbClr val="FFFFFF"/>
                </a:highlight>
              </a:rPr>
              <a:t>една</a:t>
            </a:r>
            <a:r>
              <a:rPr lang="ru-RU" sz="1300" dirty="0">
                <a:highlight>
                  <a:srgbClr val="FFFFFF"/>
                </a:highlight>
              </a:rPr>
              <a:t>, две </a:t>
            </a:r>
            <a:r>
              <a:rPr lang="ru-RU" sz="1300" dirty="0" err="1">
                <a:highlight>
                  <a:srgbClr val="FFFFFF"/>
                </a:highlight>
              </a:rPr>
              <a:t>минути</a:t>
            </a:r>
            <a:r>
              <a:rPr lang="ru-RU" sz="1300" dirty="0">
                <a:highlight>
                  <a:srgbClr val="FFFFFF"/>
                </a:highlight>
              </a:rPr>
              <a:t>, за да Ви </a:t>
            </a:r>
            <a:r>
              <a:rPr lang="ru-RU" sz="1300" dirty="0" err="1">
                <a:highlight>
                  <a:srgbClr val="FFFFFF"/>
                </a:highlight>
              </a:rPr>
              <a:t>запозная</a:t>
            </a:r>
            <a:r>
              <a:rPr lang="ru-RU" sz="1300" dirty="0">
                <a:highlight>
                  <a:srgbClr val="FFFFFF"/>
                </a:highlight>
              </a:rPr>
              <a:t>? </a:t>
            </a:r>
            <a:br>
              <a:rPr lang="ru-RU" sz="1300" dirty="0">
                <a:highlight>
                  <a:srgbClr val="FFFFFF"/>
                </a:highlight>
              </a:rPr>
            </a:br>
            <a:r>
              <a:rPr lang="ru-RU" sz="1300" dirty="0">
                <a:highlight>
                  <a:srgbClr val="FFFFFF"/>
                </a:highlight>
              </a:rPr>
              <a:t>-Да (</a:t>
            </a:r>
            <a:r>
              <a:rPr lang="ru-RU" sz="1300" dirty="0" err="1">
                <a:highlight>
                  <a:srgbClr val="FFFFFF"/>
                </a:highlight>
              </a:rPr>
              <a:t>слушам</a:t>
            </a:r>
            <a:r>
              <a:rPr lang="ru-RU" sz="1300" dirty="0">
                <a:highlight>
                  <a:srgbClr val="FFFFFF"/>
                </a:highlight>
              </a:rPr>
              <a:t> Ви).</a:t>
            </a:r>
            <a:br>
              <a:rPr lang="ru-RU" sz="1300" dirty="0">
                <a:highlight>
                  <a:srgbClr val="FFFFFF"/>
                </a:highlight>
              </a:rPr>
            </a:br>
            <a:r>
              <a:rPr lang="ru-RU" sz="1300" dirty="0">
                <a:highlight>
                  <a:srgbClr val="FFFFFF"/>
                </a:highlight>
              </a:rPr>
              <a:t>(</a:t>
            </a:r>
            <a:r>
              <a:rPr lang="ru-RU" sz="1300" dirty="0" err="1">
                <a:highlight>
                  <a:srgbClr val="FFFFFF"/>
                </a:highlight>
              </a:rPr>
              <a:t>Представяне</a:t>
            </a:r>
            <a:r>
              <a:rPr lang="ru-RU" sz="1300" dirty="0">
                <a:highlight>
                  <a:srgbClr val="FFFFFF"/>
                </a:highlight>
              </a:rPr>
              <a:t> на </a:t>
            </a:r>
            <a:r>
              <a:rPr lang="ru-RU" sz="1300" dirty="0" err="1">
                <a:highlight>
                  <a:srgbClr val="FFFFFF"/>
                </a:highlight>
              </a:rPr>
              <a:t>предложнието</a:t>
            </a:r>
            <a:r>
              <a:rPr lang="ru-RU" sz="1300" dirty="0">
                <a:highlight>
                  <a:srgbClr val="FFFFFF"/>
                </a:highlight>
              </a:rPr>
              <a:t>)</a:t>
            </a:r>
            <a:br>
              <a:rPr lang="ru-RU" sz="1300" dirty="0">
                <a:highlight>
                  <a:srgbClr val="FFFFFF"/>
                </a:highlight>
              </a:rPr>
            </a:br>
            <a:r>
              <a:rPr lang="ru-RU" sz="1300" dirty="0">
                <a:highlight>
                  <a:srgbClr val="FFFFFF"/>
                </a:highlight>
              </a:rPr>
              <a:t>-Как Ви се </a:t>
            </a:r>
            <a:r>
              <a:rPr lang="ru-RU" sz="1300" dirty="0" err="1">
                <a:highlight>
                  <a:srgbClr val="FFFFFF"/>
                </a:highlight>
              </a:rPr>
              <a:t>струва</a:t>
            </a:r>
            <a:r>
              <a:rPr lang="ru-RU" sz="1300" dirty="0">
                <a:highlight>
                  <a:srgbClr val="FFFFFF"/>
                </a:highlight>
              </a:rPr>
              <a:t> </a:t>
            </a:r>
            <a:r>
              <a:rPr lang="ru-RU" sz="1300" dirty="0" err="1">
                <a:highlight>
                  <a:srgbClr val="FFFFFF"/>
                </a:highlight>
              </a:rPr>
              <a:t>моето</a:t>
            </a:r>
            <a:r>
              <a:rPr lang="ru-RU" sz="1300" dirty="0">
                <a:highlight>
                  <a:srgbClr val="FFFFFF"/>
                </a:highlight>
              </a:rPr>
              <a:t> предложение?</a:t>
            </a:r>
          </a:p>
          <a:p>
            <a:endParaRPr lang="en-US" sz="1300" dirty="0"/>
          </a:p>
        </p:txBody>
      </p:sp>
      <p:sp>
        <p:nvSpPr>
          <p:cNvPr id="21" name="Rectangle: Rounded Corners 20">
            <a:extLst>
              <a:ext uri="{FF2B5EF4-FFF2-40B4-BE49-F238E27FC236}">
                <a16:creationId xmlns:a16="http://schemas.microsoft.com/office/drawing/2014/main" id="{B95A585F-6577-C540-FC5D-9B21682BFBDE}"/>
              </a:ext>
            </a:extLst>
          </p:cNvPr>
          <p:cNvSpPr/>
          <p:nvPr/>
        </p:nvSpPr>
        <p:spPr>
          <a:xfrm>
            <a:off x="5421186" y="3831376"/>
            <a:ext cx="1841407" cy="467065"/>
          </a:xfrm>
          <a:prstGeom prst="roundRect">
            <a:avLst/>
          </a:prstGeom>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ru-RU" sz="1400" dirty="0"/>
              <a:t>Много </a:t>
            </a:r>
            <a:r>
              <a:rPr lang="ru-RU" sz="1400" dirty="0" err="1"/>
              <a:t>са</a:t>
            </a:r>
            <a:r>
              <a:rPr lang="ru-RU" sz="1400" dirty="0"/>
              <a:t> </a:t>
            </a:r>
            <a:r>
              <a:rPr lang="ru-RU" sz="1400" dirty="0" err="1"/>
              <a:t>ви</a:t>
            </a:r>
            <a:r>
              <a:rPr lang="ru-RU" sz="1400" dirty="0"/>
              <a:t> </a:t>
            </a:r>
            <a:r>
              <a:rPr lang="ru-RU" sz="1400" dirty="0" err="1"/>
              <a:t>високи</a:t>
            </a:r>
            <a:r>
              <a:rPr lang="ru-RU" sz="1400" dirty="0"/>
              <a:t> </a:t>
            </a:r>
            <a:r>
              <a:rPr lang="ru-RU" sz="1400" dirty="0" err="1"/>
              <a:t>лихвите</a:t>
            </a:r>
            <a:endParaRPr lang="en-GB" sz="1400" dirty="0"/>
          </a:p>
        </p:txBody>
      </p:sp>
      <p:sp>
        <p:nvSpPr>
          <p:cNvPr id="23" name="Правоъгълник: със заоблени ъгли 41">
            <a:extLst>
              <a:ext uri="{FF2B5EF4-FFF2-40B4-BE49-F238E27FC236}">
                <a16:creationId xmlns:a16="http://schemas.microsoft.com/office/drawing/2014/main" id="{E046E51A-DDCC-95A0-77AB-0E422A9CA7B1}"/>
              </a:ext>
            </a:extLst>
          </p:cNvPr>
          <p:cNvSpPr/>
          <p:nvPr/>
        </p:nvSpPr>
        <p:spPr>
          <a:xfrm>
            <a:off x="5221816" y="3244408"/>
            <a:ext cx="4297519" cy="521771"/>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bg-BG" sz="1600" b="1">
                <a:solidFill>
                  <a:schemeClr val="accent1">
                    <a:lumMod val="49000"/>
                  </a:schemeClr>
                </a:solidFill>
              </a:rPr>
              <a:t>2. Възражение и отговор</a:t>
            </a:r>
          </a:p>
        </p:txBody>
      </p:sp>
      <p:sp>
        <p:nvSpPr>
          <p:cNvPr id="25" name="Правоъгълник: със заоблени ъгли 16">
            <a:extLst>
              <a:ext uri="{FF2B5EF4-FFF2-40B4-BE49-F238E27FC236}">
                <a16:creationId xmlns:a16="http://schemas.microsoft.com/office/drawing/2014/main" id="{15171EFC-D3F9-7F23-2E58-E651035E1647}"/>
              </a:ext>
            </a:extLst>
          </p:cNvPr>
          <p:cNvSpPr/>
          <p:nvPr/>
        </p:nvSpPr>
        <p:spPr>
          <a:xfrm>
            <a:off x="5217116" y="5451649"/>
            <a:ext cx="2744630" cy="590809"/>
          </a:xfrm>
          <a:prstGeom prst="roundRect">
            <a:avLst>
              <a:gd name="adj" fmla="val 50000"/>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200"/>
              <a:t>Тренирай</a:t>
            </a:r>
          </a:p>
        </p:txBody>
      </p:sp>
      <p:sp>
        <p:nvSpPr>
          <p:cNvPr id="26" name="Rectangle: Rounded Corners 25">
            <a:extLst>
              <a:ext uri="{FF2B5EF4-FFF2-40B4-BE49-F238E27FC236}">
                <a16:creationId xmlns:a16="http://schemas.microsoft.com/office/drawing/2014/main" id="{900E442A-2680-294D-7868-8B578A0DAA97}"/>
              </a:ext>
            </a:extLst>
          </p:cNvPr>
          <p:cNvSpPr/>
          <p:nvPr/>
        </p:nvSpPr>
        <p:spPr>
          <a:xfrm>
            <a:off x="5421186" y="4545751"/>
            <a:ext cx="1841407" cy="467065"/>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400" dirty="0" err="1"/>
              <a:t>Нямам</a:t>
            </a:r>
            <a:r>
              <a:rPr lang="ru-RU" sz="1400" dirty="0"/>
              <a:t> нужда</a:t>
            </a:r>
            <a:endParaRPr lang="en-GB" sz="1400" dirty="0"/>
          </a:p>
        </p:txBody>
      </p:sp>
      <p:sp>
        <p:nvSpPr>
          <p:cNvPr id="2" name="Правоъгълник 1">
            <a:extLst>
              <a:ext uri="{FF2B5EF4-FFF2-40B4-BE49-F238E27FC236}">
                <a16:creationId xmlns:a16="http://schemas.microsoft.com/office/drawing/2014/main" id="{04D3B19F-7508-0B3A-AE58-C0E88F9DB973}"/>
              </a:ext>
            </a:extLst>
          </p:cNvPr>
          <p:cNvSpPr/>
          <p:nvPr/>
        </p:nvSpPr>
        <p:spPr>
          <a:xfrm>
            <a:off x="7807569" y="3766179"/>
            <a:ext cx="3768132" cy="14891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sz="1200" dirty="0" err="1"/>
              <a:t>Разбирам</a:t>
            </a:r>
            <a:r>
              <a:rPr lang="ru-RU" sz="1200" dirty="0"/>
              <a:t>, че </a:t>
            </a:r>
            <a:r>
              <a:rPr lang="ru-RU" sz="1200" dirty="0" err="1"/>
              <a:t>оскъпяването</a:t>
            </a:r>
            <a:r>
              <a:rPr lang="ru-RU" sz="1200" dirty="0"/>
              <a:t> по </a:t>
            </a:r>
            <a:r>
              <a:rPr lang="ru-RU" sz="1200" dirty="0" err="1"/>
              <a:t>кредитите</a:t>
            </a:r>
            <a:r>
              <a:rPr lang="ru-RU" sz="1200" dirty="0"/>
              <a:t> Ви </a:t>
            </a:r>
            <a:r>
              <a:rPr lang="ru-RU" sz="1200" dirty="0" err="1"/>
              <a:t>притеснява</a:t>
            </a:r>
            <a:r>
              <a:rPr lang="ru-RU" sz="1200" dirty="0"/>
              <a:t>. </a:t>
            </a:r>
            <a:r>
              <a:rPr lang="ru-RU" sz="1200" dirty="0" err="1"/>
              <a:t>Нека</a:t>
            </a:r>
            <a:r>
              <a:rPr lang="ru-RU" sz="1200" dirty="0"/>
              <a:t> Ви </a:t>
            </a:r>
            <a:r>
              <a:rPr lang="ru-RU" sz="1200" dirty="0" err="1"/>
              <a:t>разкажа</a:t>
            </a:r>
            <a:r>
              <a:rPr lang="ru-RU" sz="1200" dirty="0"/>
              <a:t> как можете да </a:t>
            </a:r>
            <a:r>
              <a:rPr lang="ru-RU" sz="1200" dirty="0" err="1"/>
              <a:t>контролирате</a:t>
            </a:r>
            <a:r>
              <a:rPr lang="ru-RU" sz="1200" dirty="0"/>
              <a:t> </a:t>
            </a:r>
            <a:r>
              <a:rPr lang="ru-RU" sz="1200" dirty="0" err="1"/>
              <a:t>това</a:t>
            </a:r>
            <a:r>
              <a:rPr lang="ru-RU" sz="1200" dirty="0"/>
              <a:t>!  При нас </a:t>
            </a:r>
            <a:r>
              <a:rPr lang="ru-RU" sz="1200" dirty="0" err="1"/>
              <a:t>може</a:t>
            </a:r>
            <a:r>
              <a:rPr lang="ru-RU" sz="1200" dirty="0"/>
              <a:t> да се </a:t>
            </a:r>
            <a:r>
              <a:rPr lang="ru-RU" sz="1200" dirty="0" err="1"/>
              <a:t>възползвате</a:t>
            </a:r>
            <a:r>
              <a:rPr lang="ru-RU" sz="1200" dirty="0"/>
              <a:t> от кредит с </a:t>
            </a:r>
            <a:r>
              <a:rPr lang="ru-RU" sz="1200" dirty="0" err="1"/>
              <a:t>предоставено</a:t>
            </a:r>
            <a:r>
              <a:rPr lang="ru-RU" sz="1200" dirty="0"/>
              <a:t> </a:t>
            </a:r>
            <a:r>
              <a:rPr lang="ru-RU" sz="1200" dirty="0" err="1"/>
              <a:t>обезпечение</a:t>
            </a:r>
            <a:r>
              <a:rPr lang="ru-RU" sz="1200" dirty="0"/>
              <a:t>, </a:t>
            </a:r>
            <a:r>
              <a:rPr lang="ru-RU" sz="1200" dirty="0" err="1"/>
              <a:t>двама</a:t>
            </a:r>
            <a:r>
              <a:rPr lang="ru-RU" sz="1200" dirty="0"/>
              <a:t> </a:t>
            </a:r>
            <a:r>
              <a:rPr lang="ru-RU" sz="1200" dirty="0" err="1"/>
              <a:t>гаранти</a:t>
            </a:r>
            <a:r>
              <a:rPr lang="ru-RU" sz="1200" dirty="0"/>
              <a:t> или </a:t>
            </a:r>
            <a:r>
              <a:rPr lang="ru-RU" sz="1200" dirty="0" err="1"/>
              <a:t>банкова</a:t>
            </a:r>
            <a:r>
              <a:rPr lang="ru-RU" sz="1200" dirty="0"/>
              <a:t> </a:t>
            </a:r>
            <a:r>
              <a:rPr lang="ru-RU" sz="1200" dirty="0" err="1"/>
              <a:t>гаранция</a:t>
            </a:r>
            <a:r>
              <a:rPr lang="ru-RU" sz="1200" dirty="0"/>
              <a:t>. </a:t>
            </a:r>
            <a:r>
              <a:rPr lang="ru-RU" sz="1200" dirty="0" err="1"/>
              <a:t>Ако</a:t>
            </a:r>
            <a:r>
              <a:rPr lang="ru-RU" sz="1200" dirty="0"/>
              <a:t> желаете </a:t>
            </a:r>
            <a:r>
              <a:rPr lang="ru-RU" sz="1200" dirty="0" err="1"/>
              <a:t>мога</a:t>
            </a:r>
            <a:r>
              <a:rPr lang="ru-RU" sz="1200" dirty="0"/>
              <a:t> да </a:t>
            </a:r>
            <a:r>
              <a:rPr lang="ru-RU" sz="1200" dirty="0" err="1"/>
              <a:t>ви</a:t>
            </a:r>
            <a:r>
              <a:rPr lang="ru-RU" sz="1200" dirty="0"/>
              <a:t> </a:t>
            </a:r>
            <a:r>
              <a:rPr lang="ru-RU" sz="1200" dirty="0" err="1"/>
              <a:t>разкажа</a:t>
            </a:r>
            <a:r>
              <a:rPr lang="ru-RU" sz="1200" dirty="0"/>
              <a:t> </a:t>
            </a:r>
            <a:r>
              <a:rPr lang="ru-RU" sz="1200" dirty="0" err="1"/>
              <a:t>повече</a:t>
            </a:r>
            <a:r>
              <a:rPr lang="ru-RU" sz="1200" dirty="0"/>
              <a:t> и да предоставя </a:t>
            </a:r>
            <a:r>
              <a:rPr lang="ru-RU" sz="1200" dirty="0" err="1"/>
              <a:t>примери</a:t>
            </a:r>
            <a:r>
              <a:rPr lang="ru-RU" sz="1200" dirty="0"/>
              <a:t> </a:t>
            </a:r>
            <a:r>
              <a:rPr lang="ru-RU" sz="1200" dirty="0" err="1"/>
              <a:t>със</a:t>
            </a:r>
            <a:r>
              <a:rPr lang="ru-RU" sz="1200" dirty="0"/>
              <a:t> сума и период на </a:t>
            </a:r>
            <a:r>
              <a:rPr lang="ru-RU" sz="1200" dirty="0" err="1"/>
              <a:t>погасяване</a:t>
            </a:r>
            <a:r>
              <a:rPr lang="ru-RU" sz="1200" dirty="0"/>
              <a:t>.</a:t>
            </a:r>
            <a:endParaRPr lang="bg-BG" sz="1200" dirty="0"/>
          </a:p>
        </p:txBody>
      </p:sp>
      <p:cxnSp>
        <p:nvCxnSpPr>
          <p:cNvPr id="6" name="Съединител &quot;права стрелка&quot; 5">
            <a:extLst>
              <a:ext uri="{FF2B5EF4-FFF2-40B4-BE49-F238E27FC236}">
                <a16:creationId xmlns:a16="http://schemas.microsoft.com/office/drawing/2014/main" id="{6F24AFFE-CB19-7139-3CF5-C20DF2112E26}"/>
              </a:ext>
            </a:extLst>
          </p:cNvPr>
          <p:cNvCxnSpPr>
            <a:stCxn id="21" idx="3"/>
          </p:cNvCxnSpPr>
          <p:nvPr/>
        </p:nvCxnSpPr>
        <p:spPr>
          <a:xfrm>
            <a:off x="7262593" y="4064909"/>
            <a:ext cx="474638" cy="3061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2565382"/>
      </p:ext>
    </p:extLst>
  </p:cSld>
  <p:clrMapOvr>
    <a:masterClrMapping/>
  </p:clrMapOvr>
  <p:extLst>
    <p:ext uri="{6950BFC3-D8DA-4A85-94F7-54DA5524770B}">
      <p188:commentRel xmlns:p188="http://schemas.microsoft.com/office/powerpoint/2018/8/main" r:id="rId2"/>
    </p:ext>
  </p:extLs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202113-C118-289A-A5FD-ECE7C2017C6B}"/>
            </a:ext>
          </a:extLst>
        </p:cNvPr>
        <p:cNvGrpSpPr/>
        <p:nvPr/>
      </p:nvGrpSpPr>
      <p:grpSpPr>
        <a:xfrm>
          <a:off x="0" y="0"/>
          <a:ext cx="0" cy="0"/>
          <a:chOff x="0" y="0"/>
          <a:chExt cx="0" cy="0"/>
        </a:xfrm>
      </p:grpSpPr>
      <p:sp>
        <p:nvSpPr>
          <p:cNvPr id="27" name="Rectangle 3">
            <a:extLst>
              <a:ext uri="{FF2B5EF4-FFF2-40B4-BE49-F238E27FC236}">
                <a16:creationId xmlns:a16="http://schemas.microsoft.com/office/drawing/2014/main" id="{24DFE435-6CF2-EEB1-F26A-CD83B23E8E78}"/>
              </a:ext>
            </a:extLst>
          </p:cNvPr>
          <p:cNvSpPr/>
          <p:nvPr/>
        </p:nvSpPr>
        <p:spPr>
          <a:xfrm>
            <a:off x="1443475" y="4245"/>
            <a:ext cx="5338363" cy="677242"/>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28" name="Rectangle 4">
            <a:extLst>
              <a:ext uri="{FF2B5EF4-FFF2-40B4-BE49-F238E27FC236}">
                <a16:creationId xmlns:a16="http://schemas.microsoft.com/office/drawing/2014/main" id="{05D803DF-6A12-2B1C-D845-009166961A71}"/>
              </a:ext>
            </a:extLst>
          </p:cNvPr>
          <p:cNvSpPr/>
          <p:nvPr/>
        </p:nvSpPr>
        <p:spPr>
          <a:xfrm>
            <a:off x="6788435" y="4245"/>
            <a:ext cx="5417300" cy="677242"/>
          </a:xfrm>
          <a:prstGeom prst="rect">
            <a:avLst/>
          </a:prstGeom>
          <a:solidFill>
            <a:schemeClr val="bg2">
              <a:lumMod val="75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29" name="Rectangle 28">
            <a:extLst>
              <a:ext uri="{FF2B5EF4-FFF2-40B4-BE49-F238E27FC236}">
                <a16:creationId xmlns:a16="http://schemas.microsoft.com/office/drawing/2014/main" id="{1C39FAD6-9130-68F9-CCF2-75FE174D8236}"/>
              </a:ext>
            </a:extLst>
          </p:cNvPr>
          <p:cNvSpPr/>
          <p:nvPr/>
        </p:nvSpPr>
        <p:spPr>
          <a:xfrm>
            <a:off x="-1671" y="1599"/>
            <a:ext cx="1451167" cy="6866954"/>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200">
              <a:latin typeface="Aptos"/>
              <a:ea typeface="Calibri"/>
              <a:cs typeface="Calibri"/>
            </a:endParaRPr>
          </a:p>
        </p:txBody>
      </p:sp>
      <p:sp>
        <p:nvSpPr>
          <p:cNvPr id="30" name="Rectangle 29">
            <a:extLst>
              <a:ext uri="{FF2B5EF4-FFF2-40B4-BE49-F238E27FC236}">
                <a16:creationId xmlns:a16="http://schemas.microsoft.com/office/drawing/2014/main" id="{FEFD072E-0F3D-5D42-CFF6-B2B112825709}"/>
              </a:ext>
            </a:extLst>
          </p:cNvPr>
          <p:cNvSpPr/>
          <p:nvPr/>
        </p:nvSpPr>
        <p:spPr>
          <a:xfrm>
            <a:off x="-1671" y="2528038"/>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Типове клиенти</a:t>
            </a:r>
            <a:endParaRPr lang="en-GB" sz="1400">
              <a:latin typeface="Aptos"/>
              <a:ea typeface="Calibri"/>
              <a:cs typeface="Calibri"/>
            </a:endParaRPr>
          </a:p>
        </p:txBody>
      </p:sp>
      <p:sp>
        <p:nvSpPr>
          <p:cNvPr id="31" name="Rectangle 30">
            <a:extLst>
              <a:ext uri="{FF2B5EF4-FFF2-40B4-BE49-F238E27FC236}">
                <a16:creationId xmlns:a16="http://schemas.microsoft.com/office/drawing/2014/main" id="{74E21D2A-68C3-0A3B-3C4F-B9E11D87C54F}"/>
              </a:ext>
            </a:extLst>
          </p:cNvPr>
          <p:cNvSpPr/>
          <p:nvPr/>
        </p:nvSpPr>
        <p:spPr>
          <a:xfrm>
            <a:off x="8626" y="1913210"/>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b="1">
                <a:solidFill>
                  <a:srgbClr val="2F5597"/>
                </a:solidFill>
                <a:latin typeface="Aptos"/>
                <a:ea typeface="Calibri"/>
                <a:cs typeface="Calibri"/>
              </a:rPr>
              <a:t>Сценарии</a:t>
            </a:r>
            <a:endParaRPr lang="en-GB" sz="1400" b="1">
              <a:solidFill>
                <a:srgbClr val="2F5597"/>
              </a:solidFill>
              <a:latin typeface="Aptos"/>
              <a:ea typeface="Calibri"/>
              <a:cs typeface="Calibri"/>
            </a:endParaRPr>
          </a:p>
        </p:txBody>
      </p:sp>
      <p:sp>
        <p:nvSpPr>
          <p:cNvPr id="32" name="Rectangle 31">
            <a:extLst>
              <a:ext uri="{FF2B5EF4-FFF2-40B4-BE49-F238E27FC236}">
                <a16:creationId xmlns:a16="http://schemas.microsoft.com/office/drawing/2014/main" id="{088A5EA7-DE1A-56D1-E7C2-DC3FCA271AE3}"/>
              </a:ext>
            </a:extLst>
          </p:cNvPr>
          <p:cNvSpPr/>
          <p:nvPr/>
        </p:nvSpPr>
        <p:spPr>
          <a:xfrm>
            <a:off x="-1671" y="1298382"/>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a:solidFill>
                  <a:schemeClr val="bg1"/>
                </a:solidFill>
                <a:latin typeface="Aptos"/>
                <a:ea typeface="Calibri"/>
                <a:cs typeface="Calibri"/>
              </a:rPr>
              <a:t>Стъпки в обаждането</a:t>
            </a:r>
            <a:endParaRPr lang="bg-BG" sz="1400">
              <a:solidFill>
                <a:srgbClr val="000000"/>
              </a:solidFill>
              <a:latin typeface="Aptos"/>
              <a:ea typeface="Calibri"/>
              <a:cs typeface="Calibri"/>
            </a:endParaRPr>
          </a:p>
        </p:txBody>
      </p:sp>
      <p:sp>
        <p:nvSpPr>
          <p:cNvPr id="33" name="Rectangle 28">
            <a:extLst>
              <a:ext uri="{FF2B5EF4-FFF2-40B4-BE49-F238E27FC236}">
                <a16:creationId xmlns:a16="http://schemas.microsoft.com/office/drawing/2014/main" id="{CD09BD1E-4829-C13B-7119-1E7A15F0D382}"/>
              </a:ext>
            </a:extLst>
          </p:cNvPr>
          <p:cNvSpPr/>
          <p:nvPr/>
        </p:nvSpPr>
        <p:spPr>
          <a:xfrm>
            <a:off x="6154" y="690328"/>
            <a:ext cx="1435083"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a:solidFill>
                  <a:schemeClr val="bg1"/>
                </a:solidFill>
                <a:latin typeface="Aptos"/>
                <a:ea typeface="Calibri"/>
                <a:cs typeface="Calibri"/>
              </a:rPr>
              <a:t>Подготовка</a:t>
            </a:r>
            <a:endParaRPr lang="en-GB" sz="1400">
              <a:solidFill>
                <a:schemeClr val="bg1"/>
              </a:solidFill>
              <a:latin typeface="Aptos"/>
              <a:ea typeface="Calibri"/>
              <a:cs typeface="Calibri"/>
            </a:endParaRPr>
          </a:p>
        </p:txBody>
      </p:sp>
      <p:pic>
        <p:nvPicPr>
          <p:cNvPr id="35" name="Picture 34">
            <a:extLst>
              <a:ext uri="{FF2B5EF4-FFF2-40B4-BE49-F238E27FC236}">
                <a16:creationId xmlns:a16="http://schemas.microsoft.com/office/drawing/2014/main" id="{81C8018A-FF52-5ED6-0C5C-57AB27D82856}"/>
              </a:ext>
            </a:extLst>
          </p:cNvPr>
          <p:cNvPicPr>
            <a:picLocks noChangeAspect="1"/>
          </p:cNvPicPr>
          <p:nvPr/>
        </p:nvPicPr>
        <p:blipFill>
          <a:blip r:embed="rId3"/>
          <a:stretch>
            <a:fillRect/>
          </a:stretch>
        </p:blipFill>
        <p:spPr>
          <a:xfrm>
            <a:off x="11031388" y="5709427"/>
            <a:ext cx="982751" cy="995681"/>
          </a:xfrm>
          <a:prstGeom prst="rect">
            <a:avLst/>
          </a:prstGeom>
        </p:spPr>
      </p:pic>
      <p:sp>
        <p:nvSpPr>
          <p:cNvPr id="3" name="Овал 2">
            <a:extLst>
              <a:ext uri="{FF2B5EF4-FFF2-40B4-BE49-F238E27FC236}">
                <a16:creationId xmlns:a16="http://schemas.microsoft.com/office/drawing/2014/main" id="{526B0E7F-B5E6-21C0-3621-F10807539AA1}"/>
              </a:ext>
            </a:extLst>
          </p:cNvPr>
          <p:cNvSpPr/>
          <p:nvPr/>
        </p:nvSpPr>
        <p:spPr>
          <a:xfrm>
            <a:off x="16277461" y="1430065"/>
            <a:ext cx="177402" cy="159446"/>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8" name="Rectangle: Rounded Corners 9">
            <a:extLst>
              <a:ext uri="{FF2B5EF4-FFF2-40B4-BE49-F238E27FC236}">
                <a16:creationId xmlns:a16="http://schemas.microsoft.com/office/drawing/2014/main" id="{7321361A-B34C-6419-9A6E-B7001F4934AF}"/>
              </a:ext>
            </a:extLst>
          </p:cNvPr>
          <p:cNvSpPr/>
          <p:nvPr/>
        </p:nvSpPr>
        <p:spPr>
          <a:xfrm>
            <a:off x="1896200" y="2012494"/>
            <a:ext cx="2932281" cy="677241"/>
          </a:xfrm>
          <a:prstGeom prst="roundRect">
            <a:avLst/>
          </a:prstGeom>
          <a:solidFill>
            <a:schemeClr val="bg2">
              <a:lumMod val="75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bg-BG" sz="1600"/>
              <a:t>Предварително одобрен клиент</a:t>
            </a:r>
            <a:endParaRPr lang="en-GB" sz="1600"/>
          </a:p>
        </p:txBody>
      </p:sp>
      <p:sp>
        <p:nvSpPr>
          <p:cNvPr id="10" name="Rectangle: Rounded Corners 11">
            <a:extLst>
              <a:ext uri="{FF2B5EF4-FFF2-40B4-BE49-F238E27FC236}">
                <a16:creationId xmlns:a16="http://schemas.microsoft.com/office/drawing/2014/main" id="{540A07B6-B291-D3C5-E490-AAF02A06D4D7}"/>
              </a:ext>
            </a:extLst>
          </p:cNvPr>
          <p:cNvSpPr/>
          <p:nvPr/>
        </p:nvSpPr>
        <p:spPr>
          <a:xfrm>
            <a:off x="1896199" y="1147427"/>
            <a:ext cx="2932281" cy="677241"/>
          </a:xfrm>
          <a:prstGeom prst="roundRect">
            <a:avLst/>
          </a:prstGeom>
          <a:solidFill>
            <a:schemeClr val="bg2">
              <a:lumMod val="75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bg-BG" sz="1600"/>
              <a:t>Лоялен клиент</a:t>
            </a:r>
            <a:endParaRPr lang="en-GB" sz="1600"/>
          </a:p>
        </p:txBody>
      </p:sp>
      <p:sp>
        <p:nvSpPr>
          <p:cNvPr id="12" name="Rectangle: Rounded Corners 13">
            <a:extLst>
              <a:ext uri="{FF2B5EF4-FFF2-40B4-BE49-F238E27FC236}">
                <a16:creationId xmlns:a16="http://schemas.microsoft.com/office/drawing/2014/main" id="{AE347B77-9B71-E6F6-3F8D-6F1DD86E7071}"/>
              </a:ext>
            </a:extLst>
          </p:cNvPr>
          <p:cNvSpPr/>
          <p:nvPr/>
        </p:nvSpPr>
        <p:spPr>
          <a:xfrm>
            <a:off x="1896198" y="2951536"/>
            <a:ext cx="2932281" cy="677241"/>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bg-BG" sz="1600"/>
              <a:t>Промо кампания</a:t>
            </a:r>
            <a:endParaRPr lang="en-GB" sz="1600"/>
          </a:p>
        </p:txBody>
      </p:sp>
      <p:sp>
        <p:nvSpPr>
          <p:cNvPr id="14" name="Rectangle 9">
            <a:extLst>
              <a:ext uri="{FF2B5EF4-FFF2-40B4-BE49-F238E27FC236}">
                <a16:creationId xmlns:a16="http://schemas.microsoft.com/office/drawing/2014/main" id="{2B73C966-8A8E-567E-BF09-C310B847F290}"/>
              </a:ext>
            </a:extLst>
          </p:cNvPr>
          <p:cNvSpPr/>
          <p:nvPr/>
        </p:nvSpPr>
        <p:spPr>
          <a:xfrm>
            <a:off x="1896196" y="4777416"/>
            <a:ext cx="2932281" cy="677241"/>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bg-BG" sz="1600"/>
              <a:t>По препоръка</a:t>
            </a:r>
            <a:endParaRPr lang="en-GB" sz="1600"/>
          </a:p>
        </p:txBody>
      </p:sp>
      <p:sp>
        <p:nvSpPr>
          <p:cNvPr id="16" name="Rectangle 11">
            <a:extLst>
              <a:ext uri="{FF2B5EF4-FFF2-40B4-BE49-F238E27FC236}">
                <a16:creationId xmlns:a16="http://schemas.microsoft.com/office/drawing/2014/main" id="{4EA2B8A4-5533-706F-5D33-F09484BBA40B}"/>
              </a:ext>
            </a:extLst>
          </p:cNvPr>
          <p:cNvSpPr/>
          <p:nvPr/>
        </p:nvSpPr>
        <p:spPr>
          <a:xfrm>
            <a:off x="1896197" y="3838374"/>
            <a:ext cx="2932281" cy="677241"/>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bg-BG" sz="1600"/>
              <a:t>Продукт „Пенсионер“</a:t>
            </a:r>
            <a:endParaRPr lang="en-GB" sz="1600"/>
          </a:p>
        </p:txBody>
      </p:sp>
      <p:sp>
        <p:nvSpPr>
          <p:cNvPr id="15" name="Правоъгълник: със заоблени ъгли 37">
            <a:extLst>
              <a:ext uri="{FF2B5EF4-FFF2-40B4-BE49-F238E27FC236}">
                <a16:creationId xmlns:a16="http://schemas.microsoft.com/office/drawing/2014/main" id="{E2546224-7357-7551-75AC-916DE81AF584}"/>
              </a:ext>
            </a:extLst>
          </p:cNvPr>
          <p:cNvSpPr/>
          <p:nvPr/>
        </p:nvSpPr>
        <p:spPr>
          <a:xfrm>
            <a:off x="5222212" y="955850"/>
            <a:ext cx="4325063" cy="65453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bg-BG" sz="1600" b="1">
                <a:solidFill>
                  <a:srgbClr val="1F3864"/>
                </a:solidFill>
              </a:rPr>
              <a:t>1.Отваряне и Предложение</a:t>
            </a:r>
          </a:p>
        </p:txBody>
      </p:sp>
      <p:sp>
        <p:nvSpPr>
          <p:cNvPr id="19" name="TextBox 18">
            <a:extLst>
              <a:ext uri="{FF2B5EF4-FFF2-40B4-BE49-F238E27FC236}">
                <a16:creationId xmlns:a16="http://schemas.microsoft.com/office/drawing/2014/main" id="{975F2210-911A-F68C-B127-FC7AD5B3F131}"/>
              </a:ext>
            </a:extLst>
          </p:cNvPr>
          <p:cNvSpPr txBox="1"/>
          <p:nvPr/>
        </p:nvSpPr>
        <p:spPr>
          <a:xfrm>
            <a:off x="5330820" y="1476400"/>
            <a:ext cx="6443040" cy="18928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ru-RU" sz="1300" dirty="0" err="1">
                <a:highlight>
                  <a:srgbClr val="FFFFFF"/>
                </a:highlight>
              </a:rPr>
              <a:t>Добър</a:t>
            </a:r>
            <a:r>
              <a:rPr lang="ru-RU" sz="1300" dirty="0">
                <a:highlight>
                  <a:srgbClr val="FFFFFF"/>
                </a:highlight>
              </a:rPr>
              <a:t> ден, </a:t>
            </a:r>
            <a:r>
              <a:rPr lang="ru-RU" sz="1300" dirty="0" err="1">
                <a:highlight>
                  <a:srgbClr val="FFFFFF"/>
                </a:highlight>
              </a:rPr>
              <a:t>търся</a:t>
            </a:r>
            <a:r>
              <a:rPr lang="ru-RU" sz="1300" dirty="0">
                <a:highlight>
                  <a:srgbClr val="FFFFFF"/>
                </a:highlight>
              </a:rPr>
              <a:t> г-н/г-жа (две имена на клиента).</a:t>
            </a:r>
            <a:br>
              <a:rPr lang="ru-RU" sz="1300" dirty="0">
                <a:highlight>
                  <a:srgbClr val="FFFFFF"/>
                </a:highlight>
              </a:rPr>
            </a:br>
            <a:r>
              <a:rPr lang="ru-RU" sz="1300" dirty="0">
                <a:highlight>
                  <a:srgbClr val="FFFFFF"/>
                </a:highlight>
              </a:rPr>
              <a:t>-Да (на телефона, аз </a:t>
            </a:r>
            <a:r>
              <a:rPr lang="ru-RU" sz="1300" dirty="0" err="1">
                <a:highlight>
                  <a:srgbClr val="FFFFFF"/>
                </a:highlight>
              </a:rPr>
              <a:t>съм</a:t>
            </a:r>
            <a:r>
              <a:rPr lang="ru-RU" sz="1300" dirty="0">
                <a:highlight>
                  <a:srgbClr val="FFFFFF"/>
                </a:highlight>
              </a:rPr>
              <a:t>).</a:t>
            </a:r>
            <a:br>
              <a:rPr lang="ru-RU" sz="1300" dirty="0">
                <a:highlight>
                  <a:srgbClr val="FFFFFF"/>
                </a:highlight>
              </a:rPr>
            </a:br>
            <a:r>
              <a:rPr lang="ru-RU" sz="1300" dirty="0">
                <a:highlight>
                  <a:srgbClr val="FFFFFF"/>
                </a:highlight>
              </a:rPr>
              <a:t>-</a:t>
            </a:r>
            <a:r>
              <a:rPr lang="ru-RU" sz="1300" dirty="0" err="1">
                <a:highlight>
                  <a:srgbClr val="FFFFFF"/>
                </a:highlight>
              </a:rPr>
              <a:t>Здравейте</a:t>
            </a:r>
            <a:r>
              <a:rPr lang="ru-RU" sz="1300" dirty="0">
                <a:highlight>
                  <a:srgbClr val="FFFFFF"/>
                </a:highlight>
              </a:rPr>
              <a:t> г-н/г-</a:t>
            </a:r>
            <a:r>
              <a:rPr lang="ru-RU" sz="1300" dirty="0" err="1">
                <a:highlight>
                  <a:srgbClr val="FFFFFF"/>
                </a:highlight>
              </a:rPr>
              <a:t>жо</a:t>
            </a:r>
            <a:r>
              <a:rPr lang="ru-RU" sz="1300" dirty="0">
                <a:highlight>
                  <a:srgbClr val="FFFFFF"/>
                </a:highlight>
              </a:rPr>
              <a:t> (фамилия на клиента), </a:t>
            </a:r>
            <a:r>
              <a:rPr lang="ru-RU" sz="1300" dirty="0" err="1">
                <a:highlight>
                  <a:srgbClr val="FFFFFF"/>
                </a:highlight>
              </a:rPr>
              <a:t>обаждам</a:t>
            </a:r>
            <a:r>
              <a:rPr lang="ru-RU" sz="1300" dirty="0">
                <a:highlight>
                  <a:srgbClr val="FFFFFF"/>
                </a:highlight>
              </a:rPr>
              <a:t> се от Изи Кредит. Имам </a:t>
            </a:r>
            <a:r>
              <a:rPr lang="ru-RU" sz="1300" dirty="0" err="1">
                <a:highlight>
                  <a:srgbClr val="FFFFFF"/>
                </a:highlight>
              </a:rPr>
              <a:t>Вашия</a:t>
            </a:r>
            <a:r>
              <a:rPr lang="ru-RU" sz="1300" dirty="0">
                <a:highlight>
                  <a:srgbClr val="FFFFFF"/>
                </a:highlight>
              </a:rPr>
              <a:t> телефон от /</a:t>
            </a:r>
            <a:r>
              <a:rPr lang="ru-RU" sz="1300" dirty="0" err="1">
                <a:highlight>
                  <a:srgbClr val="FFFFFF"/>
                </a:highlight>
              </a:rPr>
              <a:t>Име</a:t>
            </a:r>
            <a:r>
              <a:rPr lang="ru-RU" sz="1300" dirty="0">
                <a:highlight>
                  <a:srgbClr val="FFFFFF"/>
                </a:highlight>
              </a:rPr>
              <a:t> на наш клиент/ </a:t>
            </a:r>
            <a:r>
              <a:rPr lang="ru-RU" sz="1300" dirty="0" err="1">
                <a:highlight>
                  <a:srgbClr val="FFFFFF"/>
                </a:highlight>
              </a:rPr>
              <a:t>Изготвихме</a:t>
            </a:r>
            <a:r>
              <a:rPr lang="ru-RU" sz="1300" dirty="0">
                <a:highlight>
                  <a:srgbClr val="FFFFFF"/>
                </a:highlight>
              </a:rPr>
              <a:t> </a:t>
            </a:r>
            <a:r>
              <a:rPr lang="ru-RU" sz="1300" dirty="0" err="1">
                <a:highlight>
                  <a:srgbClr val="FFFFFF"/>
                </a:highlight>
              </a:rPr>
              <a:t>специално</a:t>
            </a:r>
            <a:r>
              <a:rPr lang="ru-RU" sz="1300" dirty="0">
                <a:highlight>
                  <a:srgbClr val="FFFFFF"/>
                </a:highlight>
              </a:rPr>
              <a:t> предложение за Вас. Удобно ли е да ми отделите </a:t>
            </a:r>
            <a:r>
              <a:rPr lang="ru-RU" sz="1300" dirty="0" err="1">
                <a:highlight>
                  <a:srgbClr val="FFFFFF"/>
                </a:highlight>
              </a:rPr>
              <a:t>една</a:t>
            </a:r>
            <a:r>
              <a:rPr lang="ru-RU" sz="1300" dirty="0">
                <a:highlight>
                  <a:srgbClr val="FFFFFF"/>
                </a:highlight>
              </a:rPr>
              <a:t>, две </a:t>
            </a:r>
            <a:r>
              <a:rPr lang="ru-RU" sz="1300" dirty="0" err="1">
                <a:highlight>
                  <a:srgbClr val="FFFFFF"/>
                </a:highlight>
              </a:rPr>
              <a:t>минути</a:t>
            </a:r>
            <a:r>
              <a:rPr lang="ru-RU" sz="1300" dirty="0">
                <a:highlight>
                  <a:srgbClr val="FFFFFF"/>
                </a:highlight>
              </a:rPr>
              <a:t>, за да Ви </a:t>
            </a:r>
            <a:r>
              <a:rPr lang="ru-RU" sz="1300" dirty="0" err="1">
                <a:highlight>
                  <a:srgbClr val="FFFFFF"/>
                </a:highlight>
              </a:rPr>
              <a:t>запозная</a:t>
            </a:r>
            <a:r>
              <a:rPr lang="ru-RU" sz="1300" dirty="0">
                <a:highlight>
                  <a:srgbClr val="FFFFFF"/>
                </a:highlight>
              </a:rPr>
              <a:t>? </a:t>
            </a:r>
            <a:br>
              <a:rPr lang="ru-RU" sz="1300" dirty="0">
                <a:highlight>
                  <a:srgbClr val="FFFFFF"/>
                </a:highlight>
              </a:rPr>
            </a:br>
            <a:r>
              <a:rPr lang="ru-RU" sz="1300" dirty="0">
                <a:highlight>
                  <a:srgbClr val="FFFFFF"/>
                </a:highlight>
              </a:rPr>
              <a:t>-Да (</a:t>
            </a:r>
            <a:r>
              <a:rPr lang="ru-RU" sz="1300" dirty="0" err="1">
                <a:highlight>
                  <a:srgbClr val="FFFFFF"/>
                </a:highlight>
              </a:rPr>
              <a:t>слушам</a:t>
            </a:r>
            <a:r>
              <a:rPr lang="ru-RU" sz="1300" dirty="0">
                <a:highlight>
                  <a:srgbClr val="FFFFFF"/>
                </a:highlight>
              </a:rPr>
              <a:t> Ви).</a:t>
            </a:r>
            <a:br>
              <a:rPr lang="ru-RU" sz="1300" dirty="0">
                <a:highlight>
                  <a:srgbClr val="FFFFFF"/>
                </a:highlight>
              </a:rPr>
            </a:br>
            <a:r>
              <a:rPr lang="ru-RU" sz="1300" dirty="0">
                <a:highlight>
                  <a:srgbClr val="FFFFFF"/>
                </a:highlight>
              </a:rPr>
              <a:t>(</a:t>
            </a:r>
            <a:r>
              <a:rPr lang="ru-RU" sz="1300" dirty="0" err="1">
                <a:highlight>
                  <a:srgbClr val="FFFFFF"/>
                </a:highlight>
              </a:rPr>
              <a:t>Представяне</a:t>
            </a:r>
            <a:r>
              <a:rPr lang="ru-RU" sz="1300" dirty="0">
                <a:highlight>
                  <a:srgbClr val="FFFFFF"/>
                </a:highlight>
              </a:rPr>
              <a:t> на </a:t>
            </a:r>
            <a:r>
              <a:rPr lang="ru-RU" sz="1300" dirty="0" err="1">
                <a:highlight>
                  <a:srgbClr val="FFFFFF"/>
                </a:highlight>
              </a:rPr>
              <a:t>предложнието</a:t>
            </a:r>
            <a:r>
              <a:rPr lang="ru-RU" sz="1300" dirty="0">
                <a:highlight>
                  <a:srgbClr val="FFFFFF"/>
                </a:highlight>
              </a:rPr>
              <a:t>)</a:t>
            </a:r>
            <a:br>
              <a:rPr lang="ru-RU" sz="1300" dirty="0">
                <a:highlight>
                  <a:srgbClr val="FFFFFF"/>
                </a:highlight>
              </a:rPr>
            </a:br>
            <a:r>
              <a:rPr lang="ru-RU" sz="1300" dirty="0">
                <a:highlight>
                  <a:srgbClr val="FFFFFF"/>
                </a:highlight>
              </a:rPr>
              <a:t>-Как Ви се </a:t>
            </a:r>
            <a:r>
              <a:rPr lang="ru-RU" sz="1300" dirty="0" err="1">
                <a:highlight>
                  <a:srgbClr val="FFFFFF"/>
                </a:highlight>
              </a:rPr>
              <a:t>струва</a:t>
            </a:r>
            <a:r>
              <a:rPr lang="ru-RU" sz="1300" dirty="0">
                <a:highlight>
                  <a:srgbClr val="FFFFFF"/>
                </a:highlight>
              </a:rPr>
              <a:t> </a:t>
            </a:r>
            <a:r>
              <a:rPr lang="ru-RU" sz="1300" dirty="0" err="1">
                <a:highlight>
                  <a:srgbClr val="FFFFFF"/>
                </a:highlight>
              </a:rPr>
              <a:t>моето</a:t>
            </a:r>
            <a:r>
              <a:rPr lang="ru-RU" sz="1300" dirty="0">
                <a:highlight>
                  <a:srgbClr val="FFFFFF"/>
                </a:highlight>
              </a:rPr>
              <a:t> предложение?</a:t>
            </a:r>
          </a:p>
          <a:p>
            <a:endParaRPr lang="en-US" sz="1300" dirty="0"/>
          </a:p>
        </p:txBody>
      </p:sp>
      <p:sp>
        <p:nvSpPr>
          <p:cNvPr id="21" name="Rectangle: Rounded Corners 20">
            <a:extLst>
              <a:ext uri="{FF2B5EF4-FFF2-40B4-BE49-F238E27FC236}">
                <a16:creationId xmlns:a16="http://schemas.microsoft.com/office/drawing/2014/main" id="{D4796AD3-9E6A-9B10-19D3-F04B5CFA2619}"/>
              </a:ext>
            </a:extLst>
          </p:cNvPr>
          <p:cNvSpPr/>
          <p:nvPr/>
        </p:nvSpPr>
        <p:spPr>
          <a:xfrm>
            <a:off x="5421186" y="3831376"/>
            <a:ext cx="1841407" cy="467065"/>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400" dirty="0"/>
              <a:t>Много </a:t>
            </a:r>
            <a:r>
              <a:rPr lang="ru-RU" sz="1400" dirty="0" err="1"/>
              <a:t>са</a:t>
            </a:r>
            <a:r>
              <a:rPr lang="ru-RU" sz="1400" dirty="0"/>
              <a:t> </a:t>
            </a:r>
            <a:r>
              <a:rPr lang="ru-RU" sz="1400" dirty="0" err="1"/>
              <a:t>ви</a:t>
            </a:r>
            <a:r>
              <a:rPr lang="ru-RU" sz="1400" dirty="0"/>
              <a:t> </a:t>
            </a:r>
            <a:r>
              <a:rPr lang="ru-RU" sz="1400" dirty="0" err="1"/>
              <a:t>високи</a:t>
            </a:r>
            <a:r>
              <a:rPr lang="ru-RU" sz="1400" dirty="0"/>
              <a:t> </a:t>
            </a:r>
            <a:r>
              <a:rPr lang="ru-RU" sz="1400" dirty="0" err="1"/>
              <a:t>лихвите</a:t>
            </a:r>
            <a:endParaRPr lang="en-GB" sz="1400" dirty="0"/>
          </a:p>
        </p:txBody>
      </p:sp>
      <p:sp>
        <p:nvSpPr>
          <p:cNvPr id="23" name="Правоъгълник: със заоблени ъгли 41">
            <a:extLst>
              <a:ext uri="{FF2B5EF4-FFF2-40B4-BE49-F238E27FC236}">
                <a16:creationId xmlns:a16="http://schemas.microsoft.com/office/drawing/2014/main" id="{0393482A-1BDB-0BF4-B65E-D4E6FE6C8710}"/>
              </a:ext>
            </a:extLst>
          </p:cNvPr>
          <p:cNvSpPr/>
          <p:nvPr/>
        </p:nvSpPr>
        <p:spPr>
          <a:xfrm>
            <a:off x="5221816" y="3244408"/>
            <a:ext cx="4297519" cy="521771"/>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bg-BG" sz="1600" b="1">
                <a:solidFill>
                  <a:schemeClr val="accent1">
                    <a:lumMod val="49000"/>
                  </a:schemeClr>
                </a:solidFill>
              </a:rPr>
              <a:t>2. Възражение и отговор</a:t>
            </a:r>
          </a:p>
        </p:txBody>
      </p:sp>
      <p:sp>
        <p:nvSpPr>
          <p:cNvPr id="25" name="Правоъгълник: със заоблени ъгли 16">
            <a:extLst>
              <a:ext uri="{FF2B5EF4-FFF2-40B4-BE49-F238E27FC236}">
                <a16:creationId xmlns:a16="http://schemas.microsoft.com/office/drawing/2014/main" id="{D47C10C5-43F2-B7EA-CAC1-C6BB9ABBB53B}"/>
              </a:ext>
            </a:extLst>
          </p:cNvPr>
          <p:cNvSpPr/>
          <p:nvPr/>
        </p:nvSpPr>
        <p:spPr>
          <a:xfrm>
            <a:off x="5217116" y="5451649"/>
            <a:ext cx="2744630" cy="590809"/>
          </a:xfrm>
          <a:prstGeom prst="roundRect">
            <a:avLst>
              <a:gd name="adj" fmla="val 50000"/>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200"/>
              <a:t>Тренирай</a:t>
            </a:r>
          </a:p>
        </p:txBody>
      </p:sp>
      <p:sp>
        <p:nvSpPr>
          <p:cNvPr id="26" name="Rectangle: Rounded Corners 25">
            <a:extLst>
              <a:ext uri="{FF2B5EF4-FFF2-40B4-BE49-F238E27FC236}">
                <a16:creationId xmlns:a16="http://schemas.microsoft.com/office/drawing/2014/main" id="{FDC87991-6308-5A8A-DABE-0424F8653E65}"/>
              </a:ext>
            </a:extLst>
          </p:cNvPr>
          <p:cNvSpPr/>
          <p:nvPr/>
        </p:nvSpPr>
        <p:spPr>
          <a:xfrm>
            <a:off x="5421186" y="4545751"/>
            <a:ext cx="1841407" cy="467065"/>
          </a:xfrm>
          <a:prstGeom prst="roundRect">
            <a:avLst/>
          </a:prstGeom>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ru-RU" sz="1400" dirty="0" err="1"/>
              <a:t>Нямам</a:t>
            </a:r>
            <a:r>
              <a:rPr lang="ru-RU" sz="1400" dirty="0"/>
              <a:t> нужда</a:t>
            </a:r>
            <a:endParaRPr lang="en-GB" sz="1400" dirty="0"/>
          </a:p>
        </p:txBody>
      </p:sp>
      <p:sp>
        <p:nvSpPr>
          <p:cNvPr id="2" name="Правоъгълник 1">
            <a:extLst>
              <a:ext uri="{FF2B5EF4-FFF2-40B4-BE49-F238E27FC236}">
                <a16:creationId xmlns:a16="http://schemas.microsoft.com/office/drawing/2014/main" id="{0D3D5DFF-F13B-B3B4-E02F-68603B8795E5}"/>
              </a:ext>
            </a:extLst>
          </p:cNvPr>
          <p:cNvSpPr/>
          <p:nvPr/>
        </p:nvSpPr>
        <p:spPr>
          <a:xfrm>
            <a:off x="7921257" y="3672880"/>
            <a:ext cx="3895309" cy="168547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sz="1400" dirty="0"/>
              <a:t> </a:t>
            </a:r>
            <a:r>
              <a:rPr lang="ru-RU" sz="1400" dirty="0" err="1"/>
              <a:t>Ако</a:t>
            </a:r>
            <a:r>
              <a:rPr lang="ru-RU" sz="1400" dirty="0"/>
              <a:t> </a:t>
            </a:r>
            <a:r>
              <a:rPr lang="ru-RU" sz="1400" dirty="0" err="1"/>
              <a:t>сега</a:t>
            </a:r>
            <a:r>
              <a:rPr lang="ru-RU" sz="1400" dirty="0"/>
              <a:t> </a:t>
            </a:r>
            <a:r>
              <a:rPr lang="ru-RU" sz="1400" dirty="0" err="1"/>
              <a:t>разполагате</a:t>
            </a:r>
            <a:r>
              <a:rPr lang="ru-RU" sz="1400" dirty="0"/>
              <a:t> </a:t>
            </a:r>
            <a:r>
              <a:rPr lang="ru-RU" sz="1400" dirty="0" err="1"/>
              <a:t>със</a:t>
            </a:r>
            <a:r>
              <a:rPr lang="ru-RU" sz="1400" dirty="0"/>
              <a:t> сума например от 1000 </a:t>
            </a:r>
            <a:r>
              <a:rPr lang="ru-RU" sz="1400" dirty="0" err="1"/>
              <a:t>лв</a:t>
            </a:r>
            <a:r>
              <a:rPr lang="ru-RU" sz="1400" dirty="0"/>
              <a:t>., за </a:t>
            </a:r>
            <a:r>
              <a:rPr lang="ru-RU" sz="1400" dirty="0" err="1"/>
              <a:t>какво</a:t>
            </a:r>
            <a:r>
              <a:rPr lang="ru-RU" sz="1400" dirty="0"/>
              <a:t> </a:t>
            </a:r>
            <a:r>
              <a:rPr lang="ru-RU" sz="1400" dirty="0" err="1"/>
              <a:t>бихте</a:t>
            </a:r>
            <a:r>
              <a:rPr lang="ru-RU" sz="1400" dirty="0"/>
              <a:t> я </a:t>
            </a:r>
            <a:r>
              <a:rPr lang="ru-RU" sz="1400" dirty="0" err="1"/>
              <a:t>използвали</a:t>
            </a:r>
            <a:r>
              <a:rPr lang="ru-RU" sz="1400" dirty="0"/>
              <a:t>? ............. </a:t>
            </a:r>
            <a:r>
              <a:rPr lang="ru-RU" sz="1400" dirty="0" err="1"/>
              <a:t>Това</a:t>
            </a:r>
            <a:r>
              <a:rPr lang="ru-RU" sz="1400" dirty="0"/>
              <a:t> е добро приложение на </a:t>
            </a:r>
            <a:r>
              <a:rPr lang="ru-RU" sz="1400" dirty="0" err="1"/>
              <a:t>сумата</a:t>
            </a:r>
            <a:r>
              <a:rPr lang="ru-RU" sz="1400" dirty="0"/>
              <a:t> и </a:t>
            </a:r>
            <a:r>
              <a:rPr lang="ru-RU" sz="1400" dirty="0" err="1"/>
              <a:t>ние</a:t>
            </a:r>
            <a:r>
              <a:rPr lang="ru-RU" sz="1400" dirty="0"/>
              <a:t> </a:t>
            </a:r>
            <a:r>
              <a:rPr lang="ru-RU" sz="1400" dirty="0" err="1"/>
              <a:t>сме</a:t>
            </a:r>
            <a:r>
              <a:rPr lang="ru-RU" sz="1400" dirty="0"/>
              <a:t> </a:t>
            </a:r>
            <a:r>
              <a:rPr lang="ru-RU" sz="1400" dirty="0" err="1"/>
              <a:t>готови</a:t>
            </a:r>
            <a:r>
              <a:rPr lang="ru-RU" sz="1400" dirty="0"/>
              <a:t>  да Ви </a:t>
            </a:r>
            <a:r>
              <a:rPr lang="ru-RU" sz="1400" dirty="0" err="1"/>
              <a:t>помогнем</a:t>
            </a:r>
            <a:r>
              <a:rPr lang="ru-RU" sz="1400" dirty="0"/>
              <a:t> да …. (</a:t>
            </a:r>
            <a:r>
              <a:rPr lang="ru-RU" sz="1400" dirty="0" err="1"/>
              <a:t>използваме</a:t>
            </a:r>
            <a:r>
              <a:rPr lang="ru-RU" sz="1400" dirty="0"/>
              <a:t> </a:t>
            </a:r>
            <a:r>
              <a:rPr lang="ru-RU" sz="1400" dirty="0" err="1"/>
              <a:t>конкретната</a:t>
            </a:r>
            <a:r>
              <a:rPr lang="ru-RU" sz="1400" dirty="0"/>
              <a:t> нужда, </a:t>
            </a:r>
            <a:r>
              <a:rPr lang="ru-RU" sz="1400" dirty="0" err="1"/>
              <a:t>която</a:t>
            </a:r>
            <a:r>
              <a:rPr lang="ru-RU" sz="1400" dirty="0"/>
              <a:t> е </a:t>
            </a:r>
            <a:r>
              <a:rPr lang="ru-RU" sz="1400" dirty="0" err="1"/>
              <a:t>посочил</a:t>
            </a:r>
            <a:r>
              <a:rPr lang="ru-RU" sz="1400" dirty="0"/>
              <a:t> клиента), </a:t>
            </a:r>
            <a:r>
              <a:rPr lang="ru-RU" sz="1400" dirty="0" err="1"/>
              <a:t>като</a:t>
            </a:r>
            <a:r>
              <a:rPr lang="ru-RU" sz="1400" dirty="0"/>
              <a:t> Ви </a:t>
            </a:r>
            <a:r>
              <a:rPr lang="ru-RU" sz="1400" dirty="0" err="1"/>
              <a:t>предлагаме</a:t>
            </a:r>
            <a:r>
              <a:rPr lang="ru-RU" sz="1400" dirty="0"/>
              <a:t> </a:t>
            </a:r>
            <a:r>
              <a:rPr lang="ru-RU" sz="1400" dirty="0" err="1"/>
              <a:t>допълнително</a:t>
            </a:r>
            <a:r>
              <a:rPr lang="ru-RU" sz="1400" dirty="0"/>
              <a:t> </a:t>
            </a:r>
            <a:r>
              <a:rPr lang="ru-RU" sz="1400" dirty="0" err="1"/>
              <a:t>финансиране</a:t>
            </a:r>
            <a:r>
              <a:rPr lang="ru-RU" sz="1400" dirty="0"/>
              <a:t>. </a:t>
            </a:r>
            <a:endParaRPr lang="bg-BG" sz="1400" dirty="0"/>
          </a:p>
        </p:txBody>
      </p:sp>
      <p:cxnSp>
        <p:nvCxnSpPr>
          <p:cNvPr id="5" name="Съединител &quot;права стрелка&quot; 4">
            <a:extLst>
              <a:ext uri="{FF2B5EF4-FFF2-40B4-BE49-F238E27FC236}">
                <a16:creationId xmlns:a16="http://schemas.microsoft.com/office/drawing/2014/main" id="{11B6F79E-23A3-5852-C26F-8A8289F732E0}"/>
              </a:ext>
            </a:extLst>
          </p:cNvPr>
          <p:cNvCxnSpPr>
            <a:cxnSpLocks/>
            <a:stCxn id="26" idx="3"/>
          </p:cNvCxnSpPr>
          <p:nvPr/>
        </p:nvCxnSpPr>
        <p:spPr>
          <a:xfrm flipV="1">
            <a:off x="7262593" y="4411226"/>
            <a:ext cx="544976" cy="3680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81343060"/>
      </p:ext>
    </p:extLst>
  </p:cSld>
  <p:clrMapOvr>
    <a:masterClrMapping/>
  </p:clrMapOvr>
  <p:extLst>
    <p:ext uri="{6950BFC3-D8DA-4A85-94F7-54DA5524770B}">
      <p188:commentRel xmlns:p188="http://schemas.microsoft.com/office/powerpoint/2018/8/main" r:id="rId2"/>
    </p:ext>
  </p:extLs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B95718-E486-5E36-9E74-83F5A2DB7CF7}"/>
            </a:ext>
          </a:extLst>
        </p:cNvPr>
        <p:cNvGrpSpPr/>
        <p:nvPr/>
      </p:nvGrpSpPr>
      <p:grpSpPr>
        <a:xfrm>
          <a:off x="0" y="0"/>
          <a:ext cx="0" cy="0"/>
          <a:chOff x="0" y="0"/>
          <a:chExt cx="0" cy="0"/>
        </a:xfrm>
      </p:grpSpPr>
      <p:sp>
        <p:nvSpPr>
          <p:cNvPr id="25" name="Rectangle 28">
            <a:extLst>
              <a:ext uri="{FF2B5EF4-FFF2-40B4-BE49-F238E27FC236}">
                <a16:creationId xmlns:a16="http://schemas.microsoft.com/office/drawing/2014/main" id="{E9CB87DC-7EF2-9353-570F-174572AB708C}"/>
              </a:ext>
            </a:extLst>
          </p:cNvPr>
          <p:cNvSpPr/>
          <p:nvPr/>
        </p:nvSpPr>
        <p:spPr>
          <a:xfrm>
            <a:off x="-15824" y="1599"/>
            <a:ext cx="1465320" cy="6859628"/>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400">
              <a:latin typeface="Aptos"/>
              <a:ea typeface="Calibri"/>
              <a:cs typeface="Calibri"/>
            </a:endParaRPr>
          </a:p>
        </p:txBody>
      </p:sp>
      <p:sp>
        <p:nvSpPr>
          <p:cNvPr id="26" name="Rectangle 29">
            <a:extLst>
              <a:ext uri="{FF2B5EF4-FFF2-40B4-BE49-F238E27FC236}">
                <a16:creationId xmlns:a16="http://schemas.microsoft.com/office/drawing/2014/main" id="{D01C9BE2-D059-CE07-4D79-2DF696FCA53F}"/>
              </a:ext>
            </a:extLst>
          </p:cNvPr>
          <p:cNvSpPr/>
          <p:nvPr/>
        </p:nvSpPr>
        <p:spPr>
          <a:xfrm>
            <a:off x="-1671" y="2528038"/>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Типове клиенти</a:t>
            </a:r>
            <a:endParaRPr lang="en-GB" sz="1400">
              <a:latin typeface="Aptos"/>
              <a:ea typeface="Calibri"/>
              <a:cs typeface="Calibri"/>
            </a:endParaRPr>
          </a:p>
        </p:txBody>
      </p:sp>
      <p:sp>
        <p:nvSpPr>
          <p:cNvPr id="27" name="Rectangle 30">
            <a:extLst>
              <a:ext uri="{FF2B5EF4-FFF2-40B4-BE49-F238E27FC236}">
                <a16:creationId xmlns:a16="http://schemas.microsoft.com/office/drawing/2014/main" id="{030C9A46-EAC1-64EE-0789-67CE01A2990B}"/>
              </a:ext>
            </a:extLst>
          </p:cNvPr>
          <p:cNvSpPr/>
          <p:nvPr/>
        </p:nvSpPr>
        <p:spPr>
          <a:xfrm>
            <a:off x="8626" y="1913210"/>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002060"/>
                </a:solidFill>
                <a:latin typeface="Aptos"/>
                <a:ea typeface="Calibri"/>
                <a:cs typeface="Calibri"/>
              </a:rPr>
              <a:t>Сценарии</a:t>
            </a:r>
            <a:endParaRPr lang="en-GB" sz="1400">
              <a:solidFill>
                <a:srgbClr val="002060"/>
              </a:solidFill>
              <a:latin typeface="Aptos"/>
              <a:ea typeface="Calibri"/>
              <a:cs typeface="Calibri"/>
            </a:endParaRPr>
          </a:p>
        </p:txBody>
      </p:sp>
      <p:sp>
        <p:nvSpPr>
          <p:cNvPr id="28" name="Rectangle 31">
            <a:extLst>
              <a:ext uri="{FF2B5EF4-FFF2-40B4-BE49-F238E27FC236}">
                <a16:creationId xmlns:a16="http://schemas.microsoft.com/office/drawing/2014/main" id="{BA4661CB-6679-2C8A-3826-F7F5007C2689}"/>
              </a:ext>
            </a:extLst>
          </p:cNvPr>
          <p:cNvSpPr/>
          <p:nvPr/>
        </p:nvSpPr>
        <p:spPr>
          <a:xfrm>
            <a:off x="-1671" y="1298382"/>
            <a:ext cx="1442908" cy="4485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chemeClr val="bg1"/>
                </a:solidFill>
                <a:latin typeface="Aptos"/>
                <a:ea typeface="Calibri"/>
                <a:cs typeface="Calibri"/>
              </a:rPr>
              <a:t>Стъпки в обаждането</a:t>
            </a:r>
            <a:endParaRPr lang="en-GB" sz="1400">
              <a:solidFill>
                <a:schemeClr val="bg1"/>
              </a:solidFill>
              <a:latin typeface="Aptos"/>
              <a:ea typeface="Calibri"/>
              <a:cs typeface="Calibri"/>
            </a:endParaRPr>
          </a:p>
        </p:txBody>
      </p:sp>
      <p:sp>
        <p:nvSpPr>
          <p:cNvPr id="29" name="Rectangle 3">
            <a:extLst>
              <a:ext uri="{FF2B5EF4-FFF2-40B4-BE49-F238E27FC236}">
                <a16:creationId xmlns:a16="http://schemas.microsoft.com/office/drawing/2014/main" id="{95526753-4B59-03CA-6ACA-0B05DCAC7676}"/>
              </a:ext>
            </a:extLst>
          </p:cNvPr>
          <p:cNvSpPr/>
          <p:nvPr/>
        </p:nvSpPr>
        <p:spPr>
          <a:xfrm>
            <a:off x="1443475" y="4245"/>
            <a:ext cx="5338363" cy="67724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30" name="Rectangle 4">
            <a:extLst>
              <a:ext uri="{FF2B5EF4-FFF2-40B4-BE49-F238E27FC236}">
                <a16:creationId xmlns:a16="http://schemas.microsoft.com/office/drawing/2014/main" id="{B225BC1C-6876-2E70-F25F-7B17E21EA13A}"/>
              </a:ext>
            </a:extLst>
          </p:cNvPr>
          <p:cNvSpPr/>
          <p:nvPr/>
        </p:nvSpPr>
        <p:spPr>
          <a:xfrm>
            <a:off x="6788435" y="4245"/>
            <a:ext cx="5417300" cy="677242"/>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31" name="Rectangle 28">
            <a:extLst>
              <a:ext uri="{FF2B5EF4-FFF2-40B4-BE49-F238E27FC236}">
                <a16:creationId xmlns:a16="http://schemas.microsoft.com/office/drawing/2014/main" id="{78985D04-3436-DEA4-FE26-3D2319F6392B}"/>
              </a:ext>
            </a:extLst>
          </p:cNvPr>
          <p:cNvSpPr/>
          <p:nvPr/>
        </p:nvSpPr>
        <p:spPr>
          <a:xfrm>
            <a:off x="-15827" y="690328"/>
            <a:ext cx="1465322"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FFFFFF"/>
                </a:solidFill>
                <a:latin typeface="Aptos"/>
                <a:ea typeface="Calibri"/>
                <a:cs typeface="Calibri"/>
              </a:rPr>
              <a:t>Подготовка</a:t>
            </a:r>
            <a:endParaRPr lang="en-GB" sz="1400">
              <a:solidFill>
                <a:srgbClr val="FFFFFF"/>
              </a:solidFill>
              <a:latin typeface="Aptos"/>
              <a:ea typeface="Calibri"/>
              <a:cs typeface="Calibri"/>
            </a:endParaRPr>
          </a:p>
        </p:txBody>
      </p:sp>
      <p:pic>
        <p:nvPicPr>
          <p:cNvPr id="2" name="Картина 1" descr="Картина, която съдържа текст, екранна снимка, софтуер, Уеб страница&#10;&#10;Генерирано от ИИ съдържание може да е неправилно.">
            <a:extLst>
              <a:ext uri="{FF2B5EF4-FFF2-40B4-BE49-F238E27FC236}">
                <a16:creationId xmlns:a16="http://schemas.microsoft.com/office/drawing/2014/main" id="{A45E3891-78B8-C238-062B-532EB0CFA03F}"/>
              </a:ext>
            </a:extLst>
          </p:cNvPr>
          <p:cNvPicPr>
            <a:picLocks noChangeAspect="1"/>
          </p:cNvPicPr>
          <p:nvPr/>
        </p:nvPicPr>
        <p:blipFill>
          <a:blip r:embed="rId2"/>
          <a:stretch>
            <a:fillRect/>
          </a:stretch>
        </p:blipFill>
        <p:spPr>
          <a:xfrm>
            <a:off x="1562894" y="687539"/>
            <a:ext cx="10434320" cy="5868049"/>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
        <p:nvSpPr>
          <p:cNvPr id="4" name="Балонче за говор: правоъгълник със заоблени ъгли 10">
            <a:extLst>
              <a:ext uri="{FF2B5EF4-FFF2-40B4-BE49-F238E27FC236}">
                <a16:creationId xmlns:a16="http://schemas.microsoft.com/office/drawing/2014/main" id="{DE3FCC8B-5BD0-09E2-7100-9AEEE34BC1C0}"/>
              </a:ext>
            </a:extLst>
          </p:cNvPr>
          <p:cNvSpPr/>
          <p:nvPr/>
        </p:nvSpPr>
        <p:spPr>
          <a:xfrm>
            <a:off x="2171352" y="1445336"/>
            <a:ext cx="9489802" cy="3831167"/>
          </a:xfrm>
          <a:prstGeom prst="roundRect">
            <a:avLst>
              <a:gd name="adj" fmla="val 3452"/>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bg-BG" sz="1400"/>
          </a:p>
        </p:txBody>
      </p:sp>
      <p:sp>
        <p:nvSpPr>
          <p:cNvPr id="6" name="Правоъгълник: със заоблени ъгли 16">
            <a:extLst>
              <a:ext uri="{FF2B5EF4-FFF2-40B4-BE49-F238E27FC236}">
                <a16:creationId xmlns:a16="http://schemas.microsoft.com/office/drawing/2014/main" id="{BBEF16BD-0EC9-CBFC-CC71-42A077541C43}"/>
              </a:ext>
            </a:extLst>
          </p:cNvPr>
          <p:cNvSpPr/>
          <p:nvPr/>
        </p:nvSpPr>
        <p:spPr>
          <a:xfrm>
            <a:off x="4071916" y="4717392"/>
            <a:ext cx="4349357" cy="388124"/>
          </a:xfrm>
          <a:prstGeom prst="roundRect">
            <a:avLst>
              <a:gd name="adj" fmla="val 50000"/>
            </a:avLst>
          </a:prstGeom>
          <a:solidFill>
            <a:schemeClr val="bg1"/>
          </a:solidFill>
          <a:ln>
            <a:noFill/>
          </a:ln>
          <a:effectLst>
            <a:outerShdw blurRad="50800" dist="38100" dir="5400000" algn="t" rotWithShape="0">
              <a:prstClr val="black">
                <a:alpha val="40000"/>
              </a:prstClr>
            </a:outerShdw>
          </a:effectLst>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bg-BG" b="1">
                <a:solidFill>
                  <a:srgbClr val="002060"/>
                </a:solidFill>
              </a:rPr>
              <a:t>Тренирай</a:t>
            </a:r>
          </a:p>
        </p:txBody>
      </p:sp>
      <p:sp>
        <p:nvSpPr>
          <p:cNvPr id="8" name="Текстово поле 15">
            <a:extLst>
              <a:ext uri="{FF2B5EF4-FFF2-40B4-BE49-F238E27FC236}">
                <a16:creationId xmlns:a16="http://schemas.microsoft.com/office/drawing/2014/main" id="{BD039B41-1C1E-9D67-51D2-0C5872E3EA5A}"/>
              </a:ext>
            </a:extLst>
          </p:cNvPr>
          <p:cNvSpPr txBox="1"/>
          <p:nvPr/>
        </p:nvSpPr>
        <p:spPr>
          <a:xfrm>
            <a:off x="2628991" y="1824334"/>
            <a:ext cx="8590645" cy="3083422"/>
          </a:xfrm>
          <a:prstGeom prst="rect">
            <a:avLst/>
          </a:prstGeom>
          <a:noFill/>
        </p:spPr>
        <p:txBody>
          <a:bodyPr wrap="square" rtlCol="0">
            <a:spAutoFit/>
          </a:bodyPr>
          <a:lstStyle/>
          <a:p>
            <a:r>
              <a:rPr lang="ru-RU" sz="1200" b="1">
                <a:solidFill>
                  <a:schemeClr val="bg1"/>
                </a:solidFill>
              </a:rPr>
              <a:t>По препоръка</a:t>
            </a:r>
            <a:br>
              <a:rPr lang="ru-RU" sz="1200">
                <a:solidFill>
                  <a:schemeClr val="bg1"/>
                </a:solidFill>
              </a:rPr>
            </a:br>
            <a:r>
              <a:rPr lang="ru-RU" sz="1200">
                <a:solidFill>
                  <a:schemeClr val="bg1"/>
                </a:solidFill>
              </a:rPr>
              <a:t>Тип контакт: </a:t>
            </a:r>
            <a:r>
              <a:rPr lang="ru-RU" sz="1200" b="1">
                <a:solidFill>
                  <a:schemeClr val="bg1"/>
                </a:solidFill>
              </a:rPr>
              <a:t>топъл</a:t>
            </a:r>
            <a:br>
              <a:rPr lang="ru-RU" sz="1200">
                <a:solidFill>
                  <a:schemeClr val="bg1"/>
                </a:solidFill>
              </a:rPr>
            </a:br>
            <a:r>
              <a:rPr lang="ru-RU" sz="1200">
                <a:solidFill>
                  <a:schemeClr val="bg1"/>
                </a:solidFill>
              </a:rPr>
              <a:t>Персонаж: </a:t>
            </a:r>
            <a:r>
              <a:rPr lang="ru-RU" sz="1200" b="1">
                <a:solidFill>
                  <a:schemeClr val="bg1"/>
                </a:solidFill>
              </a:rPr>
              <a:t>Мария Петрова</a:t>
            </a:r>
            <a:br>
              <a:rPr lang="ru-RU" sz="1200">
                <a:solidFill>
                  <a:schemeClr val="bg1"/>
                </a:solidFill>
              </a:rPr>
            </a:br>
            <a:r>
              <a:rPr lang="ru-RU" sz="1200" b="1">
                <a:solidFill>
                  <a:schemeClr val="bg1"/>
                </a:solidFill>
              </a:rPr>
              <a:t>Профил: клиент по препоръка, 41 г.</a:t>
            </a:r>
            <a:br>
              <a:rPr lang="ru-RU" sz="1200">
                <a:solidFill>
                  <a:schemeClr val="bg1"/>
                </a:solidFill>
              </a:rPr>
            </a:br>
            <a:r>
              <a:rPr lang="ru-RU" sz="1200" b="1">
                <a:solidFill>
                  <a:schemeClr val="bg1"/>
                </a:solidFill>
              </a:rPr>
              <a:t>Контекст: </a:t>
            </a:r>
            <a:r>
              <a:rPr lang="ru-RU" sz="1200">
                <a:solidFill>
                  <a:schemeClr val="bg1"/>
                </a:solidFill>
              </a:rPr>
              <a:t>няма пряк контакт с компанията, но има предварително доверие заради познат човек.</a:t>
            </a:r>
            <a:br>
              <a:rPr lang="ru-RU" sz="1200">
                <a:solidFill>
                  <a:schemeClr val="bg1"/>
                </a:solidFill>
              </a:rPr>
            </a:br>
            <a:r>
              <a:rPr lang="ru-RU" sz="1200" b="1">
                <a:solidFill>
                  <a:schemeClr val="bg1"/>
                </a:solidFill>
              </a:rPr>
              <a:t>Цел: </a:t>
            </a:r>
            <a:r>
              <a:rPr lang="ru-RU" sz="1200">
                <a:solidFill>
                  <a:schemeClr val="bg1"/>
                </a:solidFill>
              </a:rPr>
              <a:t>да се използва предварително създаденото доверие чрез препоръка от познат човек.</a:t>
            </a:r>
            <a:br>
              <a:rPr lang="ru-RU" sz="1200">
                <a:solidFill>
                  <a:schemeClr val="bg1"/>
                </a:solidFill>
              </a:rPr>
            </a:br>
            <a:r>
              <a:rPr lang="ru-RU" sz="1200" b="1">
                <a:solidFill>
                  <a:schemeClr val="bg1"/>
                </a:solidFill>
              </a:rPr>
              <a:t>Логика на разговора: </a:t>
            </a:r>
            <a:r>
              <a:rPr lang="ru-RU" sz="1200">
                <a:solidFill>
                  <a:schemeClr val="bg1"/>
                </a:solidFill>
              </a:rPr>
              <a:t>още в началото уточняваш връзката с препоръчалия човек; намаляваш усещането за непоискан контакт; представяш повода кратко и ясно; проверяваш дали има интерес; насочваш към удобна следваща стъпка.</a:t>
            </a:r>
            <a:br>
              <a:rPr lang="ru-RU" sz="1200">
                <a:solidFill>
                  <a:schemeClr val="bg1"/>
                </a:solidFill>
              </a:rPr>
            </a:br>
            <a:r>
              <a:rPr lang="ru-RU" sz="1200" b="1">
                <a:solidFill>
                  <a:schemeClr val="bg1"/>
                </a:solidFill>
              </a:rPr>
              <a:t>Примерни реплики: </a:t>
            </a:r>
            <a:r>
              <a:rPr lang="ru-RU" sz="1200">
                <a:solidFill>
                  <a:schemeClr val="bg1"/>
                </a:solidFill>
              </a:rPr>
              <a:t>„Обаждам се по препоръка на Ваш познат.“ / „Поводът за разговора е специално предложение към Вас.“ / „Ако имате интерес, можем да се срещнем в удобно време и място.“</a:t>
            </a:r>
            <a:br>
              <a:rPr lang="ru-RU" sz="1200">
                <a:solidFill>
                  <a:schemeClr val="bg1"/>
                </a:solidFill>
              </a:rPr>
            </a:br>
            <a:r>
              <a:rPr lang="ru-RU" sz="1200" b="1">
                <a:solidFill>
                  <a:schemeClr val="bg1"/>
                </a:solidFill>
              </a:rPr>
              <a:t>Възможни възражения: </a:t>
            </a:r>
            <a:r>
              <a:rPr lang="ru-RU" sz="1200">
                <a:solidFill>
                  <a:schemeClr val="bg1"/>
                </a:solidFill>
              </a:rPr>
              <a:t>„Нямам нужда.“, „Не съм сигурен откъде имате номера ми.“, „Не вземам решение по телефона.“</a:t>
            </a:r>
            <a:br>
              <a:rPr lang="ru-RU" sz="1200">
                <a:solidFill>
                  <a:schemeClr val="bg1"/>
                </a:solidFill>
              </a:rPr>
            </a:br>
            <a:r>
              <a:rPr lang="ru-RU" sz="1200" b="1">
                <a:solidFill>
                  <a:schemeClr val="bg1"/>
                </a:solidFill>
              </a:rPr>
              <a:t>Подходящи техники: огледална; алтернативна; тирбушон</a:t>
            </a:r>
            <a:br>
              <a:rPr lang="ru-RU" sz="1200">
                <a:solidFill>
                  <a:schemeClr val="bg1"/>
                </a:solidFill>
              </a:rPr>
            </a:br>
            <a:r>
              <a:rPr lang="ru-RU" sz="1200" b="1">
                <a:solidFill>
                  <a:schemeClr val="bg1"/>
                </a:solidFill>
              </a:rPr>
              <a:t>Следваща стъпка / финализиране</a:t>
            </a:r>
            <a:r>
              <a:rPr lang="ru-RU" sz="1200">
                <a:solidFill>
                  <a:schemeClr val="bg1"/>
                </a:solidFill>
              </a:rPr>
              <a:t>: лична среща, повторно обаждане или насочване към кандидатстване; при интерес срещата не е задължително да бъде на адрес — може да се проведе в офис, в дома или на друго удобно за клиента място.</a:t>
            </a:r>
            <a:br>
              <a:rPr lang="ru-RU" sz="1200">
                <a:solidFill>
                  <a:schemeClr val="bg1"/>
                </a:solidFill>
              </a:rPr>
            </a:br>
            <a:r>
              <a:rPr lang="ru-RU" sz="1200" b="1">
                <a:solidFill>
                  <a:schemeClr val="bg1"/>
                </a:solidFill>
              </a:rPr>
              <a:t>Какво да не правиш: </a:t>
            </a:r>
            <a:r>
              <a:rPr lang="ru-RU" sz="1200">
                <a:solidFill>
                  <a:schemeClr val="bg1"/>
                </a:solidFill>
              </a:rPr>
              <a:t>да използваш препоръката като натиск; да звучиш нахално; да настояваш след ясен отказ.</a:t>
            </a:r>
            <a:endParaRPr lang="bg-BG" sz="1200">
              <a:solidFill>
                <a:schemeClr val="bg1"/>
              </a:solidFill>
            </a:endParaRPr>
          </a:p>
        </p:txBody>
      </p:sp>
    </p:spTree>
    <p:extLst>
      <p:ext uri="{BB962C8B-B14F-4D97-AF65-F5344CB8AC3E}">
        <p14:creationId xmlns:p14="http://schemas.microsoft.com/office/powerpoint/2010/main" val="260674731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6D11DA-E49B-BCD8-A5D0-B5DE68C021BD}"/>
            </a:ext>
          </a:extLst>
        </p:cNvPr>
        <p:cNvGrpSpPr/>
        <p:nvPr/>
      </p:nvGrpSpPr>
      <p:grpSpPr>
        <a:xfrm>
          <a:off x="0" y="0"/>
          <a:ext cx="0" cy="0"/>
          <a:chOff x="0" y="0"/>
          <a:chExt cx="0" cy="0"/>
        </a:xfrm>
      </p:grpSpPr>
      <p:sp>
        <p:nvSpPr>
          <p:cNvPr id="25" name="Rectangle 28">
            <a:extLst>
              <a:ext uri="{FF2B5EF4-FFF2-40B4-BE49-F238E27FC236}">
                <a16:creationId xmlns:a16="http://schemas.microsoft.com/office/drawing/2014/main" id="{4AF19126-1AE9-4759-FF7A-405FA94259DC}"/>
              </a:ext>
            </a:extLst>
          </p:cNvPr>
          <p:cNvSpPr/>
          <p:nvPr/>
        </p:nvSpPr>
        <p:spPr>
          <a:xfrm>
            <a:off x="-15824" y="1599"/>
            <a:ext cx="1465320" cy="6859628"/>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400">
              <a:latin typeface="Aptos"/>
              <a:ea typeface="Calibri"/>
              <a:cs typeface="Calibri"/>
            </a:endParaRPr>
          </a:p>
        </p:txBody>
      </p:sp>
      <p:sp>
        <p:nvSpPr>
          <p:cNvPr id="26" name="Rectangle 29">
            <a:extLst>
              <a:ext uri="{FF2B5EF4-FFF2-40B4-BE49-F238E27FC236}">
                <a16:creationId xmlns:a16="http://schemas.microsoft.com/office/drawing/2014/main" id="{899DE67A-7E00-2886-9A17-AE7FD8D81766}"/>
              </a:ext>
            </a:extLst>
          </p:cNvPr>
          <p:cNvSpPr/>
          <p:nvPr/>
        </p:nvSpPr>
        <p:spPr>
          <a:xfrm>
            <a:off x="-1671" y="2528038"/>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Типове клиенти</a:t>
            </a:r>
            <a:endParaRPr lang="en-GB" sz="1400">
              <a:latin typeface="Aptos"/>
              <a:ea typeface="Calibri"/>
              <a:cs typeface="Calibri"/>
            </a:endParaRPr>
          </a:p>
        </p:txBody>
      </p:sp>
      <p:sp>
        <p:nvSpPr>
          <p:cNvPr id="27" name="Rectangle 30">
            <a:extLst>
              <a:ext uri="{FF2B5EF4-FFF2-40B4-BE49-F238E27FC236}">
                <a16:creationId xmlns:a16="http://schemas.microsoft.com/office/drawing/2014/main" id="{C73C9484-8EBA-C6BC-3D2B-32B717CB8108}"/>
              </a:ext>
            </a:extLst>
          </p:cNvPr>
          <p:cNvSpPr/>
          <p:nvPr/>
        </p:nvSpPr>
        <p:spPr>
          <a:xfrm>
            <a:off x="8626" y="1913210"/>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002060"/>
                </a:solidFill>
                <a:latin typeface="Aptos"/>
                <a:ea typeface="Calibri"/>
                <a:cs typeface="Calibri"/>
              </a:rPr>
              <a:t>Сценарии</a:t>
            </a:r>
            <a:endParaRPr lang="en-GB" sz="1400">
              <a:solidFill>
                <a:srgbClr val="002060"/>
              </a:solidFill>
              <a:latin typeface="Aptos"/>
              <a:ea typeface="Calibri"/>
              <a:cs typeface="Calibri"/>
            </a:endParaRPr>
          </a:p>
        </p:txBody>
      </p:sp>
      <p:sp>
        <p:nvSpPr>
          <p:cNvPr id="28" name="Rectangle 31">
            <a:extLst>
              <a:ext uri="{FF2B5EF4-FFF2-40B4-BE49-F238E27FC236}">
                <a16:creationId xmlns:a16="http://schemas.microsoft.com/office/drawing/2014/main" id="{7D6F0BE9-4257-A4A6-ACA2-523353D3ABE9}"/>
              </a:ext>
            </a:extLst>
          </p:cNvPr>
          <p:cNvSpPr/>
          <p:nvPr/>
        </p:nvSpPr>
        <p:spPr>
          <a:xfrm>
            <a:off x="-1671" y="1298382"/>
            <a:ext cx="1442908" cy="4485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chemeClr val="bg1"/>
                </a:solidFill>
                <a:latin typeface="Aptos"/>
                <a:ea typeface="Calibri"/>
                <a:cs typeface="Calibri"/>
              </a:rPr>
              <a:t>Стъпки в обаждането</a:t>
            </a:r>
            <a:endParaRPr lang="en-GB" sz="1400">
              <a:solidFill>
                <a:schemeClr val="bg1"/>
              </a:solidFill>
              <a:latin typeface="Aptos"/>
              <a:ea typeface="Calibri"/>
              <a:cs typeface="Calibri"/>
            </a:endParaRPr>
          </a:p>
        </p:txBody>
      </p:sp>
      <p:sp>
        <p:nvSpPr>
          <p:cNvPr id="29" name="Rectangle 3">
            <a:extLst>
              <a:ext uri="{FF2B5EF4-FFF2-40B4-BE49-F238E27FC236}">
                <a16:creationId xmlns:a16="http://schemas.microsoft.com/office/drawing/2014/main" id="{83F0073B-1519-3B57-7536-8B0D92F7BDBC}"/>
              </a:ext>
            </a:extLst>
          </p:cNvPr>
          <p:cNvSpPr/>
          <p:nvPr/>
        </p:nvSpPr>
        <p:spPr>
          <a:xfrm>
            <a:off x="1443475" y="4245"/>
            <a:ext cx="5338363" cy="67724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30" name="Rectangle 4">
            <a:extLst>
              <a:ext uri="{FF2B5EF4-FFF2-40B4-BE49-F238E27FC236}">
                <a16:creationId xmlns:a16="http://schemas.microsoft.com/office/drawing/2014/main" id="{1036EB61-EEDD-7DB3-C9ED-3C951F590D31}"/>
              </a:ext>
            </a:extLst>
          </p:cNvPr>
          <p:cNvSpPr/>
          <p:nvPr/>
        </p:nvSpPr>
        <p:spPr>
          <a:xfrm>
            <a:off x="6788435" y="4245"/>
            <a:ext cx="5417300" cy="677242"/>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31" name="Rectangle 28">
            <a:extLst>
              <a:ext uri="{FF2B5EF4-FFF2-40B4-BE49-F238E27FC236}">
                <a16:creationId xmlns:a16="http://schemas.microsoft.com/office/drawing/2014/main" id="{244BEA81-2A75-F4A3-611C-E0D1D693A83A}"/>
              </a:ext>
            </a:extLst>
          </p:cNvPr>
          <p:cNvSpPr/>
          <p:nvPr/>
        </p:nvSpPr>
        <p:spPr>
          <a:xfrm>
            <a:off x="-15827" y="690328"/>
            <a:ext cx="1465322"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FFFFFF"/>
                </a:solidFill>
                <a:latin typeface="Aptos"/>
                <a:ea typeface="Calibri"/>
                <a:cs typeface="Calibri"/>
              </a:rPr>
              <a:t>Подготовка</a:t>
            </a:r>
            <a:endParaRPr lang="en-GB" sz="1400">
              <a:solidFill>
                <a:srgbClr val="FFFFFF"/>
              </a:solidFill>
              <a:latin typeface="Aptos"/>
              <a:ea typeface="Calibri"/>
              <a:cs typeface="Calibri"/>
            </a:endParaRPr>
          </a:p>
        </p:txBody>
      </p:sp>
      <p:pic>
        <p:nvPicPr>
          <p:cNvPr id="2" name="Картина 1" descr="Картина, която съдържа текст, екранна снимка, софтуер, Уеб страница&#10;&#10;Генерирано от ИИ съдържание може да е неправилно.">
            <a:extLst>
              <a:ext uri="{FF2B5EF4-FFF2-40B4-BE49-F238E27FC236}">
                <a16:creationId xmlns:a16="http://schemas.microsoft.com/office/drawing/2014/main" id="{77658E78-9923-BC41-D37F-765D3778E0FC}"/>
              </a:ext>
            </a:extLst>
          </p:cNvPr>
          <p:cNvPicPr>
            <a:picLocks noChangeAspect="1"/>
          </p:cNvPicPr>
          <p:nvPr/>
        </p:nvPicPr>
        <p:blipFill>
          <a:blip r:embed="rId3"/>
          <a:stretch>
            <a:fillRect/>
          </a:stretch>
        </p:blipFill>
        <p:spPr>
          <a:xfrm>
            <a:off x="1574800" y="794695"/>
            <a:ext cx="10434320" cy="5868049"/>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Tree>
    <p:extLst>
      <p:ext uri="{BB962C8B-B14F-4D97-AF65-F5344CB8AC3E}">
        <p14:creationId xmlns:p14="http://schemas.microsoft.com/office/powerpoint/2010/main" val="667384032"/>
      </p:ext>
    </p:extLst>
  </p:cSld>
  <p:clrMapOvr>
    <a:masterClrMapping/>
  </p:clrMapOvr>
  <p:extLst>
    <p:ext uri="{6950BFC3-D8DA-4A85-94F7-54DA5524770B}">
      <p188:commentRel xmlns:p188="http://schemas.microsoft.com/office/powerpoint/2018/8/main" r:id="rId2"/>
    </p:ext>
  </p:extLs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B37A74-99C8-B6A2-CD7A-4AC897CE71F1}"/>
            </a:ext>
          </a:extLst>
        </p:cNvPr>
        <p:cNvGrpSpPr/>
        <p:nvPr/>
      </p:nvGrpSpPr>
      <p:grpSpPr>
        <a:xfrm>
          <a:off x="0" y="0"/>
          <a:ext cx="0" cy="0"/>
          <a:chOff x="0" y="0"/>
          <a:chExt cx="0" cy="0"/>
        </a:xfrm>
      </p:grpSpPr>
      <p:sp>
        <p:nvSpPr>
          <p:cNvPr id="25" name="Rectangle 28">
            <a:extLst>
              <a:ext uri="{FF2B5EF4-FFF2-40B4-BE49-F238E27FC236}">
                <a16:creationId xmlns:a16="http://schemas.microsoft.com/office/drawing/2014/main" id="{04259360-B52F-EFB0-114E-8FB3821C5FD9}"/>
              </a:ext>
            </a:extLst>
          </p:cNvPr>
          <p:cNvSpPr/>
          <p:nvPr/>
        </p:nvSpPr>
        <p:spPr>
          <a:xfrm>
            <a:off x="-15824" y="1599"/>
            <a:ext cx="1465320" cy="6859628"/>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400">
              <a:latin typeface="Aptos"/>
              <a:ea typeface="Calibri"/>
              <a:cs typeface="Calibri"/>
            </a:endParaRPr>
          </a:p>
        </p:txBody>
      </p:sp>
      <p:sp>
        <p:nvSpPr>
          <p:cNvPr id="26" name="Rectangle 29">
            <a:extLst>
              <a:ext uri="{FF2B5EF4-FFF2-40B4-BE49-F238E27FC236}">
                <a16:creationId xmlns:a16="http://schemas.microsoft.com/office/drawing/2014/main" id="{2475B6CB-0966-81A9-ADE3-A4305539A1D2}"/>
              </a:ext>
            </a:extLst>
          </p:cNvPr>
          <p:cNvSpPr/>
          <p:nvPr/>
        </p:nvSpPr>
        <p:spPr>
          <a:xfrm>
            <a:off x="-1671" y="2528038"/>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Типове клиенти</a:t>
            </a:r>
            <a:endParaRPr lang="en-GB" sz="1400">
              <a:latin typeface="Aptos"/>
              <a:ea typeface="Calibri"/>
              <a:cs typeface="Calibri"/>
            </a:endParaRPr>
          </a:p>
        </p:txBody>
      </p:sp>
      <p:sp>
        <p:nvSpPr>
          <p:cNvPr id="27" name="Rectangle 30">
            <a:extLst>
              <a:ext uri="{FF2B5EF4-FFF2-40B4-BE49-F238E27FC236}">
                <a16:creationId xmlns:a16="http://schemas.microsoft.com/office/drawing/2014/main" id="{E029A01A-E6D6-EA1A-AA11-D5CE01B33302}"/>
              </a:ext>
            </a:extLst>
          </p:cNvPr>
          <p:cNvSpPr/>
          <p:nvPr/>
        </p:nvSpPr>
        <p:spPr>
          <a:xfrm>
            <a:off x="8626" y="1913210"/>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002060"/>
                </a:solidFill>
                <a:latin typeface="Aptos"/>
                <a:ea typeface="Calibri"/>
                <a:cs typeface="Calibri"/>
              </a:rPr>
              <a:t>Сценарии</a:t>
            </a:r>
            <a:endParaRPr lang="en-GB" sz="1400">
              <a:solidFill>
                <a:srgbClr val="002060"/>
              </a:solidFill>
              <a:latin typeface="Aptos"/>
              <a:ea typeface="Calibri"/>
              <a:cs typeface="Calibri"/>
            </a:endParaRPr>
          </a:p>
        </p:txBody>
      </p:sp>
      <p:sp>
        <p:nvSpPr>
          <p:cNvPr id="28" name="Rectangle 31">
            <a:extLst>
              <a:ext uri="{FF2B5EF4-FFF2-40B4-BE49-F238E27FC236}">
                <a16:creationId xmlns:a16="http://schemas.microsoft.com/office/drawing/2014/main" id="{D8B80571-F4AC-E889-07BA-4BE9F116A603}"/>
              </a:ext>
            </a:extLst>
          </p:cNvPr>
          <p:cNvSpPr/>
          <p:nvPr/>
        </p:nvSpPr>
        <p:spPr>
          <a:xfrm>
            <a:off x="-1671" y="1298382"/>
            <a:ext cx="1442908" cy="4485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chemeClr val="bg1"/>
                </a:solidFill>
                <a:latin typeface="Aptos"/>
                <a:ea typeface="Calibri"/>
                <a:cs typeface="Calibri"/>
              </a:rPr>
              <a:t>Стъпки в обаждането</a:t>
            </a:r>
            <a:endParaRPr lang="en-GB" sz="1400">
              <a:solidFill>
                <a:schemeClr val="bg1"/>
              </a:solidFill>
              <a:latin typeface="Aptos"/>
              <a:ea typeface="Calibri"/>
              <a:cs typeface="Calibri"/>
            </a:endParaRPr>
          </a:p>
        </p:txBody>
      </p:sp>
      <p:sp>
        <p:nvSpPr>
          <p:cNvPr id="29" name="Rectangle 3">
            <a:extLst>
              <a:ext uri="{FF2B5EF4-FFF2-40B4-BE49-F238E27FC236}">
                <a16:creationId xmlns:a16="http://schemas.microsoft.com/office/drawing/2014/main" id="{3B13B982-FA61-7187-4D8C-0B0E59C4E329}"/>
              </a:ext>
            </a:extLst>
          </p:cNvPr>
          <p:cNvSpPr/>
          <p:nvPr/>
        </p:nvSpPr>
        <p:spPr>
          <a:xfrm>
            <a:off x="1443475" y="4245"/>
            <a:ext cx="5338363" cy="67724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30" name="Rectangle 4">
            <a:extLst>
              <a:ext uri="{FF2B5EF4-FFF2-40B4-BE49-F238E27FC236}">
                <a16:creationId xmlns:a16="http://schemas.microsoft.com/office/drawing/2014/main" id="{9EDE4507-E745-EFD9-FA0A-286ABCC8E592}"/>
              </a:ext>
            </a:extLst>
          </p:cNvPr>
          <p:cNvSpPr/>
          <p:nvPr/>
        </p:nvSpPr>
        <p:spPr>
          <a:xfrm>
            <a:off x="6788435" y="4245"/>
            <a:ext cx="5417300" cy="677242"/>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31" name="Rectangle 28">
            <a:extLst>
              <a:ext uri="{FF2B5EF4-FFF2-40B4-BE49-F238E27FC236}">
                <a16:creationId xmlns:a16="http://schemas.microsoft.com/office/drawing/2014/main" id="{8B95EB15-7690-341E-E79D-2C9138462922}"/>
              </a:ext>
            </a:extLst>
          </p:cNvPr>
          <p:cNvSpPr/>
          <p:nvPr/>
        </p:nvSpPr>
        <p:spPr>
          <a:xfrm>
            <a:off x="-15827" y="690328"/>
            <a:ext cx="1465322"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FFFFFF"/>
                </a:solidFill>
                <a:latin typeface="Aptos"/>
                <a:ea typeface="Calibri"/>
                <a:cs typeface="Calibri"/>
              </a:rPr>
              <a:t>Подготовка</a:t>
            </a:r>
            <a:endParaRPr lang="en-GB" sz="1400">
              <a:solidFill>
                <a:srgbClr val="FFFFFF"/>
              </a:solidFill>
              <a:latin typeface="Aptos"/>
              <a:ea typeface="Calibri"/>
              <a:cs typeface="Calibri"/>
            </a:endParaRPr>
          </a:p>
        </p:txBody>
      </p:sp>
      <p:pic>
        <p:nvPicPr>
          <p:cNvPr id="3" name="Картина 2" descr="Картина, която съдържа текст, екранна снимка, Шрифт, Уеб страница&#10;&#10;Генерирано от ИИ съдържание може да е неправилно.">
            <a:extLst>
              <a:ext uri="{FF2B5EF4-FFF2-40B4-BE49-F238E27FC236}">
                <a16:creationId xmlns:a16="http://schemas.microsoft.com/office/drawing/2014/main" id="{0A9326EA-20A5-A60E-2254-D8918065E0A4}"/>
              </a:ext>
            </a:extLst>
          </p:cNvPr>
          <p:cNvPicPr>
            <a:picLocks noChangeAspect="1"/>
          </p:cNvPicPr>
          <p:nvPr/>
        </p:nvPicPr>
        <p:blipFill>
          <a:blip r:embed="rId2"/>
          <a:stretch>
            <a:fillRect/>
          </a:stretch>
        </p:blipFill>
        <p:spPr>
          <a:xfrm>
            <a:off x="1564640" y="807110"/>
            <a:ext cx="10525760" cy="5904180"/>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Tree>
    <p:extLst>
      <p:ext uri="{BB962C8B-B14F-4D97-AF65-F5344CB8AC3E}">
        <p14:creationId xmlns:p14="http://schemas.microsoft.com/office/powerpoint/2010/main" val="117228511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73B7A5-5359-1EA7-AD05-EEE67486ADF0}"/>
            </a:ext>
          </a:extLst>
        </p:cNvPr>
        <p:cNvGrpSpPr/>
        <p:nvPr/>
      </p:nvGrpSpPr>
      <p:grpSpPr>
        <a:xfrm>
          <a:off x="0" y="0"/>
          <a:ext cx="0" cy="0"/>
          <a:chOff x="0" y="0"/>
          <a:chExt cx="0" cy="0"/>
        </a:xfrm>
      </p:grpSpPr>
      <p:sp>
        <p:nvSpPr>
          <p:cNvPr id="28" name="Правоъгълник: със заоблени ъгли 27">
            <a:extLst>
              <a:ext uri="{FF2B5EF4-FFF2-40B4-BE49-F238E27FC236}">
                <a16:creationId xmlns:a16="http://schemas.microsoft.com/office/drawing/2014/main" id="{F7B1C496-8360-933F-E152-E833CF1A909B}"/>
              </a:ext>
            </a:extLst>
          </p:cNvPr>
          <p:cNvSpPr/>
          <p:nvPr/>
        </p:nvSpPr>
        <p:spPr>
          <a:xfrm>
            <a:off x="5298509" y="251749"/>
            <a:ext cx="3671794" cy="6172583"/>
          </a:xfrm>
          <a:prstGeom prst="roundRect">
            <a:avLst/>
          </a:prstGeom>
          <a:solidFill>
            <a:schemeClr val="bg1">
              <a:lumMod val="95000"/>
            </a:schemeClr>
          </a:solidFill>
          <a:ln>
            <a:noFill/>
          </a:ln>
          <a:effectLst>
            <a:outerShdw blurRad="63500" dist="38100" dir="270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pic>
        <p:nvPicPr>
          <p:cNvPr id="33" name="Picture 10" descr="Картина, която съдържа текст, екранна снимка&#10;&#10;Генерирано от ИИ съдържание може да е неправилно.">
            <a:extLst>
              <a:ext uri="{FF2B5EF4-FFF2-40B4-BE49-F238E27FC236}">
                <a16:creationId xmlns:a16="http://schemas.microsoft.com/office/drawing/2014/main" id="{810FFF81-4986-8549-1A85-8491804610F6}"/>
              </a:ext>
            </a:extLst>
          </p:cNvPr>
          <p:cNvPicPr>
            <a:picLocks noChangeAspect="1"/>
          </p:cNvPicPr>
          <p:nvPr/>
        </p:nvPicPr>
        <p:blipFill>
          <a:blip r:embed="rId2"/>
          <a:srcRect b="88415"/>
          <a:stretch>
            <a:fillRect/>
          </a:stretch>
        </p:blipFill>
        <p:spPr>
          <a:xfrm>
            <a:off x="5232507" y="278693"/>
            <a:ext cx="3740239" cy="77148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34" name="Правоъгълник: със заоблени ъгли 33">
            <a:extLst>
              <a:ext uri="{FF2B5EF4-FFF2-40B4-BE49-F238E27FC236}">
                <a16:creationId xmlns:a16="http://schemas.microsoft.com/office/drawing/2014/main" id="{94DC4767-7782-F1F1-F7AC-D7C0490161A3}"/>
              </a:ext>
            </a:extLst>
          </p:cNvPr>
          <p:cNvSpPr/>
          <p:nvPr/>
        </p:nvSpPr>
        <p:spPr>
          <a:xfrm>
            <a:off x="5376852" y="1535289"/>
            <a:ext cx="3302259" cy="363776"/>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bg-BG" sz="1300" b="1">
                <a:solidFill>
                  <a:srgbClr val="1F3864"/>
                </a:solidFill>
              </a:rPr>
              <a:t>Отваряне и предложение</a:t>
            </a:r>
          </a:p>
          <a:p>
            <a:endParaRPr lang="bg-BG" sz="1200">
              <a:solidFill>
                <a:srgbClr val="1F3864"/>
              </a:solidFill>
            </a:endParaRPr>
          </a:p>
        </p:txBody>
      </p:sp>
      <p:sp>
        <p:nvSpPr>
          <p:cNvPr id="35" name="Правоъгълник: със заоблени ъгли 34">
            <a:extLst>
              <a:ext uri="{FF2B5EF4-FFF2-40B4-BE49-F238E27FC236}">
                <a16:creationId xmlns:a16="http://schemas.microsoft.com/office/drawing/2014/main" id="{D2A0CA6F-E910-7BC3-8445-0543FB9C272E}"/>
              </a:ext>
            </a:extLst>
          </p:cNvPr>
          <p:cNvSpPr/>
          <p:nvPr/>
        </p:nvSpPr>
        <p:spPr>
          <a:xfrm>
            <a:off x="5373662" y="2256930"/>
            <a:ext cx="3312284" cy="393855"/>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ru-RU" sz="1050" dirty="0" err="1">
                <a:solidFill>
                  <a:schemeClr val="tx1"/>
                </a:solidFill>
              </a:rPr>
              <a:t>Добър</a:t>
            </a:r>
            <a:r>
              <a:rPr lang="ru-RU" sz="1050" dirty="0">
                <a:solidFill>
                  <a:schemeClr val="tx1"/>
                </a:solidFill>
              </a:rPr>
              <a:t> ден, </a:t>
            </a:r>
            <a:r>
              <a:rPr lang="ru-RU" sz="1050" dirty="0" err="1">
                <a:solidFill>
                  <a:schemeClr val="tx1"/>
                </a:solidFill>
              </a:rPr>
              <a:t>търся</a:t>
            </a:r>
            <a:r>
              <a:rPr lang="ru-RU" sz="1050" dirty="0">
                <a:solidFill>
                  <a:schemeClr val="tx1"/>
                </a:solidFill>
              </a:rPr>
              <a:t> г-н/г-жа (две имена на клиента).</a:t>
            </a:r>
            <a:br>
              <a:rPr lang="ru-RU" sz="1050" dirty="0">
                <a:solidFill>
                  <a:schemeClr val="tx1"/>
                </a:solidFill>
              </a:rPr>
            </a:br>
            <a:r>
              <a:rPr lang="ru-RU" sz="1050" dirty="0">
                <a:solidFill>
                  <a:schemeClr val="tx1"/>
                </a:solidFill>
              </a:rPr>
              <a:t>-Да (на телефона, аз </a:t>
            </a:r>
            <a:r>
              <a:rPr lang="ru-RU" sz="1050" dirty="0" err="1">
                <a:solidFill>
                  <a:schemeClr val="tx1"/>
                </a:solidFill>
              </a:rPr>
              <a:t>съм</a:t>
            </a:r>
            <a:r>
              <a:rPr lang="ru-RU" sz="1050" dirty="0">
                <a:solidFill>
                  <a:schemeClr val="tx1"/>
                </a:solidFill>
              </a:rPr>
              <a:t>).</a:t>
            </a:r>
            <a:br>
              <a:rPr lang="ru-RU" sz="1050" dirty="0">
                <a:solidFill>
                  <a:schemeClr val="tx1"/>
                </a:solidFill>
              </a:rPr>
            </a:br>
            <a:r>
              <a:rPr lang="ru-RU" sz="1050" dirty="0">
                <a:solidFill>
                  <a:schemeClr val="tx1"/>
                </a:solidFill>
              </a:rPr>
              <a:t>-</a:t>
            </a:r>
            <a:r>
              <a:rPr lang="ru-RU" sz="1050" dirty="0" err="1">
                <a:solidFill>
                  <a:schemeClr val="tx1"/>
                </a:solidFill>
              </a:rPr>
              <a:t>Здравейте</a:t>
            </a:r>
            <a:r>
              <a:rPr lang="ru-RU" sz="1050" dirty="0">
                <a:solidFill>
                  <a:schemeClr val="tx1"/>
                </a:solidFill>
              </a:rPr>
              <a:t> г-н/г-</a:t>
            </a:r>
            <a:r>
              <a:rPr lang="ru-RU" sz="1050" dirty="0" err="1">
                <a:solidFill>
                  <a:schemeClr val="tx1"/>
                </a:solidFill>
              </a:rPr>
              <a:t>жо</a:t>
            </a:r>
            <a:r>
              <a:rPr lang="ru-RU" sz="1050" dirty="0">
                <a:solidFill>
                  <a:schemeClr val="tx1"/>
                </a:solidFill>
              </a:rPr>
              <a:t> (фамилия на клиента), </a:t>
            </a:r>
            <a:r>
              <a:rPr lang="ru-RU" sz="1050" dirty="0" err="1">
                <a:solidFill>
                  <a:schemeClr val="tx1"/>
                </a:solidFill>
              </a:rPr>
              <a:t>обаждам</a:t>
            </a:r>
            <a:r>
              <a:rPr lang="ru-RU" sz="1050" dirty="0">
                <a:solidFill>
                  <a:schemeClr val="tx1"/>
                </a:solidFill>
              </a:rPr>
              <a:t> се от Изи Кредит. Имам </a:t>
            </a:r>
            <a:r>
              <a:rPr lang="ru-RU" sz="1050" dirty="0" err="1">
                <a:solidFill>
                  <a:schemeClr val="tx1"/>
                </a:solidFill>
              </a:rPr>
              <a:t>Вашия</a:t>
            </a:r>
            <a:r>
              <a:rPr lang="ru-RU" sz="1050" dirty="0">
                <a:solidFill>
                  <a:schemeClr val="tx1"/>
                </a:solidFill>
              </a:rPr>
              <a:t> телефон от /</a:t>
            </a:r>
            <a:r>
              <a:rPr lang="ru-RU" sz="1050" dirty="0" err="1">
                <a:solidFill>
                  <a:schemeClr val="tx1"/>
                </a:solidFill>
              </a:rPr>
              <a:t>Име</a:t>
            </a:r>
            <a:r>
              <a:rPr lang="ru-RU" sz="1050" dirty="0">
                <a:solidFill>
                  <a:schemeClr val="tx1"/>
                </a:solidFill>
              </a:rPr>
              <a:t> на наш клиент/ </a:t>
            </a:r>
            <a:r>
              <a:rPr lang="ru-RU" sz="1050" dirty="0" err="1">
                <a:solidFill>
                  <a:schemeClr val="tx1"/>
                </a:solidFill>
              </a:rPr>
              <a:t>Изготвихме</a:t>
            </a:r>
            <a:r>
              <a:rPr lang="ru-RU" sz="1050" dirty="0">
                <a:solidFill>
                  <a:schemeClr val="tx1"/>
                </a:solidFill>
              </a:rPr>
              <a:t> </a:t>
            </a:r>
            <a:r>
              <a:rPr lang="ru-RU" sz="1050" dirty="0" err="1">
                <a:solidFill>
                  <a:schemeClr val="tx1"/>
                </a:solidFill>
              </a:rPr>
              <a:t>специално</a:t>
            </a:r>
            <a:r>
              <a:rPr lang="ru-RU" sz="1050" dirty="0">
                <a:solidFill>
                  <a:schemeClr val="tx1"/>
                </a:solidFill>
              </a:rPr>
              <a:t> предложение за Вас. Удобно ли е да ми отделите </a:t>
            </a:r>
            <a:r>
              <a:rPr lang="ru-RU" sz="1050" dirty="0" err="1">
                <a:solidFill>
                  <a:schemeClr val="tx1"/>
                </a:solidFill>
              </a:rPr>
              <a:t>една</a:t>
            </a:r>
            <a:r>
              <a:rPr lang="ru-RU" sz="1050" dirty="0">
                <a:solidFill>
                  <a:schemeClr val="tx1"/>
                </a:solidFill>
              </a:rPr>
              <a:t>, две </a:t>
            </a:r>
            <a:r>
              <a:rPr lang="ru-RU" sz="1050" dirty="0" err="1">
                <a:solidFill>
                  <a:schemeClr val="tx1"/>
                </a:solidFill>
              </a:rPr>
              <a:t>минути</a:t>
            </a:r>
            <a:r>
              <a:rPr lang="ru-RU" sz="1050" dirty="0">
                <a:solidFill>
                  <a:schemeClr val="tx1"/>
                </a:solidFill>
              </a:rPr>
              <a:t>, за да Ви </a:t>
            </a:r>
            <a:r>
              <a:rPr lang="ru-RU" sz="1050" dirty="0" err="1">
                <a:solidFill>
                  <a:schemeClr val="tx1"/>
                </a:solidFill>
              </a:rPr>
              <a:t>запозная</a:t>
            </a:r>
            <a:r>
              <a:rPr lang="ru-RU" sz="1050" dirty="0">
                <a:solidFill>
                  <a:schemeClr val="tx1"/>
                </a:solidFill>
              </a:rPr>
              <a:t>? </a:t>
            </a:r>
            <a:br>
              <a:rPr lang="ru-RU" sz="1050" dirty="0">
                <a:solidFill>
                  <a:schemeClr val="tx1"/>
                </a:solidFill>
              </a:rPr>
            </a:br>
            <a:r>
              <a:rPr lang="ru-RU" sz="1050" dirty="0">
                <a:solidFill>
                  <a:schemeClr val="tx1"/>
                </a:solidFill>
              </a:rPr>
              <a:t>-Да (</a:t>
            </a:r>
            <a:r>
              <a:rPr lang="ru-RU" sz="1050" dirty="0" err="1">
                <a:solidFill>
                  <a:schemeClr val="tx1"/>
                </a:solidFill>
              </a:rPr>
              <a:t>слушам</a:t>
            </a:r>
            <a:r>
              <a:rPr lang="ru-RU" sz="1050" dirty="0">
                <a:solidFill>
                  <a:schemeClr val="tx1"/>
                </a:solidFill>
              </a:rPr>
              <a:t> Ви).</a:t>
            </a:r>
            <a:br>
              <a:rPr lang="ru-RU" sz="1050" dirty="0">
                <a:solidFill>
                  <a:schemeClr val="tx1"/>
                </a:solidFill>
              </a:rPr>
            </a:br>
            <a:r>
              <a:rPr lang="ru-RU" sz="1050" dirty="0">
                <a:solidFill>
                  <a:schemeClr val="tx1"/>
                </a:solidFill>
              </a:rPr>
              <a:t>(</a:t>
            </a:r>
            <a:r>
              <a:rPr lang="ru-RU" sz="1050" dirty="0" err="1">
                <a:solidFill>
                  <a:schemeClr val="tx1"/>
                </a:solidFill>
              </a:rPr>
              <a:t>Представяне</a:t>
            </a:r>
            <a:r>
              <a:rPr lang="ru-RU" sz="1050" dirty="0">
                <a:solidFill>
                  <a:schemeClr val="tx1"/>
                </a:solidFill>
              </a:rPr>
              <a:t> на </a:t>
            </a:r>
            <a:r>
              <a:rPr lang="ru-RU" sz="1050" dirty="0" err="1">
                <a:solidFill>
                  <a:schemeClr val="tx1"/>
                </a:solidFill>
              </a:rPr>
              <a:t>предложнието</a:t>
            </a:r>
            <a:r>
              <a:rPr lang="ru-RU" sz="1050" dirty="0">
                <a:solidFill>
                  <a:schemeClr val="tx1"/>
                </a:solidFill>
              </a:rPr>
              <a:t>)</a:t>
            </a:r>
            <a:br>
              <a:rPr lang="ru-RU" sz="1050" dirty="0">
                <a:solidFill>
                  <a:schemeClr val="tx1"/>
                </a:solidFill>
              </a:rPr>
            </a:br>
            <a:r>
              <a:rPr lang="ru-RU" sz="1050" dirty="0">
                <a:solidFill>
                  <a:schemeClr val="tx1"/>
                </a:solidFill>
              </a:rPr>
              <a:t>-Как Ви се </a:t>
            </a:r>
            <a:r>
              <a:rPr lang="ru-RU" sz="1050" dirty="0" err="1">
                <a:solidFill>
                  <a:schemeClr val="tx1"/>
                </a:solidFill>
              </a:rPr>
              <a:t>струва</a:t>
            </a:r>
            <a:r>
              <a:rPr lang="ru-RU" sz="1050" dirty="0">
                <a:solidFill>
                  <a:schemeClr val="tx1"/>
                </a:solidFill>
              </a:rPr>
              <a:t> </a:t>
            </a:r>
            <a:r>
              <a:rPr lang="ru-RU" sz="1050" dirty="0" err="1">
                <a:solidFill>
                  <a:schemeClr val="tx1"/>
                </a:solidFill>
              </a:rPr>
              <a:t>моето</a:t>
            </a:r>
            <a:r>
              <a:rPr lang="ru-RU" sz="1050" dirty="0">
                <a:solidFill>
                  <a:schemeClr val="tx1"/>
                </a:solidFill>
              </a:rPr>
              <a:t> предложение?</a:t>
            </a:r>
          </a:p>
        </p:txBody>
      </p:sp>
      <p:sp>
        <p:nvSpPr>
          <p:cNvPr id="40" name="Правоъгълник: със заоблени ъгли 39">
            <a:extLst>
              <a:ext uri="{FF2B5EF4-FFF2-40B4-BE49-F238E27FC236}">
                <a16:creationId xmlns:a16="http://schemas.microsoft.com/office/drawing/2014/main" id="{5A312820-17A2-33E6-EA79-5D2127CE9692}"/>
              </a:ext>
            </a:extLst>
          </p:cNvPr>
          <p:cNvSpPr/>
          <p:nvPr/>
        </p:nvSpPr>
        <p:spPr>
          <a:xfrm>
            <a:off x="5398892" y="3216103"/>
            <a:ext cx="3312282" cy="377658"/>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bg-BG" sz="1300" b="1">
                <a:solidFill>
                  <a:srgbClr val="1F3864"/>
                </a:solidFill>
              </a:rPr>
              <a:t>Възражения и отговор</a:t>
            </a:r>
          </a:p>
        </p:txBody>
      </p:sp>
      <p:sp>
        <p:nvSpPr>
          <p:cNvPr id="43" name="Rectangle: Rounded Corners 11">
            <a:extLst>
              <a:ext uri="{FF2B5EF4-FFF2-40B4-BE49-F238E27FC236}">
                <a16:creationId xmlns:a16="http://schemas.microsoft.com/office/drawing/2014/main" id="{56B57139-A984-86BD-5CF9-49884123A1FE}"/>
              </a:ext>
            </a:extLst>
          </p:cNvPr>
          <p:cNvSpPr/>
          <p:nvPr/>
        </p:nvSpPr>
        <p:spPr>
          <a:xfrm>
            <a:off x="5228800" y="1046439"/>
            <a:ext cx="3740184" cy="355916"/>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bg-BG" sz="1600"/>
              <a:t>По препоръка</a:t>
            </a:r>
          </a:p>
        </p:txBody>
      </p:sp>
      <p:sp>
        <p:nvSpPr>
          <p:cNvPr id="47" name="Правоъгълник: със заоблени ъгли 16">
            <a:extLst>
              <a:ext uri="{FF2B5EF4-FFF2-40B4-BE49-F238E27FC236}">
                <a16:creationId xmlns:a16="http://schemas.microsoft.com/office/drawing/2014/main" id="{C1ABE0FB-0B29-DDBD-B0D9-2221FDAE5789}"/>
              </a:ext>
            </a:extLst>
          </p:cNvPr>
          <p:cNvSpPr/>
          <p:nvPr/>
        </p:nvSpPr>
        <p:spPr>
          <a:xfrm>
            <a:off x="5904554" y="5318755"/>
            <a:ext cx="2344027" cy="434737"/>
          </a:xfrm>
          <a:prstGeom prst="roundRect">
            <a:avLst>
              <a:gd name="adj" fmla="val 50000"/>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200"/>
              <a:t>Тренирай</a:t>
            </a:r>
          </a:p>
        </p:txBody>
      </p:sp>
      <p:sp>
        <p:nvSpPr>
          <p:cNvPr id="48" name="Знак за умножение 47">
            <a:extLst>
              <a:ext uri="{FF2B5EF4-FFF2-40B4-BE49-F238E27FC236}">
                <a16:creationId xmlns:a16="http://schemas.microsoft.com/office/drawing/2014/main" id="{638BDE86-3079-CC21-008C-F6C4387975CD}"/>
              </a:ext>
            </a:extLst>
          </p:cNvPr>
          <p:cNvSpPr/>
          <p:nvPr/>
        </p:nvSpPr>
        <p:spPr>
          <a:xfrm>
            <a:off x="8520991" y="954321"/>
            <a:ext cx="446569" cy="496188"/>
          </a:xfrm>
          <a:prstGeom prst="mathMultiply">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59" name="Правоъгълник: със заоблени ъгли 58">
            <a:extLst>
              <a:ext uri="{FF2B5EF4-FFF2-40B4-BE49-F238E27FC236}">
                <a16:creationId xmlns:a16="http://schemas.microsoft.com/office/drawing/2014/main" id="{F8D45764-AF4E-72C6-1F25-1A3D3AA10D31}"/>
              </a:ext>
            </a:extLst>
          </p:cNvPr>
          <p:cNvSpPr/>
          <p:nvPr/>
        </p:nvSpPr>
        <p:spPr>
          <a:xfrm>
            <a:off x="719415" y="256478"/>
            <a:ext cx="3671794" cy="6172583"/>
          </a:xfrm>
          <a:prstGeom prst="roundRect">
            <a:avLst/>
          </a:prstGeom>
          <a:solidFill>
            <a:schemeClr val="bg1">
              <a:lumMod val="95000"/>
            </a:schemeClr>
          </a:solidFill>
          <a:ln>
            <a:noFill/>
          </a:ln>
          <a:effectLst>
            <a:outerShdw blurRad="63500" dist="38100" dir="270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pic>
        <p:nvPicPr>
          <p:cNvPr id="60" name="Picture 10" descr="Картина, която съдържа текст, екранна снимка&#10;&#10;Генерирано от ИИ съдържание може да е неправилно.">
            <a:extLst>
              <a:ext uri="{FF2B5EF4-FFF2-40B4-BE49-F238E27FC236}">
                <a16:creationId xmlns:a16="http://schemas.microsoft.com/office/drawing/2014/main" id="{9E0B6ABE-1D9A-95F8-0E98-305390C831FF}"/>
              </a:ext>
            </a:extLst>
          </p:cNvPr>
          <p:cNvPicPr>
            <a:picLocks noChangeAspect="1"/>
          </p:cNvPicPr>
          <p:nvPr/>
        </p:nvPicPr>
        <p:blipFill>
          <a:blip r:embed="rId2"/>
          <a:srcRect b="88415"/>
          <a:stretch>
            <a:fillRect/>
          </a:stretch>
        </p:blipFill>
        <p:spPr>
          <a:xfrm>
            <a:off x="688049" y="260331"/>
            <a:ext cx="3740239" cy="77148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50" name="Rectangle: Rounded Corners 9">
            <a:extLst>
              <a:ext uri="{FF2B5EF4-FFF2-40B4-BE49-F238E27FC236}">
                <a16:creationId xmlns:a16="http://schemas.microsoft.com/office/drawing/2014/main" id="{F8A3A35D-B796-7476-B2C2-20FA5E592137}"/>
              </a:ext>
            </a:extLst>
          </p:cNvPr>
          <p:cNvSpPr/>
          <p:nvPr/>
        </p:nvSpPr>
        <p:spPr>
          <a:xfrm>
            <a:off x="1069934" y="1978727"/>
            <a:ext cx="2932281" cy="677241"/>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bg-BG" sz="1600"/>
              <a:t>Предварително одобрен клиент</a:t>
            </a:r>
            <a:endParaRPr lang="en-GB" sz="1600"/>
          </a:p>
        </p:txBody>
      </p:sp>
      <p:sp>
        <p:nvSpPr>
          <p:cNvPr id="52" name="Rectangle: Rounded Corners 11">
            <a:extLst>
              <a:ext uri="{FF2B5EF4-FFF2-40B4-BE49-F238E27FC236}">
                <a16:creationId xmlns:a16="http://schemas.microsoft.com/office/drawing/2014/main" id="{69716FEC-2BED-ECD1-59F5-132AC374D62B}"/>
              </a:ext>
            </a:extLst>
          </p:cNvPr>
          <p:cNvSpPr/>
          <p:nvPr/>
        </p:nvSpPr>
        <p:spPr>
          <a:xfrm>
            <a:off x="1069933" y="1174969"/>
            <a:ext cx="2932281" cy="677241"/>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bg-BG" sz="1600"/>
              <a:t>Лоялен клиент</a:t>
            </a:r>
            <a:endParaRPr lang="en-GB" sz="1600"/>
          </a:p>
        </p:txBody>
      </p:sp>
      <p:sp>
        <p:nvSpPr>
          <p:cNvPr id="54" name="Rectangle: Rounded Corners 13">
            <a:extLst>
              <a:ext uri="{FF2B5EF4-FFF2-40B4-BE49-F238E27FC236}">
                <a16:creationId xmlns:a16="http://schemas.microsoft.com/office/drawing/2014/main" id="{1E4B210F-7E97-E1A6-3179-19DE53EEA220}"/>
              </a:ext>
            </a:extLst>
          </p:cNvPr>
          <p:cNvSpPr/>
          <p:nvPr/>
        </p:nvSpPr>
        <p:spPr>
          <a:xfrm>
            <a:off x="1069932" y="2838941"/>
            <a:ext cx="2932281" cy="677241"/>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bg-BG" sz="1600"/>
              <a:t>Промо кампания</a:t>
            </a:r>
            <a:endParaRPr lang="en-GB" sz="1600"/>
          </a:p>
        </p:txBody>
      </p:sp>
      <p:sp>
        <p:nvSpPr>
          <p:cNvPr id="56" name="Rectangle 9">
            <a:extLst>
              <a:ext uri="{FF2B5EF4-FFF2-40B4-BE49-F238E27FC236}">
                <a16:creationId xmlns:a16="http://schemas.microsoft.com/office/drawing/2014/main" id="{27447640-A2BC-BE69-103E-39E4B8D4A3F6}"/>
              </a:ext>
            </a:extLst>
          </p:cNvPr>
          <p:cNvSpPr/>
          <p:nvPr/>
        </p:nvSpPr>
        <p:spPr>
          <a:xfrm>
            <a:off x="1069930" y="4647304"/>
            <a:ext cx="2932281" cy="677241"/>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По препоръка</a:t>
            </a:r>
            <a:endParaRPr lang="en-GB" sz="1600"/>
          </a:p>
        </p:txBody>
      </p:sp>
      <p:sp>
        <p:nvSpPr>
          <p:cNvPr id="58" name="Rectangle 11">
            <a:extLst>
              <a:ext uri="{FF2B5EF4-FFF2-40B4-BE49-F238E27FC236}">
                <a16:creationId xmlns:a16="http://schemas.microsoft.com/office/drawing/2014/main" id="{FEE8834A-F0A2-0602-FE51-1EE67000B5F8}"/>
              </a:ext>
            </a:extLst>
          </p:cNvPr>
          <p:cNvSpPr/>
          <p:nvPr/>
        </p:nvSpPr>
        <p:spPr>
          <a:xfrm>
            <a:off x="1069931" y="3734537"/>
            <a:ext cx="2932281" cy="677241"/>
          </a:xfrm>
          <a:prstGeom prst="roundRect">
            <a:avLst/>
          </a:prstGeom>
          <a:solidFill>
            <a:schemeClr val="bg2">
              <a:lumMod val="75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bg-BG" sz="1600"/>
              <a:t>Продукт „Пенсионер“</a:t>
            </a:r>
            <a:endParaRPr lang="en-GB" sz="1600"/>
          </a:p>
        </p:txBody>
      </p:sp>
      <p:sp>
        <p:nvSpPr>
          <p:cNvPr id="62" name="Стрелка надясно 61">
            <a:extLst>
              <a:ext uri="{FF2B5EF4-FFF2-40B4-BE49-F238E27FC236}">
                <a16:creationId xmlns:a16="http://schemas.microsoft.com/office/drawing/2014/main" id="{300BE3DB-FBDF-1BE2-37F1-83C039BC716D}"/>
              </a:ext>
            </a:extLst>
          </p:cNvPr>
          <p:cNvSpPr/>
          <p:nvPr/>
        </p:nvSpPr>
        <p:spPr>
          <a:xfrm>
            <a:off x="4584780" y="2818350"/>
            <a:ext cx="535883" cy="30763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4" name="Rectangle: Rounded Corners 3">
            <a:extLst>
              <a:ext uri="{FF2B5EF4-FFF2-40B4-BE49-F238E27FC236}">
                <a16:creationId xmlns:a16="http://schemas.microsoft.com/office/drawing/2014/main" id="{A283F681-A304-A2F3-AD85-401B2EC2A77B}"/>
              </a:ext>
            </a:extLst>
          </p:cNvPr>
          <p:cNvSpPr/>
          <p:nvPr/>
        </p:nvSpPr>
        <p:spPr>
          <a:xfrm>
            <a:off x="5495291" y="3678971"/>
            <a:ext cx="3256472" cy="502783"/>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400" dirty="0"/>
              <a:t>Много </a:t>
            </a:r>
            <a:r>
              <a:rPr lang="ru-RU" sz="1400" dirty="0" err="1"/>
              <a:t>са</a:t>
            </a:r>
            <a:r>
              <a:rPr lang="ru-RU" sz="1400" dirty="0"/>
              <a:t> </a:t>
            </a:r>
            <a:r>
              <a:rPr lang="ru-RU" sz="1400" dirty="0" err="1"/>
              <a:t>ви</a:t>
            </a:r>
            <a:r>
              <a:rPr lang="ru-RU" sz="1400" dirty="0"/>
              <a:t> </a:t>
            </a:r>
            <a:r>
              <a:rPr lang="ru-RU" sz="1400" dirty="0" err="1"/>
              <a:t>високи</a:t>
            </a:r>
            <a:r>
              <a:rPr lang="ru-RU" sz="1400" dirty="0"/>
              <a:t> </a:t>
            </a:r>
            <a:r>
              <a:rPr lang="ru-RU" sz="1400" dirty="0" err="1"/>
              <a:t>лихвите</a:t>
            </a:r>
            <a:endParaRPr lang="en-GB" sz="1400" dirty="0"/>
          </a:p>
        </p:txBody>
      </p:sp>
      <p:sp>
        <p:nvSpPr>
          <p:cNvPr id="7" name="Rectangle: Rounded Corners 6">
            <a:extLst>
              <a:ext uri="{FF2B5EF4-FFF2-40B4-BE49-F238E27FC236}">
                <a16:creationId xmlns:a16="http://schemas.microsoft.com/office/drawing/2014/main" id="{104C1CD2-286D-A3D9-7686-2F14A51FACE8}"/>
              </a:ext>
            </a:extLst>
          </p:cNvPr>
          <p:cNvSpPr/>
          <p:nvPr/>
        </p:nvSpPr>
        <p:spPr>
          <a:xfrm>
            <a:off x="5504529" y="4236189"/>
            <a:ext cx="3234439" cy="478971"/>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400" dirty="0" err="1"/>
              <a:t>Нямам</a:t>
            </a:r>
            <a:r>
              <a:rPr lang="ru-RU" sz="1400" dirty="0"/>
              <a:t> нужда</a:t>
            </a:r>
            <a:endParaRPr lang="en-GB" sz="1400" dirty="0"/>
          </a:p>
        </p:txBody>
      </p:sp>
      <p:sp>
        <p:nvSpPr>
          <p:cNvPr id="41" name="Знак плюс 40">
            <a:extLst>
              <a:ext uri="{FF2B5EF4-FFF2-40B4-BE49-F238E27FC236}">
                <a16:creationId xmlns:a16="http://schemas.microsoft.com/office/drawing/2014/main" id="{8EC40039-FF23-A91A-A235-EF764F32B1AA}"/>
              </a:ext>
            </a:extLst>
          </p:cNvPr>
          <p:cNvSpPr/>
          <p:nvPr/>
        </p:nvSpPr>
        <p:spPr>
          <a:xfrm>
            <a:off x="8378748" y="3743928"/>
            <a:ext cx="317560" cy="337408"/>
          </a:xfrm>
          <a:prstGeom prst="mathPlu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2" name="Знак плюс 1">
            <a:extLst>
              <a:ext uri="{FF2B5EF4-FFF2-40B4-BE49-F238E27FC236}">
                <a16:creationId xmlns:a16="http://schemas.microsoft.com/office/drawing/2014/main" id="{762BEBF3-EB49-5A10-6F69-DC7EF57DF0B0}"/>
              </a:ext>
            </a:extLst>
          </p:cNvPr>
          <p:cNvSpPr/>
          <p:nvPr/>
        </p:nvSpPr>
        <p:spPr>
          <a:xfrm>
            <a:off x="8362211" y="4296131"/>
            <a:ext cx="317560" cy="337408"/>
          </a:xfrm>
          <a:prstGeom prst="mathPlu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Tree>
    <p:extLst>
      <p:ext uri="{BB962C8B-B14F-4D97-AF65-F5344CB8AC3E}">
        <p14:creationId xmlns:p14="http://schemas.microsoft.com/office/powerpoint/2010/main" val="325865071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3033A-5D61-806C-5706-D00B63399A32}"/>
            </a:ext>
          </a:extLst>
        </p:cNvPr>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1DC482E9-F920-CEFE-CC9F-9BBEB0A3FFD6}"/>
              </a:ext>
            </a:extLst>
          </p:cNvPr>
          <p:cNvSpPr/>
          <p:nvPr/>
        </p:nvSpPr>
        <p:spPr>
          <a:xfrm>
            <a:off x="1893066" y="1041323"/>
            <a:ext cx="2706332" cy="715919"/>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Агресивен</a:t>
            </a:r>
            <a:endParaRPr lang="en-GB" sz="1600"/>
          </a:p>
        </p:txBody>
      </p:sp>
      <p:sp>
        <p:nvSpPr>
          <p:cNvPr id="12" name="Rectangle: Rounded Corners 11">
            <a:extLst>
              <a:ext uri="{FF2B5EF4-FFF2-40B4-BE49-F238E27FC236}">
                <a16:creationId xmlns:a16="http://schemas.microsoft.com/office/drawing/2014/main" id="{91C63CA6-DA39-EA3D-C278-8499AD99A112}"/>
              </a:ext>
            </a:extLst>
          </p:cNvPr>
          <p:cNvSpPr/>
          <p:nvPr/>
        </p:nvSpPr>
        <p:spPr>
          <a:xfrm>
            <a:off x="1893066" y="1871904"/>
            <a:ext cx="2706332" cy="705772"/>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Аналитичен</a:t>
            </a:r>
            <a:endParaRPr lang="en-GB" sz="1600"/>
          </a:p>
        </p:txBody>
      </p:sp>
      <p:sp>
        <p:nvSpPr>
          <p:cNvPr id="14" name="Rectangle: Rounded Corners 13">
            <a:extLst>
              <a:ext uri="{FF2B5EF4-FFF2-40B4-BE49-F238E27FC236}">
                <a16:creationId xmlns:a16="http://schemas.microsoft.com/office/drawing/2014/main" id="{C11D2FF7-CD4D-BACB-09C2-B9AA2038FEC5}"/>
              </a:ext>
            </a:extLst>
          </p:cNvPr>
          <p:cNvSpPr/>
          <p:nvPr/>
        </p:nvSpPr>
        <p:spPr>
          <a:xfrm>
            <a:off x="1893066" y="2692338"/>
            <a:ext cx="2706332" cy="699716"/>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Трудно схватлив</a:t>
            </a:r>
            <a:endParaRPr lang="en-GB" sz="1600"/>
          </a:p>
        </p:txBody>
      </p:sp>
      <p:sp>
        <p:nvSpPr>
          <p:cNvPr id="13" name="Rectangle 9">
            <a:extLst>
              <a:ext uri="{FF2B5EF4-FFF2-40B4-BE49-F238E27FC236}">
                <a16:creationId xmlns:a16="http://schemas.microsoft.com/office/drawing/2014/main" id="{38CA1562-FE80-1477-6E31-6D399F32C167}"/>
              </a:ext>
            </a:extLst>
          </p:cNvPr>
          <p:cNvSpPr/>
          <p:nvPr/>
        </p:nvSpPr>
        <p:spPr>
          <a:xfrm>
            <a:off x="1893066" y="3506716"/>
            <a:ext cx="2706332" cy="692699"/>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Злонамерен</a:t>
            </a:r>
            <a:endParaRPr lang="en-GB" sz="1600"/>
          </a:p>
        </p:txBody>
      </p:sp>
      <p:sp>
        <p:nvSpPr>
          <p:cNvPr id="15" name="Rectangle 11">
            <a:extLst>
              <a:ext uri="{FF2B5EF4-FFF2-40B4-BE49-F238E27FC236}">
                <a16:creationId xmlns:a16="http://schemas.microsoft.com/office/drawing/2014/main" id="{0D08309A-65A1-95CE-CB62-410A275E6B6F}"/>
              </a:ext>
            </a:extLst>
          </p:cNvPr>
          <p:cNvSpPr/>
          <p:nvPr/>
        </p:nvSpPr>
        <p:spPr>
          <a:xfrm>
            <a:off x="1893066" y="4314076"/>
            <a:ext cx="2706332" cy="677242"/>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ВИП</a:t>
            </a:r>
            <a:endParaRPr lang="en-GB" sz="1600"/>
          </a:p>
        </p:txBody>
      </p:sp>
      <p:sp>
        <p:nvSpPr>
          <p:cNvPr id="11" name="Rectangle 9">
            <a:extLst>
              <a:ext uri="{FF2B5EF4-FFF2-40B4-BE49-F238E27FC236}">
                <a16:creationId xmlns:a16="http://schemas.microsoft.com/office/drawing/2014/main" id="{2810FA1C-0DEB-6887-C701-53D388E0AD19}"/>
              </a:ext>
            </a:extLst>
          </p:cNvPr>
          <p:cNvSpPr/>
          <p:nvPr/>
        </p:nvSpPr>
        <p:spPr>
          <a:xfrm>
            <a:off x="5053978" y="1872908"/>
            <a:ext cx="2706332" cy="705772"/>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Подозрителен</a:t>
            </a:r>
            <a:endParaRPr lang="en-GB" sz="1600"/>
          </a:p>
        </p:txBody>
      </p:sp>
      <p:sp>
        <p:nvSpPr>
          <p:cNvPr id="16" name="Rectangle 11">
            <a:extLst>
              <a:ext uri="{FF2B5EF4-FFF2-40B4-BE49-F238E27FC236}">
                <a16:creationId xmlns:a16="http://schemas.microsoft.com/office/drawing/2014/main" id="{ECE0AE59-EECA-FD4F-F099-12DA3EB8C509}"/>
              </a:ext>
            </a:extLst>
          </p:cNvPr>
          <p:cNvSpPr/>
          <p:nvPr/>
        </p:nvSpPr>
        <p:spPr>
          <a:xfrm>
            <a:off x="5053978" y="1041324"/>
            <a:ext cx="2706332" cy="715918"/>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Манипулативен</a:t>
            </a:r>
            <a:endParaRPr lang="en-GB" sz="1600"/>
          </a:p>
        </p:txBody>
      </p:sp>
      <p:sp>
        <p:nvSpPr>
          <p:cNvPr id="17" name="Rectangle 13">
            <a:extLst>
              <a:ext uri="{FF2B5EF4-FFF2-40B4-BE49-F238E27FC236}">
                <a16:creationId xmlns:a16="http://schemas.microsoft.com/office/drawing/2014/main" id="{69E6ADC8-D8D9-2EA0-06E1-6A71794DB590}"/>
              </a:ext>
            </a:extLst>
          </p:cNvPr>
          <p:cNvSpPr/>
          <p:nvPr/>
        </p:nvSpPr>
        <p:spPr>
          <a:xfrm>
            <a:off x="5053978" y="2694346"/>
            <a:ext cx="2706332" cy="695699"/>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Нерешителен</a:t>
            </a:r>
            <a:endParaRPr lang="en-GB" sz="1600"/>
          </a:p>
        </p:txBody>
      </p:sp>
      <p:sp>
        <p:nvSpPr>
          <p:cNvPr id="18" name="Rectangle 9">
            <a:extLst>
              <a:ext uri="{FF2B5EF4-FFF2-40B4-BE49-F238E27FC236}">
                <a16:creationId xmlns:a16="http://schemas.microsoft.com/office/drawing/2014/main" id="{BFB527E6-ED78-34BC-6351-D7AD74CCD226}"/>
              </a:ext>
            </a:extLst>
          </p:cNvPr>
          <p:cNvSpPr/>
          <p:nvPr/>
        </p:nvSpPr>
        <p:spPr>
          <a:xfrm>
            <a:off x="5053978" y="4314076"/>
            <a:ext cx="2706332" cy="677242"/>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Търсещ социален контакт</a:t>
            </a:r>
            <a:endParaRPr lang="en-GB" sz="1600"/>
          </a:p>
        </p:txBody>
      </p:sp>
      <p:sp>
        <p:nvSpPr>
          <p:cNvPr id="19" name="Rectangle 11">
            <a:extLst>
              <a:ext uri="{FF2B5EF4-FFF2-40B4-BE49-F238E27FC236}">
                <a16:creationId xmlns:a16="http://schemas.microsoft.com/office/drawing/2014/main" id="{B78C18BE-3A26-7E4D-AC27-387430ED541D}"/>
              </a:ext>
            </a:extLst>
          </p:cNvPr>
          <p:cNvSpPr/>
          <p:nvPr/>
        </p:nvSpPr>
        <p:spPr>
          <a:xfrm>
            <a:off x="5053978" y="3505711"/>
            <a:ext cx="2706332" cy="692699"/>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Импулсивен </a:t>
            </a:r>
            <a:endParaRPr lang="en-GB" sz="1600"/>
          </a:p>
        </p:txBody>
      </p:sp>
      <p:sp>
        <p:nvSpPr>
          <p:cNvPr id="21" name="Rectangle 28">
            <a:extLst>
              <a:ext uri="{FF2B5EF4-FFF2-40B4-BE49-F238E27FC236}">
                <a16:creationId xmlns:a16="http://schemas.microsoft.com/office/drawing/2014/main" id="{539BA86B-8A9D-4FF9-861D-BB38CA7CB393}"/>
              </a:ext>
            </a:extLst>
          </p:cNvPr>
          <p:cNvSpPr/>
          <p:nvPr/>
        </p:nvSpPr>
        <p:spPr>
          <a:xfrm>
            <a:off x="-15824" y="1599"/>
            <a:ext cx="1465320" cy="6859628"/>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400">
              <a:latin typeface="Aptos"/>
              <a:ea typeface="Calibri"/>
              <a:cs typeface="Calibri"/>
            </a:endParaRPr>
          </a:p>
        </p:txBody>
      </p:sp>
      <p:sp>
        <p:nvSpPr>
          <p:cNvPr id="23" name="Rectangle 29">
            <a:extLst>
              <a:ext uri="{FF2B5EF4-FFF2-40B4-BE49-F238E27FC236}">
                <a16:creationId xmlns:a16="http://schemas.microsoft.com/office/drawing/2014/main" id="{6019BC87-1CC8-4389-B2EF-CF6254CEA9E6}"/>
              </a:ext>
            </a:extLst>
          </p:cNvPr>
          <p:cNvSpPr/>
          <p:nvPr/>
        </p:nvSpPr>
        <p:spPr>
          <a:xfrm>
            <a:off x="-1671" y="2528038"/>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002060"/>
                </a:solidFill>
                <a:latin typeface="Aptos"/>
                <a:ea typeface="Calibri"/>
                <a:cs typeface="Calibri"/>
              </a:rPr>
              <a:t>Типове клиенти</a:t>
            </a:r>
            <a:endParaRPr lang="en-GB" sz="1400">
              <a:solidFill>
                <a:srgbClr val="002060"/>
              </a:solidFill>
              <a:latin typeface="Aptos"/>
              <a:ea typeface="Calibri"/>
              <a:cs typeface="Calibri"/>
            </a:endParaRPr>
          </a:p>
        </p:txBody>
      </p:sp>
      <p:sp>
        <p:nvSpPr>
          <p:cNvPr id="24" name="Rectangle 30">
            <a:extLst>
              <a:ext uri="{FF2B5EF4-FFF2-40B4-BE49-F238E27FC236}">
                <a16:creationId xmlns:a16="http://schemas.microsoft.com/office/drawing/2014/main" id="{DAAED59D-D396-491C-B431-881E9311CD16}"/>
              </a:ext>
            </a:extLst>
          </p:cNvPr>
          <p:cNvSpPr/>
          <p:nvPr/>
        </p:nvSpPr>
        <p:spPr>
          <a:xfrm>
            <a:off x="8626" y="1913210"/>
            <a:ext cx="1442908" cy="4485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chemeClr val="bg1"/>
                </a:solidFill>
                <a:latin typeface="Aptos"/>
                <a:ea typeface="Calibri"/>
                <a:cs typeface="Calibri"/>
              </a:rPr>
              <a:t>Сценарии</a:t>
            </a:r>
            <a:endParaRPr lang="en-GB" sz="1400">
              <a:solidFill>
                <a:schemeClr val="bg1"/>
              </a:solidFill>
              <a:latin typeface="Aptos"/>
              <a:ea typeface="Calibri"/>
              <a:cs typeface="Calibri"/>
            </a:endParaRPr>
          </a:p>
        </p:txBody>
      </p:sp>
      <p:sp>
        <p:nvSpPr>
          <p:cNvPr id="25" name="Rectangle 31">
            <a:extLst>
              <a:ext uri="{FF2B5EF4-FFF2-40B4-BE49-F238E27FC236}">
                <a16:creationId xmlns:a16="http://schemas.microsoft.com/office/drawing/2014/main" id="{EEFC3FFB-C879-4B10-9A61-04BB268C4203}"/>
              </a:ext>
            </a:extLst>
          </p:cNvPr>
          <p:cNvSpPr/>
          <p:nvPr/>
        </p:nvSpPr>
        <p:spPr>
          <a:xfrm>
            <a:off x="-1671" y="1298382"/>
            <a:ext cx="1442908" cy="4485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chemeClr val="bg1"/>
                </a:solidFill>
                <a:latin typeface="Aptos"/>
                <a:ea typeface="Calibri"/>
                <a:cs typeface="Calibri"/>
              </a:rPr>
              <a:t>Стъпки в обаждането</a:t>
            </a:r>
            <a:endParaRPr lang="en-GB" sz="1400">
              <a:solidFill>
                <a:schemeClr val="bg1"/>
              </a:solidFill>
              <a:latin typeface="Aptos"/>
              <a:ea typeface="Calibri"/>
              <a:cs typeface="Calibri"/>
            </a:endParaRPr>
          </a:p>
        </p:txBody>
      </p:sp>
      <p:sp>
        <p:nvSpPr>
          <p:cNvPr id="26" name="Rectangle 3">
            <a:extLst>
              <a:ext uri="{FF2B5EF4-FFF2-40B4-BE49-F238E27FC236}">
                <a16:creationId xmlns:a16="http://schemas.microsoft.com/office/drawing/2014/main" id="{11021AFC-D1D0-4168-AD67-280BE636FB9D}"/>
              </a:ext>
            </a:extLst>
          </p:cNvPr>
          <p:cNvSpPr/>
          <p:nvPr/>
        </p:nvSpPr>
        <p:spPr>
          <a:xfrm>
            <a:off x="1443475" y="4245"/>
            <a:ext cx="5338363" cy="67724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27" name="Rectangle 4">
            <a:extLst>
              <a:ext uri="{FF2B5EF4-FFF2-40B4-BE49-F238E27FC236}">
                <a16:creationId xmlns:a16="http://schemas.microsoft.com/office/drawing/2014/main" id="{D36FD2B6-930C-4D18-8D34-FBB3AE283422}"/>
              </a:ext>
            </a:extLst>
          </p:cNvPr>
          <p:cNvSpPr/>
          <p:nvPr/>
        </p:nvSpPr>
        <p:spPr>
          <a:xfrm>
            <a:off x="6788435" y="4245"/>
            <a:ext cx="5417300" cy="677242"/>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28" name="Rectangle 28">
            <a:extLst>
              <a:ext uri="{FF2B5EF4-FFF2-40B4-BE49-F238E27FC236}">
                <a16:creationId xmlns:a16="http://schemas.microsoft.com/office/drawing/2014/main" id="{BFCA0291-EFA9-4CEA-A654-F76AFAD4EEED}"/>
              </a:ext>
            </a:extLst>
          </p:cNvPr>
          <p:cNvSpPr/>
          <p:nvPr/>
        </p:nvSpPr>
        <p:spPr>
          <a:xfrm>
            <a:off x="-15827" y="690328"/>
            <a:ext cx="1465322"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FFFFFF"/>
                </a:solidFill>
                <a:latin typeface="Aptos"/>
                <a:ea typeface="Calibri"/>
                <a:cs typeface="Calibri"/>
              </a:rPr>
              <a:t>Подготовка</a:t>
            </a:r>
            <a:endParaRPr lang="en-GB" sz="1400">
              <a:solidFill>
                <a:srgbClr val="FFFFFF"/>
              </a:solidFill>
              <a:latin typeface="Aptos"/>
              <a:ea typeface="Calibri"/>
              <a:cs typeface="Calibri"/>
            </a:endParaRPr>
          </a:p>
        </p:txBody>
      </p:sp>
      <p:pic>
        <p:nvPicPr>
          <p:cNvPr id="29" name="Picture 28">
            <a:extLst>
              <a:ext uri="{FF2B5EF4-FFF2-40B4-BE49-F238E27FC236}">
                <a16:creationId xmlns:a16="http://schemas.microsoft.com/office/drawing/2014/main" id="{A4B01A4E-75F9-4689-9D36-EBACFCF8627C}"/>
              </a:ext>
            </a:extLst>
          </p:cNvPr>
          <p:cNvPicPr>
            <a:picLocks noChangeAspect="1"/>
          </p:cNvPicPr>
          <p:nvPr/>
        </p:nvPicPr>
        <p:blipFill>
          <a:blip r:embed="rId2"/>
          <a:stretch>
            <a:fillRect/>
          </a:stretch>
        </p:blipFill>
        <p:spPr>
          <a:xfrm>
            <a:off x="10883590" y="5621341"/>
            <a:ext cx="982751" cy="995681"/>
          </a:xfrm>
          <a:prstGeom prst="rect">
            <a:avLst/>
          </a:prstGeom>
        </p:spPr>
      </p:pic>
    </p:spTree>
    <p:extLst>
      <p:ext uri="{BB962C8B-B14F-4D97-AF65-F5344CB8AC3E}">
        <p14:creationId xmlns:p14="http://schemas.microsoft.com/office/powerpoint/2010/main" val="401887128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0287C1-523B-A3B9-434A-290F129F68A1}"/>
            </a:ext>
          </a:extLst>
        </p:cNvPr>
        <p:cNvGrpSpPr/>
        <p:nvPr/>
      </p:nvGrpSpPr>
      <p:grpSpPr>
        <a:xfrm>
          <a:off x="0" y="0"/>
          <a:ext cx="0" cy="0"/>
          <a:chOff x="0" y="0"/>
          <a:chExt cx="0" cy="0"/>
        </a:xfrm>
      </p:grpSpPr>
      <p:sp>
        <p:nvSpPr>
          <p:cNvPr id="33" name="Rectangle 28">
            <a:extLst>
              <a:ext uri="{FF2B5EF4-FFF2-40B4-BE49-F238E27FC236}">
                <a16:creationId xmlns:a16="http://schemas.microsoft.com/office/drawing/2014/main" id="{08ECC4A9-8DA0-468D-ADCA-CA382E45F018}"/>
              </a:ext>
            </a:extLst>
          </p:cNvPr>
          <p:cNvSpPr/>
          <p:nvPr/>
        </p:nvSpPr>
        <p:spPr>
          <a:xfrm>
            <a:off x="-15824" y="1599"/>
            <a:ext cx="1465320" cy="6859628"/>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400">
              <a:latin typeface="Aptos"/>
              <a:ea typeface="Calibri"/>
              <a:cs typeface="Calibri"/>
            </a:endParaRPr>
          </a:p>
        </p:txBody>
      </p:sp>
      <p:sp>
        <p:nvSpPr>
          <p:cNvPr id="34" name="Rectangle 29">
            <a:extLst>
              <a:ext uri="{FF2B5EF4-FFF2-40B4-BE49-F238E27FC236}">
                <a16:creationId xmlns:a16="http://schemas.microsoft.com/office/drawing/2014/main" id="{33B41028-0E83-4BC8-B39E-CC09F86201F5}"/>
              </a:ext>
            </a:extLst>
          </p:cNvPr>
          <p:cNvSpPr/>
          <p:nvPr/>
        </p:nvSpPr>
        <p:spPr>
          <a:xfrm>
            <a:off x="-1671" y="2528038"/>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002060"/>
                </a:solidFill>
                <a:latin typeface="Aptos"/>
                <a:ea typeface="Calibri"/>
                <a:cs typeface="Calibri"/>
              </a:rPr>
              <a:t>Типове клиенти</a:t>
            </a:r>
            <a:endParaRPr lang="en-GB" sz="1400">
              <a:solidFill>
                <a:srgbClr val="002060"/>
              </a:solidFill>
              <a:latin typeface="Aptos"/>
              <a:ea typeface="Calibri"/>
              <a:cs typeface="Calibri"/>
            </a:endParaRPr>
          </a:p>
        </p:txBody>
      </p:sp>
      <p:sp>
        <p:nvSpPr>
          <p:cNvPr id="35" name="Rectangle 30">
            <a:extLst>
              <a:ext uri="{FF2B5EF4-FFF2-40B4-BE49-F238E27FC236}">
                <a16:creationId xmlns:a16="http://schemas.microsoft.com/office/drawing/2014/main" id="{8048FEA3-BEBF-4292-8F68-C029B13FC9BD}"/>
              </a:ext>
            </a:extLst>
          </p:cNvPr>
          <p:cNvSpPr/>
          <p:nvPr/>
        </p:nvSpPr>
        <p:spPr>
          <a:xfrm>
            <a:off x="8626" y="1913210"/>
            <a:ext cx="1442908" cy="4485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chemeClr val="bg1"/>
                </a:solidFill>
                <a:latin typeface="Aptos"/>
                <a:ea typeface="Calibri"/>
                <a:cs typeface="Calibri"/>
              </a:rPr>
              <a:t>Сценарии</a:t>
            </a:r>
            <a:endParaRPr lang="en-GB" sz="1400">
              <a:solidFill>
                <a:schemeClr val="bg1"/>
              </a:solidFill>
              <a:latin typeface="Aptos"/>
              <a:ea typeface="Calibri"/>
              <a:cs typeface="Calibri"/>
            </a:endParaRPr>
          </a:p>
        </p:txBody>
      </p:sp>
      <p:sp>
        <p:nvSpPr>
          <p:cNvPr id="36" name="Rectangle 31">
            <a:extLst>
              <a:ext uri="{FF2B5EF4-FFF2-40B4-BE49-F238E27FC236}">
                <a16:creationId xmlns:a16="http://schemas.microsoft.com/office/drawing/2014/main" id="{0770F462-5C92-4E0B-B416-A7E09DB8069A}"/>
              </a:ext>
            </a:extLst>
          </p:cNvPr>
          <p:cNvSpPr/>
          <p:nvPr/>
        </p:nvSpPr>
        <p:spPr>
          <a:xfrm>
            <a:off x="-1671" y="1298382"/>
            <a:ext cx="1442908" cy="4485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chemeClr val="bg1"/>
                </a:solidFill>
                <a:latin typeface="Aptos"/>
                <a:ea typeface="Calibri"/>
                <a:cs typeface="Calibri"/>
              </a:rPr>
              <a:t>Стъпки в обаждането</a:t>
            </a:r>
            <a:endParaRPr lang="en-GB" sz="1400">
              <a:solidFill>
                <a:schemeClr val="bg1"/>
              </a:solidFill>
              <a:latin typeface="Aptos"/>
              <a:ea typeface="Calibri"/>
              <a:cs typeface="Calibri"/>
            </a:endParaRPr>
          </a:p>
        </p:txBody>
      </p:sp>
      <p:sp>
        <p:nvSpPr>
          <p:cNvPr id="37" name="Rectangle 3">
            <a:extLst>
              <a:ext uri="{FF2B5EF4-FFF2-40B4-BE49-F238E27FC236}">
                <a16:creationId xmlns:a16="http://schemas.microsoft.com/office/drawing/2014/main" id="{2FF1F8F3-F4E2-4AC6-8285-8974A672262D}"/>
              </a:ext>
            </a:extLst>
          </p:cNvPr>
          <p:cNvSpPr/>
          <p:nvPr/>
        </p:nvSpPr>
        <p:spPr>
          <a:xfrm>
            <a:off x="1443475" y="4245"/>
            <a:ext cx="5338363" cy="67724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38" name="Rectangle 4">
            <a:extLst>
              <a:ext uri="{FF2B5EF4-FFF2-40B4-BE49-F238E27FC236}">
                <a16:creationId xmlns:a16="http://schemas.microsoft.com/office/drawing/2014/main" id="{B00E696F-750D-440F-BBEF-BE074A300683}"/>
              </a:ext>
            </a:extLst>
          </p:cNvPr>
          <p:cNvSpPr/>
          <p:nvPr/>
        </p:nvSpPr>
        <p:spPr>
          <a:xfrm>
            <a:off x="6788435" y="4245"/>
            <a:ext cx="5417300" cy="677242"/>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39" name="Rectangle 28">
            <a:extLst>
              <a:ext uri="{FF2B5EF4-FFF2-40B4-BE49-F238E27FC236}">
                <a16:creationId xmlns:a16="http://schemas.microsoft.com/office/drawing/2014/main" id="{7167A0BC-DE3A-4A78-A5D6-E86AAD065582}"/>
              </a:ext>
            </a:extLst>
          </p:cNvPr>
          <p:cNvSpPr/>
          <p:nvPr/>
        </p:nvSpPr>
        <p:spPr>
          <a:xfrm>
            <a:off x="-15827" y="690328"/>
            <a:ext cx="1465322"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FFFFFF"/>
                </a:solidFill>
                <a:latin typeface="Aptos"/>
                <a:ea typeface="Calibri"/>
                <a:cs typeface="Calibri"/>
              </a:rPr>
              <a:t>Подготовка</a:t>
            </a:r>
            <a:endParaRPr lang="en-GB" sz="1400">
              <a:solidFill>
                <a:srgbClr val="FFFFFF"/>
              </a:solidFill>
              <a:latin typeface="Aptos"/>
              <a:ea typeface="Calibri"/>
              <a:cs typeface="Calibri"/>
            </a:endParaRPr>
          </a:p>
        </p:txBody>
      </p:sp>
      <p:sp>
        <p:nvSpPr>
          <p:cNvPr id="40" name="Rectangle: Rounded Corners 39">
            <a:extLst>
              <a:ext uri="{FF2B5EF4-FFF2-40B4-BE49-F238E27FC236}">
                <a16:creationId xmlns:a16="http://schemas.microsoft.com/office/drawing/2014/main" id="{BC435E6C-7DDD-4162-817B-A0268A60C7F0}"/>
              </a:ext>
            </a:extLst>
          </p:cNvPr>
          <p:cNvSpPr/>
          <p:nvPr/>
        </p:nvSpPr>
        <p:spPr>
          <a:xfrm>
            <a:off x="1893066" y="1041323"/>
            <a:ext cx="2706332" cy="715919"/>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dirty="0"/>
              <a:t>Агресивен</a:t>
            </a:r>
            <a:endParaRPr lang="en-GB" sz="1600" dirty="0"/>
          </a:p>
        </p:txBody>
      </p:sp>
      <p:sp>
        <p:nvSpPr>
          <p:cNvPr id="41" name="Rectangle: Rounded Corners 40">
            <a:extLst>
              <a:ext uri="{FF2B5EF4-FFF2-40B4-BE49-F238E27FC236}">
                <a16:creationId xmlns:a16="http://schemas.microsoft.com/office/drawing/2014/main" id="{37A55955-7DCA-43DE-8411-26A55C00A42F}"/>
              </a:ext>
            </a:extLst>
          </p:cNvPr>
          <p:cNvSpPr/>
          <p:nvPr/>
        </p:nvSpPr>
        <p:spPr>
          <a:xfrm>
            <a:off x="1893066" y="1871904"/>
            <a:ext cx="2706332" cy="705772"/>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Аналитичен</a:t>
            </a:r>
            <a:endParaRPr lang="en-GB" sz="1600"/>
          </a:p>
        </p:txBody>
      </p:sp>
      <p:sp>
        <p:nvSpPr>
          <p:cNvPr id="42" name="Rectangle: Rounded Corners 41">
            <a:extLst>
              <a:ext uri="{FF2B5EF4-FFF2-40B4-BE49-F238E27FC236}">
                <a16:creationId xmlns:a16="http://schemas.microsoft.com/office/drawing/2014/main" id="{99E90F0E-B615-4733-96EF-E03372929250}"/>
              </a:ext>
            </a:extLst>
          </p:cNvPr>
          <p:cNvSpPr/>
          <p:nvPr/>
        </p:nvSpPr>
        <p:spPr>
          <a:xfrm>
            <a:off x="1893066" y="2692338"/>
            <a:ext cx="2706332" cy="699716"/>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Трудно схватлив</a:t>
            </a:r>
            <a:endParaRPr lang="en-GB" sz="1600"/>
          </a:p>
        </p:txBody>
      </p:sp>
      <p:sp>
        <p:nvSpPr>
          <p:cNvPr id="43" name="Rectangle 9">
            <a:extLst>
              <a:ext uri="{FF2B5EF4-FFF2-40B4-BE49-F238E27FC236}">
                <a16:creationId xmlns:a16="http://schemas.microsoft.com/office/drawing/2014/main" id="{8407F19A-C89C-4D08-93B2-226EF133CF30}"/>
              </a:ext>
            </a:extLst>
          </p:cNvPr>
          <p:cNvSpPr/>
          <p:nvPr/>
        </p:nvSpPr>
        <p:spPr>
          <a:xfrm>
            <a:off x="1893066" y="3506716"/>
            <a:ext cx="2706332" cy="692699"/>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Злонамерен</a:t>
            </a:r>
            <a:endParaRPr lang="en-GB" sz="1600"/>
          </a:p>
        </p:txBody>
      </p:sp>
      <p:sp>
        <p:nvSpPr>
          <p:cNvPr id="44" name="Rectangle 11">
            <a:extLst>
              <a:ext uri="{FF2B5EF4-FFF2-40B4-BE49-F238E27FC236}">
                <a16:creationId xmlns:a16="http://schemas.microsoft.com/office/drawing/2014/main" id="{EE482162-6E34-4AAE-AA31-35AD180B5799}"/>
              </a:ext>
            </a:extLst>
          </p:cNvPr>
          <p:cNvSpPr/>
          <p:nvPr/>
        </p:nvSpPr>
        <p:spPr>
          <a:xfrm>
            <a:off x="1893066" y="4314076"/>
            <a:ext cx="2706332" cy="677242"/>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ВИП</a:t>
            </a:r>
            <a:endParaRPr lang="en-GB" sz="1600"/>
          </a:p>
        </p:txBody>
      </p:sp>
      <p:sp>
        <p:nvSpPr>
          <p:cNvPr id="45" name="Rectangle 9">
            <a:extLst>
              <a:ext uri="{FF2B5EF4-FFF2-40B4-BE49-F238E27FC236}">
                <a16:creationId xmlns:a16="http://schemas.microsoft.com/office/drawing/2014/main" id="{26D26A0B-CE6F-4E0D-8FBD-208BDD62AC31}"/>
              </a:ext>
            </a:extLst>
          </p:cNvPr>
          <p:cNvSpPr/>
          <p:nvPr/>
        </p:nvSpPr>
        <p:spPr>
          <a:xfrm>
            <a:off x="5053978" y="1872908"/>
            <a:ext cx="2706332" cy="705772"/>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Подозрителен</a:t>
            </a:r>
            <a:endParaRPr lang="en-GB" sz="1600"/>
          </a:p>
        </p:txBody>
      </p:sp>
      <p:sp>
        <p:nvSpPr>
          <p:cNvPr id="46" name="Rectangle 11">
            <a:extLst>
              <a:ext uri="{FF2B5EF4-FFF2-40B4-BE49-F238E27FC236}">
                <a16:creationId xmlns:a16="http://schemas.microsoft.com/office/drawing/2014/main" id="{ECA6E0D2-6B76-4519-9383-87BE9748AD2B}"/>
              </a:ext>
            </a:extLst>
          </p:cNvPr>
          <p:cNvSpPr/>
          <p:nvPr/>
        </p:nvSpPr>
        <p:spPr>
          <a:xfrm>
            <a:off x="5053978" y="1041324"/>
            <a:ext cx="2706332" cy="715918"/>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Манипулативен</a:t>
            </a:r>
            <a:endParaRPr lang="en-GB" sz="1600"/>
          </a:p>
        </p:txBody>
      </p:sp>
      <p:sp>
        <p:nvSpPr>
          <p:cNvPr id="47" name="Rectangle 13">
            <a:extLst>
              <a:ext uri="{FF2B5EF4-FFF2-40B4-BE49-F238E27FC236}">
                <a16:creationId xmlns:a16="http://schemas.microsoft.com/office/drawing/2014/main" id="{39821504-48B4-493A-BFF1-B48C4F6FCF71}"/>
              </a:ext>
            </a:extLst>
          </p:cNvPr>
          <p:cNvSpPr/>
          <p:nvPr/>
        </p:nvSpPr>
        <p:spPr>
          <a:xfrm>
            <a:off x="5053978" y="2694346"/>
            <a:ext cx="2706332" cy="695699"/>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Нерешителен</a:t>
            </a:r>
            <a:endParaRPr lang="en-GB" sz="1600"/>
          </a:p>
        </p:txBody>
      </p:sp>
      <p:sp>
        <p:nvSpPr>
          <p:cNvPr id="48" name="Rectangle 9">
            <a:extLst>
              <a:ext uri="{FF2B5EF4-FFF2-40B4-BE49-F238E27FC236}">
                <a16:creationId xmlns:a16="http://schemas.microsoft.com/office/drawing/2014/main" id="{74D10985-B725-4C7E-A6E0-74D689F0A439}"/>
              </a:ext>
            </a:extLst>
          </p:cNvPr>
          <p:cNvSpPr/>
          <p:nvPr/>
        </p:nvSpPr>
        <p:spPr>
          <a:xfrm>
            <a:off x="5053978" y="4314076"/>
            <a:ext cx="2706332" cy="677242"/>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Търсещ социален контакт</a:t>
            </a:r>
            <a:endParaRPr lang="en-GB" sz="1600"/>
          </a:p>
        </p:txBody>
      </p:sp>
      <p:sp>
        <p:nvSpPr>
          <p:cNvPr id="49" name="Rectangle 11">
            <a:extLst>
              <a:ext uri="{FF2B5EF4-FFF2-40B4-BE49-F238E27FC236}">
                <a16:creationId xmlns:a16="http://schemas.microsoft.com/office/drawing/2014/main" id="{9AD568F9-7E72-440E-A744-7CAF15155208}"/>
              </a:ext>
            </a:extLst>
          </p:cNvPr>
          <p:cNvSpPr/>
          <p:nvPr/>
        </p:nvSpPr>
        <p:spPr>
          <a:xfrm>
            <a:off x="5053978" y="3505711"/>
            <a:ext cx="2706332" cy="692699"/>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Импулсивен </a:t>
            </a:r>
            <a:endParaRPr lang="en-GB" sz="1600"/>
          </a:p>
        </p:txBody>
      </p:sp>
      <p:pic>
        <p:nvPicPr>
          <p:cNvPr id="50" name="Picture 49">
            <a:extLst>
              <a:ext uri="{FF2B5EF4-FFF2-40B4-BE49-F238E27FC236}">
                <a16:creationId xmlns:a16="http://schemas.microsoft.com/office/drawing/2014/main" id="{4A92204C-9332-4158-9B24-18F45084EDC7}"/>
              </a:ext>
            </a:extLst>
          </p:cNvPr>
          <p:cNvPicPr>
            <a:picLocks noChangeAspect="1"/>
          </p:cNvPicPr>
          <p:nvPr/>
        </p:nvPicPr>
        <p:blipFill>
          <a:blip r:embed="rId3"/>
          <a:stretch>
            <a:fillRect/>
          </a:stretch>
        </p:blipFill>
        <p:spPr>
          <a:xfrm>
            <a:off x="10883590" y="5621341"/>
            <a:ext cx="982751" cy="995681"/>
          </a:xfrm>
          <a:prstGeom prst="rect">
            <a:avLst/>
          </a:prstGeom>
        </p:spPr>
      </p:pic>
      <p:sp>
        <p:nvSpPr>
          <p:cNvPr id="2" name="Балонче за говор: правоъгълник със заоблени ъгли 19">
            <a:extLst>
              <a:ext uri="{FF2B5EF4-FFF2-40B4-BE49-F238E27FC236}">
                <a16:creationId xmlns:a16="http://schemas.microsoft.com/office/drawing/2014/main" id="{8A03BF70-F3DB-4758-4646-3650A50D633A}"/>
              </a:ext>
            </a:extLst>
          </p:cNvPr>
          <p:cNvSpPr/>
          <p:nvPr/>
        </p:nvSpPr>
        <p:spPr>
          <a:xfrm>
            <a:off x="8197296" y="1348166"/>
            <a:ext cx="3669045" cy="3606495"/>
          </a:xfrm>
          <a:prstGeom prst="roundRect">
            <a:avLst>
              <a:gd name="adj" fmla="val 8916"/>
            </a:avLst>
          </a:prstGeom>
          <a:solidFill>
            <a:srgbClr val="4472C4"/>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ru-RU" sz="1400" b="1" dirty="0" err="1"/>
              <a:t>Агресивен</a:t>
            </a:r>
            <a:br>
              <a:rPr lang="ru-RU" sz="1400" dirty="0"/>
            </a:br>
            <a:r>
              <a:rPr lang="ru-RU" sz="1400" b="1" dirty="0">
                <a:ea typeface="+mn-lt"/>
                <a:cs typeface="+mn-lt"/>
              </a:rPr>
              <a:t>Характеристики:</a:t>
            </a:r>
            <a:endParaRPr lang="bg-BG" sz="1400" b="1" dirty="0">
              <a:ea typeface="+mn-lt"/>
              <a:cs typeface="+mn-lt"/>
            </a:endParaRPr>
          </a:p>
          <a:p>
            <a:pPr marL="285750" indent="-285750">
              <a:buFont typeface="Arial"/>
              <a:buChar char="•"/>
            </a:pPr>
            <a:r>
              <a:rPr lang="ru-RU" sz="1400" dirty="0" err="1">
                <a:ea typeface="+mn-lt"/>
                <a:cs typeface="+mn-lt"/>
              </a:rPr>
              <a:t>Ядосани</a:t>
            </a:r>
            <a:r>
              <a:rPr lang="ru-RU" sz="1400" dirty="0">
                <a:ea typeface="+mn-lt"/>
                <a:cs typeface="+mn-lt"/>
              </a:rPr>
              <a:t>, </a:t>
            </a:r>
            <a:r>
              <a:rPr lang="ru-RU" sz="1400" dirty="0" err="1">
                <a:ea typeface="+mn-lt"/>
                <a:cs typeface="+mn-lt"/>
              </a:rPr>
              <a:t>емоционални</a:t>
            </a:r>
            <a:r>
              <a:rPr lang="ru-RU" sz="1400" dirty="0">
                <a:ea typeface="+mn-lt"/>
                <a:cs typeface="+mn-lt"/>
              </a:rPr>
              <a:t> </a:t>
            </a:r>
            <a:endParaRPr lang="ru-RU" dirty="0"/>
          </a:p>
          <a:p>
            <a:pPr marL="285750" indent="-285750">
              <a:buFont typeface="Arial"/>
              <a:buChar char="•"/>
            </a:pPr>
            <a:r>
              <a:rPr lang="ru-RU" sz="1400" dirty="0" err="1">
                <a:ea typeface="+mn-lt"/>
                <a:cs typeface="+mn-lt"/>
              </a:rPr>
              <a:t>Действат</a:t>
            </a:r>
            <a:r>
              <a:rPr lang="ru-RU" sz="1400" dirty="0">
                <a:ea typeface="+mn-lt"/>
                <a:cs typeface="+mn-lt"/>
              </a:rPr>
              <a:t> без да </a:t>
            </a:r>
            <a:r>
              <a:rPr lang="ru-RU" sz="1400" dirty="0" err="1">
                <a:ea typeface="+mn-lt"/>
                <a:cs typeface="+mn-lt"/>
              </a:rPr>
              <a:t>мислят</a:t>
            </a:r>
            <a:r>
              <a:rPr lang="ru-RU" sz="1400" dirty="0">
                <a:ea typeface="+mn-lt"/>
                <a:cs typeface="+mn-lt"/>
              </a:rPr>
              <a:t> </a:t>
            </a:r>
            <a:endParaRPr lang="ru-RU" dirty="0"/>
          </a:p>
          <a:p>
            <a:pPr marL="285750" indent="-285750">
              <a:buFont typeface="Arial"/>
              <a:buChar char="•"/>
            </a:pPr>
            <a:r>
              <a:rPr lang="ru-RU" sz="1400" dirty="0" err="1">
                <a:ea typeface="+mn-lt"/>
                <a:cs typeface="+mn-lt"/>
              </a:rPr>
              <a:t>Повишават</a:t>
            </a:r>
            <a:r>
              <a:rPr lang="ru-RU" sz="1400" dirty="0">
                <a:ea typeface="+mn-lt"/>
                <a:cs typeface="+mn-lt"/>
              </a:rPr>
              <a:t> тон, </a:t>
            </a:r>
            <a:r>
              <a:rPr lang="ru-RU" sz="1400" dirty="0" err="1">
                <a:ea typeface="+mn-lt"/>
                <a:cs typeface="+mn-lt"/>
              </a:rPr>
              <a:t>нападателни</a:t>
            </a:r>
            <a:r>
              <a:rPr lang="ru-RU" sz="1400" dirty="0">
                <a:ea typeface="+mn-lt"/>
                <a:cs typeface="+mn-lt"/>
              </a:rPr>
              <a:t> </a:t>
            </a:r>
            <a:endParaRPr lang="ru-RU" dirty="0"/>
          </a:p>
          <a:p>
            <a:pPr marL="285750" indent="-285750">
              <a:buFont typeface="Arial"/>
              <a:buChar char="•"/>
            </a:pPr>
            <a:r>
              <a:rPr lang="ru-RU" sz="1400" dirty="0" err="1">
                <a:ea typeface="+mn-lt"/>
                <a:cs typeface="+mn-lt"/>
              </a:rPr>
              <a:t>Обидни</a:t>
            </a:r>
            <a:r>
              <a:rPr lang="ru-RU" sz="1400" dirty="0">
                <a:ea typeface="+mn-lt"/>
                <a:cs typeface="+mn-lt"/>
              </a:rPr>
              <a:t> и </a:t>
            </a:r>
            <a:r>
              <a:rPr lang="ru-RU" sz="1400" dirty="0" err="1">
                <a:ea typeface="+mn-lt"/>
                <a:cs typeface="+mn-lt"/>
              </a:rPr>
              <a:t>настъпателни</a:t>
            </a:r>
            <a:r>
              <a:rPr lang="ru-RU" sz="1400" dirty="0">
                <a:ea typeface="+mn-lt"/>
                <a:cs typeface="+mn-lt"/>
              </a:rPr>
              <a:t> </a:t>
            </a:r>
            <a:endParaRPr lang="ru-RU" dirty="0"/>
          </a:p>
          <a:p>
            <a:pPr marL="285750" indent="-285750">
              <a:buFont typeface="Arial"/>
              <a:buChar char="•"/>
            </a:pPr>
            <a:r>
              <a:rPr lang="ru-RU" sz="1400" dirty="0" err="1">
                <a:ea typeface="+mn-lt"/>
                <a:cs typeface="+mn-lt"/>
              </a:rPr>
              <a:t>Отстояват</a:t>
            </a:r>
            <a:r>
              <a:rPr lang="ru-RU" sz="1400" dirty="0">
                <a:ea typeface="+mn-lt"/>
                <a:cs typeface="+mn-lt"/>
              </a:rPr>
              <a:t> </a:t>
            </a:r>
            <a:r>
              <a:rPr lang="ru-RU" sz="1400" dirty="0" err="1">
                <a:ea typeface="+mn-lt"/>
                <a:cs typeface="+mn-lt"/>
              </a:rPr>
              <a:t>твърдо</a:t>
            </a:r>
            <a:r>
              <a:rPr lang="ru-RU" sz="1400" dirty="0">
                <a:ea typeface="+mn-lt"/>
                <a:cs typeface="+mn-lt"/>
              </a:rPr>
              <a:t> </a:t>
            </a:r>
            <a:r>
              <a:rPr lang="ru-RU" sz="1400" dirty="0" err="1">
                <a:ea typeface="+mn-lt"/>
                <a:cs typeface="+mn-lt"/>
              </a:rPr>
              <a:t>позицията</a:t>
            </a:r>
            <a:r>
              <a:rPr lang="ru-RU" sz="1400" dirty="0">
                <a:ea typeface="+mn-lt"/>
                <a:cs typeface="+mn-lt"/>
              </a:rPr>
              <a:t> си </a:t>
            </a:r>
            <a:endParaRPr lang="ru-RU" dirty="0"/>
          </a:p>
          <a:p>
            <a:r>
              <a:rPr lang="ru-RU" sz="1400" b="1" dirty="0" err="1">
                <a:ea typeface="+mn-lt"/>
                <a:cs typeface="+mn-lt"/>
              </a:rPr>
              <a:t>Предпочитана</a:t>
            </a:r>
            <a:r>
              <a:rPr lang="ru-RU" sz="1400" b="1" dirty="0">
                <a:ea typeface="+mn-lt"/>
                <a:cs typeface="+mn-lt"/>
              </a:rPr>
              <a:t> </a:t>
            </a:r>
            <a:r>
              <a:rPr lang="ru-RU" sz="1400" b="1" dirty="0" err="1">
                <a:ea typeface="+mn-lt"/>
                <a:cs typeface="+mn-lt"/>
              </a:rPr>
              <a:t>комуникация</a:t>
            </a:r>
            <a:r>
              <a:rPr lang="ru-RU" sz="1400" b="1" dirty="0">
                <a:ea typeface="+mn-lt"/>
                <a:cs typeface="+mn-lt"/>
              </a:rPr>
              <a:t>:</a:t>
            </a:r>
            <a:endParaRPr lang="ru-RU" b="1" dirty="0">
              <a:ea typeface="+mn-lt"/>
              <a:cs typeface="+mn-lt"/>
            </a:endParaRPr>
          </a:p>
          <a:p>
            <a:pPr marL="285750" indent="-285750">
              <a:buFont typeface="Arial"/>
              <a:buChar char="•"/>
            </a:pPr>
            <a:r>
              <a:rPr lang="ru-RU" sz="1400" dirty="0" err="1">
                <a:ea typeface="+mn-lt"/>
                <a:cs typeface="+mn-lt"/>
              </a:rPr>
              <a:t>Остави</a:t>
            </a:r>
            <a:r>
              <a:rPr lang="ru-RU" sz="1400" dirty="0">
                <a:ea typeface="+mn-lt"/>
                <a:cs typeface="+mn-lt"/>
              </a:rPr>
              <a:t> клиента да „</a:t>
            </a:r>
            <a:r>
              <a:rPr lang="ru-RU" sz="1400" dirty="0" err="1">
                <a:ea typeface="+mn-lt"/>
                <a:cs typeface="+mn-lt"/>
              </a:rPr>
              <a:t>изпусне</a:t>
            </a:r>
            <a:r>
              <a:rPr lang="ru-RU" sz="1400" dirty="0">
                <a:ea typeface="+mn-lt"/>
                <a:cs typeface="+mn-lt"/>
              </a:rPr>
              <a:t> </a:t>
            </a:r>
            <a:r>
              <a:rPr lang="ru-RU" sz="1400" dirty="0" err="1">
                <a:ea typeface="+mn-lt"/>
                <a:cs typeface="+mn-lt"/>
              </a:rPr>
              <a:t>парата</a:t>
            </a:r>
            <a:r>
              <a:rPr lang="ru-RU" sz="1400" dirty="0">
                <a:ea typeface="+mn-lt"/>
                <a:cs typeface="+mn-lt"/>
              </a:rPr>
              <a:t>“ </a:t>
            </a:r>
            <a:endParaRPr lang="ru-RU" dirty="0"/>
          </a:p>
          <a:p>
            <a:pPr marL="285750" indent="-285750">
              <a:buFont typeface="Arial"/>
              <a:buChar char="•"/>
            </a:pPr>
            <a:r>
              <a:rPr lang="ru-RU" sz="1400" dirty="0">
                <a:ea typeface="+mn-lt"/>
                <a:cs typeface="+mn-lt"/>
              </a:rPr>
              <a:t>Не се поддавай на </a:t>
            </a:r>
            <a:r>
              <a:rPr lang="ru-RU" sz="1400" dirty="0" err="1">
                <a:ea typeface="+mn-lt"/>
                <a:cs typeface="+mn-lt"/>
              </a:rPr>
              <a:t>емоцията</a:t>
            </a:r>
            <a:r>
              <a:rPr lang="ru-RU" sz="1400" dirty="0">
                <a:ea typeface="+mn-lt"/>
                <a:cs typeface="+mn-lt"/>
              </a:rPr>
              <a:t> </a:t>
            </a:r>
            <a:endParaRPr lang="ru-RU" dirty="0"/>
          </a:p>
          <a:p>
            <a:pPr marL="285750" indent="-285750">
              <a:buFont typeface="Arial"/>
              <a:buChar char="•"/>
            </a:pPr>
            <a:r>
              <a:rPr lang="ru-RU" sz="1400" dirty="0">
                <a:ea typeface="+mn-lt"/>
                <a:cs typeface="+mn-lt"/>
              </a:rPr>
              <a:t>Разделяй </a:t>
            </a:r>
            <a:r>
              <a:rPr lang="ru-RU" sz="1400" dirty="0" err="1">
                <a:ea typeface="+mn-lt"/>
                <a:cs typeface="+mn-lt"/>
              </a:rPr>
              <a:t>човека</a:t>
            </a:r>
            <a:r>
              <a:rPr lang="ru-RU" sz="1400" dirty="0">
                <a:ea typeface="+mn-lt"/>
                <a:cs typeface="+mn-lt"/>
              </a:rPr>
              <a:t> от проблема </a:t>
            </a:r>
            <a:endParaRPr lang="ru-RU" dirty="0"/>
          </a:p>
          <a:p>
            <a:pPr marL="285750" indent="-285750">
              <a:buFont typeface="Arial"/>
              <a:buChar char="•"/>
            </a:pPr>
            <a:r>
              <a:rPr lang="ru-RU" sz="1400" dirty="0">
                <a:ea typeface="+mn-lt"/>
                <a:cs typeface="+mn-lt"/>
              </a:rPr>
              <a:t>Не </a:t>
            </a:r>
            <a:r>
              <a:rPr lang="ru-RU" sz="1400" dirty="0" err="1">
                <a:ea typeface="+mn-lt"/>
                <a:cs typeface="+mn-lt"/>
              </a:rPr>
              <a:t>влизай</a:t>
            </a:r>
            <a:r>
              <a:rPr lang="ru-RU" sz="1400" dirty="0">
                <a:ea typeface="+mn-lt"/>
                <a:cs typeface="+mn-lt"/>
              </a:rPr>
              <a:t> в спор </a:t>
            </a:r>
            <a:endParaRPr lang="ru-RU" dirty="0"/>
          </a:p>
          <a:p>
            <a:pPr marL="285750" indent="-285750">
              <a:buFont typeface="Arial"/>
              <a:buChar char="•"/>
            </a:pPr>
            <a:r>
              <a:rPr lang="ru-RU" sz="1400" dirty="0">
                <a:ea typeface="+mn-lt"/>
                <a:cs typeface="+mn-lt"/>
              </a:rPr>
              <a:t>Покажи </a:t>
            </a:r>
            <a:r>
              <a:rPr lang="ru-RU" sz="1400" dirty="0" err="1">
                <a:ea typeface="+mn-lt"/>
                <a:cs typeface="+mn-lt"/>
              </a:rPr>
              <a:t>разбиране</a:t>
            </a:r>
            <a:r>
              <a:rPr lang="ru-RU" sz="1400" dirty="0">
                <a:ea typeface="+mn-lt"/>
                <a:cs typeface="+mn-lt"/>
              </a:rPr>
              <a:t>, но </a:t>
            </a:r>
            <a:r>
              <a:rPr lang="ru-RU" sz="1400" dirty="0" err="1">
                <a:ea typeface="+mn-lt"/>
                <a:cs typeface="+mn-lt"/>
              </a:rPr>
              <a:t>запази</a:t>
            </a:r>
            <a:r>
              <a:rPr lang="ru-RU" sz="1400" dirty="0">
                <a:ea typeface="+mn-lt"/>
                <a:cs typeface="+mn-lt"/>
              </a:rPr>
              <a:t> позиция </a:t>
            </a:r>
            <a:endParaRPr lang="ru-RU" dirty="0"/>
          </a:p>
          <a:p>
            <a:pPr marL="285750" indent="-285750">
              <a:buFont typeface="Arial"/>
              <a:buChar char="•"/>
            </a:pPr>
            <a:r>
              <a:rPr lang="ru-RU" sz="1400" dirty="0">
                <a:ea typeface="+mn-lt"/>
                <a:cs typeface="+mn-lt"/>
              </a:rPr>
              <a:t>При грешка → </a:t>
            </a:r>
            <a:r>
              <a:rPr lang="ru-RU" sz="1400" dirty="0" err="1">
                <a:ea typeface="+mn-lt"/>
                <a:cs typeface="+mn-lt"/>
              </a:rPr>
              <a:t>искрено</a:t>
            </a:r>
            <a:r>
              <a:rPr lang="ru-RU" sz="1400" dirty="0">
                <a:ea typeface="+mn-lt"/>
                <a:cs typeface="+mn-lt"/>
              </a:rPr>
              <a:t> извинение</a:t>
            </a:r>
            <a:endParaRPr lang="ru-RU" dirty="0"/>
          </a:p>
          <a:p>
            <a:endParaRPr lang="ru-RU" sz="1400" dirty="0"/>
          </a:p>
        </p:txBody>
      </p:sp>
    </p:spTree>
    <p:extLst>
      <p:ext uri="{BB962C8B-B14F-4D97-AF65-F5344CB8AC3E}">
        <p14:creationId xmlns:p14="http://schemas.microsoft.com/office/powerpoint/2010/main" val="169994344"/>
      </p:ext>
    </p:extLst>
  </p:cSld>
  <p:clrMapOvr>
    <a:masterClrMapping/>
  </p:clrMapOvr>
  <p:extLst>
    <p:ext uri="{6950BFC3-D8DA-4A85-94F7-54DA5524770B}">
      <p188:commentRel xmlns:p188="http://schemas.microsoft.com/office/powerpoint/2018/8/main" r:id="rId2"/>
    </p:ext>
  </p:extLs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3EBB15-2423-C211-3354-95BD1FCDE3EF}"/>
            </a:ext>
          </a:extLst>
        </p:cNvPr>
        <p:cNvGrpSpPr/>
        <p:nvPr/>
      </p:nvGrpSpPr>
      <p:grpSpPr>
        <a:xfrm>
          <a:off x="0" y="0"/>
          <a:ext cx="0" cy="0"/>
          <a:chOff x="0" y="0"/>
          <a:chExt cx="0" cy="0"/>
        </a:xfrm>
      </p:grpSpPr>
      <p:sp>
        <p:nvSpPr>
          <p:cNvPr id="21" name="Rectangle: Rounded Corners 20">
            <a:extLst>
              <a:ext uri="{FF2B5EF4-FFF2-40B4-BE49-F238E27FC236}">
                <a16:creationId xmlns:a16="http://schemas.microsoft.com/office/drawing/2014/main" id="{070BF3FB-9B09-4F4B-919B-EFF40158745B}"/>
              </a:ext>
            </a:extLst>
          </p:cNvPr>
          <p:cNvSpPr/>
          <p:nvPr/>
        </p:nvSpPr>
        <p:spPr>
          <a:xfrm>
            <a:off x="1893066" y="1041323"/>
            <a:ext cx="2706332" cy="715919"/>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dirty="0"/>
              <a:t>Агресивен</a:t>
            </a:r>
            <a:endParaRPr lang="en-GB" sz="1600" dirty="0"/>
          </a:p>
        </p:txBody>
      </p:sp>
      <p:sp>
        <p:nvSpPr>
          <p:cNvPr id="22" name="Rectangle: Rounded Corners 21">
            <a:extLst>
              <a:ext uri="{FF2B5EF4-FFF2-40B4-BE49-F238E27FC236}">
                <a16:creationId xmlns:a16="http://schemas.microsoft.com/office/drawing/2014/main" id="{1F7C0750-64F9-486A-A372-68C400335B69}"/>
              </a:ext>
            </a:extLst>
          </p:cNvPr>
          <p:cNvSpPr/>
          <p:nvPr/>
        </p:nvSpPr>
        <p:spPr>
          <a:xfrm>
            <a:off x="1893066" y="1891782"/>
            <a:ext cx="2706332" cy="705772"/>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dirty="0"/>
              <a:t>Аналитичен</a:t>
            </a:r>
            <a:endParaRPr lang="en-GB" sz="1600" dirty="0"/>
          </a:p>
        </p:txBody>
      </p:sp>
      <p:sp>
        <p:nvSpPr>
          <p:cNvPr id="23" name="Rectangle: Rounded Corners 22">
            <a:extLst>
              <a:ext uri="{FF2B5EF4-FFF2-40B4-BE49-F238E27FC236}">
                <a16:creationId xmlns:a16="http://schemas.microsoft.com/office/drawing/2014/main" id="{F47167A1-195D-4674-BDB5-B47B9260B9AF}"/>
              </a:ext>
            </a:extLst>
          </p:cNvPr>
          <p:cNvSpPr/>
          <p:nvPr/>
        </p:nvSpPr>
        <p:spPr>
          <a:xfrm>
            <a:off x="1893066" y="2692338"/>
            <a:ext cx="2706332" cy="699716"/>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dirty="0"/>
              <a:t>Трудно схватлив</a:t>
            </a:r>
            <a:endParaRPr lang="en-GB" sz="1600" dirty="0"/>
          </a:p>
        </p:txBody>
      </p:sp>
      <p:sp>
        <p:nvSpPr>
          <p:cNvPr id="24" name="Rectangle 9">
            <a:extLst>
              <a:ext uri="{FF2B5EF4-FFF2-40B4-BE49-F238E27FC236}">
                <a16:creationId xmlns:a16="http://schemas.microsoft.com/office/drawing/2014/main" id="{04B4FC01-968B-4A03-81E7-C13D1984F7E4}"/>
              </a:ext>
            </a:extLst>
          </p:cNvPr>
          <p:cNvSpPr/>
          <p:nvPr/>
        </p:nvSpPr>
        <p:spPr>
          <a:xfrm>
            <a:off x="1893066" y="3506716"/>
            <a:ext cx="2706332" cy="692699"/>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Злонамерен</a:t>
            </a:r>
            <a:endParaRPr lang="en-GB" sz="1600"/>
          </a:p>
        </p:txBody>
      </p:sp>
      <p:sp>
        <p:nvSpPr>
          <p:cNvPr id="26" name="Rectangle 11">
            <a:extLst>
              <a:ext uri="{FF2B5EF4-FFF2-40B4-BE49-F238E27FC236}">
                <a16:creationId xmlns:a16="http://schemas.microsoft.com/office/drawing/2014/main" id="{C4A5454E-15B5-4219-AF33-0C443A8E1338}"/>
              </a:ext>
            </a:extLst>
          </p:cNvPr>
          <p:cNvSpPr/>
          <p:nvPr/>
        </p:nvSpPr>
        <p:spPr>
          <a:xfrm>
            <a:off x="1893066" y="4314076"/>
            <a:ext cx="2706332" cy="677242"/>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ВИП</a:t>
            </a:r>
            <a:endParaRPr lang="en-GB" sz="1600"/>
          </a:p>
        </p:txBody>
      </p:sp>
      <p:sp>
        <p:nvSpPr>
          <p:cNvPr id="28" name="Rectangle 9">
            <a:extLst>
              <a:ext uri="{FF2B5EF4-FFF2-40B4-BE49-F238E27FC236}">
                <a16:creationId xmlns:a16="http://schemas.microsoft.com/office/drawing/2014/main" id="{1BD53EC7-AEF2-4AB3-A3A3-6DB2C647637D}"/>
              </a:ext>
            </a:extLst>
          </p:cNvPr>
          <p:cNvSpPr/>
          <p:nvPr/>
        </p:nvSpPr>
        <p:spPr>
          <a:xfrm>
            <a:off x="5053978" y="1872908"/>
            <a:ext cx="2706332" cy="705772"/>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Подозрителен</a:t>
            </a:r>
            <a:endParaRPr lang="en-GB" sz="1600"/>
          </a:p>
        </p:txBody>
      </p:sp>
      <p:sp>
        <p:nvSpPr>
          <p:cNvPr id="29" name="Rectangle 11">
            <a:extLst>
              <a:ext uri="{FF2B5EF4-FFF2-40B4-BE49-F238E27FC236}">
                <a16:creationId xmlns:a16="http://schemas.microsoft.com/office/drawing/2014/main" id="{82D2F05A-76FD-4319-86EE-0D4FA034A19F}"/>
              </a:ext>
            </a:extLst>
          </p:cNvPr>
          <p:cNvSpPr/>
          <p:nvPr/>
        </p:nvSpPr>
        <p:spPr>
          <a:xfrm>
            <a:off x="5053978" y="1041324"/>
            <a:ext cx="2706332" cy="715918"/>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dirty="0"/>
              <a:t>Манипулативен</a:t>
            </a:r>
            <a:endParaRPr lang="en-GB" sz="1600" dirty="0"/>
          </a:p>
        </p:txBody>
      </p:sp>
      <p:sp>
        <p:nvSpPr>
          <p:cNvPr id="30" name="Rectangle 13">
            <a:extLst>
              <a:ext uri="{FF2B5EF4-FFF2-40B4-BE49-F238E27FC236}">
                <a16:creationId xmlns:a16="http://schemas.microsoft.com/office/drawing/2014/main" id="{9280A8B9-8E71-4D2F-83AF-09560EE21DF8}"/>
              </a:ext>
            </a:extLst>
          </p:cNvPr>
          <p:cNvSpPr/>
          <p:nvPr/>
        </p:nvSpPr>
        <p:spPr>
          <a:xfrm>
            <a:off x="5053978" y="2694346"/>
            <a:ext cx="2706332" cy="695699"/>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Нерешителен</a:t>
            </a:r>
            <a:endParaRPr lang="en-GB" sz="1600"/>
          </a:p>
        </p:txBody>
      </p:sp>
      <p:sp>
        <p:nvSpPr>
          <p:cNvPr id="31" name="Rectangle 9">
            <a:extLst>
              <a:ext uri="{FF2B5EF4-FFF2-40B4-BE49-F238E27FC236}">
                <a16:creationId xmlns:a16="http://schemas.microsoft.com/office/drawing/2014/main" id="{C7F54F83-FEC2-4BE1-B6A5-AFFBB2F87F18}"/>
              </a:ext>
            </a:extLst>
          </p:cNvPr>
          <p:cNvSpPr/>
          <p:nvPr/>
        </p:nvSpPr>
        <p:spPr>
          <a:xfrm>
            <a:off x="5053978" y="4314076"/>
            <a:ext cx="2706332" cy="677242"/>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Търсещ социален контакт</a:t>
            </a:r>
            <a:endParaRPr lang="en-GB" sz="1600"/>
          </a:p>
        </p:txBody>
      </p:sp>
      <p:sp>
        <p:nvSpPr>
          <p:cNvPr id="32" name="Rectangle 11">
            <a:extLst>
              <a:ext uri="{FF2B5EF4-FFF2-40B4-BE49-F238E27FC236}">
                <a16:creationId xmlns:a16="http://schemas.microsoft.com/office/drawing/2014/main" id="{ABAE9589-72B4-4647-9F85-C96E40F4EDAC}"/>
              </a:ext>
            </a:extLst>
          </p:cNvPr>
          <p:cNvSpPr/>
          <p:nvPr/>
        </p:nvSpPr>
        <p:spPr>
          <a:xfrm>
            <a:off x="5053978" y="3505711"/>
            <a:ext cx="2706332" cy="692699"/>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Импулсивен </a:t>
            </a:r>
            <a:endParaRPr lang="en-GB" sz="1600"/>
          </a:p>
        </p:txBody>
      </p:sp>
      <p:sp>
        <p:nvSpPr>
          <p:cNvPr id="33" name="Rectangle 28">
            <a:extLst>
              <a:ext uri="{FF2B5EF4-FFF2-40B4-BE49-F238E27FC236}">
                <a16:creationId xmlns:a16="http://schemas.microsoft.com/office/drawing/2014/main" id="{1F5A2A6D-7A89-49B7-B143-2B52942FB5D8}"/>
              </a:ext>
            </a:extLst>
          </p:cNvPr>
          <p:cNvSpPr/>
          <p:nvPr/>
        </p:nvSpPr>
        <p:spPr>
          <a:xfrm>
            <a:off x="-15824" y="1599"/>
            <a:ext cx="1465320" cy="6859628"/>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400">
              <a:latin typeface="Aptos"/>
              <a:ea typeface="Calibri"/>
              <a:cs typeface="Calibri"/>
            </a:endParaRPr>
          </a:p>
        </p:txBody>
      </p:sp>
      <p:sp>
        <p:nvSpPr>
          <p:cNvPr id="34" name="Rectangle 29">
            <a:extLst>
              <a:ext uri="{FF2B5EF4-FFF2-40B4-BE49-F238E27FC236}">
                <a16:creationId xmlns:a16="http://schemas.microsoft.com/office/drawing/2014/main" id="{E58614E7-A154-42E9-BD6C-A33C0FD98F7C}"/>
              </a:ext>
            </a:extLst>
          </p:cNvPr>
          <p:cNvSpPr/>
          <p:nvPr/>
        </p:nvSpPr>
        <p:spPr>
          <a:xfrm>
            <a:off x="-1671" y="2528038"/>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002060"/>
                </a:solidFill>
                <a:latin typeface="Aptos"/>
                <a:ea typeface="Calibri"/>
                <a:cs typeface="Calibri"/>
              </a:rPr>
              <a:t>Типове клиенти</a:t>
            </a:r>
            <a:endParaRPr lang="en-GB" sz="1400">
              <a:solidFill>
                <a:srgbClr val="002060"/>
              </a:solidFill>
              <a:latin typeface="Aptos"/>
              <a:ea typeface="Calibri"/>
              <a:cs typeface="Calibri"/>
            </a:endParaRPr>
          </a:p>
        </p:txBody>
      </p:sp>
      <p:sp>
        <p:nvSpPr>
          <p:cNvPr id="35" name="Rectangle 30">
            <a:extLst>
              <a:ext uri="{FF2B5EF4-FFF2-40B4-BE49-F238E27FC236}">
                <a16:creationId xmlns:a16="http://schemas.microsoft.com/office/drawing/2014/main" id="{8BC4A531-8DBA-4B9D-9A89-F298084DB14D}"/>
              </a:ext>
            </a:extLst>
          </p:cNvPr>
          <p:cNvSpPr/>
          <p:nvPr/>
        </p:nvSpPr>
        <p:spPr>
          <a:xfrm>
            <a:off x="8626" y="1913210"/>
            <a:ext cx="1442908" cy="4485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chemeClr val="bg1"/>
                </a:solidFill>
                <a:latin typeface="Aptos"/>
                <a:ea typeface="Calibri"/>
                <a:cs typeface="Calibri"/>
              </a:rPr>
              <a:t>Сценарии</a:t>
            </a:r>
            <a:endParaRPr lang="en-GB" sz="1400">
              <a:solidFill>
                <a:schemeClr val="bg1"/>
              </a:solidFill>
              <a:latin typeface="Aptos"/>
              <a:ea typeface="Calibri"/>
              <a:cs typeface="Calibri"/>
            </a:endParaRPr>
          </a:p>
        </p:txBody>
      </p:sp>
      <p:sp>
        <p:nvSpPr>
          <p:cNvPr id="36" name="Rectangle 31">
            <a:extLst>
              <a:ext uri="{FF2B5EF4-FFF2-40B4-BE49-F238E27FC236}">
                <a16:creationId xmlns:a16="http://schemas.microsoft.com/office/drawing/2014/main" id="{7280696B-FACB-493D-B9C7-7564FE845341}"/>
              </a:ext>
            </a:extLst>
          </p:cNvPr>
          <p:cNvSpPr/>
          <p:nvPr/>
        </p:nvSpPr>
        <p:spPr>
          <a:xfrm>
            <a:off x="-1671" y="1298382"/>
            <a:ext cx="1442908" cy="4485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chemeClr val="bg1"/>
                </a:solidFill>
                <a:latin typeface="Aptos"/>
                <a:ea typeface="Calibri"/>
                <a:cs typeface="Calibri"/>
              </a:rPr>
              <a:t>Стъпки в обаждането</a:t>
            </a:r>
            <a:endParaRPr lang="en-GB" sz="1400">
              <a:solidFill>
                <a:schemeClr val="bg1"/>
              </a:solidFill>
              <a:latin typeface="Aptos"/>
              <a:ea typeface="Calibri"/>
              <a:cs typeface="Calibri"/>
            </a:endParaRPr>
          </a:p>
        </p:txBody>
      </p:sp>
      <p:sp>
        <p:nvSpPr>
          <p:cNvPr id="37" name="Rectangle 3">
            <a:extLst>
              <a:ext uri="{FF2B5EF4-FFF2-40B4-BE49-F238E27FC236}">
                <a16:creationId xmlns:a16="http://schemas.microsoft.com/office/drawing/2014/main" id="{A8819117-B5CB-46DB-BD93-60D8266F4ACA}"/>
              </a:ext>
            </a:extLst>
          </p:cNvPr>
          <p:cNvSpPr/>
          <p:nvPr/>
        </p:nvSpPr>
        <p:spPr>
          <a:xfrm>
            <a:off x="1443475" y="4245"/>
            <a:ext cx="5338363" cy="67724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38" name="Rectangle 4">
            <a:extLst>
              <a:ext uri="{FF2B5EF4-FFF2-40B4-BE49-F238E27FC236}">
                <a16:creationId xmlns:a16="http://schemas.microsoft.com/office/drawing/2014/main" id="{40F67C2E-606C-47A6-ABDE-29836D17B16F}"/>
              </a:ext>
            </a:extLst>
          </p:cNvPr>
          <p:cNvSpPr/>
          <p:nvPr/>
        </p:nvSpPr>
        <p:spPr>
          <a:xfrm>
            <a:off x="6788435" y="4245"/>
            <a:ext cx="5417300" cy="677242"/>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39" name="Rectangle 28">
            <a:extLst>
              <a:ext uri="{FF2B5EF4-FFF2-40B4-BE49-F238E27FC236}">
                <a16:creationId xmlns:a16="http://schemas.microsoft.com/office/drawing/2014/main" id="{D4B9742F-497C-4CBE-8BDF-748C67FC6FFF}"/>
              </a:ext>
            </a:extLst>
          </p:cNvPr>
          <p:cNvSpPr/>
          <p:nvPr/>
        </p:nvSpPr>
        <p:spPr>
          <a:xfrm>
            <a:off x="-15827" y="690328"/>
            <a:ext cx="1465322"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FFFFFF"/>
                </a:solidFill>
                <a:latin typeface="Aptos"/>
                <a:ea typeface="Calibri"/>
                <a:cs typeface="Calibri"/>
              </a:rPr>
              <a:t>Подготовка</a:t>
            </a:r>
            <a:endParaRPr lang="en-GB" sz="1400">
              <a:solidFill>
                <a:srgbClr val="FFFFFF"/>
              </a:solidFill>
              <a:latin typeface="Aptos"/>
              <a:ea typeface="Calibri"/>
              <a:cs typeface="Calibri"/>
            </a:endParaRPr>
          </a:p>
        </p:txBody>
      </p:sp>
      <p:pic>
        <p:nvPicPr>
          <p:cNvPr id="40" name="Picture 39">
            <a:extLst>
              <a:ext uri="{FF2B5EF4-FFF2-40B4-BE49-F238E27FC236}">
                <a16:creationId xmlns:a16="http://schemas.microsoft.com/office/drawing/2014/main" id="{B4C4790D-BBC5-46B4-BAA2-343B53C99747}"/>
              </a:ext>
            </a:extLst>
          </p:cNvPr>
          <p:cNvPicPr>
            <a:picLocks noChangeAspect="1"/>
          </p:cNvPicPr>
          <p:nvPr/>
        </p:nvPicPr>
        <p:blipFill>
          <a:blip r:embed="rId3"/>
          <a:stretch>
            <a:fillRect/>
          </a:stretch>
        </p:blipFill>
        <p:spPr>
          <a:xfrm>
            <a:off x="10883590" y="5621341"/>
            <a:ext cx="982751" cy="995681"/>
          </a:xfrm>
          <a:prstGeom prst="rect">
            <a:avLst/>
          </a:prstGeom>
        </p:spPr>
      </p:pic>
      <p:sp>
        <p:nvSpPr>
          <p:cNvPr id="2" name="Балонче за говор: правоъгълник със заоблени ъгли 19">
            <a:extLst>
              <a:ext uri="{FF2B5EF4-FFF2-40B4-BE49-F238E27FC236}">
                <a16:creationId xmlns:a16="http://schemas.microsoft.com/office/drawing/2014/main" id="{DDB006C5-C5AE-784D-5195-D27846D2985E}"/>
              </a:ext>
            </a:extLst>
          </p:cNvPr>
          <p:cNvSpPr/>
          <p:nvPr/>
        </p:nvSpPr>
        <p:spPr>
          <a:xfrm>
            <a:off x="8203880" y="1045302"/>
            <a:ext cx="3514272" cy="3152354"/>
          </a:xfrm>
          <a:prstGeom prst="roundRect">
            <a:avLst>
              <a:gd name="adj" fmla="val 9600"/>
            </a:avLst>
          </a:prstGeom>
          <a:solidFill>
            <a:srgbClr val="4472C4"/>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ru-RU" sz="1400" b="1" dirty="0" err="1">
                <a:solidFill>
                  <a:schemeClr val="bg1"/>
                </a:solidFill>
              </a:rPr>
              <a:t>Аналитичен</a:t>
            </a:r>
            <a:br>
              <a:rPr lang="ru-RU" sz="1400" dirty="0"/>
            </a:br>
            <a:r>
              <a:rPr lang="ru-RU" sz="1400" b="1" dirty="0">
                <a:ea typeface="+mn-lt"/>
                <a:cs typeface="+mn-lt"/>
              </a:rPr>
              <a:t>Характеристики:</a:t>
            </a:r>
            <a:endParaRPr lang="bg-BG" sz="1400" b="1" dirty="0">
              <a:ea typeface="+mn-lt"/>
              <a:cs typeface="+mn-lt"/>
            </a:endParaRPr>
          </a:p>
          <a:p>
            <a:pPr marL="285750" indent="-285750">
              <a:buFont typeface="Arial"/>
              <a:buChar char="•"/>
            </a:pPr>
            <a:r>
              <a:rPr lang="ru-RU" sz="1400" dirty="0" err="1">
                <a:ea typeface="+mn-lt"/>
                <a:cs typeface="+mn-lt"/>
              </a:rPr>
              <a:t>Търсят</a:t>
            </a:r>
            <a:r>
              <a:rPr lang="ru-RU" sz="1400" dirty="0">
                <a:ea typeface="+mn-lt"/>
                <a:cs typeface="+mn-lt"/>
              </a:rPr>
              <a:t> </a:t>
            </a:r>
            <a:r>
              <a:rPr lang="ru-RU" sz="1400" dirty="0" err="1">
                <a:ea typeface="+mn-lt"/>
                <a:cs typeface="+mn-lt"/>
              </a:rPr>
              <a:t>факти</a:t>
            </a:r>
            <a:r>
              <a:rPr lang="ru-RU" sz="1400" dirty="0">
                <a:ea typeface="+mn-lt"/>
                <a:cs typeface="+mn-lt"/>
              </a:rPr>
              <a:t> и логика </a:t>
            </a:r>
            <a:endParaRPr lang="ru-RU" dirty="0"/>
          </a:p>
          <a:p>
            <a:pPr marL="285750" indent="-285750">
              <a:buFont typeface="Arial"/>
              <a:buChar char="•"/>
            </a:pPr>
            <a:r>
              <a:rPr lang="ru-RU" sz="1400" dirty="0" err="1">
                <a:ea typeface="+mn-lt"/>
                <a:cs typeface="+mn-lt"/>
              </a:rPr>
              <a:t>Мислят</a:t>
            </a:r>
            <a:r>
              <a:rPr lang="ru-RU" sz="1400" dirty="0">
                <a:ea typeface="+mn-lt"/>
                <a:cs typeface="+mn-lt"/>
              </a:rPr>
              <a:t> в правила и </a:t>
            </a:r>
            <a:r>
              <a:rPr lang="ru-RU" sz="1400" dirty="0" err="1">
                <a:ea typeface="+mn-lt"/>
                <a:cs typeface="+mn-lt"/>
              </a:rPr>
              <a:t>структури</a:t>
            </a:r>
            <a:r>
              <a:rPr lang="ru-RU" sz="1400" dirty="0">
                <a:ea typeface="+mn-lt"/>
                <a:cs typeface="+mn-lt"/>
              </a:rPr>
              <a:t> </a:t>
            </a:r>
            <a:endParaRPr lang="ru-RU" dirty="0"/>
          </a:p>
          <a:p>
            <a:pPr marL="285750" indent="-285750">
              <a:buFont typeface="Arial"/>
              <a:buChar char="•"/>
            </a:pPr>
            <a:r>
              <a:rPr lang="ru-RU" sz="1400" dirty="0" err="1">
                <a:ea typeface="+mn-lt"/>
                <a:cs typeface="+mn-lt"/>
              </a:rPr>
              <a:t>Вземат</a:t>
            </a:r>
            <a:r>
              <a:rPr lang="ru-RU" sz="1400" dirty="0">
                <a:ea typeface="+mn-lt"/>
                <a:cs typeface="+mn-lt"/>
              </a:rPr>
              <a:t> </a:t>
            </a:r>
            <a:r>
              <a:rPr lang="ru-RU" sz="1400" dirty="0" err="1">
                <a:ea typeface="+mn-lt"/>
                <a:cs typeface="+mn-lt"/>
              </a:rPr>
              <a:t>бавни</a:t>
            </a:r>
            <a:r>
              <a:rPr lang="ru-RU" sz="1400" dirty="0">
                <a:ea typeface="+mn-lt"/>
                <a:cs typeface="+mn-lt"/>
              </a:rPr>
              <a:t> решения </a:t>
            </a:r>
            <a:endParaRPr lang="ru-RU" dirty="0"/>
          </a:p>
          <a:p>
            <a:pPr marL="285750" indent="-285750">
              <a:buFont typeface="Arial"/>
              <a:buChar char="•"/>
            </a:pPr>
            <a:r>
              <a:rPr lang="ru-RU" sz="1400" dirty="0" err="1">
                <a:ea typeface="+mn-lt"/>
                <a:cs typeface="+mn-lt"/>
              </a:rPr>
              <a:t>Ориентирани</a:t>
            </a:r>
            <a:r>
              <a:rPr lang="ru-RU" sz="1400" dirty="0">
                <a:ea typeface="+mn-lt"/>
                <a:cs typeface="+mn-lt"/>
              </a:rPr>
              <a:t> </a:t>
            </a:r>
            <a:r>
              <a:rPr lang="ru-RU" sz="1400" dirty="0" err="1">
                <a:ea typeface="+mn-lt"/>
                <a:cs typeface="+mn-lt"/>
              </a:rPr>
              <a:t>към</a:t>
            </a:r>
            <a:r>
              <a:rPr lang="ru-RU" sz="1400" dirty="0">
                <a:ea typeface="+mn-lt"/>
                <a:cs typeface="+mn-lt"/>
              </a:rPr>
              <a:t> </a:t>
            </a:r>
            <a:r>
              <a:rPr lang="ru-RU" sz="1400" dirty="0" err="1">
                <a:ea typeface="+mn-lt"/>
                <a:cs typeface="+mn-lt"/>
              </a:rPr>
              <a:t>точност</a:t>
            </a:r>
            <a:r>
              <a:rPr lang="ru-RU" sz="1400" dirty="0">
                <a:ea typeface="+mn-lt"/>
                <a:cs typeface="+mn-lt"/>
              </a:rPr>
              <a:t> и </a:t>
            </a:r>
            <a:r>
              <a:rPr lang="ru-RU" sz="1400" dirty="0" err="1">
                <a:ea typeface="+mn-lt"/>
                <a:cs typeface="+mn-lt"/>
              </a:rPr>
              <a:t>детайл</a:t>
            </a:r>
            <a:r>
              <a:rPr lang="ru-RU" sz="1400" dirty="0">
                <a:ea typeface="+mn-lt"/>
                <a:cs typeface="+mn-lt"/>
              </a:rPr>
              <a:t> </a:t>
            </a:r>
            <a:endParaRPr lang="ru-RU" dirty="0"/>
          </a:p>
          <a:p>
            <a:pPr marL="285750" indent="-285750">
              <a:buFont typeface="Arial"/>
              <a:buChar char="•"/>
            </a:pPr>
            <a:r>
              <a:rPr lang="ru-RU" sz="1400" dirty="0">
                <a:ea typeface="+mn-lt"/>
                <a:cs typeface="+mn-lt"/>
              </a:rPr>
              <a:t>Не </a:t>
            </a:r>
            <a:r>
              <a:rPr lang="ru-RU" sz="1400" dirty="0" err="1">
                <a:ea typeface="+mn-lt"/>
                <a:cs typeface="+mn-lt"/>
              </a:rPr>
              <a:t>действат</a:t>
            </a:r>
            <a:r>
              <a:rPr lang="ru-RU" sz="1400" dirty="0">
                <a:ea typeface="+mn-lt"/>
                <a:cs typeface="+mn-lt"/>
              </a:rPr>
              <a:t> </a:t>
            </a:r>
            <a:r>
              <a:rPr lang="ru-RU" sz="1400" dirty="0" err="1">
                <a:ea typeface="+mn-lt"/>
                <a:cs typeface="+mn-lt"/>
              </a:rPr>
              <a:t>импулсивно</a:t>
            </a:r>
            <a:r>
              <a:rPr lang="ru-RU" sz="1400" dirty="0">
                <a:ea typeface="+mn-lt"/>
                <a:cs typeface="+mn-lt"/>
              </a:rPr>
              <a:t> </a:t>
            </a:r>
            <a:endParaRPr lang="ru-RU" dirty="0"/>
          </a:p>
          <a:p>
            <a:r>
              <a:rPr lang="ru-RU" sz="1400" b="1" dirty="0" err="1">
                <a:ea typeface="+mn-lt"/>
                <a:cs typeface="+mn-lt"/>
              </a:rPr>
              <a:t>Предпочитана</a:t>
            </a:r>
            <a:r>
              <a:rPr lang="ru-RU" sz="1400" b="1" dirty="0">
                <a:ea typeface="+mn-lt"/>
                <a:cs typeface="+mn-lt"/>
              </a:rPr>
              <a:t> </a:t>
            </a:r>
            <a:r>
              <a:rPr lang="ru-RU" sz="1400" b="1" dirty="0" err="1">
                <a:ea typeface="+mn-lt"/>
                <a:cs typeface="+mn-lt"/>
              </a:rPr>
              <a:t>комуникация</a:t>
            </a:r>
            <a:r>
              <a:rPr lang="ru-RU" sz="1400" b="1" dirty="0">
                <a:ea typeface="+mn-lt"/>
                <a:cs typeface="+mn-lt"/>
              </a:rPr>
              <a:t>:</a:t>
            </a:r>
            <a:endParaRPr lang="ru-RU" b="1" dirty="0">
              <a:ea typeface="+mn-lt"/>
              <a:cs typeface="+mn-lt"/>
            </a:endParaRPr>
          </a:p>
          <a:p>
            <a:pPr marL="285750" indent="-285750">
              <a:buFont typeface="Arial"/>
              <a:buChar char="•"/>
            </a:pPr>
            <a:r>
              <a:rPr lang="ru-RU" sz="1400" dirty="0" err="1">
                <a:ea typeface="+mn-lt"/>
                <a:cs typeface="+mn-lt"/>
              </a:rPr>
              <a:t>Бавен</a:t>
            </a:r>
            <a:r>
              <a:rPr lang="ru-RU" sz="1400" dirty="0">
                <a:ea typeface="+mn-lt"/>
                <a:cs typeface="+mn-lt"/>
              </a:rPr>
              <a:t> и методичен разговор </a:t>
            </a:r>
            <a:endParaRPr lang="ru-RU" dirty="0"/>
          </a:p>
          <a:p>
            <a:pPr marL="285750" indent="-285750">
              <a:buFont typeface="Arial"/>
              <a:buChar char="•"/>
            </a:pPr>
            <a:r>
              <a:rPr lang="ru-RU" sz="1400" dirty="0" err="1">
                <a:ea typeface="+mn-lt"/>
                <a:cs typeface="+mn-lt"/>
              </a:rPr>
              <a:t>Ясни</a:t>
            </a:r>
            <a:r>
              <a:rPr lang="ru-RU" sz="1400" dirty="0">
                <a:ea typeface="+mn-lt"/>
                <a:cs typeface="+mn-lt"/>
              </a:rPr>
              <a:t>, </a:t>
            </a:r>
            <a:r>
              <a:rPr lang="ru-RU" sz="1400" dirty="0" err="1">
                <a:ea typeface="+mn-lt"/>
                <a:cs typeface="+mn-lt"/>
              </a:rPr>
              <a:t>точни</a:t>
            </a:r>
            <a:r>
              <a:rPr lang="ru-RU" sz="1400" dirty="0">
                <a:ea typeface="+mn-lt"/>
                <a:cs typeface="+mn-lt"/>
              </a:rPr>
              <a:t> </a:t>
            </a:r>
            <a:r>
              <a:rPr lang="ru-RU" sz="1400" dirty="0" err="1">
                <a:ea typeface="+mn-lt"/>
                <a:cs typeface="+mn-lt"/>
              </a:rPr>
              <a:t>факти</a:t>
            </a:r>
            <a:r>
              <a:rPr lang="ru-RU" sz="1400" dirty="0">
                <a:ea typeface="+mn-lt"/>
                <a:cs typeface="+mn-lt"/>
              </a:rPr>
              <a:t> </a:t>
            </a:r>
            <a:endParaRPr lang="ru-RU" dirty="0"/>
          </a:p>
          <a:p>
            <a:pPr marL="285750" indent="-285750">
              <a:buFont typeface="Arial"/>
              <a:buChar char="•"/>
            </a:pPr>
            <a:r>
              <a:rPr lang="ru-RU" sz="1400" dirty="0" err="1">
                <a:ea typeface="+mn-lt"/>
                <a:cs typeface="+mn-lt"/>
              </a:rPr>
              <a:t>Стандартни</a:t>
            </a:r>
            <a:r>
              <a:rPr lang="ru-RU" sz="1400" dirty="0">
                <a:ea typeface="+mn-lt"/>
                <a:cs typeface="+mn-lt"/>
              </a:rPr>
              <a:t> </a:t>
            </a:r>
            <a:r>
              <a:rPr lang="ru-RU" sz="1400" dirty="0" err="1">
                <a:ea typeface="+mn-lt"/>
                <a:cs typeface="+mn-lt"/>
              </a:rPr>
              <a:t>процедури</a:t>
            </a:r>
            <a:r>
              <a:rPr lang="ru-RU" sz="1400" dirty="0">
                <a:ea typeface="+mn-lt"/>
                <a:cs typeface="+mn-lt"/>
              </a:rPr>
              <a:t> </a:t>
            </a:r>
            <a:endParaRPr lang="ru-RU" dirty="0"/>
          </a:p>
          <a:p>
            <a:pPr marL="285750" indent="-285750">
              <a:buFont typeface="Arial"/>
              <a:buChar char="•"/>
            </a:pPr>
            <a:r>
              <a:rPr lang="ru-RU" sz="1400" dirty="0" err="1">
                <a:ea typeface="+mn-lt"/>
                <a:cs typeface="+mn-lt"/>
              </a:rPr>
              <a:t>Позоваване</a:t>
            </a:r>
            <a:r>
              <a:rPr lang="ru-RU" sz="1400" dirty="0">
                <a:ea typeface="+mn-lt"/>
                <a:cs typeface="+mn-lt"/>
              </a:rPr>
              <a:t> на </a:t>
            </a:r>
            <a:r>
              <a:rPr lang="ru-RU" sz="1400" dirty="0" err="1">
                <a:ea typeface="+mn-lt"/>
                <a:cs typeface="+mn-lt"/>
              </a:rPr>
              <a:t>законови</a:t>
            </a:r>
            <a:r>
              <a:rPr lang="ru-RU" sz="1400" dirty="0">
                <a:ea typeface="+mn-lt"/>
                <a:cs typeface="+mn-lt"/>
              </a:rPr>
              <a:t> </a:t>
            </a:r>
            <a:r>
              <a:rPr lang="ru-RU" sz="1400" dirty="0" err="1">
                <a:ea typeface="+mn-lt"/>
                <a:cs typeface="+mn-lt"/>
              </a:rPr>
              <a:t>източници</a:t>
            </a:r>
            <a:endParaRPr lang="ru-RU" dirty="0"/>
          </a:p>
          <a:p>
            <a:r>
              <a:rPr lang="ru-RU" sz="1400" dirty="0">
                <a:solidFill>
                  <a:schemeClr val="bg1"/>
                </a:solidFill>
              </a:rPr>
              <a:t>.</a:t>
            </a:r>
            <a:endParaRPr lang="bg-BG" sz="1400" dirty="0">
              <a:solidFill>
                <a:schemeClr val="bg1"/>
              </a:solidFill>
            </a:endParaRPr>
          </a:p>
        </p:txBody>
      </p:sp>
    </p:spTree>
    <p:extLst>
      <p:ext uri="{BB962C8B-B14F-4D97-AF65-F5344CB8AC3E}">
        <p14:creationId xmlns:p14="http://schemas.microsoft.com/office/powerpoint/2010/main" val="3244471499"/>
      </p:ext>
    </p:extLst>
  </p:cSld>
  <p:clrMapOvr>
    <a:masterClrMapping/>
  </p:clrMapOvr>
  <p:extLst>
    <p:ext uri="{6950BFC3-D8DA-4A85-94F7-54DA5524770B}">
      <p188:commentRel xmlns:p188="http://schemas.microsoft.com/office/powerpoint/2018/8/main" r:id="rId2"/>
    </p:ext>
  </p:extLs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F9FCCD-5AF9-4DF5-DC65-D52504984D29}"/>
            </a:ext>
          </a:extLst>
        </p:cNvPr>
        <p:cNvGrpSpPr/>
        <p:nvPr/>
      </p:nvGrpSpPr>
      <p:grpSpPr>
        <a:xfrm>
          <a:off x="0" y="0"/>
          <a:ext cx="0" cy="0"/>
          <a:chOff x="0" y="0"/>
          <a:chExt cx="0" cy="0"/>
        </a:xfrm>
      </p:grpSpPr>
      <p:sp>
        <p:nvSpPr>
          <p:cNvPr id="20" name="Балонче за говор: правоъгълник със заоблени ъгли 19">
            <a:extLst>
              <a:ext uri="{FF2B5EF4-FFF2-40B4-BE49-F238E27FC236}">
                <a16:creationId xmlns:a16="http://schemas.microsoft.com/office/drawing/2014/main" id="{59498A88-C811-20A2-6B19-FCD7509986C8}"/>
              </a:ext>
            </a:extLst>
          </p:cNvPr>
          <p:cNvSpPr/>
          <p:nvPr/>
        </p:nvSpPr>
        <p:spPr>
          <a:xfrm>
            <a:off x="8106937" y="1045302"/>
            <a:ext cx="3761033" cy="3738508"/>
          </a:xfrm>
          <a:prstGeom prst="roundRect">
            <a:avLst>
              <a:gd name="adj" fmla="val 10885"/>
            </a:avLst>
          </a:prstGeom>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ru-RU" sz="1400" b="1"/>
              <a:t>Трудно схватлив</a:t>
            </a:r>
          </a:p>
          <a:p>
            <a:endParaRPr lang="ru-RU" sz="1400" b="1"/>
          </a:p>
          <a:p>
            <a:r>
              <a:rPr lang="ru-RU" sz="1400" b="1">
                <a:ea typeface="+mn-lt"/>
                <a:cs typeface="+mn-lt"/>
              </a:rPr>
              <a:t>Характеристики:</a:t>
            </a:r>
            <a:endParaRPr lang="ru-RU"/>
          </a:p>
          <a:p>
            <a:pPr marL="285750" indent="-285750">
              <a:buFont typeface="Arial"/>
              <a:buChar char="•"/>
            </a:pPr>
            <a:r>
              <a:rPr lang="ru-RU" sz="1400">
                <a:ea typeface="+mn-lt"/>
                <a:cs typeface="+mn-lt"/>
              </a:rPr>
              <a:t>Сърдечни и добронамерени </a:t>
            </a:r>
            <a:endParaRPr lang="ru-RU"/>
          </a:p>
          <a:p>
            <a:pPr marL="285750" indent="-285750">
              <a:buFont typeface="Arial"/>
              <a:buChar char="•"/>
            </a:pPr>
            <a:r>
              <a:rPr lang="ru-RU" sz="1400">
                <a:ea typeface="+mn-lt"/>
                <a:cs typeface="+mn-lt"/>
              </a:rPr>
              <a:t>Не разбират добре информацията </a:t>
            </a:r>
            <a:endParaRPr lang="ru-RU"/>
          </a:p>
          <a:p>
            <a:pPr marL="285750" indent="-285750">
              <a:buFont typeface="Arial"/>
              <a:buChar char="•"/>
            </a:pPr>
            <a:r>
              <a:rPr lang="ru-RU" sz="1400">
                <a:ea typeface="+mn-lt"/>
                <a:cs typeface="+mn-lt"/>
              </a:rPr>
              <a:t>Съгласни са с всичко </a:t>
            </a:r>
            <a:endParaRPr lang="ru-RU"/>
          </a:p>
          <a:p>
            <a:pPr marL="285750" indent="-285750">
              <a:buFont typeface="Arial"/>
              <a:buChar char="•"/>
            </a:pPr>
            <a:r>
              <a:rPr lang="ru-RU" sz="1400">
                <a:ea typeface="+mn-lt"/>
                <a:cs typeface="+mn-lt"/>
              </a:rPr>
              <a:t>Вземат бавни, емоционални решения </a:t>
            </a:r>
            <a:endParaRPr lang="ru-RU"/>
          </a:p>
          <a:p>
            <a:pPr marL="285750" indent="-285750">
              <a:buFont typeface="Arial"/>
              <a:buChar char="•"/>
            </a:pPr>
            <a:r>
              <a:rPr lang="ru-RU" sz="1400">
                <a:ea typeface="+mn-lt"/>
                <a:cs typeface="+mn-lt"/>
              </a:rPr>
              <a:t>Често сменят мнение </a:t>
            </a:r>
            <a:endParaRPr lang="ru-RU"/>
          </a:p>
          <a:p>
            <a:r>
              <a:rPr lang="ru-RU" sz="1400" b="1">
                <a:ea typeface="+mn-lt"/>
                <a:cs typeface="+mn-lt"/>
              </a:rPr>
              <a:t>Предпочитана комуникация:</a:t>
            </a:r>
            <a:endParaRPr lang="ru-RU"/>
          </a:p>
          <a:p>
            <a:pPr marL="285750" indent="-285750">
              <a:buFont typeface="Arial"/>
              <a:buChar char="•"/>
            </a:pPr>
            <a:r>
              <a:rPr lang="ru-RU" sz="1400">
                <a:ea typeface="+mn-lt"/>
                <a:cs typeface="+mn-lt"/>
              </a:rPr>
              <a:t>Прост и достъпен език </a:t>
            </a:r>
            <a:endParaRPr lang="ru-RU"/>
          </a:p>
          <a:p>
            <a:pPr marL="285750" indent="-285750">
              <a:buFont typeface="Arial"/>
              <a:buChar char="•"/>
            </a:pPr>
            <a:r>
              <a:rPr lang="ru-RU" sz="1400">
                <a:ea typeface="+mn-lt"/>
                <a:cs typeface="+mn-lt"/>
              </a:rPr>
              <a:t>Бавен разговор </a:t>
            </a:r>
            <a:endParaRPr lang="ru-RU"/>
          </a:p>
          <a:p>
            <a:pPr marL="285750" indent="-285750">
              <a:buFont typeface="Arial"/>
              <a:buChar char="•"/>
            </a:pPr>
            <a:r>
              <a:rPr lang="ru-RU" sz="1400">
                <a:ea typeface="+mn-lt"/>
                <a:cs typeface="+mn-lt"/>
              </a:rPr>
              <a:t>Неформално отношение </a:t>
            </a:r>
            <a:endParaRPr lang="ru-RU"/>
          </a:p>
          <a:p>
            <a:pPr marL="285750" indent="-285750">
              <a:buFont typeface="Arial"/>
              <a:buChar char="•"/>
            </a:pPr>
            <a:r>
              <a:rPr lang="ru-RU" sz="1400">
                <a:ea typeface="+mn-lt"/>
                <a:cs typeface="+mn-lt"/>
              </a:rPr>
              <a:t>Без снизхождение </a:t>
            </a:r>
            <a:endParaRPr lang="ru-RU"/>
          </a:p>
          <a:p>
            <a:pPr marL="285750" indent="-285750">
              <a:buFont typeface="Arial"/>
              <a:buChar char="•"/>
            </a:pPr>
            <a:r>
              <a:rPr lang="ru-RU" sz="1400">
                <a:ea typeface="+mn-lt"/>
                <a:cs typeface="+mn-lt"/>
              </a:rPr>
              <a:t>Потвърждаване на разбиране </a:t>
            </a:r>
            <a:endParaRPr lang="ru-RU"/>
          </a:p>
          <a:p>
            <a:pPr marL="285750" indent="-285750">
              <a:buFont typeface="Arial"/>
              <a:buChar char="•"/>
            </a:pPr>
            <a:r>
              <a:rPr lang="ru-RU" sz="1400">
                <a:ea typeface="+mn-lt"/>
                <a:cs typeface="+mn-lt"/>
              </a:rPr>
              <a:t>Търсене на съгласие</a:t>
            </a:r>
            <a:endParaRPr lang="ru-RU"/>
          </a:p>
          <a:p>
            <a:endParaRPr lang="ru-RU" sz="1400" b="1"/>
          </a:p>
        </p:txBody>
      </p:sp>
      <p:sp>
        <p:nvSpPr>
          <p:cNvPr id="22" name="Rectangle: Rounded Corners 21">
            <a:extLst>
              <a:ext uri="{FF2B5EF4-FFF2-40B4-BE49-F238E27FC236}">
                <a16:creationId xmlns:a16="http://schemas.microsoft.com/office/drawing/2014/main" id="{38DC9F31-BBF4-4EF9-8E18-A36AA5A6417A}"/>
              </a:ext>
            </a:extLst>
          </p:cNvPr>
          <p:cNvSpPr/>
          <p:nvPr/>
        </p:nvSpPr>
        <p:spPr>
          <a:xfrm>
            <a:off x="1893066" y="1041323"/>
            <a:ext cx="2706332" cy="715919"/>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Агресивен</a:t>
            </a:r>
            <a:endParaRPr lang="en-GB" sz="1600"/>
          </a:p>
        </p:txBody>
      </p:sp>
      <p:sp>
        <p:nvSpPr>
          <p:cNvPr id="24" name="Rectangle: Rounded Corners 23">
            <a:extLst>
              <a:ext uri="{FF2B5EF4-FFF2-40B4-BE49-F238E27FC236}">
                <a16:creationId xmlns:a16="http://schemas.microsoft.com/office/drawing/2014/main" id="{30ED84BD-2756-4A3A-9517-1678FFE199B4}"/>
              </a:ext>
            </a:extLst>
          </p:cNvPr>
          <p:cNvSpPr/>
          <p:nvPr/>
        </p:nvSpPr>
        <p:spPr>
          <a:xfrm>
            <a:off x="1893066" y="1871904"/>
            <a:ext cx="2706332" cy="705772"/>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Аналитичен</a:t>
            </a:r>
            <a:endParaRPr lang="en-GB" sz="1600"/>
          </a:p>
        </p:txBody>
      </p:sp>
      <p:sp>
        <p:nvSpPr>
          <p:cNvPr id="25" name="Rectangle: Rounded Corners 24">
            <a:extLst>
              <a:ext uri="{FF2B5EF4-FFF2-40B4-BE49-F238E27FC236}">
                <a16:creationId xmlns:a16="http://schemas.microsoft.com/office/drawing/2014/main" id="{EEC4077F-50B3-42B0-BCF5-B3FC48F2044D}"/>
              </a:ext>
            </a:extLst>
          </p:cNvPr>
          <p:cNvSpPr/>
          <p:nvPr/>
        </p:nvSpPr>
        <p:spPr>
          <a:xfrm>
            <a:off x="1893066" y="2692338"/>
            <a:ext cx="2706332" cy="699716"/>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Трудно схватлив</a:t>
            </a:r>
            <a:endParaRPr lang="en-GB" sz="1600"/>
          </a:p>
        </p:txBody>
      </p:sp>
      <p:sp>
        <p:nvSpPr>
          <p:cNvPr id="26" name="Rectangle 9">
            <a:extLst>
              <a:ext uri="{FF2B5EF4-FFF2-40B4-BE49-F238E27FC236}">
                <a16:creationId xmlns:a16="http://schemas.microsoft.com/office/drawing/2014/main" id="{FEE1105E-B7FD-47EF-BEA4-2D44EDE09B87}"/>
              </a:ext>
            </a:extLst>
          </p:cNvPr>
          <p:cNvSpPr/>
          <p:nvPr/>
        </p:nvSpPr>
        <p:spPr>
          <a:xfrm>
            <a:off x="1893066" y="3506716"/>
            <a:ext cx="2706332" cy="692699"/>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Злонамерен</a:t>
            </a:r>
            <a:endParaRPr lang="en-GB" sz="1600"/>
          </a:p>
        </p:txBody>
      </p:sp>
      <p:sp>
        <p:nvSpPr>
          <p:cNvPr id="27" name="Rectangle 11">
            <a:extLst>
              <a:ext uri="{FF2B5EF4-FFF2-40B4-BE49-F238E27FC236}">
                <a16:creationId xmlns:a16="http://schemas.microsoft.com/office/drawing/2014/main" id="{BA4964D0-30B3-44D6-A134-98A89CB0DDCC}"/>
              </a:ext>
            </a:extLst>
          </p:cNvPr>
          <p:cNvSpPr/>
          <p:nvPr/>
        </p:nvSpPr>
        <p:spPr>
          <a:xfrm>
            <a:off x="1893066" y="4314076"/>
            <a:ext cx="2706332" cy="677242"/>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ВИП</a:t>
            </a:r>
            <a:endParaRPr lang="en-GB" sz="1600"/>
          </a:p>
        </p:txBody>
      </p:sp>
      <p:sp>
        <p:nvSpPr>
          <p:cNvPr id="28" name="Rectangle 9">
            <a:extLst>
              <a:ext uri="{FF2B5EF4-FFF2-40B4-BE49-F238E27FC236}">
                <a16:creationId xmlns:a16="http://schemas.microsoft.com/office/drawing/2014/main" id="{6C293509-E470-4B3A-B955-3C99880603E5}"/>
              </a:ext>
            </a:extLst>
          </p:cNvPr>
          <p:cNvSpPr/>
          <p:nvPr/>
        </p:nvSpPr>
        <p:spPr>
          <a:xfrm>
            <a:off x="5053978" y="1872908"/>
            <a:ext cx="2706332" cy="705772"/>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Подозрителен</a:t>
            </a:r>
            <a:endParaRPr lang="en-GB" sz="1600"/>
          </a:p>
        </p:txBody>
      </p:sp>
      <p:sp>
        <p:nvSpPr>
          <p:cNvPr id="29" name="Rectangle 11">
            <a:extLst>
              <a:ext uri="{FF2B5EF4-FFF2-40B4-BE49-F238E27FC236}">
                <a16:creationId xmlns:a16="http://schemas.microsoft.com/office/drawing/2014/main" id="{EF7CE810-96F1-41E5-B4A1-A2DA09EFD2B1}"/>
              </a:ext>
            </a:extLst>
          </p:cNvPr>
          <p:cNvSpPr/>
          <p:nvPr/>
        </p:nvSpPr>
        <p:spPr>
          <a:xfrm>
            <a:off x="5053978" y="1041324"/>
            <a:ext cx="2706332" cy="715918"/>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Манипулативен</a:t>
            </a:r>
            <a:endParaRPr lang="en-GB" sz="1600"/>
          </a:p>
        </p:txBody>
      </p:sp>
      <p:sp>
        <p:nvSpPr>
          <p:cNvPr id="30" name="Rectangle 13">
            <a:extLst>
              <a:ext uri="{FF2B5EF4-FFF2-40B4-BE49-F238E27FC236}">
                <a16:creationId xmlns:a16="http://schemas.microsoft.com/office/drawing/2014/main" id="{B6A3657A-A115-4A1F-AB2E-672C5EC0D692}"/>
              </a:ext>
            </a:extLst>
          </p:cNvPr>
          <p:cNvSpPr/>
          <p:nvPr/>
        </p:nvSpPr>
        <p:spPr>
          <a:xfrm>
            <a:off x="5053978" y="2694346"/>
            <a:ext cx="2706332" cy="695699"/>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Нерешителен</a:t>
            </a:r>
            <a:endParaRPr lang="en-GB" sz="1600"/>
          </a:p>
        </p:txBody>
      </p:sp>
      <p:sp>
        <p:nvSpPr>
          <p:cNvPr id="31" name="Rectangle 9">
            <a:extLst>
              <a:ext uri="{FF2B5EF4-FFF2-40B4-BE49-F238E27FC236}">
                <a16:creationId xmlns:a16="http://schemas.microsoft.com/office/drawing/2014/main" id="{7F118B1A-ABB8-48A0-970F-A4ADCA563C4F}"/>
              </a:ext>
            </a:extLst>
          </p:cNvPr>
          <p:cNvSpPr/>
          <p:nvPr/>
        </p:nvSpPr>
        <p:spPr>
          <a:xfrm>
            <a:off x="5053978" y="4314076"/>
            <a:ext cx="2706332" cy="677242"/>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Търсещ социален контакт</a:t>
            </a:r>
            <a:endParaRPr lang="en-GB" sz="1600"/>
          </a:p>
        </p:txBody>
      </p:sp>
      <p:sp>
        <p:nvSpPr>
          <p:cNvPr id="32" name="Rectangle 11">
            <a:extLst>
              <a:ext uri="{FF2B5EF4-FFF2-40B4-BE49-F238E27FC236}">
                <a16:creationId xmlns:a16="http://schemas.microsoft.com/office/drawing/2014/main" id="{299A3662-D24D-4BC1-8B5D-3F50ABE0E25F}"/>
              </a:ext>
            </a:extLst>
          </p:cNvPr>
          <p:cNvSpPr/>
          <p:nvPr/>
        </p:nvSpPr>
        <p:spPr>
          <a:xfrm>
            <a:off x="5053978" y="3505711"/>
            <a:ext cx="2706332" cy="692699"/>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Импулсивен </a:t>
            </a:r>
            <a:endParaRPr lang="en-GB" sz="1600"/>
          </a:p>
        </p:txBody>
      </p:sp>
      <p:sp>
        <p:nvSpPr>
          <p:cNvPr id="33" name="Rectangle 28">
            <a:extLst>
              <a:ext uri="{FF2B5EF4-FFF2-40B4-BE49-F238E27FC236}">
                <a16:creationId xmlns:a16="http://schemas.microsoft.com/office/drawing/2014/main" id="{C3DE53E7-0E2D-466E-8710-1D7C44AB0E22}"/>
              </a:ext>
            </a:extLst>
          </p:cNvPr>
          <p:cNvSpPr/>
          <p:nvPr/>
        </p:nvSpPr>
        <p:spPr>
          <a:xfrm>
            <a:off x="-15824" y="1599"/>
            <a:ext cx="1465320" cy="6859628"/>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400">
              <a:latin typeface="Aptos"/>
              <a:ea typeface="Calibri"/>
              <a:cs typeface="Calibri"/>
            </a:endParaRPr>
          </a:p>
        </p:txBody>
      </p:sp>
      <p:sp>
        <p:nvSpPr>
          <p:cNvPr id="34" name="Rectangle 29">
            <a:extLst>
              <a:ext uri="{FF2B5EF4-FFF2-40B4-BE49-F238E27FC236}">
                <a16:creationId xmlns:a16="http://schemas.microsoft.com/office/drawing/2014/main" id="{AE5796AE-2EAD-4FE4-9B38-D8096E78FDC8}"/>
              </a:ext>
            </a:extLst>
          </p:cNvPr>
          <p:cNvSpPr/>
          <p:nvPr/>
        </p:nvSpPr>
        <p:spPr>
          <a:xfrm>
            <a:off x="-1671" y="2528038"/>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002060"/>
                </a:solidFill>
                <a:latin typeface="Aptos"/>
                <a:ea typeface="Calibri"/>
                <a:cs typeface="Calibri"/>
              </a:rPr>
              <a:t>Типове клиенти</a:t>
            </a:r>
            <a:endParaRPr lang="en-GB" sz="1400">
              <a:solidFill>
                <a:srgbClr val="002060"/>
              </a:solidFill>
              <a:latin typeface="Aptos"/>
              <a:ea typeface="Calibri"/>
              <a:cs typeface="Calibri"/>
            </a:endParaRPr>
          </a:p>
        </p:txBody>
      </p:sp>
      <p:sp>
        <p:nvSpPr>
          <p:cNvPr id="35" name="Rectangle 30">
            <a:extLst>
              <a:ext uri="{FF2B5EF4-FFF2-40B4-BE49-F238E27FC236}">
                <a16:creationId xmlns:a16="http://schemas.microsoft.com/office/drawing/2014/main" id="{3EB834B8-69DF-4201-9CE2-1558C5012DBC}"/>
              </a:ext>
            </a:extLst>
          </p:cNvPr>
          <p:cNvSpPr/>
          <p:nvPr/>
        </p:nvSpPr>
        <p:spPr>
          <a:xfrm>
            <a:off x="8626" y="1913210"/>
            <a:ext cx="1442908" cy="4485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chemeClr val="bg1"/>
                </a:solidFill>
                <a:latin typeface="Aptos"/>
                <a:ea typeface="Calibri"/>
                <a:cs typeface="Calibri"/>
              </a:rPr>
              <a:t>Сценарии</a:t>
            </a:r>
            <a:endParaRPr lang="en-GB" sz="1400">
              <a:solidFill>
                <a:schemeClr val="bg1"/>
              </a:solidFill>
              <a:latin typeface="Aptos"/>
              <a:ea typeface="Calibri"/>
              <a:cs typeface="Calibri"/>
            </a:endParaRPr>
          </a:p>
        </p:txBody>
      </p:sp>
      <p:sp>
        <p:nvSpPr>
          <p:cNvPr id="36" name="Rectangle 31">
            <a:extLst>
              <a:ext uri="{FF2B5EF4-FFF2-40B4-BE49-F238E27FC236}">
                <a16:creationId xmlns:a16="http://schemas.microsoft.com/office/drawing/2014/main" id="{DED23D5E-3193-495E-8088-EA4BA5D49441}"/>
              </a:ext>
            </a:extLst>
          </p:cNvPr>
          <p:cNvSpPr/>
          <p:nvPr/>
        </p:nvSpPr>
        <p:spPr>
          <a:xfrm>
            <a:off x="-1671" y="1298382"/>
            <a:ext cx="1442908" cy="4485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chemeClr val="bg1"/>
                </a:solidFill>
                <a:latin typeface="Aptos"/>
                <a:ea typeface="Calibri"/>
                <a:cs typeface="Calibri"/>
              </a:rPr>
              <a:t>Стъпки в обаждането</a:t>
            </a:r>
            <a:endParaRPr lang="en-GB" sz="1400">
              <a:solidFill>
                <a:schemeClr val="bg1"/>
              </a:solidFill>
              <a:latin typeface="Aptos"/>
              <a:ea typeface="Calibri"/>
              <a:cs typeface="Calibri"/>
            </a:endParaRPr>
          </a:p>
        </p:txBody>
      </p:sp>
      <p:sp>
        <p:nvSpPr>
          <p:cNvPr id="37" name="Rectangle 3">
            <a:extLst>
              <a:ext uri="{FF2B5EF4-FFF2-40B4-BE49-F238E27FC236}">
                <a16:creationId xmlns:a16="http://schemas.microsoft.com/office/drawing/2014/main" id="{378ECB6D-60CC-4412-A872-24279CE2E006}"/>
              </a:ext>
            </a:extLst>
          </p:cNvPr>
          <p:cNvSpPr/>
          <p:nvPr/>
        </p:nvSpPr>
        <p:spPr>
          <a:xfrm>
            <a:off x="1443475" y="4245"/>
            <a:ext cx="5338363" cy="67724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38" name="Rectangle 4">
            <a:extLst>
              <a:ext uri="{FF2B5EF4-FFF2-40B4-BE49-F238E27FC236}">
                <a16:creationId xmlns:a16="http://schemas.microsoft.com/office/drawing/2014/main" id="{ACA9047E-EFD9-4D26-B378-B41676EE2CA7}"/>
              </a:ext>
            </a:extLst>
          </p:cNvPr>
          <p:cNvSpPr/>
          <p:nvPr/>
        </p:nvSpPr>
        <p:spPr>
          <a:xfrm>
            <a:off x="6788435" y="4245"/>
            <a:ext cx="5417300" cy="677242"/>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39" name="Rectangle 28">
            <a:extLst>
              <a:ext uri="{FF2B5EF4-FFF2-40B4-BE49-F238E27FC236}">
                <a16:creationId xmlns:a16="http://schemas.microsoft.com/office/drawing/2014/main" id="{862CE976-BF0E-4B69-A3A6-397F276F6B04}"/>
              </a:ext>
            </a:extLst>
          </p:cNvPr>
          <p:cNvSpPr/>
          <p:nvPr/>
        </p:nvSpPr>
        <p:spPr>
          <a:xfrm>
            <a:off x="-15827" y="690328"/>
            <a:ext cx="1465322"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FFFFFF"/>
                </a:solidFill>
                <a:latin typeface="Aptos"/>
                <a:ea typeface="Calibri"/>
                <a:cs typeface="Calibri"/>
              </a:rPr>
              <a:t>Подготовка</a:t>
            </a:r>
            <a:endParaRPr lang="en-GB" sz="1400">
              <a:solidFill>
                <a:srgbClr val="FFFFFF"/>
              </a:solidFill>
              <a:latin typeface="Aptos"/>
              <a:ea typeface="Calibri"/>
              <a:cs typeface="Calibri"/>
            </a:endParaRPr>
          </a:p>
        </p:txBody>
      </p:sp>
      <p:pic>
        <p:nvPicPr>
          <p:cNvPr id="40" name="Picture 39">
            <a:extLst>
              <a:ext uri="{FF2B5EF4-FFF2-40B4-BE49-F238E27FC236}">
                <a16:creationId xmlns:a16="http://schemas.microsoft.com/office/drawing/2014/main" id="{0143A959-6550-466F-B40D-F7D626211181}"/>
              </a:ext>
            </a:extLst>
          </p:cNvPr>
          <p:cNvPicPr>
            <a:picLocks noChangeAspect="1"/>
          </p:cNvPicPr>
          <p:nvPr/>
        </p:nvPicPr>
        <p:blipFill>
          <a:blip r:embed="rId2"/>
          <a:stretch>
            <a:fillRect/>
          </a:stretch>
        </p:blipFill>
        <p:spPr>
          <a:xfrm>
            <a:off x="10883590" y="5621341"/>
            <a:ext cx="982751" cy="995681"/>
          </a:xfrm>
          <a:prstGeom prst="rect">
            <a:avLst/>
          </a:prstGeom>
        </p:spPr>
      </p:pic>
    </p:spTree>
    <p:extLst>
      <p:ext uri="{BB962C8B-B14F-4D97-AF65-F5344CB8AC3E}">
        <p14:creationId xmlns:p14="http://schemas.microsoft.com/office/powerpoint/2010/main" val="114408623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1D2C93-C77F-8F92-E327-E90CD1988773}"/>
            </a:ext>
          </a:extLst>
        </p:cNvPr>
        <p:cNvGrpSpPr/>
        <p:nvPr/>
      </p:nvGrpSpPr>
      <p:grpSpPr>
        <a:xfrm>
          <a:off x="0" y="0"/>
          <a:ext cx="0" cy="0"/>
          <a:chOff x="0" y="0"/>
          <a:chExt cx="0" cy="0"/>
        </a:xfrm>
      </p:grpSpPr>
      <p:sp>
        <p:nvSpPr>
          <p:cNvPr id="20" name="Балонче за говор: правоъгълник със заоблени ъгли 19">
            <a:extLst>
              <a:ext uri="{FF2B5EF4-FFF2-40B4-BE49-F238E27FC236}">
                <a16:creationId xmlns:a16="http://schemas.microsoft.com/office/drawing/2014/main" id="{76FCCC8C-7D1D-BFF0-B340-2230CB07062D}"/>
              </a:ext>
            </a:extLst>
          </p:cNvPr>
          <p:cNvSpPr/>
          <p:nvPr/>
        </p:nvSpPr>
        <p:spPr>
          <a:xfrm>
            <a:off x="8084634" y="992477"/>
            <a:ext cx="3791796" cy="3035123"/>
          </a:xfrm>
          <a:prstGeom prst="roundRect">
            <a:avLst>
              <a:gd name="adj" fmla="val 8958"/>
            </a:avLst>
          </a:prstGeom>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ru-RU" sz="1400" b="1"/>
              <a:t>Злонамерен</a:t>
            </a:r>
            <a:br>
              <a:rPr lang="ru-RU" sz="1400"/>
            </a:br>
            <a:r>
              <a:rPr lang="ru-RU" sz="1400" b="1">
                <a:ea typeface="+mn-lt"/>
                <a:cs typeface="+mn-lt"/>
              </a:rPr>
              <a:t>Характеристики:</a:t>
            </a:r>
            <a:endParaRPr lang="bg-BG" sz="1400"/>
          </a:p>
          <a:p>
            <a:pPr marL="285750" indent="-285750">
              <a:buFont typeface="Arial"/>
              <a:buChar char="•"/>
            </a:pPr>
            <a:r>
              <a:rPr lang="ru-RU" sz="1400">
                <a:ea typeface="+mn-lt"/>
                <a:cs typeface="+mn-lt"/>
              </a:rPr>
              <a:t>Груби, арогантни </a:t>
            </a:r>
            <a:endParaRPr lang="ru-RU"/>
          </a:p>
          <a:p>
            <a:pPr marL="285750" indent="-285750">
              <a:buFont typeface="Arial"/>
              <a:buChar char="•"/>
            </a:pPr>
            <a:r>
              <a:rPr lang="ru-RU" sz="1400">
                <a:ea typeface="+mn-lt"/>
                <a:cs typeface="+mn-lt"/>
              </a:rPr>
              <a:t>Провокативни </a:t>
            </a:r>
            <a:endParaRPr lang="ru-RU"/>
          </a:p>
          <a:p>
            <a:pPr marL="285750" indent="-285750">
              <a:buFont typeface="Arial"/>
              <a:buChar char="•"/>
            </a:pPr>
            <a:r>
              <a:rPr lang="ru-RU" sz="1400">
                <a:ea typeface="+mn-lt"/>
                <a:cs typeface="+mn-lt"/>
              </a:rPr>
              <a:t>Отмъстителни </a:t>
            </a:r>
            <a:endParaRPr lang="ru-RU"/>
          </a:p>
          <a:p>
            <a:pPr marL="285750" indent="-285750">
              <a:buFont typeface="Arial"/>
              <a:buChar char="•"/>
            </a:pPr>
            <a:r>
              <a:rPr lang="ru-RU" sz="1400">
                <a:ea typeface="+mn-lt"/>
                <a:cs typeface="+mn-lt"/>
              </a:rPr>
              <a:t>Вулгарни и заядливи </a:t>
            </a:r>
            <a:endParaRPr lang="ru-RU"/>
          </a:p>
          <a:p>
            <a:pPr marL="285750" indent="-285750">
              <a:buFont typeface="Arial"/>
              <a:buChar char="•"/>
            </a:pPr>
            <a:r>
              <a:rPr lang="ru-RU" sz="1400">
                <a:ea typeface="+mn-lt"/>
                <a:cs typeface="+mn-lt"/>
              </a:rPr>
              <a:t>Търсят конфликт </a:t>
            </a:r>
            <a:endParaRPr lang="ru-RU"/>
          </a:p>
          <a:p>
            <a:r>
              <a:rPr lang="ru-RU" sz="1400" b="1">
                <a:ea typeface="+mn-lt"/>
                <a:cs typeface="+mn-lt"/>
              </a:rPr>
              <a:t>Предпочитана комуникация:</a:t>
            </a:r>
            <a:endParaRPr lang="ru-RU" b="1">
              <a:ea typeface="+mn-lt"/>
              <a:cs typeface="+mn-lt"/>
            </a:endParaRPr>
          </a:p>
          <a:p>
            <a:pPr marL="285750" indent="-285750">
              <a:buFont typeface="Arial"/>
              <a:buChar char="•"/>
            </a:pPr>
            <a:r>
              <a:rPr lang="ru-RU" sz="1400">
                <a:ea typeface="+mn-lt"/>
                <a:cs typeface="+mn-lt"/>
              </a:rPr>
              <a:t>Не се ядосвай </a:t>
            </a:r>
            <a:endParaRPr lang="ru-RU"/>
          </a:p>
          <a:p>
            <a:pPr marL="285750" indent="-285750">
              <a:buFont typeface="Arial"/>
              <a:buChar char="•"/>
            </a:pPr>
            <a:r>
              <a:rPr lang="ru-RU" sz="1400">
                <a:ea typeface="+mn-lt"/>
                <a:cs typeface="+mn-lt"/>
              </a:rPr>
              <a:t>Не влизай в техния тон </a:t>
            </a:r>
            <a:endParaRPr lang="ru-RU"/>
          </a:p>
          <a:p>
            <a:pPr marL="285750" indent="-285750">
              <a:buFont typeface="Arial"/>
              <a:buChar char="•"/>
            </a:pPr>
            <a:r>
              <a:rPr lang="ru-RU" sz="1400">
                <a:ea typeface="+mn-lt"/>
                <a:cs typeface="+mn-lt"/>
              </a:rPr>
              <a:t>Не се поддавай на провокации </a:t>
            </a:r>
            <a:endParaRPr lang="ru-RU"/>
          </a:p>
          <a:p>
            <a:pPr marL="285750" indent="-285750">
              <a:buFont typeface="Arial"/>
              <a:buChar char="•"/>
            </a:pPr>
            <a:r>
              <a:rPr lang="ru-RU" sz="1400">
                <a:ea typeface="+mn-lt"/>
                <a:cs typeface="+mn-lt"/>
              </a:rPr>
              <a:t>Кратко и ефективно приключване </a:t>
            </a:r>
            <a:endParaRPr lang="ru-RU"/>
          </a:p>
          <a:p>
            <a:endParaRPr lang="ru-RU" sz="1400"/>
          </a:p>
        </p:txBody>
      </p:sp>
      <p:sp>
        <p:nvSpPr>
          <p:cNvPr id="21" name="Rectangle 28">
            <a:extLst>
              <a:ext uri="{FF2B5EF4-FFF2-40B4-BE49-F238E27FC236}">
                <a16:creationId xmlns:a16="http://schemas.microsoft.com/office/drawing/2014/main" id="{E4E33190-ACDB-4455-B8A6-B0400E4DA860}"/>
              </a:ext>
            </a:extLst>
          </p:cNvPr>
          <p:cNvSpPr/>
          <p:nvPr/>
        </p:nvSpPr>
        <p:spPr>
          <a:xfrm>
            <a:off x="-15824" y="1599"/>
            <a:ext cx="1465320" cy="6859628"/>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400">
              <a:latin typeface="Aptos"/>
              <a:ea typeface="Calibri"/>
              <a:cs typeface="Calibri"/>
            </a:endParaRPr>
          </a:p>
        </p:txBody>
      </p:sp>
      <p:sp>
        <p:nvSpPr>
          <p:cNvPr id="23" name="Rectangle 29">
            <a:extLst>
              <a:ext uri="{FF2B5EF4-FFF2-40B4-BE49-F238E27FC236}">
                <a16:creationId xmlns:a16="http://schemas.microsoft.com/office/drawing/2014/main" id="{44252046-B5C9-4DDF-9396-03D7BB4DB257}"/>
              </a:ext>
            </a:extLst>
          </p:cNvPr>
          <p:cNvSpPr/>
          <p:nvPr/>
        </p:nvSpPr>
        <p:spPr>
          <a:xfrm>
            <a:off x="-1671" y="2528038"/>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002060"/>
                </a:solidFill>
                <a:latin typeface="Aptos"/>
                <a:ea typeface="Calibri"/>
                <a:cs typeface="Calibri"/>
              </a:rPr>
              <a:t>Типове клиенти</a:t>
            </a:r>
            <a:endParaRPr lang="en-GB" sz="1400">
              <a:solidFill>
                <a:srgbClr val="002060"/>
              </a:solidFill>
              <a:latin typeface="Aptos"/>
              <a:ea typeface="Calibri"/>
              <a:cs typeface="Calibri"/>
            </a:endParaRPr>
          </a:p>
        </p:txBody>
      </p:sp>
      <p:sp>
        <p:nvSpPr>
          <p:cNvPr id="25" name="Rectangle 30">
            <a:extLst>
              <a:ext uri="{FF2B5EF4-FFF2-40B4-BE49-F238E27FC236}">
                <a16:creationId xmlns:a16="http://schemas.microsoft.com/office/drawing/2014/main" id="{9BC92CAC-382A-4BB9-AB3F-710D90741082}"/>
              </a:ext>
            </a:extLst>
          </p:cNvPr>
          <p:cNvSpPr/>
          <p:nvPr/>
        </p:nvSpPr>
        <p:spPr>
          <a:xfrm>
            <a:off x="8626" y="1913210"/>
            <a:ext cx="1442908" cy="4485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chemeClr val="bg1"/>
                </a:solidFill>
                <a:latin typeface="Aptos"/>
                <a:ea typeface="Calibri"/>
                <a:cs typeface="Calibri"/>
              </a:rPr>
              <a:t>Сценарии</a:t>
            </a:r>
            <a:endParaRPr lang="en-GB" sz="1400">
              <a:solidFill>
                <a:schemeClr val="bg1"/>
              </a:solidFill>
              <a:latin typeface="Aptos"/>
              <a:ea typeface="Calibri"/>
              <a:cs typeface="Calibri"/>
            </a:endParaRPr>
          </a:p>
        </p:txBody>
      </p:sp>
      <p:sp>
        <p:nvSpPr>
          <p:cNvPr id="26" name="Rectangle 31">
            <a:extLst>
              <a:ext uri="{FF2B5EF4-FFF2-40B4-BE49-F238E27FC236}">
                <a16:creationId xmlns:a16="http://schemas.microsoft.com/office/drawing/2014/main" id="{610EC713-8CD3-43BB-B57A-B089FF3E6459}"/>
              </a:ext>
            </a:extLst>
          </p:cNvPr>
          <p:cNvSpPr/>
          <p:nvPr/>
        </p:nvSpPr>
        <p:spPr>
          <a:xfrm>
            <a:off x="-1671" y="1298382"/>
            <a:ext cx="1442908" cy="4485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chemeClr val="bg1"/>
                </a:solidFill>
                <a:latin typeface="Aptos"/>
                <a:ea typeface="Calibri"/>
                <a:cs typeface="Calibri"/>
              </a:rPr>
              <a:t>Стъпки в обаждането</a:t>
            </a:r>
            <a:endParaRPr lang="en-GB" sz="1400">
              <a:solidFill>
                <a:schemeClr val="bg1"/>
              </a:solidFill>
              <a:latin typeface="Aptos"/>
              <a:ea typeface="Calibri"/>
              <a:cs typeface="Calibri"/>
            </a:endParaRPr>
          </a:p>
        </p:txBody>
      </p:sp>
      <p:sp>
        <p:nvSpPr>
          <p:cNvPr id="27" name="Rectangle 3">
            <a:extLst>
              <a:ext uri="{FF2B5EF4-FFF2-40B4-BE49-F238E27FC236}">
                <a16:creationId xmlns:a16="http://schemas.microsoft.com/office/drawing/2014/main" id="{BE1A8FE9-2863-4680-A9D5-20EB21AE49F3}"/>
              </a:ext>
            </a:extLst>
          </p:cNvPr>
          <p:cNvSpPr/>
          <p:nvPr/>
        </p:nvSpPr>
        <p:spPr>
          <a:xfrm>
            <a:off x="1443475" y="4245"/>
            <a:ext cx="5338363" cy="67724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28" name="Rectangle 4">
            <a:extLst>
              <a:ext uri="{FF2B5EF4-FFF2-40B4-BE49-F238E27FC236}">
                <a16:creationId xmlns:a16="http://schemas.microsoft.com/office/drawing/2014/main" id="{03DC33FD-ACC3-484A-929E-2C2E27A30398}"/>
              </a:ext>
            </a:extLst>
          </p:cNvPr>
          <p:cNvSpPr/>
          <p:nvPr/>
        </p:nvSpPr>
        <p:spPr>
          <a:xfrm>
            <a:off x="6788435" y="4245"/>
            <a:ext cx="5417300" cy="677242"/>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29" name="Rectangle 28">
            <a:extLst>
              <a:ext uri="{FF2B5EF4-FFF2-40B4-BE49-F238E27FC236}">
                <a16:creationId xmlns:a16="http://schemas.microsoft.com/office/drawing/2014/main" id="{10E03BB3-2CE0-4292-A60C-E3A0745B5546}"/>
              </a:ext>
            </a:extLst>
          </p:cNvPr>
          <p:cNvSpPr/>
          <p:nvPr/>
        </p:nvSpPr>
        <p:spPr>
          <a:xfrm>
            <a:off x="-15827" y="690328"/>
            <a:ext cx="1465322"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FFFFFF"/>
                </a:solidFill>
                <a:latin typeface="Aptos"/>
                <a:ea typeface="Calibri"/>
                <a:cs typeface="Calibri"/>
              </a:rPr>
              <a:t>Подготовка</a:t>
            </a:r>
            <a:endParaRPr lang="en-GB" sz="1400">
              <a:solidFill>
                <a:srgbClr val="FFFFFF"/>
              </a:solidFill>
              <a:latin typeface="Aptos"/>
              <a:ea typeface="Calibri"/>
              <a:cs typeface="Calibri"/>
            </a:endParaRPr>
          </a:p>
        </p:txBody>
      </p:sp>
      <p:sp>
        <p:nvSpPr>
          <p:cNvPr id="30" name="Rectangle: Rounded Corners 29">
            <a:extLst>
              <a:ext uri="{FF2B5EF4-FFF2-40B4-BE49-F238E27FC236}">
                <a16:creationId xmlns:a16="http://schemas.microsoft.com/office/drawing/2014/main" id="{008B1C21-7FF7-4F4D-A43F-21908256969E}"/>
              </a:ext>
            </a:extLst>
          </p:cNvPr>
          <p:cNvSpPr/>
          <p:nvPr/>
        </p:nvSpPr>
        <p:spPr>
          <a:xfrm>
            <a:off x="1893066" y="1041323"/>
            <a:ext cx="2706332" cy="715919"/>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Агресивен</a:t>
            </a:r>
            <a:endParaRPr lang="en-GB" sz="1600"/>
          </a:p>
        </p:txBody>
      </p:sp>
      <p:sp>
        <p:nvSpPr>
          <p:cNvPr id="31" name="Rectangle: Rounded Corners 30">
            <a:extLst>
              <a:ext uri="{FF2B5EF4-FFF2-40B4-BE49-F238E27FC236}">
                <a16:creationId xmlns:a16="http://schemas.microsoft.com/office/drawing/2014/main" id="{768CA04C-CF96-415D-9D7A-B8594755E9FB}"/>
              </a:ext>
            </a:extLst>
          </p:cNvPr>
          <p:cNvSpPr/>
          <p:nvPr/>
        </p:nvSpPr>
        <p:spPr>
          <a:xfrm>
            <a:off x="1893066" y="1871904"/>
            <a:ext cx="2706332" cy="705772"/>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Аналитичен</a:t>
            </a:r>
            <a:endParaRPr lang="en-GB" sz="1600"/>
          </a:p>
        </p:txBody>
      </p:sp>
      <p:sp>
        <p:nvSpPr>
          <p:cNvPr id="32" name="Rectangle: Rounded Corners 31">
            <a:extLst>
              <a:ext uri="{FF2B5EF4-FFF2-40B4-BE49-F238E27FC236}">
                <a16:creationId xmlns:a16="http://schemas.microsoft.com/office/drawing/2014/main" id="{2C9EE984-EF69-4A1D-8DC4-59E5F60B6A72}"/>
              </a:ext>
            </a:extLst>
          </p:cNvPr>
          <p:cNvSpPr/>
          <p:nvPr/>
        </p:nvSpPr>
        <p:spPr>
          <a:xfrm>
            <a:off x="1893066" y="2692338"/>
            <a:ext cx="2706332" cy="699716"/>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Трудно схватлив</a:t>
            </a:r>
            <a:endParaRPr lang="en-GB" sz="1600"/>
          </a:p>
        </p:txBody>
      </p:sp>
      <p:sp>
        <p:nvSpPr>
          <p:cNvPr id="33" name="Rectangle 9">
            <a:extLst>
              <a:ext uri="{FF2B5EF4-FFF2-40B4-BE49-F238E27FC236}">
                <a16:creationId xmlns:a16="http://schemas.microsoft.com/office/drawing/2014/main" id="{C344A3F7-F22E-433C-B921-43D565AACE21}"/>
              </a:ext>
            </a:extLst>
          </p:cNvPr>
          <p:cNvSpPr/>
          <p:nvPr/>
        </p:nvSpPr>
        <p:spPr>
          <a:xfrm>
            <a:off x="1893066" y="3506716"/>
            <a:ext cx="2706332" cy="692699"/>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Злонамерен</a:t>
            </a:r>
            <a:endParaRPr lang="en-GB" sz="1600"/>
          </a:p>
        </p:txBody>
      </p:sp>
      <p:sp>
        <p:nvSpPr>
          <p:cNvPr id="34" name="Rectangle 11">
            <a:extLst>
              <a:ext uri="{FF2B5EF4-FFF2-40B4-BE49-F238E27FC236}">
                <a16:creationId xmlns:a16="http://schemas.microsoft.com/office/drawing/2014/main" id="{F07CDA58-8343-4426-BE5A-EF5EED9301ED}"/>
              </a:ext>
            </a:extLst>
          </p:cNvPr>
          <p:cNvSpPr/>
          <p:nvPr/>
        </p:nvSpPr>
        <p:spPr>
          <a:xfrm>
            <a:off x="1893066" y="4314076"/>
            <a:ext cx="2706332" cy="677242"/>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ВИП</a:t>
            </a:r>
            <a:endParaRPr lang="en-GB" sz="1600"/>
          </a:p>
        </p:txBody>
      </p:sp>
      <p:sp>
        <p:nvSpPr>
          <p:cNvPr id="35" name="Rectangle 9">
            <a:extLst>
              <a:ext uri="{FF2B5EF4-FFF2-40B4-BE49-F238E27FC236}">
                <a16:creationId xmlns:a16="http://schemas.microsoft.com/office/drawing/2014/main" id="{47AD426C-CFFD-4BF3-8204-CC9E86965CF9}"/>
              </a:ext>
            </a:extLst>
          </p:cNvPr>
          <p:cNvSpPr/>
          <p:nvPr/>
        </p:nvSpPr>
        <p:spPr>
          <a:xfrm>
            <a:off x="5053978" y="1872908"/>
            <a:ext cx="2706332" cy="705772"/>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Подозрителен</a:t>
            </a:r>
            <a:endParaRPr lang="en-GB" sz="1600"/>
          </a:p>
        </p:txBody>
      </p:sp>
      <p:sp>
        <p:nvSpPr>
          <p:cNvPr id="36" name="Rectangle 11">
            <a:extLst>
              <a:ext uri="{FF2B5EF4-FFF2-40B4-BE49-F238E27FC236}">
                <a16:creationId xmlns:a16="http://schemas.microsoft.com/office/drawing/2014/main" id="{25B3C970-BCBE-4A19-AE74-97B248A4C368}"/>
              </a:ext>
            </a:extLst>
          </p:cNvPr>
          <p:cNvSpPr/>
          <p:nvPr/>
        </p:nvSpPr>
        <p:spPr>
          <a:xfrm>
            <a:off x="5053978" y="1041324"/>
            <a:ext cx="2706332" cy="715918"/>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Манипулативен</a:t>
            </a:r>
            <a:endParaRPr lang="en-GB" sz="1600"/>
          </a:p>
        </p:txBody>
      </p:sp>
      <p:sp>
        <p:nvSpPr>
          <p:cNvPr id="37" name="Rectangle 13">
            <a:extLst>
              <a:ext uri="{FF2B5EF4-FFF2-40B4-BE49-F238E27FC236}">
                <a16:creationId xmlns:a16="http://schemas.microsoft.com/office/drawing/2014/main" id="{FFA836F4-9ADE-4448-8E2A-5C47012CAD0A}"/>
              </a:ext>
            </a:extLst>
          </p:cNvPr>
          <p:cNvSpPr/>
          <p:nvPr/>
        </p:nvSpPr>
        <p:spPr>
          <a:xfrm>
            <a:off x="5053978" y="2694346"/>
            <a:ext cx="2706332" cy="695699"/>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Нерешителен</a:t>
            </a:r>
            <a:endParaRPr lang="en-GB" sz="1600"/>
          </a:p>
        </p:txBody>
      </p:sp>
      <p:sp>
        <p:nvSpPr>
          <p:cNvPr id="38" name="Rectangle 9">
            <a:extLst>
              <a:ext uri="{FF2B5EF4-FFF2-40B4-BE49-F238E27FC236}">
                <a16:creationId xmlns:a16="http://schemas.microsoft.com/office/drawing/2014/main" id="{26AEC8D3-ECE6-41E3-BC85-0E53DB63E618}"/>
              </a:ext>
            </a:extLst>
          </p:cNvPr>
          <p:cNvSpPr/>
          <p:nvPr/>
        </p:nvSpPr>
        <p:spPr>
          <a:xfrm>
            <a:off x="5053978" y="4314076"/>
            <a:ext cx="2706332" cy="677242"/>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Търсещ социален контакт</a:t>
            </a:r>
            <a:endParaRPr lang="en-GB" sz="1600"/>
          </a:p>
        </p:txBody>
      </p:sp>
      <p:sp>
        <p:nvSpPr>
          <p:cNvPr id="39" name="Rectangle 11">
            <a:extLst>
              <a:ext uri="{FF2B5EF4-FFF2-40B4-BE49-F238E27FC236}">
                <a16:creationId xmlns:a16="http://schemas.microsoft.com/office/drawing/2014/main" id="{A75F6735-29F5-491B-BC5C-13C4E9F778A2}"/>
              </a:ext>
            </a:extLst>
          </p:cNvPr>
          <p:cNvSpPr/>
          <p:nvPr/>
        </p:nvSpPr>
        <p:spPr>
          <a:xfrm>
            <a:off x="5053978" y="3505711"/>
            <a:ext cx="2706332" cy="692699"/>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Импулсивен </a:t>
            </a:r>
            <a:endParaRPr lang="en-GB" sz="1600"/>
          </a:p>
        </p:txBody>
      </p:sp>
      <p:pic>
        <p:nvPicPr>
          <p:cNvPr id="40" name="Picture 39">
            <a:extLst>
              <a:ext uri="{FF2B5EF4-FFF2-40B4-BE49-F238E27FC236}">
                <a16:creationId xmlns:a16="http://schemas.microsoft.com/office/drawing/2014/main" id="{BA86F859-C16F-4BCD-98E9-7A8497CE92DD}"/>
              </a:ext>
            </a:extLst>
          </p:cNvPr>
          <p:cNvPicPr>
            <a:picLocks noChangeAspect="1"/>
          </p:cNvPicPr>
          <p:nvPr/>
        </p:nvPicPr>
        <p:blipFill>
          <a:blip r:embed="rId2"/>
          <a:stretch>
            <a:fillRect/>
          </a:stretch>
        </p:blipFill>
        <p:spPr>
          <a:xfrm>
            <a:off x="10883590" y="5621341"/>
            <a:ext cx="982751" cy="995681"/>
          </a:xfrm>
          <a:prstGeom prst="rect">
            <a:avLst/>
          </a:prstGeom>
        </p:spPr>
      </p:pic>
    </p:spTree>
    <p:extLst>
      <p:ext uri="{BB962C8B-B14F-4D97-AF65-F5344CB8AC3E}">
        <p14:creationId xmlns:p14="http://schemas.microsoft.com/office/powerpoint/2010/main" val="122208331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68C320-AC3F-77C6-43E9-12160563AF3D}"/>
            </a:ext>
          </a:extLst>
        </p:cNvPr>
        <p:cNvGrpSpPr/>
        <p:nvPr/>
      </p:nvGrpSpPr>
      <p:grpSpPr>
        <a:xfrm>
          <a:off x="0" y="0"/>
          <a:ext cx="0" cy="0"/>
          <a:chOff x="0" y="0"/>
          <a:chExt cx="0" cy="0"/>
        </a:xfrm>
      </p:grpSpPr>
      <p:sp>
        <p:nvSpPr>
          <p:cNvPr id="20" name="Балонче за говор: правоъгълник със заоблени ъгли 19">
            <a:extLst>
              <a:ext uri="{FF2B5EF4-FFF2-40B4-BE49-F238E27FC236}">
                <a16:creationId xmlns:a16="http://schemas.microsoft.com/office/drawing/2014/main" id="{DBDF0AC8-E256-39BC-2CB9-972B971D9719}"/>
              </a:ext>
            </a:extLst>
          </p:cNvPr>
          <p:cNvSpPr/>
          <p:nvPr/>
        </p:nvSpPr>
        <p:spPr>
          <a:xfrm>
            <a:off x="8080336" y="992477"/>
            <a:ext cx="3912445" cy="3210969"/>
          </a:xfrm>
          <a:prstGeom prst="roundRect">
            <a:avLst>
              <a:gd name="adj" fmla="val 8958"/>
            </a:avLst>
          </a:prstGeom>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ru-RU" sz="1400" b="1"/>
              <a:t>VIP</a:t>
            </a:r>
            <a:br>
              <a:rPr lang="ru-RU" sz="1400"/>
            </a:br>
            <a:r>
              <a:rPr lang="ru-RU" sz="1400" b="1">
                <a:ea typeface="+mn-lt"/>
                <a:cs typeface="+mn-lt"/>
              </a:rPr>
              <a:t>Характеристики:</a:t>
            </a:r>
            <a:endParaRPr lang="ru-RU" sz="1400"/>
          </a:p>
          <a:p>
            <a:pPr marL="285750" indent="-285750">
              <a:buFont typeface="Arial"/>
              <a:buChar char="•"/>
            </a:pPr>
            <a:r>
              <a:rPr lang="ru-RU" sz="1400">
                <a:ea typeface="+mn-lt"/>
                <a:cs typeface="+mn-lt"/>
              </a:rPr>
              <a:t>Висок социален статус </a:t>
            </a:r>
            <a:endParaRPr lang="ru-RU"/>
          </a:p>
          <a:p>
            <a:pPr marL="285750" indent="-285750">
              <a:buFont typeface="Arial"/>
              <a:buChar char="•"/>
            </a:pPr>
            <a:r>
              <a:rPr lang="ru-RU" sz="1400">
                <a:ea typeface="+mn-lt"/>
                <a:cs typeface="+mn-lt"/>
              </a:rPr>
              <a:t>Ограничено време </a:t>
            </a:r>
            <a:endParaRPr lang="ru-RU"/>
          </a:p>
          <a:p>
            <a:pPr marL="285750" indent="-285750">
              <a:buFont typeface="Arial"/>
              <a:buChar char="•"/>
            </a:pPr>
            <a:r>
              <a:rPr lang="ru-RU" sz="1400">
                <a:ea typeface="+mn-lt"/>
                <a:cs typeface="+mn-lt"/>
              </a:rPr>
              <a:t>Свикнали на специално отношение </a:t>
            </a:r>
            <a:endParaRPr lang="ru-RU"/>
          </a:p>
          <a:p>
            <a:pPr marL="285750" indent="-285750">
              <a:buFont typeface="Arial"/>
              <a:buChar char="•"/>
            </a:pPr>
            <a:r>
              <a:rPr lang="ru-RU" sz="1400">
                <a:ea typeface="+mn-lt"/>
                <a:cs typeface="+mn-lt"/>
              </a:rPr>
              <a:t>Високо самочувствие </a:t>
            </a:r>
            <a:endParaRPr lang="ru-RU"/>
          </a:p>
          <a:p>
            <a:pPr marL="285750" indent="-285750">
              <a:buFont typeface="Arial"/>
              <a:buChar char="•"/>
            </a:pPr>
            <a:r>
              <a:rPr lang="ru-RU" sz="1400">
                <a:ea typeface="+mn-lt"/>
                <a:cs typeface="+mn-lt"/>
              </a:rPr>
              <a:t>Лоялни клиенти </a:t>
            </a:r>
            <a:endParaRPr lang="ru-RU"/>
          </a:p>
          <a:p>
            <a:r>
              <a:rPr lang="ru-RU" sz="1400" b="1">
                <a:ea typeface="+mn-lt"/>
                <a:cs typeface="+mn-lt"/>
              </a:rPr>
              <a:t>Предпочитана комуникация:</a:t>
            </a:r>
            <a:endParaRPr lang="ru-RU"/>
          </a:p>
          <a:p>
            <a:pPr marL="285750" indent="-285750">
              <a:buFont typeface="Arial"/>
              <a:buChar char="•"/>
            </a:pPr>
            <a:r>
              <a:rPr lang="ru-RU" sz="1400">
                <a:ea typeface="+mn-lt"/>
                <a:cs typeface="+mn-lt"/>
              </a:rPr>
              <a:t>Делови и кратък разговор </a:t>
            </a:r>
            <a:endParaRPr lang="ru-RU"/>
          </a:p>
          <a:p>
            <a:pPr marL="285750" indent="-285750">
              <a:buFont typeface="Arial"/>
              <a:buChar char="•"/>
            </a:pPr>
            <a:r>
              <a:rPr lang="ru-RU" sz="1400">
                <a:ea typeface="+mn-lt"/>
                <a:cs typeface="+mn-lt"/>
              </a:rPr>
              <a:t>Любезност и уважение </a:t>
            </a:r>
            <a:endParaRPr lang="ru-RU"/>
          </a:p>
          <a:p>
            <a:pPr marL="285750" indent="-285750">
              <a:buFont typeface="Arial"/>
              <a:buChar char="•"/>
            </a:pPr>
            <a:r>
              <a:rPr lang="ru-RU" sz="1400">
                <a:ea typeface="+mn-lt"/>
                <a:cs typeface="+mn-lt"/>
              </a:rPr>
              <a:t>Ясни решения </a:t>
            </a:r>
            <a:endParaRPr lang="ru-RU"/>
          </a:p>
          <a:p>
            <a:pPr marL="285750" indent="-285750">
              <a:buFont typeface="Arial"/>
              <a:buChar char="•"/>
            </a:pPr>
            <a:r>
              <a:rPr lang="ru-RU" sz="1400">
                <a:ea typeface="+mn-lt"/>
                <a:cs typeface="+mn-lt"/>
              </a:rPr>
              <a:t>Професионализъм </a:t>
            </a:r>
            <a:endParaRPr lang="ru-RU"/>
          </a:p>
          <a:p>
            <a:pPr marL="285750" indent="-285750">
              <a:buFont typeface="Arial"/>
              <a:buChar char="•"/>
            </a:pPr>
            <a:r>
              <a:rPr lang="ru-RU" sz="1400">
                <a:ea typeface="+mn-lt"/>
                <a:cs typeface="+mn-lt"/>
              </a:rPr>
              <a:t>Спазване на процедури</a:t>
            </a:r>
            <a:endParaRPr lang="ru-RU"/>
          </a:p>
          <a:p>
            <a:endParaRPr lang="ru-RU" sz="1400"/>
          </a:p>
        </p:txBody>
      </p:sp>
      <p:sp>
        <p:nvSpPr>
          <p:cNvPr id="22" name="Rectangle: Rounded Corners 21">
            <a:extLst>
              <a:ext uri="{FF2B5EF4-FFF2-40B4-BE49-F238E27FC236}">
                <a16:creationId xmlns:a16="http://schemas.microsoft.com/office/drawing/2014/main" id="{01DAD843-09B5-4B29-8366-8E20AE19B9DF}"/>
              </a:ext>
            </a:extLst>
          </p:cNvPr>
          <p:cNvSpPr/>
          <p:nvPr/>
        </p:nvSpPr>
        <p:spPr>
          <a:xfrm>
            <a:off x="1893066" y="1041323"/>
            <a:ext cx="2706332" cy="715919"/>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Агресивен</a:t>
            </a:r>
            <a:endParaRPr lang="en-GB" sz="1600"/>
          </a:p>
        </p:txBody>
      </p:sp>
      <p:sp>
        <p:nvSpPr>
          <p:cNvPr id="24" name="Rectangle: Rounded Corners 23">
            <a:extLst>
              <a:ext uri="{FF2B5EF4-FFF2-40B4-BE49-F238E27FC236}">
                <a16:creationId xmlns:a16="http://schemas.microsoft.com/office/drawing/2014/main" id="{EDB7D10B-D8BB-4B5F-A700-E7FD6804CE1B}"/>
              </a:ext>
            </a:extLst>
          </p:cNvPr>
          <p:cNvSpPr/>
          <p:nvPr/>
        </p:nvSpPr>
        <p:spPr>
          <a:xfrm>
            <a:off x="1893066" y="1871904"/>
            <a:ext cx="2706332" cy="705772"/>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Аналитичен</a:t>
            </a:r>
            <a:endParaRPr lang="en-GB" sz="1600"/>
          </a:p>
        </p:txBody>
      </p:sp>
      <p:sp>
        <p:nvSpPr>
          <p:cNvPr id="25" name="Rectangle: Rounded Corners 24">
            <a:extLst>
              <a:ext uri="{FF2B5EF4-FFF2-40B4-BE49-F238E27FC236}">
                <a16:creationId xmlns:a16="http://schemas.microsoft.com/office/drawing/2014/main" id="{3F92FD76-7819-4F71-A9F4-2AEC6C6A05B8}"/>
              </a:ext>
            </a:extLst>
          </p:cNvPr>
          <p:cNvSpPr/>
          <p:nvPr/>
        </p:nvSpPr>
        <p:spPr>
          <a:xfrm>
            <a:off x="1893066" y="2692338"/>
            <a:ext cx="2706332" cy="699716"/>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Трудно схватлив</a:t>
            </a:r>
            <a:endParaRPr lang="en-GB" sz="1600"/>
          </a:p>
        </p:txBody>
      </p:sp>
      <p:sp>
        <p:nvSpPr>
          <p:cNvPr id="26" name="Rectangle 9">
            <a:extLst>
              <a:ext uri="{FF2B5EF4-FFF2-40B4-BE49-F238E27FC236}">
                <a16:creationId xmlns:a16="http://schemas.microsoft.com/office/drawing/2014/main" id="{658E693D-DF7D-4940-8077-FDE1A5ED6180}"/>
              </a:ext>
            </a:extLst>
          </p:cNvPr>
          <p:cNvSpPr/>
          <p:nvPr/>
        </p:nvSpPr>
        <p:spPr>
          <a:xfrm>
            <a:off x="1893066" y="3506716"/>
            <a:ext cx="2706332" cy="692699"/>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Злонамерен</a:t>
            </a:r>
            <a:endParaRPr lang="en-GB" sz="1600"/>
          </a:p>
        </p:txBody>
      </p:sp>
      <p:sp>
        <p:nvSpPr>
          <p:cNvPr id="27" name="Rectangle 11">
            <a:extLst>
              <a:ext uri="{FF2B5EF4-FFF2-40B4-BE49-F238E27FC236}">
                <a16:creationId xmlns:a16="http://schemas.microsoft.com/office/drawing/2014/main" id="{A72EBDA5-FE9A-4F76-819B-48ED2BAA249C}"/>
              </a:ext>
            </a:extLst>
          </p:cNvPr>
          <p:cNvSpPr/>
          <p:nvPr/>
        </p:nvSpPr>
        <p:spPr>
          <a:xfrm>
            <a:off x="1893066" y="4314076"/>
            <a:ext cx="2706332" cy="677242"/>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ВИП</a:t>
            </a:r>
            <a:endParaRPr lang="en-GB" sz="1600"/>
          </a:p>
        </p:txBody>
      </p:sp>
      <p:sp>
        <p:nvSpPr>
          <p:cNvPr id="28" name="Rectangle 9">
            <a:extLst>
              <a:ext uri="{FF2B5EF4-FFF2-40B4-BE49-F238E27FC236}">
                <a16:creationId xmlns:a16="http://schemas.microsoft.com/office/drawing/2014/main" id="{7D06F5B2-DA5E-4E3A-A2F7-1AEEFACF7760}"/>
              </a:ext>
            </a:extLst>
          </p:cNvPr>
          <p:cNvSpPr/>
          <p:nvPr/>
        </p:nvSpPr>
        <p:spPr>
          <a:xfrm>
            <a:off x="5053978" y="1872908"/>
            <a:ext cx="2706332" cy="705772"/>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Подозрителен</a:t>
            </a:r>
            <a:endParaRPr lang="en-GB" sz="1600"/>
          </a:p>
        </p:txBody>
      </p:sp>
      <p:sp>
        <p:nvSpPr>
          <p:cNvPr id="29" name="Rectangle 11">
            <a:extLst>
              <a:ext uri="{FF2B5EF4-FFF2-40B4-BE49-F238E27FC236}">
                <a16:creationId xmlns:a16="http://schemas.microsoft.com/office/drawing/2014/main" id="{958E3A95-4DEA-4C0D-A49B-FF4F337BAAEF}"/>
              </a:ext>
            </a:extLst>
          </p:cNvPr>
          <p:cNvSpPr/>
          <p:nvPr/>
        </p:nvSpPr>
        <p:spPr>
          <a:xfrm>
            <a:off x="5053978" y="1041324"/>
            <a:ext cx="2706332" cy="715918"/>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Манипулативен</a:t>
            </a:r>
            <a:endParaRPr lang="en-GB" sz="1600"/>
          </a:p>
        </p:txBody>
      </p:sp>
      <p:sp>
        <p:nvSpPr>
          <p:cNvPr id="30" name="Rectangle 13">
            <a:extLst>
              <a:ext uri="{FF2B5EF4-FFF2-40B4-BE49-F238E27FC236}">
                <a16:creationId xmlns:a16="http://schemas.microsoft.com/office/drawing/2014/main" id="{3684EC93-1A71-472F-B5FC-5BEEE1F469C6}"/>
              </a:ext>
            </a:extLst>
          </p:cNvPr>
          <p:cNvSpPr/>
          <p:nvPr/>
        </p:nvSpPr>
        <p:spPr>
          <a:xfrm>
            <a:off x="5053978" y="2694346"/>
            <a:ext cx="2706332" cy="695699"/>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Нерешителен</a:t>
            </a:r>
            <a:endParaRPr lang="en-GB" sz="1600"/>
          </a:p>
        </p:txBody>
      </p:sp>
      <p:sp>
        <p:nvSpPr>
          <p:cNvPr id="31" name="Rectangle 9">
            <a:extLst>
              <a:ext uri="{FF2B5EF4-FFF2-40B4-BE49-F238E27FC236}">
                <a16:creationId xmlns:a16="http://schemas.microsoft.com/office/drawing/2014/main" id="{AAA44480-B286-4D80-89F1-5E25AE7E58BC}"/>
              </a:ext>
            </a:extLst>
          </p:cNvPr>
          <p:cNvSpPr/>
          <p:nvPr/>
        </p:nvSpPr>
        <p:spPr>
          <a:xfrm>
            <a:off x="5053978" y="4314076"/>
            <a:ext cx="2706332" cy="677242"/>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Търсещ социален контакт</a:t>
            </a:r>
            <a:endParaRPr lang="en-GB" sz="1600"/>
          </a:p>
        </p:txBody>
      </p:sp>
      <p:sp>
        <p:nvSpPr>
          <p:cNvPr id="32" name="Rectangle 11">
            <a:extLst>
              <a:ext uri="{FF2B5EF4-FFF2-40B4-BE49-F238E27FC236}">
                <a16:creationId xmlns:a16="http://schemas.microsoft.com/office/drawing/2014/main" id="{292568D3-7458-4567-97E2-A8E5AAE2D862}"/>
              </a:ext>
            </a:extLst>
          </p:cNvPr>
          <p:cNvSpPr/>
          <p:nvPr/>
        </p:nvSpPr>
        <p:spPr>
          <a:xfrm>
            <a:off x="5053978" y="3505711"/>
            <a:ext cx="2706332" cy="692699"/>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Импулсивен </a:t>
            </a:r>
            <a:endParaRPr lang="en-GB" sz="1600"/>
          </a:p>
        </p:txBody>
      </p:sp>
      <p:sp>
        <p:nvSpPr>
          <p:cNvPr id="33" name="Rectangle 28">
            <a:extLst>
              <a:ext uri="{FF2B5EF4-FFF2-40B4-BE49-F238E27FC236}">
                <a16:creationId xmlns:a16="http://schemas.microsoft.com/office/drawing/2014/main" id="{F77DCFBF-EEB1-48E6-A054-FE8EE525DD3B}"/>
              </a:ext>
            </a:extLst>
          </p:cNvPr>
          <p:cNvSpPr/>
          <p:nvPr/>
        </p:nvSpPr>
        <p:spPr>
          <a:xfrm>
            <a:off x="-15824" y="1599"/>
            <a:ext cx="1465320" cy="6859628"/>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400">
              <a:latin typeface="Aptos"/>
              <a:ea typeface="Calibri"/>
              <a:cs typeface="Calibri"/>
            </a:endParaRPr>
          </a:p>
        </p:txBody>
      </p:sp>
      <p:sp>
        <p:nvSpPr>
          <p:cNvPr id="34" name="Rectangle 29">
            <a:extLst>
              <a:ext uri="{FF2B5EF4-FFF2-40B4-BE49-F238E27FC236}">
                <a16:creationId xmlns:a16="http://schemas.microsoft.com/office/drawing/2014/main" id="{8261C58B-001E-4A82-BD55-E9365B47B619}"/>
              </a:ext>
            </a:extLst>
          </p:cNvPr>
          <p:cNvSpPr/>
          <p:nvPr/>
        </p:nvSpPr>
        <p:spPr>
          <a:xfrm>
            <a:off x="-1671" y="2528038"/>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002060"/>
                </a:solidFill>
                <a:latin typeface="Aptos"/>
                <a:ea typeface="Calibri"/>
                <a:cs typeface="Calibri"/>
              </a:rPr>
              <a:t>Типове клиенти</a:t>
            </a:r>
            <a:endParaRPr lang="en-GB" sz="1400">
              <a:solidFill>
                <a:srgbClr val="002060"/>
              </a:solidFill>
              <a:latin typeface="Aptos"/>
              <a:ea typeface="Calibri"/>
              <a:cs typeface="Calibri"/>
            </a:endParaRPr>
          </a:p>
        </p:txBody>
      </p:sp>
      <p:sp>
        <p:nvSpPr>
          <p:cNvPr id="35" name="Rectangle 30">
            <a:extLst>
              <a:ext uri="{FF2B5EF4-FFF2-40B4-BE49-F238E27FC236}">
                <a16:creationId xmlns:a16="http://schemas.microsoft.com/office/drawing/2014/main" id="{ED63DDFD-5AD2-4EEB-8F7F-7FD12D565802}"/>
              </a:ext>
            </a:extLst>
          </p:cNvPr>
          <p:cNvSpPr/>
          <p:nvPr/>
        </p:nvSpPr>
        <p:spPr>
          <a:xfrm>
            <a:off x="8626" y="1913210"/>
            <a:ext cx="1442908" cy="4485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chemeClr val="bg1"/>
                </a:solidFill>
                <a:latin typeface="Aptos"/>
                <a:ea typeface="Calibri"/>
                <a:cs typeface="Calibri"/>
              </a:rPr>
              <a:t>Сценарии</a:t>
            </a:r>
            <a:endParaRPr lang="en-GB" sz="1400">
              <a:solidFill>
                <a:schemeClr val="bg1"/>
              </a:solidFill>
              <a:latin typeface="Aptos"/>
              <a:ea typeface="Calibri"/>
              <a:cs typeface="Calibri"/>
            </a:endParaRPr>
          </a:p>
        </p:txBody>
      </p:sp>
      <p:sp>
        <p:nvSpPr>
          <p:cNvPr id="36" name="Rectangle 31">
            <a:extLst>
              <a:ext uri="{FF2B5EF4-FFF2-40B4-BE49-F238E27FC236}">
                <a16:creationId xmlns:a16="http://schemas.microsoft.com/office/drawing/2014/main" id="{9BE39944-9235-45CA-9E6A-26C1D4887835}"/>
              </a:ext>
            </a:extLst>
          </p:cNvPr>
          <p:cNvSpPr/>
          <p:nvPr/>
        </p:nvSpPr>
        <p:spPr>
          <a:xfrm>
            <a:off x="-1671" y="1298382"/>
            <a:ext cx="1442908" cy="4485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chemeClr val="bg1"/>
                </a:solidFill>
                <a:latin typeface="Aptos"/>
                <a:ea typeface="Calibri"/>
                <a:cs typeface="Calibri"/>
              </a:rPr>
              <a:t>Стъпки в обаждането</a:t>
            </a:r>
            <a:endParaRPr lang="en-GB" sz="1400">
              <a:solidFill>
                <a:schemeClr val="bg1"/>
              </a:solidFill>
              <a:latin typeface="Aptos"/>
              <a:ea typeface="Calibri"/>
              <a:cs typeface="Calibri"/>
            </a:endParaRPr>
          </a:p>
        </p:txBody>
      </p:sp>
      <p:sp>
        <p:nvSpPr>
          <p:cNvPr id="37" name="Rectangle 3">
            <a:extLst>
              <a:ext uri="{FF2B5EF4-FFF2-40B4-BE49-F238E27FC236}">
                <a16:creationId xmlns:a16="http://schemas.microsoft.com/office/drawing/2014/main" id="{45A012C0-029F-4D22-86DB-3A4FA8B3FA66}"/>
              </a:ext>
            </a:extLst>
          </p:cNvPr>
          <p:cNvSpPr/>
          <p:nvPr/>
        </p:nvSpPr>
        <p:spPr>
          <a:xfrm>
            <a:off x="1443475" y="4245"/>
            <a:ext cx="5338363" cy="67724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38" name="Rectangle 4">
            <a:extLst>
              <a:ext uri="{FF2B5EF4-FFF2-40B4-BE49-F238E27FC236}">
                <a16:creationId xmlns:a16="http://schemas.microsoft.com/office/drawing/2014/main" id="{D46C2702-60FC-4ED6-98EE-5597E9A7F277}"/>
              </a:ext>
            </a:extLst>
          </p:cNvPr>
          <p:cNvSpPr/>
          <p:nvPr/>
        </p:nvSpPr>
        <p:spPr>
          <a:xfrm>
            <a:off x="6788435" y="4245"/>
            <a:ext cx="5417300" cy="677242"/>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39" name="Rectangle 28">
            <a:extLst>
              <a:ext uri="{FF2B5EF4-FFF2-40B4-BE49-F238E27FC236}">
                <a16:creationId xmlns:a16="http://schemas.microsoft.com/office/drawing/2014/main" id="{1B561D90-635A-40B0-A9D6-6E298EE3F3B2}"/>
              </a:ext>
            </a:extLst>
          </p:cNvPr>
          <p:cNvSpPr/>
          <p:nvPr/>
        </p:nvSpPr>
        <p:spPr>
          <a:xfrm>
            <a:off x="-15827" y="690328"/>
            <a:ext cx="1465322"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FFFFFF"/>
                </a:solidFill>
                <a:latin typeface="Aptos"/>
                <a:ea typeface="Calibri"/>
                <a:cs typeface="Calibri"/>
              </a:rPr>
              <a:t>Подготовка</a:t>
            </a:r>
            <a:endParaRPr lang="en-GB" sz="1400">
              <a:solidFill>
                <a:srgbClr val="FFFFFF"/>
              </a:solidFill>
              <a:latin typeface="Aptos"/>
              <a:ea typeface="Calibri"/>
              <a:cs typeface="Calibri"/>
            </a:endParaRPr>
          </a:p>
        </p:txBody>
      </p:sp>
      <p:pic>
        <p:nvPicPr>
          <p:cNvPr id="40" name="Picture 39">
            <a:extLst>
              <a:ext uri="{FF2B5EF4-FFF2-40B4-BE49-F238E27FC236}">
                <a16:creationId xmlns:a16="http://schemas.microsoft.com/office/drawing/2014/main" id="{EC43E575-4CEA-4F85-86F3-2554E84B9366}"/>
              </a:ext>
            </a:extLst>
          </p:cNvPr>
          <p:cNvPicPr>
            <a:picLocks noChangeAspect="1"/>
          </p:cNvPicPr>
          <p:nvPr/>
        </p:nvPicPr>
        <p:blipFill>
          <a:blip r:embed="rId2"/>
          <a:stretch>
            <a:fillRect/>
          </a:stretch>
        </p:blipFill>
        <p:spPr>
          <a:xfrm>
            <a:off x="10883590" y="5621341"/>
            <a:ext cx="982751" cy="995681"/>
          </a:xfrm>
          <a:prstGeom prst="rect">
            <a:avLst/>
          </a:prstGeom>
        </p:spPr>
      </p:pic>
    </p:spTree>
    <p:extLst>
      <p:ext uri="{BB962C8B-B14F-4D97-AF65-F5344CB8AC3E}">
        <p14:creationId xmlns:p14="http://schemas.microsoft.com/office/powerpoint/2010/main" val="408311262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FE9E67-ABD9-D7F4-F615-7B425D0401C6}"/>
            </a:ext>
          </a:extLst>
        </p:cNvPr>
        <p:cNvGrpSpPr/>
        <p:nvPr/>
      </p:nvGrpSpPr>
      <p:grpSpPr>
        <a:xfrm>
          <a:off x="0" y="0"/>
          <a:ext cx="0" cy="0"/>
          <a:chOff x="0" y="0"/>
          <a:chExt cx="0" cy="0"/>
        </a:xfrm>
      </p:grpSpPr>
      <p:sp>
        <p:nvSpPr>
          <p:cNvPr id="22" name="Rectangle 28">
            <a:extLst>
              <a:ext uri="{FF2B5EF4-FFF2-40B4-BE49-F238E27FC236}">
                <a16:creationId xmlns:a16="http://schemas.microsoft.com/office/drawing/2014/main" id="{DE6CFECF-6F48-459B-9CEE-BB0644480CEB}"/>
              </a:ext>
            </a:extLst>
          </p:cNvPr>
          <p:cNvSpPr/>
          <p:nvPr/>
        </p:nvSpPr>
        <p:spPr>
          <a:xfrm>
            <a:off x="-15824" y="1599"/>
            <a:ext cx="1465320" cy="6859628"/>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400">
              <a:latin typeface="Aptos"/>
              <a:ea typeface="Calibri"/>
              <a:cs typeface="Calibri"/>
            </a:endParaRPr>
          </a:p>
        </p:txBody>
      </p:sp>
      <p:sp>
        <p:nvSpPr>
          <p:cNvPr id="24" name="Rectangle 29">
            <a:extLst>
              <a:ext uri="{FF2B5EF4-FFF2-40B4-BE49-F238E27FC236}">
                <a16:creationId xmlns:a16="http://schemas.microsoft.com/office/drawing/2014/main" id="{4A63B2FF-A1F7-4D2A-A354-3B06F0A52392}"/>
              </a:ext>
            </a:extLst>
          </p:cNvPr>
          <p:cNvSpPr/>
          <p:nvPr/>
        </p:nvSpPr>
        <p:spPr>
          <a:xfrm>
            <a:off x="-1671" y="2528038"/>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002060"/>
                </a:solidFill>
                <a:latin typeface="Aptos"/>
                <a:ea typeface="Calibri"/>
                <a:cs typeface="Calibri"/>
              </a:rPr>
              <a:t>Типове клиенти</a:t>
            </a:r>
            <a:endParaRPr lang="en-GB" sz="1400">
              <a:solidFill>
                <a:srgbClr val="002060"/>
              </a:solidFill>
              <a:latin typeface="Aptos"/>
              <a:ea typeface="Calibri"/>
              <a:cs typeface="Calibri"/>
            </a:endParaRPr>
          </a:p>
        </p:txBody>
      </p:sp>
      <p:sp>
        <p:nvSpPr>
          <p:cNvPr id="25" name="Rectangle 30">
            <a:extLst>
              <a:ext uri="{FF2B5EF4-FFF2-40B4-BE49-F238E27FC236}">
                <a16:creationId xmlns:a16="http://schemas.microsoft.com/office/drawing/2014/main" id="{1F4B7717-D993-48E0-B894-3FCF923D33A6}"/>
              </a:ext>
            </a:extLst>
          </p:cNvPr>
          <p:cNvSpPr/>
          <p:nvPr/>
        </p:nvSpPr>
        <p:spPr>
          <a:xfrm>
            <a:off x="8626" y="1913210"/>
            <a:ext cx="1442908" cy="4485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chemeClr val="bg1"/>
                </a:solidFill>
                <a:latin typeface="Aptos"/>
                <a:ea typeface="Calibri"/>
                <a:cs typeface="Calibri"/>
              </a:rPr>
              <a:t>Сценарии</a:t>
            </a:r>
            <a:endParaRPr lang="en-GB" sz="1400">
              <a:solidFill>
                <a:schemeClr val="bg1"/>
              </a:solidFill>
              <a:latin typeface="Aptos"/>
              <a:ea typeface="Calibri"/>
              <a:cs typeface="Calibri"/>
            </a:endParaRPr>
          </a:p>
        </p:txBody>
      </p:sp>
      <p:sp>
        <p:nvSpPr>
          <p:cNvPr id="26" name="Rectangle 31">
            <a:extLst>
              <a:ext uri="{FF2B5EF4-FFF2-40B4-BE49-F238E27FC236}">
                <a16:creationId xmlns:a16="http://schemas.microsoft.com/office/drawing/2014/main" id="{615CFC92-7A0B-46C3-822E-D51E6607E8EC}"/>
              </a:ext>
            </a:extLst>
          </p:cNvPr>
          <p:cNvSpPr/>
          <p:nvPr/>
        </p:nvSpPr>
        <p:spPr>
          <a:xfrm>
            <a:off x="-1671" y="1298382"/>
            <a:ext cx="1442908" cy="4485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chemeClr val="bg1"/>
                </a:solidFill>
                <a:latin typeface="Aptos"/>
                <a:ea typeface="Calibri"/>
                <a:cs typeface="Calibri"/>
              </a:rPr>
              <a:t>Стъпки в обаждането</a:t>
            </a:r>
            <a:endParaRPr lang="en-GB" sz="1400">
              <a:solidFill>
                <a:schemeClr val="bg1"/>
              </a:solidFill>
              <a:latin typeface="Aptos"/>
              <a:ea typeface="Calibri"/>
              <a:cs typeface="Calibri"/>
            </a:endParaRPr>
          </a:p>
        </p:txBody>
      </p:sp>
      <p:sp>
        <p:nvSpPr>
          <p:cNvPr id="27" name="Rectangle 3">
            <a:extLst>
              <a:ext uri="{FF2B5EF4-FFF2-40B4-BE49-F238E27FC236}">
                <a16:creationId xmlns:a16="http://schemas.microsoft.com/office/drawing/2014/main" id="{407554EF-E632-417A-B942-8CCF1EDA46F4}"/>
              </a:ext>
            </a:extLst>
          </p:cNvPr>
          <p:cNvSpPr/>
          <p:nvPr/>
        </p:nvSpPr>
        <p:spPr>
          <a:xfrm>
            <a:off x="1443475" y="4245"/>
            <a:ext cx="5338363" cy="67724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28" name="Rectangle 4">
            <a:extLst>
              <a:ext uri="{FF2B5EF4-FFF2-40B4-BE49-F238E27FC236}">
                <a16:creationId xmlns:a16="http://schemas.microsoft.com/office/drawing/2014/main" id="{C2120760-25B3-4E80-BFE5-46C2AC4DAA98}"/>
              </a:ext>
            </a:extLst>
          </p:cNvPr>
          <p:cNvSpPr/>
          <p:nvPr/>
        </p:nvSpPr>
        <p:spPr>
          <a:xfrm>
            <a:off x="6788435" y="4245"/>
            <a:ext cx="5417300" cy="677242"/>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29" name="Rectangle 28">
            <a:extLst>
              <a:ext uri="{FF2B5EF4-FFF2-40B4-BE49-F238E27FC236}">
                <a16:creationId xmlns:a16="http://schemas.microsoft.com/office/drawing/2014/main" id="{2F5B1E28-DC04-4503-983C-3878059F0B67}"/>
              </a:ext>
            </a:extLst>
          </p:cNvPr>
          <p:cNvSpPr/>
          <p:nvPr/>
        </p:nvSpPr>
        <p:spPr>
          <a:xfrm>
            <a:off x="-15827" y="690328"/>
            <a:ext cx="1465322"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FFFFFF"/>
                </a:solidFill>
                <a:latin typeface="Aptos"/>
                <a:ea typeface="Calibri"/>
                <a:cs typeface="Calibri"/>
              </a:rPr>
              <a:t>Подготовка</a:t>
            </a:r>
            <a:endParaRPr lang="en-GB" sz="1400">
              <a:solidFill>
                <a:srgbClr val="FFFFFF"/>
              </a:solidFill>
              <a:latin typeface="Aptos"/>
              <a:ea typeface="Calibri"/>
              <a:cs typeface="Calibri"/>
            </a:endParaRPr>
          </a:p>
        </p:txBody>
      </p:sp>
      <p:sp>
        <p:nvSpPr>
          <p:cNvPr id="30" name="Rectangle: Rounded Corners 29">
            <a:extLst>
              <a:ext uri="{FF2B5EF4-FFF2-40B4-BE49-F238E27FC236}">
                <a16:creationId xmlns:a16="http://schemas.microsoft.com/office/drawing/2014/main" id="{BB3722C1-181B-49DE-A8EF-9841694E140E}"/>
              </a:ext>
            </a:extLst>
          </p:cNvPr>
          <p:cNvSpPr/>
          <p:nvPr/>
        </p:nvSpPr>
        <p:spPr>
          <a:xfrm>
            <a:off x="1893066" y="1041323"/>
            <a:ext cx="2706332" cy="715919"/>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Агресивен</a:t>
            </a:r>
            <a:endParaRPr lang="en-GB" sz="1600"/>
          </a:p>
        </p:txBody>
      </p:sp>
      <p:sp>
        <p:nvSpPr>
          <p:cNvPr id="31" name="Rectangle: Rounded Corners 30">
            <a:extLst>
              <a:ext uri="{FF2B5EF4-FFF2-40B4-BE49-F238E27FC236}">
                <a16:creationId xmlns:a16="http://schemas.microsoft.com/office/drawing/2014/main" id="{F16C5BDF-8617-47C1-9408-697994CC11BD}"/>
              </a:ext>
            </a:extLst>
          </p:cNvPr>
          <p:cNvSpPr/>
          <p:nvPr/>
        </p:nvSpPr>
        <p:spPr>
          <a:xfrm>
            <a:off x="1893066" y="1871904"/>
            <a:ext cx="2706332" cy="705772"/>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Аналитичен</a:t>
            </a:r>
            <a:endParaRPr lang="en-GB" sz="1600"/>
          </a:p>
        </p:txBody>
      </p:sp>
      <p:sp>
        <p:nvSpPr>
          <p:cNvPr id="32" name="Rectangle: Rounded Corners 31">
            <a:extLst>
              <a:ext uri="{FF2B5EF4-FFF2-40B4-BE49-F238E27FC236}">
                <a16:creationId xmlns:a16="http://schemas.microsoft.com/office/drawing/2014/main" id="{09CAA5F8-904B-4C1C-8628-A34B3EFBBF6C}"/>
              </a:ext>
            </a:extLst>
          </p:cNvPr>
          <p:cNvSpPr/>
          <p:nvPr/>
        </p:nvSpPr>
        <p:spPr>
          <a:xfrm>
            <a:off x="1893066" y="2692338"/>
            <a:ext cx="2706332" cy="699716"/>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Трудно схватлив</a:t>
            </a:r>
            <a:endParaRPr lang="en-GB" sz="1600"/>
          </a:p>
        </p:txBody>
      </p:sp>
      <p:sp>
        <p:nvSpPr>
          <p:cNvPr id="33" name="Rectangle 9">
            <a:extLst>
              <a:ext uri="{FF2B5EF4-FFF2-40B4-BE49-F238E27FC236}">
                <a16:creationId xmlns:a16="http://schemas.microsoft.com/office/drawing/2014/main" id="{BD075C37-9D19-4781-9FDE-050EE3DEF1A0}"/>
              </a:ext>
            </a:extLst>
          </p:cNvPr>
          <p:cNvSpPr/>
          <p:nvPr/>
        </p:nvSpPr>
        <p:spPr>
          <a:xfrm>
            <a:off x="1893066" y="3506716"/>
            <a:ext cx="2706332" cy="692699"/>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Злонамерен</a:t>
            </a:r>
            <a:endParaRPr lang="en-GB" sz="1600"/>
          </a:p>
        </p:txBody>
      </p:sp>
      <p:sp>
        <p:nvSpPr>
          <p:cNvPr id="34" name="Rectangle 11">
            <a:extLst>
              <a:ext uri="{FF2B5EF4-FFF2-40B4-BE49-F238E27FC236}">
                <a16:creationId xmlns:a16="http://schemas.microsoft.com/office/drawing/2014/main" id="{6D6790BD-4327-41DF-9D8E-548789F5B8B4}"/>
              </a:ext>
            </a:extLst>
          </p:cNvPr>
          <p:cNvSpPr/>
          <p:nvPr/>
        </p:nvSpPr>
        <p:spPr>
          <a:xfrm>
            <a:off x="1893066" y="4314076"/>
            <a:ext cx="2706332" cy="677242"/>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ВИП</a:t>
            </a:r>
            <a:endParaRPr lang="en-GB" sz="1600"/>
          </a:p>
        </p:txBody>
      </p:sp>
      <p:sp>
        <p:nvSpPr>
          <p:cNvPr id="35" name="Rectangle 9">
            <a:extLst>
              <a:ext uri="{FF2B5EF4-FFF2-40B4-BE49-F238E27FC236}">
                <a16:creationId xmlns:a16="http://schemas.microsoft.com/office/drawing/2014/main" id="{C4ED62B4-9CBA-432A-9E4F-5E9A91D6D6B3}"/>
              </a:ext>
            </a:extLst>
          </p:cNvPr>
          <p:cNvSpPr/>
          <p:nvPr/>
        </p:nvSpPr>
        <p:spPr>
          <a:xfrm>
            <a:off x="5053978" y="1872908"/>
            <a:ext cx="2706332" cy="705772"/>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Подозрителен</a:t>
            </a:r>
            <a:endParaRPr lang="en-GB" sz="1600"/>
          </a:p>
        </p:txBody>
      </p:sp>
      <p:sp>
        <p:nvSpPr>
          <p:cNvPr id="36" name="Rectangle 11">
            <a:extLst>
              <a:ext uri="{FF2B5EF4-FFF2-40B4-BE49-F238E27FC236}">
                <a16:creationId xmlns:a16="http://schemas.microsoft.com/office/drawing/2014/main" id="{7AF39AB5-64C1-4B63-AA8A-91982FAF3785}"/>
              </a:ext>
            </a:extLst>
          </p:cNvPr>
          <p:cNvSpPr/>
          <p:nvPr/>
        </p:nvSpPr>
        <p:spPr>
          <a:xfrm>
            <a:off x="5053978" y="1041324"/>
            <a:ext cx="2706332" cy="715918"/>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dirty="0"/>
              <a:t>Манипулативен</a:t>
            </a:r>
            <a:endParaRPr lang="en-GB" sz="1600" dirty="0"/>
          </a:p>
        </p:txBody>
      </p:sp>
      <p:sp>
        <p:nvSpPr>
          <p:cNvPr id="37" name="Rectangle 13">
            <a:extLst>
              <a:ext uri="{FF2B5EF4-FFF2-40B4-BE49-F238E27FC236}">
                <a16:creationId xmlns:a16="http://schemas.microsoft.com/office/drawing/2014/main" id="{006E0D66-E7B0-438E-BAA1-0360179863E4}"/>
              </a:ext>
            </a:extLst>
          </p:cNvPr>
          <p:cNvSpPr/>
          <p:nvPr/>
        </p:nvSpPr>
        <p:spPr>
          <a:xfrm>
            <a:off x="5053978" y="2694346"/>
            <a:ext cx="2706332" cy="695699"/>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Нерешителен</a:t>
            </a:r>
            <a:endParaRPr lang="en-GB" sz="1600"/>
          </a:p>
        </p:txBody>
      </p:sp>
      <p:sp>
        <p:nvSpPr>
          <p:cNvPr id="38" name="Rectangle 9">
            <a:extLst>
              <a:ext uri="{FF2B5EF4-FFF2-40B4-BE49-F238E27FC236}">
                <a16:creationId xmlns:a16="http://schemas.microsoft.com/office/drawing/2014/main" id="{FD4FFC9D-8254-4FC2-9D6C-FD9146C58D2A}"/>
              </a:ext>
            </a:extLst>
          </p:cNvPr>
          <p:cNvSpPr/>
          <p:nvPr/>
        </p:nvSpPr>
        <p:spPr>
          <a:xfrm>
            <a:off x="5053978" y="4314076"/>
            <a:ext cx="2706332" cy="677242"/>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Търсещ социален контакт</a:t>
            </a:r>
            <a:endParaRPr lang="en-GB" sz="1600"/>
          </a:p>
        </p:txBody>
      </p:sp>
      <p:sp>
        <p:nvSpPr>
          <p:cNvPr id="39" name="Rectangle 11">
            <a:extLst>
              <a:ext uri="{FF2B5EF4-FFF2-40B4-BE49-F238E27FC236}">
                <a16:creationId xmlns:a16="http://schemas.microsoft.com/office/drawing/2014/main" id="{6367A231-2378-4883-AEBF-671CDEF9CC8E}"/>
              </a:ext>
            </a:extLst>
          </p:cNvPr>
          <p:cNvSpPr/>
          <p:nvPr/>
        </p:nvSpPr>
        <p:spPr>
          <a:xfrm>
            <a:off x="5053978" y="3505711"/>
            <a:ext cx="2706332" cy="692699"/>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Импулсивен </a:t>
            </a:r>
            <a:endParaRPr lang="en-GB" sz="1600"/>
          </a:p>
        </p:txBody>
      </p:sp>
      <p:pic>
        <p:nvPicPr>
          <p:cNvPr id="40" name="Picture 39">
            <a:extLst>
              <a:ext uri="{FF2B5EF4-FFF2-40B4-BE49-F238E27FC236}">
                <a16:creationId xmlns:a16="http://schemas.microsoft.com/office/drawing/2014/main" id="{EB1E6FBE-47F7-416E-99F7-DC56CAB512AD}"/>
              </a:ext>
            </a:extLst>
          </p:cNvPr>
          <p:cNvPicPr>
            <a:picLocks noChangeAspect="1"/>
          </p:cNvPicPr>
          <p:nvPr/>
        </p:nvPicPr>
        <p:blipFill>
          <a:blip r:embed="rId3"/>
          <a:stretch>
            <a:fillRect/>
          </a:stretch>
        </p:blipFill>
        <p:spPr>
          <a:xfrm>
            <a:off x="10883590" y="5621341"/>
            <a:ext cx="982751" cy="995681"/>
          </a:xfrm>
          <a:prstGeom prst="rect">
            <a:avLst/>
          </a:prstGeom>
        </p:spPr>
      </p:pic>
      <p:sp>
        <p:nvSpPr>
          <p:cNvPr id="2" name="Балонче за говор: правоъгълник със заоблени ъгли 19">
            <a:extLst>
              <a:ext uri="{FF2B5EF4-FFF2-40B4-BE49-F238E27FC236}">
                <a16:creationId xmlns:a16="http://schemas.microsoft.com/office/drawing/2014/main" id="{FAF05A0C-AB07-F45F-A3E7-8585D27B5D69}"/>
              </a:ext>
            </a:extLst>
          </p:cNvPr>
          <p:cNvSpPr/>
          <p:nvPr/>
        </p:nvSpPr>
        <p:spPr>
          <a:xfrm>
            <a:off x="8141771" y="1056338"/>
            <a:ext cx="3714240" cy="3044892"/>
          </a:xfrm>
          <a:prstGeom prst="roundRect">
            <a:avLst>
              <a:gd name="adj" fmla="val 10885"/>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ru-RU" sz="1400" b="1"/>
              <a:t>Манипулативен</a:t>
            </a:r>
            <a:endParaRPr lang="bg-BG" sz="1400"/>
          </a:p>
          <a:p>
            <a:r>
              <a:rPr lang="ru-RU" sz="1400" b="1">
                <a:ea typeface="+mn-lt"/>
                <a:cs typeface="+mn-lt"/>
              </a:rPr>
              <a:t>Характеристики:</a:t>
            </a:r>
            <a:endParaRPr lang="bg-BG" sz="1400"/>
          </a:p>
          <a:p>
            <a:pPr marL="285750" indent="-285750">
              <a:buFont typeface="Arial"/>
              <a:buChar char="•"/>
            </a:pPr>
            <a:r>
              <a:rPr lang="ru-RU" sz="1400">
                <a:ea typeface="+mn-lt"/>
                <a:cs typeface="+mn-lt"/>
              </a:rPr>
              <a:t>Вменяват вина </a:t>
            </a:r>
            <a:endParaRPr lang="ru-RU"/>
          </a:p>
          <a:p>
            <a:pPr marL="285750" indent="-285750">
              <a:buFont typeface="Arial"/>
              <a:buChar char="•"/>
            </a:pPr>
            <a:r>
              <a:rPr lang="ru-RU" sz="1400">
                <a:ea typeface="+mn-lt"/>
                <a:cs typeface="+mn-lt"/>
              </a:rPr>
              <a:t>Представят се за жертви </a:t>
            </a:r>
            <a:endParaRPr lang="ru-RU"/>
          </a:p>
          <a:p>
            <a:pPr marL="285750" indent="-285750">
              <a:buFont typeface="Arial"/>
              <a:buChar char="•"/>
            </a:pPr>
            <a:r>
              <a:rPr lang="ru-RU" sz="1400">
                <a:ea typeface="+mn-lt"/>
                <a:cs typeface="+mn-lt"/>
              </a:rPr>
              <a:t>Търсят съчувствие </a:t>
            </a:r>
            <a:endParaRPr lang="ru-RU"/>
          </a:p>
          <a:p>
            <a:pPr marL="285750" indent="-285750">
              <a:buFont typeface="Arial"/>
              <a:buChar char="•"/>
            </a:pPr>
            <a:r>
              <a:rPr lang="ru-RU" sz="1400">
                <a:ea typeface="+mn-lt"/>
                <a:cs typeface="+mn-lt"/>
              </a:rPr>
              <a:t>Пасивно-агресивни </a:t>
            </a:r>
            <a:endParaRPr lang="ru-RU"/>
          </a:p>
          <a:p>
            <a:pPr marL="285750" indent="-285750">
              <a:buFont typeface="Arial"/>
              <a:buChar char="•"/>
            </a:pPr>
            <a:r>
              <a:rPr lang="ru-RU" sz="1400">
                <a:ea typeface="+mn-lt"/>
                <a:cs typeface="+mn-lt"/>
              </a:rPr>
              <a:t>Изкривяват фактите </a:t>
            </a:r>
            <a:endParaRPr lang="ru-RU"/>
          </a:p>
          <a:p>
            <a:r>
              <a:rPr lang="ru-RU" sz="1400" b="1">
                <a:ea typeface="+mn-lt"/>
                <a:cs typeface="+mn-lt"/>
              </a:rPr>
              <a:t>Предпочитана комуникация:</a:t>
            </a:r>
            <a:endParaRPr lang="ru-RU" b="1">
              <a:ea typeface="+mn-lt"/>
              <a:cs typeface="+mn-lt"/>
            </a:endParaRPr>
          </a:p>
          <a:p>
            <a:pPr marL="285750" indent="-285750">
              <a:buFont typeface="Arial"/>
              <a:buChar char="•"/>
            </a:pPr>
            <a:r>
              <a:rPr lang="ru-RU" sz="1400">
                <a:ea typeface="+mn-lt"/>
                <a:cs typeface="+mn-lt"/>
              </a:rPr>
              <a:t>Не приемай лично </a:t>
            </a:r>
            <a:endParaRPr lang="ru-RU"/>
          </a:p>
          <a:p>
            <a:pPr marL="285750" indent="-285750">
              <a:buFont typeface="Arial"/>
              <a:buChar char="•"/>
            </a:pPr>
            <a:r>
              <a:rPr lang="ru-RU" sz="1400">
                <a:ea typeface="+mn-lt"/>
                <a:cs typeface="+mn-lt"/>
              </a:rPr>
              <a:t>Не се поддавай на вина </a:t>
            </a:r>
            <a:endParaRPr lang="ru-RU">
              <a:ea typeface="+mn-lt"/>
              <a:cs typeface="+mn-lt"/>
            </a:endParaRPr>
          </a:p>
          <a:p>
            <a:pPr marL="285750" indent="-285750">
              <a:buFont typeface="Arial"/>
              <a:buChar char="•"/>
            </a:pPr>
            <a:r>
              <a:rPr lang="ru-RU" sz="1400">
                <a:ea typeface="+mn-lt"/>
                <a:cs typeface="+mn-lt"/>
              </a:rPr>
              <a:t>Ясен и структуриран изказ </a:t>
            </a:r>
            <a:endParaRPr lang="ru-RU"/>
          </a:p>
          <a:p>
            <a:pPr marL="285750" indent="-285750">
              <a:buFont typeface="Arial"/>
              <a:buChar char="•"/>
            </a:pPr>
            <a:r>
              <a:rPr lang="ru-RU" sz="1400">
                <a:ea typeface="+mn-lt"/>
                <a:cs typeface="+mn-lt"/>
              </a:rPr>
              <a:t>Фокус върху факти и ползи </a:t>
            </a:r>
            <a:endParaRPr lang="ru-RU"/>
          </a:p>
          <a:p>
            <a:pPr marL="285750" indent="-285750">
              <a:buFont typeface="Arial"/>
              <a:buChar char="•"/>
            </a:pPr>
            <a:r>
              <a:rPr lang="ru-RU" sz="1400">
                <a:ea typeface="+mn-lt"/>
                <a:cs typeface="+mn-lt"/>
              </a:rPr>
              <a:t>Без емоционално въвличане</a:t>
            </a:r>
            <a:endParaRPr lang="ru-RU"/>
          </a:p>
          <a:p>
            <a:endParaRPr lang="ru-RU" sz="1400" b="1"/>
          </a:p>
        </p:txBody>
      </p:sp>
    </p:spTree>
    <p:extLst>
      <p:ext uri="{BB962C8B-B14F-4D97-AF65-F5344CB8AC3E}">
        <p14:creationId xmlns:p14="http://schemas.microsoft.com/office/powerpoint/2010/main" val="109107007"/>
      </p:ext>
    </p:extLst>
  </p:cSld>
  <p:clrMapOvr>
    <a:masterClrMapping/>
  </p:clrMapOvr>
  <p:extLst>
    <p:ext uri="{6950BFC3-D8DA-4A85-94F7-54DA5524770B}">
      <p188:commentRel xmlns:p188="http://schemas.microsoft.com/office/powerpoint/2018/8/main" r:id="rId2"/>
    </p:ext>
  </p:extLs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782BBF-4ADF-1323-8848-24ED43541664}"/>
            </a:ext>
          </a:extLst>
        </p:cNvPr>
        <p:cNvGrpSpPr/>
        <p:nvPr/>
      </p:nvGrpSpPr>
      <p:grpSpPr>
        <a:xfrm>
          <a:off x="0" y="0"/>
          <a:ext cx="0" cy="0"/>
          <a:chOff x="0" y="0"/>
          <a:chExt cx="0" cy="0"/>
        </a:xfrm>
      </p:grpSpPr>
      <p:sp>
        <p:nvSpPr>
          <p:cNvPr id="20" name="Балонче за говор: правоъгълник със заоблени ъгли 19">
            <a:extLst>
              <a:ext uri="{FF2B5EF4-FFF2-40B4-BE49-F238E27FC236}">
                <a16:creationId xmlns:a16="http://schemas.microsoft.com/office/drawing/2014/main" id="{FF214559-3E3C-166D-D0AB-EAA4E96694A1}"/>
              </a:ext>
            </a:extLst>
          </p:cNvPr>
          <p:cNvSpPr/>
          <p:nvPr/>
        </p:nvSpPr>
        <p:spPr>
          <a:xfrm>
            <a:off x="8203880" y="992477"/>
            <a:ext cx="3772820" cy="3396585"/>
          </a:xfrm>
          <a:prstGeom prst="roundRect">
            <a:avLst>
              <a:gd name="adj" fmla="val 8958"/>
            </a:avLst>
          </a:prstGeom>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ru-RU" sz="1400" b="1"/>
              <a:t>Подозрителен</a:t>
            </a:r>
            <a:br>
              <a:rPr lang="ru-RU" sz="1400"/>
            </a:br>
            <a:endParaRPr lang="ru-RU" sz="1400" b="1"/>
          </a:p>
          <a:p>
            <a:r>
              <a:rPr lang="ru-RU" sz="1400" b="1">
                <a:ea typeface="+mn-lt"/>
                <a:cs typeface="+mn-lt"/>
              </a:rPr>
              <a:t>Характеристики:</a:t>
            </a:r>
            <a:endParaRPr lang="ru-RU"/>
          </a:p>
          <a:p>
            <a:pPr marL="285750" indent="-285750">
              <a:buFont typeface="Arial"/>
              <a:buChar char="•"/>
            </a:pPr>
            <a:r>
              <a:rPr lang="ru-RU" sz="1400">
                <a:ea typeface="+mn-lt"/>
                <a:cs typeface="+mn-lt"/>
              </a:rPr>
              <a:t>Не се доверяват </a:t>
            </a:r>
            <a:endParaRPr lang="ru-RU"/>
          </a:p>
          <a:p>
            <a:pPr marL="285750" indent="-285750">
              <a:buFont typeface="Arial"/>
              <a:buChar char="•"/>
            </a:pPr>
            <a:r>
              <a:rPr lang="ru-RU" sz="1400">
                <a:ea typeface="+mn-lt"/>
                <a:cs typeface="+mn-lt"/>
              </a:rPr>
              <a:t>Търсят „уловка“ </a:t>
            </a:r>
            <a:endParaRPr lang="ru-RU"/>
          </a:p>
          <a:p>
            <a:pPr marL="285750" indent="-285750">
              <a:buFont typeface="Arial"/>
              <a:buChar char="•"/>
            </a:pPr>
            <a:r>
              <a:rPr lang="ru-RU" sz="1400">
                <a:ea typeface="+mn-lt"/>
                <a:cs typeface="+mn-lt"/>
              </a:rPr>
              <a:t>Сериозни и резервирани </a:t>
            </a:r>
            <a:endParaRPr lang="ru-RU"/>
          </a:p>
          <a:p>
            <a:pPr marL="285750" indent="-285750">
              <a:buFont typeface="Arial"/>
              <a:buChar char="•"/>
            </a:pPr>
            <a:r>
              <a:rPr lang="ru-RU" sz="1400">
                <a:ea typeface="+mn-lt"/>
                <a:cs typeface="+mn-lt"/>
              </a:rPr>
              <a:t>С предварително мнение </a:t>
            </a:r>
            <a:endParaRPr lang="ru-RU"/>
          </a:p>
          <a:p>
            <a:pPr marL="285750" indent="-285750">
              <a:buFont typeface="Arial"/>
              <a:buChar char="•"/>
            </a:pPr>
            <a:r>
              <a:rPr lang="ru-RU" sz="1400">
                <a:ea typeface="+mn-lt"/>
                <a:cs typeface="+mn-lt"/>
              </a:rPr>
              <a:t>Трудно приемат съвет </a:t>
            </a:r>
            <a:endParaRPr lang="ru-RU"/>
          </a:p>
          <a:p>
            <a:r>
              <a:rPr lang="ru-RU" sz="1400" b="1">
                <a:ea typeface="+mn-lt"/>
                <a:cs typeface="+mn-lt"/>
              </a:rPr>
              <a:t>Предпочитана комуникация:</a:t>
            </a:r>
            <a:endParaRPr lang="ru-RU"/>
          </a:p>
          <a:p>
            <a:pPr marL="285750" indent="-285750">
              <a:buFont typeface="Arial"/>
              <a:buChar char="•"/>
            </a:pPr>
            <a:r>
              <a:rPr lang="ru-RU" sz="1400">
                <a:ea typeface="+mn-lt"/>
                <a:cs typeface="+mn-lt"/>
              </a:rPr>
              <a:t>Делови и стриктен подход </a:t>
            </a:r>
            <a:endParaRPr lang="ru-RU"/>
          </a:p>
          <a:p>
            <a:pPr marL="285750" indent="-285750">
              <a:buFont typeface="Arial"/>
              <a:buChar char="•"/>
            </a:pPr>
            <a:r>
              <a:rPr lang="ru-RU" sz="1400">
                <a:ea typeface="+mn-lt"/>
                <a:cs typeface="+mn-lt"/>
              </a:rPr>
              <a:t>Без шеги и сближаване </a:t>
            </a:r>
            <a:endParaRPr lang="ru-RU"/>
          </a:p>
          <a:p>
            <a:pPr marL="285750" indent="-285750">
              <a:buFont typeface="Arial"/>
              <a:buChar char="•"/>
            </a:pPr>
            <a:r>
              <a:rPr lang="ru-RU" sz="1400">
                <a:ea typeface="+mn-lt"/>
                <a:cs typeface="+mn-lt"/>
              </a:rPr>
              <a:t>Без излишни извинения </a:t>
            </a:r>
            <a:endParaRPr lang="ru-RU"/>
          </a:p>
          <a:p>
            <a:pPr marL="285750" indent="-285750">
              <a:buFont typeface="Arial"/>
              <a:buChar char="•"/>
            </a:pPr>
            <a:r>
              <a:rPr lang="ru-RU" sz="1400">
                <a:ea typeface="+mn-lt"/>
                <a:cs typeface="+mn-lt"/>
              </a:rPr>
              <a:t>Деликатно изясняване на съмнения </a:t>
            </a:r>
            <a:endParaRPr lang="ru-RU"/>
          </a:p>
          <a:p>
            <a:pPr marL="285750" indent="-285750">
              <a:buFont typeface="Arial"/>
              <a:buChar char="•"/>
            </a:pPr>
            <a:r>
              <a:rPr lang="ru-RU" sz="1400">
                <a:ea typeface="+mn-lt"/>
                <a:cs typeface="+mn-lt"/>
              </a:rPr>
              <a:t>Позитивно оборване на възражения</a:t>
            </a:r>
            <a:endParaRPr lang="ru-RU"/>
          </a:p>
          <a:p>
            <a:endParaRPr lang="ru-RU" sz="1400"/>
          </a:p>
        </p:txBody>
      </p:sp>
      <p:sp>
        <p:nvSpPr>
          <p:cNvPr id="22" name="Rectangle 28">
            <a:extLst>
              <a:ext uri="{FF2B5EF4-FFF2-40B4-BE49-F238E27FC236}">
                <a16:creationId xmlns:a16="http://schemas.microsoft.com/office/drawing/2014/main" id="{76A478A2-B32B-440C-A086-73E65502C6D8}"/>
              </a:ext>
            </a:extLst>
          </p:cNvPr>
          <p:cNvSpPr/>
          <p:nvPr/>
        </p:nvSpPr>
        <p:spPr>
          <a:xfrm>
            <a:off x="-15824" y="1599"/>
            <a:ext cx="1465320" cy="6859628"/>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400">
              <a:latin typeface="Aptos"/>
              <a:ea typeface="Calibri"/>
              <a:cs typeface="Calibri"/>
            </a:endParaRPr>
          </a:p>
        </p:txBody>
      </p:sp>
      <p:sp>
        <p:nvSpPr>
          <p:cNvPr id="24" name="Rectangle 29">
            <a:extLst>
              <a:ext uri="{FF2B5EF4-FFF2-40B4-BE49-F238E27FC236}">
                <a16:creationId xmlns:a16="http://schemas.microsoft.com/office/drawing/2014/main" id="{E886570F-B5A8-4FEE-B7DA-EFA33AAB7FE8}"/>
              </a:ext>
            </a:extLst>
          </p:cNvPr>
          <p:cNvSpPr/>
          <p:nvPr/>
        </p:nvSpPr>
        <p:spPr>
          <a:xfrm>
            <a:off x="-1671" y="2528038"/>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002060"/>
                </a:solidFill>
                <a:latin typeface="Aptos"/>
                <a:ea typeface="Calibri"/>
                <a:cs typeface="Calibri"/>
              </a:rPr>
              <a:t>Типове клиенти</a:t>
            </a:r>
            <a:endParaRPr lang="en-GB" sz="1400">
              <a:solidFill>
                <a:srgbClr val="002060"/>
              </a:solidFill>
              <a:latin typeface="Aptos"/>
              <a:ea typeface="Calibri"/>
              <a:cs typeface="Calibri"/>
            </a:endParaRPr>
          </a:p>
        </p:txBody>
      </p:sp>
      <p:sp>
        <p:nvSpPr>
          <p:cNvPr id="25" name="Rectangle 30">
            <a:extLst>
              <a:ext uri="{FF2B5EF4-FFF2-40B4-BE49-F238E27FC236}">
                <a16:creationId xmlns:a16="http://schemas.microsoft.com/office/drawing/2014/main" id="{7F031E1F-2DB3-4B80-B936-F08FE10F6808}"/>
              </a:ext>
            </a:extLst>
          </p:cNvPr>
          <p:cNvSpPr/>
          <p:nvPr/>
        </p:nvSpPr>
        <p:spPr>
          <a:xfrm>
            <a:off x="8626" y="1913210"/>
            <a:ext cx="1442908" cy="4485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chemeClr val="bg1"/>
                </a:solidFill>
                <a:latin typeface="Aptos"/>
                <a:ea typeface="Calibri"/>
                <a:cs typeface="Calibri"/>
              </a:rPr>
              <a:t>Сценарии</a:t>
            </a:r>
            <a:endParaRPr lang="en-GB" sz="1400">
              <a:solidFill>
                <a:schemeClr val="bg1"/>
              </a:solidFill>
              <a:latin typeface="Aptos"/>
              <a:ea typeface="Calibri"/>
              <a:cs typeface="Calibri"/>
            </a:endParaRPr>
          </a:p>
        </p:txBody>
      </p:sp>
      <p:sp>
        <p:nvSpPr>
          <p:cNvPr id="26" name="Rectangle 31">
            <a:extLst>
              <a:ext uri="{FF2B5EF4-FFF2-40B4-BE49-F238E27FC236}">
                <a16:creationId xmlns:a16="http://schemas.microsoft.com/office/drawing/2014/main" id="{044F6783-7221-45A9-85BA-8BFA55D5A6D8}"/>
              </a:ext>
            </a:extLst>
          </p:cNvPr>
          <p:cNvSpPr/>
          <p:nvPr/>
        </p:nvSpPr>
        <p:spPr>
          <a:xfrm>
            <a:off x="-1671" y="1298382"/>
            <a:ext cx="1442908" cy="4485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chemeClr val="bg1"/>
                </a:solidFill>
                <a:latin typeface="Aptos"/>
                <a:ea typeface="Calibri"/>
                <a:cs typeface="Calibri"/>
              </a:rPr>
              <a:t>Стъпки в обаждането</a:t>
            </a:r>
            <a:endParaRPr lang="en-GB" sz="1400">
              <a:solidFill>
                <a:schemeClr val="bg1"/>
              </a:solidFill>
              <a:latin typeface="Aptos"/>
              <a:ea typeface="Calibri"/>
              <a:cs typeface="Calibri"/>
            </a:endParaRPr>
          </a:p>
        </p:txBody>
      </p:sp>
      <p:sp>
        <p:nvSpPr>
          <p:cNvPr id="27" name="Rectangle 3">
            <a:extLst>
              <a:ext uri="{FF2B5EF4-FFF2-40B4-BE49-F238E27FC236}">
                <a16:creationId xmlns:a16="http://schemas.microsoft.com/office/drawing/2014/main" id="{C093331E-143D-44DC-953E-5D00D5462D5A}"/>
              </a:ext>
            </a:extLst>
          </p:cNvPr>
          <p:cNvSpPr/>
          <p:nvPr/>
        </p:nvSpPr>
        <p:spPr>
          <a:xfrm>
            <a:off x="1443475" y="4245"/>
            <a:ext cx="5338363" cy="67724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28" name="Rectangle 4">
            <a:extLst>
              <a:ext uri="{FF2B5EF4-FFF2-40B4-BE49-F238E27FC236}">
                <a16:creationId xmlns:a16="http://schemas.microsoft.com/office/drawing/2014/main" id="{56E8E46D-DF83-4B7C-84BF-FDB818A3C6BD}"/>
              </a:ext>
            </a:extLst>
          </p:cNvPr>
          <p:cNvSpPr/>
          <p:nvPr/>
        </p:nvSpPr>
        <p:spPr>
          <a:xfrm>
            <a:off x="6788435" y="4245"/>
            <a:ext cx="5417300" cy="677242"/>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29" name="Rectangle 28">
            <a:extLst>
              <a:ext uri="{FF2B5EF4-FFF2-40B4-BE49-F238E27FC236}">
                <a16:creationId xmlns:a16="http://schemas.microsoft.com/office/drawing/2014/main" id="{5852173F-53C4-4FC1-8389-B763C6DAE74E}"/>
              </a:ext>
            </a:extLst>
          </p:cNvPr>
          <p:cNvSpPr/>
          <p:nvPr/>
        </p:nvSpPr>
        <p:spPr>
          <a:xfrm>
            <a:off x="-15827" y="690328"/>
            <a:ext cx="1465322"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FFFFFF"/>
                </a:solidFill>
                <a:latin typeface="Aptos"/>
                <a:ea typeface="Calibri"/>
                <a:cs typeface="Calibri"/>
              </a:rPr>
              <a:t>Подготовка</a:t>
            </a:r>
            <a:endParaRPr lang="en-GB" sz="1400">
              <a:solidFill>
                <a:srgbClr val="FFFFFF"/>
              </a:solidFill>
              <a:latin typeface="Aptos"/>
              <a:ea typeface="Calibri"/>
              <a:cs typeface="Calibri"/>
            </a:endParaRPr>
          </a:p>
        </p:txBody>
      </p:sp>
      <p:sp>
        <p:nvSpPr>
          <p:cNvPr id="30" name="Rectangle: Rounded Corners 29">
            <a:extLst>
              <a:ext uri="{FF2B5EF4-FFF2-40B4-BE49-F238E27FC236}">
                <a16:creationId xmlns:a16="http://schemas.microsoft.com/office/drawing/2014/main" id="{D722ADB4-0DB7-44D0-B8AC-438FCE051C0B}"/>
              </a:ext>
            </a:extLst>
          </p:cNvPr>
          <p:cNvSpPr/>
          <p:nvPr/>
        </p:nvSpPr>
        <p:spPr>
          <a:xfrm>
            <a:off x="1893066" y="1041323"/>
            <a:ext cx="2706332" cy="715919"/>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Агресивен</a:t>
            </a:r>
            <a:endParaRPr lang="en-GB" sz="1600"/>
          </a:p>
        </p:txBody>
      </p:sp>
      <p:sp>
        <p:nvSpPr>
          <p:cNvPr id="31" name="Rectangle: Rounded Corners 30">
            <a:extLst>
              <a:ext uri="{FF2B5EF4-FFF2-40B4-BE49-F238E27FC236}">
                <a16:creationId xmlns:a16="http://schemas.microsoft.com/office/drawing/2014/main" id="{126A2F86-C6AD-4EBC-842D-94A5FDC524A1}"/>
              </a:ext>
            </a:extLst>
          </p:cNvPr>
          <p:cNvSpPr/>
          <p:nvPr/>
        </p:nvSpPr>
        <p:spPr>
          <a:xfrm>
            <a:off x="1893066" y="1871904"/>
            <a:ext cx="2706332" cy="705772"/>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Аналитичен</a:t>
            </a:r>
            <a:endParaRPr lang="en-GB" sz="1600"/>
          </a:p>
        </p:txBody>
      </p:sp>
      <p:sp>
        <p:nvSpPr>
          <p:cNvPr id="32" name="Rectangle: Rounded Corners 31">
            <a:extLst>
              <a:ext uri="{FF2B5EF4-FFF2-40B4-BE49-F238E27FC236}">
                <a16:creationId xmlns:a16="http://schemas.microsoft.com/office/drawing/2014/main" id="{EF6B1914-D739-48BD-B975-0015F91C0E97}"/>
              </a:ext>
            </a:extLst>
          </p:cNvPr>
          <p:cNvSpPr/>
          <p:nvPr/>
        </p:nvSpPr>
        <p:spPr>
          <a:xfrm>
            <a:off x="1893066" y="2692338"/>
            <a:ext cx="2706332" cy="699716"/>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Трудно схватлив</a:t>
            </a:r>
            <a:endParaRPr lang="en-GB" sz="1600"/>
          </a:p>
        </p:txBody>
      </p:sp>
      <p:sp>
        <p:nvSpPr>
          <p:cNvPr id="33" name="Rectangle 9">
            <a:extLst>
              <a:ext uri="{FF2B5EF4-FFF2-40B4-BE49-F238E27FC236}">
                <a16:creationId xmlns:a16="http://schemas.microsoft.com/office/drawing/2014/main" id="{DCE170E9-F7A9-43B0-A6D5-B677CCAAA13C}"/>
              </a:ext>
            </a:extLst>
          </p:cNvPr>
          <p:cNvSpPr/>
          <p:nvPr/>
        </p:nvSpPr>
        <p:spPr>
          <a:xfrm>
            <a:off x="1893066" y="3506716"/>
            <a:ext cx="2706332" cy="692699"/>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Злонамерен</a:t>
            </a:r>
            <a:endParaRPr lang="en-GB" sz="1600"/>
          </a:p>
        </p:txBody>
      </p:sp>
      <p:sp>
        <p:nvSpPr>
          <p:cNvPr id="34" name="Rectangle 11">
            <a:extLst>
              <a:ext uri="{FF2B5EF4-FFF2-40B4-BE49-F238E27FC236}">
                <a16:creationId xmlns:a16="http://schemas.microsoft.com/office/drawing/2014/main" id="{9A0083E1-3E68-4870-B6CA-AF435DF4D3E3}"/>
              </a:ext>
            </a:extLst>
          </p:cNvPr>
          <p:cNvSpPr/>
          <p:nvPr/>
        </p:nvSpPr>
        <p:spPr>
          <a:xfrm>
            <a:off x="1893066" y="4314076"/>
            <a:ext cx="2706332" cy="677242"/>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ВИП</a:t>
            </a:r>
            <a:endParaRPr lang="en-GB" sz="1600"/>
          </a:p>
        </p:txBody>
      </p:sp>
      <p:sp>
        <p:nvSpPr>
          <p:cNvPr id="35" name="Rectangle 9">
            <a:extLst>
              <a:ext uri="{FF2B5EF4-FFF2-40B4-BE49-F238E27FC236}">
                <a16:creationId xmlns:a16="http://schemas.microsoft.com/office/drawing/2014/main" id="{9CCB5F8E-D34C-4531-A241-DD395C54C420}"/>
              </a:ext>
            </a:extLst>
          </p:cNvPr>
          <p:cNvSpPr/>
          <p:nvPr/>
        </p:nvSpPr>
        <p:spPr>
          <a:xfrm>
            <a:off x="5053978" y="1872908"/>
            <a:ext cx="2706332" cy="705772"/>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Подозрителен</a:t>
            </a:r>
            <a:endParaRPr lang="en-GB" sz="1600"/>
          </a:p>
        </p:txBody>
      </p:sp>
      <p:sp>
        <p:nvSpPr>
          <p:cNvPr id="36" name="Rectangle 11">
            <a:extLst>
              <a:ext uri="{FF2B5EF4-FFF2-40B4-BE49-F238E27FC236}">
                <a16:creationId xmlns:a16="http://schemas.microsoft.com/office/drawing/2014/main" id="{1C795574-12BB-4017-9CB3-C79FA0CF9587}"/>
              </a:ext>
            </a:extLst>
          </p:cNvPr>
          <p:cNvSpPr/>
          <p:nvPr/>
        </p:nvSpPr>
        <p:spPr>
          <a:xfrm>
            <a:off x="5053978" y="1041324"/>
            <a:ext cx="2706332" cy="715918"/>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Манипулативен</a:t>
            </a:r>
            <a:endParaRPr lang="en-GB" sz="1600"/>
          </a:p>
        </p:txBody>
      </p:sp>
      <p:sp>
        <p:nvSpPr>
          <p:cNvPr id="37" name="Rectangle 13">
            <a:extLst>
              <a:ext uri="{FF2B5EF4-FFF2-40B4-BE49-F238E27FC236}">
                <a16:creationId xmlns:a16="http://schemas.microsoft.com/office/drawing/2014/main" id="{34926CF2-7416-4CAE-A61C-FD4F7DB2C29B}"/>
              </a:ext>
            </a:extLst>
          </p:cNvPr>
          <p:cNvSpPr/>
          <p:nvPr/>
        </p:nvSpPr>
        <p:spPr>
          <a:xfrm>
            <a:off x="5053978" y="2694346"/>
            <a:ext cx="2706332" cy="695699"/>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Нерешителен</a:t>
            </a:r>
            <a:endParaRPr lang="en-GB" sz="1600"/>
          </a:p>
        </p:txBody>
      </p:sp>
      <p:sp>
        <p:nvSpPr>
          <p:cNvPr id="38" name="Rectangle 9">
            <a:extLst>
              <a:ext uri="{FF2B5EF4-FFF2-40B4-BE49-F238E27FC236}">
                <a16:creationId xmlns:a16="http://schemas.microsoft.com/office/drawing/2014/main" id="{A990B95F-B170-4AF0-8ED6-23ABC5D4905F}"/>
              </a:ext>
            </a:extLst>
          </p:cNvPr>
          <p:cNvSpPr/>
          <p:nvPr/>
        </p:nvSpPr>
        <p:spPr>
          <a:xfrm>
            <a:off x="5053978" y="4314076"/>
            <a:ext cx="2706332" cy="677242"/>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Търсещ социален контакт</a:t>
            </a:r>
            <a:endParaRPr lang="en-GB" sz="1600"/>
          </a:p>
        </p:txBody>
      </p:sp>
      <p:sp>
        <p:nvSpPr>
          <p:cNvPr id="39" name="Rectangle 11">
            <a:extLst>
              <a:ext uri="{FF2B5EF4-FFF2-40B4-BE49-F238E27FC236}">
                <a16:creationId xmlns:a16="http://schemas.microsoft.com/office/drawing/2014/main" id="{902A0438-AEF8-43C8-BB1E-B33190B12B5C}"/>
              </a:ext>
            </a:extLst>
          </p:cNvPr>
          <p:cNvSpPr/>
          <p:nvPr/>
        </p:nvSpPr>
        <p:spPr>
          <a:xfrm>
            <a:off x="5053978" y="3505711"/>
            <a:ext cx="2706332" cy="692699"/>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Импулсивен </a:t>
            </a:r>
            <a:endParaRPr lang="en-GB" sz="1600"/>
          </a:p>
        </p:txBody>
      </p:sp>
      <p:pic>
        <p:nvPicPr>
          <p:cNvPr id="40" name="Picture 39">
            <a:extLst>
              <a:ext uri="{FF2B5EF4-FFF2-40B4-BE49-F238E27FC236}">
                <a16:creationId xmlns:a16="http://schemas.microsoft.com/office/drawing/2014/main" id="{1009CE1A-E406-4DB3-A253-F7348E85AB9A}"/>
              </a:ext>
            </a:extLst>
          </p:cNvPr>
          <p:cNvPicPr>
            <a:picLocks noChangeAspect="1"/>
          </p:cNvPicPr>
          <p:nvPr/>
        </p:nvPicPr>
        <p:blipFill>
          <a:blip r:embed="rId2"/>
          <a:stretch>
            <a:fillRect/>
          </a:stretch>
        </p:blipFill>
        <p:spPr>
          <a:xfrm>
            <a:off x="10883590" y="5621341"/>
            <a:ext cx="982751" cy="995681"/>
          </a:xfrm>
          <a:prstGeom prst="rect">
            <a:avLst/>
          </a:prstGeom>
        </p:spPr>
      </p:pic>
    </p:spTree>
    <p:extLst>
      <p:ext uri="{BB962C8B-B14F-4D97-AF65-F5344CB8AC3E}">
        <p14:creationId xmlns:p14="http://schemas.microsoft.com/office/powerpoint/2010/main" val="392371899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2EBA80-1C1C-2B71-4EEA-9E2544F0EC2E}"/>
            </a:ext>
          </a:extLst>
        </p:cNvPr>
        <p:cNvGrpSpPr/>
        <p:nvPr/>
      </p:nvGrpSpPr>
      <p:grpSpPr>
        <a:xfrm>
          <a:off x="0" y="0"/>
          <a:ext cx="0" cy="0"/>
          <a:chOff x="0" y="0"/>
          <a:chExt cx="0" cy="0"/>
        </a:xfrm>
      </p:grpSpPr>
      <p:sp>
        <p:nvSpPr>
          <p:cNvPr id="20" name="Балонче за говор: правоъгълник със заоблени ъгли 19">
            <a:extLst>
              <a:ext uri="{FF2B5EF4-FFF2-40B4-BE49-F238E27FC236}">
                <a16:creationId xmlns:a16="http://schemas.microsoft.com/office/drawing/2014/main" id="{2945F269-F25D-4C1D-8382-378EC89977EB}"/>
              </a:ext>
            </a:extLst>
          </p:cNvPr>
          <p:cNvSpPr/>
          <p:nvPr/>
        </p:nvSpPr>
        <p:spPr>
          <a:xfrm>
            <a:off x="8143077" y="1045302"/>
            <a:ext cx="3508734" cy="3269585"/>
          </a:xfrm>
          <a:prstGeom prst="roundRect">
            <a:avLst>
              <a:gd name="adj" fmla="val 9600"/>
            </a:avLst>
          </a:prstGeom>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ru-RU" sz="1400" b="1"/>
              <a:t>Нерешителен</a:t>
            </a:r>
            <a:br>
              <a:rPr lang="ru-RU" sz="1400"/>
            </a:br>
            <a:r>
              <a:rPr lang="ru-RU" sz="1400" b="1">
                <a:ea typeface="+mn-lt"/>
                <a:cs typeface="+mn-lt"/>
              </a:rPr>
              <a:t>Характеристики:</a:t>
            </a:r>
            <a:endParaRPr lang="bg-BG" sz="1400"/>
          </a:p>
          <a:p>
            <a:pPr marL="285750" indent="-285750">
              <a:buFont typeface="Arial"/>
              <a:buChar char="•"/>
            </a:pPr>
            <a:r>
              <a:rPr lang="ru-RU" sz="1400">
                <a:ea typeface="+mn-lt"/>
                <a:cs typeface="+mn-lt"/>
              </a:rPr>
              <a:t>Страх от грешка </a:t>
            </a:r>
            <a:endParaRPr lang="ru-RU"/>
          </a:p>
          <a:p>
            <a:pPr marL="285750" indent="-285750">
              <a:buFont typeface="Arial"/>
              <a:buChar char="•"/>
            </a:pPr>
            <a:r>
              <a:rPr lang="ru-RU" sz="1400">
                <a:ea typeface="+mn-lt"/>
                <a:cs typeface="+mn-lt"/>
              </a:rPr>
              <a:t>Търсят одобрение от други </a:t>
            </a:r>
            <a:endParaRPr lang="ru-RU"/>
          </a:p>
          <a:p>
            <a:pPr marL="285750" indent="-285750">
              <a:buFont typeface="Arial"/>
              <a:buChar char="•"/>
            </a:pPr>
            <a:r>
              <a:rPr lang="ru-RU" sz="1400">
                <a:ea typeface="+mn-lt"/>
                <a:cs typeface="+mn-lt"/>
              </a:rPr>
              <a:t>Колебливи </a:t>
            </a:r>
            <a:endParaRPr lang="ru-RU"/>
          </a:p>
          <a:p>
            <a:pPr marL="285750" indent="-285750">
              <a:buFont typeface="Arial"/>
              <a:buChar char="•"/>
            </a:pPr>
            <a:r>
              <a:rPr lang="ru-RU" sz="1400">
                <a:ea typeface="+mn-lt"/>
                <a:cs typeface="+mn-lt"/>
              </a:rPr>
              <a:t>Не се доверяват лесно </a:t>
            </a:r>
            <a:endParaRPr lang="ru-RU"/>
          </a:p>
          <a:p>
            <a:pPr marL="285750" indent="-285750">
              <a:buFont typeface="Arial"/>
              <a:buChar char="•"/>
            </a:pPr>
            <a:r>
              <a:rPr lang="ru-RU" sz="1400">
                <a:ea typeface="+mn-lt"/>
                <a:cs typeface="+mn-lt"/>
              </a:rPr>
              <a:t>Често променят решение </a:t>
            </a:r>
            <a:endParaRPr lang="ru-RU"/>
          </a:p>
          <a:p>
            <a:r>
              <a:rPr lang="ru-RU" sz="1400" b="1">
                <a:ea typeface="+mn-lt"/>
                <a:cs typeface="+mn-lt"/>
              </a:rPr>
              <a:t>Предпочитана комуникация:</a:t>
            </a:r>
            <a:endParaRPr lang="ru-RU" b="1">
              <a:ea typeface="+mn-lt"/>
              <a:cs typeface="+mn-lt"/>
            </a:endParaRPr>
          </a:p>
          <a:p>
            <a:pPr marL="285750" indent="-285750">
              <a:buFont typeface="Arial"/>
              <a:buChar char="•"/>
            </a:pPr>
            <a:r>
              <a:rPr lang="ru-RU" sz="1400">
                <a:ea typeface="+mn-lt"/>
                <a:cs typeface="+mn-lt"/>
              </a:rPr>
              <a:t>Повтаряне на ползите </a:t>
            </a:r>
            <a:endParaRPr lang="ru-RU">
              <a:ea typeface="+mn-lt"/>
              <a:cs typeface="+mn-lt"/>
            </a:endParaRPr>
          </a:p>
          <a:p>
            <a:pPr marL="285750" indent="-285750">
              <a:buFont typeface="Arial"/>
              <a:buChar char="•"/>
            </a:pPr>
            <a:r>
              <a:rPr lang="ru-RU" sz="1400">
                <a:ea typeface="+mn-lt"/>
                <a:cs typeface="+mn-lt"/>
              </a:rPr>
              <a:t>Примери и гаранции </a:t>
            </a:r>
            <a:endParaRPr lang="ru-RU"/>
          </a:p>
          <a:p>
            <a:pPr marL="285750" indent="-285750">
              <a:buFont typeface="Arial"/>
              <a:buChar char="•"/>
            </a:pPr>
            <a:r>
              <a:rPr lang="ru-RU" sz="1400">
                <a:ea typeface="+mn-lt"/>
                <a:cs typeface="+mn-lt"/>
              </a:rPr>
              <a:t>Без натиск </a:t>
            </a:r>
            <a:endParaRPr lang="ru-RU"/>
          </a:p>
          <a:p>
            <a:pPr marL="285750" indent="-285750">
              <a:buFont typeface="Arial"/>
              <a:buChar char="•"/>
            </a:pPr>
            <a:r>
              <a:rPr lang="ru-RU" sz="1400">
                <a:ea typeface="+mn-lt"/>
                <a:cs typeface="+mn-lt"/>
              </a:rPr>
              <a:t>Повече време за решение </a:t>
            </a:r>
            <a:endParaRPr lang="ru-RU"/>
          </a:p>
          <a:p>
            <a:pPr marL="285750" indent="-285750">
              <a:buFont typeface="Arial"/>
              <a:buChar char="•"/>
            </a:pPr>
            <a:r>
              <a:rPr lang="ru-RU" sz="1400">
                <a:ea typeface="+mn-lt"/>
                <a:cs typeface="+mn-lt"/>
              </a:rPr>
              <a:t>Без много алтернативи → дай ясно доказателство </a:t>
            </a:r>
            <a:endParaRPr lang="ru-RU"/>
          </a:p>
          <a:p>
            <a:endParaRPr lang="ru-RU" sz="1400"/>
          </a:p>
        </p:txBody>
      </p:sp>
      <p:sp>
        <p:nvSpPr>
          <p:cNvPr id="22" name="Rectangle 28">
            <a:extLst>
              <a:ext uri="{FF2B5EF4-FFF2-40B4-BE49-F238E27FC236}">
                <a16:creationId xmlns:a16="http://schemas.microsoft.com/office/drawing/2014/main" id="{F98C86B0-FDF2-468D-AD48-DAB539A60018}"/>
              </a:ext>
            </a:extLst>
          </p:cNvPr>
          <p:cNvSpPr/>
          <p:nvPr/>
        </p:nvSpPr>
        <p:spPr>
          <a:xfrm>
            <a:off x="-15824" y="1599"/>
            <a:ext cx="1465320" cy="6859628"/>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400">
              <a:latin typeface="Aptos"/>
              <a:ea typeface="Calibri"/>
              <a:cs typeface="Calibri"/>
            </a:endParaRPr>
          </a:p>
        </p:txBody>
      </p:sp>
      <p:sp>
        <p:nvSpPr>
          <p:cNvPr id="24" name="Rectangle 29">
            <a:extLst>
              <a:ext uri="{FF2B5EF4-FFF2-40B4-BE49-F238E27FC236}">
                <a16:creationId xmlns:a16="http://schemas.microsoft.com/office/drawing/2014/main" id="{ABF239DA-F29F-4241-A136-D2AF4CD11B0F}"/>
              </a:ext>
            </a:extLst>
          </p:cNvPr>
          <p:cNvSpPr/>
          <p:nvPr/>
        </p:nvSpPr>
        <p:spPr>
          <a:xfrm>
            <a:off x="-1671" y="2528038"/>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002060"/>
                </a:solidFill>
                <a:latin typeface="Aptos"/>
                <a:ea typeface="Calibri"/>
                <a:cs typeface="Calibri"/>
              </a:rPr>
              <a:t>Типове клиенти</a:t>
            </a:r>
            <a:endParaRPr lang="en-GB" sz="1400">
              <a:solidFill>
                <a:srgbClr val="002060"/>
              </a:solidFill>
              <a:latin typeface="Aptos"/>
              <a:ea typeface="Calibri"/>
              <a:cs typeface="Calibri"/>
            </a:endParaRPr>
          </a:p>
        </p:txBody>
      </p:sp>
      <p:sp>
        <p:nvSpPr>
          <p:cNvPr id="25" name="Rectangle 30">
            <a:extLst>
              <a:ext uri="{FF2B5EF4-FFF2-40B4-BE49-F238E27FC236}">
                <a16:creationId xmlns:a16="http://schemas.microsoft.com/office/drawing/2014/main" id="{885EAE5B-CFCA-44F1-A62F-183C46DC9338}"/>
              </a:ext>
            </a:extLst>
          </p:cNvPr>
          <p:cNvSpPr/>
          <p:nvPr/>
        </p:nvSpPr>
        <p:spPr>
          <a:xfrm>
            <a:off x="8626" y="1913210"/>
            <a:ext cx="1442908" cy="4485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chemeClr val="bg1"/>
                </a:solidFill>
                <a:latin typeface="Aptos"/>
                <a:ea typeface="Calibri"/>
                <a:cs typeface="Calibri"/>
              </a:rPr>
              <a:t>Сценарии</a:t>
            </a:r>
            <a:endParaRPr lang="en-GB" sz="1400">
              <a:solidFill>
                <a:schemeClr val="bg1"/>
              </a:solidFill>
              <a:latin typeface="Aptos"/>
              <a:ea typeface="Calibri"/>
              <a:cs typeface="Calibri"/>
            </a:endParaRPr>
          </a:p>
        </p:txBody>
      </p:sp>
      <p:sp>
        <p:nvSpPr>
          <p:cNvPr id="26" name="Rectangle 31">
            <a:extLst>
              <a:ext uri="{FF2B5EF4-FFF2-40B4-BE49-F238E27FC236}">
                <a16:creationId xmlns:a16="http://schemas.microsoft.com/office/drawing/2014/main" id="{C54F7C36-507B-42DF-91B5-ADE9ADF3E4F5}"/>
              </a:ext>
            </a:extLst>
          </p:cNvPr>
          <p:cNvSpPr/>
          <p:nvPr/>
        </p:nvSpPr>
        <p:spPr>
          <a:xfrm>
            <a:off x="-1671" y="1298382"/>
            <a:ext cx="1442908" cy="4485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chemeClr val="bg1"/>
                </a:solidFill>
                <a:latin typeface="Aptos"/>
                <a:ea typeface="Calibri"/>
                <a:cs typeface="Calibri"/>
              </a:rPr>
              <a:t>Стъпки в обаждането</a:t>
            </a:r>
            <a:endParaRPr lang="en-GB" sz="1400">
              <a:solidFill>
                <a:schemeClr val="bg1"/>
              </a:solidFill>
              <a:latin typeface="Aptos"/>
              <a:ea typeface="Calibri"/>
              <a:cs typeface="Calibri"/>
            </a:endParaRPr>
          </a:p>
        </p:txBody>
      </p:sp>
      <p:sp>
        <p:nvSpPr>
          <p:cNvPr id="27" name="Rectangle 3">
            <a:extLst>
              <a:ext uri="{FF2B5EF4-FFF2-40B4-BE49-F238E27FC236}">
                <a16:creationId xmlns:a16="http://schemas.microsoft.com/office/drawing/2014/main" id="{C1CAADD5-F62F-41B3-A653-E6C7FAEEC496}"/>
              </a:ext>
            </a:extLst>
          </p:cNvPr>
          <p:cNvSpPr/>
          <p:nvPr/>
        </p:nvSpPr>
        <p:spPr>
          <a:xfrm>
            <a:off x="1443475" y="4245"/>
            <a:ext cx="5338363" cy="67724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28" name="Rectangle 4">
            <a:extLst>
              <a:ext uri="{FF2B5EF4-FFF2-40B4-BE49-F238E27FC236}">
                <a16:creationId xmlns:a16="http://schemas.microsoft.com/office/drawing/2014/main" id="{55A98056-40F8-459D-B746-E4BF42358C33}"/>
              </a:ext>
            </a:extLst>
          </p:cNvPr>
          <p:cNvSpPr/>
          <p:nvPr/>
        </p:nvSpPr>
        <p:spPr>
          <a:xfrm>
            <a:off x="6788435" y="4245"/>
            <a:ext cx="5417300" cy="677242"/>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29" name="Rectangle 28">
            <a:extLst>
              <a:ext uri="{FF2B5EF4-FFF2-40B4-BE49-F238E27FC236}">
                <a16:creationId xmlns:a16="http://schemas.microsoft.com/office/drawing/2014/main" id="{422FA89F-5724-4C38-96A8-19E5EB30517F}"/>
              </a:ext>
            </a:extLst>
          </p:cNvPr>
          <p:cNvSpPr/>
          <p:nvPr/>
        </p:nvSpPr>
        <p:spPr>
          <a:xfrm>
            <a:off x="-15827" y="690328"/>
            <a:ext cx="1465322"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FFFFFF"/>
                </a:solidFill>
                <a:latin typeface="Aptos"/>
                <a:ea typeface="Calibri"/>
                <a:cs typeface="Calibri"/>
              </a:rPr>
              <a:t>Подготовка</a:t>
            </a:r>
            <a:endParaRPr lang="en-GB" sz="1400">
              <a:solidFill>
                <a:srgbClr val="FFFFFF"/>
              </a:solidFill>
              <a:latin typeface="Aptos"/>
              <a:ea typeface="Calibri"/>
              <a:cs typeface="Calibri"/>
            </a:endParaRPr>
          </a:p>
        </p:txBody>
      </p:sp>
      <p:sp>
        <p:nvSpPr>
          <p:cNvPr id="30" name="Rectangle: Rounded Corners 29">
            <a:extLst>
              <a:ext uri="{FF2B5EF4-FFF2-40B4-BE49-F238E27FC236}">
                <a16:creationId xmlns:a16="http://schemas.microsoft.com/office/drawing/2014/main" id="{0CF4826F-DC37-457E-8EB6-AE36588C03BA}"/>
              </a:ext>
            </a:extLst>
          </p:cNvPr>
          <p:cNvSpPr/>
          <p:nvPr/>
        </p:nvSpPr>
        <p:spPr>
          <a:xfrm>
            <a:off x="1893066" y="1041323"/>
            <a:ext cx="2706332" cy="715919"/>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Агресивен</a:t>
            </a:r>
            <a:endParaRPr lang="en-GB" sz="1600"/>
          </a:p>
        </p:txBody>
      </p:sp>
      <p:sp>
        <p:nvSpPr>
          <p:cNvPr id="31" name="Rectangle: Rounded Corners 30">
            <a:extLst>
              <a:ext uri="{FF2B5EF4-FFF2-40B4-BE49-F238E27FC236}">
                <a16:creationId xmlns:a16="http://schemas.microsoft.com/office/drawing/2014/main" id="{E3D41C07-D87B-4734-AC0F-A41F12A6793E}"/>
              </a:ext>
            </a:extLst>
          </p:cNvPr>
          <p:cNvSpPr/>
          <p:nvPr/>
        </p:nvSpPr>
        <p:spPr>
          <a:xfrm>
            <a:off x="1893066" y="1871904"/>
            <a:ext cx="2706332" cy="705772"/>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Аналитичен</a:t>
            </a:r>
            <a:endParaRPr lang="en-GB" sz="1600"/>
          </a:p>
        </p:txBody>
      </p:sp>
      <p:sp>
        <p:nvSpPr>
          <p:cNvPr id="32" name="Rectangle: Rounded Corners 31">
            <a:extLst>
              <a:ext uri="{FF2B5EF4-FFF2-40B4-BE49-F238E27FC236}">
                <a16:creationId xmlns:a16="http://schemas.microsoft.com/office/drawing/2014/main" id="{7FBC07F7-742E-44C3-9491-26FADD450E3B}"/>
              </a:ext>
            </a:extLst>
          </p:cNvPr>
          <p:cNvSpPr/>
          <p:nvPr/>
        </p:nvSpPr>
        <p:spPr>
          <a:xfrm>
            <a:off x="1893066" y="2692338"/>
            <a:ext cx="2706332" cy="699716"/>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Трудно схватлив</a:t>
            </a:r>
            <a:endParaRPr lang="en-GB" sz="1600"/>
          </a:p>
        </p:txBody>
      </p:sp>
      <p:sp>
        <p:nvSpPr>
          <p:cNvPr id="33" name="Rectangle 9">
            <a:extLst>
              <a:ext uri="{FF2B5EF4-FFF2-40B4-BE49-F238E27FC236}">
                <a16:creationId xmlns:a16="http://schemas.microsoft.com/office/drawing/2014/main" id="{DC79C975-F375-4A0F-B263-6F5F63D54CD9}"/>
              </a:ext>
            </a:extLst>
          </p:cNvPr>
          <p:cNvSpPr/>
          <p:nvPr/>
        </p:nvSpPr>
        <p:spPr>
          <a:xfrm>
            <a:off x="1893066" y="3506716"/>
            <a:ext cx="2706332" cy="692699"/>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Злонамерен</a:t>
            </a:r>
            <a:endParaRPr lang="en-GB" sz="1600"/>
          </a:p>
        </p:txBody>
      </p:sp>
      <p:sp>
        <p:nvSpPr>
          <p:cNvPr id="34" name="Rectangle 11">
            <a:extLst>
              <a:ext uri="{FF2B5EF4-FFF2-40B4-BE49-F238E27FC236}">
                <a16:creationId xmlns:a16="http://schemas.microsoft.com/office/drawing/2014/main" id="{66A0DB77-03D5-49F5-8781-DFD66194BDDF}"/>
              </a:ext>
            </a:extLst>
          </p:cNvPr>
          <p:cNvSpPr/>
          <p:nvPr/>
        </p:nvSpPr>
        <p:spPr>
          <a:xfrm>
            <a:off x="1893066" y="4314076"/>
            <a:ext cx="2706332" cy="677242"/>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ВИП</a:t>
            </a:r>
            <a:endParaRPr lang="en-GB" sz="1600"/>
          </a:p>
        </p:txBody>
      </p:sp>
      <p:sp>
        <p:nvSpPr>
          <p:cNvPr id="35" name="Rectangle 9">
            <a:extLst>
              <a:ext uri="{FF2B5EF4-FFF2-40B4-BE49-F238E27FC236}">
                <a16:creationId xmlns:a16="http://schemas.microsoft.com/office/drawing/2014/main" id="{795C8693-171C-4B90-93B4-2C7D2278E0FA}"/>
              </a:ext>
            </a:extLst>
          </p:cNvPr>
          <p:cNvSpPr/>
          <p:nvPr/>
        </p:nvSpPr>
        <p:spPr>
          <a:xfrm>
            <a:off x="5053978" y="1872908"/>
            <a:ext cx="2706332" cy="705772"/>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Подозрителен</a:t>
            </a:r>
            <a:endParaRPr lang="en-GB" sz="1600"/>
          </a:p>
        </p:txBody>
      </p:sp>
      <p:sp>
        <p:nvSpPr>
          <p:cNvPr id="36" name="Rectangle 11">
            <a:extLst>
              <a:ext uri="{FF2B5EF4-FFF2-40B4-BE49-F238E27FC236}">
                <a16:creationId xmlns:a16="http://schemas.microsoft.com/office/drawing/2014/main" id="{7155CD6E-1A93-45BE-A991-DA35EA0B0E4F}"/>
              </a:ext>
            </a:extLst>
          </p:cNvPr>
          <p:cNvSpPr/>
          <p:nvPr/>
        </p:nvSpPr>
        <p:spPr>
          <a:xfrm>
            <a:off x="5053978" y="1041324"/>
            <a:ext cx="2706332" cy="715918"/>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Манипулативен</a:t>
            </a:r>
            <a:endParaRPr lang="en-GB" sz="1600"/>
          </a:p>
        </p:txBody>
      </p:sp>
      <p:sp>
        <p:nvSpPr>
          <p:cNvPr id="37" name="Rectangle 13">
            <a:extLst>
              <a:ext uri="{FF2B5EF4-FFF2-40B4-BE49-F238E27FC236}">
                <a16:creationId xmlns:a16="http://schemas.microsoft.com/office/drawing/2014/main" id="{F8CA3591-B615-4118-AACE-AAB729029296}"/>
              </a:ext>
            </a:extLst>
          </p:cNvPr>
          <p:cNvSpPr/>
          <p:nvPr/>
        </p:nvSpPr>
        <p:spPr>
          <a:xfrm>
            <a:off x="5053978" y="2694346"/>
            <a:ext cx="2706332" cy="695699"/>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Нерешителен</a:t>
            </a:r>
            <a:endParaRPr lang="en-GB" sz="1600"/>
          </a:p>
        </p:txBody>
      </p:sp>
      <p:sp>
        <p:nvSpPr>
          <p:cNvPr id="38" name="Rectangle 9">
            <a:extLst>
              <a:ext uri="{FF2B5EF4-FFF2-40B4-BE49-F238E27FC236}">
                <a16:creationId xmlns:a16="http://schemas.microsoft.com/office/drawing/2014/main" id="{2FBC05CF-44B4-4AA9-BE0E-AA2C70CBA635}"/>
              </a:ext>
            </a:extLst>
          </p:cNvPr>
          <p:cNvSpPr/>
          <p:nvPr/>
        </p:nvSpPr>
        <p:spPr>
          <a:xfrm>
            <a:off x="5053978" y="4314076"/>
            <a:ext cx="2706332" cy="677242"/>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Търсещ социален контакт</a:t>
            </a:r>
            <a:endParaRPr lang="en-GB" sz="1600"/>
          </a:p>
        </p:txBody>
      </p:sp>
      <p:sp>
        <p:nvSpPr>
          <p:cNvPr id="39" name="Rectangle 11">
            <a:extLst>
              <a:ext uri="{FF2B5EF4-FFF2-40B4-BE49-F238E27FC236}">
                <a16:creationId xmlns:a16="http://schemas.microsoft.com/office/drawing/2014/main" id="{D437ED14-60E6-4139-BCBC-FA02457D37ED}"/>
              </a:ext>
            </a:extLst>
          </p:cNvPr>
          <p:cNvSpPr/>
          <p:nvPr/>
        </p:nvSpPr>
        <p:spPr>
          <a:xfrm>
            <a:off x="5053978" y="3505711"/>
            <a:ext cx="2706332" cy="692699"/>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Импулсивен </a:t>
            </a:r>
            <a:endParaRPr lang="en-GB" sz="1600"/>
          </a:p>
        </p:txBody>
      </p:sp>
      <p:pic>
        <p:nvPicPr>
          <p:cNvPr id="40" name="Picture 39">
            <a:extLst>
              <a:ext uri="{FF2B5EF4-FFF2-40B4-BE49-F238E27FC236}">
                <a16:creationId xmlns:a16="http://schemas.microsoft.com/office/drawing/2014/main" id="{2EEE4FA3-B64A-4404-93A7-D4606EF9E9E0}"/>
              </a:ext>
            </a:extLst>
          </p:cNvPr>
          <p:cNvPicPr>
            <a:picLocks noChangeAspect="1"/>
          </p:cNvPicPr>
          <p:nvPr/>
        </p:nvPicPr>
        <p:blipFill>
          <a:blip r:embed="rId2"/>
          <a:stretch>
            <a:fillRect/>
          </a:stretch>
        </p:blipFill>
        <p:spPr>
          <a:xfrm>
            <a:off x="10883590" y="5621341"/>
            <a:ext cx="982751" cy="995681"/>
          </a:xfrm>
          <a:prstGeom prst="rect">
            <a:avLst/>
          </a:prstGeom>
        </p:spPr>
      </p:pic>
    </p:spTree>
    <p:extLst>
      <p:ext uri="{BB962C8B-B14F-4D97-AF65-F5344CB8AC3E}">
        <p14:creationId xmlns:p14="http://schemas.microsoft.com/office/powerpoint/2010/main" val="299638904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2208E9-0227-2382-A66D-962958D41146}"/>
            </a:ext>
          </a:extLst>
        </p:cNvPr>
        <p:cNvGrpSpPr/>
        <p:nvPr/>
      </p:nvGrpSpPr>
      <p:grpSpPr>
        <a:xfrm>
          <a:off x="0" y="0"/>
          <a:ext cx="0" cy="0"/>
          <a:chOff x="0" y="0"/>
          <a:chExt cx="0" cy="0"/>
        </a:xfrm>
      </p:grpSpPr>
      <p:sp>
        <p:nvSpPr>
          <p:cNvPr id="20" name="Балонче за говор: правоъгълник със заоблени ъгли 19">
            <a:extLst>
              <a:ext uri="{FF2B5EF4-FFF2-40B4-BE49-F238E27FC236}">
                <a16:creationId xmlns:a16="http://schemas.microsoft.com/office/drawing/2014/main" id="{AD64AEF2-5B9D-E957-1B8C-B95B87C84ECD}"/>
              </a:ext>
            </a:extLst>
          </p:cNvPr>
          <p:cNvSpPr/>
          <p:nvPr/>
        </p:nvSpPr>
        <p:spPr>
          <a:xfrm>
            <a:off x="8164229" y="1045302"/>
            <a:ext cx="3618750" cy="3411563"/>
          </a:xfrm>
          <a:prstGeom prst="roundRect">
            <a:avLst>
              <a:gd name="adj" fmla="val 10243"/>
            </a:avLst>
          </a:prstGeom>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ru-RU" sz="1400" b="1"/>
              <a:t>Импулсивен</a:t>
            </a:r>
            <a:br>
              <a:rPr lang="ru-RU" sz="1400"/>
            </a:br>
            <a:r>
              <a:rPr lang="ru-RU" sz="1400" b="1">
                <a:ea typeface="+mn-lt"/>
                <a:cs typeface="+mn-lt"/>
              </a:rPr>
              <a:t>Характеристики:</a:t>
            </a:r>
            <a:endParaRPr lang="bg-BG" sz="1400"/>
          </a:p>
          <a:p>
            <a:pPr marL="285750" indent="-285750">
              <a:buFont typeface="Arial"/>
              <a:buChar char="•"/>
            </a:pPr>
            <a:r>
              <a:rPr lang="ru-RU" sz="1400">
                <a:ea typeface="+mn-lt"/>
                <a:cs typeface="+mn-lt"/>
              </a:rPr>
              <a:t>Водени от моментни желания </a:t>
            </a:r>
            <a:endParaRPr lang="ru-RU"/>
          </a:p>
          <a:p>
            <a:pPr marL="285750" indent="-285750">
              <a:buFont typeface="Arial"/>
              <a:buChar char="•"/>
            </a:pPr>
            <a:r>
              <a:rPr lang="ru-RU" sz="1400">
                <a:ea typeface="+mn-lt"/>
                <a:cs typeface="+mn-lt"/>
              </a:rPr>
              <a:t>Емоционални и непредсказуеми </a:t>
            </a:r>
            <a:endParaRPr lang="ru-RU"/>
          </a:p>
          <a:p>
            <a:pPr marL="285750" indent="-285750">
              <a:buFont typeface="Arial"/>
              <a:buChar char="•"/>
            </a:pPr>
            <a:r>
              <a:rPr lang="ru-RU" sz="1400">
                <a:ea typeface="+mn-lt"/>
                <a:cs typeface="+mn-lt"/>
              </a:rPr>
              <a:t>Често нямат реална нужда </a:t>
            </a:r>
            <a:endParaRPr lang="ru-RU"/>
          </a:p>
          <a:p>
            <a:pPr marL="285750" indent="-285750">
              <a:buFont typeface="Arial"/>
              <a:buChar char="•"/>
            </a:pPr>
            <a:r>
              <a:rPr lang="ru-RU" sz="1400">
                <a:ea typeface="+mn-lt"/>
                <a:cs typeface="+mn-lt"/>
              </a:rPr>
              <a:t>Лесно се увличат </a:t>
            </a:r>
            <a:endParaRPr lang="ru-RU"/>
          </a:p>
          <a:p>
            <a:pPr marL="285750" indent="-285750">
              <a:buFont typeface="Arial"/>
              <a:buChar char="•"/>
            </a:pPr>
            <a:r>
              <a:rPr lang="ru-RU" sz="1400">
                <a:ea typeface="+mn-lt"/>
                <a:cs typeface="+mn-lt"/>
              </a:rPr>
              <a:t>Склонни към бързи решения </a:t>
            </a:r>
            <a:endParaRPr lang="ru-RU"/>
          </a:p>
          <a:p>
            <a:r>
              <a:rPr lang="ru-RU" sz="1400" b="1">
                <a:ea typeface="+mn-lt"/>
                <a:cs typeface="+mn-lt"/>
              </a:rPr>
              <a:t>Предпочитана комуникация:</a:t>
            </a:r>
            <a:endParaRPr lang="ru-RU" b="1">
              <a:ea typeface="+mn-lt"/>
              <a:cs typeface="+mn-lt"/>
            </a:endParaRPr>
          </a:p>
          <a:p>
            <a:pPr marL="285750" indent="-285750">
              <a:buFont typeface="Arial"/>
              <a:buChar char="•"/>
            </a:pPr>
            <a:r>
              <a:rPr lang="ru-RU" sz="1400">
                <a:ea typeface="+mn-lt"/>
                <a:cs typeface="+mn-lt"/>
              </a:rPr>
              <a:t>Силни и ясни аргументи </a:t>
            </a:r>
            <a:endParaRPr lang="ru-RU"/>
          </a:p>
          <a:p>
            <a:pPr marL="285750" indent="-285750">
              <a:buFont typeface="Arial"/>
              <a:buChar char="•"/>
            </a:pPr>
            <a:r>
              <a:rPr lang="ru-RU" sz="1400">
                <a:ea typeface="+mn-lt"/>
                <a:cs typeface="+mn-lt"/>
              </a:rPr>
              <a:t>Улавяне на момента </a:t>
            </a:r>
            <a:endParaRPr lang="ru-RU"/>
          </a:p>
          <a:p>
            <a:pPr marL="285750" indent="-285750">
              <a:buFont typeface="Arial"/>
              <a:buChar char="•"/>
            </a:pPr>
            <a:r>
              <a:rPr lang="ru-RU" sz="1400">
                <a:ea typeface="+mn-lt"/>
                <a:cs typeface="+mn-lt"/>
              </a:rPr>
              <a:t>Контрол върху процеса </a:t>
            </a:r>
            <a:endParaRPr lang="ru-RU"/>
          </a:p>
          <a:p>
            <a:pPr marL="285750" indent="-285750">
              <a:buFont typeface="Arial"/>
              <a:buChar char="•"/>
            </a:pPr>
            <a:r>
              <a:rPr lang="ru-RU" sz="1400">
                <a:ea typeface="+mn-lt"/>
                <a:cs typeface="+mn-lt"/>
              </a:rPr>
              <a:t>Проверка дали разбират решението </a:t>
            </a:r>
            <a:endParaRPr lang="ru-RU"/>
          </a:p>
          <a:p>
            <a:pPr marL="285750" indent="-285750">
              <a:buFont typeface="Arial"/>
              <a:buChar char="•"/>
            </a:pPr>
            <a:r>
              <a:rPr lang="ru-RU" sz="1400">
                <a:ea typeface="+mn-lt"/>
                <a:cs typeface="+mn-lt"/>
              </a:rPr>
              <a:t>Оценка на реалните им възможности</a:t>
            </a:r>
            <a:endParaRPr lang="ru-RU"/>
          </a:p>
          <a:p>
            <a:endParaRPr lang="ru-RU" sz="1400"/>
          </a:p>
        </p:txBody>
      </p:sp>
      <p:sp>
        <p:nvSpPr>
          <p:cNvPr id="22" name="Rectangle 28">
            <a:extLst>
              <a:ext uri="{FF2B5EF4-FFF2-40B4-BE49-F238E27FC236}">
                <a16:creationId xmlns:a16="http://schemas.microsoft.com/office/drawing/2014/main" id="{1471356F-D761-49E5-B2CA-990B06B6E61A}"/>
              </a:ext>
            </a:extLst>
          </p:cNvPr>
          <p:cNvSpPr/>
          <p:nvPr/>
        </p:nvSpPr>
        <p:spPr>
          <a:xfrm>
            <a:off x="-15824" y="1599"/>
            <a:ext cx="1465320" cy="6859628"/>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400">
              <a:latin typeface="Aptos"/>
              <a:ea typeface="Calibri"/>
              <a:cs typeface="Calibri"/>
            </a:endParaRPr>
          </a:p>
        </p:txBody>
      </p:sp>
      <p:sp>
        <p:nvSpPr>
          <p:cNvPr id="24" name="Rectangle 29">
            <a:extLst>
              <a:ext uri="{FF2B5EF4-FFF2-40B4-BE49-F238E27FC236}">
                <a16:creationId xmlns:a16="http://schemas.microsoft.com/office/drawing/2014/main" id="{D52FD72D-9534-4D8D-BFEB-E5E86B371105}"/>
              </a:ext>
            </a:extLst>
          </p:cNvPr>
          <p:cNvSpPr/>
          <p:nvPr/>
        </p:nvSpPr>
        <p:spPr>
          <a:xfrm>
            <a:off x="-1671" y="2528038"/>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002060"/>
                </a:solidFill>
                <a:latin typeface="Aptos"/>
                <a:ea typeface="Calibri"/>
                <a:cs typeface="Calibri"/>
              </a:rPr>
              <a:t>Типове клиенти</a:t>
            </a:r>
            <a:endParaRPr lang="en-GB" sz="1400">
              <a:solidFill>
                <a:srgbClr val="002060"/>
              </a:solidFill>
              <a:latin typeface="Aptos"/>
              <a:ea typeface="Calibri"/>
              <a:cs typeface="Calibri"/>
            </a:endParaRPr>
          </a:p>
        </p:txBody>
      </p:sp>
      <p:sp>
        <p:nvSpPr>
          <p:cNvPr id="25" name="Rectangle 30">
            <a:extLst>
              <a:ext uri="{FF2B5EF4-FFF2-40B4-BE49-F238E27FC236}">
                <a16:creationId xmlns:a16="http://schemas.microsoft.com/office/drawing/2014/main" id="{B57202AB-E11F-410A-A169-A614466E0531}"/>
              </a:ext>
            </a:extLst>
          </p:cNvPr>
          <p:cNvSpPr/>
          <p:nvPr/>
        </p:nvSpPr>
        <p:spPr>
          <a:xfrm>
            <a:off x="8626" y="1913210"/>
            <a:ext cx="1442908" cy="4485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chemeClr val="bg1"/>
                </a:solidFill>
                <a:latin typeface="Aptos"/>
                <a:ea typeface="Calibri"/>
                <a:cs typeface="Calibri"/>
              </a:rPr>
              <a:t>Сценарии</a:t>
            </a:r>
            <a:endParaRPr lang="en-GB" sz="1400">
              <a:solidFill>
                <a:schemeClr val="bg1"/>
              </a:solidFill>
              <a:latin typeface="Aptos"/>
              <a:ea typeface="Calibri"/>
              <a:cs typeface="Calibri"/>
            </a:endParaRPr>
          </a:p>
        </p:txBody>
      </p:sp>
      <p:sp>
        <p:nvSpPr>
          <p:cNvPr id="26" name="Rectangle 31">
            <a:extLst>
              <a:ext uri="{FF2B5EF4-FFF2-40B4-BE49-F238E27FC236}">
                <a16:creationId xmlns:a16="http://schemas.microsoft.com/office/drawing/2014/main" id="{9BC33A8B-F642-4DF8-B219-E92969419064}"/>
              </a:ext>
            </a:extLst>
          </p:cNvPr>
          <p:cNvSpPr/>
          <p:nvPr/>
        </p:nvSpPr>
        <p:spPr>
          <a:xfrm>
            <a:off x="-1671" y="1298382"/>
            <a:ext cx="1442908" cy="4485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chemeClr val="bg1"/>
                </a:solidFill>
                <a:latin typeface="Aptos"/>
                <a:ea typeface="Calibri"/>
                <a:cs typeface="Calibri"/>
              </a:rPr>
              <a:t>Стъпки в обаждането</a:t>
            </a:r>
            <a:endParaRPr lang="en-GB" sz="1400">
              <a:solidFill>
                <a:schemeClr val="bg1"/>
              </a:solidFill>
              <a:latin typeface="Aptos"/>
              <a:ea typeface="Calibri"/>
              <a:cs typeface="Calibri"/>
            </a:endParaRPr>
          </a:p>
        </p:txBody>
      </p:sp>
      <p:sp>
        <p:nvSpPr>
          <p:cNvPr id="27" name="Rectangle 3">
            <a:extLst>
              <a:ext uri="{FF2B5EF4-FFF2-40B4-BE49-F238E27FC236}">
                <a16:creationId xmlns:a16="http://schemas.microsoft.com/office/drawing/2014/main" id="{72CD7B2D-E927-43F9-8CBC-35CF69E8A340}"/>
              </a:ext>
            </a:extLst>
          </p:cNvPr>
          <p:cNvSpPr/>
          <p:nvPr/>
        </p:nvSpPr>
        <p:spPr>
          <a:xfrm>
            <a:off x="1443475" y="4245"/>
            <a:ext cx="5338363" cy="67724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28" name="Rectangle 4">
            <a:extLst>
              <a:ext uri="{FF2B5EF4-FFF2-40B4-BE49-F238E27FC236}">
                <a16:creationId xmlns:a16="http://schemas.microsoft.com/office/drawing/2014/main" id="{C42B3E89-A192-416C-9397-D4537F3F81FE}"/>
              </a:ext>
            </a:extLst>
          </p:cNvPr>
          <p:cNvSpPr/>
          <p:nvPr/>
        </p:nvSpPr>
        <p:spPr>
          <a:xfrm>
            <a:off x="6788435" y="4245"/>
            <a:ext cx="5417300" cy="677242"/>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29" name="Rectangle 28">
            <a:extLst>
              <a:ext uri="{FF2B5EF4-FFF2-40B4-BE49-F238E27FC236}">
                <a16:creationId xmlns:a16="http://schemas.microsoft.com/office/drawing/2014/main" id="{ADF8B6F4-0C1C-4E79-9EF6-B458944B64E6}"/>
              </a:ext>
            </a:extLst>
          </p:cNvPr>
          <p:cNvSpPr/>
          <p:nvPr/>
        </p:nvSpPr>
        <p:spPr>
          <a:xfrm>
            <a:off x="-15827" y="690328"/>
            <a:ext cx="1465322"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FFFFFF"/>
                </a:solidFill>
                <a:latin typeface="Aptos"/>
                <a:ea typeface="Calibri"/>
                <a:cs typeface="Calibri"/>
              </a:rPr>
              <a:t>Подготовка</a:t>
            </a:r>
            <a:endParaRPr lang="en-GB" sz="1400">
              <a:solidFill>
                <a:srgbClr val="FFFFFF"/>
              </a:solidFill>
              <a:latin typeface="Aptos"/>
              <a:ea typeface="Calibri"/>
              <a:cs typeface="Calibri"/>
            </a:endParaRPr>
          </a:p>
        </p:txBody>
      </p:sp>
      <p:sp>
        <p:nvSpPr>
          <p:cNvPr id="30" name="Rectangle: Rounded Corners 29">
            <a:extLst>
              <a:ext uri="{FF2B5EF4-FFF2-40B4-BE49-F238E27FC236}">
                <a16:creationId xmlns:a16="http://schemas.microsoft.com/office/drawing/2014/main" id="{57062B37-A0FF-42E1-A95E-FD690C0A96EE}"/>
              </a:ext>
            </a:extLst>
          </p:cNvPr>
          <p:cNvSpPr/>
          <p:nvPr/>
        </p:nvSpPr>
        <p:spPr>
          <a:xfrm>
            <a:off x="1893066" y="1041323"/>
            <a:ext cx="2706332" cy="715919"/>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Агресивен</a:t>
            </a:r>
            <a:endParaRPr lang="en-GB" sz="1600"/>
          </a:p>
        </p:txBody>
      </p:sp>
      <p:sp>
        <p:nvSpPr>
          <p:cNvPr id="31" name="Rectangle: Rounded Corners 30">
            <a:extLst>
              <a:ext uri="{FF2B5EF4-FFF2-40B4-BE49-F238E27FC236}">
                <a16:creationId xmlns:a16="http://schemas.microsoft.com/office/drawing/2014/main" id="{651C11DD-5DED-4376-B3A1-CBC2F51876E8}"/>
              </a:ext>
            </a:extLst>
          </p:cNvPr>
          <p:cNvSpPr/>
          <p:nvPr/>
        </p:nvSpPr>
        <p:spPr>
          <a:xfrm>
            <a:off x="1893066" y="1871904"/>
            <a:ext cx="2706332" cy="705772"/>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Аналитичен</a:t>
            </a:r>
            <a:endParaRPr lang="en-GB" sz="1600"/>
          </a:p>
        </p:txBody>
      </p:sp>
      <p:sp>
        <p:nvSpPr>
          <p:cNvPr id="32" name="Rectangle: Rounded Corners 31">
            <a:extLst>
              <a:ext uri="{FF2B5EF4-FFF2-40B4-BE49-F238E27FC236}">
                <a16:creationId xmlns:a16="http://schemas.microsoft.com/office/drawing/2014/main" id="{4F798EF4-BE17-4149-B7CB-4DFB822D3187}"/>
              </a:ext>
            </a:extLst>
          </p:cNvPr>
          <p:cNvSpPr/>
          <p:nvPr/>
        </p:nvSpPr>
        <p:spPr>
          <a:xfrm>
            <a:off x="1893066" y="2692338"/>
            <a:ext cx="2706332" cy="699716"/>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Трудно схватлив</a:t>
            </a:r>
            <a:endParaRPr lang="en-GB" sz="1600"/>
          </a:p>
        </p:txBody>
      </p:sp>
      <p:sp>
        <p:nvSpPr>
          <p:cNvPr id="33" name="Rectangle 9">
            <a:extLst>
              <a:ext uri="{FF2B5EF4-FFF2-40B4-BE49-F238E27FC236}">
                <a16:creationId xmlns:a16="http://schemas.microsoft.com/office/drawing/2014/main" id="{594D4396-FD7C-4B41-A935-F102B87355BF}"/>
              </a:ext>
            </a:extLst>
          </p:cNvPr>
          <p:cNvSpPr/>
          <p:nvPr/>
        </p:nvSpPr>
        <p:spPr>
          <a:xfrm>
            <a:off x="1893066" y="3506716"/>
            <a:ext cx="2706332" cy="692699"/>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Злонамерен</a:t>
            </a:r>
            <a:endParaRPr lang="en-GB" sz="1600"/>
          </a:p>
        </p:txBody>
      </p:sp>
      <p:sp>
        <p:nvSpPr>
          <p:cNvPr id="34" name="Rectangle 11">
            <a:extLst>
              <a:ext uri="{FF2B5EF4-FFF2-40B4-BE49-F238E27FC236}">
                <a16:creationId xmlns:a16="http://schemas.microsoft.com/office/drawing/2014/main" id="{5F1E2D8B-4233-4599-B6D8-55EA8259D897}"/>
              </a:ext>
            </a:extLst>
          </p:cNvPr>
          <p:cNvSpPr/>
          <p:nvPr/>
        </p:nvSpPr>
        <p:spPr>
          <a:xfrm>
            <a:off x="1893066" y="4314076"/>
            <a:ext cx="2706332" cy="677242"/>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ВИП</a:t>
            </a:r>
            <a:endParaRPr lang="en-GB" sz="1600"/>
          </a:p>
        </p:txBody>
      </p:sp>
      <p:sp>
        <p:nvSpPr>
          <p:cNvPr id="35" name="Rectangle 9">
            <a:extLst>
              <a:ext uri="{FF2B5EF4-FFF2-40B4-BE49-F238E27FC236}">
                <a16:creationId xmlns:a16="http://schemas.microsoft.com/office/drawing/2014/main" id="{A0E8E9F1-4140-49D8-A99B-81012EFB54B2}"/>
              </a:ext>
            </a:extLst>
          </p:cNvPr>
          <p:cNvSpPr/>
          <p:nvPr/>
        </p:nvSpPr>
        <p:spPr>
          <a:xfrm>
            <a:off x="5053978" y="1872908"/>
            <a:ext cx="2706332" cy="705772"/>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Подозрителен</a:t>
            </a:r>
            <a:endParaRPr lang="en-GB" sz="1600"/>
          </a:p>
        </p:txBody>
      </p:sp>
      <p:sp>
        <p:nvSpPr>
          <p:cNvPr id="36" name="Rectangle 11">
            <a:extLst>
              <a:ext uri="{FF2B5EF4-FFF2-40B4-BE49-F238E27FC236}">
                <a16:creationId xmlns:a16="http://schemas.microsoft.com/office/drawing/2014/main" id="{DC5032D6-91D8-47D2-B738-D75866C7F259}"/>
              </a:ext>
            </a:extLst>
          </p:cNvPr>
          <p:cNvSpPr/>
          <p:nvPr/>
        </p:nvSpPr>
        <p:spPr>
          <a:xfrm>
            <a:off x="5053978" y="1041324"/>
            <a:ext cx="2706332" cy="715918"/>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Манипулативен</a:t>
            </a:r>
            <a:endParaRPr lang="en-GB" sz="1600"/>
          </a:p>
        </p:txBody>
      </p:sp>
      <p:sp>
        <p:nvSpPr>
          <p:cNvPr id="37" name="Rectangle 13">
            <a:extLst>
              <a:ext uri="{FF2B5EF4-FFF2-40B4-BE49-F238E27FC236}">
                <a16:creationId xmlns:a16="http://schemas.microsoft.com/office/drawing/2014/main" id="{C0034456-30C5-4257-845C-414F64C173C4}"/>
              </a:ext>
            </a:extLst>
          </p:cNvPr>
          <p:cNvSpPr/>
          <p:nvPr/>
        </p:nvSpPr>
        <p:spPr>
          <a:xfrm>
            <a:off x="5053978" y="2694346"/>
            <a:ext cx="2706332" cy="695699"/>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Нерешителен</a:t>
            </a:r>
            <a:endParaRPr lang="en-GB" sz="1600"/>
          </a:p>
        </p:txBody>
      </p:sp>
      <p:sp>
        <p:nvSpPr>
          <p:cNvPr id="38" name="Rectangle 9">
            <a:extLst>
              <a:ext uri="{FF2B5EF4-FFF2-40B4-BE49-F238E27FC236}">
                <a16:creationId xmlns:a16="http://schemas.microsoft.com/office/drawing/2014/main" id="{DA722C4C-2B5C-49B3-9B69-6CA47EADFEDD}"/>
              </a:ext>
            </a:extLst>
          </p:cNvPr>
          <p:cNvSpPr/>
          <p:nvPr/>
        </p:nvSpPr>
        <p:spPr>
          <a:xfrm>
            <a:off x="5053978" y="4314076"/>
            <a:ext cx="2706332" cy="677242"/>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Търсещ социален контакт</a:t>
            </a:r>
            <a:endParaRPr lang="en-GB" sz="1600"/>
          </a:p>
        </p:txBody>
      </p:sp>
      <p:sp>
        <p:nvSpPr>
          <p:cNvPr id="39" name="Rectangle 11">
            <a:extLst>
              <a:ext uri="{FF2B5EF4-FFF2-40B4-BE49-F238E27FC236}">
                <a16:creationId xmlns:a16="http://schemas.microsoft.com/office/drawing/2014/main" id="{CD9BEF81-A184-4714-92AF-34ACC2D93870}"/>
              </a:ext>
            </a:extLst>
          </p:cNvPr>
          <p:cNvSpPr/>
          <p:nvPr/>
        </p:nvSpPr>
        <p:spPr>
          <a:xfrm>
            <a:off x="5053978" y="3505711"/>
            <a:ext cx="2706332" cy="692699"/>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Импулсивен </a:t>
            </a:r>
            <a:endParaRPr lang="en-GB" sz="1600"/>
          </a:p>
        </p:txBody>
      </p:sp>
      <p:pic>
        <p:nvPicPr>
          <p:cNvPr id="40" name="Picture 39">
            <a:extLst>
              <a:ext uri="{FF2B5EF4-FFF2-40B4-BE49-F238E27FC236}">
                <a16:creationId xmlns:a16="http://schemas.microsoft.com/office/drawing/2014/main" id="{1A1CFB07-5643-4FBE-8543-464344183679}"/>
              </a:ext>
            </a:extLst>
          </p:cNvPr>
          <p:cNvPicPr>
            <a:picLocks noChangeAspect="1"/>
          </p:cNvPicPr>
          <p:nvPr/>
        </p:nvPicPr>
        <p:blipFill>
          <a:blip r:embed="rId2"/>
          <a:stretch>
            <a:fillRect/>
          </a:stretch>
        </p:blipFill>
        <p:spPr>
          <a:xfrm>
            <a:off x="10883590" y="5621341"/>
            <a:ext cx="982751" cy="995681"/>
          </a:xfrm>
          <a:prstGeom prst="rect">
            <a:avLst/>
          </a:prstGeom>
        </p:spPr>
      </p:pic>
    </p:spTree>
    <p:extLst>
      <p:ext uri="{BB962C8B-B14F-4D97-AF65-F5344CB8AC3E}">
        <p14:creationId xmlns:p14="http://schemas.microsoft.com/office/powerpoint/2010/main" val="268501741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A43CD9-26BA-4CC5-E81E-CB672034D3D1}"/>
            </a:ext>
          </a:extLst>
        </p:cNvPr>
        <p:cNvGrpSpPr/>
        <p:nvPr/>
      </p:nvGrpSpPr>
      <p:grpSpPr>
        <a:xfrm>
          <a:off x="0" y="0"/>
          <a:ext cx="0" cy="0"/>
          <a:chOff x="0" y="0"/>
          <a:chExt cx="0" cy="0"/>
        </a:xfrm>
      </p:grpSpPr>
      <p:sp>
        <p:nvSpPr>
          <p:cNvPr id="20" name="Балонче за говор: правоъгълник със заоблени ъгли 19">
            <a:extLst>
              <a:ext uri="{FF2B5EF4-FFF2-40B4-BE49-F238E27FC236}">
                <a16:creationId xmlns:a16="http://schemas.microsoft.com/office/drawing/2014/main" id="{A11F27D1-DDD9-412A-7757-D83DD5C60979}"/>
              </a:ext>
            </a:extLst>
          </p:cNvPr>
          <p:cNvSpPr/>
          <p:nvPr/>
        </p:nvSpPr>
        <p:spPr>
          <a:xfrm>
            <a:off x="8273506" y="992862"/>
            <a:ext cx="3592274" cy="3838535"/>
          </a:xfrm>
          <a:prstGeom prst="roundRect">
            <a:avLst>
              <a:gd name="adj" fmla="val 7673"/>
            </a:avLst>
          </a:prstGeom>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ru-RU" sz="1400" b="1"/>
              <a:t>Търсещ социален контакт</a:t>
            </a:r>
            <a:br>
              <a:rPr lang="ru-RU" sz="1400"/>
            </a:br>
            <a:endParaRPr lang="ru-RU" sz="1400" b="1"/>
          </a:p>
          <a:p>
            <a:r>
              <a:rPr lang="ru-RU" sz="1400" b="1">
                <a:ea typeface="+mn-lt"/>
                <a:cs typeface="+mn-lt"/>
              </a:rPr>
              <a:t>Характеристики:</a:t>
            </a:r>
            <a:endParaRPr lang="ru-RU"/>
          </a:p>
          <a:p>
            <a:pPr marL="285750" indent="-285750">
              <a:buFont typeface="Arial"/>
              <a:buChar char="•"/>
            </a:pPr>
            <a:r>
              <a:rPr lang="ru-RU" sz="1400">
                <a:ea typeface="+mn-lt"/>
                <a:cs typeface="+mn-lt"/>
              </a:rPr>
              <a:t>Обичат да говорят </a:t>
            </a:r>
            <a:endParaRPr lang="ru-RU"/>
          </a:p>
          <a:p>
            <a:pPr marL="285750" indent="-285750">
              <a:buFont typeface="Arial"/>
              <a:buChar char="•"/>
            </a:pPr>
            <a:r>
              <a:rPr lang="ru-RU" sz="1400">
                <a:ea typeface="+mn-lt"/>
                <a:cs typeface="+mn-lt"/>
              </a:rPr>
              <a:t>Лесно създават връзка </a:t>
            </a:r>
            <a:endParaRPr lang="ru-RU"/>
          </a:p>
          <a:p>
            <a:pPr marL="285750" indent="-285750">
              <a:buFont typeface="Arial"/>
              <a:buChar char="•"/>
            </a:pPr>
            <a:r>
              <a:rPr lang="ru-RU" sz="1400">
                <a:ea typeface="+mn-lt"/>
                <a:cs typeface="+mn-lt"/>
              </a:rPr>
              <a:t>Общителни </a:t>
            </a:r>
            <a:endParaRPr lang="ru-RU"/>
          </a:p>
          <a:p>
            <a:pPr marL="285750" indent="-285750">
              <a:buFont typeface="Arial"/>
              <a:buChar char="•"/>
            </a:pPr>
            <a:r>
              <a:rPr lang="ru-RU" sz="1400">
                <a:ea typeface="+mn-lt"/>
                <a:cs typeface="+mn-lt"/>
              </a:rPr>
              <a:t>Чувстват се добре сред хора </a:t>
            </a:r>
            <a:endParaRPr lang="ru-RU"/>
          </a:p>
          <a:p>
            <a:pPr marL="285750" indent="-285750">
              <a:buFont typeface="Arial"/>
              <a:buChar char="•"/>
            </a:pPr>
            <a:r>
              <a:rPr lang="ru-RU" sz="1400">
                <a:ea typeface="+mn-lt"/>
                <a:cs typeface="+mn-lt"/>
              </a:rPr>
              <a:t>Могат да се разсейват </a:t>
            </a:r>
            <a:endParaRPr lang="ru-RU"/>
          </a:p>
          <a:p>
            <a:r>
              <a:rPr lang="ru-RU" sz="1400" b="1">
                <a:ea typeface="+mn-lt"/>
                <a:cs typeface="+mn-lt"/>
              </a:rPr>
              <a:t>Предпочитана комуникация:</a:t>
            </a:r>
            <a:endParaRPr lang="ru-RU"/>
          </a:p>
          <a:p>
            <a:pPr marL="285750" indent="-285750">
              <a:buFont typeface="Arial"/>
              <a:buChar char="•"/>
            </a:pPr>
            <a:r>
              <a:rPr lang="ru-RU" sz="1400">
                <a:ea typeface="+mn-lt"/>
                <a:cs typeface="+mn-lt"/>
              </a:rPr>
              <a:t>Приятелско отношение </a:t>
            </a:r>
            <a:endParaRPr lang="ru-RU"/>
          </a:p>
          <a:p>
            <a:pPr marL="285750" indent="-285750">
              <a:buFont typeface="Arial"/>
              <a:buChar char="•"/>
            </a:pPr>
            <a:r>
              <a:rPr lang="ru-RU" sz="1400">
                <a:ea typeface="+mn-lt"/>
                <a:cs typeface="+mn-lt"/>
              </a:rPr>
              <a:t>Дай им пространство да говорят </a:t>
            </a:r>
            <a:endParaRPr lang="ru-RU"/>
          </a:p>
          <a:p>
            <a:pPr marL="285750" indent="-285750">
              <a:buFont typeface="Arial"/>
              <a:buChar char="•"/>
            </a:pPr>
            <a:r>
              <a:rPr lang="ru-RU" sz="1400">
                <a:ea typeface="+mn-lt"/>
                <a:cs typeface="+mn-lt"/>
              </a:rPr>
              <a:t>Насочвай разговора внимателно </a:t>
            </a:r>
            <a:endParaRPr lang="ru-RU"/>
          </a:p>
          <a:p>
            <a:pPr marL="285750" indent="-285750">
              <a:buFont typeface="Arial"/>
              <a:buChar char="•"/>
            </a:pPr>
            <a:r>
              <a:rPr lang="ru-RU" sz="1400">
                <a:ea typeface="+mn-lt"/>
                <a:cs typeface="+mn-lt"/>
              </a:rPr>
              <a:t>Остави добро впечатление </a:t>
            </a:r>
            <a:endParaRPr lang="ru-RU"/>
          </a:p>
          <a:p>
            <a:pPr marL="285750" indent="-285750">
              <a:buFont typeface="Arial"/>
              <a:buChar char="•"/>
            </a:pPr>
            <a:r>
              <a:rPr lang="ru-RU" sz="1400">
                <a:ea typeface="+mn-lt"/>
                <a:cs typeface="+mn-lt"/>
              </a:rPr>
              <a:t>Води към решение без да ги прекъсваш рязко</a:t>
            </a:r>
            <a:endParaRPr lang="ru-RU"/>
          </a:p>
          <a:p>
            <a:endParaRPr lang="ru-RU" sz="1400"/>
          </a:p>
        </p:txBody>
      </p:sp>
      <p:sp>
        <p:nvSpPr>
          <p:cNvPr id="22" name="Rectangle 28">
            <a:extLst>
              <a:ext uri="{FF2B5EF4-FFF2-40B4-BE49-F238E27FC236}">
                <a16:creationId xmlns:a16="http://schemas.microsoft.com/office/drawing/2014/main" id="{0736983A-43CA-4255-927A-F8F64AA6B846}"/>
              </a:ext>
            </a:extLst>
          </p:cNvPr>
          <p:cNvSpPr/>
          <p:nvPr/>
        </p:nvSpPr>
        <p:spPr>
          <a:xfrm>
            <a:off x="-15824" y="1599"/>
            <a:ext cx="1465320" cy="6859628"/>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400">
              <a:latin typeface="Aptos"/>
              <a:ea typeface="Calibri"/>
              <a:cs typeface="Calibri"/>
            </a:endParaRPr>
          </a:p>
        </p:txBody>
      </p:sp>
      <p:sp>
        <p:nvSpPr>
          <p:cNvPr id="24" name="Rectangle 29">
            <a:extLst>
              <a:ext uri="{FF2B5EF4-FFF2-40B4-BE49-F238E27FC236}">
                <a16:creationId xmlns:a16="http://schemas.microsoft.com/office/drawing/2014/main" id="{34606510-574C-4B8D-8C2E-F68BE02F8846}"/>
              </a:ext>
            </a:extLst>
          </p:cNvPr>
          <p:cNvSpPr/>
          <p:nvPr/>
        </p:nvSpPr>
        <p:spPr>
          <a:xfrm>
            <a:off x="-1671" y="2528038"/>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002060"/>
                </a:solidFill>
                <a:latin typeface="Aptos"/>
                <a:ea typeface="Calibri"/>
                <a:cs typeface="Calibri"/>
              </a:rPr>
              <a:t>Типове клиенти</a:t>
            </a:r>
            <a:endParaRPr lang="en-GB" sz="1400">
              <a:solidFill>
                <a:srgbClr val="002060"/>
              </a:solidFill>
              <a:latin typeface="Aptos"/>
              <a:ea typeface="Calibri"/>
              <a:cs typeface="Calibri"/>
            </a:endParaRPr>
          </a:p>
        </p:txBody>
      </p:sp>
      <p:sp>
        <p:nvSpPr>
          <p:cNvPr id="25" name="Rectangle 30">
            <a:extLst>
              <a:ext uri="{FF2B5EF4-FFF2-40B4-BE49-F238E27FC236}">
                <a16:creationId xmlns:a16="http://schemas.microsoft.com/office/drawing/2014/main" id="{80EC2EB1-7D9E-4CBA-9D0F-9F9326F6B309}"/>
              </a:ext>
            </a:extLst>
          </p:cNvPr>
          <p:cNvSpPr/>
          <p:nvPr/>
        </p:nvSpPr>
        <p:spPr>
          <a:xfrm>
            <a:off x="8626" y="1913210"/>
            <a:ext cx="1442908" cy="4485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chemeClr val="bg1"/>
                </a:solidFill>
                <a:latin typeface="Aptos"/>
                <a:ea typeface="Calibri"/>
                <a:cs typeface="Calibri"/>
              </a:rPr>
              <a:t>Сценарии</a:t>
            </a:r>
            <a:endParaRPr lang="en-GB" sz="1400">
              <a:solidFill>
                <a:schemeClr val="bg1"/>
              </a:solidFill>
              <a:latin typeface="Aptos"/>
              <a:ea typeface="Calibri"/>
              <a:cs typeface="Calibri"/>
            </a:endParaRPr>
          </a:p>
        </p:txBody>
      </p:sp>
      <p:sp>
        <p:nvSpPr>
          <p:cNvPr id="26" name="Rectangle 31">
            <a:extLst>
              <a:ext uri="{FF2B5EF4-FFF2-40B4-BE49-F238E27FC236}">
                <a16:creationId xmlns:a16="http://schemas.microsoft.com/office/drawing/2014/main" id="{1F9716D3-9AFB-4A82-BD8F-00D417D6BE10}"/>
              </a:ext>
            </a:extLst>
          </p:cNvPr>
          <p:cNvSpPr/>
          <p:nvPr/>
        </p:nvSpPr>
        <p:spPr>
          <a:xfrm>
            <a:off x="-1671" y="1298382"/>
            <a:ext cx="1442908" cy="4485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chemeClr val="bg1"/>
                </a:solidFill>
                <a:latin typeface="Aptos"/>
                <a:ea typeface="Calibri"/>
                <a:cs typeface="Calibri"/>
              </a:rPr>
              <a:t>Стъпки в обаждането</a:t>
            </a:r>
            <a:endParaRPr lang="en-GB" sz="1400">
              <a:solidFill>
                <a:schemeClr val="bg1"/>
              </a:solidFill>
              <a:latin typeface="Aptos"/>
              <a:ea typeface="Calibri"/>
              <a:cs typeface="Calibri"/>
            </a:endParaRPr>
          </a:p>
        </p:txBody>
      </p:sp>
      <p:sp>
        <p:nvSpPr>
          <p:cNvPr id="27" name="Rectangle 3">
            <a:extLst>
              <a:ext uri="{FF2B5EF4-FFF2-40B4-BE49-F238E27FC236}">
                <a16:creationId xmlns:a16="http://schemas.microsoft.com/office/drawing/2014/main" id="{D1108848-D2B3-4324-B6A7-5F86A8AAA8F8}"/>
              </a:ext>
            </a:extLst>
          </p:cNvPr>
          <p:cNvSpPr/>
          <p:nvPr/>
        </p:nvSpPr>
        <p:spPr>
          <a:xfrm>
            <a:off x="1443475" y="4245"/>
            <a:ext cx="5338363" cy="67724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28" name="Rectangle 4">
            <a:extLst>
              <a:ext uri="{FF2B5EF4-FFF2-40B4-BE49-F238E27FC236}">
                <a16:creationId xmlns:a16="http://schemas.microsoft.com/office/drawing/2014/main" id="{84F3C4A6-26AC-4192-A4C6-BBD3044387D1}"/>
              </a:ext>
            </a:extLst>
          </p:cNvPr>
          <p:cNvSpPr/>
          <p:nvPr/>
        </p:nvSpPr>
        <p:spPr>
          <a:xfrm>
            <a:off x="6788435" y="4245"/>
            <a:ext cx="5417300" cy="677242"/>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29" name="Rectangle 28">
            <a:extLst>
              <a:ext uri="{FF2B5EF4-FFF2-40B4-BE49-F238E27FC236}">
                <a16:creationId xmlns:a16="http://schemas.microsoft.com/office/drawing/2014/main" id="{07DF228F-5496-4402-849A-E9B199776730}"/>
              </a:ext>
            </a:extLst>
          </p:cNvPr>
          <p:cNvSpPr/>
          <p:nvPr/>
        </p:nvSpPr>
        <p:spPr>
          <a:xfrm>
            <a:off x="-15827" y="690328"/>
            <a:ext cx="1465322"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FFFFFF"/>
                </a:solidFill>
                <a:latin typeface="Aptos"/>
                <a:ea typeface="Calibri"/>
                <a:cs typeface="Calibri"/>
              </a:rPr>
              <a:t>Подготовка</a:t>
            </a:r>
            <a:endParaRPr lang="en-GB" sz="1400">
              <a:solidFill>
                <a:srgbClr val="FFFFFF"/>
              </a:solidFill>
              <a:latin typeface="Aptos"/>
              <a:ea typeface="Calibri"/>
              <a:cs typeface="Calibri"/>
            </a:endParaRPr>
          </a:p>
        </p:txBody>
      </p:sp>
      <p:sp>
        <p:nvSpPr>
          <p:cNvPr id="30" name="Rectangle: Rounded Corners 29">
            <a:extLst>
              <a:ext uri="{FF2B5EF4-FFF2-40B4-BE49-F238E27FC236}">
                <a16:creationId xmlns:a16="http://schemas.microsoft.com/office/drawing/2014/main" id="{3ABA9161-1A02-4BE2-8929-CFD7E72B3E4B}"/>
              </a:ext>
            </a:extLst>
          </p:cNvPr>
          <p:cNvSpPr/>
          <p:nvPr/>
        </p:nvSpPr>
        <p:spPr>
          <a:xfrm>
            <a:off x="1893066" y="1041323"/>
            <a:ext cx="2706332" cy="715919"/>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Агресивен</a:t>
            </a:r>
            <a:endParaRPr lang="en-GB" sz="1600"/>
          </a:p>
        </p:txBody>
      </p:sp>
      <p:sp>
        <p:nvSpPr>
          <p:cNvPr id="31" name="Rectangle: Rounded Corners 30">
            <a:extLst>
              <a:ext uri="{FF2B5EF4-FFF2-40B4-BE49-F238E27FC236}">
                <a16:creationId xmlns:a16="http://schemas.microsoft.com/office/drawing/2014/main" id="{7BA3F27F-7019-4F26-992F-FE74A688EB49}"/>
              </a:ext>
            </a:extLst>
          </p:cNvPr>
          <p:cNvSpPr/>
          <p:nvPr/>
        </p:nvSpPr>
        <p:spPr>
          <a:xfrm>
            <a:off x="1893066" y="1871904"/>
            <a:ext cx="2706332" cy="705772"/>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Аналитичен</a:t>
            </a:r>
            <a:endParaRPr lang="en-GB" sz="1600"/>
          </a:p>
        </p:txBody>
      </p:sp>
      <p:sp>
        <p:nvSpPr>
          <p:cNvPr id="32" name="Rectangle: Rounded Corners 31">
            <a:extLst>
              <a:ext uri="{FF2B5EF4-FFF2-40B4-BE49-F238E27FC236}">
                <a16:creationId xmlns:a16="http://schemas.microsoft.com/office/drawing/2014/main" id="{0FA9A639-DBB8-4A4B-8D9D-2AF7040336A2}"/>
              </a:ext>
            </a:extLst>
          </p:cNvPr>
          <p:cNvSpPr/>
          <p:nvPr/>
        </p:nvSpPr>
        <p:spPr>
          <a:xfrm>
            <a:off x="1893066" y="2692338"/>
            <a:ext cx="2706332" cy="699716"/>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Трудно схватлив</a:t>
            </a:r>
            <a:endParaRPr lang="en-GB" sz="1600"/>
          </a:p>
        </p:txBody>
      </p:sp>
      <p:sp>
        <p:nvSpPr>
          <p:cNvPr id="33" name="Rectangle 9">
            <a:extLst>
              <a:ext uri="{FF2B5EF4-FFF2-40B4-BE49-F238E27FC236}">
                <a16:creationId xmlns:a16="http://schemas.microsoft.com/office/drawing/2014/main" id="{1D207626-E951-47D8-8052-A69B8EB3246C}"/>
              </a:ext>
            </a:extLst>
          </p:cNvPr>
          <p:cNvSpPr/>
          <p:nvPr/>
        </p:nvSpPr>
        <p:spPr>
          <a:xfrm>
            <a:off x="1893066" y="3506716"/>
            <a:ext cx="2706332" cy="692699"/>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Злонамерен</a:t>
            </a:r>
            <a:endParaRPr lang="en-GB" sz="1600"/>
          </a:p>
        </p:txBody>
      </p:sp>
      <p:sp>
        <p:nvSpPr>
          <p:cNvPr id="34" name="Rectangle 11">
            <a:extLst>
              <a:ext uri="{FF2B5EF4-FFF2-40B4-BE49-F238E27FC236}">
                <a16:creationId xmlns:a16="http://schemas.microsoft.com/office/drawing/2014/main" id="{03D66CBF-D297-4FFD-A941-4DD6D5F6ADD5}"/>
              </a:ext>
            </a:extLst>
          </p:cNvPr>
          <p:cNvSpPr/>
          <p:nvPr/>
        </p:nvSpPr>
        <p:spPr>
          <a:xfrm>
            <a:off x="1893066" y="4314076"/>
            <a:ext cx="2706332" cy="677242"/>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ВИП</a:t>
            </a:r>
            <a:endParaRPr lang="en-GB" sz="1600"/>
          </a:p>
        </p:txBody>
      </p:sp>
      <p:sp>
        <p:nvSpPr>
          <p:cNvPr id="35" name="Rectangle 9">
            <a:extLst>
              <a:ext uri="{FF2B5EF4-FFF2-40B4-BE49-F238E27FC236}">
                <a16:creationId xmlns:a16="http://schemas.microsoft.com/office/drawing/2014/main" id="{C2021D89-CE2E-4890-9A08-DF873DF90921}"/>
              </a:ext>
            </a:extLst>
          </p:cNvPr>
          <p:cNvSpPr/>
          <p:nvPr/>
        </p:nvSpPr>
        <p:spPr>
          <a:xfrm>
            <a:off x="5053978" y="1872908"/>
            <a:ext cx="2706332" cy="705772"/>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Подозрителен</a:t>
            </a:r>
            <a:endParaRPr lang="en-GB" sz="1600"/>
          </a:p>
        </p:txBody>
      </p:sp>
      <p:sp>
        <p:nvSpPr>
          <p:cNvPr id="36" name="Rectangle 11">
            <a:extLst>
              <a:ext uri="{FF2B5EF4-FFF2-40B4-BE49-F238E27FC236}">
                <a16:creationId xmlns:a16="http://schemas.microsoft.com/office/drawing/2014/main" id="{85030444-76DC-42BB-898D-C93248CEB30A}"/>
              </a:ext>
            </a:extLst>
          </p:cNvPr>
          <p:cNvSpPr/>
          <p:nvPr/>
        </p:nvSpPr>
        <p:spPr>
          <a:xfrm>
            <a:off x="5053978" y="1041324"/>
            <a:ext cx="2706332" cy="715918"/>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dirty="0"/>
              <a:t>Манипулативен</a:t>
            </a:r>
            <a:endParaRPr lang="en-GB" sz="1600" dirty="0"/>
          </a:p>
        </p:txBody>
      </p:sp>
      <p:sp>
        <p:nvSpPr>
          <p:cNvPr id="37" name="Rectangle 13">
            <a:extLst>
              <a:ext uri="{FF2B5EF4-FFF2-40B4-BE49-F238E27FC236}">
                <a16:creationId xmlns:a16="http://schemas.microsoft.com/office/drawing/2014/main" id="{5CE29D25-0525-49E9-8265-A59300DB3CF8}"/>
              </a:ext>
            </a:extLst>
          </p:cNvPr>
          <p:cNvSpPr/>
          <p:nvPr/>
        </p:nvSpPr>
        <p:spPr>
          <a:xfrm>
            <a:off x="5053978" y="2694346"/>
            <a:ext cx="2706332" cy="695699"/>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Нерешителен</a:t>
            </a:r>
            <a:endParaRPr lang="en-GB" sz="1600"/>
          </a:p>
        </p:txBody>
      </p:sp>
      <p:sp>
        <p:nvSpPr>
          <p:cNvPr id="38" name="Rectangle 9">
            <a:extLst>
              <a:ext uri="{FF2B5EF4-FFF2-40B4-BE49-F238E27FC236}">
                <a16:creationId xmlns:a16="http://schemas.microsoft.com/office/drawing/2014/main" id="{EFCC7A20-752E-4A37-AFA4-C8ADB52FE743}"/>
              </a:ext>
            </a:extLst>
          </p:cNvPr>
          <p:cNvSpPr/>
          <p:nvPr/>
        </p:nvSpPr>
        <p:spPr>
          <a:xfrm>
            <a:off x="5053978" y="4314076"/>
            <a:ext cx="2706332" cy="677242"/>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Търсещ социален контакт</a:t>
            </a:r>
            <a:endParaRPr lang="en-GB" sz="1600"/>
          </a:p>
        </p:txBody>
      </p:sp>
      <p:sp>
        <p:nvSpPr>
          <p:cNvPr id="39" name="Rectangle 11">
            <a:extLst>
              <a:ext uri="{FF2B5EF4-FFF2-40B4-BE49-F238E27FC236}">
                <a16:creationId xmlns:a16="http://schemas.microsoft.com/office/drawing/2014/main" id="{9D6B0CF1-775A-4B18-A3A0-19FEBB0FF46A}"/>
              </a:ext>
            </a:extLst>
          </p:cNvPr>
          <p:cNvSpPr/>
          <p:nvPr/>
        </p:nvSpPr>
        <p:spPr>
          <a:xfrm>
            <a:off x="5053978" y="3505711"/>
            <a:ext cx="2706332" cy="692699"/>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Импулсивен </a:t>
            </a:r>
            <a:endParaRPr lang="en-GB" sz="1600"/>
          </a:p>
        </p:txBody>
      </p:sp>
      <p:pic>
        <p:nvPicPr>
          <p:cNvPr id="40" name="Picture 39">
            <a:extLst>
              <a:ext uri="{FF2B5EF4-FFF2-40B4-BE49-F238E27FC236}">
                <a16:creationId xmlns:a16="http://schemas.microsoft.com/office/drawing/2014/main" id="{78A8FC6F-4E0B-49B0-BE78-FA95AB427C42}"/>
              </a:ext>
            </a:extLst>
          </p:cNvPr>
          <p:cNvPicPr>
            <a:picLocks noChangeAspect="1"/>
          </p:cNvPicPr>
          <p:nvPr/>
        </p:nvPicPr>
        <p:blipFill>
          <a:blip r:embed="rId2"/>
          <a:stretch>
            <a:fillRect/>
          </a:stretch>
        </p:blipFill>
        <p:spPr>
          <a:xfrm>
            <a:off x="10883590" y="5621341"/>
            <a:ext cx="982751" cy="995681"/>
          </a:xfrm>
          <a:prstGeom prst="rect">
            <a:avLst/>
          </a:prstGeom>
        </p:spPr>
      </p:pic>
    </p:spTree>
    <p:extLst>
      <p:ext uri="{BB962C8B-B14F-4D97-AF65-F5344CB8AC3E}">
        <p14:creationId xmlns:p14="http://schemas.microsoft.com/office/powerpoint/2010/main" val="298670512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294481-23E0-E6F2-D9FD-C411291F19E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E9B45B3-C54C-98A9-2118-C098A247E4F1}"/>
              </a:ext>
            </a:extLst>
          </p:cNvPr>
          <p:cNvSpPr/>
          <p:nvPr/>
        </p:nvSpPr>
        <p:spPr>
          <a:xfrm>
            <a:off x="1988598" y="1775534"/>
            <a:ext cx="3533313" cy="3107184"/>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t>Обаждане на клиента</a:t>
            </a:r>
            <a:endParaRPr lang="en-GB"/>
          </a:p>
        </p:txBody>
      </p:sp>
      <p:sp>
        <p:nvSpPr>
          <p:cNvPr id="5" name="Rectangle 4">
            <a:extLst>
              <a:ext uri="{FF2B5EF4-FFF2-40B4-BE49-F238E27FC236}">
                <a16:creationId xmlns:a16="http://schemas.microsoft.com/office/drawing/2014/main" id="{33A1E2E5-335B-7DFA-0D85-237120CF2FDF}"/>
              </a:ext>
            </a:extLst>
          </p:cNvPr>
          <p:cNvSpPr/>
          <p:nvPr/>
        </p:nvSpPr>
        <p:spPr>
          <a:xfrm>
            <a:off x="6096000" y="1775534"/>
            <a:ext cx="3533313" cy="3107184"/>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t>Среща с клиента</a:t>
            </a:r>
            <a:endParaRPr lang="en-GB"/>
          </a:p>
        </p:txBody>
      </p:sp>
      <p:pic>
        <p:nvPicPr>
          <p:cNvPr id="6" name="Picture 5">
            <a:extLst>
              <a:ext uri="{FF2B5EF4-FFF2-40B4-BE49-F238E27FC236}">
                <a16:creationId xmlns:a16="http://schemas.microsoft.com/office/drawing/2014/main" id="{CAE7C9D1-9151-401D-A2F2-A31E351B5CFA}"/>
              </a:ext>
            </a:extLst>
          </p:cNvPr>
          <p:cNvPicPr>
            <a:picLocks noChangeAspect="1"/>
          </p:cNvPicPr>
          <p:nvPr/>
        </p:nvPicPr>
        <p:blipFill>
          <a:blip r:embed="rId2"/>
          <a:stretch>
            <a:fillRect/>
          </a:stretch>
        </p:blipFill>
        <p:spPr>
          <a:xfrm>
            <a:off x="10883590" y="5621341"/>
            <a:ext cx="982751" cy="995681"/>
          </a:xfrm>
          <a:prstGeom prst="rect">
            <a:avLst/>
          </a:prstGeom>
        </p:spPr>
      </p:pic>
    </p:spTree>
    <p:extLst>
      <p:ext uri="{BB962C8B-B14F-4D97-AF65-F5344CB8AC3E}">
        <p14:creationId xmlns:p14="http://schemas.microsoft.com/office/powerpoint/2010/main" val="907102623"/>
      </p:ext>
    </p:extLst>
  </p:cSld>
  <p:clrMapOvr>
    <a:masterClrMapping/>
  </p:clrMapOvr>
  <mc:AlternateContent xmlns:mc="http://schemas.openxmlformats.org/markup-compatibility/2006" xmlns:p14="http://schemas.microsoft.com/office/powerpoint/2010/main">
    <mc:Choice Requires="p14">
      <p:transition spd="slow" p14:dur="2000" advTm="30384"/>
    </mc:Choice>
    <mc:Fallback xmlns="">
      <p:transition spd="slow" advTm="30384"/>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3AA91F-E07B-CF35-8A3F-5CE5F67B0759}"/>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F9414927-70FF-43C5-95AD-C8DCAB9A4E3B}"/>
              </a:ext>
            </a:extLst>
          </p:cNvPr>
          <p:cNvSpPr/>
          <p:nvPr/>
        </p:nvSpPr>
        <p:spPr>
          <a:xfrm>
            <a:off x="1252655" y="1798536"/>
            <a:ext cx="2108335" cy="255044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600"/>
              <a:t>Подготовка</a:t>
            </a:r>
            <a:endParaRPr lang="en-GB" sz="1600"/>
          </a:p>
        </p:txBody>
      </p:sp>
      <p:sp>
        <p:nvSpPr>
          <p:cNvPr id="6" name="Rectangle: Rounded Corners 5">
            <a:extLst>
              <a:ext uri="{FF2B5EF4-FFF2-40B4-BE49-F238E27FC236}">
                <a16:creationId xmlns:a16="http://schemas.microsoft.com/office/drawing/2014/main" id="{12B6E510-E584-ED71-FBFB-BD264475E990}"/>
              </a:ext>
            </a:extLst>
          </p:cNvPr>
          <p:cNvSpPr/>
          <p:nvPr/>
        </p:nvSpPr>
        <p:spPr>
          <a:xfrm>
            <a:off x="8831010" y="1798536"/>
            <a:ext cx="2108335" cy="255044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600"/>
              <a:t>Типове клиенти</a:t>
            </a:r>
            <a:endParaRPr lang="en-GB" sz="1600"/>
          </a:p>
        </p:txBody>
      </p:sp>
      <p:sp>
        <p:nvSpPr>
          <p:cNvPr id="7" name="Rectangle: Rounded Corners 6">
            <a:extLst>
              <a:ext uri="{FF2B5EF4-FFF2-40B4-BE49-F238E27FC236}">
                <a16:creationId xmlns:a16="http://schemas.microsoft.com/office/drawing/2014/main" id="{B16E0175-04D3-3022-0665-09D259B1CA94}"/>
              </a:ext>
            </a:extLst>
          </p:cNvPr>
          <p:cNvSpPr/>
          <p:nvPr/>
        </p:nvSpPr>
        <p:spPr>
          <a:xfrm>
            <a:off x="6304891" y="1798536"/>
            <a:ext cx="2108335" cy="255044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600"/>
              <a:t>Сценарии</a:t>
            </a:r>
            <a:endParaRPr lang="en-GB" sz="1600"/>
          </a:p>
        </p:txBody>
      </p:sp>
      <p:sp>
        <p:nvSpPr>
          <p:cNvPr id="8" name="Rectangle: Rounded Corners 7">
            <a:extLst>
              <a:ext uri="{FF2B5EF4-FFF2-40B4-BE49-F238E27FC236}">
                <a16:creationId xmlns:a16="http://schemas.microsoft.com/office/drawing/2014/main" id="{60693876-5B2A-DC25-31A7-C04D24FC0C80}"/>
              </a:ext>
            </a:extLst>
          </p:cNvPr>
          <p:cNvSpPr/>
          <p:nvPr/>
        </p:nvSpPr>
        <p:spPr>
          <a:xfrm>
            <a:off x="3778773" y="1798536"/>
            <a:ext cx="2108335" cy="255044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600"/>
              <a:t>Стъпки при провеждане на среща</a:t>
            </a:r>
            <a:endParaRPr lang="en-GB" sz="1600"/>
          </a:p>
        </p:txBody>
      </p:sp>
      <p:sp>
        <p:nvSpPr>
          <p:cNvPr id="10" name="Rectangle 3">
            <a:extLst>
              <a:ext uri="{FF2B5EF4-FFF2-40B4-BE49-F238E27FC236}">
                <a16:creationId xmlns:a16="http://schemas.microsoft.com/office/drawing/2014/main" id="{9CB5C149-F8AC-EE2E-2A34-4C9056FED860}"/>
              </a:ext>
            </a:extLst>
          </p:cNvPr>
          <p:cNvSpPr/>
          <p:nvPr/>
        </p:nvSpPr>
        <p:spPr>
          <a:xfrm>
            <a:off x="7398" y="4245"/>
            <a:ext cx="6063728" cy="677242"/>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t>Обаждане на клиента</a:t>
            </a:r>
            <a:endParaRPr lang="en-GB"/>
          </a:p>
        </p:txBody>
      </p:sp>
      <p:sp>
        <p:nvSpPr>
          <p:cNvPr id="12" name="Rectangle 4">
            <a:extLst>
              <a:ext uri="{FF2B5EF4-FFF2-40B4-BE49-F238E27FC236}">
                <a16:creationId xmlns:a16="http://schemas.microsoft.com/office/drawing/2014/main" id="{314D6C30-69A7-4D02-602E-9B40C5E325C2}"/>
              </a:ext>
            </a:extLst>
          </p:cNvPr>
          <p:cNvSpPr/>
          <p:nvPr/>
        </p:nvSpPr>
        <p:spPr>
          <a:xfrm>
            <a:off x="6055743" y="4245"/>
            <a:ext cx="6149992" cy="677242"/>
          </a:xfrm>
          <a:prstGeom prst="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t>Среща с клиента</a:t>
            </a:r>
            <a:endParaRPr lang="en-GB"/>
          </a:p>
        </p:txBody>
      </p:sp>
      <p:pic>
        <p:nvPicPr>
          <p:cNvPr id="9" name="Picture 8">
            <a:extLst>
              <a:ext uri="{FF2B5EF4-FFF2-40B4-BE49-F238E27FC236}">
                <a16:creationId xmlns:a16="http://schemas.microsoft.com/office/drawing/2014/main" id="{C90F6BD8-BDC9-4AEF-A503-899268248EBD}"/>
              </a:ext>
            </a:extLst>
          </p:cNvPr>
          <p:cNvPicPr>
            <a:picLocks noChangeAspect="1"/>
          </p:cNvPicPr>
          <p:nvPr/>
        </p:nvPicPr>
        <p:blipFill>
          <a:blip r:embed="rId2"/>
          <a:stretch>
            <a:fillRect/>
          </a:stretch>
        </p:blipFill>
        <p:spPr>
          <a:xfrm>
            <a:off x="10883590" y="5621341"/>
            <a:ext cx="982751" cy="995681"/>
          </a:xfrm>
          <a:prstGeom prst="rect">
            <a:avLst/>
          </a:prstGeom>
        </p:spPr>
      </p:pic>
    </p:spTree>
    <p:extLst>
      <p:ext uri="{BB962C8B-B14F-4D97-AF65-F5344CB8AC3E}">
        <p14:creationId xmlns:p14="http://schemas.microsoft.com/office/powerpoint/2010/main" val="823000351"/>
      </p:ext>
    </p:extLst>
  </p:cSld>
  <p:clrMapOvr>
    <a:masterClrMapping/>
  </p:clrMapOvr>
  <mc:AlternateContent xmlns:mc="http://schemas.openxmlformats.org/markup-compatibility/2006" xmlns:p14="http://schemas.microsoft.com/office/powerpoint/2010/main">
    <mc:Choice Requires="p14">
      <p:transition spd="slow" p14:dur="2000" advTm="9009"/>
    </mc:Choice>
    <mc:Fallback xmlns="">
      <p:transition spd="slow" advTm="9009"/>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655708-0867-E6D7-F065-ACE254FADF07}"/>
            </a:ext>
          </a:extLst>
        </p:cNvPr>
        <p:cNvGrpSpPr/>
        <p:nvPr/>
      </p:nvGrpSpPr>
      <p:grpSpPr>
        <a:xfrm>
          <a:off x="0" y="0"/>
          <a:ext cx="0" cy="0"/>
          <a:chOff x="0" y="0"/>
          <a:chExt cx="0" cy="0"/>
        </a:xfrm>
      </p:grpSpPr>
      <p:sp>
        <p:nvSpPr>
          <p:cNvPr id="29" name="Rectangle 28">
            <a:extLst>
              <a:ext uri="{FF2B5EF4-FFF2-40B4-BE49-F238E27FC236}">
                <a16:creationId xmlns:a16="http://schemas.microsoft.com/office/drawing/2014/main" id="{9602CE81-7B71-B8F8-E0DC-CF735797B6E0}"/>
              </a:ext>
            </a:extLst>
          </p:cNvPr>
          <p:cNvSpPr/>
          <p:nvPr/>
        </p:nvSpPr>
        <p:spPr>
          <a:xfrm>
            <a:off x="-1671" y="1599"/>
            <a:ext cx="1451167" cy="6866954"/>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200">
              <a:latin typeface="Aptos"/>
              <a:ea typeface="Calibri"/>
              <a:cs typeface="Calibri"/>
            </a:endParaRPr>
          </a:p>
        </p:txBody>
      </p:sp>
      <p:sp>
        <p:nvSpPr>
          <p:cNvPr id="30" name="Rectangle 29">
            <a:extLst>
              <a:ext uri="{FF2B5EF4-FFF2-40B4-BE49-F238E27FC236}">
                <a16:creationId xmlns:a16="http://schemas.microsoft.com/office/drawing/2014/main" id="{6B139CA7-0916-233D-C676-793BCE36BD83}"/>
              </a:ext>
            </a:extLst>
          </p:cNvPr>
          <p:cNvSpPr/>
          <p:nvPr/>
        </p:nvSpPr>
        <p:spPr>
          <a:xfrm>
            <a:off x="-1671" y="2528038"/>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Типове клиенти</a:t>
            </a:r>
            <a:endParaRPr lang="en-GB" sz="1400">
              <a:latin typeface="Aptos"/>
              <a:ea typeface="Calibri"/>
              <a:cs typeface="Calibri"/>
            </a:endParaRPr>
          </a:p>
        </p:txBody>
      </p:sp>
      <p:sp>
        <p:nvSpPr>
          <p:cNvPr id="31" name="Rectangle 30">
            <a:extLst>
              <a:ext uri="{FF2B5EF4-FFF2-40B4-BE49-F238E27FC236}">
                <a16:creationId xmlns:a16="http://schemas.microsoft.com/office/drawing/2014/main" id="{A27EB7D5-C378-4B6C-B18B-36EC28024F61}"/>
              </a:ext>
            </a:extLst>
          </p:cNvPr>
          <p:cNvSpPr/>
          <p:nvPr/>
        </p:nvSpPr>
        <p:spPr>
          <a:xfrm>
            <a:off x="8626" y="1913210"/>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Сценарии</a:t>
            </a:r>
            <a:endParaRPr lang="en-GB" sz="1400">
              <a:latin typeface="Aptos"/>
              <a:ea typeface="Calibri"/>
              <a:cs typeface="Calibri"/>
            </a:endParaRPr>
          </a:p>
        </p:txBody>
      </p:sp>
      <p:sp>
        <p:nvSpPr>
          <p:cNvPr id="32" name="Rectangle 31">
            <a:extLst>
              <a:ext uri="{FF2B5EF4-FFF2-40B4-BE49-F238E27FC236}">
                <a16:creationId xmlns:a16="http://schemas.microsoft.com/office/drawing/2014/main" id="{160C3EC6-363B-A42D-1143-A4A8A9B1F35C}"/>
              </a:ext>
            </a:extLst>
          </p:cNvPr>
          <p:cNvSpPr/>
          <p:nvPr/>
        </p:nvSpPr>
        <p:spPr>
          <a:xfrm>
            <a:off x="-1671" y="1298382"/>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a:latin typeface="Aptos"/>
                <a:ea typeface="Calibri"/>
                <a:cs typeface="Calibri"/>
              </a:rPr>
              <a:t>Стъпки при среща</a:t>
            </a:r>
          </a:p>
        </p:txBody>
      </p:sp>
      <p:sp>
        <p:nvSpPr>
          <p:cNvPr id="5" name="Rectangle 3">
            <a:extLst>
              <a:ext uri="{FF2B5EF4-FFF2-40B4-BE49-F238E27FC236}">
                <a16:creationId xmlns:a16="http://schemas.microsoft.com/office/drawing/2014/main" id="{5CC442BD-506F-3B00-2DCD-15D2B4A1AE39}"/>
              </a:ext>
            </a:extLst>
          </p:cNvPr>
          <p:cNvSpPr/>
          <p:nvPr/>
        </p:nvSpPr>
        <p:spPr>
          <a:xfrm>
            <a:off x="1443475" y="4245"/>
            <a:ext cx="5338363" cy="677242"/>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7" name="Rectangle 4">
            <a:extLst>
              <a:ext uri="{FF2B5EF4-FFF2-40B4-BE49-F238E27FC236}">
                <a16:creationId xmlns:a16="http://schemas.microsoft.com/office/drawing/2014/main" id="{BFD1EDE3-EF9C-1131-A5D4-F81E683621BE}"/>
              </a:ext>
            </a:extLst>
          </p:cNvPr>
          <p:cNvSpPr/>
          <p:nvPr/>
        </p:nvSpPr>
        <p:spPr>
          <a:xfrm>
            <a:off x="6788435" y="4245"/>
            <a:ext cx="5417300" cy="677242"/>
          </a:xfrm>
          <a:prstGeom prst="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9" name="Rectangle 28">
            <a:extLst>
              <a:ext uri="{FF2B5EF4-FFF2-40B4-BE49-F238E27FC236}">
                <a16:creationId xmlns:a16="http://schemas.microsoft.com/office/drawing/2014/main" id="{FB60FE6E-9E08-015C-F33F-2647BA711F6D}"/>
              </a:ext>
            </a:extLst>
          </p:cNvPr>
          <p:cNvSpPr/>
          <p:nvPr/>
        </p:nvSpPr>
        <p:spPr>
          <a:xfrm>
            <a:off x="6154" y="690328"/>
            <a:ext cx="1450668" cy="45589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b="1">
                <a:solidFill>
                  <a:srgbClr val="2F5597"/>
                </a:solidFill>
                <a:latin typeface="Aptos"/>
                <a:ea typeface="Calibri"/>
                <a:cs typeface="Calibri"/>
              </a:rPr>
              <a:t>Подготовка</a:t>
            </a:r>
            <a:endParaRPr lang="en-GB" sz="1400" b="1">
              <a:solidFill>
                <a:srgbClr val="2F5597"/>
              </a:solidFill>
              <a:latin typeface="Aptos"/>
              <a:ea typeface="Calibri"/>
              <a:cs typeface="Calibri"/>
            </a:endParaRPr>
          </a:p>
        </p:txBody>
      </p:sp>
      <p:sp>
        <p:nvSpPr>
          <p:cNvPr id="12" name="Rectangle 3">
            <a:extLst>
              <a:ext uri="{FF2B5EF4-FFF2-40B4-BE49-F238E27FC236}">
                <a16:creationId xmlns:a16="http://schemas.microsoft.com/office/drawing/2014/main" id="{F0CC66DF-55E5-1171-1569-96C1ACB56F41}"/>
              </a:ext>
            </a:extLst>
          </p:cNvPr>
          <p:cNvSpPr/>
          <p:nvPr/>
        </p:nvSpPr>
        <p:spPr>
          <a:xfrm>
            <a:off x="2823867" y="1878111"/>
            <a:ext cx="3533313" cy="3107184"/>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a:latin typeface="Aptos"/>
                <a:ea typeface="Calibri"/>
                <a:cs typeface="Calibri"/>
              </a:rPr>
              <a:t>Видове контакти</a:t>
            </a:r>
          </a:p>
        </p:txBody>
      </p:sp>
      <p:sp>
        <p:nvSpPr>
          <p:cNvPr id="16" name="Rectangle 4">
            <a:extLst>
              <a:ext uri="{FF2B5EF4-FFF2-40B4-BE49-F238E27FC236}">
                <a16:creationId xmlns:a16="http://schemas.microsoft.com/office/drawing/2014/main" id="{25A01DE7-1992-BE16-3CC5-A0D9DE9B79DD}"/>
              </a:ext>
            </a:extLst>
          </p:cNvPr>
          <p:cNvSpPr/>
          <p:nvPr/>
        </p:nvSpPr>
        <p:spPr>
          <a:xfrm>
            <a:off x="6931269" y="1878111"/>
            <a:ext cx="3533313" cy="3107184"/>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dirty="0">
                <a:solidFill>
                  <a:schemeClr val="bg1"/>
                </a:solidFill>
                <a:latin typeface="Aptos"/>
                <a:ea typeface="Calibri"/>
                <a:cs typeface="Calibri"/>
              </a:rPr>
              <a:t>Съвети при подготовка за среща</a:t>
            </a:r>
          </a:p>
        </p:txBody>
      </p:sp>
      <p:pic>
        <p:nvPicPr>
          <p:cNvPr id="13" name="Picture 12">
            <a:extLst>
              <a:ext uri="{FF2B5EF4-FFF2-40B4-BE49-F238E27FC236}">
                <a16:creationId xmlns:a16="http://schemas.microsoft.com/office/drawing/2014/main" id="{0FC1B35D-6E3D-4C00-B9BF-23BD80258A6E}"/>
              </a:ext>
            </a:extLst>
          </p:cNvPr>
          <p:cNvPicPr>
            <a:picLocks noChangeAspect="1"/>
          </p:cNvPicPr>
          <p:nvPr/>
        </p:nvPicPr>
        <p:blipFill>
          <a:blip r:embed="rId2"/>
          <a:stretch>
            <a:fillRect/>
          </a:stretch>
        </p:blipFill>
        <p:spPr>
          <a:xfrm>
            <a:off x="10883590" y="5621341"/>
            <a:ext cx="982751" cy="995681"/>
          </a:xfrm>
          <a:prstGeom prst="rect">
            <a:avLst/>
          </a:prstGeom>
        </p:spPr>
      </p:pic>
    </p:spTree>
    <p:extLst>
      <p:ext uri="{BB962C8B-B14F-4D97-AF65-F5344CB8AC3E}">
        <p14:creationId xmlns:p14="http://schemas.microsoft.com/office/powerpoint/2010/main" val="3820668282"/>
      </p:ext>
    </p:extLst>
  </p:cSld>
  <p:clrMapOvr>
    <a:masterClrMapping/>
  </p:clrMapOvr>
  <mc:AlternateContent xmlns:mc="http://schemas.openxmlformats.org/markup-compatibility/2006" xmlns:p14="http://schemas.microsoft.com/office/powerpoint/2010/main">
    <mc:Choice Requires="p14">
      <p:transition spd="slow" p14:dur="2000" advTm="6522"/>
    </mc:Choice>
    <mc:Fallback xmlns="">
      <p:transition spd="slow" advTm="6522"/>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B08122-7DB2-FFE6-42AF-39595E1FB266}"/>
            </a:ext>
          </a:extLst>
        </p:cNvPr>
        <p:cNvGrpSpPr/>
        <p:nvPr/>
      </p:nvGrpSpPr>
      <p:grpSpPr>
        <a:xfrm>
          <a:off x="0" y="0"/>
          <a:ext cx="0" cy="0"/>
          <a:chOff x="0" y="0"/>
          <a:chExt cx="0" cy="0"/>
        </a:xfrm>
      </p:grpSpPr>
      <p:sp>
        <p:nvSpPr>
          <p:cNvPr id="20" name="Rectangle 3">
            <a:extLst>
              <a:ext uri="{FF2B5EF4-FFF2-40B4-BE49-F238E27FC236}">
                <a16:creationId xmlns:a16="http://schemas.microsoft.com/office/drawing/2014/main" id="{593D8247-31DD-4CC3-9C76-4465819A0CB6}"/>
              </a:ext>
            </a:extLst>
          </p:cNvPr>
          <p:cNvSpPr/>
          <p:nvPr/>
        </p:nvSpPr>
        <p:spPr>
          <a:xfrm>
            <a:off x="1443475" y="4245"/>
            <a:ext cx="5338363" cy="677242"/>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21" name="Rectangle 4">
            <a:extLst>
              <a:ext uri="{FF2B5EF4-FFF2-40B4-BE49-F238E27FC236}">
                <a16:creationId xmlns:a16="http://schemas.microsoft.com/office/drawing/2014/main" id="{BF06991B-E083-4233-8128-B6F0C5114B48}"/>
              </a:ext>
            </a:extLst>
          </p:cNvPr>
          <p:cNvSpPr/>
          <p:nvPr/>
        </p:nvSpPr>
        <p:spPr>
          <a:xfrm>
            <a:off x="6788435" y="4245"/>
            <a:ext cx="5417300" cy="677242"/>
          </a:xfrm>
          <a:prstGeom prst="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11" name="TextBox 10">
            <a:extLst>
              <a:ext uri="{FF2B5EF4-FFF2-40B4-BE49-F238E27FC236}">
                <a16:creationId xmlns:a16="http://schemas.microsoft.com/office/drawing/2014/main" id="{F1B2CD0C-C011-F9FC-A542-1E582F0D194D}"/>
              </a:ext>
            </a:extLst>
          </p:cNvPr>
          <p:cNvSpPr txBox="1"/>
          <p:nvPr/>
        </p:nvSpPr>
        <p:spPr>
          <a:xfrm>
            <a:off x="2008845" y="1936458"/>
            <a:ext cx="1878402" cy="276999"/>
          </a:xfrm>
          <a:prstGeom prst="rect">
            <a:avLst/>
          </a:prstGeom>
          <a:noFill/>
        </p:spPr>
        <p:txBody>
          <a:bodyPr wrap="square" lIns="91440" tIns="45720" rIns="91440" bIns="45720" anchor="t">
            <a:spAutoFit/>
          </a:bodyPr>
          <a:lstStyle/>
          <a:p>
            <a:r>
              <a:rPr lang="bg-BG" sz="1200" b="1">
                <a:solidFill>
                  <a:schemeClr val="accent1">
                    <a:lumMod val="50000"/>
                  </a:schemeClr>
                </a:solidFill>
                <a:effectLst/>
                <a:latin typeface="Arial"/>
                <a:ea typeface="Arial" panose="020B0604020202020204" pitchFamily="34" charset="0"/>
                <a:cs typeface="Times New Roman"/>
              </a:rPr>
              <a:t>Активен подход</a:t>
            </a:r>
            <a:endParaRPr lang="en-GB" sz="1200" b="1">
              <a:solidFill>
                <a:schemeClr val="accent1">
                  <a:lumMod val="50000"/>
                </a:schemeClr>
              </a:solidFill>
              <a:latin typeface="Arial"/>
              <a:cs typeface="Times New Roman"/>
            </a:endParaRPr>
          </a:p>
        </p:txBody>
      </p:sp>
      <p:sp>
        <p:nvSpPr>
          <p:cNvPr id="13" name="TextBox 12">
            <a:extLst>
              <a:ext uri="{FF2B5EF4-FFF2-40B4-BE49-F238E27FC236}">
                <a16:creationId xmlns:a16="http://schemas.microsoft.com/office/drawing/2014/main" id="{9DBCCC2E-547F-B5EF-13A6-6C78305DF498}"/>
              </a:ext>
            </a:extLst>
          </p:cNvPr>
          <p:cNvSpPr txBox="1"/>
          <p:nvPr/>
        </p:nvSpPr>
        <p:spPr>
          <a:xfrm>
            <a:off x="6096000" y="1959595"/>
            <a:ext cx="1740379" cy="276999"/>
          </a:xfrm>
          <a:prstGeom prst="rect">
            <a:avLst/>
          </a:prstGeom>
          <a:noFill/>
        </p:spPr>
        <p:txBody>
          <a:bodyPr wrap="square" lIns="91440" tIns="45720" rIns="91440" bIns="45720" anchor="t">
            <a:spAutoFit/>
          </a:bodyPr>
          <a:lstStyle/>
          <a:p>
            <a:r>
              <a:rPr lang="bg-BG" sz="1200" b="1">
                <a:solidFill>
                  <a:schemeClr val="accent1">
                    <a:lumMod val="50000"/>
                  </a:schemeClr>
                </a:solidFill>
                <a:effectLst/>
                <a:latin typeface="Arial"/>
                <a:ea typeface="Arial" panose="020B0604020202020204" pitchFamily="34" charset="0"/>
                <a:cs typeface="Times New Roman"/>
              </a:rPr>
              <a:t>Реактивен подход</a:t>
            </a:r>
            <a:endParaRPr lang="en-GB" sz="1200" b="1">
              <a:solidFill>
                <a:schemeClr val="accent1">
                  <a:lumMod val="50000"/>
                </a:schemeClr>
              </a:solidFill>
              <a:latin typeface="Arial"/>
              <a:cs typeface="Times New Roman"/>
            </a:endParaRPr>
          </a:p>
        </p:txBody>
      </p:sp>
      <p:sp>
        <p:nvSpPr>
          <p:cNvPr id="17" name="TextBox 16">
            <a:extLst>
              <a:ext uri="{FF2B5EF4-FFF2-40B4-BE49-F238E27FC236}">
                <a16:creationId xmlns:a16="http://schemas.microsoft.com/office/drawing/2014/main" id="{2866FB60-4115-8F07-0709-4BFB84622FD0}"/>
              </a:ext>
            </a:extLst>
          </p:cNvPr>
          <p:cNvSpPr txBox="1"/>
          <p:nvPr/>
        </p:nvSpPr>
        <p:spPr>
          <a:xfrm>
            <a:off x="2008845" y="2353563"/>
            <a:ext cx="2708120" cy="830997"/>
          </a:xfrm>
          <a:prstGeom prst="rect">
            <a:avLst/>
          </a:prstGeom>
          <a:noFill/>
        </p:spPr>
        <p:txBody>
          <a:bodyPr wrap="square">
            <a:spAutoFit/>
          </a:bodyPr>
          <a:lstStyle/>
          <a:p>
            <a:r>
              <a:rPr lang="ru-RU" sz="1200">
                <a:solidFill>
                  <a:schemeClr val="accent1">
                    <a:lumMod val="50000"/>
                  </a:schemeClr>
                </a:solidFill>
                <a:latin typeface="Arial" panose="020B0604020202020204" pitchFamily="34" charset="0"/>
                <a:ea typeface="Arial" panose="020B0604020202020204" pitchFamily="34" charset="0"/>
                <a:cs typeface="Times New Roman" panose="02020603050405020304" pitchFamily="18" charset="0"/>
              </a:rPr>
              <a:t>Служителят инициира контакта и създава интерес към възможност, за която клиентът още не е заявил конкретна нужда.</a:t>
            </a:r>
            <a:endParaRPr lang="en-GB" sz="1200">
              <a:solidFill>
                <a:schemeClr val="accent1">
                  <a:lumMod val="50000"/>
                </a:schemeClr>
              </a:solidFill>
            </a:endParaRPr>
          </a:p>
        </p:txBody>
      </p:sp>
      <p:sp>
        <p:nvSpPr>
          <p:cNvPr id="19" name="TextBox 18">
            <a:extLst>
              <a:ext uri="{FF2B5EF4-FFF2-40B4-BE49-F238E27FC236}">
                <a16:creationId xmlns:a16="http://schemas.microsoft.com/office/drawing/2014/main" id="{8A97267D-6659-1E94-030E-B3ED01F1E6D3}"/>
              </a:ext>
            </a:extLst>
          </p:cNvPr>
          <p:cNvSpPr txBox="1"/>
          <p:nvPr/>
        </p:nvSpPr>
        <p:spPr>
          <a:xfrm>
            <a:off x="6107150" y="2354398"/>
            <a:ext cx="2792802" cy="646331"/>
          </a:xfrm>
          <a:prstGeom prst="rect">
            <a:avLst/>
          </a:prstGeom>
          <a:noFill/>
        </p:spPr>
        <p:txBody>
          <a:bodyPr wrap="square">
            <a:spAutoFit/>
          </a:bodyPr>
          <a:lstStyle>
            <a:lvl1pPr>
              <a:defRPr sz="1200">
                <a:effectLst/>
                <a:latin typeface="Arial" panose="020B0604020202020204" pitchFamily="34" charset="0"/>
                <a:ea typeface="Arial" panose="020B0604020202020204" pitchFamily="34" charset="0"/>
                <a:cs typeface="Times New Roman" panose="02020603050405020304" pitchFamily="18" charset="0"/>
              </a:defRPr>
            </a:lvl1pPr>
          </a:lstStyle>
          <a:p>
            <a:r>
              <a:rPr lang="ru-RU">
                <a:solidFill>
                  <a:schemeClr val="accent1">
                    <a:lumMod val="50000"/>
                  </a:schemeClr>
                </a:solidFill>
              </a:rPr>
              <a:t>Служителят реагира на вече заявен интерес, въпрос или конкретна потребност от страна на клиента.</a:t>
            </a:r>
            <a:endParaRPr lang="en-GB">
              <a:solidFill>
                <a:schemeClr val="accent1">
                  <a:lumMod val="50000"/>
                </a:schemeClr>
              </a:solidFill>
            </a:endParaRPr>
          </a:p>
        </p:txBody>
      </p:sp>
      <p:sp>
        <p:nvSpPr>
          <p:cNvPr id="22" name="TextBox 21">
            <a:extLst>
              <a:ext uri="{FF2B5EF4-FFF2-40B4-BE49-F238E27FC236}">
                <a16:creationId xmlns:a16="http://schemas.microsoft.com/office/drawing/2014/main" id="{DDAC9EDF-2A52-F4EF-491C-2F3D1102F257}"/>
              </a:ext>
            </a:extLst>
          </p:cNvPr>
          <p:cNvSpPr txBox="1"/>
          <p:nvPr/>
        </p:nvSpPr>
        <p:spPr>
          <a:xfrm>
            <a:off x="2008844" y="3868192"/>
            <a:ext cx="3544735" cy="1200329"/>
          </a:xfrm>
          <a:prstGeom prst="rect">
            <a:avLst/>
          </a:prstGeom>
          <a:noFill/>
        </p:spPr>
        <p:txBody>
          <a:bodyPr wrap="square">
            <a:spAutoFit/>
          </a:bodyPr>
          <a:lstStyle/>
          <a:p>
            <a:r>
              <a:rPr lang="bg-BG" sz="1200" b="1">
                <a:solidFill>
                  <a:schemeClr val="accent1">
                    <a:lumMod val="50000"/>
                  </a:schemeClr>
                </a:solidFill>
                <a:effectLst/>
                <a:latin typeface="Arial" panose="020B0604020202020204" pitchFamily="34" charset="0"/>
                <a:ea typeface="Arial" panose="020B0604020202020204" pitchFamily="34" charset="0"/>
                <a:cs typeface="Times New Roman" panose="02020603050405020304" pitchFamily="18" charset="0"/>
              </a:rPr>
              <a:t>Подход: </a:t>
            </a:r>
            <a:endParaRPr lang="en-US" sz="1200" b="1">
              <a:solidFill>
                <a:schemeClr val="accent1">
                  <a:lumMod val="50000"/>
                </a:schemeClr>
              </a:solidFill>
              <a:effectLst/>
              <a:latin typeface="Arial" panose="020B0604020202020204" pitchFamily="34" charset="0"/>
              <a:ea typeface="Arial" panose="020B0604020202020204" pitchFamily="34" charset="0"/>
              <a:cs typeface="Times New Roman" panose="02020603050405020304" pitchFamily="18" charset="0"/>
            </a:endParaRPr>
          </a:p>
          <a:p>
            <a:endParaRPr lang="bg-BG" sz="1200" b="1">
              <a:solidFill>
                <a:schemeClr val="accent1">
                  <a:lumMod val="50000"/>
                </a:schemeClr>
              </a:solidFill>
              <a:effectLst/>
              <a:latin typeface="Arial" panose="020B0604020202020204" pitchFamily="34" charset="0"/>
              <a:ea typeface="Arial" panose="020B0604020202020204" pitchFamily="34" charset="0"/>
              <a:cs typeface="Times New Roman" panose="02020603050405020304" pitchFamily="18" charset="0"/>
            </a:endParaRPr>
          </a:p>
          <a:p>
            <a:r>
              <a:rPr lang="ru-RU" sz="1200">
                <a:solidFill>
                  <a:schemeClr val="accent1">
                    <a:lumMod val="50000"/>
                  </a:schemeClr>
                </a:solidFill>
              </a:rPr>
              <a:t>Разговорът цели да ангажира клиента, да открие потенциална нужда, да развие възможност и да доведе разговора до аргументирано предложение и следваща стъпка.</a:t>
            </a:r>
            <a:endParaRPr lang="en-GB" sz="1000">
              <a:solidFill>
                <a:schemeClr val="accent1">
                  <a:lumMod val="50000"/>
                </a:schemeClr>
              </a:solidFill>
            </a:endParaRPr>
          </a:p>
        </p:txBody>
      </p:sp>
      <p:sp>
        <p:nvSpPr>
          <p:cNvPr id="24" name="TextBox 23">
            <a:extLst>
              <a:ext uri="{FF2B5EF4-FFF2-40B4-BE49-F238E27FC236}">
                <a16:creationId xmlns:a16="http://schemas.microsoft.com/office/drawing/2014/main" id="{10685A81-FF9E-60B6-2517-A74278D0671F}"/>
              </a:ext>
            </a:extLst>
          </p:cNvPr>
          <p:cNvSpPr txBox="1"/>
          <p:nvPr/>
        </p:nvSpPr>
        <p:spPr>
          <a:xfrm>
            <a:off x="6107150" y="3879343"/>
            <a:ext cx="3029896" cy="1200329"/>
          </a:xfrm>
          <a:prstGeom prst="rect">
            <a:avLst/>
          </a:prstGeom>
          <a:noFill/>
        </p:spPr>
        <p:txBody>
          <a:bodyPr wrap="square">
            <a:spAutoFit/>
          </a:bodyPr>
          <a:lstStyle/>
          <a:p>
            <a:r>
              <a:rPr lang="bg-BG" sz="1200" b="1">
                <a:solidFill>
                  <a:schemeClr val="accent1">
                    <a:lumMod val="50000"/>
                  </a:schemeClr>
                </a:solidFill>
                <a:latin typeface="Arial" panose="020B0604020202020204" pitchFamily="34" charset="0"/>
                <a:ea typeface="Arial" panose="020B0604020202020204" pitchFamily="34" charset="0"/>
                <a:cs typeface="Times New Roman" panose="02020603050405020304" pitchFamily="18" charset="0"/>
              </a:rPr>
              <a:t>Подход: </a:t>
            </a:r>
            <a:endParaRPr lang="en-US" sz="1200" b="1">
              <a:solidFill>
                <a:schemeClr val="accent1">
                  <a:lumMod val="50000"/>
                </a:schemeClr>
              </a:solidFill>
              <a:latin typeface="Arial" panose="020B0604020202020204" pitchFamily="34" charset="0"/>
              <a:ea typeface="Arial" panose="020B0604020202020204" pitchFamily="34" charset="0"/>
              <a:cs typeface="Times New Roman" panose="02020603050405020304" pitchFamily="18" charset="0"/>
            </a:endParaRPr>
          </a:p>
          <a:p>
            <a:endParaRPr lang="bg-BG" sz="1200">
              <a:solidFill>
                <a:schemeClr val="accent1">
                  <a:lumMod val="50000"/>
                </a:schemeClr>
              </a:solidFill>
            </a:endParaRPr>
          </a:p>
          <a:p>
            <a:r>
              <a:rPr lang="ru-RU" sz="1200">
                <a:solidFill>
                  <a:schemeClr val="accent1">
                    <a:lumMod val="50000"/>
                  </a:schemeClr>
                </a:solidFill>
              </a:rPr>
              <a:t>Разговорът стъпва на повода, с който клиентът идва, изяснява нуждата, подрежда информацията и води към най-подходящото решение.</a:t>
            </a:r>
            <a:endParaRPr lang="en-GB" sz="1200">
              <a:solidFill>
                <a:schemeClr val="accent1">
                  <a:lumMod val="50000"/>
                </a:schemeClr>
              </a:solidFill>
            </a:endParaRPr>
          </a:p>
        </p:txBody>
      </p:sp>
      <p:sp>
        <p:nvSpPr>
          <p:cNvPr id="23" name="Rectangle 22">
            <a:extLst>
              <a:ext uri="{FF2B5EF4-FFF2-40B4-BE49-F238E27FC236}">
                <a16:creationId xmlns:a16="http://schemas.microsoft.com/office/drawing/2014/main" id="{04FA17CF-52D7-434C-86F4-D52863A82C3A}"/>
              </a:ext>
            </a:extLst>
          </p:cNvPr>
          <p:cNvSpPr/>
          <p:nvPr/>
        </p:nvSpPr>
        <p:spPr>
          <a:xfrm>
            <a:off x="1986543" y="1096167"/>
            <a:ext cx="4481164" cy="62065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bg-BG" sz="2000" b="1">
                <a:solidFill>
                  <a:schemeClr val="accent1">
                    <a:lumMod val="50000"/>
                  </a:schemeClr>
                </a:solidFill>
                <a:latin typeface="Aptos"/>
                <a:ea typeface="Calibri"/>
                <a:cs typeface="Calibri"/>
              </a:rPr>
              <a:t>Видове подход</a:t>
            </a:r>
            <a:endParaRPr lang="en-GB" sz="2000" b="1">
              <a:solidFill>
                <a:schemeClr val="accent1">
                  <a:lumMod val="50000"/>
                </a:schemeClr>
              </a:solidFill>
              <a:latin typeface="Aptos"/>
              <a:ea typeface="Calibri"/>
              <a:cs typeface="Calibri"/>
            </a:endParaRPr>
          </a:p>
        </p:txBody>
      </p:sp>
      <p:sp>
        <p:nvSpPr>
          <p:cNvPr id="25" name="Rectangle 24">
            <a:extLst>
              <a:ext uri="{FF2B5EF4-FFF2-40B4-BE49-F238E27FC236}">
                <a16:creationId xmlns:a16="http://schemas.microsoft.com/office/drawing/2014/main" id="{76CADB46-420B-4FB0-A4A8-6668AB713C2E}"/>
              </a:ext>
            </a:extLst>
          </p:cNvPr>
          <p:cNvSpPr/>
          <p:nvPr/>
        </p:nvSpPr>
        <p:spPr>
          <a:xfrm>
            <a:off x="-1671" y="1599"/>
            <a:ext cx="1451167" cy="6866954"/>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200">
              <a:latin typeface="Aptos"/>
              <a:ea typeface="Calibri"/>
              <a:cs typeface="Calibri"/>
            </a:endParaRPr>
          </a:p>
        </p:txBody>
      </p:sp>
      <p:sp>
        <p:nvSpPr>
          <p:cNvPr id="26" name="Rectangle 25">
            <a:extLst>
              <a:ext uri="{FF2B5EF4-FFF2-40B4-BE49-F238E27FC236}">
                <a16:creationId xmlns:a16="http://schemas.microsoft.com/office/drawing/2014/main" id="{E797FF61-8857-4590-AC81-EB117F26A5F5}"/>
              </a:ext>
            </a:extLst>
          </p:cNvPr>
          <p:cNvSpPr/>
          <p:nvPr/>
        </p:nvSpPr>
        <p:spPr>
          <a:xfrm>
            <a:off x="-1671" y="2528038"/>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Типове клиенти</a:t>
            </a:r>
            <a:endParaRPr lang="en-GB" sz="1400">
              <a:latin typeface="Aptos"/>
              <a:ea typeface="Calibri"/>
              <a:cs typeface="Calibri"/>
            </a:endParaRPr>
          </a:p>
        </p:txBody>
      </p:sp>
      <p:sp>
        <p:nvSpPr>
          <p:cNvPr id="27" name="Rectangle 26">
            <a:extLst>
              <a:ext uri="{FF2B5EF4-FFF2-40B4-BE49-F238E27FC236}">
                <a16:creationId xmlns:a16="http://schemas.microsoft.com/office/drawing/2014/main" id="{9C5A5EB4-54AF-4FEF-AB33-AD1EFE1C5C21}"/>
              </a:ext>
            </a:extLst>
          </p:cNvPr>
          <p:cNvSpPr/>
          <p:nvPr/>
        </p:nvSpPr>
        <p:spPr>
          <a:xfrm>
            <a:off x="8626" y="1913210"/>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Сценарии</a:t>
            </a:r>
            <a:endParaRPr lang="en-GB" sz="1400">
              <a:latin typeface="Aptos"/>
              <a:ea typeface="Calibri"/>
              <a:cs typeface="Calibri"/>
            </a:endParaRPr>
          </a:p>
        </p:txBody>
      </p:sp>
      <p:sp>
        <p:nvSpPr>
          <p:cNvPr id="28" name="Rectangle 27">
            <a:extLst>
              <a:ext uri="{FF2B5EF4-FFF2-40B4-BE49-F238E27FC236}">
                <a16:creationId xmlns:a16="http://schemas.microsoft.com/office/drawing/2014/main" id="{AC47498A-8858-4CE4-88BA-F23F31CCE558}"/>
              </a:ext>
            </a:extLst>
          </p:cNvPr>
          <p:cNvSpPr/>
          <p:nvPr/>
        </p:nvSpPr>
        <p:spPr>
          <a:xfrm>
            <a:off x="-1671" y="1298382"/>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a:latin typeface="Aptos"/>
                <a:ea typeface="Calibri"/>
                <a:cs typeface="Calibri"/>
              </a:rPr>
              <a:t>Стъпки при среща</a:t>
            </a:r>
            <a:endParaRPr lang="bg-BG"/>
          </a:p>
        </p:txBody>
      </p:sp>
      <p:sp>
        <p:nvSpPr>
          <p:cNvPr id="34" name="Rectangle 28">
            <a:extLst>
              <a:ext uri="{FF2B5EF4-FFF2-40B4-BE49-F238E27FC236}">
                <a16:creationId xmlns:a16="http://schemas.microsoft.com/office/drawing/2014/main" id="{2A65BDCE-90BD-4E26-B181-F71E17C3568D}"/>
              </a:ext>
            </a:extLst>
          </p:cNvPr>
          <p:cNvSpPr/>
          <p:nvPr/>
        </p:nvSpPr>
        <p:spPr>
          <a:xfrm>
            <a:off x="6154" y="690328"/>
            <a:ext cx="1450668" cy="45589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b="1">
                <a:solidFill>
                  <a:srgbClr val="2F5597"/>
                </a:solidFill>
                <a:latin typeface="Aptos"/>
                <a:ea typeface="Calibri"/>
                <a:cs typeface="Calibri"/>
              </a:rPr>
              <a:t>Подготовка</a:t>
            </a:r>
            <a:endParaRPr lang="en-GB" sz="1400" b="1">
              <a:solidFill>
                <a:srgbClr val="2F5597"/>
              </a:solidFill>
              <a:latin typeface="Aptos"/>
              <a:ea typeface="Calibri"/>
              <a:cs typeface="Calibri"/>
            </a:endParaRPr>
          </a:p>
        </p:txBody>
      </p:sp>
      <p:pic>
        <p:nvPicPr>
          <p:cNvPr id="35" name="Picture 34">
            <a:extLst>
              <a:ext uri="{FF2B5EF4-FFF2-40B4-BE49-F238E27FC236}">
                <a16:creationId xmlns:a16="http://schemas.microsoft.com/office/drawing/2014/main" id="{93A4FA56-4195-4ACE-9ECF-E0D94A161D25}"/>
              </a:ext>
            </a:extLst>
          </p:cNvPr>
          <p:cNvPicPr>
            <a:picLocks noChangeAspect="1"/>
          </p:cNvPicPr>
          <p:nvPr/>
        </p:nvPicPr>
        <p:blipFill>
          <a:blip r:embed="rId2"/>
          <a:stretch>
            <a:fillRect/>
          </a:stretch>
        </p:blipFill>
        <p:spPr>
          <a:xfrm>
            <a:off x="10883590" y="5621341"/>
            <a:ext cx="982751" cy="995681"/>
          </a:xfrm>
          <a:prstGeom prst="rect">
            <a:avLst/>
          </a:prstGeom>
        </p:spPr>
      </p:pic>
    </p:spTree>
    <p:extLst>
      <p:ext uri="{BB962C8B-B14F-4D97-AF65-F5344CB8AC3E}">
        <p14:creationId xmlns:p14="http://schemas.microsoft.com/office/powerpoint/2010/main" val="991506806"/>
      </p:ext>
    </p:extLst>
  </p:cSld>
  <p:clrMapOvr>
    <a:masterClrMapping/>
  </p:clrMapOvr>
  <mc:AlternateContent xmlns:mc="http://schemas.openxmlformats.org/markup-compatibility/2006" xmlns:p14="http://schemas.microsoft.com/office/powerpoint/2010/main">
    <mc:Choice Requires="p14">
      <p:transition spd="slow" p14:dur="2000" advTm="6522"/>
    </mc:Choice>
    <mc:Fallback xmlns="">
      <p:transition spd="slow" advTm="6522"/>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AA5C61-72A3-9B9E-2133-9AB5F7F8AE31}"/>
            </a:ext>
          </a:extLst>
        </p:cNvPr>
        <p:cNvGrpSpPr/>
        <p:nvPr/>
      </p:nvGrpSpPr>
      <p:grpSpPr>
        <a:xfrm>
          <a:off x="0" y="0"/>
          <a:ext cx="0" cy="0"/>
          <a:chOff x="0" y="0"/>
          <a:chExt cx="0" cy="0"/>
        </a:xfrm>
      </p:grpSpPr>
      <p:sp>
        <p:nvSpPr>
          <p:cNvPr id="20" name="Rectangle 3">
            <a:extLst>
              <a:ext uri="{FF2B5EF4-FFF2-40B4-BE49-F238E27FC236}">
                <a16:creationId xmlns:a16="http://schemas.microsoft.com/office/drawing/2014/main" id="{4DB7A9AD-56D5-43AB-821B-F06C1FBAE905}"/>
              </a:ext>
            </a:extLst>
          </p:cNvPr>
          <p:cNvSpPr/>
          <p:nvPr/>
        </p:nvSpPr>
        <p:spPr>
          <a:xfrm>
            <a:off x="1443475" y="4245"/>
            <a:ext cx="5338363" cy="677242"/>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21" name="Rectangle 4">
            <a:extLst>
              <a:ext uri="{FF2B5EF4-FFF2-40B4-BE49-F238E27FC236}">
                <a16:creationId xmlns:a16="http://schemas.microsoft.com/office/drawing/2014/main" id="{B73B202B-27F3-46D3-BE5A-3EDFDFAB5233}"/>
              </a:ext>
            </a:extLst>
          </p:cNvPr>
          <p:cNvSpPr/>
          <p:nvPr/>
        </p:nvSpPr>
        <p:spPr>
          <a:xfrm>
            <a:off x="6788435" y="4245"/>
            <a:ext cx="5417300" cy="677242"/>
          </a:xfrm>
          <a:prstGeom prst="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22" name="Rectangle 21">
            <a:extLst>
              <a:ext uri="{FF2B5EF4-FFF2-40B4-BE49-F238E27FC236}">
                <a16:creationId xmlns:a16="http://schemas.microsoft.com/office/drawing/2014/main" id="{64D4987E-F1EF-4E91-ABDB-CF421C239537}"/>
              </a:ext>
            </a:extLst>
          </p:cNvPr>
          <p:cNvSpPr/>
          <p:nvPr/>
        </p:nvSpPr>
        <p:spPr>
          <a:xfrm>
            <a:off x="-1671" y="1599"/>
            <a:ext cx="1451167" cy="6866954"/>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200">
              <a:latin typeface="Aptos"/>
              <a:ea typeface="Calibri"/>
              <a:cs typeface="Calibri"/>
            </a:endParaRPr>
          </a:p>
        </p:txBody>
      </p:sp>
      <p:sp>
        <p:nvSpPr>
          <p:cNvPr id="23" name="Rectangle 22">
            <a:extLst>
              <a:ext uri="{FF2B5EF4-FFF2-40B4-BE49-F238E27FC236}">
                <a16:creationId xmlns:a16="http://schemas.microsoft.com/office/drawing/2014/main" id="{781DA419-206E-42CF-9E5C-5F7AD31A7A43}"/>
              </a:ext>
            </a:extLst>
          </p:cNvPr>
          <p:cNvSpPr/>
          <p:nvPr/>
        </p:nvSpPr>
        <p:spPr>
          <a:xfrm>
            <a:off x="-1671" y="2528038"/>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Типове клиенти</a:t>
            </a:r>
            <a:endParaRPr lang="en-GB" sz="1400">
              <a:latin typeface="Aptos"/>
              <a:ea typeface="Calibri"/>
              <a:cs typeface="Calibri"/>
            </a:endParaRPr>
          </a:p>
        </p:txBody>
      </p:sp>
      <p:sp>
        <p:nvSpPr>
          <p:cNvPr id="24" name="Rectangle 23">
            <a:extLst>
              <a:ext uri="{FF2B5EF4-FFF2-40B4-BE49-F238E27FC236}">
                <a16:creationId xmlns:a16="http://schemas.microsoft.com/office/drawing/2014/main" id="{22742D17-BE68-48F4-9FE1-B5A6399EAE85}"/>
              </a:ext>
            </a:extLst>
          </p:cNvPr>
          <p:cNvSpPr/>
          <p:nvPr/>
        </p:nvSpPr>
        <p:spPr>
          <a:xfrm>
            <a:off x="8626" y="1913210"/>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Сценарии</a:t>
            </a:r>
            <a:endParaRPr lang="en-GB" sz="1400">
              <a:latin typeface="Aptos"/>
              <a:ea typeface="Calibri"/>
              <a:cs typeface="Calibri"/>
            </a:endParaRPr>
          </a:p>
        </p:txBody>
      </p:sp>
      <p:sp>
        <p:nvSpPr>
          <p:cNvPr id="25" name="Rectangle 24">
            <a:extLst>
              <a:ext uri="{FF2B5EF4-FFF2-40B4-BE49-F238E27FC236}">
                <a16:creationId xmlns:a16="http://schemas.microsoft.com/office/drawing/2014/main" id="{25078862-103B-4A7E-A4C3-E4DF2D6963EB}"/>
              </a:ext>
            </a:extLst>
          </p:cNvPr>
          <p:cNvSpPr/>
          <p:nvPr/>
        </p:nvSpPr>
        <p:spPr>
          <a:xfrm>
            <a:off x="-1671" y="1298382"/>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a:latin typeface="Aptos"/>
                <a:ea typeface="Calibri"/>
                <a:cs typeface="Calibri"/>
              </a:rPr>
              <a:t>Стъпки при среща</a:t>
            </a:r>
            <a:endParaRPr lang="bg-BG"/>
          </a:p>
        </p:txBody>
      </p:sp>
      <p:sp>
        <p:nvSpPr>
          <p:cNvPr id="26" name="Rectangle 28">
            <a:extLst>
              <a:ext uri="{FF2B5EF4-FFF2-40B4-BE49-F238E27FC236}">
                <a16:creationId xmlns:a16="http://schemas.microsoft.com/office/drawing/2014/main" id="{43E8797E-D00F-40FB-8271-8EDC30492162}"/>
              </a:ext>
            </a:extLst>
          </p:cNvPr>
          <p:cNvSpPr/>
          <p:nvPr/>
        </p:nvSpPr>
        <p:spPr>
          <a:xfrm>
            <a:off x="6154" y="690328"/>
            <a:ext cx="1450668" cy="45589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b="1">
                <a:solidFill>
                  <a:srgbClr val="2F5597"/>
                </a:solidFill>
                <a:latin typeface="Aptos"/>
                <a:ea typeface="Calibri"/>
                <a:cs typeface="Calibri"/>
              </a:rPr>
              <a:t>Подготовка</a:t>
            </a:r>
            <a:endParaRPr lang="en-GB" sz="1400" b="1">
              <a:solidFill>
                <a:srgbClr val="2F5597"/>
              </a:solidFill>
              <a:latin typeface="Aptos"/>
              <a:ea typeface="Calibri"/>
              <a:cs typeface="Calibri"/>
            </a:endParaRPr>
          </a:p>
        </p:txBody>
      </p:sp>
      <p:pic>
        <p:nvPicPr>
          <p:cNvPr id="27" name="Picture 26">
            <a:extLst>
              <a:ext uri="{FF2B5EF4-FFF2-40B4-BE49-F238E27FC236}">
                <a16:creationId xmlns:a16="http://schemas.microsoft.com/office/drawing/2014/main" id="{B3DD4E5B-A653-4975-B6AC-81CFF468820A}"/>
              </a:ext>
            </a:extLst>
          </p:cNvPr>
          <p:cNvPicPr>
            <a:picLocks noChangeAspect="1"/>
          </p:cNvPicPr>
          <p:nvPr/>
        </p:nvPicPr>
        <p:blipFill>
          <a:blip r:embed="rId3"/>
          <a:stretch>
            <a:fillRect/>
          </a:stretch>
        </p:blipFill>
        <p:spPr>
          <a:xfrm>
            <a:off x="10883590" y="5621341"/>
            <a:ext cx="982751" cy="995681"/>
          </a:xfrm>
          <a:prstGeom prst="rect">
            <a:avLst/>
          </a:prstGeom>
        </p:spPr>
      </p:pic>
      <p:sp>
        <p:nvSpPr>
          <p:cNvPr id="7" name="Правоъгълник: със заоблени ъгли 7">
            <a:extLst>
              <a:ext uri="{FF2B5EF4-FFF2-40B4-BE49-F238E27FC236}">
                <a16:creationId xmlns:a16="http://schemas.microsoft.com/office/drawing/2014/main" id="{90A8A6A7-F587-D85C-E65E-0EA1922A0EFF}"/>
              </a:ext>
            </a:extLst>
          </p:cNvPr>
          <p:cNvSpPr/>
          <p:nvPr/>
        </p:nvSpPr>
        <p:spPr>
          <a:xfrm>
            <a:off x="7642443" y="2649464"/>
            <a:ext cx="1863716" cy="489857"/>
          </a:xfrm>
          <a:prstGeom prst="roundRect">
            <a:avLst>
              <a:gd name="adj" fmla="val 50000"/>
            </a:avLst>
          </a:prstGeom>
          <a:solidFill>
            <a:schemeClr val="bg1"/>
          </a:solidFill>
          <a:ln>
            <a:noFill/>
          </a:ln>
          <a:effectLst>
            <a:outerShdw blurRad="50800" dist="38100" dir="5400000" algn="t" rotWithShape="0">
              <a:prstClr val="black">
                <a:alpha val="40000"/>
              </a:prstClr>
            </a:outerShdw>
          </a:effectLst>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b="1" dirty="0">
                <a:solidFill>
                  <a:srgbClr val="002060"/>
                </a:solidFill>
              </a:rPr>
              <a:t>Checklist</a:t>
            </a:r>
            <a:r>
              <a:rPr lang="bg-BG" b="1" dirty="0">
                <a:solidFill>
                  <a:srgbClr val="002060"/>
                </a:solidFill>
              </a:rPr>
              <a:t> </a:t>
            </a:r>
          </a:p>
        </p:txBody>
      </p:sp>
      <p:sp>
        <p:nvSpPr>
          <p:cNvPr id="8" name="Rectangle 13">
            <a:extLst>
              <a:ext uri="{FF2B5EF4-FFF2-40B4-BE49-F238E27FC236}">
                <a16:creationId xmlns:a16="http://schemas.microsoft.com/office/drawing/2014/main" id="{ECE7E0E8-8242-CBBD-41A2-4C0DFAE3C554}"/>
              </a:ext>
            </a:extLst>
          </p:cNvPr>
          <p:cNvSpPr/>
          <p:nvPr/>
        </p:nvSpPr>
        <p:spPr>
          <a:xfrm>
            <a:off x="2157455" y="2075081"/>
            <a:ext cx="2932281" cy="677242"/>
          </a:xfrm>
          <a:prstGeom prst="round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600"/>
              <a:t>Дългосрочна</a:t>
            </a:r>
            <a:endParaRPr lang="en-GB" sz="1600"/>
          </a:p>
        </p:txBody>
      </p:sp>
      <p:sp>
        <p:nvSpPr>
          <p:cNvPr id="9" name="Rectangle 13">
            <a:extLst>
              <a:ext uri="{FF2B5EF4-FFF2-40B4-BE49-F238E27FC236}">
                <a16:creationId xmlns:a16="http://schemas.microsoft.com/office/drawing/2014/main" id="{7E0233F9-04E0-5758-B238-4CBE32AAC3DF}"/>
              </a:ext>
            </a:extLst>
          </p:cNvPr>
          <p:cNvSpPr/>
          <p:nvPr/>
        </p:nvSpPr>
        <p:spPr>
          <a:xfrm>
            <a:off x="2157455" y="2887881"/>
            <a:ext cx="2932281" cy="677242"/>
          </a:xfrm>
          <a:prstGeom prst="round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600" dirty="0"/>
              <a:t>Краткосрочна</a:t>
            </a:r>
            <a:endParaRPr lang="en-GB" sz="1600" dirty="0"/>
          </a:p>
        </p:txBody>
      </p:sp>
      <p:sp>
        <p:nvSpPr>
          <p:cNvPr id="10" name="Rectangle 13">
            <a:extLst>
              <a:ext uri="{FF2B5EF4-FFF2-40B4-BE49-F238E27FC236}">
                <a16:creationId xmlns:a16="http://schemas.microsoft.com/office/drawing/2014/main" id="{930EE19C-2649-D581-C5C3-87BA79CAC7E3}"/>
              </a:ext>
            </a:extLst>
          </p:cNvPr>
          <p:cNvSpPr/>
          <p:nvPr/>
        </p:nvSpPr>
        <p:spPr>
          <a:xfrm>
            <a:off x="2157455" y="3700681"/>
            <a:ext cx="2932281" cy="677242"/>
          </a:xfrm>
          <a:prstGeom prst="round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600"/>
              <a:t>Имиджова</a:t>
            </a:r>
            <a:endParaRPr lang="en-GB" sz="1600"/>
          </a:p>
        </p:txBody>
      </p:sp>
    </p:spTree>
    <p:extLst>
      <p:ext uri="{BB962C8B-B14F-4D97-AF65-F5344CB8AC3E}">
        <p14:creationId xmlns:p14="http://schemas.microsoft.com/office/powerpoint/2010/main" val="56822092"/>
      </p:ext>
    </p:extLst>
  </p:cSld>
  <p:clrMapOvr>
    <a:masterClrMapping/>
  </p:clrMapOvr>
  <mc:AlternateContent xmlns:mc="http://schemas.openxmlformats.org/markup-compatibility/2006" xmlns:p14="http://schemas.microsoft.com/office/powerpoint/2010/main">
    <mc:Choice Requires="p14">
      <p:transition spd="slow" p14:dur="2000" advTm="6522"/>
    </mc:Choice>
    <mc:Fallback xmlns="">
      <p:transition spd="slow" advTm="6522"/>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65815E-A956-0A75-46BF-2526C3FB66C7}"/>
            </a:ext>
          </a:extLst>
        </p:cNvPr>
        <p:cNvGrpSpPr/>
        <p:nvPr/>
      </p:nvGrpSpPr>
      <p:grpSpPr>
        <a:xfrm>
          <a:off x="0" y="0"/>
          <a:ext cx="0" cy="0"/>
          <a:chOff x="0" y="0"/>
          <a:chExt cx="0" cy="0"/>
        </a:xfrm>
      </p:grpSpPr>
      <p:sp>
        <p:nvSpPr>
          <p:cNvPr id="20" name="Rectangle 3">
            <a:extLst>
              <a:ext uri="{FF2B5EF4-FFF2-40B4-BE49-F238E27FC236}">
                <a16:creationId xmlns:a16="http://schemas.microsoft.com/office/drawing/2014/main" id="{CCC042AA-6B74-0532-39BE-DE3ED500FCEC}"/>
              </a:ext>
            </a:extLst>
          </p:cNvPr>
          <p:cNvSpPr/>
          <p:nvPr/>
        </p:nvSpPr>
        <p:spPr>
          <a:xfrm>
            <a:off x="1443475" y="4245"/>
            <a:ext cx="5338363" cy="677242"/>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21" name="Rectangle 4">
            <a:extLst>
              <a:ext uri="{FF2B5EF4-FFF2-40B4-BE49-F238E27FC236}">
                <a16:creationId xmlns:a16="http://schemas.microsoft.com/office/drawing/2014/main" id="{0C28E29F-AD0B-EF9A-A7EE-033E11477E0D}"/>
              </a:ext>
            </a:extLst>
          </p:cNvPr>
          <p:cNvSpPr/>
          <p:nvPr/>
        </p:nvSpPr>
        <p:spPr>
          <a:xfrm>
            <a:off x="6788435" y="4245"/>
            <a:ext cx="5417300" cy="677242"/>
          </a:xfrm>
          <a:prstGeom prst="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22" name="Rectangle 21">
            <a:extLst>
              <a:ext uri="{FF2B5EF4-FFF2-40B4-BE49-F238E27FC236}">
                <a16:creationId xmlns:a16="http://schemas.microsoft.com/office/drawing/2014/main" id="{584F9BF4-FE35-DB88-D1D4-576C0DCDA872}"/>
              </a:ext>
            </a:extLst>
          </p:cNvPr>
          <p:cNvSpPr/>
          <p:nvPr/>
        </p:nvSpPr>
        <p:spPr>
          <a:xfrm>
            <a:off x="-1671" y="1599"/>
            <a:ext cx="1451167" cy="6866954"/>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200">
              <a:latin typeface="Aptos"/>
              <a:ea typeface="Calibri"/>
              <a:cs typeface="Calibri"/>
            </a:endParaRPr>
          </a:p>
        </p:txBody>
      </p:sp>
      <p:sp>
        <p:nvSpPr>
          <p:cNvPr id="23" name="Rectangle 22">
            <a:extLst>
              <a:ext uri="{FF2B5EF4-FFF2-40B4-BE49-F238E27FC236}">
                <a16:creationId xmlns:a16="http://schemas.microsoft.com/office/drawing/2014/main" id="{BB4AE0C0-7DEE-98F6-48E8-85FC7D20D8F3}"/>
              </a:ext>
            </a:extLst>
          </p:cNvPr>
          <p:cNvSpPr/>
          <p:nvPr/>
        </p:nvSpPr>
        <p:spPr>
          <a:xfrm>
            <a:off x="-1671" y="2528038"/>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Типове клиенти</a:t>
            </a:r>
            <a:endParaRPr lang="en-GB" sz="1400">
              <a:latin typeface="Aptos"/>
              <a:ea typeface="Calibri"/>
              <a:cs typeface="Calibri"/>
            </a:endParaRPr>
          </a:p>
        </p:txBody>
      </p:sp>
      <p:sp>
        <p:nvSpPr>
          <p:cNvPr id="24" name="Rectangle 23">
            <a:extLst>
              <a:ext uri="{FF2B5EF4-FFF2-40B4-BE49-F238E27FC236}">
                <a16:creationId xmlns:a16="http://schemas.microsoft.com/office/drawing/2014/main" id="{5DD013C1-185E-5B63-EE4C-E212E59E2814}"/>
              </a:ext>
            </a:extLst>
          </p:cNvPr>
          <p:cNvSpPr/>
          <p:nvPr/>
        </p:nvSpPr>
        <p:spPr>
          <a:xfrm>
            <a:off x="8626" y="1913210"/>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Сценарии</a:t>
            </a:r>
            <a:endParaRPr lang="en-GB" sz="1400">
              <a:latin typeface="Aptos"/>
              <a:ea typeface="Calibri"/>
              <a:cs typeface="Calibri"/>
            </a:endParaRPr>
          </a:p>
        </p:txBody>
      </p:sp>
      <p:sp>
        <p:nvSpPr>
          <p:cNvPr id="25" name="Rectangle 24">
            <a:extLst>
              <a:ext uri="{FF2B5EF4-FFF2-40B4-BE49-F238E27FC236}">
                <a16:creationId xmlns:a16="http://schemas.microsoft.com/office/drawing/2014/main" id="{C1378195-3697-3054-501B-A94E86FAE37D}"/>
              </a:ext>
            </a:extLst>
          </p:cNvPr>
          <p:cNvSpPr/>
          <p:nvPr/>
        </p:nvSpPr>
        <p:spPr>
          <a:xfrm>
            <a:off x="-1671" y="1298382"/>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a:latin typeface="Aptos"/>
                <a:ea typeface="Calibri"/>
                <a:cs typeface="Calibri"/>
              </a:rPr>
              <a:t>Стъпки при среща</a:t>
            </a:r>
            <a:endParaRPr lang="bg-BG"/>
          </a:p>
        </p:txBody>
      </p:sp>
      <p:sp>
        <p:nvSpPr>
          <p:cNvPr id="26" name="Rectangle 28">
            <a:extLst>
              <a:ext uri="{FF2B5EF4-FFF2-40B4-BE49-F238E27FC236}">
                <a16:creationId xmlns:a16="http://schemas.microsoft.com/office/drawing/2014/main" id="{5291508F-BBD6-88E5-9B10-1C4097FADF47}"/>
              </a:ext>
            </a:extLst>
          </p:cNvPr>
          <p:cNvSpPr/>
          <p:nvPr/>
        </p:nvSpPr>
        <p:spPr>
          <a:xfrm>
            <a:off x="6154" y="690328"/>
            <a:ext cx="1450668" cy="45589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b="1">
                <a:solidFill>
                  <a:srgbClr val="2F5597"/>
                </a:solidFill>
                <a:latin typeface="Aptos"/>
                <a:ea typeface="Calibri"/>
                <a:cs typeface="Calibri"/>
              </a:rPr>
              <a:t>Подготовка</a:t>
            </a:r>
            <a:endParaRPr lang="en-GB" sz="1400" b="1">
              <a:solidFill>
                <a:srgbClr val="2F5597"/>
              </a:solidFill>
              <a:latin typeface="Aptos"/>
              <a:ea typeface="Calibri"/>
              <a:cs typeface="Calibri"/>
            </a:endParaRPr>
          </a:p>
        </p:txBody>
      </p:sp>
      <p:pic>
        <p:nvPicPr>
          <p:cNvPr id="27" name="Picture 26">
            <a:extLst>
              <a:ext uri="{FF2B5EF4-FFF2-40B4-BE49-F238E27FC236}">
                <a16:creationId xmlns:a16="http://schemas.microsoft.com/office/drawing/2014/main" id="{A84251D7-E638-A455-A9A3-4F87F509E601}"/>
              </a:ext>
            </a:extLst>
          </p:cNvPr>
          <p:cNvPicPr>
            <a:picLocks noChangeAspect="1"/>
          </p:cNvPicPr>
          <p:nvPr/>
        </p:nvPicPr>
        <p:blipFill>
          <a:blip r:embed="rId4"/>
          <a:stretch>
            <a:fillRect/>
          </a:stretch>
        </p:blipFill>
        <p:spPr>
          <a:xfrm>
            <a:off x="10883590" y="5621341"/>
            <a:ext cx="982751" cy="995681"/>
          </a:xfrm>
          <a:prstGeom prst="rect">
            <a:avLst/>
          </a:prstGeom>
        </p:spPr>
      </p:pic>
      <p:sp>
        <p:nvSpPr>
          <p:cNvPr id="7" name="Правоъгълник: със заоблени ъгли 7">
            <a:extLst>
              <a:ext uri="{FF2B5EF4-FFF2-40B4-BE49-F238E27FC236}">
                <a16:creationId xmlns:a16="http://schemas.microsoft.com/office/drawing/2014/main" id="{13FEF65D-C54A-CE21-CD52-8DE8F0AA10CB}"/>
              </a:ext>
            </a:extLst>
          </p:cNvPr>
          <p:cNvSpPr/>
          <p:nvPr/>
        </p:nvSpPr>
        <p:spPr>
          <a:xfrm>
            <a:off x="7249898" y="1044646"/>
            <a:ext cx="1863716" cy="489857"/>
          </a:xfrm>
          <a:prstGeom prst="roundRect">
            <a:avLst>
              <a:gd name="adj" fmla="val 50000"/>
            </a:avLst>
          </a:prstGeom>
          <a:solidFill>
            <a:schemeClr val="bg1"/>
          </a:solidFill>
          <a:ln>
            <a:noFill/>
          </a:ln>
          <a:effectLst>
            <a:outerShdw blurRad="50800" dist="38100" dir="5400000" algn="t" rotWithShape="0">
              <a:prstClr val="black">
                <a:alpha val="40000"/>
              </a:prstClr>
            </a:outerShdw>
          </a:effectLst>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b="1">
                <a:solidFill>
                  <a:srgbClr val="002060"/>
                </a:solidFill>
              </a:rPr>
              <a:t>Checklist</a:t>
            </a:r>
            <a:r>
              <a:rPr lang="bg-BG" b="1">
                <a:solidFill>
                  <a:srgbClr val="002060"/>
                </a:solidFill>
              </a:rPr>
              <a:t> </a:t>
            </a:r>
          </a:p>
        </p:txBody>
      </p:sp>
      <p:sp>
        <p:nvSpPr>
          <p:cNvPr id="8" name="Rectangle 13">
            <a:extLst>
              <a:ext uri="{FF2B5EF4-FFF2-40B4-BE49-F238E27FC236}">
                <a16:creationId xmlns:a16="http://schemas.microsoft.com/office/drawing/2014/main" id="{F9B7862D-0154-4EBD-7CA0-5FD4E246398A}"/>
              </a:ext>
            </a:extLst>
          </p:cNvPr>
          <p:cNvSpPr/>
          <p:nvPr/>
        </p:nvSpPr>
        <p:spPr>
          <a:xfrm>
            <a:off x="2157455" y="2075081"/>
            <a:ext cx="2932281" cy="677242"/>
          </a:xfrm>
          <a:prstGeom prst="round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600"/>
              <a:t>Дългосрочна</a:t>
            </a:r>
            <a:endParaRPr lang="en-GB" sz="1600"/>
          </a:p>
        </p:txBody>
      </p:sp>
      <p:sp>
        <p:nvSpPr>
          <p:cNvPr id="9" name="Rectangle 13">
            <a:extLst>
              <a:ext uri="{FF2B5EF4-FFF2-40B4-BE49-F238E27FC236}">
                <a16:creationId xmlns:a16="http://schemas.microsoft.com/office/drawing/2014/main" id="{E349F502-9C38-86CE-9601-9684CD693182}"/>
              </a:ext>
            </a:extLst>
          </p:cNvPr>
          <p:cNvSpPr/>
          <p:nvPr/>
        </p:nvSpPr>
        <p:spPr>
          <a:xfrm>
            <a:off x="2157455" y="2887881"/>
            <a:ext cx="2932281" cy="677242"/>
          </a:xfrm>
          <a:prstGeom prst="round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600"/>
              <a:t>Краткосрочна</a:t>
            </a:r>
            <a:endParaRPr lang="en-GB" sz="1600"/>
          </a:p>
        </p:txBody>
      </p:sp>
      <p:sp>
        <p:nvSpPr>
          <p:cNvPr id="10" name="Rectangle 13">
            <a:extLst>
              <a:ext uri="{FF2B5EF4-FFF2-40B4-BE49-F238E27FC236}">
                <a16:creationId xmlns:a16="http://schemas.microsoft.com/office/drawing/2014/main" id="{B65AC47F-A976-DB08-4AA6-CEB37F306882}"/>
              </a:ext>
            </a:extLst>
          </p:cNvPr>
          <p:cNvSpPr/>
          <p:nvPr/>
        </p:nvSpPr>
        <p:spPr>
          <a:xfrm>
            <a:off x="2157455" y="3700681"/>
            <a:ext cx="2932281" cy="677242"/>
          </a:xfrm>
          <a:prstGeom prst="round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600"/>
              <a:t>Имиджова</a:t>
            </a:r>
            <a:endParaRPr lang="en-GB" sz="1600"/>
          </a:p>
        </p:txBody>
      </p:sp>
      <p:sp>
        <p:nvSpPr>
          <p:cNvPr id="2" name="TextBox 1">
            <a:extLst>
              <a:ext uri="{FF2B5EF4-FFF2-40B4-BE49-F238E27FC236}">
                <a16:creationId xmlns:a16="http://schemas.microsoft.com/office/drawing/2014/main" id="{BD114B6E-6EF1-BA34-599D-B482C55D201E}"/>
              </a:ext>
            </a:extLst>
          </p:cNvPr>
          <p:cNvSpPr txBox="1"/>
          <p:nvPr/>
        </p:nvSpPr>
        <p:spPr>
          <a:xfrm>
            <a:off x="5803003" y="1820550"/>
            <a:ext cx="5589657" cy="39703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dirty="0" err="1">
                <a:ea typeface="+mn-lt"/>
                <a:cs typeface="+mn-lt"/>
              </a:rPr>
              <a:t>Чеклист</a:t>
            </a:r>
            <a:r>
              <a:rPr lang="en-US" sz="1200" b="1" dirty="0">
                <a:ea typeface="+mn-lt"/>
                <a:cs typeface="+mn-lt"/>
              </a:rPr>
              <a:t> </a:t>
            </a:r>
            <a:r>
              <a:rPr lang="en-US" sz="1200" b="1" dirty="0" err="1">
                <a:ea typeface="+mn-lt"/>
                <a:cs typeface="+mn-lt"/>
              </a:rPr>
              <a:t>преди</a:t>
            </a:r>
            <a:r>
              <a:rPr lang="en-US" sz="1200" b="1" dirty="0">
                <a:ea typeface="+mn-lt"/>
                <a:cs typeface="+mn-lt"/>
              </a:rPr>
              <a:t> </a:t>
            </a:r>
            <a:r>
              <a:rPr lang="en-US" sz="1200" b="1" dirty="0" err="1">
                <a:ea typeface="+mn-lt"/>
                <a:cs typeface="+mn-lt"/>
              </a:rPr>
              <a:t>среща</a:t>
            </a:r>
            <a:r>
              <a:rPr lang="en-US" sz="1200" b="1" dirty="0">
                <a:ea typeface="+mn-lt"/>
                <a:cs typeface="+mn-lt"/>
              </a:rPr>
              <a:t> с </a:t>
            </a:r>
            <a:r>
              <a:rPr lang="en-US" sz="1200" b="1" dirty="0" err="1">
                <a:ea typeface="+mn-lt"/>
                <a:cs typeface="+mn-lt"/>
              </a:rPr>
              <a:t>клиент</a:t>
            </a:r>
            <a:endParaRPr lang="en-US" b="1" dirty="0">
              <a:ea typeface="+mn-lt"/>
              <a:cs typeface="+mn-lt"/>
            </a:endParaRPr>
          </a:p>
          <a:p>
            <a:endParaRPr lang="en-US" sz="1200" b="1" dirty="0">
              <a:ea typeface="+mn-lt"/>
              <a:cs typeface="+mn-lt"/>
            </a:endParaRPr>
          </a:p>
          <a:p>
            <a:pPr marL="285750" indent="-285750">
              <a:buFont typeface="Arial"/>
              <a:buChar char="•"/>
            </a:pPr>
            <a:r>
              <a:rPr lang="en-US" sz="1200" b="1" dirty="0" err="1">
                <a:ea typeface="+mn-lt"/>
                <a:cs typeface="+mn-lt"/>
              </a:rPr>
              <a:t>Ясна</a:t>
            </a:r>
            <a:r>
              <a:rPr lang="en-US" sz="1200" b="1" dirty="0">
                <a:ea typeface="+mn-lt"/>
                <a:cs typeface="+mn-lt"/>
              </a:rPr>
              <a:t> </a:t>
            </a:r>
            <a:r>
              <a:rPr lang="en-US" sz="1200" b="1" dirty="0" err="1">
                <a:ea typeface="+mn-lt"/>
                <a:cs typeface="+mn-lt"/>
              </a:rPr>
              <a:t>ли</a:t>
            </a:r>
            <a:r>
              <a:rPr lang="en-US" sz="1200" b="1" dirty="0">
                <a:ea typeface="+mn-lt"/>
                <a:cs typeface="+mn-lt"/>
              </a:rPr>
              <a:t> </a:t>
            </a:r>
            <a:r>
              <a:rPr lang="en-US" sz="1200" b="1" dirty="0" err="1">
                <a:ea typeface="+mn-lt"/>
                <a:cs typeface="+mn-lt"/>
              </a:rPr>
              <a:t>ми</a:t>
            </a:r>
            <a:r>
              <a:rPr lang="en-US" sz="1200" b="1" dirty="0">
                <a:ea typeface="+mn-lt"/>
                <a:cs typeface="+mn-lt"/>
              </a:rPr>
              <a:t> е </a:t>
            </a:r>
            <a:r>
              <a:rPr lang="en-US" sz="1200" b="1" dirty="0" err="1">
                <a:ea typeface="+mn-lt"/>
                <a:cs typeface="+mn-lt"/>
              </a:rPr>
              <a:t>целта</a:t>
            </a:r>
            <a:r>
              <a:rPr lang="en-US" sz="1200" b="1" dirty="0">
                <a:ea typeface="+mn-lt"/>
                <a:cs typeface="+mn-lt"/>
              </a:rPr>
              <a:t> на </a:t>
            </a:r>
            <a:r>
              <a:rPr lang="en-US" sz="1200" b="1" dirty="0" err="1">
                <a:ea typeface="+mn-lt"/>
                <a:cs typeface="+mn-lt"/>
              </a:rPr>
              <a:t>срещата</a:t>
            </a:r>
            <a:r>
              <a:rPr lang="en-US" sz="1200" b="1" dirty="0">
                <a:ea typeface="+mn-lt"/>
                <a:cs typeface="+mn-lt"/>
              </a:rPr>
              <a:t>?</a:t>
            </a:r>
            <a:br>
              <a:rPr lang="en-US" sz="1200" b="1" dirty="0">
                <a:ea typeface="+mn-lt"/>
                <a:cs typeface="+mn-lt"/>
              </a:rPr>
            </a:br>
            <a:r>
              <a:rPr lang="en-US" sz="1200" dirty="0">
                <a:ea typeface="+mn-lt"/>
                <a:cs typeface="+mn-lt"/>
              </a:rPr>
              <a:t> </a:t>
            </a:r>
            <a:r>
              <a:rPr lang="en-US" sz="1200" dirty="0" err="1">
                <a:ea typeface="+mn-lt"/>
                <a:cs typeface="+mn-lt"/>
              </a:rPr>
              <a:t>Знам</a:t>
            </a:r>
            <a:r>
              <a:rPr lang="en-US" sz="1200" dirty="0">
                <a:ea typeface="+mn-lt"/>
                <a:cs typeface="+mn-lt"/>
              </a:rPr>
              <a:t> </a:t>
            </a:r>
            <a:r>
              <a:rPr lang="en-US" sz="1200" dirty="0" err="1">
                <a:ea typeface="+mn-lt"/>
                <a:cs typeface="+mn-lt"/>
              </a:rPr>
              <a:t>ли</a:t>
            </a:r>
            <a:r>
              <a:rPr lang="en-US" sz="1200" dirty="0">
                <a:ea typeface="+mn-lt"/>
                <a:cs typeface="+mn-lt"/>
              </a:rPr>
              <a:t> с </a:t>
            </a:r>
            <a:r>
              <a:rPr lang="en-US" sz="1200" dirty="0" err="1">
                <a:ea typeface="+mn-lt"/>
                <a:cs typeface="+mn-lt"/>
              </a:rPr>
              <a:t>какъв</a:t>
            </a:r>
            <a:r>
              <a:rPr lang="en-US" sz="1200" dirty="0">
                <a:ea typeface="+mn-lt"/>
                <a:cs typeface="+mn-lt"/>
              </a:rPr>
              <a:t> </a:t>
            </a:r>
            <a:r>
              <a:rPr lang="en-US" sz="1200" dirty="0" err="1">
                <a:ea typeface="+mn-lt"/>
                <a:cs typeface="+mn-lt"/>
              </a:rPr>
              <a:t>резултат</a:t>
            </a:r>
            <a:r>
              <a:rPr lang="en-US" sz="1200" dirty="0">
                <a:ea typeface="+mn-lt"/>
                <a:cs typeface="+mn-lt"/>
              </a:rPr>
              <a:t> </a:t>
            </a:r>
            <a:r>
              <a:rPr lang="en-US" sz="1200" dirty="0" err="1">
                <a:ea typeface="+mn-lt"/>
                <a:cs typeface="+mn-lt"/>
              </a:rPr>
              <a:t>искам</a:t>
            </a:r>
            <a:r>
              <a:rPr lang="en-US" sz="1200" dirty="0">
                <a:ea typeface="+mn-lt"/>
                <a:cs typeface="+mn-lt"/>
              </a:rPr>
              <a:t> да си </a:t>
            </a:r>
            <a:r>
              <a:rPr lang="en-US" sz="1200" dirty="0" err="1">
                <a:ea typeface="+mn-lt"/>
                <a:cs typeface="+mn-lt"/>
              </a:rPr>
              <a:t>тръгна</a:t>
            </a:r>
            <a:r>
              <a:rPr lang="en-US" sz="1200" dirty="0">
                <a:ea typeface="+mn-lt"/>
                <a:cs typeface="+mn-lt"/>
              </a:rPr>
              <a:t> от </a:t>
            </a:r>
            <a:r>
              <a:rPr lang="en-US" sz="1200" dirty="0" err="1">
                <a:ea typeface="+mn-lt"/>
                <a:cs typeface="+mn-lt"/>
              </a:rPr>
              <a:t>разговора</a:t>
            </a:r>
            <a:r>
              <a:rPr lang="en-US" sz="1200" dirty="0">
                <a:ea typeface="+mn-lt"/>
                <a:cs typeface="+mn-lt"/>
              </a:rPr>
              <a:t> и </a:t>
            </a:r>
            <a:r>
              <a:rPr lang="en-US" sz="1200" dirty="0" err="1">
                <a:ea typeface="+mn-lt"/>
                <a:cs typeface="+mn-lt"/>
              </a:rPr>
              <a:t>какво</a:t>
            </a:r>
            <a:r>
              <a:rPr lang="en-US" sz="1200" dirty="0">
                <a:ea typeface="+mn-lt"/>
                <a:cs typeface="+mn-lt"/>
              </a:rPr>
              <a:t> </a:t>
            </a:r>
            <a:r>
              <a:rPr lang="en-US" sz="1200" dirty="0" err="1">
                <a:ea typeface="+mn-lt"/>
                <a:cs typeface="+mn-lt"/>
              </a:rPr>
              <a:t>конкретно</a:t>
            </a:r>
            <a:r>
              <a:rPr lang="en-US" sz="1200" dirty="0">
                <a:ea typeface="+mn-lt"/>
                <a:cs typeface="+mn-lt"/>
              </a:rPr>
              <a:t> </a:t>
            </a:r>
            <a:r>
              <a:rPr lang="en-US" sz="1200" dirty="0" err="1">
                <a:ea typeface="+mn-lt"/>
                <a:cs typeface="+mn-lt"/>
              </a:rPr>
              <a:t>искам</a:t>
            </a:r>
            <a:r>
              <a:rPr lang="en-US" sz="1200" dirty="0">
                <a:ea typeface="+mn-lt"/>
                <a:cs typeface="+mn-lt"/>
              </a:rPr>
              <a:t> да </a:t>
            </a:r>
            <a:r>
              <a:rPr lang="en-US" sz="1200" dirty="0" err="1">
                <a:ea typeface="+mn-lt"/>
                <a:cs typeface="+mn-lt"/>
              </a:rPr>
              <a:t>постигна</a:t>
            </a:r>
            <a:r>
              <a:rPr lang="en-US" sz="1200" dirty="0">
                <a:ea typeface="+mn-lt"/>
                <a:cs typeface="+mn-lt"/>
              </a:rPr>
              <a:t> с </a:t>
            </a:r>
            <a:r>
              <a:rPr lang="en-US" sz="1200" dirty="0" err="1">
                <a:ea typeface="+mn-lt"/>
                <a:cs typeface="+mn-lt"/>
              </a:rPr>
              <a:t>клиента</a:t>
            </a:r>
            <a:r>
              <a:rPr lang="en-US" sz="1200" dirty="0">
                <a:ea typeface="+mn-lt"/>
                <a:cs typeface="+mn-lt"/>
              </a:rPr>
              <a:t>. </a:t>
            </a:r>
            <a:endParaRPr lang="en-US" dirty="0">
              <a:ea typeface="+mn-lt"/>
              <a:cs typeface="+mn-lt"/>
            </a:endParaRPr>
          </a:p>
          <a:p>
            <a:pPr marL="285750" indent="-285750">
              <a:buFont typeface="Arial"/>
              <a:buChar char="•"/>
            </a:pPr>
            <a:r>
              <a:rPr lang="en-US" sz="1200" b="1" dirty="0" err="1">
                <a:ea typeface="+mn-lt"/>
                <a:cs typeface="+mn-lt"/>
              </a:rPr>
              <a:t>Подготвил</a:t>
            </a:r>
            <a:r>
              <a:rPr lang="en-US" sz="1200" b="1" dirty="0">
                <a:ea typeface="+mn-lt"/>
                <a:cs typeface="+mn-lt"/>
              </a:rPr>
              <a:t>/а </a:t>
            </a:r>
            <a:r>
              <a:rPr lang="en-US" sz="1200" b="1" dirty="0" err="1">
                <a:ea typeface="+mn-lt"/>
                <a:cs typeface="+mn-lt"/>
              </a:rPr>
              <a:t>ли</a:t>
            </a:r>
            <a:r>
              <a:rPr lang="en-US" sz="1200" b="1" dirty="0">
                <a:ea typeface="+mn-lt"/>
                <a:cs typeface="+mn-lt"/>
              </a:rPr>
              <a:t> </a:t>
            </a:r>
            <a:r>
              <a:rPr lang="en-US" sz="1200" b="1" dirty="0" err="1">
                <a:ea typeface="+mn-lt"/>
                <a:cs typeface="+mn-lt"/>
              </a:rPr>
              <a:t>съм</a:t>
            </a:r>
            <a:r>
              <a:rPr lang="en-US" sz="1200" b="1" dirty="0">
                <a:ea typeface="+mn-lt"/>
                <a:cs typeface="+mn-lt"/>
              </a:rPr>
              <a:t> </a:t>
            </a:r>
            <a:r>
              <a:rPr lang="en-US" sz="1200" b="1" dirty="0" err="1">
                <a:ea typeface="+mn-lt"/>
                <a:cs typeface="+mn-lt"/>
              </a:rPr>
              <a:t>подхода</a:t>
            </a:r>
            <a:r>
              <a:rPr lang="en-US" sz="1200" b="1" dirty="0">
                <a:ea typeface="+mn-lt"/>
                <a:cs typeface="+mn-lt"/>
              </a:rPr>
              <a:t> според </a:t>
            </a:r>
            <a:r>
              <a:rPr lang="en-US" sz="1200" b="1" dirty="0" err="1">
                <a:ea typeface="+mn-lt"/>
                <a:cs typeface="+mn-lt"/>
              </a:rPr>
              <a:t>типа</a:t>
            </a:r>
            <a:r>
              <a:rPr lang="en-US" sz="1200" b="1" dirty="0">
                <a:ea typeface="+mn-lt"/>
                <a:cs typeface="+mn-lt"/>
              </a:rPr>
              <a:t> </a:t>
            </a:r>
            <a:r>
              <a:rPr lang="en-US" sz="1200" b="1" dirty="0" err="1">
                <a:ea typeface="+mn-lt"/>
                <a:cs typeface="+mn-lt"/>
              </a:rPr>
              <a:t>клиент</a:t>
            </a:r>
            <a:r>
              <a:rPr lang="en-US" sz="1200" b="1" dirty="0">
                <a:ea typeface="+mn-lt"/>
                <a:cs typeface="+mn-lt"/>
              </a:rPr>
              <a:t>?</a:t>
            </a:r>
            <a:br>
              <a:rPr lang="en-US" sz="1200" b="1" dirty="0">
                <a:ea typeface="+mn-lt"/>
                <a:cs typeface="+mn-lt"/>
              </a:rPr>
            </a:br>
            <a:r>
              <a:rPr lang="en-US" sz="1200" dirty="0">
                <a:ea typeface="+mn-lt"/>
                <a:cs typeface="+mn-lt"/>
              </a:rPr>
              <a:t> </a:t>
            </a:r>
            <a:r>
              <a:rPr lang="en-US" sz="1200" dirty="0" err="1">
                <a:ea typeface="+mn-lt"/>
                <a:cs typeface="+mn-lt"/>
              </a:rPr>
              <a:t>Съобразил</a:t>
            </a:r>
            <a:r>
              <a:rPr lang="en-US" sz="1200" dirty="0">
                <a:ea typeface="+mn-lt"/>
                <a:cs typeface="+mn-lt"/>
              </a:rPr>
              <a:t>/а </a:t>
            </a:r>
            <a:r>
              <a:rPr lang="en-US" sz="1200" dirty="0" err="1">
                <a:ea typeface="+mn-lt"/>
                <a:cs typeface="+mn-lt"/>
              </a:rPr>
              <a:t>ли</a:t>
            </a:r>
            <a:r>
              <a:rPr lang="en-US" sz="1200" dirty="0">
                <a:ea typeface="+mn-lt"/>
                <a:cs typeface="+mn-lt"/>
              </a:rPr>
              <a:t> </a:t>
            </a:r>
            <a:r>
              <a:rPr lang="en-US" sz="1200" dirty="0" err="1">
                <a:ea typeface="+mn-lt"/>
                <a:cs typeface="+mn-lt"/>
              </a:rPr>
              <a:t>съм</a:t>
            </a:r>
            <a:r>
              <a:rPr lang="en-US" sz="1200" dirty="0">
                <a:ea typeface="+mn-lt"/>
                <a:cs typeface="+mn-lt"/>
              </a:rPr>
              <a:t> </a:t>
            </a:r>
            <a:r>
              <a:rPr lang="en-US" sz="1200" dirty="0" err="1">
                <a:ea typeface="+mn-lt"/>
                <a:cs typeface="+mn-lt"/>
              </a:rPr>
              <a:t>дали</a:t>
            </a:r>
            <a:r>
              <a:rPr lang="en-US" sz="1200" dirty="0">
                <a:ea typeface="+mn-lt"/>
                <a:cs typeface="+mn-lt"/>
              </a:rPr>
              <a:t> </a:t>
            </a:r>
            <a:r>
              <a:rPr lang="en-US" sz="1200" dirty="0" err="1">
                <a:ea typeface="+mn-lt"/>
                <a:cs typeface="+mn-lt"/>
              </a:rPr>
              <a:t>клиентът</a:t>
            </a:r>
            <a:r>
              <a:rPr lang="en-US" sz="1200" dirty="0">
                <a:ea typeface="+mn-lt"/>
                <a:cs typeface="+mn-lt"/>
              </a:rPr>
              <a:t> е по-</a:t>
            </a:r>
            <a:r>
              <a:rPr lang="en-US" sz="1200" dirty="0" err="1">
                <a:ea typeface="+mn-lt"/>
                <a:cs typeface="+mn-lt"/>
              </a:rPr>
              <a:t>аналитичен</a:t>
            </a:r>
            <a:r>
              <a:rPr lang="en-US" sz="1200" dirty="0">
                <a:ea typeface="+mn-lt"/>
                <a:cs typeface="+mn-lt"/>
              </a:rPr>
              <a:t>, </a:t>
            </a:r>
            <a:r>
              <a:rPr lang="en-US" sz="1200" dirty="0" err="1">
                <a:ea typeface="+mn-lt"/>
                <a:cs typeface="+mn-lt"/>
              </a:rPr>
              <a:t>подозрителен</a:t>
            </a:r>
            <a:r>
              <a:rPr lang="en-US" sz="1200" dirty="0">
                <a:ea typeface="+mn-lt"/>
                <a:cs typeface="+mn-lt"/>
              </a:rPr>
              <a:t>, </a:t>
            </a:r>
            <a:r>
              <a:rPr lang="en-US" sz="1200" dirty="0" err="1">
                <a:ea typeface="+mn-lt"/>
                <a:cs typeface="+mn-lt"/>
              </a:rPr>
              <a:t>нерешителен</a:t>
            </a:r>
            <a:r>
              <a:rPr lang="en-US" sz="1200" dirty="0">
                <a:ea typeface="+mn-lt"/>
                <a:cs typeface="+mn-lt"/>
              </a:rPr>
              <a:t>, </a:t>
            </a:r>
            <a:r>
              <a:rPr lang="en-US" sz="1200" dirty="0" err="1">
                <a:ea typeface="+mn-lt"/>
                <a:cs typeface="+mn-lt"/>
              </a:rPr>
              <a:t>импулсивен</a:t>
            </a:r>
            <a:r>
              <a:rPr lang="en-US" sz="1200" dirty="0">
                <a:ea typeface="+mn-lt"/>
                <a:cs typeface="+mn-lt"/>
              </a:rPr>
              <a:t> или </a:t>
            </a:r>
            <a:r>
              <a:rPr lang="en-US" sz="1200" dirty="0" err="1">
                <a:ea typeface="+mn-lt"/>
                <a:cs typeface="+mn-lt"/>
              </a:rPr>
              <a:t>търсещ</a:t>
            </a:r>
            <a:r>
              <a:rPr lang="en-US" sz="1200" dirty="0">
                <a:ea typeface="+mn-lt"/>
                <a:cs typeface="+mn-lt"/>
              </a:rPr>
              <a:t> </a:t>
            </a:r>
            <a:r>
              <a:rPr lang="en-US" sz="1200" dirty="0" err="1">
                <a:ea typeface="+mn-lt"/>
                <a:cs typeface="+mn-lt"/>
              </a:rPr>
              <a:t>специално</a:t>
            </a:r>
            <a:r>
              <a:rPr lang="en-US" sz="1200" dirty="0">
                <a:ea typeface="+mn-lt"/>
                <a:cs typeface="+mn-lt"/>
              </a:rPr>
              <a:t> </a:t>
            </a:r>
            <a:r>
              <a:rPr lang="en-US" sz="1200" dirty="0" err="1">
                <a:ea typeface="+mn-lt"/>
                <a:cs typeface="+mn-lt"/>
              </a:rPr>
              <a:t>отношение</a:t>
            </a:r>
            <a:r>
              <a:rPr lang="en-US" sz="1200" dirty="0">
                <a:ea typeface="+mn-lt"/>
                <a:cs typeface="+mn-lt"/>
              </a:rPr>
              <a:t>, за да </a:t>
            </a:r>
            <a:r>
              <a:rPr lang="en-US" sz="1200" dirty="0" err="1">
                <a:ea typeface="+mn-lt"/>
                <a:cs typeface="+mn-lt"/>
              </a:rPr>
              <a:t>избера</a:t>
            </a:r>
            <a:r>
              <a:rPr lang="en-US" sz="1200" dirty="0">
                <a:ea typeface="+mn-lt"/>
                <a:cs typeface="+mn-lt"/>
              </a:rPr>
              <a:t> </a:t>
            </a:r>
            <a:r>
              <a:rPr lang="en-US" sz="1200" dirty="0" err="1">
                <a:ea typeface="+mn-lt"/>
                <a:cs typeface="+mn-lt"/>
              </a:rPr>
              <a:t>правилния</a:t>
            </a:r>
            <a:r>
              <a:rPr lang="en-US" sz="1200" dirty="0">
                <a:ea typeface="+mn-lt"/>
                <a:cs typeface="+mn-lt"/>
              </a:rPr>
              <a:t> </a:t>
            </a:r>
            <a:r>
              <a:rPr lang="en-US" sz="1200" dirty="0" err="1">
                <a:ea typeface="+mn-lt"/>
                <a:cs typeface="+mn-lt"/>
              </a:rPr>
              <a:t>тон</a:t>
            </a:r>
            <a:r>
              <a:rPr lang="en-US" sz="1200" dirty="0">
                <a:ea typeface="+mn-lt"/>
                <a:cs typeface="+mn-lt"/>
              </a:rPr>
              <a:t>, </a:t>
            </a:r>
            <a:r>
              <a:rPr lang="en-US" sz="1200" dirty="0" err="1">
                <a:ea typeface="+mn-lt"/>
                <a:cs typeface="+mn-lt"/>
              </a:rPr>
              <a:t>темпо</a:t>
            </a:r>
            <a:r>
              <a:rPr lang="en-US" sz="1200" dirty="0">
                <a:ea typeface="+mn-lt"/>
                <a:cs typeface="+mn-lt"/>
              </a:rPr>
              <a:t> и </a:t>
            </a:r>
            <a:r>
              <a:rPr lang="en-US" sz="1200" dirty="0" err="1">
                <a:ea typeface="+mn-lt"/>
                <a:cs typeface="+mn-lt"/>
              </a:rPr>
              <a:t>начин</a:t>
            </a:r>
            <a:r>
              <a:rPr lang="en-US" sz="1200" dirty="0">
                <a:ea typeface="+mn-lt"/>
                <a:cs typeface="+mn-lt"/>
              </a:rPr>
              <a:t> на </a:t>
            </a:r>
            <a:r>
              <a:rPr lang="en-US" sz="1200" dirty="0" err="1">
                <a:ea typeface="+mn-lt"/>
                <a:cs typeface="+mn-lt"/>
              </a:rPr>
              <a:t>комуникация</a:t>
            </a:r>
            <a:r>
              <a:rPr lang="en-US" sz="1200" dirty="0">
                <a:ea typeface="+mn-lt"/>
                <a:cs typeface="+mn-lt"/>
              </a:rPr>
              <a:t>. </a:t>
            </a:r>
            <a:endParaRPr lang="en-US" dirty="0">
              <a:ea typeface="+mn-lt"/>
              <a:cs typeface="+mn-lt"/>
            </a:endParaRPr>
          </a:p>
          <a:p>
            <a:pPr marL="285750" indent="-285750">
              <a:buFont typeface="Arial"/>
              <a:buChar char="•"/>
            </a:pPr>
            <a:r>
              <a:rPr lang="en-US" sz="1200" b="1" dirty="0" err="1">
                <a:ea typeface="+mn-lt"/>
                <a:cs typeface="+mn-lt"/>
              </a:rPr>
              <a:t>Подготвил</a:t>
            </a:r>
            <a:r>
              <a:rPr lang="en-US" sz="1200" b="1" dirty="0">
                <a:ea typeface="+mn-lt"/>
                <a:cs typeface="+mn-lt"/>
              </a:rPr>
              <a:t>/а </a:t>
            </a:r>
            <a:r>
              <a:rPr lang="en-US" sz="1200" b="1" dirty="0" err="1">
                <a:ea typeface="+mn-lt"/>
                <a:cs typeface="+mn-lt"/>
              </a:rPr>
              <a:t>ли</a:t>
            </a:r>
            <a:r>
              <a:rPr lang="en-US" sz="1200" b="1" dirty="0">
                <a:ea typeface="+mn-lt"/>
                <a:cs typeface="+mn-lt"/>
              </a:rPr>
              <a:t> </a:t>
            </a:r>
            <a:r>
              <a:rPr lang="en-US" sz="1200" b="1" dirty="0" err="1">
                <a:ea typeface="+mn-lt"/>
                <a:cs typeface="+mn-lt"/>
              </a:rPr>
              <a:t>съм</a:t>
            </a:r>
            <a:r>
              <a:rPr lang="en-US" sz="1200" b="1" dirty="0">
                <a:ea typeface="+mn-lt"/>
                <a:cs typeface="+mn-lt"/>
              </a:rPr>
              <a:t> </a:t>
            </a:r>
            <a:r>
              <a:rPr lang="en-US" sz="1200" b="1" dirty="0" err="1">
                <a:ea typeface="+mn-lt"/>
                <a:cs typeface="+mn-lt"/>
              </a:rPr>
              <a:t>конкретното</a:t>
            </a:r>
            <a:r>
              <a:rPr lang="en-US" sz="1200" b="1" dirty="0">
                <a:ea typeface="+mn-lt"/>
                <a:cs typeface="+mn-lt"/>
              </a:rPr>
              <a:t> </a:t>
            </a:r>
            <a:r>
              <a:rPr lang="en-US" sz="1200" b="1" dirty="0" err="1">
                <a:ea typeface="+mn-lt"/>
                <a:cs typeface="+mn-lt"/>
              </a:rPr>
              <a:t>предложение</a:t>
            </a:r>
            <a:r>
              <a:rPr lang="en-US" sz="1200" b="1" dirty="0">
                <a:ea typeface="+mn-lt"/>
                <a:cs typeface="+mn-lt"/>
              </a:rPr>
              <a:t>?</a:t>
            </a:r>
            <a:br>
              <a:rPr lang="en-US" sz="1200" b="1" dirty="0">
                <a:ea typeface="+mn-lt"/>
                <a:cs typeface="+mn-lt"/>
              </a:rPr>
            </a:br>
            <a:r>
              <a:rPr lang="en-US" sz="1200" dirty="0">
                <a:ea typeface="+mn-lt"/>
                <a:cs typeface="+mn-lt"/>
              </a:rPr>
              <a:t> </a:t>
            </a:r>
            <a:r>
              <a:rPr lang="en-US" sz="1200" dirty="0" err="1">
                <a:ea typeface="+mn-lt"/>
                <a:cs typeface="+mn-lt"/>
              </a:rPr>
              <a:t>Знам</a:t>
            </a:r>
            <a:r>
              <a:rPr lang="en-US" sz="1200" dirty="0">
                <a:ea typeface="+mn-lt"/>
                <a:cs typeface="+mn-lt"/>
              </a:rPr>
              <a:t> </a:t>
            </a:r>
            <a:r>
              <a:rPr lang="en-US" sz="1200" dirty="0" err="1">
                <a:ea typeface="+mn-lt"/>
                <a:cs typeface="+mn-lt"/>
              </a:rPr>
              <a:t>ли</a:t>
            </a:r>
            <a:r>
              <a:rPr lang="en-US" sz="1200" dirty="0">
                <a:ea typeface="+mn-lt"/>
                <a:cs typeface="+mn-lt"/>
              </a:rPr>
              <a:t> </a:t>
            </a:r>
            <a:r>
              <a:rPr lang="en-US" sz="1200" dirty="0" err="1">
                <a:ea typeface="+mn-lt"/>
                <a:cs typeface="+mn-lt"/>
              </a:rPr>
              <a:t>какво</a:t>
            </a:r>
            <a:r>
              <a:rPr lang="en-US" sz="1200" dirty="0">
                <a:ea typeface="+mn-lt"/>
                <a:cs typeface="+mn-lt"/>
              </a:rPr>
              <a:t> </a:t>
            </a:r>
            <a:r>
              <a:rPr lang="en-US" sz="1200" dirty="0" err="1">
                <a:ea typeface="+mn-lt"/>
                <a:cs typeface="+mn-lt"/>
              </a:rPr>
              <a:t>точно</a:t>
            </a:r>
            <a:r>
              <a:rPr lang="en-US" sz="1200" dirty="0">
                <a:ea typeface="+mn-lt"/>
                <a:cs typeface="+mn-lt"/>
              </a:rPr>
              <a:t> </a:t>
            </a:r>
            <a:r>
              <a:rPr lang="en-US" sz="1200" dirty="0" err="1">
                <a:ea typeface="+mn-lt"/>
                <a:cs typeface="+mn-lt"/>
              </a:rPr>
              <a:t>ще</a:t>
            </a:r>
            <a:r>
              <a:rPr lang="en-US" sz="1200" dirty="0">
                <a:ea typeface="+mn-lt"/>
                <a:cs typeface="+mn-lt"/>
              </a:rPr>
              <a:t> </a:t>
            </a:r>
            <a:r>
              <a:rPr lang="en-US" sz="1200" dirty="0" err="1">
                <a:ea typeface="+mn-lt"/>
                <a:cs typeface="+mn-lt"/>
              </a:rPr>
              <a:t>предложа</a:t>
            </a:r>
            <a:r>
              <a:rPr lang="en-US" sz="1200" dirty="0">
                <a:ea typeface="+mn-lt"/>
                <a:cs typeface="+mn-lt"/>
              </a:rPr>
              <a:t>, </a:t>
            </a:r>
            <a:r>
              <a:rPr lang="en-US" sz="1200" dirty="0" err="1">
                <a:ea typeface="+mn-lt"/>
                <a:cs typeface="+mn-lt"/>
              </a:rPr>
              <a:t>какви</a:t>
            </a:r>
            <a:r>
              <a:rPr lang="en-US" sz="1200" dirty="0">
                <a:ea typeface="+mn-lt"/>
                <a:cs typeface="+mn-lt"/>
              </a:rPr>
              <a:t> </a:t>
            </a:r>
            <a:r>
              <a:rPr lang="en-US" sz="1200" dirty="0" err="1">
                <a:ea typeface="+mn-lt"/>
                <a:cs typeface="+mn-lt"/>
              </a:rPr>
              <a:t>са</a:t>
            </a:r>
            <a:r>
              <a:rPr lang="en-US" sz="1200" dirty="0">
                <a:ea typeface="+mn-lt"/>
                <a:cs typeface="+mn-lt"/>
              </a:rPr>
              <a:t> </a:t>
            </a:r>
            <a:r>
              <a:rPr lang="en-US" sz="1200" dirty="0" err="1">
                <a:ea typeface="+mn-lt"/>
                <a:cs typeface="+mn-lt"/>
              </a:rPr>
              <a:t>параметрите</a:t>
            </a:r>
            <a:r>
              <a:rPr lang="en-US" sz="1200" dirty="0">
                <a:ea typeface="+mn-lt"/>
                <a:cs typeface="+mn-lt"/>
              </a:rPr>
              <a:t> и </a:t>
            </a:r>
            <a:r>
              <a:rPr lang="en-US" sz="1200" dirty="0" err="1">
                <a:ea typeface="+mn-lt"/>
                <a:cs typeface="+mn-lt"/>
              </a:rPr>
              <a:t>как</a:t>
            </a:r>
            <a:r>
              <a:rPr lang="en-US" sz="1200" dirty="0">
                <a:ea typeface="+mn-lt"/>
                <a:cs typeface="+mn-lt"/>
              </a:rPr>
              <a:t> </a:t>
            </a:r>
            <a:r>
              <a:rPr lang="en-US" sz="1200" dirty="0" err="1">
                <a:ea typeface="+mn-lt"/>
                <a:cs typeface="+mn-lt"/>
              </a:rPr>
              <a:t>ще</a:t>
            </a:r>
            <a:r>
              <a:rPr lang="en-US" sz="1200" dirty="0">
                <a:ea typeface="+mn-lt"/>
                <a:cs typeface="+mn-lt"/>
              </a:rPr>
              <a:t> го </a:t>
            </a:r>
            <a:r>
              <a:rPr lang="en-US" sz="1200" dirty="0" err="1">
                <a:ea typeface="+mn-lt"/>
                <a:cs typeface="+mn-lt"/>
              </a:rPr>
              <a:t>обясня</a:t>
            </a:r>
            <a:r>
              <a:rPr lang="en-US" sz="1200" dirty="0">
                <a:ea typeface="+mn-lt"/>
                <a:cs typeface="+mn-lt"/>
              </a:rPr>
              <a:t> </a:t>
            </a:r>
            <a:r>
              <a:rPr lang="en-US" sz="1200" dirty="0" err="1">
                <a:ea typeface="+mn-lt"/>
                <a:cs typeface="+mn-lt"/>
              </a:rPr>
              <a:t>кратко</a:t>
            </a:r>
            <a:r>
              <a:rPr lang="en-US" sz="1200" dirty="0">
                <a:ea typeface="+mn-lt"/>
                <a:cs typeface="+mn-lt"/>
              </a:rPr>
              <a:t>, </a:t>
            </a:r>
            <a:r>
              <a:rPr lang="en-US" sz="1200" dirty="0" err="1">
                <a:ea typeface="+mn-lt"/>
                <a:cs typeface="+mn-lt"/>
              </a:rPr>
              <a:t>ясно</a:t>
            </a:r>
            <a:r>
              <a:rPr lang="en-US" sz="1200" dirty="0">
                <a:ea typeface="+mn-lt"/>
                <a:cs typeface="+mn-lt"/>
              </a:rPr>
              <a:t> и </a:t>
            </a:r>
            <a:r>
              <a:rPr lang="en-US" sz="1200" dirty="0" err="1">
                <a:ea typeface="+mn-lt"/>
                <a:cs typeface="+mn-lt"/>
              </a:rPr>
              <a:t>разбираемо</a:t>
            </a:r>
            <a:r>
              <a:rPr lang="en-US" sz="1200" dirty="0">
                <a:ea typeface="+mn-lt"/>
                <a:cs typeface="+mn-lt"/>
              </a:rPr>
              <a:t> за </a:t>
            </a:r>
            <a:r>
              <a:rPr lang="en-US" sz="1200" dirty="0" err="1">
                <a:ea typeface="+mn-lt"/>
                <a:cs typeface="+mn-lt"/>
              </a:rPr>
              <a:t>клиента</a:t>
            </a:r>
            <a:r>
              <a:rPr lang="en-US" sz="1200" dirty="0">
                <a:ea typeface="+mn-lt"/>
                <a:cs typeface="+mn-lt"/>
              </a:rPr>
              <a:t>.</a:t>
            </a:r>
            <a:endParaRPr lang="bg-BG" sz="1200" dirty="0">
              <a:ea typeface="+mn-lt"/>
              <a:cs typeface="+mn-lt"/>
            </a:endParaRPr>
          </a:p>
          <a:p>
            <a:pPr marL="285750" indent="-285750">
              <a:buFont typeface="Arial"/>
              <a:buChar char="•"/>
            </a:pPr>
            <a:r>
              <a:rPr lang="ru-RU" sz="1200" b="1" dirty="0" err="1"/>
              <a:t>Помислил</a:t>
            </a:r>
            <a:r>
              <a:rPr lang="ru-RU" sz="1200" b="1" dirty="0"/>
              <a:t> ли </a:t>
            </a:r>
            <a:r>
              <a:rPr lang="ru-RU" sz="1200" b="1" dirty="0" err="1"/>
              <a:t>съм</a:t>
            </a:r>
            <a:r>
              <a:rPr lang="ru-RU" sz="1200" b="1" dirty="0"/>
              <a:t> за </a:t>
            </a:r>
            <a:r>
              <a:rPr lang="ru-RU" sz="1200" b="1" dirty="0" err="1"/>
              <a:t>възможни</a:t>
            </a:r>
            <a:r>
              <a:rPr lang="ru-RU" sz="1200" b="1" dirty="0"/>
              <a:t> </a:t>
            </a:r>
            <a:r>
              <a:rPr lang="ru-RU" sz="1200" b="1" dirty="0" err="1"/>
              <a:t>възражения</a:t>
            </a:r>
            <a:r>
              <a:rPr lang="ru-RU" sz="1200" b="1" dirty="0"/>
              <a:t> от страна на Клиента?</a:t>
            </a:r>
            <a:r>
              <a:rPr lang="en-US" sz="1200" dirty="0">
                <a:ea typeface="+mn-lt"/>
                <a:cs typeface="+mn-lt"/>
              </a:rPr>
              <a:t> </a:t>
            </a:r>
            <a:endParaRPr lang="en-US" dirty="0">
              <a:ea typeface="+mn-lt"/>
              <a:cs typeface="+mn-lt"/>
            </a:endParaRPr>
          </a:p>
          <a:p>
            <a:pPr marL="285750" indent="-285750">
              <a:buFont typeface="Arial"/>
              <a:buChar char="•"/>
            </a:pPr>
            <a:r>
              <a:rPr lang="en-US" sz="1200" b="1" dirty="0" err="1">
                <a:ea typeface="+mn-lt"/>
                <a:cs typeface="+mn-lt"/>
              </a:rPr>
              <a:t>Подготвил</a:t>
            </a:r>
            <a:r>
              <a:rPr lang="en-US" sz="1200" b="1" dirty="0">
                <a:ea typeface="+mn-lt"/>
                <a:cs typeface="+mn-lt"/>
              </a:rPr>
              <a:t>/а </a:t>
            </a:r>
            <a:r>
              <a:rPr lang="en-US" sz="1200" b="1" dirty="0" err="1">
                <a:ea typeface="+mn-lt"/>
                <a:cs typeface="+mn-lt"/>
              </a:rPr>
              <a:t>ли</a:t>
            </a:r>
            <a:r>
              <a:rPr lang="en-US" sz="1200" b="1" dirty="0">
                <a:ea typeface="+mn-lt"/>
                <a:cs typeface="+mn-lt"/>
              </a:rPr>
              <a:t> </a:t>
            </a:r>
            <a:r>
              <a:rPr lang="en-US" sz="1200" b="1" dirty="0" err="1">
                <a:ea typeface="+mn-lt"/>
                <a:cs typeface="+mn-lt"/>
              </a:rPr>
              <a:t>съм</a:t>
            </a:r>
            <a:r>
              <a:rPr lang="en-US" sz="1200" b="1" dirty="0">
                <a:ea typeface="+mn-lt"/>
                <a:cs typeface="+mn-lt"/>
              </a:rPr>
              <a:t> </a:t>
            </a:r>
            <a:r>
              <a:rPr lang="en-US" sz="1200" b="1" dirty="0" err="1">
                <a:ea typeface="+mn-lt"/>
                <a:cs typeface="+mn-lt"/>
              </a:rPr>
              <a:t>нужната</a:t>
            </a:r>
            <a:r>
              <a:rPr lang="en-US" sz="1200" b="1" dirty="0">
                <a:ea typeface="+mn-lt"/>
                <a:cs typeface="+mn-lt"/>
              </a:rPr>
              <a:t> </a:t>
            </a:r>
            <a:r>
              <a:rPr lang="en-US" sz="1200" b="1" dirty="0" err="1">
                <a:ea typeface="+mn-lt"/>
                <a:cs typeface="+mn-lt"/>
              </a:rPr>
              <a:t>информация</a:t>
            </a:r>
            <a:r>
              <a:rPr lang="en-US" sz="1200" b="1" dirty="0">
                <a:ea typeface="+mn-lt"/>
                <a:cs typeface="+mn-lt"/>
              </a:rPr>
              <a:t> и </a:t>
            </a:r>
            <a:r>
              <a:rPr lang="en-US" sz="1200" b="1" dirty="0" err="1">
                <a:ea typeface="+mn-lt"/>
                <a:cs typeface="+mn-lt"/>
              </a:rPr>
              <a:t>документи</a:t>
            </a:r>
            <a:r>
              <a:rPr lang="en-US" sz="1200" b="1" dirty="0">
                <a:ea typeface="+mn-lt"/>
                <a:cs typeface="+mn-lt"/>
              </a:rPr>
              <a:t>?</a:t>
            </a:r>
            <a:br>
              <a:rPr lang="en-US" sz="1200" b="1" dirty="0">
                <a:ea typeface="+mn-lt"/>
                <a:cs typeface="+mn-lt"/>
              </a:rPr>
            </a:br>
            <a:r>
              <a:rPr lang="en-US" sz="1200" dirty="0">
                <a:ea typeface="+mn-lt"/>
                <a:cs typeface="+mn-lt"/>
              </a:rPr>
              <a:t> </a:t>
            </a:r>
            <a:r>
              <a:rPr lang="en-US" sz="1200" dirty="0" err="1">
                <a:ea typeface="+mn-lt"/>
                <a:cs typeface="+mn-lt"/>
              </a:rPr>
              <a:t>Знам</a:t>
            </a:r>
            <a:r>
              <a:rPr lang="en-US" sz="1200" dirty="0">
                <a:ea typeface="+mn-lt"/>
                <a:cs typeface="+mn-lt"/>
              </a:rPr>
              <a:t> </a:t>
            </a:r>
            <a:r>
              <a:rPr lang="en-US" sz="1200" dirty="0" err="1">
                <a:ea typeface="+mn-lt"/>
                <a:cs typeface="+mn-lt"/>
              </a:rPr>
              <a:t>ли</a:t>
            </a:r>
            <a:r>
              <a:rPr lang="en-US" sz="1200" dirty="0">
                <a:ea typeface="+mn-lt"/>
                <a:cs typeface="+mn-lt"/>
              </a:rPr>
              <a:t> </a:t>
            </a:r>
            <a:r>
              <a:rPr lang="en-US" sz="1200" dirty="0" err="1">
                <a:ea typeface="+mn-lt"/>
                <a:cs typeface="+mn-lt"/>
              </a:rPr>
              <a:t>каква</a:t>
            </a:r>
            <a:r>
              <a:rPr lang="en-US" sz="1200" dirty="0">
                <a:ea typeface="+mn-lt"/>
                <a:cs typeface="+mn-lt"/>
              </a:rPr>
              <a:t> </a:t>
            </a:r>
            <a:r>
              <a:rPr lang="en-US" sz="1200" dirty="0" err="1">
                <a:ea typeface="+mn-lt"/>
                <a:cs typeface="+mn-lt"/>
              </a:rPr>
              <a:t>информация</a:t>
            </a:r>
            <a:r>
              <a:rPr lang="en-US" sz="1200" dirty="0">
                <a:ea typeface="+mn-lt"/>
                <a:cs typeface="+mn-lt"/>
              </a:rPr>
              <a:t> </a:t>
            </a:r>
            <a:r>
              <a:rPr lang="en-US" sz="1200" dirty="0" err="1">
                <a:ea typeface="+mn-lt"/>
                <a:cs typeface="+mn-lt"/>
              </a:rPr>
              <a:t>трябва</a:t>
            </a:r>
            <a:r>
              <a:rPr lang="en-US" sz="1200" dirty="0">
                <a:ea typeface="+mn-lt"/>
                <a:cs typeface="+mn-lt"/>
              </a:rPr>
              <a:t> да </a:t>
            </a:r>
            <a:r>
              <a:rPr lang="en-US" sz="1200" dirty="0" err="1">
                <a:ea typeface="+mn-lt"/>
                <a:cs typeface="+mn-lt"/>
              </a:rPr>
              <a:t>събера</a:t>
            </a:r>
            <a:r>
              <a:rPr lang="en-US" sz="1200" dirty="0">
                <a:ea typeface="+mn-lt"/>
                <a:cs typeface="+mn-lt"/>
              </a:rPr>
              <a:t>, </a:t>
            </a:r>
            <a:r>
              <a:rPr lang="en-US" sz="1200" dirty="0" err="1">
                <a:ea typeface="+mn-lt"/>
                <a:cs typeface="+mn-lt"/>
              </a:rPr>
              <a:t>какво</a:t>
            </a:r>
            <a:r>
              <a:rPr lang="en-US" sz="1200" dirty="0">
                <a:ea typeface="+mn-lt"/>
                <a:cs typeface="+mn-lt"/>
              </a:rPr>
              <a:t> </a:t>
            </a:r>
            <a:r>
              <a:rPr lang="en-US" sz="1200" dirty="0" err="1">
                <a:ea typeface="+mn-lt"/>
                <a:cs typeface="+mn-lt"/>
              </a:rPr>
              <a:t>трябва</a:t>
            </a:r>
            <a:r>
              <a:rPr lang="en-US" sz="1200" dirty="0">
                <a:ea typeface="+mn-lt"/>
                <a:cs typeface="+mn-lt"/>
              </a:rPr>
              <a:t> да се </a:t>
            </a:r>
            <a:r>
              <a:rPr lang="en-US" sz="1200" dirty="0" err="1">
                <a:ea typeface="+mn-lt"/>
                <a:cs typeface="+mn-lt"/>
              </a:rPr>
              <a:t>попълни</a:t>
            </a:r>
            <a:r>
              <a:rPr lang="en-US" sz="1200" dirty="0">
                <a:ea typeface="+mn-lt"/>
                <a:cs typeface="+mn-lt"/>
              </a:rPr>
              <a:t> и </a:t>
            </a:r>
            <a:r>
              <a:rPr lang="en-US" sz="1200" dirty="0" err="1">
                <a:ea typeface="+mn-lt"/>
                <a:cs typeface="+mn-lt"/>
              </a:rPr>
              <a:t>какви</a:t>
            </a:r>
            <a:r>
              <a:rPr lang="en-US" sz="1200" dirty="0">
                <a:ea typeface="+mn-lt"/>
                <a:cs typeface="+mn-lt"/>
              </a:rPr>
              <a:t> </a:t>
            </a:r>
            <a:r>
              <a:rPr lang="en-US" sz="1200" dirty="0" err="1">
                <a:ea typeface="+mn-lt"/>
                <a:cs typeface="+mn-lt"/>
              </a:rPr>
              <a:t>документи</a:t>
            </a:r>
            <a:r>
              <a:rPr lang="en-US" sz="1200" dirty="0">
                <a:ea typeface="+mn-lt"/>
                <a:cs typeface="+mn-lt"/>
              </a:rPr>
              <a:t> </a:t>
            </a:r>
            <a:r>
              <a:rPr lang="en-US" sz="1200" dirty="0" err="1">
                <a:ea typeface="+mn-lt"/>
                <a:cs typeface="+mn-lt"/>
              </a:rPr>
              <a:t>може</a:t>
            </a:r>
            <a:r>
              <a:rPr lang="en-US" sz="1200" dirty="0">
                <a:ea typeface="+mn-lt"/>
                <a:cs typeface="+mn-lt"/>
              </a:rPr>
              <a:t> да </a:t>
            </a:r>
            <a:r>
              <a:rPr lang="en-US" sz="1200" dirty="0" err="1">
                <a:ea typeface="+mn-lt"/>
                <a:cs typeface="+mn-lt"/>
              </a:rPr>
              <a:t>са</a:t>
            </a:r>
            <a:r>
              <a:rPr lang="en-US" sz="1200" dirty="0">
                <a:ea typeface="+mn-lt"/>
                <a:cs typeface="+mn-lt"/>
              </a:rPr>
              <a:t> </a:t>
            </a:r>
            <a:r>
              <a:rPr lang="en-US" sz="1200" dirty="0" err="1">
                <a:ea typeface="+mn-lt"/>
                <a:cs typeface="+mn-lt"/>
              </a:rPr>
              <a:t>необходими</a:t>
            </a:r>
            <a:r>
              <a:rPr lang="en-US" sz="1200" dirty="0">
                <a:ea typeface="+mn-lt"/>
                <a:cs typeface="+mn-lt"/>
              </a:rPr>
              <a:t> по време на </a:t>
            </a:r>
            <a:r>
              <a:rPr lang="en-US" sz="1200" dirty="0" err="1">
                <a:ea typeface="+mn-lt"/>
                <a:cs typeface="+mn-lt"/>
              </a:rPr>
              <a:t>срещата</a:t>
            </a:r>
            <a:r>
              <a:rPr lang="en-US" sz="1200" dirty="0">
                <a:ea typeface="+mn-lt"/>
                <a:cs typeface="+mn-lt"/>
              </a:rPr>
              <a:t>. </a:t>
            </a:r>
            <a:endParaRPr lang="en-US" dirty="0">
              <a:ea typeface="+mn-lt"/>
              <a:cs typeface="+mn-lt"/>
            </a:endParaRPr>
          </a:p>
          <a:p>
            <a:pPr marL="285750" indent="-285750">
              <a:buFont typeface="Arial"/>
              <a:buChar char="•"/>
            </a:pPr>
            <a:r>
              <a:rPr lang="en-US" sz="1200" b="1" dirty="0" err="1">
                <a:ea typeface="+mn-lt"/>
                <a:cs typeface="+mn-lt"/>
              </a:rPr>
              <a:t>Готов</a:t>
            </a:r>
            <a:r>
              <a:rPr lang="en-US" sz="1200" b="1" dirty="0">
                <a:ea typeface="+mn-lt"/>
                <a:cs typeface="+mn-lt"/>
              </a:rPr>
              <a:t>/а </a:t>
            </a:r>
            <a:r>
              <a:rPr lang="en-US" sz="1200" b="1" dirty="0" err="1">
                <a:ea typeface="+mn-lt"/>
                <a:cs typeface="+mn-lt"/>
              </a:rPr>
              <a:t>ли</a:t>
            </a:r>
            <a:r>
              <a:rPr lang="en-US" sz="1200" b="1" dirty="0">
                <a:ea typeface="+mn-lt"/>
                <a:cs typeface="+mn-lt"/>
              </a:rPr>
              <a:t> </a:t>
            </a:r>
            <a:r>
              <a:rPr lang="en-US" sz="1200" b="1" dirty="0" err="1">
                <a:ea typeface="+mn-lt"/>
                <a:cs typeface="+mn-lt"/>
              </a:rPr>
              <a:t>съм</a:t>
            </a:r>
            <a:r>
              <a:rPr lang="en-US" sz="1200" b="1" dirty="0">
                <a:ea typeface="+mn-lt"/>
                <a:cs typeface="+mn-lt"/>
              </a:rPr>
              <a:t> </a:t>
            </a:r>
            <a:r>
              <a:rPr lang="en-US" sz="1200" b="1" dirty="0" err="1">
                <a:ea typeface="+mn-lt"/>
                <a:cs typeface="+mn-lt"/>
              </a:rPr>
              <a:t>организационно</a:t>
            </a:r>
            <a:r>
              <a:rPr lang="en-US" sz="1200" b="1" dirty="0">
                <a:ea typeface="+mn-lt"/>
                <a:cs typeface="+mn-lt"/>
              </a:rPr>
              <a:t> и като </a:t>
            </a:r>
            <a:r>
              <a:rPr lang="en-US" sz="1200" b="1" dirty="0" err="1">
                <a:ea typeface="+mn-lt"/>
                <a:cs typeface="+mn-lt"/>
              </a:rPr>
              <a:t>поведение</a:t>
            </a:r>
            <a:r>
              <a:rPr lang="en-US" sz="1200" b="1" dirty="0">
                <a:ea typeface="+mn-lt"/>
                <a:cs typeface="+mn-lt"/>
              </a:rPr>
              <a:t>?</a:t>
            </a:r>
            <a:br>
              <a:rPr lang="en-US" sz="1200" b="1" dirty="0">
                <a:ea typeface="+mn-lt"/>
                <a:cs typeface="+mn-lt"/>
              </a:rPr>
            </a:br>
            <a:r>
              <a:rPr lang="en-US" sz="1200" dirty="0">
                <a:ea typeface="+mn-lt"/>
                <a:cs typeface="+mn-lt"/>
              </a:rPr>
              <a:t> </a:t>
            </a:r>
            <a:r>
              <a:rPr lang="en-US" sz="1200" dirty="0" err="1">
                <a:ea typeface="+mn-lt"/>
                <a:cs typeface="+mn-lt"/>
              </a:rPr>
              <a:t>Ще</a:t>
            </a:r>
            <a:r>
              <a:rPr lang="en-US" sz="1200" dirty="0">
                <a:ea typeface="+mn-lt"/>
                <a:cs typeface="+mn-lt"/>
              </a:rPr>
              <a:t> </a:t>
            </a:r>
            <a:r>
              <a:rPr lang="en-US" sz="1200" dirty="0" err="1">
                <a:ea typeface="+mn-lt"/>
                <a:cs typeface="+mn-lt"/>
              </a:rPr>
              <a:t>бъда</a:t>
            </a:r>
            <a:r>
              <a:rPr lang="en-US" sz="1200" dirty="0">
                <a:ea typeface="+mn-lt"/>
                <a:cs typeface="+mn-lt"/>
              </a:rPr>
              <a:t> </a:t>
            </a:r>
            <a:r>
              <a:rPr lang="en-US" sz="1200" dirty="0" err="1">
                <a:ea typeface="+mn-lt"/>
                <a:cs typeface="+mn-lt"/>
              </a:rPr>
              <a:t>навреме</a:t>
            </a:r>
            <a:r>
              <a:rPr lang="en-US" sz="1200" dirty="0">
                <a:ea typeface="+mn-lt"/>
                <a:cs typeface="+mn-lt"/>
              </a:rPr>
              <a:t>, в </a:t>
            </a:r>
            <a:r>
              <a:rPr lang="en-US" sz="1200" dirty="0" err="1">
                <a:ea typeface="+mn-lt"/>
                <a:cs typeface="+mn-lt"/>
              </a:rPr>
              <a:t>професионален</a:t>
            </a:r>
            <a:r>
              <a:rPr lang="en-US" sz="1200" dirty="0">
                <a:ea typeface="+mn-lt"/>
                <a:cs typeface="+mn-lt"/>
              </a:rPr>
              <a:t> </a:t>
            </a:r>
            <a:r>
              <a:rPr lang="en-US" sz="1200" dirty="0" err="1">
                <a:ea typeface="+mn-lt"/>
                <a:cs typeface="+mn-lt"/>
              </a:rPr>
              <a:t>вид</a:t>
            </a:r>
            <a:r>
              <a:rPr lang="en-US" sz="1200" dirty="0">
                <a:ea typeface="+mn-lt"/>
                <a:cs typeface="+mn-lt"/>
              </a:rPr>
              <a:t>, с </a:t>
            </a:r>
            <a:r>
              <a:rPr lang="en-US" sz="1200" dirty="0" err="1">
                <a:ea typeface="+mn-lt"/>
                <a:cs typeface="+mn-lt"/>
              </a:rPr>
              <a:t>добър</a:t>
            </a:r>
            <a:r>
              <a:rPr lang="en-US" sz="1200" dirty="0">
                <a:ea typeface="+mn-lt"/>
                <a:cs typeface="+mn-lt"/>
              </a:rPr>
              <a:t> </a:t>
            </a:r>
            <a:r>
              <a:rPr lang="en-US" sz="1200" dirty="0" err="1">
                <a:ea typeface="+mn-lt"/>
                <a:cs typeface="+mn-lt"/>
              </a:rPr>
              <a:t>тон</a:t>
            </a:r>
            <a:r>
              <a:rPr lang="en-US" sz="1200" dirty="0">
                <a:ea typeface="+mn-lt"/>
                <a:cs typeface="+mn-lt"/>
              </a:rPr>
              <a:t>, </a:t>
            </a:r>
            <a:r>
              <a:rPr lang="en-US" sz="1200" dirty="0" err="1">
                <a:ea typeface="+mn-lt"/>
                <a:cs typeface="+mn-lt"/>
              </a:rPr>
              <a:t>усмивка</a:t>
            </a:r>
            <a:r>
              <a:rPr lang="en-US" sz="1200" dirty="0">
                <a:ea typeface="+mn-lt"/>
                <a:cs typeface="+mn-lt"/>
              </a:rPr>
              <a:t> и </a:t>
            </a:r>
            <a:r>
              <a:rPr lang="en-US" sz="1200" dirty="0" err="1">
                <a:ea typeface="+mn-lt"/>
                <a:cs typeface="+mn-lt"/>
              </a:rPr>
              <a:t>уважително</a:t>
            </a:r>
            <a:r>
              <a:rPr lang="en-US" sz="1200" dirty="0">
                <a:ea typeface="+mn-lt"/>
                <a:cs typeface="+mn-lt"/>
              </a:rPr>
              <a:t> </a:t>
            </a:r>
            <a:r>
              <a:rPr lang="en-US" sz="1200" dirty="0" err="1">
                <a:ea typeface="+mn-lt"/>
                <a:cs typeface="+mn-lt"/>
              </a:rPr>
              <a:t>отношение</a:t>
            </a:r>
            <a:r>
              <a:rPr lang="en-US" sz="1200" dirty="0">
                <a:ea typeface="+mn-lt"/>
                <a:cs typeface="+mn-lt"/>
              </a:rPr>
              <a:t>, като </a:t>
            </a:r>
            <a:r>
              <a:rPr lang="en-US" sz="1200" dirty="0" err="1">
                <a:ea typeface="+mn-lt"/>
                <a:cs typeface="+mn-lt"/>
              </a:rPr>
              <a:t>проведа</a:t>
            </a:r>
            <a:r>
              <a:rPr lang="en-US" sz="1200" dirty="0">
                <a:ea typeface="+mn-lt"/>
                <a:cs typeface="+mn-lt"/>
              </a:rPr>
              <a:t> </a:t>
            </a:r>
            <a:r>
              <a:rPr lang="en-US" sz="1200" dirty="0" err="1">
                <a:ea typeface="+mn-lt"/>
                <a:cs typeface="+mn-lt"/>
              </a:rPr>
              <a:t>разговора</a:t>
            </a:r>
            <a:r>
              <a:rPr lang="en-US" sz="1200" dirty="0">
                <a:ea typeface="+mn-lt"/>
                <a:cs typeface="+mn-lt"/>
              </a:rPr>
              <a:t> </a:t>
            </a:r>
            <a:r>
              <a:rPr lang="en-US" sz="1200" dirty="0" err="1">
                <a:ea typeface="+mn-lt"/>
                <a:cs typeface="+mn-lt"/>
              </a:rPr>
              <a:t>спокойно</a:t>
            </a:r>
            <a:r>
              <a:rPr lang="en-US" sz="1200" dirty="0">
                <a:ea typeface="+mn-lt"/>
                <a:cs typeface="+mn-lt"/>
              </a:rPr>
              <a:t> и на </a:t>
            </a:r>
            <a:r>
              <a:rPr lang="en-US" sz="1200" dirty="0" err="1">
                <a:ea typeface="+mn-lt"/>
                <a:cs typeface="+mn-lt"/>
              </a:rPr>
              <a:t>подходящо</a:t>
            </a:r>
            <a:r>
              <a:rPr lang="en-US" sz="1200" dirty="0">
                <a:ea typeface="+mn-lt"/>
                <a:cs typeface="+mn-lt"/>
              </a:rPr>
              <a:t> </a:t>
            </a:r>
            <a:r>
              <a:rPr lang="en-US" sz="1200" dirty="0" err="1">
                <a:ea typeface="+mn-lt"/>
                <a:cs typeface="+mn-lt"/>
              </a:rPr>
              <a:t>място</a:t>
            </a:r>
            <a:r>
              <a:rPr lang="en-US" sz="1200" dirty="0">
                <a:ea typeface="+mn-lt"/>
                <a:cs typeface="+mn-lt"/>
              </a:rPr>
              <a:t>.</a:t>
            </a:r>
            <a:endParaRPr lang="en-US" dirty="0">
              <a:ea typeface="+mn-lt"/>
              <a:cs typeface="+mn-lt"/>
            </a:endParaRPr>
          </a:p>
          <a:p>
            <a:pPr algn="l"/>
            <a:endParaRPr lang="en-US" sz="1200" dirty="0"/>
          </a:p>
        </p:txBody>
      </p:sp>
    </p:spTree>
    <p:extLst>
      <p:ext uri="{BB962C8B-B14F-4D97-AF65-F5344CB8AC3E}">
        <p14:creationId xmlns:p14="http://schemas.microsoft.com/office/powerpoint/2010/main" val="1958870237"/>
      </p:ext>
    </p:extLst>
  </p:cSld>
  <p:clrMapOvr>
    <a:masterClrMapping/>
  </p:clrMapOvr>
  <mc:AlternateContent xmlns:mc="http://schemas.openxmlformats.org/markup-compatibility/2006" xmlns:p14="http://schemas.microsoft.com/office/powerpoint/2010/main">
    <mc:Choice Requires="p14">
      <p:transition spd="slow" p14:dur="2000" advTm="6522"/>
    </mc:Choice>
    <mc:Fallback xmlns="">
      <p:transition spd="slow" advTm="6522"/>
    </mc:Fallback>
  </mc:AlternateContent>
  <p:extLst>
    <p:ext uri="{6950BFC3-D8DA-4A85-94F7-54DA5524770B}">
      <p188:commentRel xmlns:p188="http://schemas.microsoft.com/office/powerpoint/2018/8/main" r:id="rId3"/>
    </p:ext>
  </p:extLs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EB15A4-034B-C9E8-2112-10FA4A974970}"/>
            </a:ext>
          </a:extLst>
        </p:cNvPr>
        <p:cNvGrpSpPr/>
        <p:nvPr/>
      </p:nvGrpSpPr>
      <p:grpSpPr>
        <a:xfrm>
          <a:off x="0" y="0"/>
          <a:ext cx="0" cy="0"/>
          <a:chOff x="0" y="0"/>
          <a:chExt cx="0" cy="0"/>
        </a:xfrm>
      </p:grpSpPr>
      <p:sp>
        <p:nvSpPr>
          <p:cNvPr id="20" name="Rectangle 3">
            <a:extLst>
              <a:ext uri="{FF2B5EF4-FFF2-40B4-BE49-F238E27FC236}">
                <a16:creationId xmlns:a16="http://schemas.microsoft.com/office/drawing/2014/main" id="{AA1B5CFF-0DEC-8BF8-06CB-23DAEC9A5B8E}"/>
              </a:ext>
            </a:extLst>
          </p:cNvPr>
          <p:cNvSpPr/>
          <p:nvPr/>
        </p:nvSpPr>
        <p:spPr>
          <a:xfrm>
            <a:off x="1443475" y="4245"/>
            <a:ext cx="5338363" cy="677242"/>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21" name="Rectangle 4">
            <a:extLst>
              <a:ext uri="{FF2B5EF4-FFF2-40B4-BE49-F238E27FC236}">
                <a16:creationId xmlns:a16="http://schemas.microsoft.com/office/drawing/2014/main" id="{481D1F81-961F-44A2-983D-00CF609449C5}"/>
              </a:ext>
            </a:extLst>
          </p:cNvPr>
          <p:cNvSpPr/>
          <p:nvPr/>
        </p:nvSpPr>
        <p:spPr>
          <a:xfrm>
            <a:off x="6788435" y="4245"/>
            <a:ext cx="5417300" cy="677242"/>
          </a:xfrm>
          <a:prstGeom prst="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22" name="Rectangle 21">
            <a:extLst>
              <a:ext uri="{FF2B5EF4-FFF2-40B4-BE49-F238E27FC236}">
                <a16:creationId xmlns:a16="http://schemas.microsoft.com/office/drawing/2014/main" id="{9E342857-1FA5-2C68-C9FA-9902CA0D0ABE}"/>
              </a:ext>
            </a:extLst>
          </p:cNvPr>
          <p:cNvSpPr/>
          <p:nvPr/>
        </p:nvSpPr>
        <p:spPr>
          <a:xfrm>
            <a:off x="-1671" y="1599"/>
            <a:ext cx="1451167" cy="6866954"/>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200">
              <a:latin typeface="Aptos"/>
              <a:ea typeface="Calibri"/>
              <a:cs typeface="Calibri"/>
            </a:endParaRPr>
          </a:p>
        </p:txBody>
      </p:sp>
      <p:sp>
        <p:nvSpPr>
          <p:cNvPr id="23" name="Rectangle 22">
            <a:extLst>
              <a:ext uri="{FF2B5EF4-FFF2-40B4-BE49-F238E27FC236}">
                <a16:creationId xmlns:a16="http://schemas.microsoft.com/office/drawing/2014/main" id="{E99CCDA1-49EB-E7C5-9C46-24D8CD9F5584}"/>
              </a:ext>
            </a:extLst>
          </p:cNvPr>
          <p:cNvSpPr/>
          <p:nvPr/>
        </p:nvSpPr>
        <p:spPr>
          <a:xfrm>
            <a:off x="-1671" y="2528038"/>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Типове клиенти</a:t>
            </a:r>
            <a:endParaRPr lang="en-GB" sz="1400">
              <a:latin typeface="Aptos"/>
              <a:ea typeface="Calibri"/>
              <a:cs typeface="Calibri"/>
            </a:endParaRPr>
          </a:p>
        </p:txBody>
      </p:sp>
      <p:sp>
        <p:nvSpPr>
          <p:cNvPr id="24" name="Rectangle 23">
            <a:extLst>
              <a:ext uri="{FF2B5EF4-FFF2-40B4-BE49-F238E27FC236}">
                <a16:creationId xmlns:a16="http://schemas.microsoft.com/office/drawing/2014/main" id="{0722273B-2E71-67FF-1F43-EFB2A0899216}"/>
              </a:ext>
            </a:extLst>
          </p:cNvPr>
          <p:cNvSpPr/>
          <p:nvPr/>
        </p:nvSpPr>
        <p:spPr>
          <a:xfrm>
            <a:off x="8626" y="1913210"/>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Сценарии</a:t>
            </a:r>
            <a:endParaRPr lang="en-GB" sz="1400">
              <a:latin typeface="Aptos"/>
              <a:ea typeface="Calibri"/>
              <a:cs typeface="Calibri"/>
            </a:endParaRPr>
          </a:p>
        </p:txBody>
      </p:sp>
      <p:sp>
        <p:nvSpPr>
          <p:cNvPr id="25" name="Rectangle 24">
            <a:extLst>
              <a:ext uri="{FF2B5EF4-FFF2-40B4-BE49-F238E27FC236}">
                <a16:creationId xmlns:a16="http://schemas.microsoft.com/office/drawing/2014/main" id="{CEAD603F-716C-AD22-0AF8-8B853513E2F9}"/>
              </a:ext>
            </a:extLst>
          </p:cNvPr>
          <p:cNvSpPr/>
          <p:nvPr/>
        </p:nvSpPr>
        <p:spPr>
          <a:xfrm>
            <a:off x="-1671" y="1298382"/>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a:latin typeface="Aptos"/>
                <a:ea typeface="Calibri"/>
                <a:cs typeface="Calibri"/>
              </a:rPr>
              <a:t>Стъпки при среща</a:t>
            </a:r>
            <a:endParaRPr lang="bg-BG"/>
          </a:p>
        </p:txBody>
      </p:sp>
      <p:sp>
        <p:nvSpPr>
          <p:cNvPr id="26" name="Rectangle 28">
            <a:extLst>
              <a:ext uri="{FF2B5EF4-FFF2-40B4-BE49-F238E27FC236}">
                <a16:creationId xmlns:a16="http://schemas.microsoft.com/office/drawing/2014/main" id="{A959F1BE-7A3E-9DD2-B1AF-CBE24B501932}"/>
              </a:ext>
            </a:extLst>
          </p:cNvPr>
          <p:cNvSpPr/>
          <p:nvPr/>
        </p:nvSpPr>
        <p:spPr>
          <a:xfrm>
            <a:off x="6154" y="690328"/>
            <a:ext cx="1450668" cy="45589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b="1">
                <a:solidFill>
                  <a:srgbClr val="2F5597"/>
                </a:solidFill>
                <a:latin typeface="Aptos"/>
                <a:ea typeface="Calibri"/>
                <a:cs typeface="Calibri"/>
              </a:rPr>
              <a:t>Подготовка</a:t>
            </a:r>
            <a:endParaRPr lang="en-GB" sz="1400" b="1">
              <a:solidFill>
                <a:srgbClr val="2F5597"/>
              </a:solidFill>
              <a:latin typeface="Aptos"/>
              <a:ea typeface="Calibri"/>
              <a:cs typeface="Calibri"/>
            </a:endParaRPr>
          </a:p>
        </p:txBody>
      </p:sp>
      <p:pic>
        <p:nvPicPr>
          <p:cNvPr id="27" name="Picture 26">
            <a:extLst>
              <a:ext uri="{FF2B5EF4-FFF2-40B4-BE49-F238E27FC236}">
                <a16:creationId xmlns:a16="http://schemas.microsoft.com/office/drawing/2014/main" id="{4202F5DA-2696-540B-EECA-D27A228129A0}"/>
              </a:ext>
            </a:extLst>
          </p:cNvPr>
          <p:cNvPicPr>
            <a:picLocks noChangeAspect="1"/>
          </p:cNvPicPr>
          <p:nvPr/>
        </p:nvPicPr>
        <p:blipFill>
          <a:blip r:embed="rId3"/>
          <a:stretch>
            <a:fillRect/>
          </a:stretch>
        </p:blipFill>
        <p:spPr>
          <a:xfrm>
            <a:off x="10883590" y="5621341"/>
            <a:ext cx="982751" cy="995681"/>
          </a:xfrm>
          <a:prstGeom prst="rect">
            <a:avLst/>
          </a:prstGeom>
        </p:spPr>
      </p:pic>
      <p:sp>
        <p:nvSpPr>
          <p:cNvPr id="8" name="Rectangle 13">
            <a:extLst>
              <a:ext uri="{FF2B5EF4-FFF2-40B4-BE49-F238E27FC236}">
                <a16:creationId xmlns:a16="http://schemas.microsoft.com/office/drawing/2014/main" id="{C9CB142E-A787-651C-7E55-DCB7E2B99ECC}"/>
              </a:ext>
            </a:extLst>
          </p:cNvPr>
          <p:cNvSpPr/>
          <p:nvPr/>
        </p:nvSpPr>
        <p:spPr>
          <a:xfrm>
            <a:off x="2157455" y="2075081"/>
            <a:ext cx="2932281" cy="677242"/>
          </a:xfrm>
          <a:prstGeom prst="roundRect">
            <a:avLst/>
          </a:prstGeom>
          <a:solidFill>
            <a:srgbClr val="4472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600"/>
              <a:t>Дългосрочна</a:t>
            </a:r>
            <a:endParaRPr lang="en-GB" sz="1600"/>
          </a:p>
        </p:txBody>
      </p:sp>
      <p:sp>
        <p:nvSpPr>
          <p:cNvPr id="9" name="Rectangle 13">
            <a:extLst>
              <a:ext uri="{FF2B5EF4-FFF2-40B4-BE49-F238E27FC236}">
                <a16:creationId xmlns:a16="http://schemas.microsoft.com/office/drawing/2014/main" id="{B4CE40E5-7A26-0E11-2188-2C171DAEC829}"/>
              </a:ext>
            </a:extLst>
          </p:cNvPr>
          <p:cNvSpPr/>
          <p:nvPr/>
        </p:nvSpPr>
        <p:spPr>
          <a:xfrm>
            <a:off x="2157455" y="2887881"/>
            <a:ext cx="2932281" cy="677242"/>
          </a:xfrm>
          <a:prstGeom prst="round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600"/>
              <a:t>Краткосрочна</a:t>
            </a:r>
            <a:endParaRPr lang="en-GB" sz="1600"/>
          </a:p>
        </p:txBody>
      </p:sp>
      <p:sp>
        <p:nvSpPr>
          <p:cNvPr id="10" name="Rectangle 13">
            <a:extLst>
              <a:ext uri="{FF2B5EF4-FFF2-40B4-BE49-F238E27FC236}">
                <a16:creationId xmlns:a16="http://schemas.microsoft.com/office/drawing/2014/main" id="{179F5877-7EDE-87DB-0DB7-C9925D51EFEA}"/>
              </a:ext>
            </a:extLst>
          </p:cNvPr>
          <p:cNvSpPr/>
          <p:nvPr/>
        </p:nvSpPr>
        <p:spPr>
          <a:xfrm>
            <a:off x="2157455" y="3700681"/>
            <a:ext cx="2932281" cy="677242"/>
          </a:xfrm>
          <a:prstGeom prst="round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600"/>
              <a:t>Имиджова</a:t>
            </a:r>
            <a:endParaRPr lang="en-GB" sz="1600"/>
          </a:p>
        </p:txBody>
      </p:sp>
      <p:sp>
        <p:nvSpPr>
          <p:cNvPr id="2" name="TextBox 1">
            <a:extLst>
              <a:ext uri="{FF2B5EF4-FFF2-40B4-BE49-F238E27FC236}">
                <a16:creationId xmlns:a16="http://schemas.microsoft.com/office/drawing/2014/main" id="{B8ABA0FB-1B30-F0CE-FE99-C6996404B97D}"/>
              </a:ext>
            </a:extLst>
          </p:cNvPr>
          <p:cNvSpPr txBox="1"/>
          <p:nvPr/>
        </p:nvSpPr>
        <p:spPr>
          <a:xfrm>
            <a:off x="6329256" y="2090787"/>
            <a:ext cx="4992289" cy="26776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err="1">
                <a:ea typeface="+mn-lt"/>
                <a:cs typeface="+mn-lt"/>
              </a:rPr>
              <a:t>Дългосрочна</a:t>
            </a:r>
            <a:r>
              <a:rPr lang="en-US" sz="1200" b="1">
                <a:ea typeface="+mn-lt"/>
                <a:cs typeface="+mn-lt"/>
              </a:rPr>
              <a:t> </a:t>
            </a:r>
            <a:r>
              <a:rPr lang="en-US" sz="1200" b="1" err="1">
                <a:ea typeface="+mn-lt"/>
                <a:cs typeface="+mn-lt"/>
              </a:rPr>
              <a:t>стратегия</a:t>
            </a:r>
            <a:br>
              <a:rPr lang="en-US" sz="1200" b="1">
                <a:ea typeface="+mn-lt"/>
                <a:cs typeface="+mn-lt"/>
              </a:rPr>
            </a:br>
            <a:r>
              <a:rPr lang="en-US" sz="1200" b="1">
                <a:ea typeface="+mn-lt"/>
                <a:cs typeface="+mn-lt"/>
              </a:rPr>
              <a:t> </a:t>
            </a:r>
            <a:r>
              <a:rPr lang="en-US" sz="1200" b="1" err="1">
                <a:ea typeface="+mn-lt"/>
                <a:cs typeface="+mn-lt"/>
              </a:rPr>
              <a:t>Тук</a:t>
            </a:r>
            <a:r>
              <a:rPr lang="en-US" sz="1200" b="1">
                <a:ea typeface="+mn-lt"/>
                <a:cs typeface="+mn-lt"/>
              </a:rPr>
              <a:t> </a:t>
            </a:r>
            <a:r>
              <a:rPr lang="en-US" sz="1200" b="1" err="1">
                <a:ea typeface="+mn-lt"/>
                <a:cs typeface="+mn-lt"/>
              </a:rPr>
              <a:t>целта</a:t>
            </a:r>
            <a:r>
              <a:rPr lang="en-US" sz="1200" b="1">
                <a:ea typeface="+mn-lt"/>
                <a:cs typeface="+mn-lt"/>
              </a:rPr>
              <a:t> </a:t>
            </a:r>
            <a:r>
              <a:rPr lang="en-US" sz="1200" b="1" err="1">
                <a:ea typeface="+mn-lt"/>
                <a:cs typeface="+mn-lt"/>
              </a:rPr>
              <a:t>не</a:t>
            </a:r>
            <a:r>
              <a:rPr lang="en-US" sz="1200" b="1">
                <a:ea typeface="+mn-lt"/>
                <a:cs typeface="+mn-lt"/>
              </a:rPr>
              <a:t> е </a:t>
            </a:r>
            <a:r>
              <a:rPr lang="en-US" sz="1200" b="1" err="1">
                <a:ea typeface="+mn-lt"/>
                <a:cs typeface="+mn-lt"/>
              </a:rPr>
              <a:t>да</a:t>
            </a:r>
            <a:r>
              <a:rPr lang="en-US" sz="1200" b="1">
                <a:ea typeface="+mn-lt"/>
                <a:cs typeface="+mn-lt"/>
              </a:rPr>
              <a:t> „</a:t>
            </a:r>
            <a:r>
              <a:rPr lang="en-US" sz="1200" b="1" err="1">
                <a:ea typeface="+mn-lt"/>
                <a:cs typeface="+mn-lt"/>
              </a:rPr>
              <a:t>затвориш</a:t>
            </a:r>
            <a:r>
              <a:rPr lang="en-US" sz="1200" b="1">
                <a:ea typeface="+mn-lt"/>
                <a:cs typeface="+mn-lt"/>
              </a:rPr>
              <a:t>“ </a:t>
            </a:r>
            <a:r>
              <a:rPr lang="en-US" sz="1200" b="1" err="1">
                <a:ea typeface="+mn-lt"/>
                <a:cs typeface="+mn-lt"/>
              </a:rPr>
              <a:t>сделка</a:t>
            </a:r>
            <a:r>
              <a:rPr lang="en-US" sz="1200" b="1">
                <a:ea typeface="+mn-lt"/>
                <a:cs typeface="+mn-lt"/>
              </a:rPr>
              <a:t> </a:t>
            </a:r>
            <a:r>
              <a:rPr lang="en-US" sz="1200" b="1" err="1">
                <a:ea typeface="+mn-lt"/>
                <a:cs typeface="+mn-lt"/>
              </a:rPr>
              <a:t>на</a:t>
            </a:r>
            <a:r>
              <a:rPr lang="en-US" sz="1200" b="1">
                <a:ea typeface="+mn-lt"/>
                <a:cs typeface="+mn-lt"/>
              </a:rPr>
              <a:t> </a:t>
            </a:r>
            <a:r>
              <a:rPr lang="en-US" sz="1200" b="1" err="1">
                <a:ea typeface="+mn-lt"/>
                <a:cs typeface="+mn-lt"/>
              </a:rPr>
              <a:t>всяка</a:t>
            </a:r>
            <a:r>
              <a:rPr lang="en-US" sz="1200" b="1">
                <a:ea typeface="+mn-lt"/>
                <a:cs typeface="+mn-lt"/>
              </a:rPr>
              <a:t> </a:t>
            </a:r>
            <a:r>
              <a:rPr lang="en-US" sz="1200" b="1" err="1">
                <a:ea typeface="+mn-lt"/>
                <a:cs typeface="+mn-lt"/>
              </a:rPr>
              <a:t>цена</a:t>
            </a:r>
            <a:r>
              <a:rPr lang="en-US" sz="1200" b="1">
                <a:ea typeface="+mn-lt"/>
                <a:cs typeface="+mn-lt"/>
              </a:rPr>
              <a:t> </a:t>
            </a:r>
            <a:r>
              <a:rPr lang="en-US" sz="1200" b="1" err="1">
                <a:ea typeface="+mn-lt"/>
                <a:cs typeface="+mn-lt"/>
              </a:rPr>
              <a:t>още</a:t>
            </a:r>
            <a:r>
              <a:rPr lang="en-US" sz="1200" b="1">
                <a:ea typeface="+mn-lt"/>
                <a:cs typeface="+mn-lt"/>
              </a:rPr>
              <a:t> </a:t>
            </a:r>
            <a:r>
              <a:rPr lang="en-US" sz="1200" b="1" err="1">
                <a:ea typeface="+mn-lt"/>
                <a:cs typeface="+mn-lt"/>
              </a:rPr>
              <a:t>сега</a:t>
            </a:r>
            <a:r>
              <a:rPr lang="en-US" sz="1200" b="1">
                <a:ea typeface="+mn-lt"/>
                <a:cs typeface="+mn-lt"/>
              </a:rPr>
              <a:t>, а </a:t>
            </a:r>
            <a:r>
              <a:rPr lang="en-US" sz="1200" b="1" err="1">
                <a:ea typeface="+mn-lt"/>
                <a:cs typeface="+mn-lt"/>
              </a:rPr>
              <a:t>да</a:t>
            </a:r>
            <a:r>
              <a:rPr lang="en-US" sz="1200" b="1">
                <a:ea typeface="+mn-lt"/>
                <a:cs typeface="+mn-lt"/>
              </a:rPr>
              <a:t> </a:t>
            </a:r>
            <a:r>
              <a:rPr lang="en-US" sz="1200" b="1" err="1">
                <a:ea typeface="+mn-lt"/>
                <a:cs typeface="+mn-lt"/>
              </a:rPr>
              <a:t>изградиш</a:t>
            </a:r>
            <a:r>
              <a:rPr lang="en-US" sz="1200" b="1">
                <a:ea typeface="+mn-lt"/>
                <a:cs typeface="+mn-lt"/>
              </a:rPr>
              <a:t> </a:t>
            </a:r>
            <a:r>
              <a:rPr lang="en-US" sz="1200" b="1" err="1">
                <a:ea typeface="+mn-lt"/>
                <a:cs typeface="+mn-lt"/>
              </a:rPr>
              <a:t>отношения</a:t>
            </a:r>
            <a:r>
              <a:rPr lang="en-US" sz="1200" b="1">
                <a:ea typeface="+mn-lt"/>
                <a:cs typeface="+mn-lt"/>
              </a:rPr>
              <a:t>, </a:t>
            </a:r>
            <a:r>
              <a:rPr lang="en-US" sz="1200" b="1" err="1">
                <a:ea typeface="+mn-lt"/>
                <a:cs typeface="+mn-lt"/>
              </a:rPr>
              <a:t>доверие</a:t>
            </a:r>
            <a:r>
              <a:rPr lang="en-US" sz="1200" b="1">
                <a:ea typeface="+mn-lt"/>
                <a:cs typeface="+mn-lt"/>
              </a:rPr>
              <a:t> и </a:t>
            </a:r>
            <a:r>
              <a:rPr lang="en-US" sz="1200" b="1" err="1">
                <a:ea typeface="+mn-lt"/>
                <a:cs typeface="+mn-lt"/>
              </a:rPr>
              <a:t>основа</a:t>
            </a:r>
            <a:r>
              <a:rPr lang="en-US" sz="1200" b="1">
                <a:ea typeface="+mn-lt"/>
                <a:cs typeface="+mn-lt"/>
              </a:rPr>
              <a:t> </a:t>
            </a:r>
            <a:r>
              <a:rPr lang="en-US" sz="1200" b="1" err="1">
                <a:ea typeface="+mn-lt"/>
                <a:cs typeface="+mn-lt"/>
              </a:rPr>
              <a:t>за</a:t>
            </a:r>
            <a:r>
              <a:rPr lang="en-US" sz="1200" b="1">
                <a:ea typeface="+mn-lt"/>
                <a:cs typeface="+mn-lt"/>
              </a:rPr>
              <a:t> </a:t>
            </a:r>
            <a:r>
              <a:rPr lang="en-US" sz="1200" b="1" err="1">
                <a:ea typeface="+mn-lt"/>
                <a:cs typeface="+mn-lt"/>
              </a:rPr>
              <a:t>бъдещи</a:t>
            </a:r>
            <a:r>
              <a:rPr lang="en-US" sz="1200" b="1">
                <a:ea typeface="+mn-lt"/>
                <a:cs typeface="+mn-lt"/>
              </a:rPr>
              <a:t> </a:t>
            </a:r>
            <a:r>
              <a:rPr lang="en-US" sz="1200" b="1" err="1">
                <a:ea typeface="+mn-lt"/>
                <a:cs typeface="+mn-lt"/>
              </a:rPr>
              <a:t>продажби</a:t>
            </a:r>
            <a:r>
              <a:rPr lang="en-US" sz="1200" b="1">
                <a:ea typeface="+mn-lt"/>
                <a:cs typeface="+mn-lt"/>
              </a:rPr>
              <a:t>.</a:t>
            </a:r>
            <a:endParaRPr lang="en-US" sz="1200"/>
          </a:p>
          <a:p>
            <a:r>
              <a:rPr lang="en-US" sz="1200" err="1">
                <a:ea typeface="+mn-lt"/>
                <a:cs typeface="+mn-lt"/>
              </a:rPr>
              <a:t>Подходяща</a:t>
            </a:r>
            <a:r>
              <a:rPr lang="en-US" sz="1200">
                <a:ea typeface="+mn-lt"/>
                <a:cs typeface="+mn-lt"/>
              </a:rPr>
              <a:t> е, </a:t>
            </a:r>
            <a:r>
              <a:rPr lang="en-US" sz="1200" err="1">
                <a:ea typeface="+mn-lt"/>
                <a:cs typeface="+mn-lt"/>
              </a:rPr>
              <a:t>когато</a:t>
            </a:r>
            <a:r>
              <a:rPr lang="en-US" sz="1200">
                <a:ea typeface="+mn-lt"/>
                <a:cs typeface="+mn-lt"/>
              </a:rPr>
              <a:t>:</a:t>
            </a:r>
            <a:endParaRPr lang="en-US" sz="1200"/>
          </a:p>
          <a:p>
            <a:pPr marL="285750" indent="-285750">
              <a:buFont typeface="Arial"/>
              <a:buChar char="•"/>
            </a:pPr>
            <a:r>
              <a:rPr lang="en-US" sz="1200" err="1">
                <a:ea typeface="+mn-lt"/>
                <a:cs typeface="+mn-lt"/>
              </a:rPr>
              <a:t>клиентът</a:t>
            </a:r>
            <a:r>
              <a:rPr lang="en-US" sz="1200">
                <a:ea typeface="+mn-lt"/>
                <a:cs typeface="+mn-lt"/>
              </a:rPr>
              <a:t> </a:t>
            </a:r>
            <a:r>
              <a:rPr lang="en-US" sz="1200" err="1">
                <a:ea typeface="+mn-lt"/>
                <a:cs typeface="+mn-lt"/>
              </a:rPr>
              <a:t>има</a:t>
            </a:r>
            <a:r>
              <a:rPr lang="en-US" sz="1200">
                <a:ea typeface="+mn-lt"/>
                <a:cs typeface="+mn-lt"/>
              </a:rPr>
              <a:t> </a:t>
            </a:r>
            <a:r>
              <a:rPr lang="en-US" sz="1200" err="1">
                <a:ea typeface="+mn-lt"/>
                <a:cs typeface="+mn-lt"/>
              </a:rPr>
              <a:t>по-широки</a:t>
            </a:r>
            <a:r>
              <a:rPr lang="en-US" sz="1200">
                <a:ea typeface="+mn-lt"/>
                <a:cs typeface="+mn-lt"/>
              </a:rPr>
              <a:t> </a:t>
            </a:r>
            <a:r>
              <a:rPr lang="en-US" sz="1200" err="1">
                <a:ea typeface="+mn-lt"/>
                <a:cs typeface="+mn-lt"/>
              </a:rPr>
              <a:t>нужди</a:t>
            </a:r>
            <a:r>
              <a:rPr lang="en-US" sz="1200">
                <a:ea typeface="+mn-lt"/>
                <a:cs typeface="+mn-lt"/>
              </a:rPr>
              <a:t> </a:t>
            </a:r>
            <a:endParaRPr lang="en-US" sz="1200"/>
          </a:p>
          <a:p>
            <a:pPr marL="285750" indent="-285750">
              <a:buFont typeface="Arial"/>
              <a:buChar char="•"/>
            </a:pPr>
            <a:r>
              <a:rPr lang="en-US" sz="1200" err="1">
                <a:ea typeface="+mn-lt"/>
                <a:cs typeface="+mn-lt"/>
              </a:rPr>
              <a:t>решението</a:t>
            </a:r>
            <a:r>
              <a:rPr lang="en-US" sz="1200">
                <a:ea typeface="+mn-lt"/>
                <a:cs typeface="+mn-lt"/>
              </a:rPr>
              <a:t> </a:t>
            </a:r>
            <a:r>
              <a:rPr lang="en-US" sz="1200" err="1">
                <a:ea typeface="+mn-lt"/>
                <a:cs typeface="+mn-lt"/>
              </a:rPr>
              <a:t>не</a:t>
            </a:r>
            <a:r>
              <a:rPr lang="en-US" sz="1200">
                <a:ea typeface="+mn-lt"/>
                <a:cs typeface="+mn-lt"/>
              </a:rPr>
              <a:t> </a:t>
            </a:r>
            <a:r>
              <a:rPr lang="en-US" sz="1200" err="1">
                <a:ea typeface="+mn-lt"/>
                <a:cs typeface="+mn-lt"/>
              </a:rPr>
              <a:t>се</a:t>
            </a:r>
            <a:r>
              <a:rPr lang="en-US" sz="1200">
                <a:ea typeface="+mn-lt"/>
                <a:cs typeface="+mn-lt"/>
              </a:rPr>
              <a:t> </a:t>
            </a:r>
            <a:r>
              <a:rPr lang="en-US" sz="1200" err="1">
                <a:ea typeface="+mn-lt"/>
                <a:cs typeface="+mn-lt"/>
              </a:rPr>
              <a:t>взема</a:t>
            </a:r>
            <a:r>
              <a:rPr lang="en-US" sz="1200">
                <a:ea typeface="+mn-lt"/>
                <a:cs typeface="+mn-lt"/>
              </a:rPr>
              <a:t> </a:t>
            </a:r>
            <a:r>
              <a:rPr lang="en-US" sz="1200" err="1">
                <a:ea typeface="+mn-lt"/>
                <a:cs typeface="+mn-lt"/>
              </a:rPr>
              <a:t>веднага</a:t>
            </a:r>
            <a:r>
              <a:rPr lang="en-US" sz="1200">
                <a:ea typeface="+mn-lt"/>
                <a:cs typeface="+mn-lt"/>
              </a:rPr>
              <a:t> </a:t>
            </a:r>
            <a:endParaRPr lang="en-US" sz="1200"/>
          </a:p>
          <a:p>
            <a:pPr marL="285750" indent="-285750">
              <a:buFont typeface="Arial"/>
              <a:buChar char="•"/>
            </a:pPr>
            <a:r>
              <a:rPr lang="en-US" sz="1200" err="1">
                <a:ea typeface="+mn-lt"/>
                <a:cs typeface="+mn-lt"/>
              </a:rPr>
              <a:t>искаш</a:t>
            </a:r>
            <a:r>
              <a:rPr lang="en-US" sz="1200">
                <a:ea typeface="+mn-lt"/>
                <a:cs typeface="+mn-lt"/>
              </a:rPr>
              <a:t> </a:t>
            </a:r>
            <a:r>
              <a:rPr lang="en-US" sz="1200" err="1">
                <a:ea typeface="+mn-lt"/>
                <a:cs typeface="+mn-lt"/>
              </a:rPr>
              <a:t>да</a:t>
            </a:r>
            <a:r>
              <a:rPr lang="en-US" sz="1200">
                <a:ea typeface="+mn-lt"/>
                <a:cs typeface="+mn-lt"/>
              </a:rPr>
              <a:t> </a:t>
            </a:r>
            <a:r>
              <a:rPr lang="en-US" sz="1200" err="1">
                <a:ea typeface="+mn-lt"/>
                <a:cs typeface="+mn-lt"/>
              </a:rPr>
              <a:t>развиваш</a:t>
            </a:r>
            <a:r>
              <a:rPr lang="en-US" sz="1200">
                <a:ea typeface="+mn-lt"/>
                <a:cs typeface="+mn-lt"/>
              </a:rPr>
              <a:t> </a:t>
            </a:r>
            <a:r>
              <a:rPr lang="en-US" sz="1200" err="1">
                <a:ea typeface="+mn-lt"/>
                <a:cs typeface="+mn-lt"/>
              </a:rPr>
              <a:t>клиента</a:t>
            </a:r>
            <a:r>
              <a:rPr lang="en-US" sz="1200">
                <a:ea typeface="+mn-lt"/>
                <a:cs typeface="+mn-lt"/>
              </a:rPr>
              <a:t> </a:t>
            </a:r>
            <a:r>
              <a:rPr lang="en-US" sz="1200" err="1">
                <a:ea typeface="+mn-lt"/>
                <a:cs typeface="+mn-lt"/>
              </a:rPr>
              <a:t>във</a:t>
            </a:r>
            <a:r>
              <a:rPr lang="en-US" sz="1200">
                <a:ea typeface="+mn-lt"/>
                <a:cs typeface="+mn-lt"/>
              </a:rPr>
              <a:t> </a:t>
            </a:r>
            <a:r>
              <a:rPr lang="en-US" sz="1200" err="1">
                <a:ea typeface="+mn-lt"/>
                <a:cs typeface="+mn-lt"/>
              </a:rPr>
              <a:t>времето</a:t>
            </a:r>
            <a:r>
              <a:rPr lang="en-US" sz="1200">
                <a:ea typeface="+mn-lt"/>
                <a:cs typeface="+mn-lt"/>
              </a:rPr>
              <a:t> </a:t>
            </a:r>
            <a:endParaRPr lang="en-US" sz="1200"/>
          </a:p>
          <a:p>
            <a:pPr marL="285750" indent="-285750">
              <a:buFont typeface="Arial"/>
              <a:buChar char="•"/>
            </a:pPr>
            <a:r>
              <a:rPr lang="en-US" sz="1200" err="1">
                <a:ea typeface="+mn-lt"/>
                <a:cs typeface="+mn-lt"/>
              </a:rPr>
              <a:t>срещата</a:t>
            </a:r>
            <a:r>
              <a:rPr lang="en-US" sz="1200">
                <a:ea typeface="+mn-lt"/>
                <a:cs typeface="+mn-lt"/>
              </a:rPr>
              <a:t> е </a:t>
            </a:r>
            <a:r>
              <a:rPr lang="en-US" sz="1200" err="1">
                <a:ea typeface="+mn-lt"/>
                <a:cs typeface="+mn-lt"/>
              </a:rPr>
              <a:t>по-скоро</a:t>
            </a:r>
            <a:r>
              <a:rPr lang="en-US" sz="1200">
                <a:ea typeface="+mn-lt"/>
                <a:cs typeface="+mn-lt"/>
              </a:rPr>
              <a:t> </a:t>
            </a:r>
            <a:r>
              <a:rPr lang="en-US" sz="1200" err="1">
                <a:ea typeface="+mn-lt"/>
                <a:cs typeface="+mn-lt"/>
              </a:rPr>
              <a:t>консултативна</a:t>
            </a:r>
            <a:r>
              <a:rPr lang="en-US" sz="1200">
                <a:ea typeface="+mn-lt"/>
                <a:cs typeface="+mn-lt"/>
              </a:rPr>
              <a:t> </a:t>
            </a:r>
            <a:endParaRPr lang="en-US" sz="1200"/>
          </a:p>
          <a:p>
            <a:r>
              <a:rPr lang="en-US" sz="1200" err="1">
                <a:ea typeface="+mn-lt"/>
                <a:cs typeface="+mn-lt"/>
              </a:rPr>
              <a:t>Фокус</a:t>
            </a:r>
            <a:r>
              <a:rPr lang="en-US" sz="1200">
                <a:ea typeface="+mn-lt"/>
                <a:cs typeface="+mn-lt"/>
              </a:rPr>
              <a:t> в </a:t>
            </a:r>
            <a:r>
              <a:rPr lang="en-US" sz="1200" err="1">
                <a:ea typeface="+mn-lt"/>
                <a:cs typeface="+mn-lt"/>
              </a:rPr>
              <a:t>срещата</a:t>
            </a:r>
            <a:r>
              <a:rPr lang="en-US" sz="1200">
                <a:ea typeface="+mn-lt"/>
                <a:cs typeface="+mn-lt"/>
              </a:rPr>
              <a:t>:</a:t>
            </a:r>
            <a:endParaRPr lang="en-US" sz="1200"/>
          </a:p>
          <a:p>
            <a:pPr marL="285750" indent="-285750">
              <a:buFont typeface="Arial"/>
              <a:buChar char="•"/>
            </a:pPr>
            <a:r>
              <a:rPr lang="en-US" sz="1200" err="1">
                <a:ea typeface="+mn-lt"/>
                <a:cs typeface="+mn-lt"/>
              </a:rPr>
              <a:t>опознаване</a:t>
            </a:r>
            <a:r>
              <a:rPr lang="en-US" sz="1200">
                <a:ea typeface="+mn-lt"/>
                <a:cs typeface="+mn-lt"/>
              </a:rPr>
              <a:t> </a:t>
            </a:r>
            <a:r>
              <a:rPr lang="en-US" sz="1200" err="1">
                <a:ea typeface="+mn-lt"/>
                <a:cs typeface="+mn-lt"/>
              </a:rPr>
              <a:t>на</a:t>
            </a:r>
            <a:r>
              <a:rPr lang="en-US" sz="1200">
                <a:ea typeface="+mn-lt"/>
                <a:cs typeface="+mn-lt"/>
              </a:rPr>
              <a:t> </a:t>
            </a:r>
            <a:r>
              <a:rPr lang="en-US" sz="1200" err="1">
                <a:ea typeface="+mn-lt"/>
                <a:cs typeface="+mn-lt"/>
              </a:rPr>
              <a:t>клиента</a:t>
            </a:r>
            <a:r>
              <a:rPr lang="en-US" sz="1200">
                <a:ea typeface="+mn-lt"/>
                <a:cs typeface="+mn-lt"/>
              </a:rPr>
              <a:t> </a:t>
            </a:r>
            <a:endParaRPr lang="en-US" sz="1200"/>
          </a:p>
          <a:p>
            <a:pPr marL="285750" indent="-285750">
              <a:buFont typeface="Arial"/>
              <a:buChar char="•"/>
            </a:pPr>
            <a:r>
              <a:rPr lang="en-US" sz="1200" err="1">
                <a:ea typeface="+mn-lt"/>
                <a:cs typeface="+mn-lt"/>
              </a:rPr>
              <a:t>по-дълбоко</a:t>
            </a:r>
            <a:r>
              <a:rPr lang="en-US" sz="1200">
                <a:ea typeface="+mn-lt"/>
                <a:cs typeface="+mn-lt"/>
              </a:rPr>
              <a:t> </a:t>
            </a:r>
            <a:r>
              <a:rPr lang="en-US" sz="1200" err="1">
                <a:ea typeface="+mn-lt"/>
                <a:cs typeface="+mn-lt"/>
              </a:rPr>
              <a:t>проучване</a:t>
            </a:r>
            <a:r>
              <a:rPr lang="en-US" sz="1200">
                <a:ea typeface="+mn-lt"/>
                <a:cs typeface="+mn-lt"/>
              </a:rPr>
              <a:t> </a:t>
            </a:r>
            <a:r>
              <a:rPr lang="en-US" sz="1200" err="1">
                <a:ea typeface="+mn-lt"/>
                <a:cs typeface="+mn-lt"/>
              </a:rPr>
              <a:t>на</a:t>
            </a:r>
            <a:r>
              <a:rPr lang="en-US" sz="1200">
                <a:ea typeface="+mn-lt"/>
                <a:cs typeface="+mn-lt"/>
              </a:rPr>
              <a:t> </a:t>
            </a:r>
            <a:r>
              <a:rPr lang="en-US" sz="1200" err="1">
                <a:ea typeface="+mn-lt"/>
                <a:cs typeface="+mn-lt"/>
              </a:rPr>
              <a:t>нужди</a:t>
            </a:r>
            <a:r>
              <a:rPr lang="en-US" sz="1200">
                <a:ea typeface="+mn-lt"/>
                <a:cs typeface="+mn-lt"/>
              </a:rPr>
              <a:t> </a:t>
            </a:r>
            <a:endParaRPr lang="en-US" sz="1200"/>
          </a:p>
          <a:p>
            <a:pPr marL="285750" indent="-285750">
              <a:buFont typeface="Arial"/>
              <a:buChar char="•"/>
            </a:pPr>
            <a:r>
              <a:rPr lang="en-US" sz="1200" err="1">
                <a:ea typeface="+mn-lt"/>
                <a:cs typeface="+mn-lt"/>
              </a:rPr>
              <a:t>доверие</a:t>
            </a:r>
            <a:r>
              <a:rPr lang="en-US" sz="1200">
                <a:ea typeface="+mn-lt"/>
                <a:cs typeface="+mn-lt"/>
              </a:rPr>
              <a:t> и </a:t>
            </a:r>
            <a:r>
              <a:rPr lang="en-US" sz="1200" err="1">
                <a:ea typeface="+mn-lt"/>
                <a:cs typeface="+mn-lt"/>
              </a:rPr>
              <a:t>експертност</a:t>
            </a:r>
            <a:r>
              <a:rPr lang="en-US" sz="1200">
                <a:ea typeface="+mn-lt"/>
                <a:cs typeface="+mn-lt"/>
              </a:rPr>
              <a:t> </a:t>
            </a:r>
            <a:endParaRPr lang="en-US" sz="1200"/>
          </a:p>
          <a:p>
            <a:pPr marL="285750" indent="-285750">
              <a:buFont typeface="Arial"/>
              <a:buChar char="•"/>
            </a:pPr>
            <a:r>
              <a:rPr lang="en-US" sz="1200" err="1">
                <a:ea typeface="+mn-lt"/>
                <a:cs typeface="+mn-lt"/>
              </a:rPr>
              <a:t>следващи</a:t>
            </a:r>
            <a:r>
              <a:rPr lang="en-US" sz="1200">
                <a:ea typeface="+mn-lt"/>
                <a:cs typeface="+mn-lt"/>
              </a:rPr>
              <a:t> </a:t>
            </a:r>
            <a:r>
              <a:rPr lang="en-US" sz="1200" err="1">
                <a:ea typeface="+mn-lt"/>
                <a:cs typeface="+mn-lt"/>
              </a:rPr>
              <a:t>стъпки</a:t>
            </a:r>
            <a:r>
              <a:rPr lang="en-US" sz="1200">
                <a:ea typeface="+mn-lt"/>
                <a:cs typeface="+mn-lt"/>
              </a:rPr>
              <a:t>, а </a:t>
            </a:r>
            <a:r>
              <a:rPr lang="en-US" sz="1200" err="1">
                <a:ea typeface="+mn-lt"/>
                <a:cs typeface="+mn-lt"/>
              </a:rPr>
              <a:t>не</a:t>
            </a:r>
            <a:r>
              <a:rPr lang="en-US" sz="1200">
                <a:ea typeface="+mn-lt"/>
                <a:cs typeface="+mn-lt"/>
              </a:rPr>
              <a:t> </a:t>
            </a:r>
            <a:r>
              <a:rPr lang="en-US" sz="1200" err="1">
                <a:ea typeface="+mn-lt"/>
                <a:cs typeface="+mn-lt"/>
              </a:rPr>
              <a:t>задължително</a:t>
            </a:r>
            <a:r>
              <a:rPr lang="en-US" sz="1200">
                <a:ea typeface="+mn-lt"/>
                <a:cs typeface="+mn-lt"/>
              </a:rPr>
              <a:t> </a:t>
            </a:r>
            <a:r>
              <a:rPr lang="en-US" sz="1200" err="1">
                <a:ea typeface="+mn-lt"/>
                <a:cs typeface="+mn-lt"/>
              </a:rPr>
              <a:t>моментално</a:t>
            </a:r>
            <a:r>
              <a:rPr lang="en-US" sz="1200">
                <a:ea typeface="+mn-lt"/>
                <a:cs typeface="+mn-lt"/>
              </a:rPr>
              <a:t> </a:t>
            </a:r>
            <a:r>
              <a:rPr lang="en-US" sz="1200" err="1">
                <a:ea typeface="+mn-lt"/>
                <a:cs typeface="+mn-lt"/>
              </a:rPr>
              <a:t>затваряне</a:t>
            </a:r>
            <a:endParaRPr lang="en-US" sz="1200" err="1"/>
          </a:p>
          <a:p>
            <a:pPr algn="l"/>
            <a:endParaRPr lang="en-US" sz="1200"/>
          </a:p>
        </p:txBody>
      </p:sp>
    </p:spTree>
    <p:extLst>
      <p:ext uri="{BB962C8B-B14F-4D97-AF65-F5344CB8AC3E}">
        <p14:creationId xmlns:p14="http://schemas.microsoft.com/office/powerpoint/2010/main" val="2121120665"/>
      </p:ext>
    </p:extLst>
  </p:cSld>
  <p:clrMapOvr>
    <a:masterClrMapping/>
  </p:clrMapOvr>
  <mc:AlternateContent xmlns:mc="http://schemas.openxmlformats.org/markup-compatibility/2006" xmlns:p14="http://schemas.microsoft.com/office/powerpoint/2010/main">
    <mc:Choice Requires="p14">
      <p:transition spd="slow" p14:dur="2000" advTm="6522"/>
    </mc:Choice>
    <mc:Fallback xmlns="">
      <p:transition spd="slow" advTm="6522"/>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B97F1F-9E8F-3F9D-2B0A-455AC60E959C}"/>
            </a:ext>
          </a:extLst>
        </p:cNvPr>
        <p:cNvGrpSpPr/>
        <p:nvPr/>
      </p:nvGrpSpPr>
      <p:grpSpPr>
        <a:xfrm>
          <a:off x="0" y="0"/>
          <a:ext cx="0" cy="0"/>
          <a:chOff x="0" y="0"/>
          <a:chExt cx="0" cy="0"/>
        </a:xfrm>
      </p:grpSpPr>
      <p:sp>
        <p:nvSpPr>
          <p:cNvPr id="20" name="Rectangle 3">
            <a:extLst>
              <a:ext uri="{FF2B5EF4-FFF2-40B4-BE49-F238E27FC236}">
                <a16:creationId xmlns:a16="http://schemas.microsoft.com/office/drawing/2014/main" id="{4A56945A-328D-5C7E-43F7-22B4719F9143}"/>
              </a:ext>
            </a:extLst>
          </p:cNvPr>
          <p:cNvSpPr/>
          <p:nvPr/>
        </p:nvSpPr>
        <p:spPr>
          <a:xfrm>
            <a:off x="1443475" y="4245"/>
            <a:ext cx="5338363" cy="677242"/>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21" name="Rectangle 4">
            <a:extLst>
              <a:ext uri="{FF2B5EF4-FFF2-40B4-BE49-F238E27FC236}">
                <a16:creationId xmlns:a16="http://schemas.microsoft.com/office/drawing/2014/main" id="{51CEEA37-8540-6217-573A-084FFECEFD97}"/>
              </a:ext>
            </a:extLst>
          </p:cNvPr>
          <p:cNvSpPr/>
          <p:nvPr/>
        </p:nvSpPr>
        <p:spPr>
          <a:xfrm>
            <a:off x="6788435" y="4245"/>
            <a:ext cx="5417300" cy="677242"/>
          </a:xfrm>
          <a:prstGeom prst="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22" name="Rectangle 21">
            <a:extLst>
              <a:ext uri="{FF2B5EF4-FFF2-40B4-BE49-F238E27FC236}">
                <a16:creationId xmlns:a16="http://schemas.microsoft.com/office/drawing/2014/main" id="{806070D7-3128-A0C6-E9C2-5F43B070B6AD}"/>
              </a:ext>
            </a:extLst>
          </p:cNvPr>
          <p:cNvSpPr/>
          <p:nvPr/>
        </p:nvSpPr>
        <p:spPr>
          <a:xfrm>
            <a:off x="-1671" y="1599"/>
            <a:ext cx="1451167" cy="6866954"/>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200">
              <a:latin typeface="Aptos"/>
              <a:ea typeface="Calibri"/>
              <a:cs typeface="Calibri"/>
            </a:endParaRPr>
          </a:p>
        </p:txBody>
      </p:sp>
      <p:sp>
        <p:nvSpPr>
          <p:cNvPr id="23" name="Rectangle 22">
            <a:extLst>
              <a:ext uri="{FF2B5EF4-FFF2-40B4-BE49-F238E27FC236}">
                <a16:creationId xmlns:a16="http://schemas.microsoft.com/office/drawing/2014/main" id="{8D6ECBFB-96C5-FB15-8DD5-FE1F0FF9C032}"/>
              </a:ext>
            </a:extLst>
          </p:cNvPr>
          <p:cNvSpPr/>
          <p:nvPr/>
        </p:nvSpPr>
        <p:spPr>
          <a:xfrm>
            <a:off x="-1671" y="2528038"/>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Типове клиенти</a:t>
            </a:r>
            <a:endParaRPr lang="en-GB" sz="1400">
              <a:latin typeface="Aptos"/>
              <a:ea typeface="Calibri"/>
              <a:cs typeface="Calibri"/>
            </a:endParaRPr>
          </a:p>
        </p:txBody>
      </p:sp>
      <p:sp>
        <p:nvSpPr>
          <p:cNvPr id="24" name="Rectangle 23">
            <a:extLst>
              <a:ext uri="{FF2B5EF4-FFF2-40B4-BE49-F238E27FC236}">
                <a16:creationId xmlns:a16="http://schemas.microsoft.com/office/drawing/2014/main" id="{4647B957-A5E3-2A9E-D3DF-C797ABCDF5F4}"/>
              </a:ext>
            </a:extLst>
          </p:cNvPr>
          <p:cNvSpPr/>
          <p:nvPr/>
        </p:nvSpPr>
        <p:spPr>
          <a:xfrm>
            <a:off x="8626" y="1913210"/>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Сценарии</a:t>
            </a:r>
            <a:endParaRPr lang="en-GB" sz="1400">
              <a:latin typeface="Aptos"/>
              <a:ea typeface="Calibri"/>
              <a:cs typeface="Calibri"/>
            </a:endParaRPr>
          </a:p>
        </p:txBody>
      </p:sp>
      <p:sp>
        <p:nvSpPr>
          <p:cNvPr id="25" name="Rectangle 24">
            <a:extLst>
              <a:ext uri="{FF2B5EF4-FFF2-40B4-BE49-F238E27FC236}">
                <a16:creationId xmlns:a16="http://schemas.microsoft.com/office/drawing/2014/main" id="{C7C24C13-D2EB-6D5E-B71E-BB78CA406E4B}"/>
              </a:ext>
            </a:extLst>
          </p:cNvPr>
          <p:cNvSpPr/>
          <p:nvPr/>
        </p:nvSpPr>
        <p:spPr>
          <a:xfrm>
            <a:off x="-1671" y="1298382"/>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a:latin typeface="Aptos"/>
                <a:ea typeface="Calibri"/>
                <a:cs typeface="Calibri"/>
              </a:rPr>
              <a:t>Стъпки при среща</a:t>
            </a:r>
            <a:endParaRPr lang="bg-BG"/>
          </a:p>
        </p:txBody>
      </p:sp>
      <p:sp>
        <p:nvSpPr>
          <p:cNvPr id="26" name="Rectangle 28">
            <a:extLst>
              <a:ext uri="{FF2B5EF4-FFF2-40B4-BE49-F238E27FC236}">
                <a16:creationId xmlns:a16="http://schemas.microsoft.com/office/drawing/2014/main" id="{658635B7-5F3F-440C-6CCF-039C1035078E}"/>
              </a:ext>
            </a:extLst>
          </p:cNvPr>
          <p:cNvSpPr/>
          <p:nvPr/>
        </p:nvSpPr>
        <p:spPr>
          <a:xfrm>
            <a:off x="6154" y="690328"/>
            <a:ext cx="1450668" cy="45589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b="1">
                <a:solidFill>
                  <a:srgbClr val="2F5597"/>
                </a:solidFill>
                <a:latin typeface="Aptos"/>
                <a:ea typeface="Calibri"/>
                <a:cs typeface="Calibri"/>
              </a:rPr>
              <a:t>Подготовка</a:t>
            </a:r>
            <a:endParaRPr lang="en-GB" sz="1400" b="1">
              <a:solidFill>
                <a:srgbClr val="2F5597"/>
              </a:solidFill>
              <a:latin typeface="Aptos"/>
              <a:ea typeface="Calibri"/>
              <a:cs typeface="Calibri"/>
            </a:endParaRPr>
          </a:p>
        </p:txBody>
      </p:sp>
      <p:pic>
        <p:nvPicPr>
          <p:cNvPr id="27" name="Picture 26">
            <a:extLst>
              <a:ext uri="{FF2B5EF4-FFF2-40B4-BE49-F238E27FC236}">
                <a16:creationId xmlns:a16="http://schemas.microsoft.com/office/drawing/2014/main" id="{1388CFED-E160-E609-EF24-7FAD7997BFF0}"/>
              </a:ext>
            </a:extLst>
          </p:cNvPr>
          <p:cNvPicPr>
            <a:picLocks noChangeAspect="1"/>
          </p:cNvPicPr>
          <p:nvPr/>
        </p:nvPicPr>
        <p:blipFill>
          <a:blip r:embed="rId3"/>
          <a:stretch>
            <a:fillRect/>
          </a:stretch>
        </p:blipFill>
        <p:spPr>
          <a:xfrm>
            <a:off x="10883590" y="5621341"/>
            <a:ext cx="982751" cy="995681"/>
          </a:xfrm>
          <a:prstGeom prst="rect">
            <a:avLst/>
          </a:prstGeom>
        </p:spPr>
      </p:pic>
      <p:sp>
        <p:nvSpPr>
          <p:cNvPr id="8" name="Rectangle 13">
            <a:extLst>
              <a:ext uri="{FF2B5EF4-FFF2-40B4-BE49-F238E27FC236}">
                <a16:creationId xmlns:a16="http://schemas.microsoft.com/office/drawing/2014/main" id="{04F43B41-CE56-09BC-CEE7-8CB0FD36B8FB}"/>
              </a:ext>
            </a:extLst>
          </p:cNvPr>
          <p:cNvSpPr/>
          <p:nvPr/>
        </p:nvSpPr>
        <p:spPr>
          <a:xfrm>
            <a:off x="2157455" y="2075081"/>
            <a:ext cx="2932281" cy="677242"/>
          </a:xfrm>
          <a:prstGeom prst="round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600"/>
              <a:t>Дългосрочна</a:t>
            </a:r>
            <a:endParaRPr lang="en-GB" sz="1600"/>
          </a:p>
        </p:txBody>
      </p:sp>
      <p:sp>
        <p:nvSpPr>
          <p:cNvPr id="9" name="Rectangle 13">
            <a:extLst>
              <a:ext uri="{FF2B5EF4-FFF2-40B4-BE49-F238E27FC236}">
                <a16:creationId xmlns:a16="http://schemas.microsoft.com/office/drawing/2014/main" id="{3D3A14C7-30C7-8BBF-E125-250D0FB4D38C}"/>
              </a:ext>
            </a:extLst>
          </p:cNvPr>
          <p:cNvSpPr/>
          <p:nvPr/>
        </p:nvSpPr>
        <p:spPr>
          <a:xfrm>
            <a:off x="2157455" y="2887881"/>
            <a:ext cx="2932281" cy="677242"/>
          </a:xfrm>
          <a:prstGeom prst="roundRect">
            <a:avLst/>
          </a:prstGeom>
          <a:solidFill>
            <a:srgbClr val="4472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600"/>
              <a:t>Краткосрочна</a:t>
            </a:r>
            <a:endParaRPr lang="en-GB" sz="1600"/>
          </a:p>
        </p:txBody>
      </p:sp>
      <p:sp>
        <p:nvSpPr>
          <p:cNvPr id="10" name="Rectangle 13">
            <a:extLst>
              <a:ext uri="{FF2B5EF4-FFF2-40B4-BE49-F238E27FC236}">
                <a16:creationId xmlns:a16="http://schemas.microsoft.com/office/drawing/2014/main" id="{CC54E2F5-91CD-AF2C-C9D6-7E03213589FD}"/>
              </a:ext>
            </a:extLst>
          </p:cNvPr>
          <p:cNvSpPr/>
          <p:nvPr/>
        </p:nvSpPr>
        <p:spPr>
          <a:xfrm>
            <a:off x="2157455" y="3700681"/>
            <a:ext cx="2932281" cy="677242"/>
          </a:xfrm>
          <a:prstGeom prst="round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600"/>
              <a:t>Имиджова</a:t>
            </a:r>
            <a:endParaRPr lang="en-GB" sz="1600"/>
          </a:p>
        </p:txBody>
      </p:sp>
      <p:sp>
        <p:nvSpPr>
          <p:cNvPr id="2" name="TextBox 1">
            <a:extLst>
              <a:ext uri="{FF2B5EF4-FFF2-40B4-BE49-F238E27FC236}">
                <a16:creationId xmlns:a16="http://schemas.microsoft.com/office/drawing/2014/main" id="{35D285D3-8430-1993-03E4-5100968F5717}"/>
              </a:ext>
            </a:extLst>
          </p:cNvPr>
          <p:cNvSpPr txBox="1"/>
          <p:nvPr/>
        </p:nvSpPr>
        <p:spPr>
          <a:xfrm>
            <a:off x="6329256" y="2090787"/>
            <a:ext cx="4992289"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err="1">
                <a:ea typeface="+mn-lt"/>
                <a:cs typeface="+mn-lt"/>
              </a:rPr>
              <a:t>Краткосрочна</a:t>
            </a:r>
            <a:r>
              <a:rPr lang="en-US" sz="1200" b="1">
                <a:ea typeface="+mn-lt"/>
                <a:cs typeface="+mn-lt"/>
              </a:rPr>
              <a:t> </a:t>
            </a:r>
            <a:r>
              <a:rPr lang="en-US" sz="1200" b="1" err="1">
                <a:ea typeface="+mn-lt"/>
                <a:cs typeface="+mn-lt"/>
              </a:rPr>
              <a:t>стратегия</a:t>
            </a:r>
            <a:br>
              <a:rPr lang="en-US" sz="1200" b="1">
                <a:ea typeface="+mn-lt"/>
                <a:cs typeface="+mn-lt"/>
              </a:rPr>
            </a:br>
            <a:r>
              <a:rPr lang="en-US" sz="1200" b="1">
                <a:ea typeface="+mn-lt"/>
                <a:cs typeface="+mn-lt"/>
              </a:rPr>
              <a:t> </a:t>
            </a:r>
            <a:r>
              <a:rPr lang="en-US" sz="1200" b="1" err="1">
                <a:ea typeface="+mn-lt"/>
                <a:cs typeface="+mn-lt"/>
              </a:rPr>
              <a:t>Тук</a:t>
            </a:r>
            <a:r>
              <a:rPr lang="en-US" sz="1200" b="1">
                <a:ea typeface="+mn-lt"/>
                <a:cs typeface="+mn-lt"/>
              </a:rPr>
              <a:t> </a:t>
            </a:r>
            <a:r>
              <a:rPr lang="en-US" sz="1200" b="1" err="1">
                <a:ea typeface="+mn-lt"/>
                <a:cs typeface="+mn-lt"/>
              </a:rPr>
              <a:t>целта</a:t>
            </a:r>
            <a:r>
              <a:rPr lang="en-US" sz="1200" b="1">
                <a:ea typeface="+mn-lt"/>
                <a:cs typeface="+mn-lt"/>
              </a:rPr>
              <a:t> е </a:t>
            </a:r>
            <a:r>
              <a:rPr lang="en-US" sz="1200" b="1" err="1">
                <a:ea typeface="+mn-lt"/>
                <a:cs typeface="+mn-lt"/>
              </a:rPr>
              <a:t>да</a:t>
            </a:r>
            <a:r>
              <a:rPr lang="en-US" sz="1200" b="1">
                <a:ea typeface="+mn-lt"/>
                <a:cs typeface="+mn-lt"/>
              </a:rPr>
              <a:t> </a:t>
            </a:r>
            <a:r>
              <a:rPr lang="en-US" sz="1200" b="1" err="1">
                <a:ea typeface="+mn-lt"/>
                <a:cs typeface="+mn-lt"/>
              </a:rPr>
              <a:t>се</a:t>
            </a:r>
            <a:r>
              <a:rPr lang="en-US" sz="1200" b="1">
                <a:ea typeface="+mn-lt"/>
                <a:cs typeface="+mn-lt"/>
              </a:rPr>
              <a:t> </a:t>
            </a:r>
            <a:r>
              <a:rPr lang="en-US" sz="1200" b="1" err="1">
                <a:ea typeface="+mn-lt"/>
                <a:cs typeface="+mn-lt"/>
              </a:rPr>
              <a:t>постигне</a:t>
            </a:r>
            <a:r>
              <a:rPr lang="en-US" sz="1200" b="1">
                <a:ea typeface="+mn-lt"/>
                <a:cs typeface="+mn-lt"/>
              </a:rPr>
              <a:t> </a:t>
            </a:r>
            <a:r>
              <a:rPr lang="en-US" sz="1200" b="1" err="1">
                <a:ea typeface="+mn-lt"/>
                <a:cs typeface="+mn-lt"/>
              </a:rPr>
              <a:t>конкретен</a:t>
            </a:r>
            <a:r>
              <a:rPr lang="en-US" sz="1200" b="1">
                <a:ea typeface="+mn-lt"/>
                <a:cs typeface="+mn-lt"/>
              </a:rPr>
              <a:t> </a:t>
            </a:r>
            <a:r>
              <a:rPr lang="en-US" sz="1200" b="1" err="1">
                <a:ea typeface="+mn-lt"/>
                <a:cs typeface="+mn-lt"/>
              </a:rPr>
              <a:t>резултат</a:t>
            </a:r>
            <a:r>
              <a:rPr lang="en-US" sz="1200" b="1">
                <a:ea typeface="+mn-lt"/>
                <a:cs typeface="+mn-lt"/>
              </a:rPr>
              <a:t> в </a:t>
            </a:r>
            <a:r>
              <a:rPr lang="en-US" sz="1200" b="1" err="1">
                <a:ea typeface="+mn-lt"/>
                <a:cs typeface="+mn-lt"/>
              </a:rPr>
              <a:t>рамките</a:t>
            </a:r>
            <a:r>
              <a:rPr lang="en-US" sz="1200" b="1">
                <a:ea typeface="+mn-lt"/>
                <a:cs typeface="+mn-lt"/>
              </a:rPr>
              <a:t> </a:t>
            </a:r>
            <a:r>
              <a:rPr lang="en-US" sz="1200" b="1" err="1">
                <a:ea typeface="+mn-lt"/>
                <a:cs typeface="+mn-lt"/>
              </a:rPr>
              <a:t>на</a:t>
            </a:r>
            <a:r>
              <a:rPr lang="en-US" sz="1200" b="1">
                <a:ea typeface="+mn-lt"/>
                <a:cs typeface="+mn-lt"/>
              </a:rPr>
              <a:t> </a:t>
            </a:r>
            <a:r>
              <a:rPr lang="en-US" sz="1200" b="1" err="1">
                <a:ea typeface="+mn-lt"/>
                <a:cs typeface="+mn-lt"/>
              </a:rPr>
              <a:t>тази</a:t>
            </a:r>
            <a:r>
              <a:rPr lang="en-US" sz="1200" b="1">
                <a:ea typeface="+mn-lt"/>
                <a:cs typeface="+mn-lt"/>
              </a:rPr>
              <a:t> </a:t>
            </a:r>
            <a:r>
              <a:rPr lang="en-US" sz="1200" b="1" err="1">
                <a:ea typeface="+mn-lt"/>
                <a:cs typeface="+mn-lt"/>
              </a:rPr>
              <a:t>среща</a:t>
            </a:r>
            <a:r>
              <a:rPr lang="en-US" sz="1200">
                <a:ea typeface="+mn-lt"/>
                <a:cs typeface="+mn-lt"/>
              </a:rPr>
              <a:t> </a:t>
            </a:r>
            <a:r>
              <a:rPr lang="en-US" sz="1200" err="1">
                <a:ea typeface="+mn-lt"/>
                <a:cs typeface="+mn-lt"/>
              </a:rPr>
              <a:t>или</a:t>
            </a:r>
            <a:r>
              <a:rPr lang="en-US" sz="1200">
                <a:ea typeface="+mn-lt"/>
                <a:cs typeface="+mn-lt"/>
              </a:rPr>
              <a:t> </a:t>
            </a:r>
            <a:r>
              <a:rPr lang="en-US" sz="1200" err="1">
                <a:ea typeface="+mn-lt"/>
                <a:cs typeface="+mn-lt"/>
              </a:rPr>
              <a:t>скоро</a:t>
            </a:r>
            <a:r>
              <a:rPr lang="en-US" sz="1200">
                <a:ea typeface="+mn-lt"/>
                <a:cs typeface="+mn-lt"/>
              </a:rPr>
              <a:t> </a:t>
            </a:r>
            <a:r>
              <a:rPr lang="en-US" sz="1200" err="1">
                <a:ea typeface="+mn-lt"/>
                <a:cs typeface="+mn-lt"/>
              </a:rPr>
              <a:t>след</a:t>
            </a:r>
            <a:r>
              <a:rPr lang="en-US" sz="1200">
                <a:ea typeface="+mn-lt"/>
                <a:cs typeface="+mn-lt"/>
              </a:rPr>
              <a:t> </a:t>
            </a:r>
            <a:r>
              <a:rPr lang="en-US" sz="1200" err="1">
                <a:ea typeface="+mn-lt"/>
                <a:cs typeface="+mn-lt"/>
              </a:rPr>
              <a:t>нея</a:t>
            </a:r>
            <a:r>
              <a:rPr lang="en-US" sz="1200">
                <a:ea typeface="+mn-lt"/>
                <a:cs typeface="+mn-lt"/>
              </a:rPr>
              <a:t>.</a:t>
            </a:r>
            <a:endParaRPr lang="en-US">
              <a:ea typeface="+mn-lt"/>
              <a:cs typeface="+mn-lt"/>
            </a:endParaRPr>
          </a:p>
          <a:p>
            <a:r>
              <a:rPr lang="en-US" sz="1200" err="1">
                <a:ea typeface="+mn-lt"/>
                <a:cs typeface="+mn-lt"/>
              </a:rPr>
              <a:t>Подходяща</a:t>
            </a:r>
            <a:r>
              <a:rPr lang="en-US" sz="1200">
                <a:ea typeface="+mn-lt"/>
                <a:cs typeface="+mn-lt"/>
              </a:rPr>
              <a:t> е, </a:t>
            </a:r>
            <a:r>
              <a:rPr lang="en-US" sz="1200" err="1">
                <a:ea typeface="+mn-lt"/>
                <a:cs typeface="+mn-lt"/>
              </a:rPr>
              <a:t>когато</a:t>
            </a:r>
            <a:r>
              <a:rPr lang="en-US" sz="1200">
                <a:ea typeface="+mn-lt"/>
                <a:cs typeface="+mn-lt"/>
              </a:rPr>
              <a:t>:</a:t>
            </a:r>
            <a:endParaRPr lang="en-US">
              <a:ea typeface="+mn-lt"/>
              <a:cs typeface="+mn-lt"/>
            </a:endParaRPr>
          </a:p>
          <a:p>
            <a:pPr marL="285750" indent="-285750">
              <a:buFont typeface="Arial"/>
              <a:buChar char="•"/>
            </a:pPr>
            <a:r>
              <a:rPr lang="en-US" sz="1200" err="1">
                <a:ea typeface="+mn-lt"/>
                <a:cs typeface="+mn-lt"/>
              </a:rPr>
              <a:t>има</a:t>
            </a:r>
            <a:r>
              <a:rPr lang="en-US" sz="1200">
                <a:ea typeface="+mn-lt"/>
                <a:cs typeface="+mn-lt"/>
              </a:rPr>
              <a:t> </a:t>
            </a:r>
            <a:r>
              <a:rPr lang="en-US" sz="1200" err="1">
                <a:ea typeface="+mn-lt"/>
                <a:cs typeface="+mn-lt"/>
              </a:rPr>
              <a:t>ясен</a:t>
            </a:r>
            <a:r>
              <a:rPr lang="en-US" sz="1200">
                <a:ea typeface="+mn-lt"/>
                <a:cs typeface="+mn-lt"/>
              </a:rPr>
              <a:t> </a:t>
            </a:r>
            <a:r>
              <a:rPr lang="en-US" sz="1200" err="1">
                <a:ea typeface="+mn-lt"/>
                <a:cs typeface="+mn-lt"/>
              </a:rPr>
              <a:t>повод</a:t>
            </a:r>
            <a:r>
              <a:rPr lang="en-US" sz="1200">
                <a:ea typeface="+mn-lt"/>
                <a:cs typeface="+mn-lt"/>
              </a:rPr>
              <a:t> </a:t>
            </a:r>
            <a:endParaRPr lang="en-US"/>
          </a:p>
          <a:p>
            <a:pPr marL="285750" indent="-285750">
              <a:buFont typeface="Arial"/>
              <a:buChar char="•"/>
            </a:pPr>
            <a:r>
              <a:rPr lang="en-US" sz="1200" err="1">
                <a:ea typeface="+mn-lt"/>
                <a:cs typeface="+mn-lt"/>
              </a:rPr>
              <a:t>има</a:t>
            </a:r>
            <a:r>
              <a:rPr lang="en-US" sz="1200">
                <a:ea typeface="+mn-lt"/>
                <a:cs typeface="+mn-lt"/>
              </a:rPr>
              <a:t> </a:t>
            </a:r>
            <a:r>
              <a:rPr lang="en-US" sz="1200" err="1">
                <a:ea typeface="+mn-lt"/>
                <a:cs typeface="+mn-lt"/>
              </a:rPr>
              <a:t>конкретна</a:t>
            </a:r>
            <a:r>
              <a:rPr lang="en-US" sz="1200">
                <a:ea typeface="+mn-lt"/>
                <a:cs typeface="+mn-lt"/>
              </a:rPr>
              <a:t> </a:t>
            </a:r>
            <a:r>
              <a:rPr lang="en-US" sz="1200" err="1">
                <a:ea typeface="+mn-lt"/>
                <a:cs typeface="+mn-lt"/>
              </a:rPr>
              <a:t>оферта</a:t>
            </a:r>
            <a:r>
              <a:rPr lang="en-US" sz="1200">
                <a:ea typeface="+mn-lt"/>
                <a:cs typeface="+mn-lt"/>
              </a:rPr>
              <a:t> </a:t>
            </a:r>
            <a:endParaRPr lang="en-US"/>
          </a:p>
          <a:p>
            <a:pPr marL="285750" indent="-285750">
              <a:buFont typeface="Arial"/>
              <a:buChar char="•"/>
            </a:pPr>
            <a:r>
              <a:rPr lang="en-US" sz="1200" err="1">
                <a:ea typeface="+mn-lt"/>
                <a:cs typeface="+mn-lt"/>
              </a:rPr>
              <a:t>клиентът</a:t>
            </a:r>
            <a:r>
              <a:rPr lang="en-US" sz="1200">
                <a:ea typeface="+mn-lt"/>
                <a:cs typeface="+mn-lt"/>
              </a:rPr>
              <a:t> е </a:t>
            </a:r>
            <a:r>
              <a:rPr lang="en-US" sz="1200" err="1">
                <a:ea typeface="+mn-lt"/>
                <a:cs typeface="+mn-lt"/>
              </a:rPr>
              <a:t>предварително</a:t>
            </a:r>
            <a:r>
              <a:rPr lang="en-US" sz="1200">
                <a:ea typeface="+mn-lt"/>
                <a:cs typeface="+mn-lt"/>
              </a:rPr>
              <a:t> </a:t>
            </a:r>
            <a:r>
              <a:rPr lang="en-US" sz="1200" err="1">
                <a:ea typeface="+mn-lt"/>
                <a:cs typeface="+mn-lt"/>
              </a:rPr>
              <a:t>подготвен</a:t>
            </a:r>
            <a:r>
              <a:rPr lang="en-US" sz="1200">
                <a:ea typeface="+mn-lt"/>
                <a:cs typeface="+mn-lt"/>
              </a:rPr>
              <a:t> </a:t>
            </a:r>
            <a:r>
              <a:rPr lang="en-US" sz="1200" err="1">
                <a:ea typeface="+mn-lt"/>
                <a:cs typeface="+mn-lt"/>
              </a:rPr>
              <a:t>или</a:t>
            </a:r>
            <a:r>
              <a:rPr lang="en-US" sz="1200">
                <a:ea typeface="+mn-lt"/>
                <a:cs typeface="+mn-lt"/>
              </a:rPr>
              <a:t> </a:t>
            </a:r>
            <a:r>
              <a:rPr lang="en-US" sz="1200" err="1">
                <a:ea typeface="+mn-lt"/>
                <a:cs typeface="+mn-lt"/>
              </a:rPr>
              <a:t>заинтересован</a:t>
            </a:r>
            <a:r>
              <a:rPr lang="en-US" sz="1200">
                <a:ea typeface="+mn-lt"/>
                <a:cs typeface="+mn-lt"/>
              </a:rPr>
              <a:t> </a:t>
            </a:r>
            <a:endParaRPr lang="en-US"/>
          </a:p>
          <a:p>
            <a:pPr marL="285750" indent="-285750">
              <a:buFont typeface="Arial"/>
              <a:buChar char="•"/>
            </a:pPr>
            <a:r>
              <a:rPr lang="en-US" sz="1200" err="1">
                <a:ea typeface="+mn-lt"/>
                <a:cs typeface="+mn-lt"/>
              </a:rPr>
              <a:t>търсиш</a:t>
            </a:r>
            <a:r>
              <a:rPr lang="en-US" sz="1200">
                <a:ea typeface="+mn-lt"/>
                <a:cs typeface="+mn-lt"/>
              </a:rPr>
              <a:t> </a:t>
            </a:r>
            <a:r>
              <a:rPr lang="en-US" sz="1200" err="1">
                <a:ea typeface="+mn-lt"/>
                <a:cs typeface="+mn-lt"/>
              </a:rPr>
              <a:t>бързо</a:t>
            </a:r>
            <a:r>
              <a:rPr lang="en-US" sz="1200">
                <a:ea typeface="+mn-lt"/>
                <a:cs typeface="+mn-lt"/>
              </a:rPr>
              <a:t> </a:t>
            </a:r>
            <a:r>
              <a:rPr lang="en-US" sz="1200" err="1">
                <a:ea typeface="+mn-lt"/>
                <a:cs typeface="+mn-lt"/>
              </a:rPr>
              <a:t>действие</a:t>
            </a:r>
            <a:r>
              <a:rPr lang="en-US" sz="1200">
                <a:ea typeface="+mn-lt"/>
                <a:cs typeface="+mn-lt"/>
              </a:rPr>
              <a:t> </a:t>
            </a:r>
            <a:endParaRPr lang="en-US"/>
          </a:p>
          <a:p>
            <a:r>
              <a:rPr lang="en-US" sz="1200" err="1">
                <a:ea typeface="+mn-lt"/>
                <a:cs typeface="+mn-lt"/>
              </a:rPr>
              <a:t>Фокус</a:t>
            </a:r>
            <a:r>
              <a:rPr lang="en-US" sz="1200">
                <a:ea typeface="+mn-lt"/>
                <a:cs typeface="+mn-lt"/>
              </a:rPr>
              <a:t> в </a:t>
            </a:r>
            <a:r>
              <a:rPr lang="en-US" sz="1200" err="1">
                <a:ea typeface="+mn-lt"/>
                <a:cs typeface="+mn-lt"/>
              </a:rPr>
              <a:t>срещата</a:t>
            </a:r>
            <a:r>
              <a:rPr lang="en-US" sz="1200">
                <a:ea typeface="+mn-lt"/>
                <a:cs typeface="+mn-lt"/>
              </a:rPr>
              <a:t>:</a:t>
            </a:r>
            <a:endParaRPr lang="en-US">
              <a:ea typeface="+mn-lt"/>
              <a:cs typeface="+mn-lt"/>
            </a:endParaRPr>
          </a:p>
          <a:p>
            <a:pPr marL="285750" indent="-285750">
              <a:buFont typeface="Arial"/>
              <a:buChar char="•"/>
            </a:pPr>
            <a:r>
              <a:rPr lang="en-US" sz="1200" err="1">
                <a:ea typeface="+mn-lt"/>
                <a:cs typeface="+mn-lt"/>
              </a:rPr>
              <a:t>ясно</a:t>
            </a:r>
            <a:r>
              <a:rPr lang="en-US" sz="1200">
                <a:ea typeface="+mn-lt"/>
                <a:cs typeface="+mn-lt"/>
              </a:rPr>
              <a:t> </a:t>
            </a:r>
            <a:r>
              <a:rPr lang="en-US" sz="1200" err="1">
                <a:ea typeface="+mn-lt"/>
                <a:cs typeface="+mn-lt"/>
              </a:rPr>
              <a:t>предложение</a:t>
            </a:r>
            <a:r>
              <a:rPr lang="en-US" sz="1200">
                <a:ea typeface="+mn-lt"/>
                <a:cs typeface="+mn-lt"/>
              </a:rPr>
              <a:t> </a:t>
            </a:r>
            <a:endParaRPr lang="en-US"/>
          </a:p>
          <a:p>
            <a:pPr marL="285750" indent="-285750">
              <a:buFont typeface="Arial"/>
              <a:buChar char="•"/>
            </a:pPr>
            <a:r>
              <a:rPr lang="en-US" sz="1200" err="1">
                <a:ea typeface="+mn-lt"/>
                <a:cs typeface="+mn-lt"/>
              </a:rPr>
              <a:t>конкретна</a:t>
            </a:r>
            <a:r>
              <a:rPr lang="en-US" sz="1200">
                <a:ea typeface="+mn-lt"/>
                <a:cs typeface="+mn-lt"/>
              </a:rPr>
              <a:t> </a:t>
            </a:r>
            <a:r>
              <a:rPr lang="en-US" sz="1200" err="1">
                <a:ea typeface="+mn-lt"/>
                <a:cs typeface="+mn-lt"/>
              </a:rPr>
              <a:t>полза</a:t>
            </a:r>
            <a:r>
              <a:rPr lang="en-US" sz="1200">
                <a:ea typeface="+mn-lt"/>
                <a:cs typeface="+mn-lt"/>
              </a:rPr>
              <a:t> </a:t>
            </a:r>
            <a:endParaRPr lang="en-US"/>
          </a:p>
          <a:p>
            <a:pPr marL="285750" indent="-285750">
              <a:buFont typeface="Arial"/>
              <a:buChar char="•"/>
            </a:pPr>
            <a:r>
              <a:rPr lang="en-US" sz="1200" err="1">
                <a:ea typeface="+mn-lt"/>
                <a:cs typeface="+mn-lt"/>
              </a:rPr>
              <a:t>кратък</a:t>
            </a:r>
            <a:r>
              <a:rPr lang="en-US" sz="1200">
                <a:ea typeface="+mn-lt"/>
                <a:cs typeface="+mn-lt"/>
              </a:rPr>
              <a:t> и </a:t>
            </a:r>
            <a:r>
              <a:rPr lang="en-US" sz="1200" err="1">
                <a:ea typeface="+mn-lt"/>
                <a:cs typeface="+mn-lt"/>
              </a:rPr>
              <a:t>подреден</a:t>
            </a:r>
            <a:r>
              <a:rPr lang="en-US" sz="1200">
                <a:ea typeface="+mn-lt"/>
                <a:cs typeface="+mn-lt"/>
              </a:rPr>
              <a:t> </a:t>
            </a:r>
            <a:r>
              <a:rPr lang="en-US" sz="1200" err="1">
                <a:ea typeface="+mn-lt"/>
                <a:cs typeface="+mn-lt"/>
              </a:rPr>
              <a:t>разговор</a:t>
            </a:r>
            <a:r>
              <a:rPr lang="en-US" sz="1200">
                <a:ea typeface="+mn-lt"/>
                <a:cs typeface="+mn-lt"/>
              </a:rPr>
              <a:t> </a:t>
            </a:r>
            <a:endParaRPr lang="en-US"/>
          </a:p>
          <a:p>
            <a:pPr marL="285750" indent="-285750">
              <a:buFont typeface="Arial"/>
              <a:buChar char="•"/>
            </a:pPr>
            <a:r>
              <a:rPr lang="en-US" sz="1200" err="1">
                <a:ea typeface="+mn-lt"/>
                <a:cs typeface="+mn-lt"/>
              </a:rPr>
              <a:t>работа</a:t>
            </a:r>
            <a:r>
              <a:rPr lang="en-US" sz="1200">
                <a:ea typeface="+mn-lt"/>
                <a:cs typeface="+mn-lt"/>
              </a:rPr>
              <a:t> </a:t>
            </a:r>
            <a:r>
              <a:rPr lang="en-US" sz="1200" err="1">
                <a:ea typeface="+mn-lt"/>
                <a:cs typeface="+mn-lt"/>
              </a:rPr>
              <a:t>по</a:t>
            </a:r>
            <a:r>
              <a:rPr lang="en-US" sz="1200">
                <a:ea typeface="+mn-lt"/>
                <a:cs typeface="+mn-lt"/>
              </a:rPr>
              <a:t> </a:t>
            </a:r>
            <a:r>
              <a:rPr lang="en-US" sz="1200" err="1">
                <a:ea typeface="+mn-lt"/>
                <a:cs typeface="+mn-lt"/>
              </a:rPr>
              <a:t>възражения</a:t>
            </a:r>
            <a:r>
              <a:rPr lang="en-US" sz="1200">
                <a:ea typeface="+mn-lt"/>
                <a:cs typeface="+mn-lt"/>
              </a:rPr>
              <a:t> </a:t>
            </a:r>
            <a:endParaRPr lang="en-US"/>
          </a:p>
          <a:p>
            <a:pPr marL="285750" indent="-285750">
              <a:buFont typeface="Arial"/>
              <a:buChar char="•"/>
            </a:pPr>
            <a:r>
              <a:rPr lang="en-US" sz="1200" err="1">
                <a:ea typeface="+mn-lt"/>
                <a:cs typeface="+mn-lt"/>
              </a:rPr>
              <a:t>затваряне</a:t>
            </a:r>
            <a:r>
              <a:rPr lang="en-US" sz="1200">
                <a:ea typeface="+mn-lt"/>
                <a:cs typeface="+mn-lt"/>
              </a:rPr>
              <a:t> / </a:t>
            </a:r>
            <a:r>
              <a:rPr lang="en-US" sz="1200" err="1">
                <a:ea typeface="+mn-lt"/>
                <a:cs typeface="+mn-lt"/>
              </a:rPr>
              <a:t>поемане</a:t>
            </a:r>
            <a:r>
              <a:rPr lang="en-US" sz="1200">
                <a:ea typeface="+mn-lt"/>
                <a:cs typeface="+mn-lt"/>
              </a:rPr>
              <a:t> </a:t>
            </a:r>
            <a:r>
              <a:rPr lang="en-US" sz="1200" err="1">
                <a:ea typeface="+mn-lt"/>
                <a:cs typeface="+mn-lt"/>
              </a:rPr>
              <a:t>на</a:t>
            </a:r>
            <a:r>
              <a:rPr lang="en-US" sz="1200">
                <a:ea typeface="+mn-lt"/>
                <a:cs typeface="+mn-lt"/>
              </a:rPr>
              <a:t> </a:t>
            </a:r>
            <a:r>
              <a:rPr lang="en-US" sz="1200" err="1">
                <a:ea typeface="+mn-lt"/>
                <a:cs typeface="+mn-lt"/>
              </a:rPr>
              <a:t>ангажимент</a:t>
            </a:r>
            <a:endParaRPr lang="en-US" err="1"/>
          </a:p>
          <a:p>
            <a:pPr algn="l"/>
            <a:endParaRPr lang="en-US" sz="1200" b="1"/>
          </a:p>
        </p:txBody>
      </p:sp>
    </p:spTree>
    <p:extLst>
      <p:ext uri="{BB962C8B-B14F-4D97-AF65-F5344CB8AC3E}">
        <p14:creationId xmlns:p14="http://schemas.microsoft.com/office/powerpoint/2010/main" val="3358017070"/>
      </p:ext>
    </p:extLst>
  </p:cSld>
  <p:clrMapOvr>
    <a:masterClrMapping/>
  </p:clrMapOvr>
  <mc:AlternateContent xmlns:mc="http://schemas.openxmlformats.org/markup-compatibility/2006" xmlns:p14="http://schemas.microsoft.com/office/powerpoint/2010/main">
    <mc:Choice Requires="p14">
      <p:transition spd="slow" p14:dur="2000" advTm="6522"/>
    </mc:Choice>
    <mc:Fallback xmlns="">
      <p:transition spd="slow" advTm="6522"/>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B396C9-E997-1A03-C019-EC9BF61C15A5}"/>
            </a:ext>
          </a:extLst>
        </p:cNvPr>
        <p:cNvGrpSpPr/>
        <p:nvPr/>
      </p:nvGrpSpPr>
      <p:grpSpPr>
        <a:xfrm>
          <a:off x="0" y="0"/>
          <a:ext cx="0" cy="0"/>
          <a:chOff x="0" y="0"/>
          <a:chExt cx="0" cy="0"/>
        </a:xfrm>
      </p:grpSpPr>
      <p:sp>
        <p:nvSpPr>
          <p:cNvPr id="20" name="Rectangle 3">
            <a:extLst>
              <a:ext uri="{FF2B5EF4-FFF2-40B4-BE49-F238E27FC236}">
                <a16:creationId xmlns:a16="http://schemas.microsoft.com/office/drawing/2014/main" id="{99A84CF4-7368-6165-5768-DF7D1180C082}"/>
              </a:ext>
            </a:extLst>
          </p:cNvPr>
          <p:cNvSpPr/>
          <p:nvPr/>
        </p:nvSpPr>
        <p:spPr>
          <a:xfrm>
            <a:off x="1443475" y="4245"/>
            <a:ext cx="5338363" cy="677242"/>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21" name="Rectangle 4">
            <a:extLst>
              <a:ext uri="{FF2B5EF4-FFF2-40B4-BE49-F238E27FC236}">
                <a16:creationId xmlns:a16="http://schemas.microsoft.com/office/drawing/2014/main" id="{ED39DCCC-CC3D-6D0F-EA52-6578A57D236A}"/>
              </a:ext>
            </a:extLst>
          </p:cNvPr>
          <p:cNvSpPr/>
          <p:nvPr/>
        </p:nvSpPr>
        <p:spPr>
          <a:xfrm>
            <a:off x="6788435" y="4245"/>
            <a:ext cx="5417300" cy="677242"/>
          </a:xfrm>
          <a:prstGeom prst="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22" name="Rectangle 21">
            <a:extLst>
              <a:ext uri="{FF2B5EF4-FFF2-40B4-BE49-F238E27FC236}">
                <a16:creationId xmlns:a16="http://schemas.microsoft.com/office/drawing/2014/main" id="{DC9A0123-76C3-C8BC-B4F3-9D15A7BAEB73}"/>
              </a:ext>
            </a:extLst>
          </p:cNvPr>
          <p:cNvSpPr/>
          <p:nvPr/>
        </p:nvSpPr>
        <p:spPr>
          <a:xfrm>
            <a:off x="-1671" y="1599"/>
            <a:ext cx="1451167" cy="6866954"/>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200">
              <a:latin typeface="Aptos"/>
              <a:ea typeface="Calibri"/>
              <a:cs typeface="Calibri"/>
            </a:endParaRPr>
          </a:p>
        </p:txBody>
      </p:sp>
      <p:sp>
        <p:nvSpPr>
          <p:cNvPr id="23" name="Rectangle 22">
            <a:extLst>
              <a:ext uri="{FF2B5EF4-FFF2-40B4-BE49-F238E27FC236}">
                <a16:creationId xmlns:a16="http://schemas.microsoft.com/office/drawing/2014/main" id="{0B8723C7-13E6-B455-BD25-88624373C476}"/>
              </a:ext>
            </a:extLst>
          </p:cNvPr>
          <p:cNvSpPr/>
          <p:nvPr/>
        </p:nvSpPr>
        <p:spPr>
          <a:xfrm>
            <a:off x="-1671" y="2528038"/>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Типове клиенти</a:t>
            </a:r>
            <a:endParaRPr lang="en-GB" sz="1400">
              <a:latin typeface="Aptos"/>
              <a:ea typeface="Calibri"/>
              <a:cs typeface="Calibri"/>
            </a:endParaRPr>
          </a:p>
        </p:txBody>
      </p:sp>
      <p:sp>
        <p:nvSpPr>
          <p:cNvPr id="24" name="Rectangle 23">
            <a:extLst>
              <a:ext uri="{FF2B5EF4-FFF2-40B4-BE49-F238E27FC236}">
                <a16:creationId xmlns:a16="http://schemas.microsoft.com/office/drawing/2014/main" id="{8C42084E-E3E0-6B6F-17ED-AF1B62189BFF}"/>
              </a:ext>
            </a:extLst>
          </p:cNvPr>
          <p:cNvSpPr/>
          <p:nvPr/>
        </p:nvSpPr>
        <p:spPr>
          <a:xfrm>
            <a:off x="8626" y="1913210"/>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Сценарии</a:t>
            </a:r>
            <a:endParaRPr lang="en-GB" sz="1400">
              <a:latin typeface="Aptos"/>
              <a:ea typeface="Calibri"/>
              <a:cs typeface="Calibri"/>
            </a:endParaRPr>
          </a:p>
        </p:txBody>
      </p:sp>
      <p:sp>
        <p:nvSpPr>
          <p:cNvPr id="25" name="Rectangle 24">
            <a:extLst>
              <a:ext uri="{FF2B5EF4-FFF2-40B4-BE49-F238E27FC236}">
                <a16:creationId xmlns:a16="http://schemas.microsoft.com/office/drawing/2014/main" id="{5DA8A0F1-C17B-077F-E64C-EB1DCF430625}"/>
              </a:ext>
            </a:extLst>
          </p:cNvPr>
          <p:cNvSpPr/>
          <p:nvPr/>
        </p:nvSpPr>
        <p:spPr>
          <a:xfrm>
            <a:off x="-1671" y="1298382"/>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a:latin typeface="Aptos"/>
                <a:ea typeface="Calibri"/>
                <a:cs typeface="Calibri"/>
              </a:rPr>
              <a:t>Стъпки при среща</a:t>
            </a:r>
            <a:endParaRPr lang="bg-BG"/>
          </a:p>
        </p:txBody>
      </p:sp>
      <p:sp>
        <p:nvSpPr>
          <p:cNvPr id="26" name="Rectangle 28">
            <a:extLst>
              <a:ext uri="{FF2B5EF4-FFF2-40B4-BE49-F238E27FC236}">
                <a16:creationId xmlns:a16="http://schemas.microsoft.com/office/drawing/2014/main" id="{6EA0AD55-7AA7-A361-58B9-517467856D9F}"/>
              </a:ext>
            </a:extLst>
          </p:cNvPr>
          <p:cNvSpPr/>
          <p:nvPr/>
        </p:nvSpPr>
        <p:spPr>
          <a:xfrm>
            <a:off x="6154" y="690328"/>
            <a:ext cx="1450668" cy="45589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b="1">
                <a:solidFill>
                  <a:srgbClr val="2F5597"/>
                </a:solidFill>
                <a:latin typeface="Aptos"/>
                <a:ea typeface="Calibri"/>
                <a:cs typeface="Calibri"/>
              </a:rPr>
              <a:t>Подготовка</a:t>
            </a:r>
            <a:endParaRPr lang="en-GB" sz="1400" b="1">
              <a:solidFill>
                <a:srgbClr val="2F5597"/>
              </a:solidFill>
              <a:latin typeface="Aptos"/>
              <a:ea typeface="Calibri"/>
              <a:cs typeface="Calibri"/>
            </a:endParaRPr>
          </a:p>
        </p:txBody>
      </p:sp>
      <p:pic>
        <p:nvPicPr>
          <p:cNvPr id="27" name="Picture 26">
            <a:extLst>
              <a:ext uri="{FF2B5EF4-FFF2-40B4-BE49-F238E27FC236}">
                <a16:creationId xmlns:a16="http://schemas.microsoft.com/office/drawing/2014/main" id="{42BD2FC8-D563-7D4F-8AA0-F520AE2FA5CA}"/>
              </a:ext>
            </a:extLst>
          </p:cNvPr>
          <p:cNvPicPr>
            <a:picLocks noChangeAspect="1"/>
          </p:cNvPicPr>
          <p:nvPr/>
        </p:nvPicPr>
        <p:blipFill>
          <a:blip r:embed="rId3"/>
          <a:stretch>
            <a:fillRect/>
          </a:stretch>
        </p:blipFill>
        <p:spPr>
          <a:xfrm>
            <a:off x="10883590" y="5621341"/>
            <a:ext cx="982751" cy="995681"/>
          </a:xfrm>
          <a:prstGeom prst="rect">
            <a:avLst/>
          </a:prstGeom>
        </p:spPr>
      </p:pic>
      <p:sp>
        <p:nvSpPr>
          <p:cNvPr id="8" name="Rectangle 13">
            <a:extLst>
              <a:ext uri="{FF2B5EF4-FFF2-40B4-BE49-F238E27FC236}">
                <a16:creationId xmlns:a16="http://schemas.microsoft.com/office/drawing/2014/main" id="{EE5EEB87-25D2-7F44-D5EB-DA17339FAD91}"/>
              </a:ext>
            </a:extLst>
          </p:cNvPr>
          <p:cNvSpPr/>
          <p:nvPr/>
        </p:nvSpPr>
        <p:spPr>
          <a:xfrm>
            <a:off x="2157455" y="2075081"/>
            <a:ext cx="2932281" cy="677242"/>
          </a:xfrm>
          <a:prstGeom prst="round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600"/>
              <a:t>Дългосрочна</a:t>
            </a:r>
            <a:endParaRPr lang="en-GB" sz="1600"/>
          </a:p>
        </p:txBody>
      </p:sp>
      <p:sp>
        <p:nvSpPr>
          <p:cNvPr id="9" name="Rectangle 13">
            <a:extLst>
              <a:ext uri="{FF2B5EF4-FFF2-40B4-BE49-F238E27FC236}">
                <a16:creationId xmlns:a16="http://schemas.microsoft.com/office/drawing/2014/main" id="{CF2C8670-D055-1BF5-12ED-BD1859F80CFC}"/>
              </a:ext>
            </a:extLst>
          </p:cNvPr>
          <p:cNvSpPr/>
          <p:nvPr/>
        </p:nvSpPr>
        <p:spPr>
          <a:xfrm>
            <a:off x="2157455" y="2887881"/>
            <a:ext cx="2932281" cy="677242"/>
          </a:xfrm>
          <a:prstGeom prst="round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600"/>
              <a:t>Краткосрочна</a:t>
            </a:r>
            <a:endParaRPr lang="en-GB" sz="1600"/>
          </a:p>
        </p:txBody>
      </p:sp>
      <p:sp>
        <p:nvSpPr>
          <p:cNvPr id="10" name="Rectangle 13">
            <a:extLst>
              <a:ext uri="{FF2B5EF4-FFF2-40B4-BE49-F238E27FC236}">
                <a16:creationId xmlns:a16="http://schemas.microsoft.com/office/drawing/2014/main" id="{A7DA99AB-3E6E-7966-C42F-3A6ADE0A1815}"/>
              </a:ext>
            </a:extLst>
          </p:cNvPr>
          <p:cNvSpPr/>
          <p:nvPr/>
        </p:nvSpPr>
        <p:spPr>
          <a:xfrm>
            <a:off x="2157455" y="3700681"/>
            <a:ext cx="2932281" cy="677242"/>
          </a:xfrm>
          <a:prstGeom prst="roundRect">
            <a:avLst/>
          </a:prstGeom>
          <a:solidFill>
            <a:srgbClr val="4472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600"/>
              <a:t>Имиджова</a:t>
            </a:r>
            <a:endParaRPr lang="en-GB" sz="1600"/>
          </a:p>
        </p:txBody>
      </p:sp>
      <p:sp>
        <p:nvSpPr>
          <p:cNvPr id="2" name="TextBox 1">
            <a:extLst>
              <a:ext uri="{FF2B5EF4-FFF2-40B4-BE49-F238E27FC236}">
                <a16:creationId xmlns:a16="http://schemas.microsoft.com/office/drawing/2014/main" id="{5DC6BC39-7A0B-C285-D9E7-2F61FB66600D}"/>
              </a:ext>
            </a:extLst>
          </p:cNvPr>
          <p:cNvSpPr txBox="1"/>
          <p:nvPr/>
        </p:nvSpPr>
        <p:spPr>
          <a:xfrm>
            <a:off x="6329256" y="2090787"/>
            <a:ext cx="4992289" cy="249299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err="1">
                <a:ea typeface="+mn-lt"/>
                <a:cs typeface="+mn-lt"/>
              </a:rPr>
              <a:t>Тук</a:t>
            </a:r>
            <a:r>
              <a:rPr lang="en-US" sz="1200">
                <a:ea typeface="+mn-lt"/>
                <a:cs typeface="+mn-lt"/>
              </a:rPr>
              <a:t> </a:t>
            </a:r>
            <a:r>
              <a:rPr lang="en-US" sz="1200" err="1">
                <a:ea typeface="+mn-lt"/>
                <a:cs typeface="+mn-lt"/>
              </a:rPr>
              <a:t>основната</a:t>
            </a:r>
            <a:r>
              <a:rPr lang="en-US" sz="1200">
                <a:ea typeface="+mn-lt"/>
                <a:cs typeface="+mn-lt"/>
              </a:rPr>
              <a:t> </a:t>
            </a:r>
            <a:r>
              <a:rPr lang="en-US" sz="1200" err="1">
                <a:ea typeface="+mn-lt"/>
                <a:cs typeface="+mn-lt"/>
              </a:rPr>
              <a:t>цел</a:t>
            </a:r>
            <a:r>
              <a:rPr lang="en-US" sz="1200">
                <a:ea typeface="+mn-lt"/>
                <a:cs typeface="+mn-lt"/>
              </a:rPr>
              <a:t> е </a:t>
            </a:r>
            <a:r>
              <a:rPr lang="en-US" sz="1200" err="1">
                <a:ea typeface="+mn-lt"/>
                <a:cs typeface="+mn-lt"/>
              </a:rPr>
              <a:t>да</a:t>
            </a:r>
            <a:r>
              <a:rPr lang="en-US" sz="1200">
                <a:ea typeface="+mn-lt"/>
                <a:cs typeface="+mn-lt"/>
              </a:rPr>
              <a:t> </a:t>
            </a:r>
            <a:r>
              <a:rPr lang="en-US" sz="1200" err="1">
                <a:ea typeface="+mn-lt"/>
                <a:cs typeface="+mn-lt"/>
              </a:rPr>
              <a:t>се</a:t>
            </a:r>
            <a:r>
              <a:rPr lang="en-US" sz="1200">
                <a:ea typeface="+mn-lt"/>
                <a:cs typeface="+mn-lt"/>
              </a:rPr>
              <a:t> </a:t>
            </a:r>
            <a:r>
              <a:rPr lang="en-US" sz="1200" err="1">
                <a:ea typeface="+mn-lt"/>
                <a:cs typeface="+mn-lt"/>
              </a:rPr>
              <a:t>изгради</a:t>
            </a:r>
            <a:r>
              <a:rPr lang="en-US" sz="1200">
                <a:ea typeface="+mn-lt"/>
                <a:cs typeface="+mn-lt"/>
              </a:rPr>
              <a:t> </a:t>
            </a:r>
            <a:r>
              <a:rPr lang="en-US" sz="1200" b="1" err="1">
                <a:ea typeface="+mn-lt"/>
                <a:cs typeface="+mn-lt"/>
              </a:rPr>
              <a:t>добро</a:t>
            </a:r>
            <a:r>
              <a:rPr lang="en-US" sz="1200" b="1">
                <a:ea typeface="+mn-lt"/>
                <a:cs typeface="+mn-lt"/>
              </a:rPr>
              <a:t> </a:t>
            </a:r>
            <a:r>
              <a:rPr lang="en-US" sz="1200" b="1" err="1">
                <a:ea typeface="+mn-lt"/>
                <a:cs typeface="+mn-lt"/>
              </a:rPr>
              <a:t>впечатление</a:t>
            </a:r>
            <a:r>
              <a:rPr lang="en-US" sz="1200" b="1">
                <a:ea typeface="+mn-lt"/>
                <a:cs typeface="+mn-lt"/>
              </a:rPr>
              <a:t> </a:t>
            </a:r>
            <a:r>
              <a:rPr lang="en-US" sz="1200" b="1" err="1">
                <a:ea typeface="+mn-lt"/>
                <a:cs typeface="+mn-lt"/>
              </a:rPr>
              <a:t>за</a:t>
            </a:r>
            <a:r>
              <a:rPr lang="en-US" sz="1200" b="1">
                <a:ea typeface="+mn-lt"/>
                <a:cs typeface="+mn-lt"/>
              </a:rPr>
              <a:t> </a:t>
            </a:r>
            <a:r>
              <a:rPr lang="en-US" sz="1200" b="1" err="1">
                <a:ea typeface="+mn-lt"/>
                <a:cs typeface="+mn-lt"/>
              </a:rPr>
              <a:t>теб</a:t>
            </a:r>
            <a:r>
              <a:rPr lang="en-US" sz="1200" b="1">
                <a:ea typeface="+mn-lt"/>
                <a:cs typeface="+mn-lt"/>
              </a:rPr>
              <a:t>, </a:t>
            </a:r>
            <a:r>
              <a:rPr lang="en-US" sz="1200" b="1" err="1">
                <a:ea typeface="+mn-lt"/>
                <a:cs typeface="+mn-lt"/>
              </a:rPr>
              <a:t>за</a:t>
            </a:r>
            <a:r>
              <a:rPr lang="en-US" sz="1200" b="1">
                <a:ea typeface="+mn-lt"/>
                <a:cs typeface="+mn-lt"/>
              </a:rPr>
              <a:t> </a:t>
            </a:r>
            <a:r>
              <a:rPr lang="en-US" sz="1200" b="1" err="1">
                <a:ea typeface="+mn-lt"/>
                <a:cs typeface="+mn-lt"/>
              </a:rPr>
              <a:t>компанията</a:t>
            </a:r>
            <a:r>
              <a:rPr lang="en-US" sz="1200" b="1">
                <a:ea typeface="+mn-lt"/>
                <a:cs typeface="+mn-lt"/>
              </a:rPr>
              <a:t> и </a:t>
            </a:r>
            <a:r>
              <a:rPr lang="en-US" sz="1200" b="1" err="1">
                <a:ea typeface="+mn-lt"/>
                <a:cs typeface="+mn-lt"/>
              </a:rPr>
              <a:t>за</a:t>
            </a:r>
            <a:r>
              <a:rPr lang="en-US" sz="1200" b="1">
                <a:ea typeface="+mn-lt"/>
                <a:cs typeface="+mn-lt"/>
              </a:rPr>
              <a:t> </a:t>
            </a:r>
            <a:r>
              <a:rPr lang="en-US" sz="1200" b="1" err="1">
                <a:ea typeface="+mn-lt"/>
                <a:cs typeface="+mn-lt"/>
              </a:rPr>
              <a:t>начина</a:t>
            </a:r>
            <a:r>
              <a:rPr lang="en-US" sz="1200" b="1">
                <a:ea typeface="+mn-lt"/>
                <a:cs typeface="+mn-lt"/>
              </a:rPr>
              <a:t> </a:t>
            </a:r>
            <a:r>
              <a:rPr lang="en-US" sz="1200" b="1" err="1">
                <a:ea typeface="+mn-lt"/>
                <a:cs typeface="+mn-lt"/>
              </a:rPr>
              <a:t>на</a:t>
            </a:r>
            <a:r>
              <a:rPr lang="en-US" sz="1200" b="1">
                <a:ea typeface="+mn-lt"/>
                <a:cs typeface="+mn-lt"/>
              </a:rPr>
              <a:t> </a:t>
            </a:r>
            <a:r>
              <a:rPr lang="en-US" sz="1200" b="1" err="1">
                <a:ea typeface="+mn-lt"/>
                <a:cs typeface="+mn-lt"/>
              </a:rPr>
              <a:t>работа</a:t>
            </a:r>
            <a:r>
              <a:rPr lang="en-US" sz="1200">
                <a:ea typeface="+mn-lt"/>
                <a:cs typeface="+mn-lt"/>
              </a:rPr>
              <a:t>, </a:t>
            </a:r>
            <a:r>
              <a:rPr lang="en-US" sz="1200" err="1">
                <a:ea typeface="+mn-lt"/>
                <a:cs typeface="+mn-lt"/>
              </a:rPr>
              <a:t>дори</a:t>
            </a:r>
            <a:r>
              <a:rPr lang="en-US" sz="1200">
                <a:ea typeface="+mn-lt"/>
                <a:cs typeface="+mn-lt"/>
              </a:rPr>
              <a:t> </a:t>
            </a:r>
            <a:r>
              <a:rPr lang="en-US" sz="1200" err="1">
                <a:ea typeface="+mn-lt"/>
                <a:cs typeface="+mn-lt"/>
              </a:rPr>
              <a:t>без</a:t>
            </a:r>
            <a:r>
              <a:rPr lang="en-US" sz="1200">
                <a:ea typeface="+mn-lt"/>
                <a:cs typeface="+mn-lt"/>
              </a:rPr>
              <a:t> </a:t>
            </a:r>
            <a:r>
              <a:rPr lang="en-US" sz="1200" err="1">
                <a:ea typeface="+mn-lt"/>
                <a:cs typeface="+mn-lt"/>
              </a:rPr>
              <a:t>незабавна</a:t>
            </a:r>
            <a:r>
              <a:rPr lang="en-US" sz="1200">
                <a:ea typeface="+mn-lt"/>
                <a:cs typeface="+mn-lt"/>
              </a:rPr>
              <a:t> </a:t>
            </a:r>
            <a:r>
              <a:rPr lang="en-US" sz="1200" err="1">
                <a:ea typeface="+mn-lt"/>
                <a:cs typeface="+mn-lt"/>
              </a:rPr>
              <a:t>продажба</a:t>
            </a:r>
            <a:r>
              <a:rPr lang="en-US" sz="1200">
                <a:ea typeface="+mn-lt"/>
                <a:cs typeface="+mn-lt"/>
              </a:rPr>
              <a:t>.</a:t>
            </a:r>
            <a:endParaRPr lang="en-US">
              <a:ea typeface="+mn-lt"/>
              <a:cs typeface="+mn-lt"/>
            </a:endParaRPr>
          </a:p>
          <a:p>
            <a:r>
              <a:rPr lang="en-US" sz="1200" err="1">
                <a:ea typeface="+mn-lt"/>
                <a:cs typeface="+mn-lt"/>
              </a:rPr>
              <a:t>Подходяща</a:t>
            </a:r>
            <a:r>
              <a:rPr lang="en-US" sz="1200">
                <a:ea typeface="+mn-lt"/>
                <a:cs typeface="+mn-lt"/>
              </a:rPr>
              <a:t> е, </a:t>
            </a:r>
            <a:r>
              <a:rPr lang="en-US" sz="1200" err="1">
                <a:ea typeface="+mn-lt"/>
                <a:cs typeface="+mn-lt"/>
              </a:rPr>
              <a:t>когато</a:t>
            </a:r>
            <a:r>
              <a:rPr lang="en-US" sz="1200">
                <a:ea typeface="+mn-lt"/>
                <a:cs typeface="+mn-lt"/>
              </a:rPr>
              <a:t>:</a:t>
            </a:r>
            <a:endParaRPr lang="en-US">
              <a:ea typeface="+mn-lt"/>
              <a:cs typeface="+mn-lt"/>
            </a:endParaRPr>
          </a:p>
          <a:p>
            <a:pPr marL="285750" indent="-285750">
              <a:buFont typeface="Arial"/>
              <a:buChar char="•"/>
            </a:pPr>
            <a:r>
              <a:rPr lang="en-US" sz="1200" err="1">
                <a:ea typeface="+mn-lt"/>
                <a:cs typeface="+mn-lt"/>
              </a:rPr>
              <a:t>срещата</a:t>
            </a:r>
            <a:r>
              <a:rPr lang="en-US" sz="1200">
                <a:ea typeface="+mn-lt"/>
                <a:cs typeface="+mn-lt"/>
              </a:rPr>
              <a:t> е </a:t>
            </a:r>
            <a:r>
              <a:rPr lang="en-US" sz="1200" err="1">
                <a:ea typeface="+mn-lt"/>
                <a:cs typeface="+mn-lt"/>
              </a:rPr>
              <a:t>първа</a:t>
            </a:r>
            <a:r>
              <a:rPr lang="en-US" sz="1200">
                <a:ea typeface="+mn-lt"/>
                <a:cs typeface="+mn-lt"/>
              </a:rPr>
              <a:t> </a:t>
            </a:r>
            <a:endParaRPr lang="en-US"/>
          </a:p>
          <a:p>
            <a:pPr marL="285750" indent="-285750">
              <a:buFont typeface="Arial"/>
              <a:buChar char="•"/>
            </a:pPr>
            <a:r>
              <a:rPr lang="en-US" sz="1200" err="1">
                <a:ea typeface="+mn-lt"/>
                <a:cs typeface="+mn-lt"/>
              </a:rPr>
              <a:t>клиентът</a:t>
            </a:r>
            <a:r>
              <a:rPr lang="en-US" sz="1200">
                <a:ea typeface="+mn-lt"/>
                <a:cs typeface="+mn-lt"/>
              </a:rPr>
              <a:t> е </a:t>
            </a:r>
            <a:r>
              <a:rPr lang="en-US" sz="1200" err="1">
                <a:ea typeface="+mn-lt"/>
                <a:cs typeface="+mn-lt"/>
              </a:rPr>
              <a:t>колеблив</a:t>
            </a:r>
            <a:r>
              <a:rPr lang="en-US" sz="1200">
                <a:ea typeface="+mn-lt"/>
                <a:cs typeface="+mn-lt"/>
              </a:rPr>
              <a:t> </a:t>
            </a:r>
            <a:r>
              <a:rPr lang="en-US" sz="1200" err="1">
                <a:ea typeface="+mn-lt"/>
                <a:cs typeface="+mn-lt"/>
              </a:rPr>
              <a:t>или</a:t>
            </a:r>
            <a:r>
              <a:rPr lang="en-US" sz="1200">
                <a:ea typeface="+mn-lt"/>
                <a:cs typeface="+mn-lt"/>
              </a:rPr>
              <a:t> </a:t>
            </a:r>
            <a:r>
              <a:rPr lang="en-US" sz="1200" err="1">
                <a:ea typeface="+mn-lt"/>
                <a:cs typeface="+mn-lt"/>
              </a:rPr>
              <a:t>по-предпазлив</a:t>
            </a:r>
            <a:r>
              <a:rPr lang="en-US" sz="1200">
                <a:ea typeface="+mn-lt"/>
                <a:cs typeface="+mn-lt"/>
              </a:rPr>
              <a:t> </a:t>
            </a:r>
            <a:endParaRPr lang="en-US"/>
          </a:p>
          <a:p>
            <a:pPr marL="285750" indent="-285750">
              <a:buFont typeface="Arial"/>
              <a:buChar char="•"/>
            </a:pPr>
            <a:r>
              <a:rPr lang="en-US" sz="1200" err="1">
                <a:ea typeface="+mn-lt"/>
                <a:cs typeface="+mn-lt"/>
              </a:rPr>
              <a:t>искаш</a:t>
            </a:r>
            <a:r>
              <a:rPr lang="en-US" sz="1200">
                <a:ea typeface="+mn-lt"/>
                <a:cs typeface="+mn-lt"/>
              </a:rPr>
              <a:t> </a:t>
            </a:r>
            <a:r>
              <a:rPr lang="en-US" sz="1200" err="1">
                <a:ea typeface="+mn-lt"/>
                <a:cs typeface="+mn-lt"/>
              </a:rPr>
              <a:t>да</a:t>
            </a:r>
            <a:r>
              <a:rPr lang="en-US" sz="1200">
                <a:ea typeface="+mn-lt"/>
                <a:cs typeface="+mn-lt"/>
              </a:rPr>
              <a:t> </a:t>
            </a:r>
            <a:r>
              <a:rPr lang="en-US" sz="1200" err="1">
                <a:ea typeface="+mn-lt"/>
                <a:cs typeface="+mn-lt"/>
              </a:rPr>
              <a:t>оставиш</a:t>
            </a:r>
            <a:r>
              <a:rPr lang="en-US" sz="1200">
                <a:ea typeface="+mn-lt"/>
                <a:cs typeface="+mn-lt"/>
              </a:rPr>
              <a:t> </a:t>
            </a:r>
            <a:r>
              <a:rPr lang="en-US" sz="1200" err="1">
                <a:ea typeface="+mn-lt"/>
                <a:cs typeface="+mn-lt"/>
              </a:rPr>
              <a:t>усещане</a:t>
            </a:r>
            <a:r>
              <a:rPr lang="en-US" sz="1200">
                <a:ea typeface="+mn-lt"/>
                <a:cs typeface="+mn-lt"/>
              </a:rPr>
              <a:t> </a:t>
            </a:r>
            <a:r>
              <a:rPr lang="en-US" sz="1200" err="1">
                <a:ea typeface="+mn-lt"/>
                <a:cs typeface="+mn-lt"/>
              </a:rPr>
              <a:t>за</a:t>
            </a:r>
            <a:r>
              <a:rPr lang="en-US" sz="1200">
                <a:ea typeface="+mn-lt"/>
                <a:cs typeface="+mn-lt"/>
              </a:rPr>
              <a:t> </a:t>
            </a:r>
            <a:r>
              <a:rPr lang="en-US" sz="1200" err="1">
                <a:ea typeface="+mn-lt"/>
                <a:cs typeface="+mn-lt"/>
              </a:rPr>
              <a:t>професионализъм</a:t>
            </a:r>
            <a:r>
              <a:rPr lang="en-US" sz="1200">
                <a:ea typeface="+mn-lt"/>
                <a:cs typeface="+mn-lt"/>
              </a:rPr>
              <a:t> и </a:t>
            </a:r>
            <a:r>
              <a:rPr lang="en-US" sz="1200" err="1">
                <a:ea typeface="+mn-lt"/>
                <a:cs typeface="+mn-lt"/>
              </a:rPr>
              <a:t>грижа</a:t>
            </a:r>
            <a:r>
              <a:rPr lang="en-US" sz="1200">
                <a:ea typeface="+mn-lt"/>
                <a:cs typeface="+mn-lt"/>
              </a:rPr>
              <a:t> </a:t>
            </a:r>
            <a:endParaRPr lang="en-US"/>
          </a:p>
          <a:p>
            <a:pPr marL="285750" indent="-285750">
              <a:buFont typeface="Arial"/>
              <a:buChar char="•"/>
            </a:pPr>
            <a:r>
              <a:rPr lang="en-US" sz="1200" err="1">
                <a:ea typeface="+mn-lt"/>
                <a:cs typeface="+mn-lt"/>
              </a:rPr>
              <a:t>продаваш</a:t>
            </a:r>
            <a:r>
              <a:rPr lang="en-US" sz="1200">
                <a:ea typeface="+mn-lt"/>
                <a:cs typeface="+mn-lt"/>
              </a:rPr>
              <a:t> </a:t>
            </a:r>
            <a:r>
              <a:rPr lang="en-US" sz="1200" err="1">
                <a:ea typeface="+mn-lt"/>
                <a:cs typeface="+mn-lt"/>
              </a:rPr>
              <a:t>по-скоро</a:t>
            </a:r>
            <a:r>
              <a:rPr lang="en-US" sz="1200">
                <a:ea typeface="+mn-lt"/>
                <a:cs typeface="+mn-lt"/>
              </a:rPr>
              <a:t> </a:t>
            </a:r>
            <a:r>
              <a:rPr lang="en-US" sz="1200" err="1">
                <a:ea typeface="+mn-lt"/>
                <a:cs typeface="+mn-lt"/>
              </a:rPr>
              <a:t>чрез</a:t>
            </a:r>
            <a:r>
              <a:rPr lang="en-US" sz="1200">
                <a:ea typeface="+mn-lt"/>
                <a:cs typeface="+mn-lt"/>
              </a:rPr>
              <a:t> </a:t>
            </a:r>
            <a:r>
              <a:rPr lang="en-US" sz="1200" err="1">
                <a:ea typeface="+mn-lt"/>
                <a:cs typeface="+mn-lt"/>
              </a:rPr>
              <a:t>доверие</a:t>
            </a:r>
            <a:r>
              <a:rPr lang="en-US" sz="1200">
                <a:ea typeface="+mn-lt"/>
                <a:cs typeface="+mn-lt"/>
              </a:rPr>
              <a:t>, а </a:t>
            </a:r>
            <a:r>
              <a:rPr lang="en-US" sz="1200" err="1">
                <a:ea typeface="+mn-lt"/>
                <a:cs typeface="+mn-lt"/>
              </a:rPr>
              <a:t>не</a:t>
            </a:r>
            <a:r>
              <a:rPr lang="en-US" sz="1200">
                <a:ea typeface="+mn-lt"/>
                <a:cs typeface="+mn-lt"/>
              </a:rPr>
              <a:t> </a:t>
            </a:r>
            <a:r>
              <a:rPr lang="en-US" sz="1200" err="1">
                <a:ea typeface="+mn-lt"/>
                <a:cs typeface="+mn-lt"/>
              </a:rPr>
              <a:t>чрез</a:t>
            </a:r>
            <a:r>
              <a:rPr lang="en-US" sz="1200">
                <a:ea typeface="+mn-lt"/>
                <a:cs typeface="+mn-lt"/>
              </a:rPr>
              <a:t> </a:t>
            </a:r>
            <a:r>
              <a:rPr lang="en-US" sz="1200" err="1">
                <a:ea typeface="+mn-lt"/>
                <a:cs typeface="+mn-lt"/>
              </a:rPr>
              <a:t>натиск</a:t>
            </a:r>
            <a:r>
              <a:rPr lang="en-US" sz="1200">
                <a:ea typeface="+mn-lt"/>
                <a:cs typeface="+mn-lt"/>
              </a:rPr>
              <a:t> </a:t>
            </a:r>
            <a:endParaRPr lang="en-US"/>
          </a:p>
          <a:p>
            <a:r>
              <a:rPr lang="en-US" sz="1200" err="1">
                <a:ea typeface="+mn-lt"/>
                <a:cs typeface="+mn-lt"/>
              </a:rPr>
              <a:t>Фокус</a:t>
            </a:r>
            <a:r>
              <a:rPr lang="en-US" sz="1200">
                <a:ea typeface="+mn-lt"/>
                <a:cs typeface="+mn-lt"/>
              </a:rPr>
              <a:t> в </a:t>
            </a:r>
            <a:r>
              <a:rPr lang="en-US" sz="1200" err="1">
                <a:ea typeface="+mn-lt"/>
                <a:cs typeface="+mn-lt"/>
              </a:rPr>
              <a:t>срещата</a:t>
            </a:r>
            <a:r>
              <a:rPr lang="en-US" sz="1200">
                <a:ea typeface="+mn-lt"/>
                <a:cs typeface="+mn-lt"/>
              </a:rPr>
              <a:t>:</a:t>
            </a:r>
            <a:endParaRPr lang="en-US">
              <a:ea typeface="+mn-lt"/>
              <a:cs typeface="+mn-lt"/>
            </a:endParaRPr>
          </a:p>
          <a:p>
            <a:pPr marL="285750" indent="-285750">
              <a:buFont typeface="Arial"/>
              <a:buChar char="•"/>
            </a:pPr>
            <a:r>
              <a:rPr lang="en-US" sz="1200" err="1">
                <a:ea typeface="+mn-lt"/>
                <a:cs typeface="+mn-lt"/>
              </a:rPr>
              <a:t>поведение</a:t>
            </a:r>
            <a:r>
              <a:rPr lang="en-US" sz="1200">
                <a:ea typeface="+mn-lt"/>
                <a:cs typeface="+mn-lt"/>
              </a:rPr>
              <a:t>, </a:t>
            </a:r>
            <a:r>
              <a:rPr lang="en-US" sz="1200" err="1">
                <a:ea typeface="+mn-lt"/>
                <a:cs typeface="+mn-lt"/>
              </a:rPr>
              <a:t>тон</a:t>
            </a:r>
            <a:r>
              <a:rPr lang="en-US" sz="1200">
                <a:ea typeface="+mn-lt"/>
                <a:cs typeface="+mn-lt"/>
              </a:rPr>
              <a:t>, </a:t>
            </a:r>
            <a:r>
              <a:rPr lang="en-US" sz="1200" err="1">
                <a:ea typeface="+mn-lt"/>
                <a:cs typeface="+mn-lt"/>
              </a:rPr>
              <a:t>отношение</a:t>
            </a:r>
            <a:r>
              <a:rPr lang="en-US" sz="1200">
                <a:ea typeface="+mn-lt"/>
                <a:cs typeface="+mn-lt"/>
              </a:rPr>
              <a:t> </a:t>
            </a:r>
            <a:endParaRPr lang="en-US"/>
          </a:p>
          <a:p>
            <a:pPr marL="285750" indent="-285750">
              <a:buFont typeface="Arial"/>
              <a:buChar char="•"/>
            </a:pPr>
            <a:r>
              <a:rPr lang="en-US" sz="1200" err="1">
                <a:ea typeface="+mn-lt"/>
                <a:cs typeface="+mn-lt"/>
              </a:rPr>
              <a:t>увереност</a:t>
            </a:r>
            <a:r>
              <a:rPr lang="en-US" sz="1200">
                <a:ea typeface="+mn-lt"/>
                <a:cs typeface="+mn-lt"/>
              </a:rPr>
              <a:t> и </a:t>
            </a:r>
            <a:r>
              <a:rPr lang="en-US" sz="1200" err="1">
                <a:ea typeface="+mn-lt"/>
                <a:cs typeface="+mn-lt"/>
              </a:rPr>
              <a:t>спокойствие</a:t>
            </a:r>
            <a:r>
              <a:rPr lang="en-US" sz="1200">
                <a:ea typeface="+mn-lt"/>
                <a:cs typeface="+mn-lt"/>
              </a:rPr>
              <a:t> </a:t>
            </a:r>
            <a:endParaRPr lang="en-US"/>
          </a:p>
          <a:p>
            <a:pPr marL="285750" indent="-285750">
              <a:buFont typeface="Arial"/>
              <a:buChar char="•"/>
            </a:pPr>
            <a:r>
              <a:rPr lang="en-US" sz="1200" err="1">
                <a:ea typeface="+mn-lt"/>
                <a:cs typeface="+mn-lt"/>
              </a:rPr>
              <a:t>усещане</a:t>
            </a:r>
            <a:r>
              <a:rPr lang="en-US" sz="1200">
                <a:ea typeface="+mn-lt"/>
                <a:cs typeface="+mn-lt"/>
              </a:rPr>
              <a:t> </a:t>
            </a:r>
            <a:r>
              <a:rPr lang="en-US" sz="1200" err="1">
                <a:ea typeface="+mn-lt"/>
                <a:cs typeface="+mn-lt"/>
              </a:rPr>
              <a:t>за</a:t>
            </a:r>
            <a:r>
              <a:rPr lang="en-US" sz="1200">
                <a:ea typeface="+mn-lt"/>
                <a:cs typeface="+mn-lt"/>
              </a:rPr>
              <a:t> </a:t>
            </a:r>
            <a:r>
              <a:rPr lang="en-US" sz="1200" err="1">
                <a:ea typeface="+mn-lt"/>
                <a:cs typeface="+mn-lt"/>
              </a:rPr>
              <a:t>внимание</a:t>
            </a:r>
            <a:r>
              <a:rPr lang="en-US" sz="1200">
                <a:ea typeface="+mn-lt"/>
                <a:cs typeface="+mn-lt"/>
              </a:rPr>
              <a:t> и </a:t>
            </a:r>
            <a:r>
              <a:rPr lang="en-US" sz="1200" err="1">
                <a:ea typeface="+mn-lt"/>
                <a:cs typeface="+mn-lt"/>
              </a:rPr>
              <a:t>персонален</a:t>
            </a:r>
            <a:r>
              <a:rPr lang="en-US" sz="1200">
                <a:ea typeface="+mn-lt"/>
                <a:cs typeface="+mn-lt"/>
              </a:rPr>
              <a:t> </a:t>
            </a:r>
            <a:r>
              <a:rPr lang="en-US" sz="1200" err="1">
                <a:ea typeface="+mn-lt"/>
                <a:cs typeface="+mn-lt"/>
              </a:rPr>
              <a:t>подход</a:t>
            </a:r>
            <a:r>
              <a:rPr lang="en-US" sz="1200">
                <a:ea typeface="+mn-lt"/>
                <a:cs typeface="+mn-lt"/>
              </a:rPr>
              <a:t> </a:t>
            </a:r>
            <a:endParaRPr lang="en-US"/>
          </a:p>
          <a:p>
            <a:pPr marL="285750" indent="-285750">
              <a:buFont typeface="Arial"/>
              <a:buChar char="•"/>
            </a:pPr>
            <a:r>
              <a:rPr lang="en-US" sz="1200" err="1">
                <a:ea typeface="+mn-lt"/>
                <a:cs typeface="+mn-lt"/>
              </a:rPr>
              <a:t>показване</a:t>
            </a:r>
            <a:r>
              <a:rPr lang="en-US" sz="1200">
                <a:ea typeface="+mn-lt"/>
                <a:cs typeface="+mn-lt"/>
              </a:rPr>
              <a:t>, </a:t>
            </a:r>
            <a:r>
              <a:rPr lang="en-US" sz="1200" err="1">
                <a:ea typeface="+mn-lt"/>
                <a:cs typeface="+mn-lt"/>
              </a:rPr>
              <a:t>че</a:t>
            </a:r>
            <a:r>
              <a:rPr lang="en-US" sz="1200">
                <a:ea typeface="+mn-lt"/>
                <a:cs typeface="+mn-lt"/>
              </a:rPr>
              <a:t> </a:t>
            </a:r>
            <a:r>
              <a:rPr lang="en-US" sz="1200" err="1">
                <a:ea typeface="+mn-lt"/>
                <a:cs typeface="+mn-lt"/>
              </a:rPr>
              <a:t>клиентът</a:t>
            </a:r>
            <a:r>
              <a:rPr lang="en-US" sz="1200">
                <a:ea typeface="+mn-lt"/>
                <a:cs typeface="+mn-lt"/>
              </a:rPr>
              <a:t> е „</a:t>
            </a:r>
            <a:r>
              <a:rPr lang="en-US" sz="1200" err="1">
                <a:ea typeface="+mn-lt"/>
                <a:cs typeface="+mn-lt"/>
              </a:rPr>
              <a:t>на</a:t>
            </a:r>
            <a:r>
              <a:rPr lang="en-US" sz="1200">
                <a:ea typeface="+mn-lt"/>
                <a:cs typeface="+mn-lt"/>
              </a:rPr>
              <a:t> </a:t>
            </a:r>
            <a:r>
              <a:rPr lang="en-US" sz="1200" err="1">
                <a:ea typeface="+mn-lt"/>
                <a:cs typeface="+mn-lt"/>
              </a:rPr>
              <a:t>правилното</a:t>
            </a:r>
            <a:r>
              <a:rPr lang="en-US" sz="1200">
                <a:ea typeface="+mn-lt"/>
                <a:cs typeface="+mn-lt"/>
              </a:rPr>
              <a:t> </a:t>
            </a:r>
            <a:r>
              <a:rPr lang="en-US" sz="1200" err="1">
                <a:ea typeface="+mn-lt"/>
                <a:cs typeface="+mn-lt"/>
              </a:rPr>
              <a:t>място</a:t>
            </a:r>
            <a:r>
              <a:rPr lang="en-US" sz="1200">
                <a:ea typeface="+mn-lt"/>
                <a:cs typeface="+mn-lt"/>
              </a:rPr>
              <a:t>“</a:t>
            </a:r>
            <a:endParaRPr lang="en-US"/>
          </a:p>
          <a:p>
            <a:pPr algn="l"/>
            <a:endParaRPr lang="en-US" sz="1200"/>
          </a:p>
        </p:txBody>
      </p:sp>
    </p:spTree>
    <p:extLst>
      <p:ext uri="{BB962C8B-B14F-4D97-AF65-F5344CB8AC3E}">
        <p14:creationId xmlns:p14="http://schemas.microsoft.com/office/powerpoint/2010/main" val="1428660767"/>
      </p:ext>
    </p:extLst>
  </p:cSld>
  <p:clrMapOvr>
    <a:masterClrMapping/>
  </p:clrMapOvr>
  <mc:AlternateContent xmlns:mc="http://schemas.openxmlformats.org/markup-compatibility/2006" xmlns:p14="http://schemas.microsoft.com/office/powerpoint/2010/main">
    <mc:Choice Requires="p14">
      <p:transition spd="slow" p14:dur="2000" advTm="6522"/>
    </mc:Choice>
    <mc:Fallback xmlns="">
      <p:transition spd="slow" advTm="6522"/>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0121DC-2020-78D8-BDA5-0841E9AC275A}"/>
            </a:ext>
          </a:extLst>
        </p:cNvPr>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BDE58F2E-64F8-A3D5-7BB2-397AC8697E77}"/>
              </a:ext>
            </a:extLst>
          </p:cNvPr>
          <p:cNvSpPr/>
          <p:nvPr/>
        </p:nvSpPr>
        <p:spPr>
          <a:xfrm>
            <a:off x="1896198" y="1956771"/>
            <a:ext cx="2932281" cy="677242"/>
          </a:xfrm>
          <a:prstGeom prst="round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600"/>
              <a:t>Идентифициране на нужди</a:t>
            </a:r>
            <a:endParaRPr lang="en-GB" sz="1600"/>
          </a:p>
        </p:txBody>
      </p:sp>
      <p:sp>
        <p:nvSpPr>
          <p:cNvPr id="12" name="Rectangle: Rounded Corners 11">
            <a:extLst>
              <a:ext uri="{FF2B5EF4-FFF2-40B4-BE49-F238E27FC236}">
                <a16:creationId xmlns:a16="http://schemas.microsoft.com/office/drawing/2014/main" id="{A1B2228B-B5A8-3792-A9C5-5DFDB5825126}"/>
              </a:ext>
            </a:extLst>
          </p:cNvPr>
          <p:cNvSpPr/>
          <p:nvPr/>
        </p:nvSpPr>
        <p:spPr>
          <a:xfrm>
            <a:off x="1896198" y="1146226"/>
            <a:ext cx="2932281" cy="677242"/>
          </a:xfrm>
          <a:prstGeom prst="round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600"/>
              <a:t>Отваряне на разговор</a:t>
            </a:r>
            <a:endParaRPr lang="en-GB" sz="1600"/>
          </a:p>
        </p:txBody>
      </p:sp>
      <p:sp>
        <p:nvSpPr>
          <p:cNvPr id="14" name="Rectangle: Rounded Corners 13">
            <a:extLst>
              <a:ext uri="{FF2B5EF4-FFF2-40B4-BE49-F238E27FC236}">
                <a16:creationId xmlns:a16="http://schemas.microsoft.com/office/drawing/2014/main" id="{EFE7C58D-A1DC-0D51-A21A-8553AC67EC19}"/>
              </a:ext>
            </a:extLst>
          </p:cNvPr>
          <p:cNvSpPr/>
          <p:nvPr/>
        </p:nvSpPr>
        <p:spPr>
          <a:xfrm>
            <a:off x="1896198" y="3577861"/>
            <a:ext cx="2932281" cy="677242"/>
          </a:xfrm>
          <a:prstGeom prst="round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600"/>
              <a:t>Справяне с възражения</a:t>
            </a:r>
            <a:endParaRPr lang="en-GB" sz="1600"/>
          </a:p>
        </p:txBody>
      </p:sp>
      <p:sp>
        <p:nvSpPr>
          <p:cNvPr id="16" name="Rectangle: Rounded Corners 15">
            <a:extLst>
              <a:ext uri="{FF2B5EF4-FFF2-40B4-BE49-F238E27FC236}">
                <a16:creationId xmlns:a16="http://schemas.microsoft.com/office/drawing/2014/main" id="{E85A1BDB-1E17-5A9E-CE40-E8B1F3DD13ED}"/>
              </a:ext>
            </a:extLst>
          </p:cNvPr>
          <p:cNvSpPr/>
          <p:nvPr/>
        </p:nvSpPr>
        <p:spPr>
          <a:xfrm>
            <a:off x="1896198" y="4388406"/>
            <a:ext cx="2932281" cy="677242"/>
          </a:xfrm>
          <a:prstGeom prst="round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600"/>
              <a:t>Затваряне</a:t>
            </a:r>
            <a:endParaRPr lang="en-GB" sz="1600"/>
          </a:p>
        </p:txBody>
      </p:sp>
      <p:sp>
        <p:nvSpPr>
          <p:cNvPr id="7" name="Rectangle 13">
            <a:extLst>
              <a:ext uri="{FF2B5EF4-FFF2-40B4-BE49-F238E27FC236}">
                <a16:creationId xmlns:a16="http://schemas.microsoft.com/office/drawing/2014/main" id="{34B56DC3-3186-0F21-E56A-FA1940C2B4A1}"/>
              </a:ext>
            </a:extLst>
          </p:cNvPr>
          <p:cNvSpPr/>
          <p:nvPr/>
        </p:nvSpPr>
        <p:spPr>
          <a:xfrm>
            <a:off x="1896198" y="2767316"/>
            <a:ext cx="2932281" cy="677242"/>
          </a:xfrm>
          <a:prstGeom prst="round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600"/>
              <a:t>Предложение</a:t>
            </a:r>
            <a:endParaRPr lang="en-GB" sz="1600"/>
          </a:p>
        </p:txBody>
      </p:sp>
      <p:sp>
        <p:nvSpPr>
          <p:cNvPr id="15" name="Rectangle 3">
            <a:extLst>
              <a:ext uri="{FF2B5EF4-FFF2-40B4-BE49-F238E27FC236}">
                <a16:creationId xmlns:a16="http://schemas.microsoft.com/office/drawing/2014/main" id="{73FACF8C-4B8B-4B78-AE9E-73567542A63D}"/>
              </a:ext>
            </a:extLst>
          </p:cNvPr>
          <p:cNvSpPr/>
          <p:nvPr/>
        </p:nvSpPr>
        <p:spPr>
          <a:xfrm>
            <a:off x="1443475" y="4245"/>
            <a:ext cx="5338363" cy="677242"/>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17" name="Rectangle 4">
            <a:extLst>
              <a:ext uri="{FF2B5EF4-FFF2-40B4-BE49-F238E27FC236}">
                <a16:creationId xmlns:a16="http://schemas.microsoft.com/office/drawing/2014/main" id="{CE013AB4-AA94-4C9F-8F85-A72AA1762490}"/>
              </a:ext>
            </a:extLst>
          </p:cNvPr>
          <p:cNvSpPr/>
          <p:nvPr/>
        </p:nvSpPr>
        <p:spPr>
          <a:xfrm>
            <a:off x="6788435" y="4245"/>
            <a:ext cx="5417300" cy="677242"/>
          </a:xfrm>
          <a:prstGeom prst="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18" name="Rectangle 17">
            <a:extLst>
              <a:ext uri="{FF2B5EF4-FFF2-40B4-BE49-F238E27FC236}">
                <a16:creationId xmlns:a16="http://schemas.microsoft.com/office/drawing/2014/main" id="{8AA30E46-63D1-4E09-BB20-A3C42D49FC1B}"/>
              </a:ext>
            </a:extLst>
          </p:cNvPr>
          <p:cNvSpPr/>
          <p:nvPr/>
        </p:nvSpPr>
        <p:spPr>
          <a:xfrm>
            <a:off x="-1671" y="1599"/>
            <a:ext cx="1451167" cy="6866954"/>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200">
              <a:latin typeface="Aptos"/>
              <a:ea typeface="Calibri"/>
              <a:cs typeface="Calibri"/>
            </a:endParaRPr>
          </a:p>
        </p:txBody>
      </p:sp>
      <p:sp>
        <p:nvSpPr>
          <p:cNvPr id="19" name="Rectangle 18">
            <a:extLst>
              <a:ext uri="{FF2B5EF4-FFF2-40B4-BE49-F238E27FC236}">
                <a16:creationId xmlns:a16="http://schemas.microsoft.com/office/drawing/2014/main" id="{6A4FF914-48FA-445A-9AF4-96981B7FDAF8}"/>
              </a:ext>
            </a:extLst>
          </p:cNvPr>
          <p:cNvSpPr/>
          <p:nvPr/>
        </p:nvSpPr>
        <p:spPr>
          <a:xfrm>
            <a:off x="-1671" y="2528038"/>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Типове клиенти</a:t>
            </a:r>
            <a:endParaRPr lang="en-GB" sz="1400">
              <a:latin typeface="Aptos"/>
              <a:ea typeface="Calibri"/>
              <a:cs typeface="Calibri"/>
            </a:endParaRPr>
          </a:p>
        </p:txBody>
      </p:sp>
      <p:sp>
        <p:nvSpPr>
          <p:cNvPr id="20" name="Rectangle 19">
            <a:extLst>
              <a:ext uri="{FF2B5EF4-FFF2-40B4-BE49-F238E27FC236}">
                <a16:creationId xmlns:a16="http://schemas.microsoft.com/office/drawing/2014/main" id="{440C664A-7A7E-4A65-BF45-8AC7932D09D6}"/>
              </a:ext>
            </a:extLst>
          </p:cNvPr>
          <p:cNvSpPr/>
          <p:nvPr/>
        </p:nvSpPr>
        <p:spPr>
          <a:xfrm>
            <a:off x="8626" y="1913210"/>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Сценарии</a:t>
            </a:r>
            <a:endParaRPr lang="en-GB" sz="1400">
              <a:latin typeface="Aptos"/>
              <a:ea typeface="Calibri"/>
              <a:cs typeface="Calibri"/>
            </a:endParaRPr>
          </a:p>
        </p:txBody>
      </p:sp>
      <p:sp>
        <p:nvSpPr>
          <p:cNvPr id="21" name="Rectangle 20">
            <a:extLst>
              <a:ext uri="{FF2B5EF4-FFF2-40B4-BE49-F238E27FC236}">
                <a16:creationId xmlns:a16="http://schemas.microsoft.com/office/drawing/2014/main" id="{D3BC7E57-B5DD-4B85-A3CE-1F1B6EA89E8A}"/>
              </a:ext>
            </a:extLst>
          </p:cNvPr>
          <p:cNvSpPr/>
          <p:nvPr/>
        </p:nvSpPr>
        <p:spPr>
          <a:xfrm>
            <a:off x="-1671" y="1298382"/>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b="1">
                <a:solidFill>
                  <a:schemeClr val="tx2"/>
                </a:solidFill>
                <a:latin typeface="Aptos"/>
                <a:ea typeface="Calibri"/>
                <a:cs typeface="Calibri"/>
              </a:rPr>
              <a:t>Стъпки при среща</a:t>
            </a:r>
            <a:endParaRPr lang="bg-BG" b="1">
              <a:solidFill>
                <a:schemeClr val="tx2"/>
              </a:solidFill>
            </a:endParaRPr>
          </a:p>
        </p:txBody>
      </p:sp>
      <p:sp>
        <p:nvSpPr>
          <p:cNvPr id="22" name="Rectangle 28">
            <a:extLst>
              <a:ext uri="{FF2B5EF4-FFF2-40B4-BE49-F238E27FC236}">
                <a16:creationId xmlns:a16="http://schemas.microsoft.com/office/drawing/2014/main" id="{1238E181-DD9C-4BC4-919F-CBCACDE6E101}"/>
              </a:ext>
            </a:extLst>
          </p:cNvPr>
          <p:cNvSpPr/>
          <p:nvPr/>
        </p:nvSpPr>
        <p:spPr>
          <a:xfrm>
            <a:off x="6154" y="690328"/>
            <a:ext cx="1435083"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a:solidFill>
                  <a:schemeClr val="bg1"/>
                </a:solidFill>
                <a:latin typeface="Aptos"/>
                <a:ea typeface="Calibri"/>
                <a:cs typeface="Calibri"/>
              </a:rPr>
              <a:t>Подготовка</a:t>
            </a:r>
            <a:endParaRPr lang="en-GB" sz="1400">
              <a:solidFill>
                <a:schemeClr val="bg1"/>
              </a:solidFill>
              <a:latin typeface="Aptos"/>
              <a:ea typeface="Calibri"/>
              <a:cs typeface="Calibri"/>
            </a:endParaRPr>
          </a:p>
        </p:txBody>
      </p:sp>
      <p:pic>
        <p:nvPicPr>
          <p:cNvPr id="26" name="Picture 25">
            <a:extLst>
              <a:ext uri="{FF2B5EF4-FFF2-40B4-BE49-F238E27FC236}">
                <a16:creationId xmlns:a16="http://schemas.microsoft.com/office/drawing/2014/main" id="{0F960897-1E43-4C89-82FB-1AF478E01599}"/>
              </a:ext>
            </a:extLst>
          </p:cNvPr>
          <p:cNvPicPr>
            <a:picLocks noChangeAspect="1"/>
          </p:cNvPicPr>
          <p:nvPr/>
        </p:nvPicPr>
        <p:blipFill>
          <a:blip r:embed="rId2"/>
          <a:stretch>
            <a:fillRect/>
          </a:stretch>
        </p:blipFill>
        <p:spPr>
          <a:xfrm>
            <a:off x="10883590" y="5621341"/>
            <a:ext cx="982751" cy="995681"/>
          </a:xfrm>
          <a:prstGeom prst="rect">
            <a:avLst/>
          </a:prstGeom>
        </p:spPr>
      </p:pic>
    </p:spTree>
    <p:extLst>
      <p:ext uri="{BB962C8B-B14F-4D97-AF65-F5344CB8AC3E}">
        <p14:creationId xmlns:p14="http://schemas.microsoft.com/office/powerpoint/2010/main" val="129985191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1D817C-3AFF-B968-0B19-A9858E6D49B5}"/>
            </a:ext>
          </a:extLst>
        </p:cNvPr>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B50730C0-4AA8-32D4-8E7F-6AC4ACE87C03}"/>
              </a:ext>
            </a:extLst>
          </p:cNvPr>
          <p:cNvSpPr/>
          <p:nvPr/>
        </p:nvSpPr>
        <p:spPr>
          <a:xfrm>
            <a:off x="5419493" y="1146226"/>
            <a:ext cx="5731727" cy="5234696"/>
          </a:xfrm>
          <a:prstGeom prst="roundRect">
            <a:avLst>
              <a:gd name="adj" fmla="val 3521"/>
            </a:avLst>
          </a:prstGeom>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spcBef>
                <a:spcPts val="600"/>
              </a:spcBef>
            </a:pPr>
            <a:r>
              <a:rPr lang="ru-RU" sz="1200" dirty="0" err="1"/>
              <a:t>Какво</a:t>
            </a:r>
            <a:r>
              <a:rPr lang="ru-RU" sz="1200" dirty="0"/>
              <a:t> </a:t>
            </a:r>
            <a:r>
              <a:rPr lang="ru-RU" sz="1200" dirty="0" err="1"/>
              <a:t>включва</a:t>
            </a:r>
            <a:r>
              <a:rPr lang="ru-RU" sz="1200" dirty="0"/>
              <a:t> </a:t>
            </a:r>
            <a:r>
              <a:rPr lang="ru-RU" sz="1200" dirty="0" err="1"/>
              <a:t>този</a:t>
            </a:r>
            <a:r>
              <a:rPr lang="ru-RU" sz="1200" dirty="0"/>
              <a:t> </a:t>
            </a:r>
            <a:r>
              <a:rPr lang="ru-RU" sz="1200" dirty="0" err="1"/>
              <a:t>етап</a:t>
            </a:r>
            <a:r>
              <a:rPr lang="ru-RU" sz="1200" dirty="0"/>
              <a:t>:</a:t>
            </a:r>
            <a:endParaRPr lang="ru-RU" sz="1200" b="1" dirty="0"/>
          </a:p>
          <a:p>
            <a:pPr marL="285750" indent="-285750">
              <a:spcBef>
                <a:spcPts val="600"/>
              </a:spcBef>
              <a:buFont typeface="Arial" panose="020B0604020202020204" pitchFamily="34" charset="0"/>
              <a:buChar char="•"/>
            </a:pPr>
            <a:r>
              <a:rPr lang="ru-RU" sz="1200" dirty="0" err="1"/>
              <a:t>Поздрави</a:t>
            </a:r>
            <a:r>
              <a:rPr lang="ru-RU" sz="1200" dirty="0"/>
              <a:t>.</a:t>
            </a:r>
          </a:p>
          <a:p>
            <a:pPr marL="285750" indent="-285750">
              <a:spcBef>
                <a:spcPts val="600"/>
              </a:spcBef>
              <a:buFont typeface="Arial" panose="020B0604020202020204" pitchFamily="34" charset="0"/>
              <a:buChar char="•"/>
            </a:pPr>
            <a:r>
              <a:rPr lang="ru-RU" sz="1200" dirty="0" err="1"/>
              <a:t>Представи</a:t>
            </a:r>
            <a:r>
              <a:rPr lang="ru-RU" sz="1200" dirty="0"/>
              <a:t> себе си и </a:t>
            </a:r>
            <a:r>
              <a:rPr lang="ru-RU" sz="1200" dirty="0" err="1"/>
              <a:t>позицията</a:t>
            </a:r>
            <a:r>
              <a:rPr lang="ru-RU" sz="1200" dirty="0"/>
              <a:t> си: име, име на </a:t>
            </a:r>
            <a:r>
              <a:rPr lang="ru-RU" sz="1200" dirty="0" err="1"/>
              <a:t>компанията</a:t>
            </a:r>
            <a:r>
              <a:rPr lang="ru-RU" sz="1200" dirty="0"/>
              <a:t>, </a:t>
            </a:r>
            <a:r>
              <a:rPr lang="ru-RU" sz="1200" dirty="0" err="1"/>
              <a:t>регионалин</a:t>
            </a:r>
            <a:r>
              <a:rPr lang="ru-RU" sz="1200" dirty="0"/>
              <a:t> офис, </a:t>
            </a:r>
            <a:r>
              <a:rPr lang="ru-RU" sz="1200" dirty="0" err="1"/>
              <a:t>длъжност</a:t>
            </a:r>
            <a:r>
              <a:rPr lang="ru-RU" sz="1200" dirty="0"/>
              <a:t>.</a:t>
            </a:r>
          </a:p>
          <a:p>
            <a:pPr marL="285750" indent="-285750">
              <a:spcBef>
                <a:spcPts val="600"/>
              </a:spcBef>
              <a:buFont typeface="Arial" panose="020B0604020202020204" pitchFamily="34" charset="0"/>
              <a:buChar char="•"/>
            </a:pPr>
            <a:r>
              <a:rPr lang="ru-RU" sz="1200" dirty="0" err="1"/>
              <a:t>Увери</a:t>
            </a:r>
            <a:r>
              <a:rPr lang="ru-RU" sz="1200" dirty="0"/>
              <a:t> се, че </a:t>
            </a:r>
            <a:r>
              <a:rPr lang="ru-RU" sz="1200" dirty="0" err="1"/>
              <a:t>говориш</a:t>
            </a:r>
            <a:r>
              <a:rPr lang="ru-RU" sz="1200" dirty="0"/>
              <a:t> с </a:t>
            </a:r>
            <a:r>
              <a:rPr lang="ru-RU" sz="1200" dirty="0" err="1"/>
              <a:t>правилния</a:t>
            </a:r>
            <a:r>
              <a:rPr lang="ru-RU" sz="1200" dirty="0"/>
              <a:t> </a:t>
            </a:r>
            <a:r>
              <a:rPr lang="ru-RU" sz="1200" dirty="0" err="1"/>
              <a:t>човек</a:t>
            </a:r>
            <a:r>
              <a:rPr lang="ru-RU" sz="1200" dirty="0"/>
              <a:t>.</a:t>
            </a:r>
          </a:p>
          <a:p>
            <a:pPr marL="285750" indent="-285750">
              <a:spcBef>
                <a:spcPts val="600"/>
              </a:spcBef>
              <a:buFont typeface="Arial" panose="020B0604020202020204" pitchFamily="34" charset="0"/>
              <a:buChar char="•"/>
            </a:pPr>
            <a:r>
              <a:rPr lang="ru-RU" sz="1200" dirty="0"/>
              <a:t>Уточни дали </a:t>
            </a:r>
            <a:r>
              <a:rPr lang="ru-RU" sz="1200" dirty="0" err="1"/>
              <a:t>моментът</a:t>
            </a:r>
            <a:r>
              <a:rPr lang="ru-RU" sz="1200" dirty="0"/>
              <a:t> е </a:t>
            </a:r>
            <a:r>
              <a:rPr lang="ru-RU" sz="1200" dirty="0" err="1"/>
              <a:t>подходящ</a:t>
            </a:r>
            <a:r>
              <a:rPr lang="ru-RU" sz="1200" dirty="0"/>
              <a:t>, като </a:t>
            </a:r>
            <a:r>
              <a:rPr lang="ru-RU" sz="1200" dirty="0" err="1"/>
              <a:t>попиташ</a:t>
            </a:r>
            <a:r>
              <a:rPr lang="ru-RU" sz="1200" dirty="0"/>
              <a:t> дали </a:t>
            </a:r>
            <a:r>
              <a:rPr lang="ru-RU" sz="1200" dirty="0" err="1"/>
              <a:t>човекът</a:t>
            </a:r>
            <a:r>
              <a:rPr lang="ru-RU" sz="1200" dirty="0"/>
              <a:t> има време да </a:t>
            </a:r>
            <a:r>
              <a:rPr lang="ru-RU" sz="1200" dirty="0" err="1"/>
              <a:t>разговаря</a:t>
            </a:r>
            <a:r>
              <a:rPr lang="ru-RU" sz="1200" dirty="0"/>
              <a:t>.</a:t>
            </a:r>
            <a:endParaRPr lang="en-US" sz="1200" dirty="0"/>
          </a:p>
          <a:p>
            <a:pPr marL="285750" indent="-285750">
              <a:spcBef>
                <a:spcPts val="600"/>
              </a:spcBef>
              <a:buFont typeface="Arial" panose="020B0604020202020204" pitchFamily="34" charset="0"/>
              <a:buChar char="•"/>
            </a:pPr>
            <a:endParaRPr lang="en-US" sz="1200" dirty="0"/>
          </a:p>
          <a:p>
            <a:pPr>
              <a:spcBef>
                <a:spcPts val="600"/>
              </a:spcBef>
            </a:pPr>
            <a:r>
              <a:rPr lang="bg-BG" sz="1200" b="1" dirty="0"/>
              <a:t>ПРИМЕРИ:</a:t>
            </a:r>
            <a:endParaRPr lang="en-US" sz="1200" b="1" dirty="0"/>
          </a:p>
          <a:p>
            <a:pPr>
              <a:spcBef>
                <a:spcPts val="600"/>
              </a:spcBef>
            </a:pPr>
            <a:r>
              <a:rPr lang="ru-RU" sz="1200" b="1" dirty="0"/>
              <a:t>Да представим себе си и </a:t>
            </a:r>
            <a:r>
              <a:rPr lang="ru-RU" sz="1200" b="1" dirty="0" err="1"/>
              <a:t>институцията</a:t>
            </a:r>
            <a:br>
              <a:rPr lang="ru-RU" sz="1200" dirty="0"/>
            </a:br>
            <a:r>
              <a:rPr lang="ru-RU" sz="1200" dirty="0"/>
              <a:t>Да представим себе си и </a:t>
            </a:r>
            <a:r>
              <a:rPr lang="ru-RU" sz="1200" dirty="0" err="1"/>
              <a:t>институцията</a:t>
            </a:r>
            <a:r>
              <a:rPr lang="ru-RU" sz="1200" dirty="0"/>
              <a:t>, </a:t>
            </a:r>
            <a:r>
              <a:rPr lang="ru-RU" sz="1200" dirty="0" err="1"/>
              <a:t>която</a:t>
            </a:r>
            <a:r>
              <a:rPr lang="ru-RU" sz="1200" dirty="0"/>
              <a:t> </a:t>
            </a:r>
            <a:r>
              <a:rPr lang="ru-RU" sz="1200" dirty="0" err="1"/>
              <a:t>представляваме</a:t>
            </a:r>
            <a:r>
              <a:rPr lang="ru-RU" sz="1200" dirty="0"/>
              <a:t> по начин, който </a:t>
            </a:r>
            <a:r>
              <a:rPr lang="ru-RU" sz="1200" dirty="0" err="1"/>
              <a:t>създава</a:t>
            </a:r>
            <a:r>
              <a:rPr lang="ru-RU" sz="1200" dirty="0"/>
              <a:t> доверие и </a:t>
            </a:r>
            <a:r>
              <a:rPr lang="ru-RU" sz="1200" dirty="0" err="1"/>
              <a:t>предразполага</a:t>
            </a:r>
            <a:r>
              <a:rPr lang="ru-RU" sz="1200" dirty="0"/>
              <a:t>.</a:t>
            </a:r>
          </a:p>
          <a:p>
            <a:pPr>
              <a:spcBef>
                <a:spcPts val="600"/>
              </a:spcBef>
            </a:pPr>
            <a:r>
              <a:rPr lang="ru-RU" sz="1200" b="1" dirty="0"/>
              <a:t>Да „</a:t>
            </a:r>
            <a:r>
              <a:rPr lang="ru-RU" sz="1200" b="1" dirty="0" err="1"/>
              <a:t>разчупим</a:t>
            </a:r>
            <a:r>
              <a:rPr lang="ru-RU" sz="1200" b="1" dirty="0"/>
              <a:t> </a:t>
            </a:r>
            <a:r>
              <a:rPr lang="ru-RU" sz="1200" b="1" dirty="0" err="1"/>
              <a:t>леда</a:t>
            </a:r>
            <a:r>
              <a:rPr lang="ru-RU" sz="1200" b="1" dirty="0"/>
              <a:t>“</a:t>
            </a:r>
            <a:br>
              <a:rPr lang="ru-RU" sz="1200" dirty="0"/>
            </a:br>
            <a:r>
              <a:rPr lang="ru-RU" sz="1200" dirty="0"/>
              <a:t>Да </a:t>
            </a:r>
            <a:r>
              <a:rPr lang="ru-RU" sz="1200" dirty="0" err="1"/>
              <a:t>ангажираме</a:t>
            </a:r>
            <a:r>
              <a:rPr lang="ru-RU" sz="1200" dirty="0"/>
              <a:t> клиента в </a:t>
            </a:r>
            <a:r>
              <a:rPr lang="ru-RU" sz="1200" dirty="0" err="1"/>
              <a:t>кратък</a:t>
            </a:r>
            <a:r>
              <a:rPr lang="ru-RU" sz="1200" dirty="0"/>
              <a:t> разговор по обща тема, който да </a:t>
            </a:r>
            <a:r>
              <a:rPr lang="ru-RU" sz="1200" dirty="0" err="1"/>
              <a:t>даде</a:t>
            </a:r>
            <a:r>
              <a:rPr lang="ru-RU" sz="1200" dirty="0"/>
              <a:t> </a:t>
            </a:r>
            <a:r>
              <a:rPr lang="ru-RU" sz="1200" dirty="0" err="1"/>
              <a:t>възможност</a:t>
            </a:r>
            <a:r>
              <a:rPr lang="ru-RU" sz="1200" dirty="0"/>
              <a:t> за </a:t>
            </a:r>
            <a:r>
              <a:rPr lang="ru-RU" sz="1200" dirty="0" err="1"/>
              <a:t>отпускане</a:t>
            </a:r>
            <a:r>
              <a:rPr lang="ru-RU" sz="1200" dirty="0"/>
              <a:t> и </a:t>
            </a:r>
            <a:r>
              <a:rPr lang="ru-RU" sz="1200" dirty="0" err="1"/>
              <a:t>създаване</a:t>
            </a:r>
            <a:r>
              <a:rPr lang="ru-RU" sz="1200" dirty="0"/>
              <a:t> на </a:t>
            </a:r>
            <a:r>
              <a:rPr lang="ru-RU" sz="1200" dirty="0" err="1"/>
              <a:t>връзка</a:t>
            </a:r>
            <a:r>
              <a:rPr lang="ru-RU" sz="1200" dirty="0"/>
              <a:t> на </a:t>
            </a:r>
            <a:r>
              <a:rPr lang="ru-RU" sz="1200" dirty="0" err="1"/>
              <a:t>човешко</a:t>
            </a:r>
            <a:r>
              <a:rPr lang="ru-RU" sz="1200" dirty="0"/>
              <a:t> </a:t>
            </a:r>
            <a:r>
              <a:rPr lang="ru-RU" sz="1200" dirty="0" err="1"/>
              <a:t>ниво</a:t>
            </a:r>
            <a:r>
              <a:rPr lang="ru-RU" sz="1200" dirty="0"/>
              <a:t>.</a:t>
            </a:r>
          </a:p>
          <a:p>
            <a:pPr>
              <a:spcBef>
                <a:spcPts val="600"/>
              </a:spcBef>
            </a:pPr>
            <a:r>
              <a:rPr lang="ru-RU" sz="1200" b="1" dirty="0"/>
              <a:t>Да </a:t>
            </a:r>
            <a:r>
              <a:rPr lang="ru-RU" sz="1200" b="1" dirty="0" err="1"/>
              <a:t>изкажем</a:t>
            </a:r>
            <a:r>
              <a:rPr lang="ru-RU" sz="1200" b="1" dirty="0"/>
              <a:t> </a:t>
            </a:r>
            <a:r>
              <a:rPr lang="ru-RU" sz="1200" b="1" dirty="0" err="1"/>
              <a:t>целта</a:t>
            </a:r>
            <a:r>
              <a:rPr lang="ru-RU" sz="1200" b="1" dirty="0"/>
              <a:t> на </a:t>
            </a:r>
            <a:r>
              <a:rPr lang="ru-RU" sz="1200" b="1" dirty="0" err="1"/>
              <a:t>срещата</a:t>
            </a:r>
            <a:br>
              <a:rPr lang="ru-RU" sz="1200" dirty="0"/>
            </a:br>
            <a:r>
              <a:rPr lang="ru-RU" sz="1200" dirty="0"/>
              <a:t>Пример: „</a:t>
            </a:r>
            <a:r>
              <a:rPr lang="ru-RU" sz="1200" dirty="0" err="1"/>
              <a:t>Искаме</a:t>
            </a:r>
            <a:r>
              <a:rPr lang="ru-RU" sz="1200" dirty="0"/>
              <a:t> да разберем повече за </a:t>
            </a:r>
            <a:r>
              <a:rPr lang="ru-RU" sz="1200" dirty="0" err="1"/>
              <a:t>Вашите</a:t>
            </a:r>
            <a:r>
              <a:rPr lang="ru-RU" sz="1200" dirty="0"/>
              <a:t> </a:t>
            </a:r>
            <a:r>
              <a:rPr lang="ru-RU" sz="1200" dirty="0" err="1"/>
              <a:t>нужди</a:t>
            </a:r>
            <a:r>
              <a:rPr lang="ru-RU" sz="1200" dirty="0"/>
              <a:t> и как можем </a:t>
            </a:r>
            <a:r>
              <a:rPr lang="ru-RU" sz="1200" dirty="0" err="1"/>
              <a:t>ние</a:t>
            </a:r>
            <a:r>
              <a:rPr lang="ru-RU" sz="1200" dirty="0"/>
              <a:t>, като </a:t>
            </a:r>
            <a:r>
              <a:rPr lang="ru-RU" sz="1200" dirty="0" err="1"/>
              <a:t>финансова</a:t>
            </a:r>
            <a:r>
              <a:rPr lang="ru-RU" sz="1200" dirty="0"/>
              <a:t> институция, да Ви </a:t>
            </a:r>
            <a:r>
              <a:rPr lang="ru-RU" sz="1200" dirty="0" err="1"/>
              <a:t>бъдем</a:t>
            </a:r>
            <a:r>
              <a:rPr lang="ru-RU" sz="1200" dirty="0"/>
              <a:t> </a:t>
            </a:r>
            <a:r>
              <a:rPr lang="ru-RU" sz="1200" dirty="0" err="1"/>
              <a:t>полезни</a:t>
            </a:r>
            <a:r>
              <a:rPr lang="ru-RU" sz="1200" dirty="0"/>
              <a:t>“.</a:t>
            </a:r>
          </a:p>
          <a:p>
            <a:pPr>
              <a:spcBef>
                <a:spcPts val="600"/>
              </a:spcBef>
            </a:pPr>
            <a:r>
              <a:rPr lang="ru-RU" sz="1200" b="1" dirty="0"/>
              <a:t>Да </a:t>
            </a:r>
            <a:r>
              <a:rPr lang="ru-RU" sz="1200" b="1" dirty="0" err="1"/>
              <a:t>изясним</a:t>
            </a:r>
            <a:r>
              <a:rPr lang="ru-RU" sz="1200" b="1" dirty="0"/>
              <a:t> как </a:t>
            </a:r>
            <a:r>
              <a:rPr lang="ru-RU" sz="1200" b="1" dirty="0" err="1"/>
              <a:t>планираме</a:t>
            </a:r>
            <a:r>
              <a:rPr lang="ru-RU" sz="1200" b="1" dirty="0"/>
              <a:t> да проведем разговора</a:t>
            </a:r>
            <a:br>
              <a:rPr lang="ru-RU" sz="1200" dirty="0"/>
            </a:br>
            <a:r>
              <a:rPr lang="ru-RU" sz="1200" dirty="0"/>
              <a:t>Пример: „...за </a:t>
            </a:r>
            <a:r>
              <a:rPr lang="ru-RU" sz="1200" dirty="0" err="1"/>
              <a:t>тази</a:t>
            </a:r>
            <a:r>
              <a:rPr lang="ru-RU" sz="1200" dirty="0"/>
              <a:t> цел Ви </a:t>
            </a:r>
            <a:r>
              <a:rPr lang="ru-RU" sz="1200" dirty="0" err="1"/>
              <a:t>предлагам</a:t>
            </a:r>
            <a:r>
              <a:rPr lang="ru-RU" sz="1200" dirty="0"/>
              <a:t> </a:t>
            </a:r>
            <a:r>
              <a:rPr lang="ru-RU" sz="1200" dirty="0" err="1"/>
              <a:t>първо</a:t>
            </a:r>
            <a:r>
              <a:rPr lang="ru-RU" sz="1200" dirty="0"/>
              <a:t> да ни </a:t>
            </a:r>
            <a:r>
              <a:rPr lang="ru-RU" sz="1200" dirty="0" err="1"/>
              <a:t>разкажете</a:t>
            </a:r>
            <a:r>
              <a:rPr lang="ru-RU" sz="1200" dirty="0"/>
              <a:t>, </a:t>
            </a:r>
            <a:r>
              <a:rPr lang="ru-RU" sz="1200" dirty="0" err="1"/>
              <a:t>имате</a:t>
            </a:r>
            <a:r>
              <a:rPr lang="ru-RU" sz="1200" dirty="0"/>
              <a:t> ли </a:t>
            </a:r>
            <a:r>
              <a:rPr lang="ru-RU" sz="1200" dirty="0" err="1"/>
              <a:t>предишен</a:t>
            </a:r>
            <a:r>
              <a:rPr lang="ru-RU" sz="1200" dirty="0"/>
              <a:t> опит в </a:t>
            </a:r>
            <a:r>
              <a:rPr lang="ru-RU" sz="1200" dirty="0" err="1"/>
              <a:t>използването</a:t>
            </a:r>
            <a:r>
              <a:rPr lang="ru-RU" sz="1200" dirty="0"/>
              <a:t> на </a:t>
            </a:r>
            <a:r>
              <a:rPr lang="ru-RU" sz="1200" dirty="0" err="1"/>
              <a:t>финансови</a:t>
            </a:r>
            <a:r>
              <a:rPr lang="ru-RU" sz="1200" dirty="0"/>
              <a:t> услуги? </a:t>
            </a:r>
            <a:r>
              <a:rPr lang="ru-RU" sz="1200" dirty="0" err="1"/>
              <a:t>Ние</a:t>
            </a:r>
            <a:r>
              <a:rPr lang="ru-RU" sz="1200" dirty="0"/>
              <a:t> </a:t>
            </a:r>
            <a:r>
              <a:rPr lang="ru-RU" sz="1200" dirty="0" err="1"/>
              <a:t>ще</a:t>
            </a:r>
            <a:r>
              <a:rPr lang="ru-RU" sz="1200" dirty="0"/>
              <a:t> </a:t>
            </a:r>
            <a:r>
              <a:rPr lang="ru-RU" sz="1200" dirty="0" err="1"/>
              <a:t>ви</a:t>
            </a:r>
            <a:r>
              <a:rPr lang="ru-RU" sz="1200" dirty="0"/>
              <a:t> </a:t>
            </a:r>
            <a:r>
              <a:rPr lang="ru-RU" sz="1200" dirty="0" err="1"/>
              <a:t>разкажем</a:t>
            </a:r>
            <a:r>
              <a:rPr lang="ru-RU" sz="1200" dirty="0"/>
              <a:t> за нас и </a:t>
            </a:r>
            <a:r>
              <a:rPr lang="ru-RU" sz="1200" dirty="0" err="1"/>
              <a:t>нашите</a:t>
            </a:r>
            <a:r>
              <a:rPr lang="ru-RU" sz="1200" dirty="0"/>
              <a:t> предложения, </a:t>
            </a:r>
            <a:r>
              <a:rPr lang="ru-RU" sz="1200" dirty="0" err="1"/>
              <a:t>както</a:t>
            </a:r>
            <a:r>
              <a:rPr lang="ru-RU" sz="1200" dirty="0"/>
              <a:t> и </a:t>
            </a:r>
            <a:r>
              <a:rPr lang="ru-RU" sz="1200" dirty="0" err="1"/>
              <a:t>ще</a:t>
            </a:r>
            <a:r>
              <a:rPr lang="ru-RU" sz="1200" dirty="0"/>
              <a:t> и </a:t>
            </a:r>
            <a:r>
              <a:rPr lang="ru-RU" sz="1200" dirty="0" err="1"/>
              <a:t>ви</a:t>
            </a:r>
            <a:r>
              <a:rPr lang="ru-RU" sz="1200" dirty="0"/>
              <a:t> </a:t>
            </a:r>
            <a:r>
              <a:rPr lang="ru-RU" sz="1200" dirty="0" err="1"/>
              <a:t>дадем</a:t>
            </a:r>
            <a:r>
              <a:rPr lang="ru-RU" sz="1200" dirty="0"/>
              <a:t> </a:t>
            </a:r>
            <a:r>
              <a:rPr lang="ru-RU" sz="1200" dirty="0" err="1"/>
              <a:t>полезни</a:t>
            </a:r>
            <a:r>
              <a:rPr lang="ru-RU" sz="1200" dirty="0"/>
              <a:t> </a:t>
            </a:r>
            <a:r>
              <a:rPr lang="ru-RU" sz="1200" dirty="0" err="1"/>
              <a:t>съвети</a:t>
            </a:r>
            <a:r>
              <a:rPr lang="ru-RU" sz="1200" dirty="0"/>
              <a:t>.</a:t>
            </a:r>
          </a:p>
        </p:txBody>
      </p:sp>
      <p:sp>
        <p:nvSpPr>
          <p:cNvPr id="15" name="Rectangle: Rounded Corners 14">
            <a:extLst>
              <a:ext uri="{FF2B5EF4-FFF2-40B4-BE49-F238E27FC236}">
                <a16:creationId xmlns:a16="http://schemas.microsoft.com/office/drawing/2014/main" id="{CFBCCFBF-364E-4ED5-91F1-9034FBD4E926}"/>
              </a:ext>
            </a:extLst>
          </p:cNvPr>
          <p:cNvSpPr/>
          <p:nvPr/>
        </p:nvSpPr>
        <p:spPr>
          <a:xfrm>
            <a:off x="1896198" y="1956771"/>
            <a:ext cx="2932281" cy="677242"/>
          </a:xfrm>
          <a:prstGeom prst="round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600"/>
              <a:t>Идентифициране на нужди</a:t>
            </a:r>
            <a:endParaRPr lang="en-GB" sz="1600"/>
          </a:p>
        </p:txBody>
      </p:sp>
      <p:sp>
        <p:nvSpPr>
          <p:cNvPr id="17" name="Rectangle: Rounded Corners 16">
            <a:extLst>
              <a:ext uri="{FF2B5EF4-FFF2-40B4-BE49-F238E27FC236}">
                <a16:creationId xmlns:a16="http://schemas.microsoft.com/office/drawing/2014/main" id="{B48AAE6E-7DB7-453E-B717-C18E62CDE7B1}"/>
              </a:ext>
            </a:extLst>
          </p:cNvPr>
          <p:cNvSpPr/>
          <p:nvPr/>
        </p:nvSpPr>
        <p:spPr>
          <a:xfrm>
            <a:off x="1896198" y="1146226"/>
            <a:ext cx="2932281" cy="677242"/>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600"/>
              <a:t>Отваряне на разговор</a:t>
            </a:r>
            <a:endParaRPr lang="en-GB" sz="1600"/>
          </a:p>
        </p:txBody>
      </p:sp>
      <p:sp>
        <p:nvSpPr>
          <p:cNvPr id="21" name="Rectangle: Rounded Corners 20">
            <a:extLst>
              <a:ext uri="{FF2B5EF4-FFF2-40B4-BE49-F238E27FC236}">
                <a16:creationId xmlns:a16="http://schemas.microsoft.com/office/drawing/2014/main" id="{E3CFB0AC-5393-4DA6-B25E-58ECA624847B}"/>
              </a:ext>
            </a:extLst>
          </p:cNvPr>
          <p:cNvSpPr/>
          <p:nvPr/>
        </p:nvSpPr>
        <p:spPr>
          <a:xfrm>
            <a:off x="1896198" y="3577861"/>
            <a:ext cx="2932281" cy="677242"/>
          </a:xfrm>
          <a:prstGeom prst="round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600"/>
              <a:t>Справяне с възражения</a:t>
            </a:r>
            <a:endParaRPr lang="en-GB" sz="1600"/>
          </a:p>
        </p:txBody>
      </p:sp>
      <p:sp>
        <p:nvSpPr>
          <p:cNvPr id="22" name="Rectangle: Rounded Corners 21">
            <a:extLst>
              <a:ext uri="{FF2B5EF4-FFF2-40B4-BE49-F238E27FC236}">
                <a16:creationId xmlns:a16="http://schemas.microsoft.com/office/drawing/2014/main" id="{4BCDB4B2-086D-4E59-886D-E9D67F60A8A6}"/>
              </a:ext>
            </a:extLst>
          </p:cNvPr>
          <p:cNvSpPr/>
          <p:nvPr/>
        </p:nvSpPr>
        <p:spPr>
          <a:xfrm>
            <a:off x="1896198" y="4388406"/>
            <a:ext cx="2932281" cy="677242"/>
          </a:xfrm>
          <a:prstGeom prst="round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600"/>
              <a:t>Затваряне</a:t>
            </a:r>
            <a:endParaRPr lang="en-GB" sz="1600"/>
          </a:p>
        </p:txBody>
      </p:sp>
      <p:sp>
        <p:nvSpPr>
          <p:cNvPr id="23" name="Rectangle 13">
            <a:extLst>
              <a:ext uri="{FF2B5EF4-FFF2-40B4-BE49-F238E27FC236}">
                <a16:creationId xmlns:a16="http://schemas.microsoft.com/office/drawing/2014/main" id="{30CDDD3E-CA5A-4754-B584-AFFE812E4C5F}"/>
              </a:ext>
            </a:extLst>
          </p:cNvPr>
          <p:cNvSpPr/>
          <p:nvPr/>
        </p:nvSpPr>
        <p:spPr>
          <a:xfrm>
            <a:off x="1896198" y="2767316"/>
            <a:ext cx="2932281" cy="677242"/>
          </a:xfrm>
          <a:prstGeom prst="round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600"/>
              <a:t>Предложение</a:t>
            </a:r>
            <a:endParaRPr lang="en-GB" sz="1600"/>
          </a:p>
        </p:txBody>
      </p:sp>
      <p:sp>
        <p:nvSpPr>
          <p:cNvPr id="24" name="Rectangle 3">
            <a:extLst>
              <a:ext uri="{FF2B5EF4-FFF2-40B4-BE49-F238E27FC236}">
                <a16:creationId xmlns:a16="http://schemas.microsoft.com/office/drawing/2014/main" id="{6913AB9C-949B-43B9-A8E8-80D4D5ED19B4}"/>
              </a:ext>
            </a:extLst>
          </p:cNvPr>
          <p:cNvSpPr/>
          <p:nvPr/>
        </p:nvSpPr>
        <p:spPr>
          <a:xfrm>
            <a:off x="1443475" y="4245"/>
            <a:ext cx="5338363" cy="677242"/>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25" name="Rectangle 4">
            <a:extLst>
              <a:ext uri="{FF2B5EF4-FFF2-40B4-BE49-F238E27FC236}">
                <a16:creationId xmlns:a16="http://schemas.microsoft.com/office/drawing/2014/main" id="{8998315C-27F4-4778-849E-FA983EFA7406}"/>
              </a:ext>
            </a:extLst>
          </p:cNvPr>
          <p:cNvSpPr/>
          <p:nvPr/>
        </p:nvSpPr>
        <p:spPr>
          <a:xfrm>
            <a:off x="6788435" y="4245"/>
            <a:ext cx="5417300" cy="677242"/>
          </a:xfrm>
          <a:prstGeom prst="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26" name="Rectangle 25">
            <a:extLst>
              <a:ext uri="{FF2B5EF4-FFF2-40B4-BE49-F238E27FC236}">
                <a16:creationId xmlns:a16="http://schemas.microsoft.com/office/drawing/2014/main" id="{C181DD3A-AD0E-4626-A79B-7BA4033D9B31}"/>
              </a:ext>
            </a:extLst>
          </p:cNvPr>
          <p:cNvSpPr/>
          <p:nvPr/>
        </p:nvSpPr>
        <p:spPr>
          <a:xfrm>
            <a:off x="-1671" y="1599"/>
            <a:ext cx="1451167" cy="6866954"/>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200">
              <a:latin typeface="Aptos"/>
              <a:ea typeface="Calibri"/>
              <a:cs typeface="Calibri"/>
            </a:endParaRPr>
          </a:p>
        </p:txBody>
      </p:sp>
      <p:sp>
        <p:nvSpPr>
          <p:cNvPr id="27" name="Rectangle 26">
            <a:extLst>
              <a:ext uri="{FF2B5EF4-FFF2-40B4-BE49-F238E27FC236}">
                <a16:creationId xmlns:a16="http://schemas.microsoft.com/office/drawing/2014/main" id="{2EF21A02-FF0C-407F-8ED9-A0AD6BB39B59}"/>
              </a:ext>
            </a:extLst>
          </p:cNvPr>
          <p:cNvSpPr/>
          <p:nvPr/>
        </p:nvSpPr>
        <p:spPr>
          <a:xfrm>
            <a:off x="-1671" y="2528038"/>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Типове клиенти</a:t>
            </a:r>
            <a:endParaRPr lang="en-GB" sz="1400">
              <a:latin typeface="Aptos"/>
              <a:ea typeface="Calibri"/>
              <a:cs typeface="Calibri"/>
            </a:endParaRPr>
          </a:p>
        </p:txBody>
      </p:sp>
      <p:sp>
        <p:nvSpPr>
          <p:cNvPr id="28" name="Rectangle 27">
            <a:extLst>
              <a:ext uri="{FF2B5EF4-FFF2-40B4-BE49-F238E27FC236}">
                <a16:creationId xmlns:a16="http://schemas.microsoft.com/office/drawing/2014/main" id="{27C6074B-BFE9-4D2C-AC55-3CECC41E4266}"/>
              </a:ext>
            </a:extLst>
          </p:cNvPr>
          <p:cNvSpPr/>
          <p:nvPr/>
        </p:nvSpPr>
        <p:spPr>
          <a:xfrm>
            <a:off x="8626" y="1913210"/>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Сценарии</a:t>
            </a:r>
            <a:endParaRPr lang="en-GB" sz="1400">
              <a:latin typeface="Aptos"/>
              <a:ea typeface="Calibri"/>
              <a:cs typeface="Calibri"/>
            </a:endParaRPr>
          </a:p>
        </p:txBody>
      </p:sp>
      <p:sp>
        <p:nvSpPr>
          <p:cNvPr id="29" name="Rectangle 28">
            <a:extLst>
              <a:ext uri="{FF2B5EF4-FFF2-40B4-BE49-F238E27FC236}">
                <a16:creationId xmlns:a16="http://schemas.microsoft.com/office/drawing/2014/main" id="{0FE2A2A9-2EEF-4235-8E30-32BB3AC6FB42}"/>
              </a:ext>
            </a:extLst>
          </p:cNvPr>
          <p:cNvSpPr/>
          <p:nvPr/>
        </p:nvSpPr>
        <p:spPr>
          <a:xfrm>
            <a:off x="-1671" y="1298382"/>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b="1">
                <a:solidFill>
                  <a:schemeClr val="tx2"/>
                </a:solidFill>
                <a:latin typeface="Aptos"/>
                <a:ea typeface="Calibri"/>
                <a:cs typeface="Calibri"/>
              </a:rPr>
              <a:t>Стъпки при среща</a:t>
            </a:r>
            <a:endParaRPr lang="bg-BG" sz="1400">
              <a:solidFill>
                <a:srgbClr val="000000"/>
              </a:solidFill>
              <a:latin typeface="Aptos"/>
              <a:ea typeface="Calibri"/>
              <a:cs typeface="Calibri"/>
            </a:endParaRPr>
          </a:p>
        </p:txBody>
      </p:sp>
      <p:sp>
        <p:nvSpPr>
          <p:cNvPr id="30" name="Rectangle 28">
            <a:extLst>
              <a:ext uri="{FF2B5EF4-FFF2-40B4-BE49-F238E27FC236}">
                <a16:creationId xmlns:a16="http://schemas.microsoft.com/office/drawing/2014/main" id="{17FCF928-EE45-468E-8A6E-39FFCAEDB1BD}"/>
              </a:ext>
            </a:extLst>
          </p:cNvPr>
          <p:cNvSpPr/>
          <p:nvPr/>
        </p:nvSpPr>
        <p:spPr>
          <a:xfrm>
            <a:off x="6154" y="690328"/>
            <a:ext cx="1435083"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a:solidFill>
                  <a:schemeClr val="bg1"/>
                </a:solidFill>
                <a:latin typeface="Aptos"/>
                <a:ea typeface="Calibri"/>
                <a:cs typeface="Calibri"/>
              </a:rPr>
              <a:t>Подготовка</a:t>
            </a:r>
            <a:endParaRPr lang="en-GB" sz="1400">
              <a:solidFill>
                <a:schemeClr val="bg1"/>
              </a:solidFill>
              <a:latin typeface="Aptos"/>
              <a:ea typeface="Calibri"/>
              <a:cs typeface="Calibri"/>
            </a:endParaRPr>
          </a:p>
        </p:txBody>
      </p:sp>
      <p:pic>
        <p:nvPicPr>
          <p:cNvPr id="31" name="Picture 30">
            <a:extLst>
              <a:ext uri="{FF2B5EF4-FFF2-40B4-BE49-F238E27FC236}">
                <a16:creationId xmlns:a16="http://schemas.microsoft.com/office/drawing/2014/main" id="{EC503B59-2355-450B-8154-B4D2CF60D931}"/>
              </a:ext>
            </a:extLst>
          </p:cNvPr>
          <p:cNvPicPr>
            <a:picLocks noChangeAspect="1"/>
          </p:cNvPicPr>
          <p:nvPr/>
        </p:nvPicPr>
        <p:blipFill>
          <a:blip r:embed="rId3"/>
          <a:stretch>
            <a:fillRect/>
          </a:stretch>
        </p:blipFill>
        <p:spPr>
          <a:xfrm>
            <a:off x="10883590" y="5621341"/>
            <a:ext cx="982751" cy="995681"/>
          </a:xfrm>
          <a:prstGeom prst="rect">
            <a:avLst/>
          </a:prstGeom>
        </p:spPr>
      </p:pic>
    </p:spTree>
    <p:extLst>
      <p:ext uri="{BB962C8B-B14F-4D97-AF65-F5344CB8AC3E}">
        <p14:creationId xmlns:p14="http://schemas.microsoft.com/office/powerpoint/2010/main" val="1934256041"/>
      </p:ext>
    </p:extLst>
  </p:cSld>
  <p:clrMapOvr>
    <a:masterClrMapping/>
  </p:clrMapOvr>
  <p:extLst>
    <p:ext uri="{6950BFC3-D8DA-4A85-94F7-54DA5524770B}">
      <p188:commentRel xmlns:p188="http://schemas.microsoft.com/office/powerpoint/2018/8/main" r:id="rId2"/>
    </p:ext>
  </p:extLs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2E6368-ABF0-C936-E5EE-6DFE9C97CDED}"/>
            </a:ext>
          </a:extLst>
        </p:cNvPr>
        <p:cNvGrpSpPr/>
        <p:nvPr/>
      </p:nvGrpSpPr>
      <p:grpSpPr>
        <a:xfrm>
          <a:off x="0" y="0"/>
          <a:ext cx="0" cy="0"/>
          <a:chOff x="0" y="0"/>
          <a:chExt cx="0" cy="0"/>
        </a:xfrm>
      </p:grpSpPr>
      <p:sp>
        <p:nvSpPr>
          <p:cNvPr id="21" name="Rectangle: Rounded Corners 20">
            <a:extLst>
              <a:ext uri="{FF2B5EF4-FFF2-40B4-BE49-F238E27FC236}">
                <a16:creationId xmlns:a16="http://schemas.microsoft.com/office/drawing/2014/main" id="{A9856368-176D-4413-B111-D1757F1574E2}"/>
              </a:ext>
            </a:extLst>
          </p:cNvPr>
          <p:cNvSpPr/>
          <p:nvPr/>
        </p:nvSpPr>
        <p:spPr>
          <a:xfrm>
            <a:off x="1896198" y="1956771"/>
            <a:ext cx="2932281" cy="677242"/>
          </a:xfrm>
          <a:prstGeom prst="roundRect">
            <a:avLst/>
          </a:prstGeom>
          <a:solidFill>
            <a:srgbClr val="4472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600"/>
              <a:t>Идентифициране на нужди</a:t>
            </a:r>
            <a:endParaRPr lang="en-GB" sz="1600"/>
          </a:p>
        </p:txBody>
      </p:sp>
      <p:sp>
        <p:nvSpPr>
          <p:cNvPr id="25" name="Rectangle: Rounded Corners 24">
            <a:extLst>
              <a:ext uri="{FF2B5EF4-FFF2-40B4-BE49-F238E27FC236}">
                <a16:creationId xmlns:a16="http://schemas.microsoft.com/office/drawing/2014/main" id="{606FA872-BA8D-4929-A727-CC88052A0499}"/>
              </a:ext>
            </a:extLst>
          </p:cNvPr>
          <p:cNvSpPr/>
          <p:nvPr/>
        </p:nvSpPr>
        <p:spPr>
          <a:xfrm>
            <a:off x="1896198" y="1146226"/>
            <a:ext cx="2932281" cy="677242"/>
          </a:xfrm>
          <a:prstGeom prst="round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600"/>
              <a:t>Отваряне на разговор</a:t>
            </a:r>
            <a:endParaRPr lang="en-GB" sz="1600"/>
          </a:p>
        </p:txBody>
      </p:sp>
      <p:sp>
        <p:nvSpPr>
          <p:cNvPr id="26" name="Rectangle: Rounded Corners 25">
            <a:extLst>
              <a:ext uri="{FF2B5EF4-FFF2-40B4-BE49-F238E27FC236}">
                <a16:creationId xmlns:a16="http://schemas.microsoft.com/office/drawing/2014/main" id="{BE82D7AC-E51D-42BC-BCD0-9F2FB862ECEC}"/>
              </a:ext>
            </a:extLst>
          </p:cNvPr>
          <p:cNvSpPr/>
          <p:nvPr/>
        </p:nvSpPr>
        <p:spPr>
          <a:xfrm>
            <a:off x="1896198" y="3577861"/>
            <a:ext cx="2932281" cy="677242"/>
          </a:xfrm>
          <a:prstGeom prst="round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600"/>
              <a:t>Справяне с възражения</a:t>
            </a:r>
            <a:endParaRPr lang="en-GB" sz="1600"/>
          </a:p>
        </p:txBody>
      </p:sp>
      <p:sp>
        <p:nvSpPr>
          <p:cNvPr id="27" name="Rectangle: Rounded Corners 26">
            <a:extLst>
              <a:ext uri="{FF2B5EF4-FFF2-40B4-BE49-F238E27FC236}">
                <a16:creationId xmlns:a16="http://schemas.microsoft.com/office/drawing/2014/main" id="{D412048F-9013-4C75-B538-38AE3D9A7FD1}"/>
              </a:ext>
            </a:extLst>
          </p:cNvPr>
          <p:cNvSpPr/>
          <p:nvPr/>
        </p:nvSpPr>
        <p:spPr>
          <a:xfrm>
            <a:off x="1896198" y="4388406"/>
            <a:ext cx="2932281" cy="677242"/>
          </a:xfrm>
          <a:prstGeom prst="round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600"/>
              <a:t>Затваряне</a:t>
            </a:r>
            <a:endParaRPr lang="en-GB" sz="1600"/>
          </a:p>
        </p:txBody>
      </p:sp>
      <p:sp>
        <p:nvSpPr>
          <p:cNvPr id="28" name="Rectangle 13">
            <a:extLst>
              <a:ext uri="{FF2B5EF4-FFF2-40B4-BE49-F238E27FC236}">
                <a16:creationId xmlns:a16="http://schemas.microsoft.com/office/drawing/2014/main" id="{D6B41A9B-5C5B-4ED5-8386-2D66ABF2955B}"/>
              </a:ext>
            </a:extLst>
          </p:cNvPr>
          <p:cNvSpPr/>
          <p:nvPr/>
        </p:nvSpPr>
        <p:spPr>
          <a:xfrm>
            <a:off x="1896198" y="2767316"/>
            <a:ext cx="2932281" cy="677242"/>
          </a:xfrm>
          <a:prstGeom prst="round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600"/>
              <a:t>Предложение</a:t>
            </a:r>
            <a:endParaRPr lang="en-GB" sz="1600"/>
          </a:p>
        </p:txBody>
      </p:sp>
      <p:sp>
        <p:nvSpPr>
          <p:cNvPr id="29" name="Rectangle 3">
            <a:extLst>
              <a:ext uri="{FF2B5EF4-FFF2-40B4-BE49-F238E27FC236}">
                <a16:creationId xmlns:a16="http://schemas.microsoft.com/office/drawing/2014/main" id="{50F81F5C-1F37-47CA-B3FE-0CD66030919D}"/>
              </a:ext>
            </a:extLst>
          </p:cNvPr>
          <p:cNvSpPr/>
          <p:nvPr/>
        </p:nvSpPr>
        <p:spPr>
          <a:xfrm>
            <a:off x="1443475" y="4245"/>
            <a:ext cx="5338363" cy="677242"/>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30" name="Rectangle 4">
            <a:extLst>
              <a:ext uri="{FF2B5EF4-FFF2-40B4-BE49-F238E27FC236}">
                <a16:creationId xmlns:a16="http://schemas.microsoft.com/office/drawing/2014/main" id="{2EDD1FAB-7735-4E50-A5A7-CC255EC8F46B}"/>
              </a:ext>
            </a:extLst>
          </p:cNvPr>
          <p:cNvSpPr/>
          <p:nvPr/>
        </p:nvSpPr>
        <p:spPr>
          <a:xfrm>
            <a:off x="6788435" y="4245"/>
            <a:ext cx="5417300" cy="677242"/>
          </a:xfrm>
          <a:prstGeom prst="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31" name="Rectangle 30">
            <a:extLst>
              <a:ext uri="{FF2B5EF4-FFF2-40B4-BE49-F238E27FC236}">
                <a16:creationId xmlns:a16="http://schemas.microsoft.com/office/drawing/2014/main" id="{6DA2AF2A-7BE4-4E5B-A32F-FED91662305F}"/>
              </a:ext>
            </a:extLst>
          </p:cNvPr>
          <p:cNvSpPr/>
          <p:nvPr/>
        </p:nvSpPr>
        <p:spPr>
          <a:xfrm>
            <a:off x="-1671" y="1599"/>
            <a:ext cx="1451167" cy="6866954"/>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200">
              <a:latin typeface="Aptos"/>
              <a:ea typeface="Calibri"/>
              <a:cs typeface="Calibri"/>
            </a:endParaRPr>
          </a:p>
        </p:txBody>
      </p:sp>
      <p:sp>
        <p:nvSpPr>
          <p:cNvPr id="32" name="Rectangle 31">
            <a:extLst>
              <a:ext uri="{FF2B5EF4-FFF2-40B4-BE49-F238E27FC236}">
                <a16:creationId xmlns:a16="http://schemas.microsoft.com/office/drawing/2014/main" id="{51FED3F4-4336-4DCC-B0C7-3496872DA263}"/>
              </a:ext>
            </a:extLst>
          </p:cNvPr>
          <p:cNvSpPr/>
          <p:nvPr/>
        </p:nvSpPr>
        <p:spPr>
          <a:xfrm>
            <a:off x="-1671" y="2528038"/>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Типове клиенти</a:t>
            </a:r>
            <a:endParaRPr lang="en-GB" sz="1400">
              <a:latin typeface="Aptos"/>
              <a:ea typeface="Calibri"/>
              <a:cs typeface="Calibri"/>
            </a:endParaRPr>
          </a:p>
        </p:txBody>
      </p:sp>
      <p:sp>
        <p:nvSpPr>
          <p:cNvPr id="33" name="Rectangle 32">
            <a:extLst>
              <a:ext uri="{FF2B5EF4-FFF2-40B4-BE49-F238E27FC236}">
                <a16:creationId xmlns:a16="http://schemas.microsoft.com/office/drawing/2014/main" id="{DFAABFAE-960A-4A90-99B8-A34554853862}"/>
              </a:ext>
            </a:extLst>
          </p:cNvPr>
          <p:cNvSpPr/>
          <p:nvPr/>
        </p:nvSpPr>
        <p:spPr>
          <a:xfrm>
            <a:off x="8626" y="1913210"/>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Сценарии</a:t>
            </a:r>
            <a:endParaRPr lang="en-GB" sz="1400">
              <a:latin typeface="Aptos"/>
              <a:ea typeface="Calibri"/>
              <a:cs typeface="Calibri"/>
            </a:endParaRPr>
          </a:p>
        </p:txBody>
      </p:sp>
      <p:sp>
        <p:nvSpPr>
          <p:cNvPr id="34" name="Rectangle 33">
            <a:extLst>
              <a:ext uri="{FF2B5EF4-FFF2-40B4-BE49-F238E27FC236}">
                <a16:creationId xmlns:a16="http://schemas.microsoft.com/office/drawing/2014/main" id="{9BC8A6D4-FA30-4089-8E4D-9BA84CEB9B8E}"/>
              </a:ext>
            </a:extLst>
          </p:cNvPr>
          <p:cNvSpPr/>
          <p:nvPr/>
        </p:nvSpPr>
        <p:spPr>
          <a:xfrm>
            <a:off x="-1671" y="1298382"/>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b="1">
                <a:solidFill>
                  <a:schemeClr val="tx2"/>
                </a:solidFill>
                <a:latin typeface="Aptos"/>
                <a:ea typeface="Calibri"/>
                <a:cs typeface="Calibri"/>
              </a:rPr>
              <a:t>Стъпки при среща</a:t>
            </a:r>
            <a:endParaRPr lang="bg-BG" sz="1400">
              <a:solidFill>
                <a:srgbClr val="000000"/>
              </a:solidFill>
              <a:latin typeface="Aptos"/>
              <a:ea typeface="Calibri"/>
              <a:cs typeface="Calibri"/>
            </a:endParaRPr>
          </a:p>
        </p:txBody>
      </p:sp>
      <p:sp>
        <p:nvSpPr>
          <p:cNvPr id="35" name="Rectangle 28">
            <a:extLst>
              <a:ext uri="{FF2B5EF4-FFF2-40B4-BE49-F238E27FC236}">
                <a16:creationId xmlns:a16="http://schemas.microsoft.com/office/drawing/2014/main" id="{FC42ECBF-8468-477D-9AD0-EF20DFBED526}"/>
              </a:ext>
            </a:extLst>
          </p:cNvPr>
          <p:cNvSpPr/>
          <p:nvPr/>
        </p:nvSpPr>
        <p:spPr>
          <a:xfrm>
            <a:off x="6154" y="690328"/>
            <a:ext cx="1435083"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a:solidFill>
                  <a:schemeClr val="bg1"/>
                </a:solidFill>
                <a:latin typeface="Aptos"/>
                <a:ea typeface="Calibri"/>
                <a:cs typeface="Calibri"/>
              </a:rPr>
              <a:t>Подготовка</a:t>
            </a:r>
            <a:endParaRPr lang="en-GB" sz="1400">
              <a:solidFill>
                <a:schemeClr val="bg1"/>
              </a:solidFill>
              <a:latin typeface="Aptos"/>
              <a:ea typeface="Calibri"/>
              <a:cs typeface="Calibri"/>
            </a:endParaRPr>
          </a:p>
        </p:txBody>
      </p:sp>
      <p:sp>
        <p:nvSpPr>
          <p:cNvPr id="11" name="Rectangle: Rounded Corners 10">
            <a:extLst>
              <a:ext uri="{FF2B5EF4-FFF2-40B4-BE49-F238E27FC236}">
                <a16:creationId xmlns:a16="http://schemas.microsoft.com/office/drawing/2014/main" id="{5A40F320-5BE1-BA72-14A6-8ECD01CD0D2E}"/>
              </a:ext>
            </a:extLst>
          </p:cNvPr>
          <p:cNvSpPr/>
          <p:nvPr/>
        </p:nvSpPr>
        <p:spPr>
          <a:xfrm>
            <a:off x="5376867" y="1146226"/>
            <a:ext cx="6432274" cy="2543194"/>
          </a:xfrm>
          <a:prstGeom prst="roundRect">
            <a:avLst>
              <a:gd name="adj" fmla="val 8506"/>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ru-RU" sz="1200" dirty="0"/>
              <a:t>Да опознаем клиента </a:t>
            </a:r>
            <a:r>
              <a:rPr lang="ru-RU" sz="1200" dirty="0" err="1"/>
              <a:t>така</a:t>
            </a:r>
            <a:r>
              <a:rPr lang="ru-RU" sz="1200" dirty="0"/>
              <a:t>, че да </a:t>
            </a:r>
            <a:r>
              <a:rPr lang="ru-RU" sz="1200" dirty="0" err="1"/>
              <a:t>може</a:t>
            </a:r>
            <a:r>
              <a:rPr lang="ru-RU" sz="1200" dirty="0"/>
              <a:t> да му предложим </a:t>
            </a:r>
            <a:r>
              <a:rPr lang="ru-RU" sz="1200" b="1" dirty="0" err="1"/>
              <a:t>индивидуализирано</a:t>
            </a:r>
            <a:r>
              <a:rPr lang="ru-RU" sz="1200" b="1" dirty="0"/>
              <a:t> решение</a:t>
            </a:r>
            <a:r>
              <a:rPr lang="ru-RU" sz="1200" dirty="0"/>
              <a:t>.</a:t>
            </a:r>
          </a:p>
          <a:p>
            <a:r>
              <a:rPr lang="ru-RU" sz="1200" b="1" dirty="0"/>
              <a:t>За </a:t>
            </a:r>
            <a:r>
              <a:rPr lang="ru-RU" sz="1200" b="1" dirty="0" err="1"/>
              <a:t>тази</a:t>
            </a:r>
            <a:r>
              <a:rPr lang="ru-RU" sz="1200" b="1" dirty="0"/>
              <a:t> цел е необходимо:</a:t>
            </a:r>
            <a:endParaRPr lang="ru-RU" sz="1200" dirty="0"/>
          </a:p>
          <a:p>
            <a:r>
              <a:rPr lang="ru-RU" sz="1200" dirty="0"/>
              <a:t>Да </a:t>
            </a:r>
            <a:r>
              <a:rPr lang="ru-RU" sz="1200" dirty="0" err="1"/>
              <a:t>идентифицираме</a:t>
            </a:r>
            <a:r>
              <a:rPr lang="ru-RU" sz="1200" dirty="0"/>
              <a:t> </a:t>
            </a:r>
            <a:r>
              <a:rPr lang="ru-RU" sz="1200" b="1" dirty="0" err="1"/>
              <a:t>осъзнатите</a:t>
            </a:r>
            <a:r>
              <a:rPr lang="ru-RU" sz="1200" b="1" dirty="0"/>
              <a:t> и </a:t>
            </a:r>
            <a:r>
              <a:rPr lang="ru-RU" sz="1200" b="1" dirty="0" err="1"/>
              <a:t>явни</a:t>
            </a:r>
            <a:r>
              <a:rPr lang="ru-RU" sz="1200" b="1" dirty="0"/>
              <a:t> </a:t>
            </a:r>
            <a:r>
              <a:rPr lang="ru-RU" sz="1200" b="1" dirty="0" err="1"/>
              <a:t>нужди</a:t>
            </a:r>
            <a:endParaRPr lang="ru-RU" sz="1200" dirty="0"/>
          </a:p>
          <a:p>
            <a:r>
              <a:rPr lang="ru-RU" sz="1200" dirty="0"/>
              <a:t>Да </a:t>
            </a:r>
            <a:r>
              <a:rPr lang="ru-RU" sz="1200" dirty="0" err="1"/>
              <a:t>разпознаем</a:t>
            </a:r>
            <a:r>
              <a:rPr lang="ru-RU" sz="1200" dirty="0"/>
              <a:t> </a:t>
            </a:r>
            <a:r>
              <a:rPr lang="ru-RU" sz="1200" b="1" dirty="0" err="1"/>
              <a:t>индикатори</a:t>
            </a:r>
            <a:r>
              <a:rPr lang="ru-RU" sz="1200" dirty="0"/>
              <a:t> от </a:t>
            </a:r>
            <a:r>
              <a:rPr lang="ru-RU" sz="1200" dirty="0" err="1"/>
              <a:t>неявни</a:t>
            </a:r>
            <a:r>
              <a:rPr lang="ru-RU" sz="1200" dirty="0"/>
              <a:t> или </a:t>
            </a:r>
            <a:r>
              <a:rPr lang="ru-RU" sz="1200" dirty="0" err="1"/>
              <a:t>неосъзнати</a:t>
            </a:r>
            <a:r>
              <a:rPr lang="ru-RU" sz="1200" dirty="0"/>
              <a:t> </a:t>
            </a:r>
            <a:r>
              <a:rPr lang="ru-RU" sz="1200" dirty="0" err="1"/>
              <a:t>нужди</a:t>
            </a:r>
            <a:endParaRPr lang="ru-RU" sz="1200" dirty="0"/>
          </a:p>
          <a:p>
            <a:r>
              <a:rPr lang="ru-RU" sz="1200" b="1" dirty="0"/>
              <a:t>КАК</a:t>
            </a:r>
          </a:p>
          <a:p>
            <a:r>
              <a:rPr lang="ru-RU" sz="1200" dirty="0"/>
              <a:t>Водим разговора по </a:t>
            </a:r>
            <a:r>
              <a:rPr lang="ru-RU" sz="1200" dirty="0" err="1"/>
              <a:t>определени</a:t>
            </a:r>
            <a:r>
              <a:rPr lang="ru-RU" sz="1200" dirty="0"/>
              <a:t> </a:t>
            </a:r>
            <a:r>
              <a:rPr lang="ru-RU" sz="1200" b="1" dirty="0"/>
              <a:t>ТЕМИ</a:t>
            </a:r>
            <a:r>
              <a:rPr lang="ru-RU" sz="1200" dirty="0"/>
              <a:t> и </a:t>
            </a:r>
            <a:r>
              <a:rPr lang="ru-RU" sz="1200" dirty="0" err="1"/>
              <a:t>задаваме</a:t>
            </a:r>
            <a:r>
              <a:rPr lang="ru-RU" sz="1200" dirty="0"/>
              <a:t> </a:t>
            </a:r>
            <a:r>
              <a:rPr lang="ru-RU" sz="1200" b="1" dirty="0"/>
              <a:t>ВЪПРОСИ</a:t>
            </a:r>
            <a:endParaRPr lang="ru-RU" sz="1200" dirty="0"/>
          </a:p>
          <a:p>
            <a:r>
              <a:rPr lang="ru-RU" sz="1200" dirty="0" err="1"/>
              <a:t>Слушаме</a:t>
            </a:r>
            <a:r>
              <a:rPr lang="ru-RU" sz="1200" dirty="0"/>
              <a:t> активно, за да </a:t>
            </a:r>
            <a:r>
              <a:rPr lang="ru-RU" sz="1200" dirty="0" err="1"/>
              <a:t>идентифицираме</a:t>
            </a:r>
            <a:r>
              <a:rPr lang="ru-RU" sz="1200" dirty="0"/>
              <a:t> </a:t>
            </a:r>
            <a:r>
              <a:rPr lang="ru-RU" sz="1200" dirty="0" err="1"/>
              <a:t>явни</a:t>
            </a:r>
            <a:r>
              <a:rPr lang="ru-RU" sz="1200" dirty="0"/>
              <a:t> и </a:t>
            </a:r>
            <a:r>
              <a:rPr lang="ru-RU" sz="1200" dirty="0" err="1"/>
              <a:t>потенциални</a:t>
            </a:r>
            <a:r>
              <a:rPr lang="ru-RU" sz="1200" dirty="0"/>
              <a:t> </a:t>
            </a:r>
            <a:r>
              <a:rPr lang="ru-RU" sz="1200" b="1" dirty="0"/>
              <a:t>НУЖДИ</a:t>
            </a:r>
            <a:r>
              <a:rPr lang="ru-RU" sz="1200" dirty="0"/>
              <a:t> на клиента</a:t>
            </a:r>
            <a:endParaRPr lang="en-US" sz="1200" dirty="0"/>
          </a:p>
          <a:p>
            <a:endParaRPr lang="en-US" sz="1200" dirty="0"/>
          </a:p>
          <a:p>
            <a:endParaRPr lang="en-US" sz="1200" dirty="0"/>
          </a:p>
          <a:p>
            <a:endParaRPr lang="en-US" sz="1200" dirty="0"/>
          </a:p>
          <a:p>
            <a:endParaRPr lang="ru-RU" sz="1200" dirty="0"/>
          </a:p>
        </p:txBody>
      </p:sp>
      <p:sp>
        <p:nvSpPr>
          <p:cNvPr id="7" name="Правоъгълник: със заоблени ъгли 6">
            <a:extLst>
              <a:ext uri="{FF2B5EF4-FFF2-40B4-BE49-F238E27FC236}">
                <a16:creationId xmlns:a16="http://schemas.microsoft.com/office/drawing/2014/main" id="{00687598-C905-B680-2EAB-686E72B0626E}"/>
              </a:ext>
            </a:extLst>
          </p:cNvPr>
          <p:cNvSpPr/>
          <p:nvPr/>
        </p:nvSpPr>
        <p:spPr>
          <a:xfrm>
            <a:off x="5497450" y="2939143"/>
            <a:ext cx="1863716" cy="489857"/>
          </a:xfrm>
          <a:prstGeom prst="roundRect">
            <a:avLst>
              <a:gd name="adj" fmla="val 50000"/>
            </a:avLst>
          </a:prstGeom>
          <a:solidFill>
            <a:schemeClr val="bg1"/>
          </a:solidFill>
          <a:ln>
            <a:noFill/>
          </a:ln>
          <a:effectLst>
            <a:outerShdw blurRad="50800" dist="38100" dir="5400000" algn="t" rotWithShape="0">
              <a:prstClr val="black">
                <a:alpha val="40000"/>
              </a:prstClr>
            </a:outerShdw>
          </a:effectLst>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bg-BG" b="1">
                <a:solidFill>
                  <a:srgbClr val="002060"/>
                </a:solidFill>
              </a:rPr>
              <a:t>Теми</a:t>
            </a:r>
          </a:p>
        </p:txBody>
      </p:sp>
      <p:sp>
        <p:nvSpPr>
          <p:cNvPr id="8" name="Правоъгълник: със заоблени ъгли 7">
            <a:extLst>
              <a:ext uri="{FF2B5EF4-FFF2-40B4-BE49-F238E27FC236}">
                <a16:creationId xmlns:a16="http://schemas.microsoft.com/office/drawing/2014/main" id="{88ABF5B1-E0B8-769D-EAB8-24365E3CDAEB}"/>
              </a:ext>
            </a:extLst>
          </p:cNvPr>
          <p:cNvSpPr/>
          <p:nvPr/>
        </p:nvSpPr>
        <p:spPr>
          <a:xfrm>
            <a:off x="7650760" y="2939141"/>
            <a:ext cx="1863716" cy="489857"/>
          </a:xfrm>
          <a:prstGeom prst="roundRect">
            <a:avLst>
              <a:gd name="adj" fmla="val 50000"/>
            </a:avLst>
          </a:prstGeom>
          <a:solidFill>
            <a:schemeClr val="bg1"/>
          </a:solidFill>
          <a:ln>
            <a:noFill/>
          </a:ln>
          <a:effectLst>
            <a:outerShdw blurRad="50800" dist="38100" dir="5400000" algn="t" rotWithShape="0">
              <a:prstClr val="black">
                <a:alpha val="40000"/>
              </a:prstClr>
            </a:outerShdw>
          </a:effectLst>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bg-BG" b="1">
                <a:solidFill>
                  <a:srgbClr val="002060"/>
                </a:solidFill>
              </a:rPr>
              <a:t>Въпроси </a:t>
            </a:r>
          </a:p>
        </p:txBody>
      </p:sp>
      <p:sp>
        <p:nvSpPr>
          <p:cNvPr id="9" name="Правоъгълник: със заоблени ъгли 8">
            <a:extLst>
              <a:ext uri="{FF2B5EF4-FFF2-40B4-BE49-F238E27FC236}">
                <a16:creationId xmlns:a16="http://schemas.microsoft.com/office/drawing/2014/main" id="{58A3F81C-B554-1F94-70C6-E4762E0F5B49}"/>
              </a:ext>
            </a:extLst>
          </p:cNvPr>
          <p:cNvSpPr/>
          <p:nvPr/>
        </p:nvSpPr>
        <p:spPr>
          <a:xfrm>
            <a:off x="9807599" y="2939141"/>
            <a:ext cx="1863716" cy="489857"/>
          </a:xfrm>
          <a:prstGeom prst="roundRect">
            <a:avLst>
              <a:gd name="adj" fmla="val 50000"/>
            </a:avLst>
          </a:prstGeom>
          <a:solidFill>
            <a:schemeClr val="bg1"/>
          </a:solidFill>
          <a:ln>
            <a:noFill/>
          </a:ln>
          <a:effectLst>
            <a:outerShdw blurRad="50800" dist="38100" dir="5400000" algn="t" rotWithShape="0">
              <a:prstClr val="black">
                <a:alpha val="40000"/>
              </a:prstClr>
            </a:outerShdw>
          </a:effectLst>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bg-BG" b="1">
                <a:solidFill>
                  <a:srgbClr val="002060"/>
                </a:solidFill>
              </a:rPr>
              <a:t>Нужди</a:t>
            </a:r>
          </a:p>
        </p:txBody>
      </p:sp>
      <p:pic>
        <p:nvPicPr>
          <p:cNvPr id="36" name="Picture 35">
            <a:extLst>
              <a:ext uri="{FF2B5EF4-FFF2-40B4-BE49-F238E27FC236}">
                <a16:creationId xmlns:a16="http://schemas.microsoft.com/office/drawing/2014/main" id="{A933F223-BAEE-4935-85EA-1893645D93A4}"/>
              </a:ext>
            </a:extLst>
          </p:cNvPr>
          <p:cNvPicPr>
            <a:picLocks noChangeAspect="1"/>
          </p:cNvPicPr>
          <p:nvPr/>
        </p:nvPicPr>
        <p:blipFill>
          <a:blip r:embed="rId2"/>
          <a:stretch>
            <a:fillRect/>
          </a:stretch>
        </p:blipFill>
        <p:spPr>
          <a:xfrm>
            <a:off x="10883590" y="5621341"/>
            <a:ext cx="982751" cy="995681"/>
          </a:xfrm>
          <a:prstGeom prst="rect">
            <a:avLst/>
          </a:prstGeom>
        </p:spPr>
      </p:pic>
    </p:spTree>
    <p:extLst>
      <p:ext uri="{BB962C8B-B14F-4D97-AF65-F5344CB8AC3E}">
        <p14:creationId xmlns:p14="http://schemas.microsoft.com/office/powerpoint/2010/main" val="22316891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2E6368-ABF0-C936-E5EE-6DFE9C97CDED}"/>
            </a:ext>
          </a:extLst>
        </p:cNvPr>
        <p:cNvGrpSpPr/>
        <p:nvPr/>
      </p:nvGrpSpPr>
      <p:grpSpPr>
        <a:xfrm>
          <a:off x="0" y="0"/>
          <a:ext cx="0" cy="0"/>
          <a:chOff x="0" y="0"/>
          <a:chExt cx="0" cy="0"/>
        </a:xfrm>
      </p:grpSpPr>
      <p:sp>
        <p:nvSpPr>
          <p:cNvPr id="21" name="Rectangle: Rounded Corners 20">
            <a:extLst>
              <a:ext uri="{FF2B5EF4-FFF2-40B4-BE49-F238E27FC236}">
                <a16:creationId xmlns:a16="http://schemas.microsoft.com/office/drawing/2014/main" id="{A9856368-176D-4413-B111-D1757F1574E2}"/>
              </a:ext>
            </a:extLst>
          </p:cNvPr>
          <p:cNvSpPr/>
          <p:nvPr/>
        </p:nvSpPr>
        <p:spPr>
          <a:xfrm>
            <a:off x="1896198" y="1956771"/>
            <a:ext cx="2932281" cy="677242"/>
          </a:xfrm>
          <a:prstGeom prst="roundRect">
            <a:avLst/>
          </a:prstGeom>
          <a:solidFill>
            <a:srgbClr val="4472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600"/>
              <a:t>Идентифициране на нужди</a:t>
            </a:r>
            <a:endParaRPr lang="en-GB" sz="1600"/>
          </a:p>
        </p:txBody>
      </p:sp>
      <p:sp>
        <p:nvSpPr>
          <p:cNvPr id="25" name="Rectangle: Rounded Corners 24">
            <a:extLst>
              <a:ext uri="{FF2B5EF4-FFF2-40B4-BE49-F238E27FC236}">
                <a16:creationId xmlns:a16="http://schemas.microsoft.com/office/drawing/2014/main" id="{606FA872-BA8D-4929-A727-CC88052A0499}"/>
              </a:ext>
            </a:extLst>
          </p:cNvPr>
          <p:cNvSpPr/>
          <p:nvPr/>
        </p:nvSpPr>
        <p:spPr>
          <a:xfrm>
            <a:off x="1896198" y="1146226"/>
            <a:ext cx="2932281" cy="677242"/>
          </a:xfrm>
          <a:prstGeom prst="round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600"/>
              <a:t>Отваряне на разговор</a:t>
            </a:r>
            <a:endParaRPr lang="en-GB" sz="1600"/>
          </a:p>
        </p:txBody>
      </p:sp>
      <p:sp>
        <p:nvSpPr>
          <p:cNvPr id="26" name="Rectangle: Rounded Corners 25">
            <a:extLst>
              <a:ext uri="{FF2B5EF4-FFF2-40B4-BE49-F238E27FC236}">
                <a16:creationId xmlns:a16="http://schemas.microsoft.com/office/drawing/2014/main" id="{BE82D7AC-E51D-42BC-BCD0-9F2FB862ECEC}"/>
              </a:ext>
            </a:extLst>
          </p:cNvPr>
          <p:cNvSpPr/>
          <p:nvPr/>
        </p:nvSpPr>
        <p:spPr>
          <a:xfrm>
            <a:off x="1896198" y="3577861"/>
            <a:ext cx="2932281" cy="677242"/>
          </a:xfrm>
          <a:prstGeom prst="round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600"/>
              <a:t>Справяне с възражения</a:t>
            </a:r>
            <a:endParaRPr lang="en-GB" sz="1600"/>
          </a:p>
        </p:txBody>
      </p:sp>
      <p:sp>
        <p:nvSpPr>
          <p:cNvPr id="27" name="Rectangle: Rounded Corners 26">
            <a:extLst>
              <a:ext uri="{FF2B5EF4-FFF2-40B4-BE49-F238E27FC236}">
                <a16:creationId xmlns:a16="http://schemas.microsoft.com/office/drawing/2014/main" id="{D412048F-9013-4C75-B538-38AE3D9A7FD1}"/>
              </a:ext>
            </a:extLst>
          </p:cNvPr>
          <p:cNvSpPr/>
          <p:nvPr/>
        </p:nvSpPr>
        <p:spPr>
          <a:xfrm>
            <a:off x="1896198" y="4388406"/>
            <a:ext cx="2932281" cy="677242"/>
          </a:xfrm>
          <a:prstGeom prst="round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600"/>
              <a:t>Затваряне</a:t>
            </a:r>
            <a:endParaRPr lang="en-GB" sz="1600"/>
          </a:p>
        </p:txBody>
      </p:sp>
      <p:sp>
        <p:nvSpPr>
          <p:cNvPr id="28" name="Rectangle 13">
            <a:extLst>
              <a:ext uri="{FF2B5EF4-FFF2-40B4-BE49-F238E27FC236}">
                <a16:creationId xmlns:a16="http://schemas.microsoft.com/office/drawing/2014/main" id="{D6B41A9B-5C5B-4ED5-8386-2D66ABF2955B}"/>
              </a:ext>
            </a:extLst>
          </p:cNvPr>
          <p:cNvSpPr/>
          <p:nvPr/>
        </p:nvSpPr>
        <p:spPr>
          <a:xfrm>
            <a:off x="1896198" y="2767316"/>
            <a:ext cx="2932281" cy="677242"/>
          </a:xfrm>
          <a:prstGeom prst="round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600"/>
              <a:t>Предложение</a:t>
            </a:r>
            <a:endParaRPr lang="en-GB" sz="1600"/>
          </a:p>
        </p:txBody>
      </p:sp>
      <p:sp>
        <p:nvSpPr>
          <p:cNvPr id="29" name="Rectangle 3">
            <a:extLst>
              <a:ext uri="{FF2B5EF4-FFF2-40B4-BE49-F238E27FC236}">
                <a16:creationId xmlns:a16="http://schemas.microsoft.com/office/drawing/2014/main" id="{50F81F5C-1F37-47CA-B3FE-0CD66030919D}"/>
              </a:ext>
            </a:extLst>
          </p:cNvPr>
          <p:cNvSpPr/>
          <p:nvPr/>
        </p:nvSpPr>
        <p:spPr>
          <a:xfrm>
            <a:off x="1443475" y="4245"/>
            <a:ext cx="5338363" cy="677242"/>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30" name="Rectangle 4">
            <a:extLst>
              <a:ext uri="{FF2B5EF4-FFF2-40B4-BE49-F238E27FC236}">
                <a16:creationId xmlns:a16="http://schemas.microsoft.com/office/drawing/2014/main" id="{2EDD1FAB-7735-4E50-A5A7-CC255EC8F46B}"/>
              </a:ext>
            </a:extLst>
          </p:cNvPr>
          <p:cNvSpPr/>
          <p:nvPr/>
        </p:nvSpPr>
        <p:spPr>
          <a:xfrm>
            <a:off x="6788435" y="4245"/>
            <a:ext cx="5417300" cy="677242"/>
          </a:xfrm>
          <a:prstGeom prst="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31" name="Rectangle 30">
            <a:extLst>
              <a:ext uri="{FF2B5EF4-FFF2-40B4-BE49-F238E27FC236}">
                <a16:creationId xmlns:a16="http://schemas.microsoft.com/office/drawing/2014/main" id="{6DA2AF2A-7BE4-4E5B-A32F-FED91662305F}"/>
              </a:ext>
            </a:extLst>
          </p:cNvPr>
          <p:cNvSpPr/>
          <p:nvPr/>
        </p:nvSpPr>
        <p:spPr>
          <a:xfrm>
            <a:off x="-1671" y="1599"/>
            <a:ext cx="1451167" cy="6866954"/>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200">
              <a:latin typeface="Aptos"/>
              <a:ea typeface="Calibri"/>
              <a:cs typeface="Calibri"/>
            </a:endParaRPr>
          </a:p>
        </p:txBody>
      </p:sp>
      <p:sp>
        <p:nvSpPr>
          <p:cNvPr id="32" name="Rectangle 31">
            <a:extLst>
              <a:ext uri="{FF2B5EF4-FFF2-40B4-BE49-F238E27FC236}">
                <a16:creationId xmlns:a16="http://schemas.microsoft.com/office/drawing/2014/main" id="{51FED3F4-4336-4DCC-B0C7-3496872DA263}"/>
              </a:ext>
            </a:extLst>
          </p:cNvPr>
          <p:cNvSpPr/>
          <p:nvPr/>
        </p:nvSpPr>
        <p:spPr>
          <a:xfrm>
            <a:off x="-1671" y="2528038"/>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Типове клиенти</a:t>
            </a:r>
            <a:endParaRPr lang="en-GB" sz="1400">
              <a:latin typeface="Aptos"/>
              <a:ea typeface="Calibri"/>
              <a:cs typeface="Calibri"/>
            </a:endParaRPr>
          </a:p>
        </p:txBody>
      </p:sp>
      <p:sp>
        <p:nvSpPr>
          <p:cNvPr id="33" name="Rectangle 32">
            <a:extLst>
              <a:ext uri="{FF2B5EF4-FFF2-40B4-BE49-F238E27FC236}">
                <a16:creationId xmlns:a16="http://schemas.microsoft.com/office/drawing/2014/main" id="{DFAABFAE-960A-4A90-99B8-A34554853862}"/>
              </a:ext>
            </a:extLst>
          </p:cNvPr>
          <p:cNvSpPr/>
          <p:nvPr/>
        </p:nvSpPr>
        <p:spPr>
          <a:xfrm>
            <a:off x="8626" y="1913210"/>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Сценарии</a:t>
            </a:r>
            <a:endParaRPr lang="en-GB" sz="1400">
              <a:latin typeface="Aptos"/>
              <a:ea typeface="Calibri"/>
              <a:cs typeface="Calibri"/>
            </a:endParaRPr>
          </a:p>
        </p:txBody>
      </p:sp>
      <p:sp>
        <p:nvSpPr>
          <p:cNvPr id="34" name="Rectangle 33">
            <a:extLst>
              <a:ext uri="{FF2B5EF4-FFF2-40B4-BE49-F238E27FC236}">
                <a16:creationId xmlns:a16="http://schemas.microsoft.com/office/drawing/2014/main" id="{9BC8A6D4-FA30-4089-8E4D-9BA84CEB9B8E}"/>
              </a:ext>
            </a:extLst>
          </p:cNvPr>
          <p:cNvSpPr/>
          <p:nvPr/>
        </p:nvSpPr>
        <p:spPr>
          <a:xfrm>
            <a:off x="-1671" y="1298382"/>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b="1">
                <a:solidFill>
                  <a:schemeClr val="tx2"/>
                </a:solidFill>
                <a:latin typeface="Aptos"/>
                <a:ea typeface="Calibri"/>
                <a:cs typeface="Calibri"/>
              </a:rPr>
              <a:t>Стъпки при среща</a:t>
            </a:r>
            <a:endParaRPr lang="bg-BG" sz="1400">
              <a:solidFill>
                <a:srgbClr val="000000"/>
              </a:solidFill>
              <a:latin typeface="Aptos"/>
              <a:ea typeface="Calibri"/>
              <a:cs typeface="Calibri"/>
            </a:endParaRPr>
          </a:p>
        </p:txBody>
      </p:sp>
      <p:sp>
        <p:nvSpPr>
          <p:cNvPr id="35" name="Rectangle 28">
            <a:extLst>
              <a:ext uri="{FF2B5EF4-FFF2-40B4-BE49-F238E27FC236}">
                <a16:creationId xmlns:a16="http://schemas.microsoft.com/office/drawing/2014/main" id="{FC42ECBF-8468-477D-9AD0-EF20DFBED526}"/>
              </a:ext>
            </a:extLst>
          </p:cNvPr>
          <p:cNvSpPr/>
          <p:nvPr/>
        </p:nvSpPr>
        <p:spPr>
          <a:xfrm>
            <a:off x="6154" y="690328"/>
            <a:ext cx="1435083"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a:solidFill>
                  <a:schemeClr val="bg1"/>
                </a:solidFill>
                <a:latin typeface="Aptos"/>
                <a:ea typeface="Calibri"/>
                <a:cs typeface="Calibri"/>
              </a:rPr>
              <a:t>Подготовка</a:t>
            </a:r>
            <a:endParaRPr lang="en-GB" sz="1400">
              <a:solidFill>
                <a:schemeClr val="bg1"/>
              </a:solidFill>
              <a:latin typeface="Aptos"/>
              <a:ea typeface="Calibri"/>
              <a:cs typeface="Calibri"/>
            </a:endParaRPr>
          </a:p>
        </p:txBody>
      </p:sp>
      <p:sp>
        <p:nvSpPr>
          <p:cNvPr id="11" name="Rectangle: Rounded Corners 10">
            <a:extLst>
              <a:ext uri="{FF2B5EF4-FFF2-40B4-BE49-F238E27FC236}">
                <a16:creationId xmlns:a16="http://schemas.microsoft.com/office/drawing/2014/main" id="{5A40F320-5BE1-BA72-14A6-8ECD01CD0D2E}"/>
              </a:ext>
            </a:extLst>
          </p:cNvPr>
          <p:cNvSpPr/>
          <p:nvPr/>
        </p:nvSpPr>
        <p:spPr>
          <a:xfrm>
            <a:off x="5376867" y="1146226"/>
            <a:ext cx="6432274" cy="2543194"/>
          </a:xfrm>
          <a:prstGeom prst="roundRect">
            <a:avLst>
              <a:gd name="adj" fmla="val 8506"/>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ru-RU" sz="1200"/>
              <a:t>Да опознаем бизнеса и клиента така, че да може да му предложим </a:t>
            </a:r>
            <a:r>
              <a:rPr lang="ru-RU" sz="1200" b="1"/>
              <a:t>индивидуализирано решение</a:t>
            </a:r>
            <a:r>
              <a:rPr lang="ru-RU" sz="1200"/>
              <a:t>.</a:t>
            </a:r>
          </a:p>
          <a:p>
            <a:r>
              <a:rPr lang="ru-RU" sz="1200" b="1"/>
              <a:t>За тази цел е необходимо:</a:t>
            </a:r>
            <a:endParaRPr lang="ru-RU" sz="1200"/>
          </a:p>
          <a:p>
            <a:r>
              <a:rPr lang="ru-RU" sz="1200"/>
              <a:t>Да идентифицираме </a:t>
            </a:r>
            <a:r>
              <a:rPr lang="ru-RU" sz="1200" b="1"/>
              <a:t>осъзнатите и явни нужди</a:t>
            </a:r>
            <a:endParaRPr lang="ru-RU" sz="1200"/>
          </a:p>
          <a:p>
            <a:r>
              <a:rPr lang="ru-RU" sz="1200"/>
              <a:t>Да разпознаем </a:t>
            </a:r>
            <a:r>
              <a:rPr lang="ru-RU" sz="1200" b="1"/>
              <a:t>индикатори</a:t>
            </a:r>
            <a:r>
              <a:rPr lang="ru-RU" sz="1200"/>
              <a:t> от неявни или неосъзнати нужди</a:t>
            </a:r>
          </a:p>
          <a:p>
            <a:r>
              <a:rPr lang="ru-RU" sz="1200" b="1"/>
              <a:t>КАК</a:t>
            </a:r>
          </a:p>
          <a:p>
            <a:r>
              <a:rPr lang="ru-RU" sz="1200"/>
              <a:t>Водим разговора по определени </a:t>
            </a:r>
            <a:r>
              <a:rPr lang="ru-RU" sz="1200" b="1"/>
              <a:t>ТЕМИ</a:t>
            </a:r>
            <a:r>
              <a:rPr lang="ru-RU" sz="1200"/>
              <a:t> и задаваме </a:t>
            </a:r>
            <a:r>
              <a:rPr lang="ru-RU" sz="1200" b="1"/>
              <a:t>ВЪПРОСИ</a:t>
            </a:r>
            <a:endParaRPr lang="ru-RU" sz="1200"/>
          </a:p>
          <a:p>
            <a:r>
              <a:rPr lang="ru-RU" sz="1200"/>
              <a:t>Слушаме активно, за да идентифицираме явни и потенциални </a:t>
            </a:r>
            <a:r>
              <a:rPr lang="ru-RU" sz="1200" b="1"/>
              <a:t>НУЖДИ</a:t>
            </a:r>
            <a:r>
              <a:rPr lang="ru-RU" sz="1200"/>
              <a:t> на клиента</a:t>
            </a:r>
            <a:endParaRPr lang="en-US" sz="1200"/>
          </a:p>
          <a:p>
            <a:endParaRPr lang="en-US" sz="1200"/>
          </a:p>
          <a:p>
            <a:endParaRPr lang="en-US" sz="1200"/>
          </a:p>
          <a:p>
            <a:endParaRPr lang="en-US" sz="1200"/>
          </a:p>
          <a:p>
            <a:endParaRPr lang="ru-RU" sz="1200"/>
          </a:p>
        </p:txBody>
      </p:sp>
      <p:sp>
        <p:nvSpPr>
          <p:cNvPr id="7" name="Правоъгълник: със заоблени ъгли 6">
            <a:extLst>
              <a:ext uri="{FF2B5EF4-FFF2-40B4-BE49-F238E27FC236}">
                <a16:creationId xmlns:a16="http://schemas.microsoft.com/office/drawing/2014/main" id="{00687598-C905-B680-2EAB-686E72B0626E}"/>
              </a:ext>
            </a:extLst>
          </p:cNvPr>
          <p:cNvSpPr/>
          <p:nvPr/>
        </p:nvSpPr>
        <p:spPr>
          <a:xfrm>
            <a:off x="5497450" y="2939143"/>
            <a:ext cx="1863716" cy="489857"/>
          </a:xfrm>
          <a:prstGeom prst="roundRect">
            <a:avLst>
              <a:gd name="adj" fmla="val 50000"/>
            </a:avLst>
          </a:prstGeom>
          <a:solidFill>
            <a:srgbClr val="002060"/>
          </a:solidFill>
          <a:ln>
            <a:noFill/>
          </a:ln>
          <a:effectLst>
            <a:outerShdw blurRad="50800" dist="38100" dir="5400000" algn="t" rotWithShape="0">
              <a:prstClr val="black">
                <a:alpha val="40000"/>
              </a:prstClr>
            </a:outerShdw>
          </a:effectLst>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bg-BG" b="1">
                <a:solidFill>
                  <a:schemeClr val="bg1"/>
                </a:solidFill>
              </a:rPr>
              <a:t>Теми</a:t>
            </a:r>
          </a:p>
        </p:txBody>
      </p:sp>
      <p:sp>
        <p:nvSpPr>
          <p:cNvPr id="8" name="Правоъгълник: със заоблени ъгли 7">
            <a:extLst>
              <a:ext uri="{FF2B5EF4-FFF2-40B4-BE49-F238E27FC236}">
                <a16:creationId xmlns:a16="http://schemas.microsoft.com/office/drawing/2014/main" id="{88ABF5B1-E0B8-769D-EAB8-24365E3CDAEB}"/>
              </a:ext>
            </a:extLst>
          </p:cNvPr>
          <p:cNvSpPr/>
          <p:nvPr/>
        </p:nvSpPr>
        <p:spPr>
          <a:xfrm>
            <a:off x="7650760" y="2939141"/>
            <a:ext cx="1863716" cy="489857"/>
          </a:xfrm>
          <a:prstGeom prst="roundRect">
            <a:avLst>
              <a:gd name="adj" fmla="val 50000"/>
            </a:avLst>
          </a:prstGeom>
          <a:solidFill>
            <a:schemeClr val="bg1"/>
          </a:solidFill>
          <a:ln>
            <a:noFill/>
          </a:ln>
          <a:effectLst>
            <a:outerShdw blurRad="50800" dist="38100" dir="5400000" algn="t" rotWithShape="0">
              <a:prstClr val="black">
                <a:alpha val="40000"/>
              </a:prstClr>
            </a:outerShdw>
          </a:effectLst>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bg-BG" b="1">
                <a:solidFill>
                  <a:srgbClr val="002060"/>
                </a:solidFill>
              </a:rPr>
              <a:t>Въпроси </a:t>
            </a:r>
          </a:p>
        </p:txBody>
      </p:sp>
      <p:sp>
        <p:nvSpPr>
          <p:cNvPr id="9" name="Правоъгълник: със заоблени ъгли 8">
            <a:extLst>
              <a:ext uri="{FF2B5EF4-FFF2-40B4-BE49-F238E27FC236}">
                <a16:creationId xmlns:a16="http://schemas.microsoft.com/office/drawing/2014/main" id="{58A3F81C-B554-1F94-70C6-E4762E0F5B49}"/>
              </a:ext>
            </a:extLst>
          </p:cNvPr>
          <p:cNvSpPr/>
          <p:nvPr/>
        </p:nvSpPr>
        <p:spPr>
          <a:xfrm>
            <a:off x="9807599" y="2939141"/>
            <a:ext cx="1863716" cy="489857"/>
          </a:xfrm>
          <a:prstGeom prst="roundRect">
            <a:avLst>
              <a:gd name="adj" fmla="val 50000"/>
            </a:avLst>
          </a:prstGeom>
          <a:solidFill>
            <a:schemeClr val="bg1"/>
          </a:solidFill>
          <a:ln>
            <a:noFill/>
          </a:ln>
          <a:effectLst>
            <a:outerShdw blurRad="50800" dist="38100" dir="5400000" algn="t" rotWithShape="0">
              <a:prstClr val="black">
                <a:alpha val="40000"/>
              </a:prstClr>
            </a:outerShdw>
          </a:effectLst>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bg-BG" b="1">
                <a:solidFill>
                  <a:srgbClr val="002060"/>
                </a:solidFill>
              </a:rPr>
              <a:t>Нужди</a:t>
            </a:r>
          </a:p>
        </p:txBody>
      </p:sp>
      <p:sp>
        <p:nvSpPr>
          <p:cNvPr id="13" name="Балонче за говор: правоъгълник със заоблени ъгли 12">
            <a:extLst>
              <a:ext uri="{FF2B5EF4-FFF2-40B4-BE49-F238E27FC236}">
                <a16:creationId xmlns:a16="http://schemas.microsoft.com/office/drawing/2014/main" id="{D4236B78-A253-E951-2465-04A7956C6E1D}"/>
              </a:ext>
            </a:extLst>
          </p:cNvPr>
          <p:cNvSpPr/>
          <p:nvPr/>
        </p:nvSpPr>
        <p:spPr>
          <a:xfrm>
            <a:off x="5376867" y="3961508"/>
            <a:ext cx="4079188" cy="2262451"/>
          </a:xfrm>
          <a:prstGeom prst="wedgeRoundRectCallout">
            <a:avLst>
              <a:gd name="adj1" fmla="val -22854"/>
              <a:gd name="adj2" fmla="val -70436"/>
              <a:gd name="adj3" fmla="val 16667"/>
            </a:avLst>
          </a:prstGeom>
          <a:ln>
            <a:noFill/>
          </a:ln>
          <a:effectLst>
            <a:outerShdw blurRad="50800" dist="38100" dir="16200000"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ru-RU" sz="1200"/>
              <a:t>Започни с  </a:t>
            </a:r>
            <a:r>
              <a:rPr lang="ru-RU" sz="1200" b="1"/>
              <a:t>лесни за клиента теми като:</a:t>
            </a:r>
          </a:p>
          <a:p>
            <a:endParaRPr lang="ru-RU" sz="1200" b="1"/>
          </a:p>
          <a:p>
            <a:pPr marL="171450" indent="-171450">
              <a:buFont typeface="Arial" panose="020B0604020202020204" pitchFamily="34" charset="0"/>
              <a:buChar char="•"/>
            </a:pPr>
            <a:r>
              <a:rPr lang="ru-RU" sz="1200" b="1"/>
              <a:t>Планове за развитие</a:t>
            </a:r>
            <a:endParaRPr lang="ru-RU" sz="1200"/>
          </a:p>
          <a:p>
            <a:pPr marL="171450" indent="-171450">
              <a:buFont typeface="Arial" panose="020B0604020202020204" pitchFamily="34" charset="0"/>
              <a:buChar char="•"/>
            </a:pPr>
            <a:r>
              <a:rPr lang="ru-RU" sz="1200" b="1"/>
              <a:t>Дейност:</a:t>
            </a:r>
            <a:r>
              <a:rPr lang="ru-RU" sz="1200"/>
              <a:t> продукти, процеси, хора, пазар, конкуренти</a:t>
            </a:r>
          </a:p>
          <a:p>
            <a:pPr marL="171450" indent="-171450">
              <a:buFont typeface="Arial" panose="020B0604020202020204" pitchFamily="34" charset="0"/>
              <a:buChar char="•"/>
            </a:pPr>
            <a:r>
              <a:rPr lang="ru-RU" sz="1200" b="1"/>
              <a:t>Предизвикателства:</a:t>
            </a:r>
            <a:r>
              <a:rPr lang="ru-RU" sz="1200"/>
              <a:t> какви са текущите предизвикателства пред бизнеса</a:t>
            </a:r>
          </a:p>
          <a:p>
            <a:pPr marL="171450" indent="-171450">
              <a:buFont typeface="Arial" panose="020B0604020202020204" pitchFamily="34" charset="0"/>
              <a:buChar char="•"/>
            </a:pPr>
            <a:r>
              <a:rPr lang="ru-RU" sz="1200" b="1"/>
              <a:t>Отношения с банки:</a:t>
            </a:r>
            <a:r>
              <a:rPr lang="ru-RU" sz="1200"/>
              <a:t> какви услуги използва, от какво е доволен, какви са критериите му за избор на банка</a:t>
            </a:r>
          </a:p>
          <a:p>
            <a:pPr marL="171450" indent="-171450">
              <a:buFont typeface="Arial" panose="020B0604020202020204" pitchFamily="34" charset="0"/>
              <a:buChar char="•"/>
            </a:pPr>
            <a:r>
              <a:rPr lang="ru-RU" sz="1200" b="1"/>
              <a:t>Финансово състояние:</a:t>
            </a:r>
            <a:r>
              <a:rPr lang="ru-RU" sz="1200"/>
              <a:t> какви са текущите предизвикателства от финансов характер</a:t>
            </a:r>
          </a:p>
        </p:txBody>
      </p:sp>
      <p:pic>
        <p:nvPicPr>
          <p:cNvPr id="22" name="Picture 21">
            <a:extLst>
              <a:ext uri="{FF2B5EF4-FFF2-40B4-BE49-F238E27FC236}">
                <a16:creationId xmlns:a16="http://schemas.microsoft.com/office/drawing/2014/main" id="{28AD55FE-BD64-40EB-87BE-6F906E87BE5B}"/>
              </a:ext>
            </a:extLst>
          </p:cNvPr>
          <p:cNvPicPr>
            <a:picLocks noChangeAspect="1"/>
          </p:cNvPicPr>
          <p:nvPr/>
        </p:nvPicPr>
        <p:blipFill>
          <a:blip r:embed="rId2"/>
          <a:stretch>
            <a:fillRect/>
          </a:stretch>
        </p:blipFill>
        <p:spPr>
          <a:xfrm>
            <a:off x="10883590" y="5621341"/>
            <a:ext cx="982751" cy="995681"/>
          </a:xfrm>
          <a:prstGeom prst="rect">
            <a:avLst/>
          </a:prstGeom>
        </p:spPr>
      </p:pic>
    </p:spTree>
    <p:extLst>
      <p:ext uri="{BB962C8B-B14F-4D97-AF65-F5344CB8AC3E}">
        <p14:creationId xmlns:p14="http://schemas.microsoft.com/office/powerpoint/2010/main" val="95516276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2E6368-ABF0-C936-E5EE-6DFE9C97CDED}"/>
            </a:ext>
          </a:extLst>
        </p:cNvPr>
        <p:cNvGrpSpPr/>
        <p:nvPr/>
      </p:nvGrpSpPr>
      <p:grpSpPr>
        <a:xfrm>
          <a:off x="0" y="0"/>
          <a:ext cx="0" cy="0"/>
          <a:chOff x="0" y="0"/>
          <a:chExt cx="0" cy="0"/>
        </a:xfrm>
      </p:grpSpPr>
      <p:sp>
        <p:nvSpPr>
          <p:cNvPr id="21" name="Rectangle: Rounded Corners 20">
            <a:extLst>
              <a:ext uri="{FF2B5EF4-FFF2-40B4-BE49-F238E27FC236}">
                <a16:creationId xmlns:a16="http://schemas.microsoft.com/office/drawing/2014/main" id="{A9856368-176D-4413-B111-D1757F1574E2}"/>
              </a:ext>
            </a:extLst>
          </p:cNvPr>
          <p:cNvSpPr/>
          <p:nvPr/>
        </p:nvSpPr>
        <p:spPr>
          <a:xfrm>
            <a:off x="1896198" y="1956771"/>
            <a:ext cx="2932281" cy="677242"/>
          </a:xfrm>
          <a:prstGeom prst="roundRect">
            <a:avLst/>
          </a:prstGeom>
          <a:solidFill>
            <a:srgbClr val="4472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600"/>
              <a:t>Идентифициране на нужди</a:t>
            </a:r>
            <a:endParaRPr lang="en-GB" sz="1600"/>
          </a:p>
        </p:txBody>
      </p:sp>
      <p:sp>
        <p:nvSpPr>
          <p:cNvPr id="25" name="Rectangle: Rounded Corners 24">
            <a:extLst>
              <a:ext uri="{FF2B5EF4-FFF2-40B4-BE49-F238E27FC236}">
                <a16:creationId xmlns:a16="http://schemas.microsoft.com/office/drawing/2014/main" id="{606FA872-BA8D-4929-A727-CC88052A0499}"/>
              </a:ext>
            </a:extLst>
          </p:cNvPr>
          <p:cNvSpPr/>
          <p:nvPr/>
        </p:nvSpPr>
        <p:spPr>
          <a:xfrm>
            <a:off x="1896198" y="1146226"/>
            <a:ext cx="2932281" cy="677242"/>
          </a:xfrm>
          <a:prstGeom prst="round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600"/>
              <a:t>Отваряне на разговор</a:t>
            </a:r>
            <a:endParaRPr lang="en-GB" sz="1600"/>
          </a:p>
        </p:txBody>
      </p:sp>
      <p:sp>
        <p:nvSpPr>
          <p:cNvPr id="26" name="Rectangle: Rounded Corners 25">
            <a:extLst>
              <a:ext uri="{FF2B5EF4-FFF2-40B4-BE49-F238E27FC236}">
                <a16:creationId xmlns:a16="http://schemas.microsoft.com/office/drawing/2014/main" id="{BE82D7AC-E51D-42BC-BCD0-9F2FB862ECEC}"/>
              </a:ext>
            </a:extLst>
          </p:cNvPr>
          <p:cNvSpPr/>
          <p:nvPr/>
        </p:nvSpPr>
        <p:spPr>
          <a:xfrm>
            <a:off x="1896198" y="3577861"/>
            <a:ext cx="2932281" cy="677242"/>
          </a:xfrm>
          <a:prstGeom prst="round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600"/>
              <a:t>Справяне с възражения</a:t>
            </a:r>
            <a:endParaRPr lang="en-GB" sz="1600"/>
          </a:p>
        </p:txBody>
      </p:sp>
      <p:sp>
        <p:nvSpPr>
          <p:cNvPr id="27" name="Rectangle: Rounded Corners 26">
            <a:extLst>
              <a:ext uri="{FF2B5EF4-FFF2-40B4-BE49-F238E27FC236}">
                <a16:creationId xmlns:a16="http://schemas.microsoft.com/office/drawing/2014/main" id="{D412048F-9013-4C75-B538-38AE3D9A7FD1}"/>
              </a:ext>
            </a:extLst>
          </p:cNvPr>
          <p:cNvSpPr/>
          <p:nvPr/>
        </p:nvSpPr>
        <p:spPr>
          <a:xfrm>
            <a:off x="1896198" y="4388406"/>
            <a:ext cx="2932281" cy="677242"/>
          </a:xfrm>
          <a:prstGeom prst="round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600"/>
              <a:t>Затваряне</a:t>
            </a:r>
            <a:endParaRPr lang="en-GB" sz="1600"/>
          </a:p>
        </p:txBody>
      </p:sp>
      <p:sp>
        <p:nvSpPr>
          <p:cNvPr id="28" name="Rectangle 13">
            <a:extLst>
              <a:ext uri="{FF2B5EF4-FFF2-40B4-BE49-F238E27FC236}">
                <a16:creationId xmlns:a16="http://schemas.microsoft.com/office/drawing/2014/main" id="{D6B41A9B-5C5B-4ED5-8386-2D66ABF2955B}"/>
              </a:ext>
            </a:extLst>
          </p:cNvPr>
          <p:cNvSpPr/>
          <p:nvPr/>
        </p:nvSpPr>
        <p:spPr>
          <a:xfrm>
            <a:off x="1896198" y="2767316"/>
            <a:ext cx="2932281" cy="677242"/>
          </a:xfrm>
          <a:prstGeom prst="round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600"/>
              <a:t>Предложение</a:t>
            </a:r>
            <a:endParaRPr lang="en-GB" sz="1600"/>
          </a:p>
        </p:txBody>
      </p:sp>
      <p:sp>
        <p:nvSpPr>
          <p:cNvPr id="29" name="Rectangle 3">
            <a:extLst>
              <a:ext uri="{FF2B5EF4-FFF2-40B4-BE49-F238E27FC236}">
                <a16:creationId xmlns:a16="http://schemas.microsoft.com/office/drawing/2014/main" id="{50F81F5C-1F37-47CA-B3FE-0CD66030919D}"/>
              </a:ext>
            </a:extLst>
          </p:cNvPr>
          <p:cNvSpPr/>
          <p:nvPr/>
        </p:nvSpPr>
        <p:spPr>
          <a:xfrm>
            <a:off x="1443475" y="4245"/>
            <a:ext cx="5338363" cy="677242"/>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30" name="Rectangle 4">
            <a:extLst>
              <a:ext uri="{FF2B5EF4-FFF2-40B4-BE49-F238E27FC236}">
                <a16:creationId xmlns:a16="http://schemas.microsoft.com/office/drawing/2014/main" id="{2EDD1FAB-7735-4E50-A5A7-CC255EC8F46B}"/>
              </a:ext>
            </a:extLst>
          </p:cNvPr>
          <p:cNvSpPr/>
          <p:nvPr/>
        </p:nvSpPr>
        <p:spPr>
          <a:xfrm>
            <a:off x="6788435" y="4245"/>
            <a:ext cx="5417300" cy="677242"/>
          </a:xfrm>
          <a:prstGeom prst="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31" name="Rectangle 30">
            <a:extLst>
              <a:ext uri="{FF2B5EF4-FFF2-40B4-BE49-F238E27FC236}">
                <a16:creationId xmlns:a16="http://schemas.microsoft.com/office/drawing/2014/main" id="{6DA2AF2A-7BE4-4E5B-A32F-FED91662305F}"/>
              </a:ext>
            </a:extLst>
          </p:cNvPr>
          <p:cNvSpPr/>
          <p:nvPr/>
        </p:nvSpPr>
        <p:spPr>
          <a:xfrm>
            <a:off x="-1671" y="1599"/>
            <a:ext cx="1451167" cy="6866954"/>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200">
              <a:latin typeface="Aptos"/>
              <a:ea typeface="Calibri"/>
              <a:cs typeface="Calibri"/>
            </a:endParaRPr>
          </a:p>
        </p:txBody>
      </p:sp>
      <p:sp>
        <p:nvSpPr>
          <p:cNvPr id="32" name="Rectangle 31">
            <a:extLst>
              <a:ext uri="{FF2B5EF4-FFF2-40B4-BE49-F238E27FC236}">
                <a16:creationId xmlns:a16="http://schemas.microsoft.com/office/drawing/2014/main" id="{51FED3F4-4336-4DCC-B0C7-3496872DA263}"/>
              </a:ext>
            </a:extLst>
          </p:cNvPr>
          <p:cNvSpPr/>
          <p:nvPr/>
        </p:nvSpPr>
        <p:spPr>
          <a:xfrm>
            <a:off x="-1671" y="2528038"/>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Типове клиенти</a:t>
            </a:r>
            <a:endParaRPr lang="en-GB" sz="1400">
              <a:latin typeface="Aptos"/>
              <a:ea typeface="Calibri"/>
              <a:cs typeface="Calibri"/>
            </a:endParaRPr>
          </a:p>
        </p:txBody>
      </p:sp>
      <p:sp>
        <p:nvSpPr>
          <p:cNvPr id="33" name="Rectangle 32">
            <a:extLst>
              <a:ext uri="{FF2B5EF4-FFF2-40B4-BE49-F238E27FC236}">
                <a16:creationId xmlns:a16="http://schemas.microsoft.com/office/drawing/2014/main" id="{DFAABFAE-960A-4A90-99B8-A34554853862}"/>
              </a:ext>
            </a:extLst>
          </p:cNvPr>
          <p:cNvSpPr/>
          <p:nvPr/>
        </p:nvSpPr>
        <p:spPr>
          <a:xfrm>
            <a:off x="8626" y="1913210"/>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Сценарии</a:t>
            </a:r>
            <a:endParaRPr lang="en-GB" sz="1400">
              <a:latin typeface="Aptos"/>
              <a:ea typeface="Calibri"/>
              <a:cs typeface="Calibri"/>
            </a:endParaRPr>
          </a:p>
        </p:txBody>
      </p:sp>
      <p:sp>
        <p:nvSpPr>
          <p:cNvPr id="34" name="Rectangle 33">
            <a:extLst>
              <a:ext uri="{FF2B5EF4-FFF2-40B4-BE49-F238E27FC236}">
                <a16:creationId xmlns:a16="http://schemas.microsoft.com/office/drawing/2014/main" id="{9BC8A6D4-FA30-4089-8E4D-9BA84CEB9B8E}"/>
              </a:ext>
            </a:extLst>
          </p:cNvPr>
          <p:cNvSpPr/>
          <p:nvPr/>
        </p:nvSpPr>
        <p:spPr>
          <a:xfrm>
            <a:off x="-1671" y="1298382"/>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b="1">
                <a:solidFill>
                  <a:schemeClr val="tx2"/>
                </a:solidFill>
                <a:latin typeface="Aptos"/>
                <a:ea typeface="Calibri"/>
                <a:cs typeface="Calibri"/>
              </a:rPr>
              <a:t>Стъпки при среща</a:t>
            </a:r>
            <a:endParaRPr lang="bg-BG" sz="1400">
              <a:solidFill>
                <a:srgbClr val="000000"/>
              </a:solidFill>
              <a:latin typeface="Aptos"/>
              <a:ea typeface="Calibri"/>
              <a:cs typeface="Calibri"/>
            </a:endParaRPr>
          </a:p>
        </p:txBody>
      </p:sp>
      <p:sp>
        <p:nvSpPr>
          <p:cNvPr id="35" name="Rectangle 28">
            <a:extLst>
              <a:ext uri="{FF2B5EF4-FFF2-40B4-BE49-F238E27FC236}">
                <a16:creationId xmlns:a16="http://schemas.microsoft.com/office/drawing/2014/main" id="{FC42ECBF-8468-477D-9AD0-EF20DFBED526}"/>
              </a:ext>
            </a:extLst>
          </p:cNvPr>
          <p:cNvSpPr/>
          <p:nvPr/>
        </p:nvSpPr>
        <p:spPr>
          <a:xfrm>
            <a:off x="6154" y="690328"/>
            <a:ext cx="1435083"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a:solidFill>
                  <a:schemeClr val="bg1"/>
                </a:solidFill>
                <a:latin typeface="Aptos"/>
                <a:ea typeface="Calibri"/>
                <a:cs typeface="Calibri"/>
              </a:rPr>
              <a:t>Подготовка</a:t>
            </a:r>
            <a:endParaRPr lang="en-GB" sz="1400">
              <a:solidFill>
                <a:schemeClr val="bg1"/>
              </a:solidFill>
              <a:latin typeface="Aptos"/>
              <a:ea typeface="Calibri"/>
              <a:cs typeface="Calibri"/>
            </a:endParaRPr>
          </a:p>
        </p:txBody>
      </p:sp>
      <p:sp>
        <p:nvSpPr>
          <p:cNvPr id="11" name="Rectangle: Rounded Corners 10">
            <a:extLst>
              <a:ext uri="{FF2B5EF4-FFF2-40B4-BE49-F238E27FC236}">
                <a16:creationId xmlns:a16="http://schemas.microsoft.com/office/drawing/2014/main" id="{5A40F320-5BE1-BA72-14A6-8ECD01CD0D2E}"/>
              </a:ext>
            </a:extLst>
          </p:cNvPr>
          <p:cNvSpPr/>
          <p:nvPr/>
        </p:nvSpPr>
        <p:spPr>
          <a:xfrm>
            <a:off x="5376867" y="1146226"/>
            <a:ext cx="6432274" cy="2543194"/>
          </a:xfrm>
          <a:prstGeom prst="roundRect">
            <a:avLst>
              <a:gd name="adj" fmla="val 8506"/>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ru-RU" sz="1200"/>
              <a:t>Да опознаем бизнеса и клиента така, че да може да му предложим </a:t>
            </a:r>
            <a:r>
              <a:rPr lang="ru-RU" sz="1200" b="1"/>
              <a:t>индивидуализирано решение</a:t>
            </a:r>
            <a:r>
              <a:rPr lang="ru-RU" sz="1200"/>
              <a:t>.</a:t>
            </a:r>
          </a:p>
          <a:p>
            <a:r>
              <a:rPr lang="ru-RU" sz="1200" b="1"/>
              <a:t>За тази цел е необходимо:</a:t>
            </a:r>
            <a:endParaRPr lang="ru-RU" sz="1200"/>
          </a:p>
          <a:p>
            <a:r>
              <a:rPr lang="ru-RU" sz="1200"/>
              <a:t>Да идентифицираме </a:t>
            </a:r>
            <a:r>
              <a:rPr lang="ru-RU" sz="1200" b="1"/>
              <a:t>осъзнатите и явни нужди</a:t>
            </a:r>
            <a:endParaRPr lang="ru-RU" sz="1200"/>
          </a:p>
          <a:p>
            <a:r>
              <a:rPr lang="ru-RU" sz="1200"/>
              <a:t>Да разпознаем </a:t>
            </a:r>
            <a:r>
              <a:rPr lang="ru-RU" sz="1200" b="1"/>
              <a:t>индикатори</a:t>
            </a:r>
            <a:r>
              <a:rPr lang="ru-RU" sz="1200"/>
              <a:t> от неявни или неосъзнати нужди</a:t>
            </a:r>
          </a:p>
          <a:p>
            <a:r>
              <a:rPr lang="ru-RU" sz="1200" b="1"/>
              <a:t>КАК</a:t>
            </a:r>
          </a:p>
          <a:p>
            <a:r>
              <a:rPr lang="ru-RU" sz="1200"/>
              <a:t>Водим разговора по определени </a:t>
            </a:r>
            <a:r>
              <a:rPr lang="ru-RU" sz="1200" b="1"/>
              <a:t>ТЕМИ</a:t>
            </a:r>
            <a:r>
              <a:rPr lang="ru-RU" sz="1200"/>
              <a:t> и задаваме </a:t>
            </a:r>
            <a:r>
              <a:rPr lang="ru-RU" sz="1200" b="1"/>
              <a:t>ВЪПРОСИ</a:t>
            </a:r>
            <a:endParaRPr lang="ru-RU" sz="1200"/>
          </a:p>
          <a:p>
            <a:r>
              <a:rPr lang="ru-RU" sz="1200"/>
              <a:t>Слушаме активно, за да идентифицираме явни и потенциални </a:t>
            </a:r>
            <a:r>
              <a:rPr lang="ru-RU" sz="1200" b="1"/>
              <a:t>НУЖДИ</a:t>
            </a:r>
            <a:r>
              <a:rPr lang="ru-RU" sz="1200"/>
              <a:t> на клиента</a:t>
            </a:r>
            <a:endParaRPr lang="en-US" sz="1200"/>
          </a:p>
          <a:p>
            <a:endParaRPr lang="en-US" sz="1200"/>
          </a:p>
          <a:p>
            <a:endParaRPr lang="en-US" sz="1200"/>
          </a:p>
          <a:p>
            <a:endParaRPr lang="en-US" sz="1200"/>
          </a:p>
          <a:p>
            <a:endParaRPr lang="ru-RU" sz="1200"/>
          </a:p>
        </p:txBody>
      </p:sp>
      <p:sp>
        <p:nvSpPr>
          <p:cNvPr id="7" name="Правоъгълник: със заоблени ъгли 6">
            <a:extLst>
              <a:ext uri="{FF2B5EF4-FFF2-40B4-BE49-F238E27FC236}">
                <a16:creationId xmlns:a16="http://schemas.microsoft.com/office/drawing/2014/main" id="{00687598-C905-B680-2EAB-686E72B0626E}"/>
              </a:ext>
            </a:extLst>
          </p:cNvPr>
          <p:cNvSpPr/>
          <p:nvPr/>
        </p:nvSpPr>
        <p:spPr>
          <a:xfrm>
            <a:off x="5497450" y="2939143"/>
            <a:ext cx="1863716" cy="489857"/>
          </a:xfrm>
          <a:prstGeom prst="roundRect">
            <a:avLst>
              <a:gd name="adj" fmla="val 50000"/>
            </a:avLst>
          </a:prstGeom>
          <a:solidFill>
            <a:schemeClr val="bg1"/>
          </a:solidFill>
          <a:ln>
            <a:noFill/>
          </a:ln>
          <a:effectLst>
            <a:outerShdw blurRad="50800" dist="38100" dir="5400000" algn="t" rotWithShape="0">
              <a:prstClr val="black">
                <a:alpha val="40000"/>
              </a:prstClr>
            </a:outerShdw>
          </a:effectLst>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bg-BG" b="1">
                <a:solidFill>
                  <a:srgbClr val="002060"/>
                </a:solidFill>
              </a:rPr>
              <a:t>Теми</a:t>
            </a:r>
          </a:p>
        </p:txBody>
      </p:sp>
      <p:sp>
        <p:nvSpPr>
          <p:cNvPr id="8" name="Правоъгълник: със заоблени ъгли 7">
            <a:extLst>
              <a:ext uri="{FF2B5EF4-FFF2-40B4-BE49-F238E27FC236}">
                <a16:creationId xmlns:a16="http://schemas.microsoft.com/office/drawing/2014/main" id="{88ABF5B1-E0B8-769D-EAB8-24365E3CDAEB}"/>
              </a:ext>
            </a:extLst>
          </p:cNvPr>
          <p:cNvSpPr/>
          <p:nvPr/>
        </p:nvSpPr>
        <p:spPr>
          <a:xfrm>
            <a:off x="7650760" y="2939141"/>
            <a:ext cx="1863716" cy="489857"/>
          </a:xfrm>
          <a:prstGeom prst="roundRect">
            <a:avLst>
              <a:gd name="adj" fmla="val 50000"/>
            </a:avLst>
          </a:prstGeom>
          <a:solidFill>
            <a:srgbClr val="002060"/>
          </a:solidFill>
          <a:ln>
            <a:noFill/>
          </a:ln>
          <a:effectLst>
            <a:outerShdw blurRad="50800" dist="38100" dir="5400000" algn="t" rotWithShape="0">
              <a:prstClr val="black">
                <a:alpha val="40000"/>
              </a:prstClr>
            </a:outerShdw>
          </a:effectLst>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bg-BG" b="1">
                <a:solidFill>
                  <a:schemeClr val="bg1"/>
                </a:solidFill>
              </a:rPr>
              <a:t>Въпроси </a:t>
            </a:r>
          </a:p>
        </p:txBody>
      </p:sp>
      <p:sp>
        <p:nvSpPr>
          <p:cNvPr id="9" name="Правоъгълник: със заоблени ъгли 8">
            <a:extLst>
              <a:ext uri="{FF2B5EF4-FFF2-40B4-BE49-F238E27FC236}">
                <a16:creationId xmlns:a16="http://schemas.microsoft.com/office/drawing/2014/main" id="{58A3F81C-B554-1F94-70C6-E4762E0F5B49}"/>
              </a:ext>
            </a:extLst>
          </p:cNvPr>
          <p:cNvSpPr/>
          <p:nvPr/>
        </p:nvSpPr>
        <p:spPr>
          <a:xfrm>
            <a:off x="9807599" y="2939141"/>
            <a:ext cx="1863716" cy="489857"/>
          </a:xfrm>
          <a:prstGeom prst="roundRect">
            <a:avLst>
              <a:gd name="adj" fmla="val 50000"/>
            </a:avLst>
          </a:prstGeom>
          <a:solidFill>
            <a:schemeClr val="bg1"/>
          </a:solidFill>
          <a:ln>
            <a:noFill/>
          </a:ln>
          <a:effectLst>
            <a:outerShdw blurRad="50800" dist="38100" dir="5400000" algn="t" rotWithShape="0">
              <a:prstClr val="black">
                <a:alpha val="40000"/>
              </a:prstClr>
            </a:outerShdw>
          </a:effectLst>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bg-BG" b="1">
                <a:solidFill>
                  <a:srgbClr val="002060"/>
                </a:solidFill>
              </a:rPr>
              <a:t>Нужди</a:t>
            </a:r>
          </a:p>
        </p:txBody>
      </p:sp>
      <p:sp>
        <p:nvSpPr>
          <p:cNvPr id="23" name="Балонче за говор: правоъгълник със заоблени ъгли 22">
            <a:extLst>
              <a:ext uri="{FF2B5EF4-FFF2-40B4-BE49-F238E27FC236}">
                <a16:creationId xmlns:a16="http://schemas.microsoft.com/office/drawing/2014/main" id="{A08EBC0D-FCE9-1ADC-3954-7E88D3FCC770}"/>
              </a:ext>
            </a:extLst>
          </p:cNvPr>
          <p:cNvSpPr/>
          <p:nvPr/>
        </p:nvSpPr>
        <p:spPr>
          <a:xfrm>
            <a:off x="5669990" y="3950316"/>
            <a:ext cx="4137609" cy="2543194"/>
          </a:xfrm>
          <a:prstGeom prst="wedgeRoundRectCallout">
            <a:avLst>
              <a:gd name="adj1" fmla="val 20311"/>
              <a:gd name="adj2" fmla="val -65485"/>
              <a:gd name="adj3" fmla="val 16667"/>
            </a:avLst>
          </a:prstGeom>
          <a:ln>
            <a:noFill/>
          </a:ln>
          <a:effectLst>
            <a:outerShdw blurRad="50800" dist="38100" dir="16200000"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bg-BG" sz="1200"/>
              <a:t>Задаването на добри въпроси в продажбения контакт е изключително важно и не е съвсем лесно.</a:t>
            </a:r>
          </a:p>
          <a:p>
            <a:pPr marL="285750" indent="-285750">
              <a:buFont typeface="Arial" panose="020B0604020202020204" pitchFamily="34" charset="0"/>
              <a:buChar char="•"/>
            </a:pPr>
            <a:r>
              <a:rPr lang="bg-BG" sz="1200" b="1"/>
              <a:t>Затворени въпроси</a:t>
            </a:r>
            <a:endParaRPr lang="bg-BG" sz="1200"/>
          </a:p>
          <a:p>
            <a:r>
              <a:rPr lang="bg-BG" sz="1200"/>
              <a:t>Затворените въпроси изискват кратък отговор като </a:t>
            </a:r>
            <a:r>
              <a:rPr lang="bg-BG" sz="1200" b="1"/>
              <a:t>„Да“</a:t>
            </a:r>
            <a:r>
              <a:rPr lang="bg-BG" sz="1200"/>
              <a:t> или </a:t>
            </a:r>
            <a:r>
              <a:rPr lang="bg-BG" sz="1200" b="1"/>
              <a:t>„Не“</a:t>
            </a:r>
            <a:r>
              <a:rPr lang="bg-BG" sz="1200"/>
              <a:t>, но ограничават диалога и могат да накарат клиента да се чувства като на разпит.</a:t>
            </a:r>
          </a:p>
          <a:p>
            <a:pPr marL="285750" indent="-285750">
              <a:buFont typeface="Arial" panose="020B0604020202020204" pitchFamily="34" charset="0"/>
              <a:buChar char="•"/>
            </a:pPr>
            <a:r>
              <a:rPr lang="bg-BG" sz="1200" b="1"/>
              <a:t>Отворени въпроси</a:t>
            </a:r>
            <a:endParaRPr lang="bg-BG" sz="1200"/>
          </a:p>
          <a:p>
            <a:r>
              <a:rPr lang="bg-BG" sz="1200"/>
              <a:t>По-ефективният вид въпроси са </a:t>
            </a:r>
            <a:r>
              <a:rPr lang="bg-BG" sz="1200" b="1"/>
              <a:t>отворените</a:t>
            </a:r>
            <a:r>
              <a:rPr lang="bg-BG" sz="1200"/>
              <a:t>. Те предразполагат клиента да сподели нуждите си, което ни помага да предложим решение.</a:t>
            </a:r>
          </a:p>
        </p:txBody>
      </p:sp>
      <p:pic>
        <p:nvPicPr>
          <p:cNvPr id="22" name="Picture 21">
            <a:extLst>
              <a:ext uri="{FF2B5EF4-FFF2-40B4-BE49-F238E27FC236}">
                <a16:creationId xmlns:a16="http://schemas.microsoft.com/office/drawing/2014/main" id="{399C2D30-EB92-4BAF-9989-D8094D8082AB}"/>
              </a:ext>
            </a:extLst>
          </p:cNvPr>
          <p:cNvPicPr>
            <a:picLocks noChangeAspect="1"/>
          </p:cNvPicPr>
          <p:nvPr/>
        </p:nvPicPr>
        <p:blipFill>
          <a:blip r:embed="rId2"/>
          <a:stretch>
            <a:fillRect/>
          </a:stretch>
        </p:blipFill>
        <p:spPr>
          <a:xfrm>
            <a:off x="10883590" y="5621341"/>
            <a:ext cx="982751" cy="995681"/>
          </a:xfrm>
          <a:prstGeom prst="rect">
            <a:avLst/>
          </a:prstGeom>
        </p:spPr>
      </p:pic>
    </p:spTree>
    <p:extLst>
      <p:ext uri="{BB962C8B-B14F-4D97-AF65-F5344CB8AC3E}">
        <p14:creationId xmlns:p14="http://schemas.microsoft.com/office/powerpoint/2010/main" val="402599736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2E6368-ABF0-C936-E5EE-6DFE9C97CDED}"/>
            </a:ext>
          </a:extLst>
        </p:cNvPr>
        <p:cNvGrpSpPr/>
        <p:nvPr/>
      </p:nvGrpSpPr>
      <p:grpSpPr>
        <a:xfrm>
          <a:off x="0" y="0"/>
          <a:ext cx="0" cy="0"/>
          <a:chOff x="0" y="0"/>
          <a:chExt cx="0" cy="0"/>
        </a:xfrm>
      </p:grpSpPr>
      <p:sp>
        <p:nvSpPr>
          <p:cNvPr id="21" name="Rectangle: Rounded Corners 20">
            <a:extLst>
              <a:ext uri="{FF2B5EF4-FFF2-40B4-BE49-F238E27FC236}">
                <a16:creationId xmlns:a16="http://schemas.microsoft.com/office/drawing/2014/main" id="{A9856368-176D-4413-B111-D1757F1574E2}"/>
              </a:ext>
            </a:extLst>
          </p:cNvPr>
          <p:cNvSpPr/>
          <p:nvPr/>
        </p:nvSpPr>
        <p:spPr>
          <a:xfrm>
            <a:off x="1896198" y="1956771"/>
            <a:ext cx="2932281" cy="677242"/>
          </a:xfrm>
          <a:prstGeom prst="roundRect">
            <a:avLst/>
          </a:prstGeom>
          <a:solidFill>
            <a:srgbClr val="4472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600"/>
              <a:t>Идентифициране на нужди</a:t>
            </a:r>
            <a:endParaRPr lang="en-GB" sz="1600"/>
          </a:p>
        </p:txBody>
      </p:sp>
      <p:sp>
        <p:nvSpPr>
          <p:cNvPr id="25" name="Rectangle: Rounded Corners 24">
            <a:extLst>
              <a:ext uri="{FF2B5EF4-FFF2-40B4-BE49-F238E27FC236}">
                <a16:creationId xmlns:a16="http://schemas.microsoft.com/office/drawing/2014/main" id="{606FA872-BA8D-4929-A727-CC88052A0499}"/>
              </a:ext>
            </a:extLst>
          </p:cNvPr>
          <p:cNvSpPr/>
          <p:nvPr/>
        </p:nvSpPr>
        <p:spPr>
          <a:xfrm>
            <a:off x="1896198" y="1146226"/>
            <a:ext cx="2932281" cy="677242"/>
          </a:xfrm>
          <a:prstGeom prst="round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600"/>
              <a:t>Отваряне на разговор</a:t>
            </a:r>
            <a:endParaRPr lang="en-GB" sz="1600"/>
          </a:p>
        </p:txBody>
      </p:sp>
      <p:sp>
        <p:nvSpPr>
          <p:cNvPr id="26" name="Rectangle: Rounded Corners 25">
            <a:extLst>
              <a:ext uri="{FF2B5EF4-FFF2-40B4-BE49-F238E27FC236}">
                <a16:creationId xmlns:a16="http://schemas.microsoft.com/office/drawing/2014/main" id="{BE82D7AC-E51D-42BC-BCD0-9F2FB862ECEC}"/>
              </a:ext>
            </a:extLst>
          </p:cNvPr>
          <p:cNvSpPr/>
          <p:nvPr/>
        </p:nvSpPr>
        <p:spPr>
          <a:xfrm>
            <a:off x="1896198" y="3577861"/>
            <a:ext cx="2932281" cy="677242"/>
          </a:xfrm>
          <a:prstGeom prst="round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600"/>
              <a:t>Справяне с възражения</a:t>
            </a:r>
            <a:endParaRPr lang="en-GB" sz="1600"/>
          </a:p>
        </p:txBody>
      </p:sp>
      <p:sp>
        <p:nvSpPr>
          <p:cNvPr id="27" name="Rectangle: Rounded Corners 26">
            <a:extLst>
              <a:ext uri="{FF2B5EF4-FFF2-40B4-BE49-F238E27FC236}">
                <a16:creationId xmlns:a16="http://schemas.microsoft.com/office/drawing/2014/main" id="{D412048F-9013-4C75-B538-38AE3D9A7FD1}"/>
              </a:ext>
            </a:extLst>
          </p:cNvPr>
          <p:cNvSpPr/>
          <p:nvPr/>
        </p:nvSpPr>
        <p:spPr>
          <a:xfrm>
            <a:off x="1896198" y="4388406"/>
            <a:ext cx="2932281" cy="677242"/>
          </a:xfrm>
          <a:prstGeom prst="round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600"/>
              <a:t>Затваряне</a:t>
            </a:r>
            <a:endParaRPr lang="en-GB" sz="1600"/>
          </a:p>
        </p:txBody>
      </p:sp>
      <p:sp>
        <p:nvSpPr>
          <p:cNvPr id="28" name="Rectangle 13">
            <a:extLst>
              <a:ext uri="{FF2B5EF4-FFF2-40B4-BE49-F238E27FC236}">
                <a16:creationId xmlns:a16="http://schemas.microsoft.com/office/drawing/2014/main" id="{D6B41A9B-5C5B-4ED5-8386-2D66ABF2955B}"/>
              </a:ext>
            </a:extLst>
          </p:cNvPr>
          <p:cNvSpPr/>
          <p:nvPr/>
        </p:nvSpPr>
        <p:spPr>
          <a:xfrm>
            <a:off x="1896198" y="2767316"/>
            <a:ext cx="2932281" cy="677242"/>
          </a:xfrm>
          <a:prstGeom prst="round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600"/>
              <a:t>Предложение</a:t>
            </a:r>
            <a:endParaRPr lang="en-GB" sz="1600"/>
          </a:p>
        </p:txBody>
      </p:sp>
      <p:sp>
        <p:nvSpPr>
          <p:cNvPr id="29" name="Rectangle 3">
            <a:extLst>
              <a:ext uri="{FF2B5EF4-FFF2-40B4-BE49-F238E27FC236}">
                <a16:creationId xmlns:a16="http://schemas.microsoft.com/office/drawing/2014/main" id="{50F81F5C-1F37-47CA-B3FE-0CD66030919D}"/>
              </a:ext>
            </a:extLst>
          </p:cNvPr>
          <p:cNvSpPr/>
          <p:nvPr/>
        </p:nvSpPr>
        <p:spPr>
          <a:xfrm>
            <a:off x="1443475" y="4245"/>
            <a:ext cx="5338363" cy="677242"/>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30" name="Rectangle 4">
            <a:extLst>
              <a:ext uri="{FF2B5EF4-FFF2-40B4-BE49-F238E27FC236}">
                <a16:creationId xmlns:a16="http://schemas.microsoft.com/office/drawing/2014/main" id="{2EDD1FAB-7735-4E50-A5A7-CC255EC8F46B}"/>
              </a:ext>
            </a:extLst>
          </p:cNvPr>
          <p:cNvSpPr/>
          <p:nvPr/>
        </p:nvSpPr>
        <p:spPr>
          <a:xfrm>
            <a:off x="6788435" y="4245"/>
            <a:ext cx="5417300" cy="677242"/>
          </a:xfrm>
          <a:prstGeom prst="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31" name="Rectangle 30">
            <a:extLst>
              <a:ext uri="{FF2B5EF4-FFF2-40B4-BE49-F238E27FC236}">
                <a16:creationId xmlns:a16="http://schemas.microsoft.com/office/drawing/2014/main" id="{6DA2AF2A-7BE4-4E5B-A32F-FED91662305F}"/>
              </a:ext>
            </a:extLst>
          </p:cNvPr>
          <p:cNvSpPr/>
          <p:nvPr/>
        </p:nvSpPr>
        <p:spPr>
          <a:xfrm>
            <a:off x="-1671" y="1599"/>
            <a:ext cx="1451167" cy="6866954"/>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200">
              <a:latin typeface="Aptos"/>
              <a:ea typeface="Calibri"/>
              <a:cs typeface="Calibri"/>
            </a:endParaRPr>
          </a:p>
        </p:txBody>
      </p:sp>
      <p:sp>
        <p:nvSpPr>
          <p:cNvPr id="32" name="Rectangle 31">
            <a:extLst>
              <a:ext uri="{FF2B5EF4-FFF2-40B4-BE49-F238E27FC236}">
                <a16:creationId xmlns:a16="http://schemas.microsoft.com/office/drawing/2014/main" id="{51FED3F4-4336-4DCC-B0C7-3496872DA263}"/>
              </a:ext>
            </a:extLst>
          </p:cNvPr>
          <p:cNvSpPr/>
          <p:nvPr/>
        </p:nvSpPr>
        <p:spPr>
          <a:xfrm>
            <a:off x="-1671" y="2528038"/>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Типове клиенти</a:t>
            </a:r>
            <a:endParaRPr lang="en-GB" sz="1400">
              <a:latin typeface="Aptos"/>
              <a:ea typeface="Calibri"/>
              <a:cs typeface="Calibri"/>
            </a:endParaRPr>
          </a:p>
        </p:txBody>
      </p:sp>
      <p:sp>
        <p:nvSpPr>
          <p:cNvPr id="33" name="Rectangle 32">
            <a:extLst>
              <a:ext uri="{FF2B5EF4-FFF2-40B4-BE49-F238E27FC236}">
                <a16:creationId xmlns:a16="http://schemas.microsoft.com/office/drawing/2014/main" id="{DFAABFAE-960A-4A90-99B8-A34554853862}"/>
              </a:ext>
            </a:extLst>
          </p:cNvPr>
          <p:cNvSpPr/>
          <p:nvPr/>
        </p:nvSpPr>
        <p:spPr>
          <a:xfrm>
            <a:off x="8626" y="1913210"/>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Сценарии</a:t>
            </a:r>
            <a:endParaRPr lang="en-GB" sz="1400">
              <a:latin typeface="Aptos"/>
              <a:ea typeface="Calibri"/>
              <a:cs typeface="Calibri"/>
            </a:endParaRPr>
          </a:p>
        </p:txBody>
      </p:sp>
      <p:sp>
        <p:nvSpPr>
          <p:cNvPr id="34" name="Rectangle 33">
            <a:extLst>
              <a:ext uri="{FF2B5EF4-FFF2-40B4-BE49-F238E27FC236}">
                <a16:creationId xmlns:a16="http://schemas.microsoft.com/office/drawing/2014/main" id="{9BC8A6D4-FA30-4089-8E4D-9BA84CEB9B8E}"/>
              </a:ext>
            </a:extLst>
          </p:cNvPr>
          <p:cNvSpPr/>
          <p:nvPr/>
        </p:nvSpPr>
        <p:spPr>
          <a:xfrm>
            <a:off x="-1671" y="1298382"/>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b="1">
                <a:solidFill>
                  <a:schemeClr val="tx2"/>
                </a:solidFill>
                <a:latin typeface="Aptos"/>
                <a:ea typeface="Calibri"/>
                <a:cs typeface="Calibri"/>
              </a:rPr>
              <a:t>Стъпки при среща</a:t>
            </a:r>
            <a:endParaRPr lang="bg-BG" sz="1400">
              <a:solidFill>
                <a:srgbClr val="000000"/>
              </a:solidFill>
              <a:latin typeface="Aptos"/>
              <a:ea typeface="Calibri"/>
              <a:cs typeface="Calibri"/>
            </a:endParaRPr>
          </a:p>
        </p:txBody>
      </p:sp>
      <p:sp>
        <p:nvSpPr>
          <p:cNvPr id="35" name="Rectangle 28">
            <a:extLst>
              <a:ext uri="{FF2B5EF4-FFF2-40B4-BE49-F238E27FC236}">
                <a16:creationId xmlns:a16="http://schemas.microsoft.com/office/drawing/2014/main" id="{FC42ECBF-8468-477D-9AD0-EF20DFBED526}"/>
              </a:ext>
            </a:extLst>
          </p:cNvPr>
          <p:cNvSpPr/>
          <p:nvPr/>
        </p:nvSpPr>
        <p:spPr>
          <a:xfrm>
            <a:off x="6154" y="690328"/>
            <a:ext cx="1435083"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a:solidFill>
                  <a:schemeClr val="bg1"/>
                </a:solidFill>
                <a:latin typeface="Aptos"/>
                <a:ea typeface="Calibri"/>
                <a:cs typeface="Calibri"/>
              </a:rPr>
              <a:t>Подготовка</a:t>
            </a:r>
            <a:endParaRPr lang="en-GB" sz="1400">
              <a:solidFill>
                <a:schemeClr val="bg1"/>
              </a:solidFill>
              <a:latin typeface="Aptos"/>
              <a:ea typeface="Calibri"/>
              <a:cs typeface="Calibri"/>
            </a:endParaRPr>
          </a:p>
        </p:txBody>
      </p:sp>
      <p:sp>
        <p:nvSpPr>
          <p:cNvPr id="11" name="Rectangle: Rounded Corners 10">
            <a:extLst>
              <a:ext uri="{FF2B5EF4-FFF2-40B4-BE49-F238E27FC236}">
                <a16:creationId xmlns:a16="http://schemas.microsoft.com/office/drawing/2014/main" id="{5A40F320-5BE1-BA72-14A6-8ECD01CD0D2E}"/>
              </a:ext>
            </a:extLst>
          </p:cNvPr>
          <p:cNvSpPr/>
          <p:nvPr/>
        </p:nvSpPr>
        <p:spPr>
          <a:xfrm>
            <a:off x="5376867" y="1146226"/>
            <a:ext cx="6432274" cy="2543194"/>
          </a:xfrm>
          <a:prstGeom prst="roundRect">
            <a:avLst>
              <a:gd name="adj" fmla="val 8506"/>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ru-RU" sz="1200"/>
              <a:t>Да опознаем бизнеса и клиента така, че да може да му предложим </a:t>
            </a:r>
            <a:r>
              <a:rPr lang="ru-RU" sz="1200" b="1"/>
              <a:t>индивидуализирано решение</a:t>
            </a:r>
            <a:r>
              <a:rPr lang="ru-RU" sz="1200"/>
              <a:t>.</a:t>
            </a:r>
          </a:p>
          <a:p>
            <a:r>
              <a:rPr lang="ru-RU" sz="1200" b="1"/>
              <a:t>За тази цел е необходимо:</a:t>
            </a:r>
            <a:endParaRPr lang="ru-RU" sz="1200"/>
          </a:p>
          <a:p>
            <a:r>
              <a:rPr lang="ru-RU" sz="1200"/>
              <a:t>Да идентифицираме </a:t>
            </a:r>
            <a:r>
              <a:rPr lang="ru-RU" sz="1200" b="1"/>
              <a:t>осъзнатите и явни нужди</a:t>
            </a:r>
            <a:endParaRPr lang="ru-RU" sz="1200"/>
          </a:p>
          <a:p>
            <a:r>
              <a:rPr lang="ru-RU" sz="1200"/>
              <a:t>Да разпознаем </a:t>
            </a:r>
            <a:r>
              <a:rPr lang="ru-RU" sz="1200" b="1"/>
              <a:t>индикатори</a:t>
            </a:r>
            <a:r>
              <a:rPr lang="ru-RU" sz="1200"/>
              <a:t> от неявни или неосъзнати нужди</a:t>
            </a:r>
          </a:p>
          <a:p>
            <a:r>
              <a:rPr lang="ru-RU" sz="1200" b="1"/>
              <a:t>КАК</a:t>
            </a:r>
          </a:p>
          <a:p>
            <a:r>
              <a:rPr lang="ru-RU" sz="1200"/>
              <a:t>Водим разговора по определени </a:t>
            </a:r>
            <a:r>
              <a:rPr lang="ru-RU" sz="1200" b="1"/>
              <a:t>ТЕМИ</a:t>
            </a:r>
            <a:r>
              <a:rPr lang="ru-RU" sz="1200"/>
              <a:t> и задаваме </a:t>
            </a:r>
            <a:r>
              <a:rPr lang="ru-RU" sz="1200" b="1"/>
              <a:t>ВЪПРОСИ</a:t>
            </a:r>
            <a:endParaRPr lang="ru-RU" sz="1200"/>
          </a:p>
          <a:p>
            <a:r>
              <a:rPr lang="ru-RU" sz="1200"/>
              <a:t>Слушаме активно, за да идентифицираме явни и потенциални </a:t>
            </a:r>
            <a:r>
              <a:rPr lang="ru-RU" sz="1200" b="1"/>
              <a:t>НУЖДИ</a:t>
            </a:r>
            <a:r>
              <a:rPr lang="ru-RU" sz="1200"/>
              <a:t> на клиента</a:t>
            </a:r>
            <a:endParaRPr lang="en-US" sz="1200"/>
          </a:p>
          <a:p>
            <a:endParaRPr lang="en-US" sz="1200"/>
          </a:p>
          <a:p>
            <a:endParaRPr lang="en-US" sz="1200"/>
          </a:p>
          <a:p>
            <a:endParaRPr lang="en-US" sz="1200"/>
          </a:p>
          <a:p>
            <a:endParaRPr lang="ru-RU" sz="1200"/>
          </a:p>
        </p:txBody>
      </p:sp>
      <p:sp>
        <p:nvSpPr>
          <p:cNvPr id="7" name="Правоъгълник: със заоблени ъгли 6">
            <a:extLst>
              <a:ext uri="{FF2B5EF4-FFF2-40B4-BE49-F238E27FC236}">
                <a16:creationId xmlns:a16="http://schemas.microsoft.com/office/drawing/2014/main" id="{00687598-C905-B680-2EAB-686E72B0626E}"/>
              </a:ext>
            </a:extLst>
          </p:cNvPr>
          <p:cNvSpPr/>
          <p:nvPr/>
        </p:nvSpPr>
        <p:spPr>
          <a:xfrm>
            <a:off x="5497450" y="2939143"/>
            <a:ext cx="1863716" cy="489857"/>
          </a:xfrm>
          <a:prstGeom prst="roundRect">
            <a:avLst>
              <a:gd name="adj" fmla="val 50000"/>
            </a:avLst>
          </a:prstGeom>
          <a:solidFill>
            <a:schemeClr val="bg1"/>
          </a:solidFill>
          <a:ln>
            <a:noFill/>
          </a:ln>
          <a:effectLst>
            <a:outerShdw blurRad="50800" dist="38100" dir="5400000" algn="t" rotWithShape="0">
              <a:prstClr val="black">
                <a:alpha val="40000"/>
              </a:prstClr>
            </a:outerShdw>
          </a:effectLst>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bg-BG" b="1">
                <a:solidFill>
                  <a:srgbClr val="002060"/>
                </a:solidFill>
              </a:rPr>
              <a:t>Теми</a:t>
            </a:r>
          </a:p>
        </p:txBody>
      </p:sp>
      <p:sp>
        <p:nvSpPr>
          <p:cNvPr id="8" name="Правоъгълник: със заоблени ъгли 7">
            <a:extLst>
              <a:ext uri="{FF2B5EF4-FFF2-40B4-BE49-F238E27FC236}">
                <a16:creationId xmlns:a16="http://schemas.microsoft.com/office/drawing/2014/main" id="{88ABF5B1-E0B8-769D-EAB8-24365E3CDAEB}"/>
              </a:ext>
            </a:extLst>
          </p:cNvPr>
          <p:cNvSpPr/>
          <p:nvPr/>
        </p:nvSpPr>
        <p:spPr>
          <a:xfrm>
            <a:off x="7650760" y="2939141"/>
            <a:ext cx="1863716" cy="489857"/>
          </a:xfrm>
          <a:prstGeom prst="roundRect">
            <a:avLst>
              <a:gd name="adj" fmla="val 50000"/>
            </a:avLst>
          </a:prstGeom>
          <a:solidFill>
            <a:schemeClr val="bg1"/>
          </a:solidFill>
          <a:ln>
            <a:noFill/>
          </a:ln>
          <a:effectLst>
            <a:outerShdw blurRad="50800" dist="38100" dir="5400000" algn="t" rotWithShape="0">
              <a:prstClr val="black">
                <a:alpha val="40000"/>
              </a:prstClr>
            </a:outerShdw>
          </a:effectLst>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bg-BG" b="1">
                <a:solidFill>
                  <a:srgbClr val="002060"/>
                </a:solidFill>
              </a:rPr>
              <a:t>Въпроси </a:t>
            </a:r>
          </a:p>
        </p:txBody>
      </p:sp>
      <p:sp>
        <p:nvSpPr>
          <p:cNvPr id="9" name="Правоъгълник: със заоблени ъгли 8">
            <a:extLst>
              <a:ext uri="{FF2B5EF4-FFF2-40B4-BE49-F238E27FC236}">
                <a16:creationId xmlns:a16="http://schemas.microsoft.com/office/drawing/2014/main" id="{58A3F81C-B554-1F94-70C6-E4762E0F5B49}"/>
              </a:ext>
            </a:extLst>
          </p:cNvPr>
          <p:cNvSpPr/>
          <p:nvPr/>
        </p:nvSpPr>
        <p:spPr>
          <a:xfrm>
            <a:off x="9807599" y="2939141"/>
            <a:ext cx="1863716" cy="489857"/>
          </a:xfrm>
          <a:prstGeom prst="roundRect">
            <a:avLst>
              <a:gd name="adj" fmla="val 50000"/>
            </a:avLst>
          </a:prstGeom>
          <a:solidFill>
            <a:srgbClr val="002060"/>
          </a:solidFill>
          <a:ln>
            <a:noFill/>
          </a:ln>
          <a:effectLst>
            <a:outerShdw blurRad="50800" dist="38100" dir="5400000" algn="t" rotWithShape="0">
              <a:prstClr val="black">
                <a:alpha val="40000"/>
              </a:prstClr>
            </a:outerShdw>
          </a:effectLst>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bg-BG" b="1">
                <a:solidFill>
                  <a:schemeClr val="bg1"/>
                </a:solidFill>
              </a:rPr>
              <a:t>Нужди</a:t>
            </a:r>
          </a:p>
        </p:txBody>
      </p:sp>
      <p:sp>
        <p:nvSpPr>
          <p:cNvPr id="24" name="Балонче за говор: правоъгълник със заоблени ъгли 23">
            <a:extLst>
              <a:ext uri="{FF2B5EF4-FFF2-40B4-BE49-F238E27FC236}">
                <a16:creationId xmlns:a16="http://schemas.microsoft.com/office/drawing/2014/main" id="{B0BC014F-EA3D-D717-EEB3-375630C24978}"/>
              </a:ext>
            </a:extLst>
          </p:cNvPr>
          <p:cNvSpPr/>
          <p:nvPr/>
        </p:nvSpPr>
        <p:spPr>
          <a:xfrm>
            <a:off x="5376868" y="3794051"/>
            <a:ext cx="5292770" cy="2543194"/>
          </a:xfrm>
          <a:prstGeom prst="wedgeRoundRectCallout">
            <a:avLst>
              <a:gd name="adj1" fmla="val 36234"/>
              <a:gd name="adj2" fmla="val -64044"/>
              <a:gd name="adj3" fmla="val 16667"/>
            </a:avLst>
          </a:prstGeom>
          <a:ln>
            <a:noFill/>
          </a:ln>
          <a:effectLst>
            <a:outerShdw blurRad="50800" dist="38100" dir="16200000"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ru-RU" sz="1200"/>
              <a:t>Клиентът може да има различни видове нужди според степента на тяхната осъзнатост и от гл.т. на времето.</a:t>
            </a:r>
          </a:p>
          <a:p>
            <a:endParaRPr lang="ru-RU" sz="1200"/>
          </a:p>
          <a:p>
            <a:r>
              <a:rPr lang="ru-RU" sz="1200" b="1"/>
              <a:t>Видове нужди:</a:t>
            </a:r>
          </a:p>
          <a:p>
            <a:pPr marL="285750" indent="-285750">
              <a:buFont typeface="Arial" panose="020B0604020202020204" pitchFamily="34" charset="0"/>
              <a:buChar char="•"/>
            </a:pPr>
            <a:r>
              <a:rPr lang="ru-RU" sz="1200" b="1"/>
              <a:t>Осъзнати</a:t>
            </a:r>
            <a:r>
              <a:rPr lang="ru-RU" sz="1200"/>
              <a:t> – Това са нужди, които клиентът ясно и конкретно осъзнава и изразява.</a:t>
            </a:r>
          </a:p>
          <a:p>
            <a:pPr marL="285750" indent="-285750">
              <a:buFont typeface="Arial" panose="020B0604020202020204" pitchFamily="34" charset="0"/>
              <a:buChar char="•"/>
            </a:pPr>
            <a:r>
              <a:rPr lang="ru-RU" sz="1200" b="1"/>
              <a:t>Неосъзнати</a:t>
            </a:r>
            <a:r>
              <a:rPr lang="ru-RU" sz="1200"/>
              <a:t> – Това са нужди, които клиентът може би не осъзнава или не може да изрази.</a:t>
            </a:r>
          </a:p>
          <a:p>
            <a:pPr marL="285750" indent="-285750">
              <a:buFont typeface="Arial" panose="020B0604020202020204" pitchFamily="34" charset="0"/>
              <a:buChar char="•"/>
            </a:pPr>
            <a:r>
              <a:rPr lang="ru-RU" sz="1200" b="1"/>
              <a:t>Настоящи</a:t>
            </a:r>
            <a:r>
              <a:rPr lang="ru-RU" sz="1200"/>
              <a:t> – Нужди, свързани с текущото състояние и потребности на клиента.</a:t>
            </a:r>
          </a:p>
          <a:p>
            <a:pPr marL="285750" indent="-285750">
              <a:buFont typeface="Arial" panose="020B0604020202020204" pitchFamily="34" charset="0"/>
              <a:buChar char="•"/>
            </a:pPr>
            <a:r>
              <a:rPr lang="ru-RU" sz="1200" b="1"/>
              <a:t>Бъдещи</a:t>
            </a:r>
            <a:r>
              <a:rPr lang="ru-RU" sz="1200"/>
              <a:t> – Нужди, които могат да възникнат в бъдеще и клиентът може би не е мислил за тях.</a:t>
            </a:r>
          </a:p>
        </p:txBody>
      </p:sp>
      <p:pic>
        <p:nvPicPr>
          <p:cNvPr id="22" name="Picture 21">
            <a:extLst>
              <a:ext uri="{FF2B5EF4-FFF2-40B4-BE49-F238E27FC236}">
                <a16:creationId xmlns:a16="http://schemas.microsoft.com/office/drawing/2014/main" id="{EB80B558-1AC6-400C-A6E4-BBD92D8DCDF6}"/>
              </a:ext>
            </a:extLst>
          </p:cNvPr>
          <p:cNvPicPr>
            <a:picLocks noChangeAspect="1"/>
          </p:cNvPicPr>
          <p:nvPr/>
        </p:nvPicPr>
        <p:blipFill>
          <a:blip r:embed="rId2"/>
          <a:stretch>
            <a:fillRect/>
          </a:stretch>
        </p:blipFill>
        <p:spPr>
          <a:xfrm>
            <a:off x="10883590" y="5621341"/>
            <a:ext cx="982751" cy="995681"/>
          </a:xfrm>
          <a:prstGeom prst="rect">
            <a:avLst/>
          </a:prstGeom>
        </p:spPr>
      </p:pic>
    </p:spTree>
    <p:extLst>
      <p:ext uri="{BB962C8B-B14F-4D97-AF65-F5344CB8AC3E}">
        <p14:creationId xmlns:p14="http://schemas.microsoft.com/office/powerpoint/2010/main" val="377904656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6E7837-C452-6BBD-A4F5-80F0EF7CD7D9}"/>
            </a:ext>
          </a:extLst>
        </p:cNvPr>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DD707A5E-2B71-8F26-74E2-EFE210CF3402}"/>
              </a:ext>
            </a:extLst>
          </p:cNvPr>
          <p:cNvSpPr/>
          <p:nvPr/>
        </p:nvSpPr>
        <p:spPr>
          <a:xfrm>
            <a:off x="5273143" y="1146225"/>
            <a:ext cx="6602906" cy="5124747"/>
          </a:xfrm>
          <a:prstGeom prst="roundRect">
            <a:avLst>
              <a:gd name="adj" fmla="val 416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ru-RU" sz="1400"/>
          </a:p>
        </p:txBody>
      </p:sp>
      <p:sp>
        <p:nvSpPr>
          <p:cNvPr id="20" name="Текстово поле 19">
            <a:extLst>
              <a:ext uri="{FF2B5EF4-FFF2-40B4-BE49-F238E27FC236}">
                <a16:creationId xmlns:a16="http://schemas.microsoft.com/office/drawing/2014/main" id="{2DA05113-AC96-C070-6C79-786649F18079}"/>
              </a:ext>
            </a:extLst>
          </p:cNvPr>
          <p:cNvSpPr txBox="1"/>
          <p:nvPr/>
        </p:nvSpPr>
        <p:spPr>
          <a:xfrm>
            <a:off x="5262846" y="1192659"/>
            <a:ext cx="6267515" cy="5170646"/>
          </a:xfrm>
          <a:prstGeom prst="rect">
            <a:avLst/>
          </a:prstGeom>
          <a:noFill/>
        </p:spPr>
        <p:txBody>
          <a:bodyPr wrap="square" lIns="91440" tIns="45720" rIns="91440" bIns="45720" rtlCol="0" anchor="t">
            <a:spAutoFit/>
          </a:bodyPr>
          <a:lstStyle/>
          <a:p>
            <a:r>
              <a:rPr lang="ru-RU" sz="1200" b="1" dirty="0">
                <a:solidFill>
                  <a:schemeClr val="bg1"/>
                </a:solidFill>
              </a:rPr>
              <a:t>Как да </a:t>
            </a:r>
            <a:r>
              <a:rPr lang="ru-RU" sz="1200" b="1" dirty="0" err="1">
                <a:solidFill>
                  <a:schemeClr val="bg1"/>
                </a:solidFill>
              </a:rPr>
              <a:t>структурираме</a:t>
            </a:r>
            <a:r>
              <a:rPr lang="ru-RU" sz="1200" b="1" dirty="0">
                <a:solidFill>
                  <a:schemeClr val="bg1"/>
                </a:solidFill>
              </a:rPr>
              <a:t> </a:t>
            </a:r>
            <a:r>
              <a:rPr lang="ru-RU" sz="1200" b="1" dirty="0" err="1">
                <a:solidFill>
                  <a:schemeClr val="bg1"/>
                </a:solidFill>
              </a:rPr>
              <a:t>предложението</a:t>
            </a:r>
            <a:r>
              <a:rPr lang="ru-RU" sz="1200" b="1" dirty="0">
                <a:solidFill>
                  <a:schemeClr val="bg1"/>
                </a:solidFill>
              </a:rPr>
              <a:t>?</a:t>
            </a:r>
          </a:p>
          <a:p>
            <a:r>
              <a:rPr lang="bg-BG" sz="1200" dirty="0">
                <a:solidFill>
                  <a:schemeClr val="bg1"/>
                </a:solidFill>
              </a:rPr>
              <a:t>1.</a:t>
            </a:r>
            <a:r>
              <a:rPr lang="bg-BG" sz="1200" b="1" dirty="0">
                <a:solidFill>
                  <a:schemeClr val="bg1"/>
                </a:solidFill>
              </a:rPr>
              <a:t>Обобщете нуждите на клиента - </a:t>
            </a:r>
            <a:r>
              <a:rPr lang="ru-RU" sz="1200" dirty="0" err="1">
                <a:solidFill>
                  <a:schemeClr val="bg1"/>
                </a:solidFill>
              </a:rPr>
              <a:t>Добър</a:t>
            </a:r>
            <a:r>
              <a:rPr lang="ru-RU" sz="1200" dirty="0">
                <a:solidFill>
                  <a:schemeClr val="bg1"/>
                </a:solidFill>
              </a:rPr>
              <a:t> подход </a:t>
            </a:r>
            <a:r>
              <a:rPr lang="ru-RU" sz="1200" dirty="0" err="1">
                <a:solidFill>
                  <a:schemeClr val="bg1"/>
                </a:solidFill>
              </a:rPr>
              <a:t>към</a:t>
            </a:r>
            <a:r>
              <a:rPr lang="ru-RU" sz="1200" dirty="0">
                <a:solidFill>
                  <a:schemeClr val="bg1"/>
                </a:solidFill>
              </a:rPr>
              <a:t> </a:t>
            </a:r>
            <a:r>
              <a:rPr lang="ru-RU" sz="1200" dirty="0" err="1">
                <a:solidFill>
                  <a:schemeClr val="bg1"/>
                </a:solidFill>
              </a:rPr>
              <a:t>представянето</a:t>
            </a:r>
            <a:r>
              <a:rPr lang="ru-RU" sz="1200" dirty="0">
                <a:solidFill>
                  <a:schemeClr val="bg1"/>
                </a:solidFill>
              </a:rPr>
              <a:t> е да </a:t>
            </a:r>
            <a:r>
              <a:rPr lang="ru-RU" sz="1200" dirty="0" err="1">
                <a:solidFill>
                  <a:schemeClr val="bg1"/>
                </a:solidFill>
              </a:rPr>
              <a:t>започнем</a:t>
            </a:r>
            <a:r>
              <a:rPr lang="ru-RU" sz="1200" dirty="0">
                <a:solidFill>
                  <a:schemeClr val="bg1"/>
                </a:solidFill>
              </a:rPr>
              <a:t> с </a:t>
            </a:r>
            <a:r>
              <a:rPr lang="ru-RU" sz="1200" dirty="0" err="1">
                <a:solidFill>
                  <a:schemeClr val="bg1"/>
                </a:solidFill>
              </a:rPr>
              <a:t>едно</a:t>
            </a:r>
            <a:r>
              <a:rPr lang="ru-RU" sz="1200" dirty="0">
                <a:solidFill>
                  <a:schemeClr val="bg1"/>
                </a:solidFill>
              </a:rPr>
              <a:t> </a:t>
            </a:r>
            <a:r>
              <a:rPr lang="ru-RU" sz="1200" b="1" dirty="0">
                <a:solidFill>
                  <a:schemeClr val="bg1"/>
                </a:solidFill>
              </a:rPr>
              <a:t>обобщение на </a:t>
            </a:r>
            <a:r>
              <a:rPr lang="ru-RU" sz="1200" b="1" dirty="0" err="1">
                <a:solidFill>
                  <a:schemeClr val="bg1"/>
                </a:solidFill>
              </a:rPr>
              <a:t>нашето</a:t>
            </a:r>
            <a:r>
              <a:rPr lang="ru-RU" sz="1200" b="1" dirty="0">
                <a:solidFill>
                  <a:schemeClr val="bg1"/>
                </a:solidFill>
              </a:rPr>
              <a:t> </a:t>
            </a:r>
            <a:r>
              <a:rPr lang="ru-RU" sz="1200" b="1" dirty="0" err="1">
                <a:solidFill>
                  <a:schemeClr val="bg1"/>
                </a:solidFill>
              </a:rPr>
              <a:t>разбиране</a:t>
            </a:r>
            <a:r>
              <a:rPr lang="ru-RU" sz="1200" b="1" dirty="0">
                <a:solidFill>
                  <a:schemeClr val="bg1"/>
                </a:solidFill>
              </a:rPr>
              <a:t> на </a:t>
            </a:r>
            <a:r>
              <a:rPr lang="ru-RU" sz="1200" b="1" dirty="0" err="1">
                <a:solidFill>
                  <a:schemeClr val="bg1"/>
                </a:solidFill>
              </a:rPr>
              <a:t>нуждите</a:t>
            </a:r>
            <a:r>
              <a:rPr lang="ru-RU" sz="1200" b="1" dirty="0">
                <a:solidFill>
                  <a:schemeClr val="bg1"/>
                </a:solidFill>
              </a:rPr>
              <a:t> на клиента</a:t>
            </a:r>
            <a:r>
              <a:rPr lang="ru-RU" sz="1200" dirty="0">
                <a:solidFill>
                  <a:schemeClr val="bg1"/>
                </a:solidFill>
              </a:rPr>
              <a:t>. </a:t>
            </a:r>
            <a:r>
              <a:rPr lang="ru-RU" sz="1200" dirty="0" err="1">
                <a:solidFill>
                  <a:schemeClr val="bg1"/>
                </a:solidFill>
              </a:rPr>
              <a:t>Това</a:t>
            </a:r>
            <a:r>
              <a:rPr lang="ru-RU" sz="1200" dirty="0">
                <a:solidFill>
                  <a:schemeClr val="bg1"/>
                </a:solidFill>
              </a:rPr>
              <a:t> ни </a:t>
            </a:r>
            <a:r>
              <a:rPr lang="ru-RU" sz="1200" dirty="0" err="1">
                <a:solidFill>
                  <a:schemeClr val="bg1"/>
                </a:solidFill>
              </a:rPr>
              <a:t>дава</a:t>
            </a:r>
            <a:r>
              <a:rPr lang="ru-RU" sz="1200" dirty="0">
                <a:solidFill>
                  <a:schemeClr val="bg1"/>
                </a:solidFill>
              </a:rPr>
              <a:t> </a:t>
            </a:r>
            <a:r>
              <a:rPr lang="ru-RU" sz="1200" dirty="0" err="1">
                <a:solidFill>
                  <a:schemeClr val="bg1"/>
                </a:solidFill>
              </a:rPr>
              <a:t>възможност</a:t>
            </a:r>
            <a:r>
              <a:rPr lang="ru-RU" sz="1200" dirty="0">
                <a:solidFill>
                  <a:schemeClr val="bg1"/>
                </a:solidFill>
              </a:rPr>
              <a:t> да направим </a:t>
            </a:r>
            <a:r>
              <a:rPr lang="ru-RU" sz="1200" dirty="0" err="1">
                <a:solidFill>
                  <a:schemeClr val="bg1"/>
                </a:solidFill>
              </a:rPr>
              <a:t>преход</a:t>
            </a:r>
            <a:r>
              <a:rPr lang="ru-RU" sz="1200" dirty="0">
                <a:solidFill>
                  <a:schemeClr val="bg1"/>
                </a:solidFill>
              </a:rPr>
              <a:t> </a:t>
            </a:r>
            <a:r>
              <a:rPr lang="ru-RU" sz="1200" dirty="0" err="1">
                <a:solidFill>
                  <a:schemeClr val="bg1"/>
                </a:solidFill>
              </a:rPr>
              <a:t>към</a:t>
            </a:r>
            <a:r>
              <a:rPr lang="ru-RU" sz="1200" dirty="0">
                <a:solidFill>
                  <a:schemeClr val="bg1"/>
                </a:solidFill>
              </a:rPr>
              <a:t> </a:t>
            </a:r>
            <a:r>
              <a:rPr lang="ru-RU" sz="1200" dirty="0" err="1">
                <a:solidFill>
                  <a:schemeClr val="bg1"/>
                </a:solidFill>
              </a:rPr>
              <a:t>представянето</a:t>
            </a:r>
            <a:r>
              <a:rPr lang="ru-RU" sz="1200" dirty="0">
                <a:solidFill>
                  <a:schemeClr val="bg1"/>
                </a:solidFill>
              </a:rPr>
              <a:t> на </a:t>
            </a:r>
            <a:r>
              <a:rPr lang="ru-RU" sz="1200" dirty="0" err="1">
                <a:solidFill>
                  <a:schemeClr val="bg1"/>
                </a:solidFill>
              </a:rPr>
              <a:t>предложението</a:t>
            </a:r>
            <a:r>
              <a:rPr lang="ru-RU" sz="1200" dirty="0">
                <a:solidFill>
                  <a:schemeClr val="bg1"/>
                </a:solidFill>
              </a:rPr>
              <a:t> ни с </a:t>
            </a:r>
            <a:r>
              <a:rPr lang="ru-RU" sz="1200" b="1" dirty="0">
                <a:solidFill>
                  <a:schemeClr val="bg1"/>
                </a:solidFill>
              </a:rPr>
              <a:t>ползи</a:t>
            </a:r>
            <a:r>
              <a:rPr lang="ru-RU" sz="1200" dirty="0">
                <a:solidFill>
                  <a:schemeClr val="bg1"/>
                </a:solidFill>
              </a:rPr>
              <a:t>, които </a:t>
            </a:r>
            <a:r>
              <a:rPr lang="ru-RU" sz="1200" dirty="0" err="1">
                <a:solidFill>
                  <a:schemeClr val="bg1"/>
                </a:solidFill>
              </a:rPr>
              <a:t>съответстват</a:t>
            </a:r>
            <a:r>
              <a:rPr lang="ru-RU" sz="1200" dirty="0">
                <a:solidFill>
                  <a:schemeClr val="bg1"/>
                </a:solidFill>
              </a:rPr>
              <a:t> на </a:t>
            </a:r>
            <a:r>
              <a:rPr lang="ru-RU" sz="1200" dirty="0" err="1">
                <a:solidFill>
                  <a:schemeClr val="bg1"/>
                </a:solidFill>
              </a:rPr>
              <a:t>тези</a:t>
            </a:r>
            <a:r>
              <a:rPr lang="ru-RU" sz="1200" dirty="0">
                <a:solidFill>
                  <a:schemeClr val="bg1"/>
                </a:solidFill>
              </a:rPr>
              <a:t> </a:t>
            </a:r>
            <a:r>
              <a:rPr lang="ru-RU" sz="1200" dirty="0" err="1">
                <a:solidFill>
                  <a:schemeClr val="bg1"/>
                </a:solidFill>
              </a:rPr>
              <a:t>нужди</a:t>
            </a:r>
            <a:r>
              <a:rPr lang="ru-RU" sz="1200" dirty="0">
                <a:solidFill>
                  <a:schemeClr val="bg1"/>
                </a:solidFill>
              </a:rPr>
              <a:t>.</a:t>
            </a:r>
            <a:endParaRPr lang="bg-BG" sz="1200" dirty="0">
              <a:solidFill>
                <a:schemeClr val="bg1"/>
              </a:solidFill>
            </a:endParaRPr>
          </a:p>
          <a:p>
            <a:r>
              <a:rPr lang="bg-BG" sz="1200" dirty="0">
                <a:solidFill>
                  <a:schemeClr val="bg1"/>
                </a:solidFill>
              </a:rPr>
              <a:t>2.</a:t>
            </a:r>
            <a:r>
              <a:rPr lang="bg-BG" sz="1200" b="1" dirty="0">
                <a:solidFill>
                  <a:schemeClr val="bg1"/>
                </a:solidFill>
              </a:rPr>
              <a:t>Преход- </a:t>
            </a:r>
            <a:r>
              <a:rPr lang="ru-RU" sz="1200" b="1" dirty="0" err="1">
                <a:solidFill>
                  <a:schemeClr val="bg1"/>
                </a:solidFill>
              </a:rPr>
              <a:t>Преходът</a:t>
            </a:r>
            <a:r>
              <a:rPr lang="ru-RU" sz="1200" dirty="0">
                <a:solidFill>
                  <a:schemeClr val="bg1"/>
                </a:solidFill>
              </a:rPr>
              <a:t> от </a:t>
            </a:r>
            <a:r>
              <a:rPr lang="ru-RU" sz="1200" dirty="0" err="1">
                <a:solidFill>
                  <a:schemeClr val="bg1"/>
                </a:solidFill>
              </a:rPr>
              <a:t>обобщението</a:t>
            </a:r>
            <a:r>
              <a:rPr lang="ru-RU" sz="1200" dirty="0">
                <a:solidFill>
                  <a:schemeClr val="bg1"/>
                </a:solidFill>
              </a:rPr>
              <a:t> на </a:t>
            </a:r>
            <a:r>
              <a:rPr lang="ru-RU" sz="1200" dirty="0" err="1">
                <a:solidFill>
                  <a:schemeClr val="bg1"/>
                </a:solidFill>
              </a:rPr>
              <a:t>нуждите</a:t>
            </a:r>
            <a:r>
              <a:rPr lang="ru-RU" sz="1200" dirty="0">
                <a:solidFill>
                  <a:schemeClr val="bg1"/>
                </a:solidFill>
              </a:rPr>
              <a:t> </a:t>
            </a:r>
            <a:r>
              <a:rPr lang="ru-RU" sz="1200" dirty="0" err="1">
                <a:solidFill>
                  <a:schemeClr val="bg1"/>
                </a:solidFill>
              </a:rPr>
              <a:t>към</a:t>
            </a:r>
            <a:r>
              <a:rPr lang="ru-RU" sz="1200" dirty="0">
                <a:solidFill>
                  <a:schemeClr val="bg1"/>
                </a:solidFill>
              </a:rPr>
              <a:t> </a:t>
            </a:r>
            <a:r>
              <a:rPr lang="ru-RU" sz="1200" dirty="0" err="1">
                <a:solidFill>
                  <a:schemeClr val="bg1"/>
                </a:solidFill>
              </a:rPr>
              <a:t>предложението</a:t>
            </a:r>
            <a:r>
              <a:rPr lang="ru-RU" sz="1200" dirty="0">
                <a:solidFill>
                  <a:schemeClr val="bg1"/>
                </a:solidFill>
              </a:rPr>
              <a:t> ни </a:t>
            </a:r>
            <a:r>
              <a:rPr lang="ru-RU" sz="1200" dirty="0" err="1">
                <a:solidFill>
                  <a:schemeClr val="bg1"/>
                </a:solidFill>
              </a:rPr>
              <a:t>дава</a:t>
            </a:r>
            <a:r>
              <a:rPr lang="ru-RU" sz="1200" dirty="0">
                <a:solidFill>
                  <a:schemeClr val="bg1"/>
                </a:solidFill>
              </a:rPr>
              <a:t> </a:t>
            </a:r>
            <a:r>
              <a:rPr lang="ru-RU" sz="1200" dirty="0" err="1">
                <a:solidFill>
                  <a:schemeClr val="bg1"/>
                </a:solidFill>
              </a:rPr>
              <a:t>възможност</a:t>
            </a:r>
            <a:r>
              <a:rPr lang="ru-RU" sz="1200" dirty="0">
                <a:solidFill>
                  <a:schemeClr val="bg1"/>
                </a:solidFill>
              </a:rPr>
              <a:t> по естествен начин да </a:t>
            </a:r>
            <a:r>
              <a:rPr lang="ru-RU" sz="1200" b="1" dirty="0" err="1">
                <a:solidFill>
                  <a:schemeClr val="bg1"/>
                </a:solidFill>
              </a:rPr>
              <a:t>демонстрираме</a:t>
            </a:r>
            <a:r>
              <a:rPr lang="ru-RU" sz="1200" b="1" dirty="0">
                <a:solidFill>
                  <a:schemeClr val="bg1"/>
                </a:solidFill>
              </a:rPr>
              <a:t> на клиента</a:t>
            </a:r>
            <a:r>
              <a:rPr lang="ru-RU" sz="1200" dirty="0">
                <a:solidFill>
                  <a:schemeClr val="bg1"/>
                </a:solidFill>
              </a:rPr>
              <a:t>, че след като </a:t>
            </a:r>
            <a:r>
              <a:rPr lang="ru-RU" sz="1200" dirty="0" err="1">
                <a:solidFill>
                  <a:schemeClr val="bg1"/>
                </a:solidFill>
              </a:rPr>
              <a:t>внимателно</a:t>
            </a:r>
            <a:r>
              <a:rPr lang="ru-RU" sz="1200" dirty="0">
                <a:solidFill>
                  <a:schemeClr val="bg1"/>
                </a:solidFill>
              </a:rPr>
              <a:t> </a:t>
            </a:r>
            <a:r>
              <a:rPr lang="ru-RU" sz="1200" dirty="0" err="1">
                <a:solidFill>
                  <a:schemeClr val="bg1"/>
                </a:solidFill>
              </a:rPr>
              <a:t>сме</a:t>
            </a:r>
            <a:r>
              <a:rPr lang="ru-RU" sz="1200" dirty="0">
                <a:solidFill>
                  <a:schemeClr val="bg1"/>
                </a:solidFill>
              </a:rPr>
              <a:t> </a:t>
            </a:r>
            <a:r>
              <a:rPr lang="ru-RU" sz="1200" dirty="0" err="1">
                <a:solidFill>
                  <a:schemeClr val="bg1"/>
                </a:solidFill>
              </a:rPr>
              <a:t>чули</a:t>
            </a:r>
            <a:r>
              <a:rPr lang="ru-RU" sz="1200" dirty="0">
                <a:solidFill>
                  <a:schemeClr val="bg1"/>
                </a:solidFill>
              </a:rPr>
              <a:t> от </a:t>
            </a:r>
            <a:r>
              <a:rPr lang="ru-RU" sz="1200" dirty="0" err="1">
                <a:solidFill>
                  <a:schemeClr val="bg1"/>
                </a:solidFill>
              </a:rPr>
              <a:t>какво</a:t>
            </a:r>
            <a:r>
              <a:rPr lang="ru-RU" sz="1200" dirty="0">
                <a:solidFill>
                  <a:schemeClr val="bg1"/>
                </a:solidFill>
              </a:rPr>
              <a:t> има нужда, имаме </a:t>
            </a:r>
            <a:r>
              <a:rPr lang="ru-RU" sz="1200" b="1" dirty="0" err="1">
                <a:solidFill>
                  <a:schemeClr val="bg1"/>
                </a:solidFill>
              </a:rPr>
              <a:t>подходящото</a:t>
            </a:r>
            <a:r>
              <a:rPr lang="ru-RU" sz="1200" b="1" dirty="0">
                <a:solidFill>
                  <a:schemeClr val="bg1"/>
                </a:solidFill>
              </a:rPr>
              <a:t> решение</a:t>
            </a:r>
            <a:r>
              <a:rPr lang="ru-RU" sz="1200" dirty="0">
                <a:solidFill>
                  <a:schemeClr val="bg1"/>
                </a:solidFill>
              </a:rPr>
              <a:t>.</a:t>
            </a:r>
            <a:endParaRPr lang="bg-BG" sz="1200" dirty="0">
              <a:solidFill>
                <a:schemeClr val="bg1"/>
              </a:solidFill>
            </a:endParaRPr>
          </a:p>
          <a:p>
            <a:r>
              <a:rPr lang="bg-BG" sz="1200" dirty="0">
                <a:solidFill>
                  <a:schemeClr val="bg1"/>
                </a:solidFill>
              </a:rPr>
              <a:t>3.</a:t>
            </a:r>
            <a:r>
              <a:rPr lang="bg-BG" sz="1200" b="1" dirty="0">
                <a:solidFill>
                  <a:schemeClr val="bg1"/>
                </a:solidFill>
              </a:rPr>
              <a:t>Предложение</a:t>
            </a:r>
            <a:endParaRPr lang="bg-BG" sz="1200" dirty="0">
              <a:solidFill>
                <a:schemeClr val="bg1"/>
              </a:solidFill>
            </a:endParaRPr>
          </a:p>
          <a:p>
            <a:r>
              <a:rPr lang="bg-BG" sz="1200" b="1" dirty="0">
                <a:solidFill>
                  <a:schemeClr val="bg1"/>
                </a:solidFill>
              </a:rPr>
              <a:t>а) акцентирай  върху ползите - </a:t>
            </a:r>
            <a:r>
              <a:rPr lang="ru-RU" sz="1200" dirty="0">
                <a:solidFill>
                  <a:schemeClr val="bg1"/>
                </a:solidFill>
              </a:rPr>
              <a:t>При </a:t>
            </a:r>
            <a:r>
              <a:rPr lang="ru-RU" sz="1200" dirty="0" err="1">
                <a:solidFill>
                  <a:schemeClr val="bg1"/>
                </a:solidFill>
              </a:rPr>
              <a:t>представянето</a:t>
            </a:r>
            <a:r>
              <a:rPr lang="ru-RU" sz="1200" dirty="0">
                <a:solidFill>
                  <a:schemeClr val="bg1"/>
                </a:solidFill>
              </a:rPr>
              <a:t> на </a:t>
            </a:r>
            <a:r>
              <a:rPr lang="ru-RU" sz="1200" dirty="0" err="1">
                <a:solidFill>
                  <a:schemeClr val="bg1"/>
                </a:solidFill>
              </a:rPr>
              <a:t>предложението</a:t>
            </a:r>
            <a:r>
              <a:rPr lang="ru-RU" sz="1200" dirty="0">
                <a:solidFill>
                  <a:schemeClr val="bg1"/>
                </a:solidFill>
              </a:rPr>
              <a:t> е важно да </a:t>
            </a:r>
            <a:r>
              <a:rPr lang="ru-RU" sz="1200" b="1" dirty="0" err="1">
                <a:solidFill>
                  <a:schemeClr val="bg1"/>
                </a:solidFill>
              </a:rPr>
              <a:t>разграничаваме</a:t>
            </a:r>
            <a:r>
              <a:rPr lang="ru-RU" sz="1200" b="1" dirty="0">
                <a:solidFill>
                  <a:schemeClr val="bg1"/>
                </a:solidFill>
              </a:rPr>
              <a:t> </a:t>
            </a:r>
            <a:r>
              <a:rPr lang="ru-RU" sz="1200" b="1" dirty="0" err="1">
                <a:solidFill>
                  <a:schemeClr val="bg1"/>
                </a:solidFill>
              </a:rPr>
              <a:t>характеристиките</a:t>
            </a:r>
            <a:r>
              <a:rPr lang="ru-RU" sz="1200" b="1" dirty="0">
                <a:solidFill>
                  <a:schemeClr val="bg1"/>
                </a:solidFill>
              </a:rPr>
              <a:t> от ползите</a:t>
            </a:r>
            <a:r>
              <a:rPr lang="ru-RU" sz="1200" dirty="0">
                <a:solidFill>
                  <a:schemeClr val="bg1"/>
                </a:solidFill>
              </a:rPr>
              <a:t> и да се </a:t>
            </a:r>
            <a:r>
              <a:rPr lang="ru-RU" sz="1200" dirty="0" err="1">
                <a:solidFill>
                  <a:schemeClr val="bg1"/>
                </a:solidFill>
              </a:rPr>
              <a:t>съсредоточим</a:t>
            </a:r>
            <a:r>
              <a:rPr lang="ru-RU" sz="1200" dirty="0">
                <a:solidFill>
                  <a:schemeClr val="bg1"/>
                </a:solidFill>
              </a:rPr>
              <a:t> </a:t>
            </a:r>
            <a:r>
              <a:rPr lang="ru-RU" sz="1200" dirty="0" err="1">
                <a:solidFill>
                  <a:schemeClr val="bg1"/>
                </a:solidFill>
              </a:rPr>
              <a:t>върху</a:t>
            </a:r>
            <a:r>
              <a:rPr lang="ru-RU" sz="1200" dirty="0">
                <a:solidFill>
                  <a:schemeClr val="bg1"/>
                </a:solidFill>
              </a:rPr>
              <a:t> </a:t>
            </a:r>
            <a:r>
              <a:rPr lang="ru-RU" sz="1200" b="1" dirty="0">
                <a:solidFill>
                  <a:schemeClr val="bg1"/>
                </a:solidFill>
              </a:rPr>
              <a:t>ползите</a:t>
            </a:r>
            <a:r>
              <a:rPr lang="ru-RU" sz="1200" dirty="0">
                <a:solidFill>
                  <a:schemeClr val="bg1"/>
                </a:solidFill>
              </a:rPr>
              <a:t>.</a:t>
            </a:r>
          </a:p>
          <a:p>
            <a:pPr marL="742950" lvl="1" indent="-285750">
              <a:buFont typeface="Arial" panose="020B0604020202020204" pitchFamily="34" charset="0"/>
              <a:buChar char="•"/>
            </a:pPr>
            <a:r>
              <a:rPr lang="ru-RU" sz="1200" b="1" dirty="0">
                <a:solidFill>
                  <a:schemeClr val="bg1"/>
                </a:solidFill>
              </a:rPr>
              <a:t>Характеристика</a:t>
            </a:r>
            <a:r>
              <a:rPr lang="ru-RU" sz="1200" dirty="0">
                <a:solidFill>
                  <a:schemeClr val="bg1"/>
                </a:solidFill>
              </a:rPr>
              <a:t> – </a:t>
            </a:r>
            <a:r>
              <a:rPr lang="ru-RU" sz="1200" dirty="0" err="1">
                <a:solidFill>
                  <a:schemeClr val="bg1"/>
                </a:solidFill>
              </a:rPr>
              <a:t>описва</a:t>
            </a:r>
            <a:r>
              <a:rPr lang="ru-RU" sz="1200" dirty="0">
                <a:solidFill>
                  <a:schemeClr val="bg1"/>
                </a:solidFill>
              </a:rPr>
              <a:t> </a:t>
            </a:r>
            <a:r>
              <a:rPr lang="ru-RU" sz="1200" dirty="0" err="1">
                <a:solidFill>
                  <a:schemeClr val="bg1"/>
                </a:solidFill>
              </a:rPr>
              <a:t>функциите</a:t>
            </a:r>
            <a:r>
              <a:rPr lang="ru-RU" sz="1200" dirty="0">
                <a:solidFill>
                  <a:schemeClr val="bg1"/>
                </a:solidFill>
              </a:rPr>
              <a:t> и </a:t>
            </a:r>
            <a:r>
              <a:rPr lang="ru-RU" sz="1200" dirty="0" err="1">
                <a:solidFill>
                  <a:schemeClr val="bg1"/>
                </a:solidFill>
              </a:rPr>
              <a:t>свойствата</a:t>
            </a:r>
            <a:r>
              <a:rPr lang="ru-RU" sz="1200" dirty="0">
                <a:solidFill>
                  <a:schemeClr val="bg1"/>
                </a:solidFill>
              </a:rPr>
              <a:t> на продукта или </a:t>
            </a:r>
            <a:r>
              <a:rPr lang="ru-RU" sz="1200" dirty="0" err="1">
                <a:solidFill>
                  <a:schemeClr val="bg1"/>
                </a:solidFill>
              </a:rPr>
              <a:t>услугата</a:t>
            </a:r>
            <a:r>
              <a:rPr lang="ru-RU" sz="1200" dirty="0">
                <a:solidFill>
                  <a:schemeClr val="bg1"/>
                </a:solidFill>
              </a:rPr>
              <a:t>.</a:t>
            </a:r>
          </a:p>
          <a:p>
            <a:pPr marL="742950" lvl="1" indent="-285750">
              <a:buFont typeface="Arial" panose="020B0604020202020204" pitchFamily="34" charset="0"/>
              <a:buChar char="•"/>
            </a:pPr>
            <a:r>
              <a:rPr lang="ru-RU" sz="1200" b="1" dirty="0" err="1">
                <a:solidFill>
                  <a:schemeClr val="bg1"/>
                </a:solidFill>
              </a:rPr>
              <a:t>Полза</a:t>
            </a:r>
            <a:r>
              <a:rPr lang="ru-RU" sz="1200" dirty="0">
                <a:solidFill>
                  <a:schemeClr val="bg1"/>
                </a:solidFill>
              </a:rPr>
              <a:t> – </a:t>
            </a:r>
            <a:r>
              <a:rPr lang="ru-RU" sz="1200" dirty="0" err="1">
                <a:solidFill>
                  <a:schemeClr val="bg1"/>
                </a:solidFill>
              </a:rPr>
              <a:t>показва</a:t>
            </a:r>
            <a:r>
              <a:rPr lang="ru-RU" sz="1200" dirty="0">
                <a:solidFill>
                  <a:schemeClr val="bg1"/>
                </a:solidFill>
              </a:rPr>
              <a:t> как </a:t>
            </a:r>
            <a:r>
              <a:rPr lang="ru-RU" sz="1200" dirty="0" err="1">
                <a:solidFill>
                  <a:schemeClr val="bg1"/>
                </a:solidFill>
              </a:rPr>
              <a:t>продуктът</a:t>
            </a:r>
            <a:r>
              <a:rPr lang="ru-RU" sz="1200" dirty="0">
                <a:solidFill>
                  <a:schemeClr val="bg1"/>
                </a:solidFill>
              </a:rPr>
              <a:t> или </a:t>
            </a:r>
            <a:r>
              <a:rPr lang="ru-RU" sz="1200" dirty="0" err="1">
                <a:solidFill>
                  <a:schemeClr val="bg1"/>
                </a:solidFill>
              </a:rPr>
              <a:t>услугата</a:t>
            </a:r>
            <a:r>
              <a:rPr lang="ru-RU" sz="1200" dirty="0">
                <a:solidFill>
                  <a:schemeClr val="bg1"/>
                </a:solidFill>
              </a:rPr>
              <a:t> </a:t>
            </a:r>
            <a:r>
              <a:rPr lang="ru-RU" sz="1200" dirty="0" err="1">
                <a:solidFill>
                  <a:schemeClr val="bg1"/>
                </a:solidFill>
              </a:rPr>
              <a:t>подобряват</a:t>
            </a:r>
            <a:r>
              <a:rPr lang="ru-RU" sz="1200" dirty="0">
                <a:solidFill>
                  <a:schemeClr val="bg1"/>
                </a:solidFill>
              </a:rPr>
              <a:t> живота или </a:t>
            </a:r>
            <a:r>
              <a:rPr lang="ru-RU" sz="1200" dirty="0" err="1">
                <a:solidFill>
                  <a:schemeClr val="bg1"/>
                </a:solidFill>
              </a:rPr>
              <a:t>решават</a:t>
            </a:r>
            <a:r>
              <a:rPr lang="ru-RU" sz="1200" dirty="0">
                <a:solidFill>
                  <a:schemeClr val="bg1"/>
                </a:solidFill>
              </a:rPr>
              <a:t> </a:t>
            </a:r>
            <a:r>
              <a:rPr lang="ru-RU" sz="1200" dirty="0" err="1">
                <a:solidFill>
                  <a:schemeClr val="bg1"/>
                </a:solidFill>
              </a:rPr>
              <a:t>проблемите</a:t>
            </a:r>
            <a:r>
              <a:rPr lang="ru-RU" sz="1200" dirty="0">
                <a:solidFill>
                  <a:schemeClr val="bg1"/>
                </a:solidFill>
              </a:rPr>
              <a:t> на клиента.</a:t>
            </a:r>
          </a:p>
          <a:p>
            <a:endParaRPr lang="ru-RU" sz="1200" dirty="0">
              <a:solidFill>
                <a:schemeClr val="bg1"/>
              </a:solidFill>
            </a:endParaRPr>
          </a:p>
          <a:p>
            <a:r>
              <a:rPr lang="ru-RU" sz="1200" b="1" dirty="0">
                <a:solidFill>
                  <a:schemeClr val="bg1"/>
                </a:solidFill>
              </a:rPr>
              <a:t>Пример: </a:t>
            </a:r>
            <a:r>
              <a:rPr lang="ru-RU" sz="1200" dirty="0" err="1">
                <a:solidFill>
                  <a:schemeClr val="bg1"/>
                </a:solidFill>
              </a:rPr>
              <a:t>Предлагам</a:t>
            </a:r>
            <a:r>
              <a:rPr lang="ru-RU" sz="1200" dirty="0">
                <a:solidFill>
                  <a:schemeClr val="bg1"/>
                </a:solidFill>
              </a:rPr>
              <a:t> за </a:t>
            </a:r>
            <a:r>
              <a:rPr lang="ru-RU" sz="1200" dirty="0" err="1">
                <a:solidFill>
                  <a:schemeClr val="bg1"/>
                </a:solidFill>
              </a:rPr>
              <a:t>обмисилим</a:t>
            </a:r>
            <a:r>
              <a:rPr lang="ru-RU" sz="1200" dirty="0">
                <a:solidFill>
                  <a:schemeClr val="bg1"/>
                </a:solidFill>
              </a:rPr>
              <a:t> добре </a:t>
            </a:r>
            <a:r>
              <a:rPr lang="ru-RU" sz="1200" dirty="0" err="1">
                <a:solidFill>
                  <a:schemeClr val="bg1"/>
                </a:solidFill>
              </a:rPr>
              <a:t>възможните</a:t>
            </a:r>
            <a:r>
              <a:rPr lang="ru-RU" sz="1200" dirty="0">
                <a:solidFill>
                  <a:schemeClr val="bg1"/>
                </a:solidFill>
              </a:rPr>
              <a:t> </a:t>
            </a:r>
            <a:r>
              <a:rPr lang="ru-RU" sz="1200" dirty="0" err="1">
                <a:solidFill>
                  <a:schemeClr val="bg1"/>
                </a:solidFill>
              </a:rPr>
              <a:t>варианти</a:t>
            </a:r>
            <a:r>
              <a:rPr lang="ru-RU" sz="1200" dirty="0">
                <a:solidFill>
                  <a:schemeClr val="bg1"/>
                </a:solidFill>
              </a:rPr>
              <a:t> и да </a:t>
            </a:r>
            <a:r>
              <a:rPr lang="ru-RU" sz="1200" dirty="0" err="1">
                <a:solidFill>
                  <a:schemeClr val="bg1"/>
                </a:solidFill>
              </a:rPr>
              <a:t>съобразим</a:t>
            </a:r>
            <a:r>
              <a:rPr lang="ru-RU" sz="1200" dirty="0">
                <a:solidFill>
                  <a:schemeClr val="bg1"/>
                </a:solidFill>
              </a:rPr>
              <a:t> </a:t>
            </a:r>
            <a:r>
              <a:rPr lang="ru-RU" sz="1200" dirty="0" err="1">
                <a:solidFill>
                  <a:schemeClr val="bg1"/>
                </a:solidFill>
              </a:rPr>
              <a:t>сумата</a:t>
            </a:r>
            <a:r>
              <a:rPr lang="ru-RU" sz="1200" dirty="0">
                <a:solidFill>
                  <a:schemeClr val="bg1"/>
                </a:solidFill>
              </a:rPr>
              <a:t> и срока на кредита с вас и </a:t>
            </a:r>
            <a:r>
              <a:rPr lang="ru-RU" sz="1200" dirty="0" err="1">
                <a:solidFill>
                  <a:schemeClr val="bg1"/>
                </a:solidFill>
              </a:rPr>
              <a:t>вашите</a:t>
            </a:r>
            <a:r>
              <a:rPr lang="ru-RU" sz="1200" dirty="0">
                <a:solidFill>
                  <a:schemeClr val="bg1"/>
                </a:solidFill>
              </a:rPr>
              <a:t> доходи, за да не </a:t>
            </a:r>
            <a:r>
              <a:rPr lang="ru-RU" sz="1200" dirty="0" err="1">
                <a:solidFill>
                  <a:schemeClr val="bg1"/>
                </a:solidFill>
              </a:rPr>
              <a:t>изпитвате</a:t>
            </a:r>
            <a:r>
              <a:rPr lang="ru-RU" sz="1200" dirty="0">
                <a:solidFill>
                  <a:schemeClr val="bg1"/>
                </a:solidFill>
              </a:rPr>
              <a:t> финансов дискомфорт</a:t>
            </a:r>
            <a:r>
              <a:rPr lang="ru-RU" dirty="0">
                <a:solidFill>
                  <a:schemeClr val="bg1"/>
                </a:solidFill>
              </a:rPr>
              <a:t>.</a:t>
            </a:r>
          </a:p>
          <a:p>
            <a:endParaRPr lang="ru-RU" sz="1200" dirty="0">
              <a:solidFill>
                <a:schemeClr val="bg1"/>
              </a:solidFill>
            </a:endParaRPr>
          </a:p>
          <a:p>
            <a:r>
              <a:rPr lang="bg-BG" sz="1200" b="1" dirty="0">
                <a:solidFill>
                  <a:schemeClr val="bg1"/>
                </a:solidFill>
              </a:rPr>
              <a:t>б) изтъкване на предимствата на продукта - </a:t>
            </a:r>
            <a:r>
              <a:rPr lang="ru-RU" sz="1200" dirty="0">
                <a:solidFill>
                  <a:schemeClr val="bg1"/>
                </a:solidFill>
              </a:rPr>
              <a:t>В </a:t>
            </a:r>
            <a:r>
              <a:rPr lang="ru-RU" sz="1200" dirty="0" err="1">
                <a:solidFill>
                  <a:schemeClr val="bg1"/>
                </a:solidFill>
              </a:rPr>
              <a:t>предложението</a:t>
            </a:r>
            <a:r>
              <a:rPr lang="ru-RU" sz="1200" dirty="0">
                <a:solidFill>
                  <a:schemeClr val="bg1"/>
                </a:solidFill>
              </a:rPr>
              <a:t> е </a:t>
            </a:r>
            <a:r>
              <a:rPr lang="ru-RU" sz="1200" dirty="0" err="1">
                <a:solidFill>
                  <a:schemeClr val="bg1"/>
                </a:solidFill>
              </a:rPr>
              <a:t>съществено</a:t>
            </a:r>
            <a:r>
              <a:rPr lang="ru-RU" sz="1200" dirty="0">
                <a:solidFill>
                  <a:schemeClr val="bg1"/>
                </a:solidFill>
              </a:rPr>
              <a:t> да </a:t>
            </a:r>
            <a:r>
              <a:rPr lang="ru-RU" sz="1200" b="1" dirty="0" err="1">
                <a:solidFill>
                  <a:schemeClr val="bg1"/>
                </a:solidFill>
              </a:rPr>
              <a:t>акцентираме</a:t>
            </a:r>
            <a:r>
              <a:rPr lang="ru-RU" sz="1200" b="1" dirty="0">
                <a:solidFill>
                  <a:schemeClr val="bg1"/>
                </a:solidFill>
              </a:rPr>
              <a:t> </a:t>
            </a:r>
            <a:r>
              <a:rPr lang="ru-RU" sz="1200" b="1" dirty="0" err="1">
                <a:solidFill>
                  <a:schemeClr val="bg1"/>
                </a:solidFill>
              </a:rPr>
              <a:t>върху</a:t>
            </a:r>
            <a:r>
              <a:rPr lang="ru-RU" sz="1200" b="1" dirty="0">
                <a:solidFill>
                  <a:schemeClr val="bg1"/>
                </a:solidFill>
              </a:rPr>
              <a:t> </a:t>
            </a:r>
            <a:r>
              <a:rPr lang="ru-RU" sz="1200" b="1" dirty="0" err="1">
                <a:solidFill>
                  <a:schemeClr val="bg1"/>
                </a:solidFill>
              </a:rPr>
              <a:t>уникалността</a:t>
            </a:r>
            <a:r>
              <a:rPr lang="ru-RU" sz="1200" b="1" dirty="0">
                <a:solidFill>
                  <a:schemeClr val="bg1"/>
                </a:solidFill>
              </a:rPr>
              <a:t> и </a:t>
            </a:r>
            <a:r>
              <a:rPr lang="ru-RU" sz="1200" b="1" dirty="0" err="1">
                <a:solidFill>
                  <a:schemeClr val="bg1"/>
                </a:solidFill>
              </a:rPr>
              <a:t>конкурентните</a:t>
            </a:r>
            <a:r>
              <a:rPr lang="ru-RU" sz="1200" b="1" dirty="0">
                <a:solidFill>
                  <a:schemeClr val="bg1"/>
                </a:solidFill>
              </a:rPr>
              <a:t> </a:t>
            </a:r>
            <a:r>
              <a:rPr lang="ru-RU" sz="1200" b="1" dirty="0" err="1">
                <a:solidFill>
                  <a:schemeClr val="bg1"/>
                </a:solidFill>
              </a:rPr>
              <a:t>предимства</a:t>
            </a:r>
            <a:r>
              <a:rPr lang="ru-RU" sz="1200" dirty="0">
                <a:solidFill>
                  <a:schemeClr val="bg1"/>
                </a:solidFill>
              </a:rPr>
              <a:t> на продукта или </a:t>
            </a:r>
            <a:r>
              <a:rPr lang="ru-RU" sz="1200" dirty="0" err="1">
                <a:solidFill>
                  <a:schemeClr val="bg1"/>
                </a:solidFill>
              </a:rPr>
              <a:t>услугата</a:t>
            </a:r>
            <a:r>
              <a:rPr lang="ru-RU" sz="1200" dirty="0">
                <a:solidFill>
                  <a:schemeClr val="bg1"/>
                </a:solidFill>
              </a:rPr>
              <a:t>.</a:t>
            </a:r>
          </a:p>
          <a:p>
            <a:endParaRPr lang="ru-RU" sz="1200" b="1" dirty="0">
              <a:solidFill>
                <a:schemeClr val="bg1"/>
              </a:solidFill>
            </a:endParaRPr>
          </a:p>
          <a:p>
            <a:r>
              <a:rPr lang="ru-RU" sz="1200" b="1" dirty="0">
                <a:solidFill>
                  <a:schemeClr val="bg1"/>
                </a:solidFill>
              </a:rPr>
              <a:t>Пример: </a:t>
            </a:r>
            <a:r>
              <a:rPr lang="ru-RU" sz="1200" dirty="0">
                <a:solidFill>
                  <a:schemeClr val="bg1"/>
                </a:solidFill>
              </a:rPr>
              <a:t>За </a:t>
            </a:r>
            <a:r>
              <a:rPr lang="ru-RU" sz="1200" dirty="0" err="1">
                <a:solidFill>
                  <a:schemeClr val="bg1"/>
                </a:solidFill>
              </a:rPr>
              <a:t>разлика</a:t>
            </a:r>
            <a:r>
              <a:rPr lang="ru-RU" sz="1200" dirty="0">
                <a:solidFill>
                  <a:schemeClr val="bg1"/>
                </a:solidFill>
              </a:rPr>
              <a:t> от </a:t>
            </a:r>
            <a:r>
              <a:rPr lang="ru-RU" sz="1200" dirty="0" err="1">
                <a:solidFill>
                  <a:schemeClr val="bg1"/>
                </a:solidFill>
              </a:rPr>
              <a:t>обикновените</a:t>
            </a:r>
            <a:r>
              <a:rPr lang="ru-RU" sz="1200" dirty="0">
                <a:solidFill>
                  <a:schemeClr val="bg1"/>
                </a:solidFill>
              </a:rPr>
              <a:t> </a:t>
            </a:r>
            <a:r>
              <a:rPr lang="ru-RU" sz="1200" dirty="0" err="1">
                <a:solidFill>
                  <a:schemeClr val="bg1"/>
                </a:solidFill>
              </a:rPr>
              <a:t>потребителски</a:t>
            </a:r>
            <a:r>
              <a:rPr lang="ru-RU" sz="1200" dirty="0">
                <a:solidFill>
                  <a:schemeClr val="bg1"/>
                </a:solidFill>
              </a:rPr>
              <a:t> </a:t>
            </a:r>
            <a:r>
              <a:rPr lang="ru-RU" sz="1200" dirty="0" err="1">
                <a:solidFill>
                  <a:schemeClr val="bg1"/>
                </a:solidFill>
              </a:rPr>
              <a:t>кредити</a:t>
            </a:r>
            <a:r>
              <a:rPr lang="ru-RU" sz="1200" dirty="0">
                <a:solidFill>
                  <a:schemeClr val="bg1"/>
                </a:solidFill>
              </a:rPr>
              <a:t>, </a:t>
            </a:r>
            <a:r>
              <a:rPr lang="ru-RU" sz="1200" dirty="0" err="1">
                <a:solidFill>
                  <a:schemeClr val="bg1"/>
                </a:solidFill>
              </a:rPr>
              <a:t>ние</a:t>
            </a:r>
            <a:r>
              <a:rPr lang="ru-RU" sz="1200" dirty="0">
                <a:solidFill>
                  <a:schemeClr val="bg1"/>
                </a:solidFill>
              </a:rPr>
              <a:t> можем да предложим </a:t>
            </a:r>
            <a:r>
              <a:rPr lang="ru-RU" sz="1200" dirty="0" err="1">
                <a:solidFill>
                  <a:schemeClr val="bg1"/>
                </a:solidFill>
              </a:rPr>
              <a:t>изключително</a:t>
            </a:r>
            <a:r>
              <a:rPr lang="ru-RU" sz="1200" dirty="0">
                <a:solidFill>
                  <a:schemeClr val="bg1"/>
                </a:solidFill>
              </a:rPr>
              <a:t> </a:t>
            </a:r>
            <a:r>
              <a:rPr lang="ru-RU" sz="1200" dirty="0" err="1">
                <a:solidFill>
                  <a:schemeClr val="bg1"/>
                </a:solidFill>
              </a:rPr>
              <a:t>гъвкаво</a:t>
            </a:r>
            <a:r>
              <a:rPr lang="ru-RU" sz="1200" dirty="0">
                <a:solidFill>
                  <a:schemeClr val="bg1"/>
                </a:solidFill>
              </a:rPr>
              <a:t> </a:t>
            </a:r>
            <a:r>
              <a:rPr lang="ru-RU" sz="1200" dirty="0" err="1">
                <a:solidFill>
                  <a:schemeClr val="bg1"/>
                </a:solidFill>
              </a:rPr>
              <a:t>плащане</a:t>
            </a:r>
            <a:r>
              <a:rPr lang="ru-RU" sz="1200" dirty="0">
                <a:solidFill>
                  <a:schemeClr val="bg1"/>
                </a:solidFill>
              </a:rPr>
              <a:t>, </a:t>
            </a:r>
            <a:r>
              <a:rPr lang="ru-RU" sz="1200" dirty="0" err="1">
                <a:solidFill>
                  <a:schemeClr val="bg1"/>
                </a:solidFill>
              </a:rPr>
              <a:t>съобразено</a:t>
            </a:r>
            <a:r>
              <a:rPr lang="ru-RU" sz="1200" dirty="0">
                <a:solidFill>
                  <a:schemeClr val="bg1"/>
                </a:solidFill>
              </a:rPr>
              <a:t> с доходите в </a:t>
            </a:r>
            <a:r>
              <a:rPr lang="ru-RU" sz="1200" dirty="0" err="1">
                <a:solidFill>
                  <a:schemeClr val="bg1"/>
                </a:solidFill>
              </a:rPr>
              <a:t>домакинството</a:t>
            </a:r>
            <a:r>
              <a:rPr lang="ru-RU" sz="1200" dirty="0">
                <a:solidFill>
                  <a:schemeClr val="bg1"/>
                </a:solidFill>
              </a:rPr>
              <a:t> и </a:t>
            </a:r>
            <a:r>
              <a:rPr lang="ru-RU" sz="1200" dirty="0" err="1">
                <a:solidFill>
                  <a:schemeClr val="bg1"/>
                </a:solidFill>
              </a:rPr>
              <a:t>датите</a:t>
            </a:r>
            <a:r>
              <a:rPr lang="ru-RU" sz="1200" dirty="0">
                <a:solidFill>
                  <a:schemeClr val="bg1"/>
                </a:solidFill>
              </a:rPr>
              <a:t> на </a:t>
            </a:r>
            <a:r>
              <a:rPr lang="ru-RU" sz="1200" dirty="0" err="1">
                <a:solidFill>
                  <a:schemeClr val="bg1"/>
                </a:solidFill>
              </a:rPr>
              <a:t>получаване</a:t>
            </a:r>
            <a:r>
              <a:rPr lang="ru-RU" sz="1200" dirty="0">
                <a:solidFill>
                  <a:schemeClr val="bg1"/>
                </a:solidFill>
              </a:rPr>
              <a:t> на </a:t>
            </a:r>
            <a:r>
              <a:rPr lang="ru-RU" sz="1200" dirty="0" err="1">
                <a:solidFill>
                  <a:schemeClr val="bg1"/>
                </a:solidFill>
              </a:rPr>
              <a:t>средствата</a:t>
            </a:r>
            <a:r>
              <a:rPr lang="ru-RU" sz="1200" dirty="0">
                <a:solidFill>
                  <a:schemeClr val="bg1"/>
                </a:solidFill>
              </a:rPr>
              <a:t>, </a:t>
            </a:r>
            <a:r>
              <a:rPr lang="ru-RU" sz="1200" dirty="0" err="1">
                <a:solidFill>
                  <a:schemeClr val="bg1"/>
                </a:solidFill>
              </a:rPr>
              <a:t>вашето</a:t>
            </a:r>
            <a:r>
              <a:rPr lang="ru-RU" sz="1200" dirty="0">
                <a:solidFill>
                  <a:schemeClr val="bg1"/>
                </a:solidFill>
              </a:rPr>
              <a:t> лично време.</a:t>
            </a:r>
          </a:p>
          <a:p>
            <a:endParaRPr lang="ru-RU" sz="1200" dirty="0">
              <a:solidFill>
                <a:schemeClr val="bg1"/>
              </a:solidFill>
            </a:endParaRPr>
          </a:p>
          <a:p>
            <a:endParaRPr lang="bg-BG" sz="1200" dirty="0">
              <a:solidFill>
                <a:schemeClr val="bg1"/>
              </a:solidFill>
            </a:endParaRPr>
          </a:p>
        </p:txBody>
      </p:sp>
      <p:sp>
        <p:nvSpPr>
          <p:cNvPr id="16" name="Rectangle: Rounded Corners 15">
            <a:extLst>
              <a:ext uri="{FF2B5EF4-FFF2-40B4-BE49-F238E27FC236}">
                <a16:creationId xmlns:a16="http://schemas.microsoft.com/office/drawing/2014/main" id="{7327F321-DE3B-4AA3-89F1-006FFA8583D9}"/>
              </a:ext>
            </a:extLst>
          </p:cNvPr>
          <p:cNvSpPr/>
          <p:nvPr/>
        </p:nvSpPr>
        <p:spPr>
          <a:xfrm>
            <a:off x="1896198" y="1956771"/>
            <a:ext cx="2932281" cy="677242"/>
          </a:xfrm>
          <a:prstGeom prst="round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600"/>
              <a:t>Идентифициране на нужди</a:t>
            </a:r>
            <a:endParaRPr lang="en-GB" sz="1600"/>
          </a:p>
        </p:txBody>
      </p:sp>
      <p:sp>
        <p:nvSpPr>
          <p:cNvPr id="21" name="Rectangle: Rounded Corners 20">
            <a:extLst>
              <a:ext uri="{FF2B5EF4-FFF2-40B4-BE49-F238E27FC236}">
                <a16:creationId xmlns:a16="http://schemas.microsoft.com/office/drawing/2014/main" id="{FC10F599-3789-4B77-B12B-01C8F747EED7}"/>
              </a:ext>
            </a:extLst>
          </p:cNvPr>
          <p:cNvSpPr/>
          <p:nvPr/>
        </p:nvSpPr>
        <p:spPr>
          <a:xfrm>
            <a:off x="1896198" y="1146226"/>
            <a:ext cx="2932281" cy="677242"/>
          </a:xfrm>
          <a:prstGeom prst="round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600"/>
              <a:t>Отваряне на разговор</a:t>
            </a:r>
            <a:endParaRPr lang="en-GB" sz="1600"/>
          </a:p>
        </p:txBody>
      </p:sp>
      <p:sp>
        <p:nvSpPr>
          <p:cNvPr id="22" name="Rectangle: Rounded Corners 21">
            <a:extLst>
              <a:ext uri="{FF2B5EF4-FFF2-40B4-BE49-F238E27FC236}">
                <a16:creationId xmlns:a16="http://schemas.microsoft.com/office/drawing/2014/main" id="{45790370-309E-48EE-BE47-E634A3E4804A}"/>
              </a:ext>
            </a:extLst>
          </p:cNvPr>
          <p:cNvSpPr/>
          <p:nvPr/>
        </p:nvSpPr>
        <p:spPr>
          <a:xfrm>
            <a:off x="1896198" y="3577861"/>
            <a:ext cx="2932281" cy="677242"/>
          </a:xfrm>
          <a:prstGeom prst="round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600"/>
              <a:t>Справяне с възражения</a:t>
            </a:r>
            <a:endParaRPr lang="en-GB" sz="1600"/>
          </a:p>
        </p:txBody>
      </p:sp>
      <p:sp>
        <p:nvSpPr>
          <p:cNvPr id="23" name="Rectangle: Rounded Corners 22">
            <a:extLst>
              <a:ext uri="{FF2B5EF4-FFF2-40B4-BE49-F238E27FC236}">
                <a16:creationId xmlns:a16="http://schemas.microsoft.com/office/drawing/2014/main" id="{28CF2CB1-A274-4893-994C-87896D068C61}"/>
              </a:ext>
            </a:extLst>
          </p:cNvPr>
          <p:cNvSpPr/>
          <p:nvPr/>
        </p:nvSpPr>
        <p:spPr>
          <a:xfrm>
            <a:off x="1896198" y="4388406"/>
            <a:ext cx="2932281" cy="677242"/>
          </a:xfrm>
          <a:prstGeom prst="round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600"/>
              <a:t>Затваряне</a:t>
            </a:r>
            <a:endParaRPr lang="en-GB" sz="1600"/>
          </a:p>
        </p:txBody>
      </p:sp>
      <p:sp>
        <p:nvSpPr>
          <p:cNvPr id="24" name="Rectangle 13">
            <a:extLst>
              <a:ext uri="{FF2B5EF4-FFF2-40B4-BE49-F238E27FC236}">
                <a16:creationId xmlns:a16="http://schemas.microsoft.com/office/drawing/2014/main" id="{DC79DA1E-A920-45C3-A3F8-733C92C095AA}"/>
              </a:ext>
            </a:extLst>
          </p:cNvPr>
          <p:cNvSpPr/>
          <p:nvPr/>
        </p:nvSpPr>
        <p:spPr>
          <a:xfrm>
            <a:off x="1896198" y="2767316"/>
            <a:ext cx="2932281" cy="677242"/>
          </a:xfrm>
          <a:prstGeom prst="roundRect">
            <a:avLst/>
          </a:prstGeom>
          <a:solidFill>
            <a:srgbClr val="4472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600"/>
              <a:t>Предложение</a:t>
            </a:r>
            <a:endParaRPr lang="en-GB" sz="1600"/>
          </a:p>
        </p:txBody>
      </p:sp>
      <p:sp>
        <p:nvSpPr>
          <p:cNvPr id="25" name="Rectangle 3">
            <a:extLst>
              <a:ext uri="{FF2B5EF4-FFF2-40B4-BE49-F238E27FC236}">
                <a16:creationId xmlns:a16="http://schemas.microsoft.com/office/drawing/2014/main" id="{801C9224-7537-4CFE-8FD0-D2EC6278CB03}"/>
              </a:ext>
            </a:extLst>
          </p:cNvPr>
          <p:cNvSpPr/>
          <p:nvPr/>
        </p:nvSpPr>
        <p:spPr>
          <a:xfrm>
            <a:off x="1443475" y="4245"/>
            <a:ext cx="5338363" cy="677242"/>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26" name="Rectangle 4">
            <a:extLst>
              <a:ext uri="{FF2B5EF4-FFF2-40B4-BE49-F238E27FC236}">
                <a16:creationId xmlns:a16="http://schemas.microsoft.com/office/drawing/2014/main" id="{835A32C9-8237-4A5B-9989-F85F13D5B43C}"/>
              </a:ext>
            </a:extLst>
          </p:cNvPr>
          <p:cNvSpPr/>
          <p:nvPr/>
        </p:nvSpPr>
        <p:spPr>
          <a:xfrm>
            <a:off x="6788435" y="4245"/>
            <a:ext cx="5417300" cy="677242"/>
          </a:xfrm>
          <a:prstGeom prst="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27" name="Rectangle 26">
            <a:extLst>
              <a:ext uri="{FF2B5EF4-FFF2-40B4-BE49-F238E27FC236}">
                <a16:creationId xmlns:a16="http://schemas.microsoft.com/office/drawing/2014/main" id="{9D4FD732-B684-466F-A183-1FDA9DC2E5FE}"/>
              </a:ext>
            </a:extLst>
          </p:cNvPr>
          <p:cNvSpPr/>
          <p:nvPr/>
        </p:nvSpPr>
        <p:spPr>
          <a:xfrm>
            <a:off x="-1671" y="1599"/>
            <a:ext cx="1451167" cy="6866954"/>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200">
              <a:latin typeface="Aptos"/>
              <a:ea typeface="Calibri"/>
              <a:cs typeface="Calibri"/>
            </a:endParaRPr>
          </a:p>
        </p:txBody>
      </p:sp>
      <p:sp>
        <p:nvSpPr>
          <p:cNvPr id="28" name="Rectangle 27">
            <a:extLst>
              <a:ext uri="{FF2B5EF4-FFF2-40B4-BE49-F238E27FC236}">
                <a16:creationId xmlns:a16="http://schemas.microsoft.com/office/drawing/2014/main" id="{D0992AC7-1BC1-440F-97BE-3D29F3736CB3}"/>
              </a:ext>
            </a:extLst>
          </p:cNvPr>
          <p:cNvSpPr/>
          <p:nvPr/>
        </p:nvSpPr>
        <p:spPr>
          <a:xfrm>
            <a:off x="-1671" y="2528038"/>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Типове клиенти</a:t>
            </a:r>
            <a:endParaRPr lang="en-GB" sz="1400">
              <a:latin typeface="Aptos"/>
              <a:ea typeface="Calibri"/>
              <a:cs typeface="Calibri"/>
            </a:endParaRPr>
          </a:p>
        </p:txBody>
      </p:sp>
      <p:sp>
        <p:nvSpPr>
          <p:cNvPr id="29" name="Rectangle 28">
            <a:extLst>
              <a:ext uri="{FF2B5EF4-FFF2-40B4-BE49-F238E27FC236}">
                <a16:creationId xmlns:a16="http://schemas.microsoft.com/office/drawing/2014/main" id="{C263CA20-C60E-47C3-B53E-C872481EB08B}"/>
              </a:ext>
            </a:extLst>
          </p:cNvPr>
          <p:cNvSpPr/>
          <p:nvPr/>
        </p:nvSpPr>
        <p:spPr>
          <a:xfrm>
            <a:off x="8626" y="1913210"/>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Сценарии</a:t>
            </a:r>
            <a:endParaRPr lang="en-GB" sz="1400">
              <a:latin typeface="Aptos"/>
              <a:ea typeface="Calibri"/>
              <a:cs typeface="Calibri"/>
            </a:endParaRPr>
          </a:p>
        </p:txBody>
      </p:sp>
      <p:sp>
        <p:nvSpPr>
          <p:cNvPr id="30" name="Rectangle 29">
            <a:extLst>
              <a:ext uri="{FF2B5EF4-FFF2-40B4-BE49-F238E27FC236}">
                <a16:creationId xmlns:a16="http://schemas.microsoft.com/office/drawing/2014/main" id="{E4C94EA5-5882-45D2-BB45-BCA31ABC0A95}"/>
              </a:ext>
            </a:extLst>
          </p:cNvPr>
          <p:cNvSpPr/>
          <p:nvPr/>
        </p:nvSpPr>
        <p:spPr>
          <a:xfrm>
            <a:off x="-1671" y="1298382"/>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b="1">
                <a:solidFill>
                  <a:schemeClr val="tx2"/>
                </a:solidFill>
                <a:latin typeface="Aptos"/>
                <a:ea typeface="Calibri"/>
                <a:cs typeface="Calibri"/>
              </a:rPr>
              <a:t>Стъпки при среща</a:t>
            </a:r>
            <a:endParaRPr lang="bg-BG" sz="1400">
              <a:solidFill>
                <a:srgbClr val="000000"/>
              </a:solidFill>
              <a:latin typeface="Aptos"/>
              <a:ea typeface="Calibri"/>
              <a:cs typeface="Calibri"/>
            </a:endParaRPr>
          </a:p>
        </p:txBody>
      </p:sp>
      <p:sp>
        <p:nvSpPr>
          <p:cNvPr id="31" name="Rectangle 28">
            <a:extLst>
              <a:ext uri="{FF2B5EF4-FFF2-40B4-BE49-F238E27FC236}">
                <a16:creationId xmlns:a16="http://schemas.microsoft.com/office/drawing/2014/main" id="{639D07AE-421A-48BC-9ED6-7F0C011795AA}"/>
              </a:ext>
            </a:extLst>
          </p:cNvPr>
          <p:cNvSpPr/>
          <p:nvPr/>
        </p:nvSpPr>
        <p:spPr>
          <a:xfrm>
            <a:off x="6154" y="690328"/>
            <a:ext cx="1435083"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a:solidFill>
                  <a:schemeClr val="bg1"/>
                </a:solidFill>
                <a:latin typeface="Aptos"/>
                <a:ea typeface="Calibri"/>
                <a:cs typeface="Calibri"/>
              </a:rPr>
              <a:t>Подготовка</a:t>
            </a:r>
            <a:endParaRPr lang="en-GB" sz="1400">
              <a:solidFill>
                <a:schemeClr val="bg1"/>
              </a:solidFill>
              <a:latin typeface="Aptos"/>
              <a:ea typeface="Calibri"/>
              <a:cs typeface="Calibri"/>
            </a:endParaRPr>
          </a:p>
        </p:txBody>
      </p:sp>
      <p:pic>
        <p:nvPicPr>
          <p:cNvPr id="32" name="Picture 31">
            <a:extLst>
              <a:ext uri="{FF2B5EF4-FFF2-40B4-BE49-F238E27FC236}">
                <a16:creationId xmlns:a16="http://schemas.microsoft.com/office/drawing/2014/main" id="{54848E0A-2587-468A-AE93-0E27896D9B13}"/>
              </a:ext>
            </a:extLst>
          </p:cNvPr>
          <p:cNvPicPr>
            <a:picLocks noChangeAspect="1"/>
          </p:cNvPicPr>
          <p:nvPr/>
        </p:nvPicPr>
        <p:blipFill>
          <a:blip r:embed="rId4"/>
          <a:stretch>
            <a:fillRect/>
          </a:stretch>
        </p:blipFill>
        <p:spPr>
          <a:xfrm>
            <a:off x="11045226" y="5771432"/>
            <a:ext cx="982751" cy="995681"/>
          </a:xfrm>
          <a:prstGeom prst="rect">
            <a:avLst/>
          </a:prstGeom>
        </p:spPr>
      </p:pic>
    </p:spTree>
    <p:extLst>
      <p:ext uri="{BB962C8B-B14F-4D97-AF65-F5344CB8AC3E}">
        <p14:creationId xmlns:p14="http://schemas.microsoft.com/office/powerpoint/2010/main" val="3064286501"/>
      </p:ext>
    </p:extLst>
  </p:cSld>
  <p:clrMapOvr>
    <a:masterClrMapping/>
  </p:clrMapOvr>
  <p:extLst>
    <p:ext uri="{6950BFC3-D8DA-4A85-94F7-54DA5524770B}">
      <p188:commentRel xmlns:p188="http://schemas.microsoft.com/office/powerpoint/2018/8/main" r:id="rId3"/>
    </p:ext>
  </p:extLs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B5C517-1EF3-F589-648D-DDB5A5EF5978}"/>
            </a:ext>
          </a:extLst>
        </p:cNvPr>
        <p:cNvGrpSpPr/>
        <p:nvPr/>
      </p:nvGrpSpPr>
      <p:grpSpPr>
        <a:xfrm>
          <a:off x="0" y="0"/>
          <a:ext cx="0" cy="0"/>
          <a:chOff x="0" y="0"/>
          <a:chExt cx="0" cy="0"/>
        </a:xfrm>
      </p:grpSpPr>
      <p:sp>
        <p:nvSpPr>
          <p:cNvPr id="30" name="Rectangle: Rounded Corners 29">
            <a:extLst>
              <a:ext uri="{FF2B5EF4-FFF2-40B4-BE49-F238E27FC236}">
                <a16:creationId xmlns:a16="http://schemas.microsoft.com/office/drawing/2014/main" id="{2C402BF4-D0F5-43DF-8EE3-6F0FE1F26E60}"/>
              </a:ext>
            </a:extLst>
          </p:cNvPr>
          <p:cNvSpPr/>
          <p:nvPr/>
        </p:nvSpPr>
        <p:spPr>
          <a:xfrm>
            <a:off x="1896198" y="1956771"/>
            <a:ext cx="2932281" cy="677242"/>
          </a:xfrm>
          <a:prstGeom prst="round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600"/>
              <a:t>Идентифициране на нужди</a:t>
            </a:r>
            <a:endParaRPr lang="en-GB" sz="1600"/>
          </a:p>
        </p:txBody>
      </p:sp>
      <p:sp>
        <p:nvSpPr>
          <p:cNvPr id="31" name="Rectangle: Rounded Corners 30">
            <a:extLst>
              <a:ext uri="{FF2B5EF4-FFF2-40B4-BE49-F238E27FC236}">
                <a16:creationId xmlns:a16="http://schemas.microsoft.com/office/drawing/2014/main" id="{9755D179-B8BB-4FBA-8116-D813EC933692}"/>
              </a:ext>
            </a:extLst>
          </p:cNvPr>
          <p:cNvSpPr/>
          <p:nvPr/>
        </p:nvSpPr>
        <p:spPr>
          <a:xfrm>
            <a:off x="1896198" y="1146226"/>
            <a:ext cx="2932281" cy="677242"/>
          </a:xfrm>
          <a:prstGeom prst="round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600"/>
              <a:t>Отваряне на разговор</a:t>
            </a:r>
            <a:endParaRPr lang="en-GB" sz="1600"/>
          </a:p>
        </p:txBody>
      </p:sp>
      <p:sp>
        <p:nvSpPr>
          <p:cNvPr id="32" name="Rectangle: Rounded Corners 31">
            <a:extLst>
              <a:ext uri="{FF2B5EF4-FFF2-40B4-BE49-F238E27FC236}">
                <a16:creationId xmlns:a16="http://schemas.microsoft.com/office/drawing/2014/main" id="{715D252E-3B53-47A5-BB71-E92E9DFC35AD}"/>
              </a:ext>
            </a:extLst>
          </p:cNvPr>
          <p:cNvSpPr/>
          <p:nvPr/>
        </p:nvSpPr>
        <p:spPr>
          <a:xfrm>
            <a:off x="1896198" y="3577861"/>
            <a:ext cx="2932281" cy="677242"/>
          </a:xfrm>
          <a:prstGeom prst="roundRect">
            <a:avLst/>
          </a:prstGeom>
          <a:solidFill>
            <a:srgbClr val="4472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600"/>
              <a:t>Справяне с възражения</a:t>
            </a:r>
            <a:endParaRPr lang="en-GB" sz="1600"/>
          </a:p>
        </p:txBody>
      </p:sp>
      <p:sp>
        <p:nvSpPr>
          <p:cNvPr id="33" name="Rectangle: Rounded Corners 32">
            <a:extLst>
              <a:ext uri="{FF2B5EF4-FFF2-40B4-BE49-F238E27FC236}">
                <a16:creationId xmlns:a16="http://schemas.microsoft.com/office/drawing/2014/main" id="{845C0A3D-50AD-4CA8-A117-48BD95529CDC}"/>
              </a:ext>
            </a:extLst>
          </p:cNvPr>
          <p:cNvSpPr/>
          <p:nvPr/>
        </p:nvSpPr>
        <p:spPr>
          <a:xfrm>
            <a:off x="1896198" y="4388406"/>
            <a:ext cx="2932281" cy="677242"/>
          </a:xfrm>
          <a:prstGeom prst="round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600"/>
              <a:t>Затваряне</a:t>
            </a:r>
            <a:endParaRPr lang="en-GB" sz="1600"/>
          </a:p>
        </p:txBody>
      </p:sp>
      <p:sp>
        <p:nvSpPr>
          <p:cNvPr id="34" name="Rectangle 13">
            <a:extLst>
              <a:ext uri="{FF2B5EF4-FFF2-40B4-BE49-F238E27FC236}">
                <a16:creationId xmlns:a16="http://schemas.microsoft.com/office/drawing/2014/main" id="{2D5E4279-FC46-4909-B0EF-7275BA27B56C}"/>
              </a:ext>
            </a:extLst>
          </p:cNvPr>
          <p:cNvSpPr/>
          <p:nvPr/>
        </p:nvSpPr>
        <p:spPr>
          <a:xfrm>
            <a:off x="1896198" y="2767316"/>
            <a:ext cx="2932281" cy="677242"/>
          </a:xfrm>
          <a:prstGeom prst="round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600"/>
              <a:t>Предложение</a:t>
            </a:r>
            <a:endParaRPr lang="en-GB" sz="1600"/>
          </a:p>
        </p:txBody>
      </p:sp>
      <p:sp>
        <p:nvSpPr>
          <p:cNvPr id="35" name="Rectangle 3">
            <a:extLst>
              <a:ext uri="{FF2B5EF4-FFF2-40B4-BE49-F238E27FC236}">
                <a16:creationId xmlns:a16="http://schemas.microsoft.com/office/drawing/2014/main" id="{FABEF15F-03F9-4E9F-B984-26EB9FA34AD7}"/>
              </a:ext>
            </a:extLst>
          </p:cNvPr>
          <p:cNvSpPr/>
          <p:nvPr/>
        </p:nvSpPr>
        <p:spPr>
          <a:xfrm>
            <a:off x="1443475" y="4245"/>
            <a:ext cx="5338363" cy="677242"/>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36" name="Rectangle 4">
            <a:extLst>
              <a:ext uri="{FF2B5EF4-FFF2-40B4-BE49-F238E27FC236}">
                <a16:creationId xmlns:a16="http://schemas.microsoft.com/office/drawing/2014/main" id="{3293CB32-D00F-45AC-8844-A57A952C2260}"/>
              </a:ext>
            </a:extLst>
          </p:cNvPr>
          <p:cNvSpPr/>
          <p:nvPr/>
        </p:nvSpPr>
        <p:spPr>
          <a:xfrm>
            <a:off x="6788435" y="4245"/>
            <a:ext cx="5417300" cy="677242"/>
          </a:xfrm>
          <a:prstGeom prst="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37" name="Rectangle 36">
            <a:extLst>
              <a:ext uri="{FF2B5EF4-FFF2-40B4-BE49-F238E27FC236}">
                <a16:creationId xmlns:a16="http://schemas.microsoft.com/office/drawing/2014/main" id="{7AC7A2F6-7722-4C0B-AC87-727B4D8BD4A1}"/>
              </a:ext>
            </a:extLst>
          </p:cNvPr>
          <p:cNvSpPr/>
          <p:nvPr/>
        </p:nvSpPr>
        <p:spPr>
          <a:xfrm>
            <a:off x="-1671" y="1599"/>
            <a:ext cx="1451167" cy="6866954"/>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200">
              <a:latin typeface="Aptos"/>
              <a:ea typeface="Calibri"/>
              <a:cs typeface="Calibri"/>
            </a:endParaRPr>
          </a:p>
        </p:txBody>
      </p:sp>
      <p:sp>
        <p:nvSpPr>
          <p:cNvPr id="38" name="Rectangle 37">
            <a:extLst>
              <a:ext uri="{FF2B5EF4-FFF2-40B4-BE49-F238E27FC236}">
                <a16:creationId xmlns:a16="http://schemas.microsoft.com/office/drawing/2014/main" id="{5ED7378A-07C3-401B-9FA3-A6691CC01755}"/>
              </a:ext>
            </a:extLst>
          </p:cNvPr>
          <p:cNvSpPr/>
          <p:nvPr/>
        </p:nvSpPr>
        <p:spPr>
          <a:xfrm>
            <a:off x="-1671" y="2528038"/>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Типове клиенти</a:t>
            </a:r>
            <a:endParaRPr lang="en-GB" sz="1400">
              <a:latin typeface="Aptos"/>
              <a:ea typeface="Calibri"/>
              <a:cs typeface="Calibri"/>
            </a:endParaRPr>
          </a:p>
        </p:txBody>
      </p:sp>
      <p:sp>
        <p:nvSpPr>
          <p:cNvPr id="39" name="Rectangle 38">
            <a:extLst>
              <a:ext uri="{FF2B5EF4-FFF2-40B4-BE49-F238E27FC236}">
                <a16:creationId xmlns:a16="http://schemas.microsoft.com/office/drawing/2014/main" id="{CA63B424-E43B-42F7-AB13-EED32A89F5F7}"/>
              </a:ext>
            </a:extLst>
          </p:cNvPr>
          <p:cNvSpPr/>
          <p:nvPr/>
        </p:nvSpPr>
        <p:spPr>
          <a:xfrm>
            <a:off x="8626" y="1913210"/>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Сценарии</a:t>
            </a:r>
            <a:endParaRPr lang="en-GB" sz="1400">
              <a:latin typeface="Aptos"/>
              <a:ea typeface="Calibri"/>
              <a:cs typeface="Calibri"/>
            </a:endParaRPr>
          </a:p>
        </p:txBody>
      </p:sp>
      <p:sp>
        <p:nvSpPr>
          <p:cNvPr id="40" name="Rectangle 39">
            <a:extLst>
              <a:ext uri="{FF2B5EF4-FFF2-40B4-BE49-F238E27FC236}">
                <a16:creationId xmlns:a16="http://schemas.microsoft.com/office/drawing/2014/main" id="{F1A1DF79-2B11-426F-ADE6-CE21C8D863C7}"/>
              </a:ext>
            </a:extLst>
          </p:cNvPr>
          <p:cNvSpPr/>
          <p:nvPr/>
        </p:nvSpPr>
        <p:spPr>
          <a:xfrm>
            <a:off x="-1671" y="1298382"/>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b="1">
                <a:solidFill>
                  <a:schemeClr val="tx2"/>
                </a:solidFill>
                <a:latin typeface="Aptos"/>
                <a:ea typeface="Calibri"/>
                <a:cs typeface="Calibri"/>
              </a:rPr>
              <a:t>Стъпки при среща</a:t>
            </a:r>
            <a:endParaRPr lang="bg-BG" sz="1400">
              <a:solidFill>
                <a:srgbClr val="000000"/>
              </a:solidFill>
              <a:latin typeface="Aptos"/>
              <a:ea typeface="Calibri"/>
              <a:cs typeface="Calibri"/>
            </a:endParaRPr>
          </a:p>
        </p:txBody>
      </p:sp>
      <p:sp>
        <p:nvSpPr>
          <p:cNvPr id="41" name="Rectangle 28">
            <a:extLst>
              <a:ext uri="{FF2B5EF4-FFF2-40B4-BE49-F238E27FC236}">
                <a16:creationId xmlns:a16="http://schemas.microsoft.com/office/drawing/2014/main" id="{93E58A2E-E4F9-4E39-8446-1C158C25A972}"/>
              </a:ext>
            </a:extLst>
          </p:cNvPr>
          <p:cNvSpPr/>
          <p:nvPr/>
        </p:nvSpPr>
        <p:spPr>
          <a:xfrm>
            <a:off x="6154" y="690328"/>
            <a:ext cx="1435083"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a:solidFill>
                  <a:schemeClr val="bg1"/>
                </a:solidFill>
                <a:latin typeface="Aptos"/>
                <a:ea typeface="Calibri"/>
                <a:cs typeface="Calibri"/>
              </a:rPr>
              <a:t>Подготовка</a:t>
            </a:r>
            <a:endParaRPr lang="en-GB" sz="1400">
              <a:solidFill>
                <a:schemeClr val="bg1"/>
              </a:solidFill>
              <a:latin typeface="Aptos"/>
              <a:ea typeface="Calibri"/>
              <a:cs typeface="Calibri"/>
            </a:endParaRPr>
          </a:p>
        </p:txBody>
      </p:sp>
      <p:sp>
        <p:nvSpPr>
          <p:cNvPr id="11" name="Rectangle: Rounded Corners 10">
            <a:extLst>
              <a:ext uri="{FF2B5EF4-FFF2-40B4-BE49-F238E27FC236}">
                <a16:creationId xmlns:a16="http://schemas.microsoft.com/office/drawing/2014/main" id="{8BC9B408-BED5-C9F1-8AB1-A9B6FBA00F52}"/>
              </a:ext>
            </a:extLst>
          </p:cNvPr>
          <p:cNvSpPr/>
          <p:nvPr/>
        </p:nvSpPr>
        <p:spPr>
          <a:xfrm>
            <a:off x="5082348" y="1146226"/>
            <a:ext cx="6258442" cy="2711593"/>
          </a:xfrm>
          <a:prstGeom prst="roundRect">
            <a:avLst>
              <a:gd name="adj" fmla="val 5027"/>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ru-RU" sz="1200"/>
              <a:t>Ако сме свършили добра работа с </a:t>
            </a:r>
            <a:r>
              <a:rPr lang="ru-RU" sz="1200" b="1"/>
              <a:t>идентифицирането на нуждите</a:t>
            </a:r>
            <a:r>
              <a:rPr lang="ru-RU" sz="1200"/>
              <a:t> и даването на нашето </a:t>
            </a:r>
            <a:r>
              <a:rPr lang="ru-RU" sz="1200" b="1"/>
              <a:t>предложение с ползи</a:t>
            </a:r>
            <a:r>
              <a:rPr lang="ru-RU" sz="1200"/>
              <a:t>, би трябвало да имаме много </a:t>
            </a:r>
            <a:r>
              <a:rPr lang="ru-RU" sz="1200" b="1"/>
              <a:t>малко възражения</a:t>
            </a:r>
            <a:r>
              <a:rPr lang="ru-RU" sz="1200"/>
              <a:t> – клиентът би бил любопитен да види нашето предложение.</a:t>
            </a:r>
            <a:endParaRPr lang="en-US" sz="1200"/>
          </a:p>
          <a:p>
            <a:endParaRPr lang="ru-RU" sz="1200"/>
          </a:p>
          <a:p>
            <a:r>
              <a:rPr lang="ru-RU" sz="1200"/>
              <a:t>Ако все пак има такива, или клиентът изрази по някакъв начин колебанията си, </a:t>
            </a:r>
            <a:r>
              <a:rPr lang="ru-RU" sz="1200" b="1"/>
              <a:t>това вероятно показва</a:t>
            </a:r>
            <a:r>
              <a:rPr lang="ru-RU" sz="1200"/>
              <a:t>:</a:t>
            </a:r>
            <a:endParaRPr lang="en-US" sz="1200"/>
          </a:p>
          <a:p>
            <a:endParaRPr lang="ru-RU" sz="1200"/>
          </a:p>
          <a:p>
            <a:pPr marL="171450" indent="-171450">
              <a:buFont typeface="Arial" panose="020B0604020202020204" pitchFamily="34" charset="0"/>
              <a:buChar char="•"/>
            </a:pPr>
            <a:r>
              <a:rPr lang="ru-RU" sz="1200" b="1"/>
              <a:t>Не сме успели да идентифицираме достатъчно важна нужда на клиента, въпреки положените усилия.</a:t>
            </a:r>
            <a:endParaRPr lang="en-US" sz="1200" b="1"/>
          </a:p>
          <a:p>
            <a:pPr marL="171450" indent="-171450">
              <a:buFont typeface="Arial" panose="020B0604020202020204" pitchFamily="34" charset="0"/>
              <a:buChar char="•"/>
            </a:pPr>
            <a:r>
              <a:rPr lang="ru-RU" sz="1200" b="1"/>
              <a:t>Преминали сме прекалено рано към предложението, без да успеем да поговорим достатъчно за нуждите.</a:t>
            </a:r>
            <a:endParaRPr lang="en-US" sz="1200" b="1"/>
          </a:p>
          <a:p>
            <a:pPr marL="171450" indent="-171450">
              <a:buFont typeface="Arial" panose="020B0604020202020204" pitchFamily="34" charset="0"/>
              <a:buChar char="•"/>
            </a:pPr>
            <a:r>
              <a:rPr lang="ru-RU" sz="1200" b="1"/>
              <a:t>Не сме успели да спечелим доверието на клиента.</a:t>
            </a:r>
            <a:endParaRPr lang="ru-RU" sz="1200"/>
          </a:p>
          <a:p>
            <a:pPr marL="171450" indent="-171450">
              <a:buFont typeface="Arial" panose="020B0604020202020204" pitchFamily="34" charset="0"/>
              <a:buChar char="•"/>
            </a:pPr>
            <a:r>
              <a:rPr lang="ru-RU" sz="1200" b="1"/>
              <a:t>Има друга причина.</a:t>
            </a:r>
            <a:endParaRPr lang="ru-RU" sz="1200"/>
          </a:p>
        </p:txBody>
      </p:sp>
      <p:sp>
        <p:nvSpPr>
          <p:cNvPr id="42" name="Rectangle: Rounded Corners 41">
            <a:extLst>
              <a:ext uri="{FF2B5EF4-FFF2-40B4-BE49-F238E27FC236}">
                <a16:creationId xmlns:a16="http://schemas.microsoft.com/office/drawing/2014/main" id="{3C5E35C9-B294-4B3B-BF61-7024F8FB61B5}"/>
              </a:ext>
            </a:extLst>
          </p:cNvPr>
          <p:cNvSpPr/>
          <p:nvPr/>
        </p:nvSpPr>
        <p:spPr>
          <a:xfrm>
            <a:off x="5062177" y="4427266"/>
            <a:ext cx="2245942" cy="521657"/>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600"/>
              <a:t>Огледална</a:t>
            </a:r>
          </a:p>
        </p:txBody>
      </p:sp>
      <p:sp>
        <p:nvSpPr>
          <p:cNvPr id="43" name="Rectangle: Rounded Corners 12">
            <a:extLst>
              <a:ext uri="{FF2B5EF4-FFF2-40B4-BE49-F238E27FC236}">
                <a16:creationId xmlns:a16="http://schemas.microsoft.com/office/drawing/2014/main" id="{F1E6500D-1520-42E2-BC76-39D48F7715B8}"/>
              </a:ext>
            </a:extLst>
          </p:cNvPr>
          <p:cNvSpPr/>
          <p:nvPr/>
        </p:nvSpPr>
        <p:spPr>
          <a:xfrm>
            <a:off x="7412803" y="4430177"/>
            <a:ext cx="2245942" cy="521657"/>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600"/>
              <a:t>Алтернативна</a:t>
            </a:r>
            <a:endParaRPr lang="bg-BG" sz="2400"/>
          </a:p>
        </p:txBody>
      </p:sp>
      <p:sp>
        <p:nvSpPr>
          <p:cNvPr id="44" name="Текстово поле 18">
            <a:extLst>
              <a:ext uri="{FF2B5EF4-FFF2-40B4-BE49-F238E27FC236}">
                <a16:creationId xmlns:a16="http://schemas.microsoft.com/office/drawing/2014/main" id="{6DAF67DC-D031-4C05-97EC-70A5B3014D4B}"/>
              </a:ext>
            </a:extLst>
          </p:cNvPr>
          <p:cNvSpPr txBox="1"/>
          <p:nvPr/>
        </p:nvSpPr>
        <p:spPr>
          <a:xfrm>
            <a:off x="5062177" y="4005213"/>
            <a:ext cx="397649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bg-BG" b="1"/>
              <a:t>Техники за справяне с възражения</a:t>
            </a:r>
          </a:p>
        </p:txBody>
      </p:sp>
      <p:sp>
        <p:nvSpPr>
          <p:cNvPr id="45" name="Rectangle: Rounded Corners 12">
            <a:extLst>
              <a:ext uri="{FF2B5EF4-FFF2-40B4-BE49-F238E27FC236}">
                <a16:creationId xmlns:a16="http://schemas.microsoft.com/office/drawing/2014/main" id="{A9D3FCD5-A915-45A7-B159-D51BB416951A}"/>
              </a:ext>
            </a:extLst>
          </p:cNvPr>
          <p:cNvSpPr/>
          <p:nvPr/>
        </p:nvSpPr>
        <p:spPr>
          <a:xfrm>
            <a:off x="5062177" y="5025695"/>
            <a:ext cx="2245942" cy="521657"/>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600"/>
              <a:t>Относителна</a:t>
            </a:r>
            <a:endParaRPr lang="bg-BG" sz="2400"/>
          </a:p>
        </p:txBody>
      </p:sp>
      <p:sp>
        <p:nvSpPr>
          <p:cNvPr id="46" name="Rectangle: Rounded Corners 12">
            <a:extLst>
              <a:ext uri="{FF2B5EF4-FFF2-40B4-BE49-F238E27FC236}">
                <a16:creationId xmlns:a16="http://schemas.microsoft.com/office/drawing/2014/main" id="{3B24D917-B344-4565-8587-17E08CA51E53}"/>
              </a:ext>
            </a:extLst>
          </p:cNvPr>
          <p:cNvSpPr/>
          <p:nvPr/>
        </p:nvSpPr>
        <p:spPr>
          <a:xfrm>
            <a:off x="7412803" y="5023753"/>
            <a:ext cx="2245942" cy="521657"/>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600"/>
              <a:t>Тирбушон</a:t>
            </a:r>
            <a:endParaRPr lang="bg-BG" sz="2400"/>
          </a:p>
        </p:txBody>
      </p:sp>
      <p:pic>
        <p:nvPicPr>
          <p:cNvPr id="47" name="Picture 46">
            <a:extLst>
              <a:ext uri="{FF2B5EF4-FFF2-40B4-BE49-F238E27FC236}">
                <a16:creationId xmlns:a16="http://schemas.microsoft.com/office/drawing/2014/main" id="{24087853-803F-4E10-88C7-F3E1B9DE0087}"/>
              </a:ext>
            </a:extLst>
          </p:cNvPr>
          <p:cNvPicPr>
            <a:picLocks noChangeAspect="1"/>
          </p:cNvPicPr>
          <p:nvPr/>
        </p:nvPicPr>
        <p:blipFill>
          <a:blip r:embed="rId2"/>
          <a:stretch>
            <a:fillRect/>
          </a:stretch>
        </p:blipFill>
        <p:spPr>
          <a:xfrm>
            <a:off x="10883590" y="5621341"/>
            <a:ext cx="982751" cy="995681"/>
          </a:xfrm>
          <a:prstGeom prst="rect">
            <a:avLst/>
          </a:prstGeom>
        </p:spPr>
      </p:pic>
    </p:spTree>
    <p:extLst>
      <p:ext uri="{BB962C8B-B14F-4D97-AF65-F5344CB8AC3E}">
        <p14:creationId xmlns:p14="http://schemas.microsoft.com/office/powerpoint/2010/main" val="105014072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B5C517-1EF3-F589-648D-DDB5A5EF5978}"/>
            </a:ext>
          </a:extLst>
        </p:cNvPr>
        <p:cNvGrpSpPr/>
        <p:nvPr/>
      </p:nvGrpSpPr>
      <p:grpSpPr>
        <a:xfrm>
          <a:off x="0" y="0"/>
          <a:ext cx="0" cy="0"/>
          <a:chOff x="0" y="0"/>
          <a:chExt cx="0" cy="0"/>
        </a:xfrm>
      </p:grpSpPr>
      <p:sp>
        <p:nvSpPr>
          <p:cNvPr id="30" name="Rectangle: Rounded Corners 29">
            <a:extLst>
              <a:ext uri="{FF2B5EF4-FFF2-40B4-BE49-F238E27FC236}">
                <a16:creationId xmlns:a16="http://schemas.microsoft.com/office/drawing/2014/main" id="{2C402BF4-D0F5-43DF-8EE3-6F0FE1F26E60}"/>
              </a:ext>
            </a:extLst>
          </p:cNvPr>
          <p:cNvSpPr/>
          <p:nvPr/>
        </p:nvSpPr>
        <p:spPr>
          <a:xfrm>
            <a:off x="1896198" y="1956771"/>
            <a:ext cx="2932281" cy="677242"/>
          </a:xfrm>
          <a:prstGeom prst="round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600"/>
              <a:t>Идентифициране на нужди</a:t>
            </a:r>
            <a:endParaRPr lang="en-GB" sz="1600"/>
          </a:p>
        </p:txBody>
      </p:sp>
      <p:sp>
        <p:nvSpPr>
          <p:cNvPr id="31" name="Rectangle: Rounded Corners 30">
            <a:extLst>
              <a:ext uri="{FF2B5EF4-FFF2-40B4-BE49-F238E27FC236}">
                <a16:creationId xmlns:a16="http://schemas.microsoft.com/office/drawing/2014/main" id="{9755D179-B8BB-4FBA-8116-D813EC933692}"/>
              </a:ext>
            </a:extLst>
          </p:cNvPr>
          <p:cNvSpPr/>
          <p:nvPr/>
        </p:nvSpPr>
        <p:spPr>
          <a:xfrm>
            <a:off x="1896198" y="1146226"/>
            <a:ext cx="2932281" cy="677242"/>
          </a:xfrm>
          <a:prstGeom prst="round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600"/>
              <a:t>Отваряне на разговор</a:t>
            </a:r>
            <a:endParaRPr lang="en-GB" sz="1600"/>
          </a:p>
        </p:txBody>
      </p:sp>
      <p:sp>
        <p:nvSpPr>
          <p:cNvPr id="32" name="Rectangle: Rounded Corners 31">
            <a:extLst>
              <a:ext uri="{FF2B5EF4-FFF2-40B4-BE49-F238E27FC236}">
                <a16:creationId xmlns:a16="http://schemas.microsoft.com/office/drawing/2014/main" id="{715D252E-3B53-47A5-BB71-E92E9DFC35AD}"/>
              </a:ext>
            </a:extLst>
          </p:cNvPr>
          <p:cNvSpPr/>
          <p:nvPr/>
        </p:nvSpPr>
        <p:spPr>
          <a:xfrm>
            <a:off x="1896198" y="3577861"/>
            <a:ext cx="2932281" cy="677242"/>
          </a:xfrm>
          <a:prstGeom prst="roundRect">
            <a:avLst/>
          </a:prstGeom>
          <a:solidFill>
            <a:srgbClr val="4472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600"/>
              <a:t>Справяне с възражения</a:t>
            </a:r>
            <a:endParaRPr lang="en-GB" sz="1600"/>
          </a:p>
        </p:txBody>
      </p:sp>
      <p:sp>
        <p:nvSpPr>
          <p:cNvPr id="33" name="Rectangle: Rounded Corners 32">
            <a:extLst>
              <a:ext uri="{FF2B5EF4-FFF2-40B4-BE49-F238E27FC236}">
                <a16:creationId xmlns:a16="http://schemas.microsoft.com/office/drawing/2014/main" id="{845C0A3D-50AD-4CA8-A117-48BD95529CDC}"/>
              </a:ext>
            </a:extLst>
          </p:cNvPr>
          <p:cNvSpPr/>
          <p:nvPr/>
        </p:nvSpPr>
        <p:spPr>
          <a:xfrm>
            <a:off x="1896198" y="4388406"/>
            <a:ext cx="2932281" cy="677242"/>
          </a:xfrm>
          <a:prstGeom prst="round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600"/>
              <a:t>Затваряне</a:t>
            </a:r>
            <a:endParaRPr lang="en-GB" sz="1600"/>
          </a:p>
        </p:txBody>
      </p:sp>
      <p:sp>
        <p:nvSpPr>
          <p:cNvPr id="34" name="Rectangle 13">
            <a:extLst>
              <a:ext uri="{FF2B5EF4-FFF2-40B4-BE49-F238E27FC236}">
                <a16:creationId xmlns:a16="http://schemas.microsoft.com/office/drawing/2014/main" id="{2D5E4279-FC46-4909-B0EF-7275BA27B56C}"/>
              </a:ext>
            </a:extLst>
          </p:cNvPr>
          <p:cNvSpPr/>
          <p:nvPr/>
        </p:nvSpPr>
        <p:spPr>
          <a:xfrm>
            <a:off x="1896198" y="2767316"/>
            <a:ext cx="2932281" cy="677242"/>
          </a:xfrm>
          <a:prstGeom prst="round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600"/>
              <a:t>Предложение</a:t>
            </a:r>
            <a:endParaRPr lang="en-GB" sz="1600"/>
          </a:p>
        </p:txBody>
      </p:sp>
      <p:sp>
        <p:nvSpPr>
          <p:cNvPr id="35" name="Rectangle 3">
            <a:extLst>
              <a:ext uri="{FF2B5EF4-FFF2-40B4-BE49-F238E27FC236}">
                <a16:creationId xmlns:a16="http://schemas.microsoft.com/office/drawing/2014/main" id="{FABEF15F-03F9-4E9F-B984-26EB9FA34AD7}"/>
              </a:ext>
            </a:extLst>
          </p:cNvPr>
          <p:cNvSpPr/>
          <p:nvPr/>
        </p:nvSpPr>
        <p:spPr>
          <a:xfrm>
            <a:off x="1443475" y="4245"/>
            <a:ext cx="5338363" cy="677242"/>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36" name="Rectangle 4">
            <a:extLst>
              <a:ext uri="{FF2B5EF4-FFF2-40B4-BE49-F238E27FC236}">
                <a16:creationId xmlns:a16="http://schemas.microsoft.com/office/drawing/2014/main" id="{3293CB32-D00F-45AC-8844-A57A952C2260}"/>
              </a:ext>
            </a:extLst>
          </p:cNvPr>
          <p:cNvSpPr/>
          <p:nvPr/>
        </p:nvSpPr>
        <p:spPr>
          <a:xfrm>
            <a:off x="6788435" y="4245"/>
            <a:ext cx="5417300" cy="677242"/>
          </a:xfrm>
          <a:prstGeom prst="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37" name="Rectangle 36">
            <a:extLst>
              <a:ext uri="{FF2B5EF4-FFF2-40B4-BE49-F238E27FC236}">
                <a16:creationId xmlns:a16="http://schemas.microsoft.com/office/drawing/2014/main" id="{7AC7A2F6-7722-4C0B-AC87-727B4D8BD4A1}"/>
              </a:ext>
            </a:extLst>
          </p:cNvPr>
          <p:cNvSpPr/>
          <p:nvPr/>
        </p:nvSpPr>
        <p:spPr>
          <a:xfrm>
            <a:off x="-1671" y="1599"/>
            <a:ext cx="1451167" cy="6866954"/>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200">
              <a:latin typeface="Aptos"/>
              <a:ea typeface="Calibri"/>
              <a:cs typeface="Calibri"/>
            </a:endParaRPr>
          </a:p>
        </p:txBody>
      </p:sp>
      <p:sp>
        <p:nvSpPr>
          <p:cNvPr id="38" name="Rectangle 37">
            <a:extLst>
              <a:ext uri="{FF2B5EF4-FFF2-40B4-BE49-F238E27FC236}">
                <a16:creationId xmlns:a16="http://schemas.microsoft.com/office/drawing/2014/main" id="{5ED7378A-07C3-401B-9FA3-A6691CC01755}"/>
              </a:ext>
            </a:extLst>
          </p:cNvPr>
          <p:cNvSpPr/>
          <p:nvPr/>
        </p:nvSpPr>
        <p:spPr>
          <a:xfrm>
            <a:off x="-1671" y="2528038"/>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Типове клиенти</a:t>
            </a:r>
            <a:endParaRPr lang="en-GB" sz="1400">
              <a:latin typeface="Aptos"/>
              <a:ea typeface="Calibri"/>
              <a:cs typeface="Calibri"/>
            </a:endParaRPr>
          </a:p>
        </p:txBody>
      </p:sp>
      <p:sp>
        <p:nvSpPr>
          <p:cNvPr id="39" name="Rectangle 38">
            <a:extLst>
              <a:ext uri="{FF2B5EF4-FFF2-40B4-BE49-F238E27FC236}">
                <a16:creationId xmlns:a16="http://schemas.microsoft.com/office/drawing/2014/main" id="{CA63B424-E43B-42F7-AB13-EED32A89F5F7}"/>
              </a:ext>
            </a:extLst>
          </p:cNvPr>
          <p:cNvSpPr/>
          <p:nvPr/>
        </p:nvSpPr>
        <p:spPr>
          <a:xfrm>
            <a:off x="8626" y="1913210"/>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Сценарии</a:t>
            </a:r>
            <a:endParaRPr lang="en-GB" sz="1400">
              <a:latin typeface="Aptos"/>
              <a:ea typeface="Calibri"/>
              <a:cs typeface="Calibri"/>
            </a:endParaRPr>
          </a:p>
        </p:txBody>
      </p:sp>
      <p:sp>
        <p:nvSpPr>
          <p:cNvPr id="40" name="Rectangle 39">
            <a:extLst>
              <a:ext uri="{FF2B5EF4-FFF2-40B4-BE49-F238E27FC236}">
                <a16:creationId xmlns:a16="http://schemas.microsoft.com/office/drawing/2014/main" id="{F1A1DF79-2B11-426F-ADE6-CE21C8D863C7}"/>
              </a:ext>
            </a:extLst>
          </p:cNvPr>
          <p:cNvSpPr/>
          <p:nvPr/>
        </p:nvSpPr>
        <p:spPr>
          <a:xfrm>
            <a:off x="-1671" y="1298382"/>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b="1">
                <a:solidFill>
                  <a:schemeClr val="tx2"/>
                </a:solidFill>
                <a:latin typeface="Aptos"/>
                <a:ea typeface="Calibri"/>
                <a:cs typeface="Calibri"/>
              </a:rPr>
              <a:t>Стъпки при среща</a:t>
            </a:r>
            <a:endParaRPr lang="bg-BG" sz="1400">
              <a:solidFill>
                <a:srgbClr val="000000"/>
              </a:solidFill>
              <a:latin typeface="Aptos"/>
              <a:ea typeface="Calibri"/>
              <a:cs typeface="Calibri"/>
            </a:endParaRPr>
          </a:p>
        </p:txBody>
      </p:sp>
      <p:sp>
        <p:nvSpPr>
          <p:cNvPr id="41" name="Rectangle 28">
            <a:extLst>
              <a:ext uri="{FF2B5EF4-FFF2-40B4-BE49-F238E27FC236}">
                <a16:creationId xmlns:a16="http://schemas.microsoft.com/office/drawing/2014/main" id="{93E58A2E-E4F9-4E39-8446-1C158C25A972}"/>
              </a:ext>
            </a:extLst>
          </p:cNvPr>
          <p:cNvSpPr/>
          <p:nvPr/>
        </p:nvSpPr>
        <p:spPr>
          <a:xfrm>
            <a:off x="6154" y="690328"/>
            <a:ext cx="1435083"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a:solidFill>
                  <a:schemeClr val="bg1"/>
                </a:solidFill>
                <a:latin typeface="Aptos"/>
                <a:ea typeface="Calibri"/>
                <a:cs typeface="Calibri"/>
              </a:rPr>
              <a:t>Подготовка</a:t>
            </a:r>
            <a:endParaRPr lang="en-GB" sz="1400">
              <a:solidFill>
                <a:schemeClr val="bg1"/>
              </a:solidFill>
              <a:latin typeface="Aptos"/>
              <a:ea typeface="Calibri"/>
              <a:cs typeface="Calibri"/>
            </a:endParaRPr>
          </a:p>
        </p:txBody>
      </p:sp>
      <p:sp>
        <p:nvSpPr>
          <p:cNvPr id="11" name="Rectangle: Rounded Corners 10">
            <a:extLst>
              <a:ext uri="{FF2B5EF4-FFF2-40B4-BE49-F238E27FC236}">
                <a16:creationId xmlns:a16="http://schemas.microsoft.com/office/drawing/2014/main" id="{8BC9B408-BED5-C9F1-8AB1-A9B6FBA00F52}"/>
              </a:ext>
            </a:extLst>
          </p:cNvPr>
          <p:cNvSpPr/>
          <p:nvPr/>
        </p:nvSpPr>
        <p:spPr>
          <a:xfrm>
            <a:off x="5119871" y="1148390"/>
            <a:ext cx="6306066" cy="2592531"/>
          </a:xfrm>
          <a:prstGeom prst="roundRect">
            <a:avLst>
              <a:gd name="adj" fmla="val 5027"/>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ru-RU" sz="1200"/>
              <a:t>Ако сме свършили добра работа с </a:t>
            </a:r>
            <a:r>
              <a:rPr lang="ru-RU" sz="1200" b="1"/>
              <a:t>идентифицирането на нуждите</a:t>
            </a:r>
            <a:r>
              <a:rPr lang="ru-RU" sz="1200"/>
              <a:t> и даването на нашето </a:t>
            </a:r>
            <a:r>
              <a:rPr lang="ru-RU" sz="1200" b="1"/>
              <a:t>предложение с ползи</a:t>
            </a:r>
            <a:r>
              <a:rPr lang="ru-RU" sz="1200"/>
              <a:t>, би трябвало да имаме много </a:t>
            </a:r>
            <a:r>
              <a:rPr lang="ru-RU" sz="1200" b="1"/>
              <a:t>малко възражения</a:t>
            </a:r>
            <a:r>
              <a:rPr lang="ru-RU" sz="1200"/>
              <a:t> – клиентът би бил любопитен да види нашето предложение.</a:t>
            </a:r>
            <a:endParaRPr lang="en-US" sz="1200"/>
          </a:p>
          <a:p>
            <a:endParaRPr lang="ru-RU" sz="1200"/>
          </a:p>
          <a:p>
            <a:r>
              <a:rPr lang="ru-RU" sz="1200"/>
              <a:t>Ако все пак има такива, или клиентът изрази по някакъв начин колебанията си, </a:t>
            </a:r>
            <a:r>
              <a:rPr lang="ru-RU" sz="1200" b="1"/>
              <a:t>това вероятно показва</a:t>
            </a:r>
            <a:r>
              <a:rPr lang="ru-RU" sz="1200"/>
              <a:t>:</a:t>
            </a:r>
            <a:endParaRPr lang="en-US" sz="1200"/>
          </a:p>
          <a:p>
            <a:endParaRPr lang="ru-RU" sz="1200"/>
          </a:p>
          <a:p>
            <a:pPr marL="171450" indent="-171450">
              <a:buFont typeface="Arial" panose="020B0604020202020204" pitchFamily="34" charset="0"/>
              <a:buChar char="•"/>
            </a:pPr>
            <a:r>
              <a:rPr lang="ru-RU" sz="1200" b="1"/>
              <a:t>Не сме успели да идентифицираме достатъчно важна нужда на клиента, въпреки положените усилия.</a:t>
            </a:r>
            <a:endParaRPr lang="en-US" sz="1200" b="1"/>
          </a:p>
          <a:p>
            <a:pPr marL="171450" indent="-171450">
              <a:buFont typeface="Arial" panose="020B0604020202020204" pitchFamily="34" charset="0"/>
              <a:buChar char="•"/>
            </a:pPr>
            <a:r>
              <a:rPr lang="ru-RU" sz="1200" b="1"/>
              <a:t>Преминали сме прекалено рано към предложението, без да успеем да поговорим достатъчно за нуждите.</a:t>
            </a:r>
            <a:endParaRPr lang="en-US" sz="1200" b="1"/>
          </a:p>
          <a:p>
            <a:pPr marL="171450" indent="-171450">
              <a:buFont typeface="Arial" panose="020B0604020202020204" pitchFamily="34" charset="0"/>
              <a:buChar char="•"/>
            </a:pPr>
            <a:r>
              <a:rPr lang="ru-RU" sz="1200" b="1"/>
              <a:t>Не сме успели да спечелим доверието на клиента.</a:t>
            </a:r>
            <a:endParaRPr lang="ru-RU" sz="1200"/>
          </a:p>
          <a:p>
            <a:pPr marL="171450" indent="-171450">
              <a:buFont typeface="Arial" panose="020B0604020202020204" pitchFamily="34" charset="0"/>
              <a:buChar char="•"/>
            </a:pPr>
            <a:r>
              <a:rPr lang="ru-RU" sz="1200" b="1"/>
              <a:t>Има друга причина.</a:t>
            </a:r>
            <a:endParaRPr lang="ru-RU" sz="1200"/>
          </a:p>
        </p:txBody>
      </p:sp>
      <p:sp>
        <p:nvSpPr>
          <p:cNvPr id="42" name="Rectangle: Rounded Corners 41">
            <a:extLst>
              <a:ext uri="{FF2B5EF4-FFF2-40B4-BE49-F238E27FC236}">
                <a16:creationId xmlns:a16="http://schemas.microsoft.com/office/drawing/2014/main" id="{3C5E35C9-B294-4B3B-BF61-7024F8FB61B5}"/>
              </a:ext>
            </a:extLst>
          </p:cNvPr>
          <p:cNvSpPr/>
          <p:nvPr/>
        </p:nvSpPr>
        <p:spPr>
          <a:xfrm>
            <a:off x="5062177" y="4338059"/>
            <a:ext cx="2245942" cy="507114"/>
          </a:xfrm>
          <a:prstGeom prst="round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600"/>
              <a:t>Огледална</a:t>
            </a:r>
          </a:p>
        </p:txBody>
      </p:sp>
      <p:sp>
        <p:nvSpPr>
          <p:cNvPr id="43" name="Rectangle: Rounded Corners 12">
            <a:extLst>
              <a:ext uri="{FF2B5EF4-FFF2-40B4-BE49-F238E27FC236}">
                <a16:creationId xmlns:a16="http://schemas.microsoft.com/office/drawing/2014/main" id="{F1E6500D-1520-42E2-BC76-39D48F7715B8}"/>
              </a:ext>
            </a:extLst>
          </p:cNvPr>
          <p:cNvSpPr/>
          <p:nvPr/>
        </p:nvSpPr>
        <p:spPr>
          <a:xfrm>
            <a:off x="7412803" y="4340970"/>
            <a:ext cx="2245942" cy="507114"/>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600"/>
              <a:t>Алтернативна</a:t>
            </a:r>
            <a:endParaRPr lang="bg-BG" sz="2400"/>
          </a:p>
        </p:txBody>
      </p:sp>
      <p:sp>
        <p:nvSpPr>
          <p:cNvPr id="44" name="Текстово поле 18">
            <a:extLst>
              <a:ext uri="{FF2B5EF4-FFF2-40B4-BE49-F238E27FC236}">
                <a16:creationId xmlns:a16="http://schemas.microsoft.com/office/drawing/2014/main" id="{6DAF67DC-D031-4C05-97EC-70A5B3014D4B}"/>
              </a:ext>
            </a:extLst>
          </p:cNvPr>
          <p:cNvSpPr txBox="1"/>
          <p:nvPr/>
        </p:nvSpPr>
        <p:spPr>
          <a:xfrm>
            <a:off x="5012783" y="3974024"/>
            <a:ext cx="397649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bg-BG" b="1"/>
              <a:t>Техники за справяне с възражения</a:t>
            </a:r>
          </a:p>
        </p:txBody>
      </p:sp>
      <p:sp>
        <p:nvSpPr>
          <p:cNvPr id="45" name="Rectangle: Rounded Corners 12">
            <a:extLst>
              <a:ext uri="{FF2B5EF4-FFF2-40B4-BE49-F238E27FC236}">
                <a16:creationId xmlns:a16="http://schemas.microsoft.com/office/drawing/2014/main" id="{A9D3FCD5-A915-45A7-B159-D51BB416951A}"/>
              </a:ext>
            </a:extLst>
          </p:cNvPr>
          <p:cNvSpPr/>
          <p:nvPr/>
        </p:nvSpPr>
        <p:spPr>
          <a:xfrm>
            <a:off x="5062177" y="4903035"/>
            <a:ext cx="2245942" cy="507114"/>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600"/>
              <a:t>Относителна</a:t>
            </a:r>
            <a:endParaRPr lang="bg-BG" sz="2400"/>
          </a:p>
        </p:txBody>
      </p:sp>
      <p:sp>
        <p:nvSpPr>
          <p:cNvPr id="46" name="Rectangle: Rounded Corners 12">
            <a:extLst>
              <a:ext uri="{FF2B5EF4-FFF2-40B4-BE49-F238E27FC236}">
                <a16:creationId xmlns:a16="http://schemas.microsoft.com/office/drawing/2014/main" id="{3B24D917-B344-4565-8587-17E08CA51E53}"/>
              </a:ext>
            </a:extLst>
          </p:cNvPr>
          <p:cNvSpPr/>
          <p:nvPr/>
        </p:nvSpPr>
        <p:spPr>
          <a:xfrm>
            <a:off x="7412803" y="4901093"/>
            <a:ext cx="2245942" cy="507114"/>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600"/>
              <a:t>Тирбушон</a:t>
            </a:r>
            <a:endParaRPr lang="bg-BG" sz="2400"/>
          </a:p>
        </p:txBody>
      </p:sp>
      <p:sp>
        <p:nvSpPr>
          <p:cNvPr id="29" name="Балонче за говор: правоъгълник със заоблени ъгли 14">
            <a:extLst>
              <a:ext uri="{FF2B5EF4-FFF2-40B4-BE49-F238E27FC236}">
                <a16:creationId xmlns:a16="http://schemas.microsoft.com/office/drawing/2014/main" id="{EC7F3D92-B9BB-4467-89FD-16D2EFAB1C8B}"/>
              </a:ext>
            </a:extLst>
          </p:cNvPr>
          <p:cNvSpPr/>
          <p:nvPr/>
        </p:nvSpPr>
        <p:spPr>
          <a:xfrm rot="10800000" flipV="1">
            <a:off x="5062176" y="5475112"/>
            <a:ext cx="4596567" cy="1216462"/>
          </a:xfrm>
          <a:prstGeom prst="roundRect">
            <a:avLst>
              <a:gd name="adj" fmla="val 14834"/>
            </a:avLst>
          </a:prstGeom>
          <a:solidFill>
            <a:schemeClr val="bg1"/>
          </a:solidFill>
          <a:ln>
            <a:noFill/>
          </a:ln>
          <a:effectLst>
            <a:outerShdw blurRad="50800" dist="38100" dir="5400000" algn="t" rotWithShape="0">
              <a:prstClr val="black">
                <a:alpha val="40000"/>
              </a:prstClr>
            </a:outerShdw>
          </a:effectLst>
        </p:spPr>
        <p:style>
          <a:lnRef idx="1">
            <a:schemeClr val="accent4"/>
          </a:lnRef>
          <a:fillRef idx="2">
            <a:schemeClr val="accent4"/>
          </a:fillRef>
          <a:effectRef idx="1">
            <a:schemeClr val="accent4"/>
          </a:effectRef>
          <a:fontRef idx="minor">
            <a:schemeClr val="dk1"/>
          </a:fontRef>
        </p:style>
        <p:txBody>
          <a:bodyPr rtlCol="0" anchor="ctr"/>
          <a:lstStyle/>
          <a:p>
            <a:r>
              <a:rPr lang="ru-RU" sz="1400" b="1"/>
              <a:t>Огледална</a:t>
            </a:r>
            <a:br>
              <a:rPr lang="ru-RU" sz="1400"/>
            </a:br>
            <a:r>
              <a:rPr lang="ru-RU" sz="1400"/>
              <a:t>Отразяваш притеснението на клиента, за да покажеш, че си го разбрал.</a:t>
            </a:r>
            <a:br>
              <a:rPr lang="ru-RU" sz="1400"/>
            </a:br>
            <a:r>
              <a:rPr lang="ru-RU" sz="1400" b="1"/>
              <a:t>Пример:</a:t>
            </a:r>
            <a:r>
              <a:rPr lang="ru-RU" sz="1400"/>
              <a:t> „Разбирам, че за Вас е важно да видите дали това реално си заслужава.“</a:t>
            </a:r>
            <a:endParaRPr lang="ru-RU" sz="1400" b="1"/>
          </a:p>
        </p:txBody>
      </p:sp>
      <p:pic>
        <p:nvPicPr>
          <p:cNvPr id="47" name="Picture 46">
            <a:extLst>
              <a:ext uri="{FF2B5EF4-FFF2-40B4-BE49-F238E27FC236}">
                <a16:creationId xmlns:a16="http://schemas.microsoft.com/office/drawing/2014/main" id="{6DF8999E-50EB-4448-9C97-CF026F861A16}"/>
              </a:ext>
            </a:extLst>
          </p:cNvPr>
          <p:cNvPicPr>
            <a:picLocks noChangeAspect="1"/>
          </p:cNvPicPr>
          <p:nvPr/>
        </p:nvPicPr>
        <p:blipFill>
          <a:blip r:embed="rId2"/>
          <a:stretch>
            <a:fillRect/>
          </a:stretch>
        </p:blipFill>
        <p:spPr>
          <a:xfrm>
            <a:off x="10883590" y="5621341"/>
            <a:ext cx="982751" cy="995681"/>
          </a:xfrm>
          <a:prstGeom prst="rect">
            <a:avLst/>
          </a:prstGeom>
        </p:spPr>
      </p:pic>
    </p:spTree>
    <p:extLst>
      <p:ext uri="{BB962C8B-B14F-4D97-AF65-F5344CB8AC3E}">
        <p14:creationId xmlns:p14="http://schemas.microsoft.com/office/powerpoint/2010/main" val="310577164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B5C517-1EF3-F589-648D-DDB5A5EF5978}"/>
            </a:ext>
          </a:extLst>
        </p:cNvPr>
        <p:cNvGrpSpPr/>
        <p:nvPr/>
      </p:nvGrpSpPr>
      <p:grpSpPr>
        <a:xfrm>
          <a:off x="0" y="0"/>
          <a:ext cx="0" cy="0"/>
          <a:chOff x="0" y="0"/>
          <a:chExt cx="0" cy="0"/>
        </a:xfrm>
      </p:grpSpPr>
      <p:sp>
        <p:nvSpPr>
          <p:cNvPr id="30" name="Rectangle: Rounded Corners 29">
            <a:extLst>
              <a:ext uri="{FF2B5EF4-FFF2-40B4-BE49-F238E27FC236}">
                <a16:creationId xmlns:a16="http://schemas.microsoft.com/office/drawing/2014/main" id="{2C402BF4-D0F5-43DF-8EE3-6F0FE1F26E60}"/>
              </a:ext>
            </a:extLst>
          </p:cNvPr>
          <p:cNvSpPr/>
          <p:nvPr/>
        </p:nvSpPr>
        <p:spPr>
          <a:xfrm>
            <a:off x="1896198" y="1956771"/>
            <a:ext cx="2932281" cy="677242"/>
          </a:xfrm>
          <a:prstGeom prst="round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600"/>
              <a:t>Идентифициране на нужди</a:t>
            </a:r>
            <a:endParaRPr lang="en-GB" sz="1600"/>
          </a:p>
        </p:txBody>
      </p:sp>
      <p:sp>
        <p:nvSpPr>
          <p:cNvPr id="31" name="Rectangle: Rounded Corners 30">
            <a:extLst>
              <a:ext uri="{FF2B5EF4-FFF2-40B4-BE49-F238E27FC236}">
                <a16:creationId xmlns:a16="http://schemas.microsoft.com/office/drawing/2014/main" id="{9755D179-B8BB-4FBA-8116-D813EC933692}"/>
              </a:ext>
            </a:extLst>
          </p:cNvPr>
          <p:cNvSpPr/>
          <p:nvPr/>
        </p:nvSpPr>
        <p:spPr>
          <a:xfrm>
            <a:off x="1896198" y="1146226"/>
            <a:ext cx="2932281" cy="677242"/>
          </a:xfrm>
          <a:prstGeom prst="round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600"/>
              <a:t>Отваряне на разговор</a:t>
            </a:r>
            <a:endParaRPr lang="en-GB" sz="1600"/>
          </a:p>
        </p:txBody>
      </p:sp>
      <p:sp>
        <p:nvSpPr>
          <p:cNvPr id="32" name="Rectangle: Rounded Corners 31">
            <a:extLst>
              <a:ext uri="{FF2B5EF4-FFF2-40B4-BE49-F238E27FC236}">
                <a16:creationId xmlns:a16="http://schemas.microsoft.com/office/drawing/2014/main" id="{715D252E-3B53-47A5-BB71-E92E9DFC35AD}"/>
              </a:ext>
            </a:extLst>
          </p:cNvPr>
          <p:cNvSpPr/>
          <p:nvPr/>
        </p:nvSpPr>
        <p:spPr>
          <a:xfrm>
            <a:off x="1896198" y="3577861"/>
            <a:ext cx="2932281" cy="677242"/>
          </a:xfrm>
          <a:prstGeom prst="roundRect">
            <a:avLst/>
          </a:prstGeom>
          <a:solidFill>
            <a:srgbClr val="4472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600"/>
              <a:t>Справяне с възражения</a:t>
            </a:r>
            <a:endParaRPr lang="en-GB" sz="1600"/>
          </a:p>
        </p:txBody>
      </p:sp>
      <p:sp>
        <p:nvSpPr>
          <p:cNvPr id="33" name="Rectangle: Rounded Corners 32">
            <a:extLst>
              <a:ext uri="{FF2B5EF4-FFF2-40B4-BE49-F238E27FC236}">
                <a16:creationId xmlns:a16="http://schemas.microsoft.com/office/drawing/2014/main" id="{845C0A3D-50AD-4CA8-A117-48BD95529CDC}"/>
              </a:ext>
            </a:extLst>
          </p:cNvPr>
          <p:cNvSpPr/>
          <p:nvPr/>
        </p:nvSpPr>
        <p:spPr>
          <a:xfrm>
            <a:off x="1896198" y="4388406"/>
            <a:ext cx="2932281" cy="677242"/>
          </a:xfrm>
          <a:prstGeom prst="round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600"/>
              <a:t>Затваряне</a:t>
            </a:r>
            <a:endParaRPr lang="en-GB" sz="1600"/>
          </a:p>
        </p:txBody>
      </p:sp>
      <p:sp>
        <p:nvSpPr>
          <p:cNvPr id="34" name="Rectangle 13">
            <a:extLst>
              <a:ext uri="{FF2B5EF4-FFF2-40B4-BE49-F238E27FC236}">
                <a16:creationId xmlns:a16="http://schemas.microsoft.com/office/drawing/2014/main" id="{2D5E4279-FC46-4909-B0EF-7275BA27B56C}"/>
              </a:ext>
            </a:extLst>
          </p:cNvPr>
          <p:cNvSpPr/>
          <p:nvPr/>
        </p:nvSpPr>
        <p:spPr>
          <a:xfrm>
            <a:off x="1896198" y="2767316"/>
            <a:ext cx="2932281" cy="677242"/>
          </a:xfrm>
          <a:prstGeom prst="round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600"/>
              <a:t>Предложение</a:t>
            </a:r>
            <a:endParaRPr lang="en-GB" sz="1600"/>
          </a:p>
        </p:txBody>
      </p:sp>
      <p:sp>
        <p:nvSpPr>
          <p:cNvPr id="35" name="Rectangle 3">
            <a:extLst>
              <a:ext uri="{FF2B5EF4-FFF2-40B4-BE49-F238E27FC236}">
                <a16:creationId xmlns:a16="http://schemas.microsoft.com/office/drawing/2014/main" id="{FABEF15F-03F9-4E9F-B984-26EB9FA34AD7}"/>
              </a:ext>
            </a:extLst>
          </p:cNvPr>
          <p:cNvSpPr/>
          <p:nvPr/>
        </p:nvSpPr>
        <p:spPr>
          <a:xfrm>
            <a:off x="1443475" y="4245"/>
            <a:ext cx="5338363" cy="677242"/>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36" name="Rectangle 4">
            <a:extLst>
              <a:ext uri="{FF2B5EF4-FFF2-40B4-BE49-F238E27FC236}">
                <a16:creationId xmlns:a16="http://schemas.microsoft.com/office/drawing/2014/main" id="{3293CB32-D00F-45AC-8844-A57A952C2260}"/>
              </a:ext>
            </a:extLst>
          </p:cNvPr>
          <p:cNvSpPr/>
          <p:nvPr/>
        </p:nvSpPr>
        <p:spPr>
          <a:xfrm>
            <a:off x="6788435" y="4245"/>
            <a:ext cx="5417300" cy="677242"/>
          </a:xfrm>
          <a:prstGeom prst="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37" name="Rectangle 36">
            <a:extLst>
              <a:ext uri="{FF2B5EF4-FFF2-40B4-BE49-F238E27FC236}">
                <a16:creationId xmlns:a16="http://schemas.microsoft.com/office/drawing/2014/main" id="{7AC7A2F6-7722-4C0B-AC87-727B4D8BD4A1}"/>
              </a:ext>
            </a:extLst>
          </p:cNvPr>
          <p:cNvSpPr/>
          <p:nvPr/>
        </p:nvSpPr>
        <p:spPr>
          <a:xfrm>
            <a:off x="-1671" y="1599"/>
            <a:ext cx="1451167" cy="6866954"/>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200">
              <a:latin typeface="Aptos"/>
              <a:ea typeface="Calibri"/>
              <a:cs typeface="Calibri"/>
            </a:endParaRPr>
          </a:p>
        </p:txBody>
      </p:sp>
      <p:sp>
        <p:nvSpPr>
          <p:cNvPr id="38" name="Rectangle 37">
            <a:extLst>
              <a:ext uri="{FF2B5EF4-FFF2-40B4-BE49-F238E27FC236}">
                <a16:creationId xmlns:a16="http://schemas.microsoft.com/office/drawing/2014/main" id="{5ED7378A-07C3-401B-9FA3-A6691CC01755}"/>
              </a:ext>
            </a:extLst>
          </p:cNvPr>
          <p:cNvSpPr/>
          <p:nvPr/>
        </p:nvSpPr>
        <p:spPr>
          <a:xfrm>
            <a:off x="-1671" y="2528038"/>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Типове клиенти</a:t>
            </a:r>
            <a:endParaRPr lang="en-GB" sz="1400">
              <a:latin typeface="Aptos"/>
              <a:ea typeface="Calibri"/>
              <a:cs typeface="Calibri"/>
            </a:endParaRPr>
          </a:p>
        </p:txBody>
      </p:sp>
      <p:sp>
        <p:nvSpPr>
          <p:cNvPr id="39" name="Rectangle 38">
            <a:extLst>
              <a:ext uri="{FF2B5EF4-FFF2-40B4-BE49-F238E27FC236}">
                <a16:creationId xmlns:a16="http://schemas.microsoft.com/office/drawing/2014/main" id="{CA63B424-E43B-42F7-AB13-EED32A89F5F7}"/>
              </a:ext>
            </a:extLst>
          </p:cNvPr>
          <p:cNvSpPr/>
          <p:nvPr/>
        </p:nvSpPr>
        <p:spPr>
          <a:xfrm>
            <a:off x="8626" y="1913210"/>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Сценарии</a:t>
            </a:r>
            <a:endParaRPr lang="en-GB" sz="1400">
              <a:latin typeface="Aptos"/>
              <a:ea typeface="Calibri"/>
              <a:cs typeface="Calibri"/>
            </a:endParaRPr>
          </a:p>
        </p:txBody>
      </p:sp>
      <p:sp>
        <p:nvSpPr>
          <p:cNvPr id="40" name="Rectangle 39">
            <a:extLst>
              <a:ext uri="{FF2B5EF4-FFF2-40B4-BE49-F238E27FC236}">
                <a16:creationId xmlns:a16="http://schemas.microsoft.com/office/drawing/2014/main" id="{F1A1DF79-2B11-426F-ADE6-CE21C8D863C7}"/>
              </a:ext>
            </a:extLst>
          </p:cNvPr>
          <p:cNvSpPr/>
          <p:nvPr/>
        </p:nvSpPr>
        <p:spPr>
          <a:xfrm>
            <a:off x="-1671" y="1298382"/>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b="1">
                <a:solidFill>
                  <a:schemeClr val="tx2"/>
                </a:solidFill>
                <a:latin typeface="Aptos"/>
                <a:ea typeface="Calibri"/>
                <a:cs typeface="Calibri"/>
              </a:rPr>
              <a:t>Стъпки при среща</a:t>
            </a:r>
            <a:endParaRPr lang="bg-BG" sz="1400">
              <a:solidFill>
                <a:srgbClr val="000000"/>
              </a:solidFill>
              <a:latin typeface="Aptos"/>
              <a:ea typeface="Calibri"/>
              <a:cs typeface="Calibri"/>
            </a:endParaRPr>
          </a:p>
        </p:txBody>
      </p:sp>
      <p:sp>
        <p:nvSpPr>
          <p:cNvPr id="41" name="Rectangle 28">
            <a:extLst>
              <a:ext uri="{FF2B5EF4-FFF2-40B4-BE49-F238E27FC236}">
                <a16:creationId xmlns:a16="http://schemas.microsoft.com/office/drawing/2014/main" id="{93E58A2E-E4F9-4E39-8446-1C158C25A972}"/>
              </a:ext>
            </a:extLst>
          </p:cNvPr>
          <p:cNvSpPr/>
          <p:nvPr/>
        </p:nvSpPr>
        <p:spPr>
          <a:xfrm>
            <a:off x="6154" y="690328"/>
            <a:ext cx="1435083"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a:solidFill>
                  <a:schemeClr val="bg1"/>
                </a:solidFill>
                <a:latin typeface="Aptos"/>
                <a:ea typeface="Calibri"/>
                <a:cs typeface="Calibri"/>
              </a:rPr>
              <a:t>Подготовка</a:t>
            </a:r>
            <a:endParaRPr lang="en-GB" sz="1400">
              <a:solidFill>
                <a:schemeClr val="bg1"/>
              </a:solidFill>
              <a:latin typeface="Aptos"/>
              <a:ea typeface="Calibri"/>
              <a:cs typeface="Calibri"/>
            </a:endParaRPr>
          </a:p>
        </p:txBody>
      </p:sp>
      <p:sp>
        <p:nvSpPr>
          <p:cNvPr id="11" name="Rectangle: Rounded Corners 10">
            <a:extLst>
              <a:ext uri="{FF2B5EF4-FFF2-40B4-BE49-F238E27FC236}">
                <a16:creationId xmlns:a16="http://schemas.microsoft.com/office/drawing/2014/main" id="{8BC9B408-BED5-C9F1-8AB1-A9B6FBA00F52}"/>
              </a:ext>
            </a:extLst>
          </p:cNvPr>
          <p:cNvSpPr/>
          <p:nvPr/>
        </p:nvSpPr>
        <p:spPr>
          <a:xfrm>
            <a:off x="5082348" y="1146226"/>
            <a:ext cx="6258442" cy="2711593"/>
          </a:xfrm>
          <a:prstGeom prst="roundRect">
            <a:avLst>
              <a:gd name="adj" fmla="val 5027"/>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ru-RU" sz="1200"/>
              <a:t>Ако сме свършили добра работа с </a:t>
            </a:r>
            <a:r>
              <a:rPr lang="ru-RU" sz="1200" b="1"/>
              <a:t>идентифицирането на нуждите</a:t>
            </a:r>
            <a:r>
              <a:rPr lang="ru-RU" sz="1200"/>
              <a:t> и даването на нашето </a:t>
            </a:r>
            <a:r>
              <a:rPr lang="ru-RU" sz="1200" b="1"/>
              <a:t>предложение с ползи</a:t>
            </a:r>
            <a:r>
              <a:rPr lang="ru-RU" sz="1200"/>
              <a:t>, би трябвало да имаме много </a:t>
            </a:r>
            <a:r>
              <a:rPr lang="ru-RU" sz="1200" b="1"/>
              <a:t>малко възражения</a:t>
            </a:r>
            <a:r>
              <a:rPr lang="ru-RU" sz="1200"/>
              <a:t> – клиентът би бил любопитен да види нашето предложение.</a:t>
            </a:r>
            <a:endParaRPr lang="en-US" sz="1200"/>
          </a:p>
          <a:p>
            <a:endParaRPr lang="ru-RU" sz="1200"/>
          </a:p>
          <a:p>
            <a:r>
              <a:rPr lang="ru-RU" sz="1200"/>
              <a:t>Ако все пак има такива, или клиентът изрази по някакъв начин колебанията си, </a:t>
            </a:r>
            <a:r>
              <a:rPr lang="ru-RU" sz="1200" b="1"/>
              <a:t>това вероятно показва</a:t>
            </a:r>
            <a:r>
              <a:rPr lang="ru-RU" sz="1200"/>
              <a:t>:</a:t>
            </a:r>
            <a:endParaRPr lang="en-US" sz="1200"/>
          </a:p>
          <a:p>
            <a:endParaRPr lang="ru-RU" sz="1200"/>
          </a:p>
          <a:p>
            <a:pPr marL="171450" indent="-171450">
              <a:buFont typeface="Arial" panose="020B0604020202020204" pitchFamily="34" charset="0"/>
              <a:buChar char="•"/>
            </a:pPr>
            <a:r>
              <a:rPr lang="ru-RU" sz="1200" b="1"/>
              <a:t>Не сме успели да идентифицираме достатъчно важна нужда на клиента, въпреки положените усилия.</a:t>
            </a:r>
            <a:endParaRPr lang="en-US" sz="1200" b="1"/>
          </a:p>
          <a:p>
            <a:pPr marL="171450" indent="-171450">
              <a:buFont typeface="Arial" panose="020B0604020202020204" pitchFamily="34" charset="0"/>
              <a:buChar char="•"/>
            </a:pPr>
            <a:r>
              <a:rPr lang="ru-RU" sz="1200" b="1"/>
              <a:t>Преминали сме прекалено рано към предложението, без да успеем да поговорим достатъчно за нуждите.</a:t>
            </a:r>
            <a:endParaRPr lang="en-US" sz="1200" b="1"/>
          </a:p>
          <a:p>
            <a:pPr marL="171450" indent="-171450">
              <a:buFont typeface="Arial" panose="020B0604020202020204" pitchFamily="34" charset="0"/>
              <a:buChar char="•"/>
            </a:pPr>
            <a:r>
              <a:rPr lang="ru-RU" sz="1200" b="1"/>
              <a:t>Не сме успели да спечелим доверието на клиента.</a:t>
            </a:r>
            <a:endParaRPr lang="ru-RU" sz="1200"/>
          </a:p>
          <a:p>
            <a:pPr marL="171450" indent="-171450">
              <a:buFont typeface="Arial" panose="020B0604020202020204" pitchFamily="34" charset="0"/>
              <a:buChar char="•"/>
            </a:pPr>
            <a:r>
              <a:rPr lang="ru-RU" sz="1200" b="1"/>
              <a:t>Има друга причина.</a:t>
            </a:r>
            <a:endParaRPr lang="ru-RU" sz="1200"/>
          </a:p>
        </p:txBody>
      </p:sp>
      <p:sp>
        <p:nvSpPr>
          <p:cNvPr id="42" name="Rectangle: Rounded Corners 41">
            <a:extLst>
              <a:ext uri="{FF2B5EF4-FFF2-40B4-BE49-F238E27FC236}">
                <a16:creationId xmlns:a16="http://schemas.microsoft.com/office/drawing/2014/main" id="{3C5E35C9-B294-4B3B-BF61-7024F8FB61B5}"/>
              </a:ext>
            </a:extLst>
          </p:cNvPr>
          <p:cNvSpPr/>
          <p:nvPr/>
        </p:nvSpPr>
        <p:spPr>
          <a:xfrm>
            <a:off x="5062177" y="4338059"/>
            <a:ext cx="2245942" cy="507114"/>
          </a:xfrm>
          <a:prstGeom prst="roundRect">
            <a:avLst/>
          </a:prstGeom>
          <a:solidFill>
            <a:srgbClr val="4472C4"/>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600"/>
              <a:t>Огледална</a:t>
            </a:r>
          </a:p>
        </p:txBody>
      </p:sp>
      <p:sp>
        <p:nvSpPr>
          <p:cNvPr id="43" name="Rectangle: Rounded Corners 12">
            <a:extLst>
              <a:ext uri="{FF2B5EF4-FFF2-40B4-BE49-F238E27FC236}">
                <a16:creationId xmlns:a16="http://schemas.microsoft.com/office/drawing/2014/main" id="{F1E6500D-1520-42E2-BC76-39D48F7715B8}"/>
              </a:ext>
            </a:extLst>
          </p:cNvPr>
          <p:cNvSpPr/>
          <p:nvPr/>
        </p:nvSpPr>
        <p:spPr>
          <a:xfrm>
            <a:off x="7412803" y="4340970"/>
            <a:ext cx="2245942" cy="507114"/>
          </a:xfrm>
          <a:prstGeom prst="round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600"/>
              <a:t>Алтернативна</a:t>
            </a:r>
            <a:endParaRPr lang="bg-BG" sz="2400"/>
          </a:p>
        </p:txBody>
      </p:sp>
      <p:sp>
        <p:nvSpPr>
          <p:cNvPr id="44" name="Текстово поле 18">
            <a:extLst>
              <a:ext uri="{FF2B5EF4-FFF2-40B4-BE49-F238E27FC236}">
                <a16:creationId xmlns:a16="http://schemas.microsoft.com/office/drawing/2014/main" id="{6DAF67DC-D031-4C05-97EC-70A5B3014D4B}"/>
              </a:ext>
            </a:extLst>
          </p:cNvPr>
          <p:cNvSpPr txBox="1"/>
          <p:nvPr/>
        </p:nvSpPr>
        <p:spPr>
          <a:xfrm>
            <a:off x="5012783" y="3974024"/>
            <a:ext cx="397649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bg-BG" b="1"/>
              <a:t>Техники за справяне с възражения</a:t>
            </a:r>
          </a:p>
        </p:txBody>
      </p:sp>
      <p:sp>
        <p:nvSpPr>
          <p:cNvPr id="45" name="Rectangle: Rounded Corners 12">
            <a:extLst>
              <a:ext uri="{FF2B5EF4-FFF2-40B4-BE49-F238E27FC236}">
                <a16:creationId xmlns:a16="http://schemas.microsoft.com/office/drawing/2014/main" id="{A9D3FCD5-A915-45A7-B159-D51BB416951A}"/>
              </a:ext>
            </a:extLst>
          </p:cNvPr>
          <p:cNvSpPr/>
          <p:nvPr/>
        </p:nvSpPr>
        <p:spPr>
          <a:xfrm>
            <a:off x="5062177" y="4903035"/>
            <a:ext cx="2245942" cy="507114"/>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600"/>
              <a:t>Относителна</a:t>
            </a:r>
            <a:endParaRPr lang="bg-BG" sz="2400"/>
          </a:p>
        </p:txBody>
      </p:sp>
      <p:sp>
        <p:nvSpPr>
          <p:cNvPr id="46" name="Rectangle: Rounded Corners 12">
            <a:extLst>
              <a:ext uri="{FF2B5EF4-FFF2-40B4-BE49-F238E27FC236}">
                <a16:creationId xmlns:a16="http://schemas.microsoft.com/office/drawing/2014/main" id="{3B24D917-B344-4565-8587-17E08CA51E53}"/>
              </a:ext>
            </a:extLst>
          </p:cNvPr>
          <p:cNvSpPr/>
          <p:nvPr/>
        </p:nvSpPr>
        <p:spPr>
          <a:xfrm>
            <a:off x="7412803" y="4901093"/>
            <a:ext cx="2245942" cy="507114"/>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600"/>
              <a:t>Тирбушон</a:t>
            </a:r>
            <a:endParaRPr lang="bg-BG" sz="2400"/>
          </a:p>
        </p:txBody>
      </p:sp>
      <p:sp>
        <p:nvSpPr>
          <p:cNvPr id="23" name="Балонче за говор: правоъгълник със заоблени ъгли 14">
            <a:extLst>
              <a:ext uri="{FF2B5EF4-FFF2-40B4-BE49-F238E27FC236}">
                <a16:creationId xmlns:a16="http://schemas.microsoft.com/office/drawing/2014/main" id="{A3C49D6F-F8D0-451C-8AEF-57B0C74CC3A8}"/>
              </a:ext>
            </a:extLst>
          </p:cNvPr>
          <p:cNvSpPr/>
          <p:nvPr/>
        </p:nvSpPr>
        <p:spPr>
          <a:xfrm rot="10800000" flipV="1">
            <a:off x="5062176" y="5490179"/>
            <a:ext cx="4596567" cy="1216462"/>
          </a:xfrm>
          <a:prstGeom prst="roundRect">
            <a:avLst>
              <a:gd name="adj" fmla="val 14834"/>
            </a:avLst>
          </a:prstGeom>
          <a:solidFill>
            <a:schemeClr val="bg1"/>
          </a:solidFill>
          <a:ln>
            <a:noFill/>
          </a:ln>
          <a:effectLst>
            <a:outerShdw blurRad="50800" dist="38100" dir="5400000" algn="t" rotWithShape="0">
              <a:prstClr val="black">
                <a:alpha val="40000"/>
              </a:prstClr>
            </a:outerShdw>
          </a:effectLst>
        </p:spPr>
        <p:style>
          <a:lnRef idx="1">
            <a:schemeClr val="accent4"/>
          </a:lnRef>
          <a:fillRef idx="2">
            <a:schemeClr val="accent4"/>
          </a:fillRef>
          <a:effectRef idx="1">
            <a:schemeClr val="accent4"/>
          </a:effectRef>
          <a:fontRef idx="minor">
            <a:schemeClr val="dk1"/>
          </a:fontRef>
        </p:style>
        <p:txBody>
          <a:bodyPr rtlCol="0" anchor="ctr"/>
          <a:lstStyle/>
          <a:p>
            <a:r>
              <a:rPr lang="ru-RU" sz="1400" b="1"/>
              <a:t>Алтернативна</a:t>
            </a:r>
            <a:br>
              <a:rPr lang="ru-RU" sz="1400"/>
            </a:br>
            <a:r>
              <a:rPr lang="ru-RU" sz="1400"/>
              <a:t>Даваш два възможни варианта за продължаване </a:t>
            </a:r>
            <a:br>
              <a:rPr lang="en-US" sz="1400"/>
            </a:br>
            <a:r>
              <a:rPr lang="ru-RU" sz="1400"/>
              <a:t>на разговора.</a:t>
            </a:r>
            <a:br>
              <a:rPr lang="ru-RU" sz="1400"/>
            </a:br>
            <a:r>
              <a:rPr lang="ru-RU" sz="1400" b="1"/>
              <a:t>Пример:</a:t>
            </a:r>
            <a:r>
              <a:rPr lang="ru-RU" sz="1400"/>
              <a:t> „По-удобно ли е да се чуем по-късно </a:t>
            </a:r>
            <a:br>
              <a:rPr lang="en-US" sz="1400"/>
            </a:br>
            <a:r>
              <a:rPr lang="ru-RU" sz="1400"/>
              <a:t>днес или утре?“</a:t>
            </a:r>
          </a:p>
        </p:txBody>
      </p:sp>
      <p:pic>
        <p:nvPicPr>
          <p:cNvPr id="22" name="Picture 21">
            <a:extLst>
              <a:ext uri="{FF2B5EF4-FFF2-40B4-BE49-F238E27FC236}">
                <a16:creationId xmlns:a16="http://schemas.microsoft.com/office/drawing/2014/main" id="{2D457A7B-6C4B-440B-B34A-8122D513D078}"/>
              </a:ext>
            </a:extLst>
          </p:cNvPr>
          <p:cNvPicPr>
            <a:picLocks noChangeAspect="1"/>
          </p:cNvPicPr>
          <p:nvPr/>
        </p:nvPicPr>
        <p:blipFill>
          <a:blip r:embed="rId2"/>
          <a:stretch>
            <a:fillRect/>
          </a:stretch>
        </p:blipFill>
        <p:spPr>
          <a:xfrm>
            <a:off x="10883590" y="5621341"/>
            <a:ext cx="982751" cy="995681"/>
          </a:xfrm>
          <a:prstGeom prst="rect">
            <a:avLst/>
          </a:prstGeom>
        </p:spPr>
      </p:pic>
    </p:spTree>
    <p:extLst>
      <p:ext uri="{BB962C8B-B14F-4D97-AF65-F5344CB8AC3E}">
        <p14:creationId xmlns:p14="http://schemas.microsoft.com/office/powerpoint/2010/main" val="143941450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B5C517-1EF3-F589-648D-DDB5A5EF5978}"/>
            </a:ext>
          </a:extLst>
        </p:cNvPr>
        <p:cNvGrpSpPr/>
        <p:nvPr/>
      </p:nvGrpSpPr>
      <p:grpSpPr>
        <a:xfrm>
          <a:off x="0" y="0"/>
          <a:ext cx="0" cy="0"/>
          <a:chOff x="0" y="0"/>
          <a:chExt cx="0" cy="0"/>
        </a:xfrm>
      </p:grpSpPr>
      <p:sp>
        <p:nvSpPr>
          <p:cNvPr id="30" name="Rectangle: Rounded Corners 29">
            <a:extLst>
              <a:ext uri="{FF2B5EF4-FFF2-40B4-BE49-F238E27FC236}">
                <a16:creationId xmlns:a16="http://schemas.microsoft.com/office/drawing/2014/main" id="{2C402BF4-D0F5-43DF-8EE3-6F0FE1F26E60}"/>
              </a:ext>
            </a:extLst>
          </p:cNvPr>
          <p:cNvSpPr/>
          <p:nvPr/>
        </p:nvSpPr>
        <p:spPr>
          <a:xfrm>
            <a:off x="1896198" y="1956771"/>
            <a:ext cx="2932281" cy="677242"/>
          </a:xfrm>
          <a:prstGeom prst="round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600"/>
              <a:t>Идентифициране на нужди</a:t>
            </a:r>
            <a:endParaRPr lang="en-GB" sz="1600"/>
          </a:p>
        </p:txBody>
      </p:sp>
      <p:sp>
        <p:nvSpPr>
          <p:cNvPr id="31" name="Rectangle: Rounded Corners 30">
            <a:extLst>
              <a:ext uri="{FF2B5EF4-FFF2-40B4-BE49-F238E27FC236}">
                <a16:creationId xmlns:a16="http://schemas.microsoft.com/office/drawing/2014/main" id="{9755D179-B8BB-4FBA-8116-D813EC933692}"/>
              </a:ext>
            </a:extLst>
          </p:cNvPr>
          <p:cNvSpPr/>
          <p:nvPr/>
        </p:nvSpPr>
        <p:spPr>
          <a:xfrm>
            <a:off x="1896198" y="1146226"/>
            <a:ext cx="2932281" cy="677242"/>
          </a:xfrm>
          <a:prstGeom prst="round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600"/>
              <a:t>Отваряне на разговор</a:t>
            </a:r>
            <a:endParaRPr lang="en-GB" sz="1600"/>
          </a:p>
        </p:txBody>
      </p:sp>
      <p:sp>
        <p:nvSpPr>
          <p:cNvPr id="32" name="Rectangle: Rounded Corners 31">
            <a:extLst>
              <a:ext uri="{FF2B5EF4-FFF2-40B4-BE49-F238E27FC236}">
                <a16:creationId xmlns:a16="http://schemas.microsoft.com/office/drawing/2014/main" id="{715D252E-3B53-47A5-BB71-E92E9DFC35AD}"/>
              </a:ext>
            </a:extLst>
          </p:cNvPr>
          <p:cNvSpPr/>
          <p:nvPr/>
        </p:nvSpPr>
        <p:spPr>
          <a:xfrm>
            <a:off x="1896198" y="3577861"/>
            <a:ext cx="2932281" cy="677242"/>
          </a:xfrm>
          <a:prstGeom prst="roundRect">
            <a:avLst/>
          </a:prstGeom>
          <a:solidFill>
            <a:srgbClr val="4472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600"/>
              <a:t>Справяне с възражения</a:t>
            </a:r>
            <a:endParaRPr lang="en-GB" sz="1600"/>
          </a:p>
        </p:txBody>
      </p:sp>
      <p:sp>
        <p:nvSpPr>
          <p:cNvPr id="33" name="Rectangle: Rounded Corners 32">
            <a:extLst>
              <a:ext uri="{FF2B5EF4-FFF2-40B4-BE49-F238E27FC236}">
                <a16:creationId xmlns:a16="http://schemas.microsoft.com/office/drawing/2014/main" id="{845C0A3D-50AD-4CA8-A117-48BD95529CDC}"/>
              </a:ext>
            </a:extLst>
          </p:cNvPr>
          <p:cNvSpPr/>
          <p:nvPr/>
        </p:nvSpPr>
        <p:spPr>
          <a:xfrm>
            <a:off x="1896198" y="4388406"/>
            <a:ext cx="2932281" cy="677242"/>
          </a:xfrm>
          <a:prstGeom prst="round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600"/>
              <a:t>Затваряне</a:t>
            </a:r>
            <a:endParaRPr lang="en-GB" sz="1600"/>
          </a:p>
        </p:txBody>
      </p:sp>
      <p:sp>
        <p:nvSpPr>
          <p:cNvPr id="34" name="Rectangle 13">
            <a:extLst>
              <a:ext uri="{FF2B5EF4-FFF2-40B4-BE49-F238E27FC236}">
                <a16:creationId xmlns:a16="http://schemas.microsoft.com/office/drawing/2014/main" id="{2D5E4279-FC46-4909-B0EF-7275BA27B56C}"/>
              </a:ext>
            </a:extLst>
          </p:cNvPr>
          <p:cNvSpPr/>
          <p:nvPr/>
        </p:nvSpPr>
        <p:spPr>
          <a:xfrm>
            <a:off x="1896198" y="2767316"/>
            <a:ext cx="2932281" cy="677242"/>
          </a:xfrm>
          <a:prstGeom prst="round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600"/>
              <a:t>Предложение</a:t>
            </a:r>
            <a:endParaRPr lang="en-GB" sz="1600"/>
          </a:p>
        </p:txBody>
      </p:sp>
      <p:sp>
        <p:nvSpPr>
          <p:cNvPr id="35" name="Rectangle 3">
            <a:extLst>
              <a:ext uri="{FF2B5EF4-FFF2-40B4-BE49-F238E27FC236}">
                <a16:creationId xmlns:a16="http://schemas.microsoft.com/office/drawing/2014/main" id="{FABEF15F-03F9-4E9F-B984-26EB9FA34AD7}"/>
              </a:ext>
            </a:extLst>
          </p:cNvPr>
          <p:cNvSpPr/>
          <p:nvPr/>
        </p:nvSpPr>
        <p:spPr>
          <a:xfrm>
            <a:off x="1443475" y="4245"/>
            <a:ext cx="5338363" cy="677242"/>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36" name="Rectangle 4">
            <a:extLst>
              <a:ext uri="{FF2B5EF4-FFF2-40B4-BE49-F238E27FC236}">
                <a16:creationId xmlns:a16="http://schemas.microsoft.com/office/drawing/2014/main" id="{3293CB32-D00F-45AC-8844-A57A952C2260}"/>
              </a:ext>
            </a:extLst>
          </p:cNvPr>
          <p:cNvSpPr/>
          <p:nvPr/>
        </p:nvSpPr>
        <p:spPr>
          <a:xfrm>
            <a:off x="6788435" y="4245"/>
            <a:ext cx="5417300" cy="677242"/>
          </a:xfrm>
          <a:prstGeom prst="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37" name="Rectangle 36">
            <a:extLst>
              <a:ext uri="{FF2B5EF4-FFF2-40B4-BE49-F238E27FC236}">
                <a16:creationId xmlns:a16="http://schemas.microsoft.com/office/drawing/2014/main" id="{7AC7A2F6-7722-4C0B-AC87-727B4D8BD4A1}"/>
              </a:ext>
            </a:extLst>
          </p:cNvPr>
          <p:cNvSpPr/>
          <p:nvPr/>
        </p:nvSpPr>
        <p:spPr>
          <a:xfrm>
            <a:off x="-1671" y="1599"/>
            <a:ext cx="1451167" cy="6866954"/>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200">
              <a:latin typeface="Aptos"/>
              <a:ea typeface="Calibri"/>
              <a:cs typeface="Calibri"/>
            </a:endParaRPr>
          </a:p>
        </p:txBody>
      </p:sp>
      <p:sp>
        <p:nvSpPr>
          <p:cNvPr id="38" name="Rectangle 37">
            <a:extLst>
              <a:ext uri="{FF2B5EF4-FFF2-40B4-BE49-F238E27FC236}">
                <a16:creationId xmlns:a16="http://schemas.microsoft.com/office/drawing/2014/main" id="{5ED7378A-07C3-401B-9FA3-A6691CC01755}"/>
              </a:ext>
            </a:extLst>
          </p:cNvPr>
          <p:cNvSpPr/>
          <p:nvPr/>
        </p:nvSpPr>
        <p:spPr>
          <a:xfrm>
            <a:off x="-1671" y="2528038"/>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Типове клиенти</a:t>
            </a:r>
            <a:endParaRPr lang="en-GB" sz="1400">
              <a:latin typeface="Aptos"/>
              <a:ea typeface="Calibri"/>
              <a:cs typeface="Calibri"/>
            </a:endParaRPr>
          </a:p>
        </p:txBody>
      </p:sp>
      <p:sp>
        <p:nvSpPr>
          <p:cNvPr id="39" name="Rectangle 38">
            <a:extLst>
              <a:ext uri="{FF2B5EF4-FFF2-40B4-BE49-F238E27FC236}">
                <a16:creationId xmlns:a16="http://schemas.microsoft.com/office/drawing/2014/main" id="{CA63B424-E43B-42F7-AB13-EED32A89F5F7}"/>
              </a:ext>
            </a:extLst>
          </p:cNvPr>
          <p:cNvSpPr/>
          <p:nvPr/>
        </p:nvSpPr>
        <p:spPr>
          <a:xfrm>
            <a:off x="8626" y="1913210"/>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Сценарии</a:t>
            </a:r>
            <a:endParaRPr lang="en-GB" sz="1400">
              <a:latin typeface="Aptos"/>
              <a:ea typeface="Calibri"/>
              <a:cs typeface="Calibri"/>
            </a:endParaRPr>
          </a:p>
        </p:txBody>
      </p:sp>
      <p:sp>
        <p:nvSpPr>
          <p:cNvPr id="40" name="Rectangle 39">
            <a:extLst>
              <a:ext uri="{FF2B5EF4-FFF2-40B4-BE49-F238E27FC236}">
                <a16:creationId xmlns:a16="http://schemas.microsoft.com/office/drawing/2014/main" id="{F1A1DF79-2B11-426F-ADE6-CE21C8D863C7}"/>
              </a:ext>
            </a:extLst>
          </p:cNvPr>
          <p:cNvSpPr/>
          <p:nvPr/>
        </p:nvSpPr>
        <p:spPr>
          <a:xfrm>
            <a:off x="-1671" y="1298382"/>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b="1">
                <a:solidFill>
                  <a:schemeClr val="tx2"/>
                </a:solidFill>
                <a:latin typeface="Aptos"/>
                <a:ea typeface="Calibri"/>
                <a:cs typeface="Calibri"/>
              </a:rPr>
              <a:t>Стъпки при среща</a:t>
            </a:r>
            <a:endParaRPr lang="bg-BG" sz="1400">
              <a:solidFill>
                <a:srgbClr val="000000"/>
              </a:solidFill>
              <a:latin typeface="Aptos"/>
              <a:ea typeface="Calibri"/>
              <a:cs typeface="Calibri"/>
            </a:endParaRPr>
          </a:p>
        </p:txBody>
      </p:sp>
      <p:sp>
        <p:nvSpPr>
          <p:cNvPr id="41" name="Rectangle 28">
            <a:extLst>
              <a:ext uri="{FF2B5EF4-FFF2-40B4-BE49-F238E27FC236}">
                <a16:creationId xmlns:a16="http://schemas.microsoft.com/office/drawing/2014/main" id="{93E58A2E-E4F9-4E39-8446-1C158C25A972}"/>
              </a:ext>
            </a:extLst>
          </p:cNvPr>
          <p:cNvSpPr/>
          <p:nvPr/>
        </p:nvSpPr>
        <p:spPr>
          <a:xfrm>
            <a:off x="6154" y="690328"/>
            <a:ext cx="1435083"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a:solidFill>
                  <a:schemeClr val="bg1"/>
                </a:solidFill>
                <a:latin typeface="Aptos"/>
                <a:ea typeface="Calibri"/>
                <a:cs typeface="Calibri"/>
              </a:rPr>
              <a:t>Подготовка</a:t>
            </a:r>
            <a:endParaRPr lang="en-GB" sz="1400">
              <a:solidFill>
                <a:schemeClr val="bg1"/>
              </a:solidFill>
              <a:latin typeface="Aptos"/>
              <a:ea typeface="Calibri"/>
              <a:cs typeface="Calibri"/>
            </a:endParaRPr>
          </a:p>
        </p:txBody>
      </p:sp>
      <p:sp>
        <p:nvSpPr>
          <p:cNvPr id="11" name="Rectangle: Rounded Corners 10">
            <a:extLst>
              <a:ext uri="{FF2B5EF4-FFF2-40B4-BE49-F238E27FC236}">
                <a16:creationId xmlns:a16="http://schemas.microsoft.com/office/drawing/2014/main" id="{8BC9B408-BED5-C9F1-8AB1-A9B6FBA00F52}"/>
              </a:ext>
            </a:extLst>
          </p:cNvPr>
          <p:cNvSpPr/>
          <p:nvPr/>
        </p:nvSpPr>
        <p:spPr>
          <a:xfrm>
            <a:off x="5082348" y="1146226"/>
            <a:ext cx="6258442" cy="2711593"/>
          </a:xfrm>
          <a:prstGeom prst="roundRect">
            <a:avLst>
              <a:gd name="adj" fmla="val 5027"/>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ru-RU" sz="1200"/>
              <a:t>Ако сме свършили добра работа с </a:t>
            </a:r>
            <a:r>
              <a:rPr lang="ru-RU" sz="1200" b="1"/>
              <a:t>идентифицирането на нуждите</a:t>
            </a:r>
            <a:r>
              <a:rPr lang="ru-RU" sz="1200"/>
              <a:t> и даването на нашето </a:t>
            </a:r>
            <a:r>
              <a:rPr lang="ru-RU" sz="1200" b="1"/>
              <a:t>предложение с ползи</a:t>
            </a:r>
            <a:r>
              <a:rPr lang="ru-RU" sz="1200"/>
              <a:t>, би трябвало да имаме много </a:t>
            </a:r>
            <a:r>
              <a:rPr lang="ru-RU" sz="1200" b="1"/>
              <a:t>малко възражения</a:t>
            </a:r>
            <a:r>
              <a:rPr lang="ru-RU" sz="1200"/>
              <a:t> – клиентът би бил любопитен да види нашето предложение.</a:t>
            </a:r>
            <a:endParaRPr lang="en-US" sz="1200"/>
          </a:p>
          <a:p>
            <a:endParaRPr lang="ru-RU" sz="1200"/>
          </a:p>
          <a:p>
            <a:r>
              <a:rPr lang="ru-RU" sz="1200"/>
              <a:t>Ако все пак има такива, или клиентът изрази по някакъв начин колебанията си, </a:t>
            </a:r>
            <a:r>
              <a:rPr lang="ru-RU" sz="1200" b="1"/>
              <a:t>това вероятно показва</a:t>
            </a:r>
            <a:r>
              <a:rPr lang="ru-RU" sz="1200"/>
              <a:t>:</a:t>
            </a:r>
            <a:endParaRPr lang="en-US" sz="1200"/>
          </a:p>
          <a:p>
            <a:endParaRPr lang="ru-RU" sz="1200"/>
          </a:p>
          <a:p>
            <a:pPr marL="171450" indent="-171450">
              <a:buFont typeface="Arial" panose="020B0604020202020204" pitchFamily="34" charset="0"/>
              <a:buChar char="•"/>
            </a:pPr>
            <a:r>
              <a:rPr lang="ru-RU" sz="1200" b="1"/>
              <a:t>Не сме успели да идентифицираме достатъчно важна нужда на клиента, въпреки положените усилия.</a:t>
            </a:r>
            <a:endParaRPr lang="en-US" sz="1200" b="1"/>
          </a:p>
          <a:p>
            <a:pPr marL="171450" indent="-171450">
              <a:buFont typeface="Arial" panose="020B0604020202020204" pitchFamily="34" charset="0"/>
              <a:buChar char="•"/>
            </a:pPr>
            <a:r>
              <a:rPr lang="ru-RU" sz="1200" b="1"/>
              <a:t>Преминали сме прекалено рано към предложението, без да успеем да поговорим достатъчно за нуждите.</a:t>
            </a:r>
            <a:endParaRPr lang="en-US" sz="1200" b="1"/>
          </a:p>
          <a:p>
            <a:pPr marL="171450" indent="-171450">
              <a:buFont typeface="Arial" panose="020B0604020202020204" pitchFamily="34" charset="0"/>
              <a:buChar char="•"/>
            </a:pPr>
            <a:r>
              <a:rPr lang="ru-RU" sz="1200" b="1"/>
              <a:t>Не сме успели да спечелим доверието на клиента.</a:t>
            </a:r>
            <a:endParaRPr lang="ru-RU" sz="1200"/>
          </a:p>
          <a:p>
            <a:pPr marL="171450" indent="-171450">
              <a:buFont typeface="Arial" panose="020B0604020202020204" pitchFamily="34" charset="0"/>
              <a:buChar char="•"/>
            </a:pPr>
            <a:r>
              <a:rPr lang="ru-RU" sz="1200" b="1"/>
              <a:t>Има друга причина.</a:t>
            </a:r>
            <a:endParaRPr lang="ru-RU" sz="1200"/>
          </a:p>
        </p:txBody>
      </p:sp>
      <p:sp>
        <p:nvSpPr>
          <p:cNvPr id="42" name="Rectangle: Rounded Corners 41">
            <a:extLst>
              <a:ext uri="{FF2B5EF4-FFF2-40B4-BE49-F238E27FC236}">
                <a16:creationId xmlns:a16="http://schemas.microsoft.com/office/drawing/2014/main" id="{3C5E35C9-B294-4B3B-BF61-7024F8FB61B5}"/>
              </a:ext>
            </a:extLst>
          </p:cNvPr>
          <p:cNvSpPr/>
          <p:nvPr/>
        </p:nvSpPr>
        <p:spPr>
          <a:xfrm>
            <a:off x="5062177" y="4338059"/>
            <a:ext cx="2245942" cy="507114"/>
          </a:xfrm>
          <a:prstGeom prst="roundRect">
            <a:avLst/>
          </a:prstGeom>
          <a:solidFill>
            <a:srgbClr val="4472C4"/>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600"/>
              <a:t>Огледална</a:t>
            </a:r>
          </a:p>
        </p:txBody>
      </p:sp>
      <p:sp>
        <p:nvSpPr>
          <p:cNvPr id="43" name="Rectangle: Rounded Corners 12">
            <a:extLst>
              <a:ext uri="{FF2B5EF4-FFF2-40B4-BE49-F238E27FC236}">
                <a16:creationId xmlns:a16="http://schemas.microsoft.com/office/drawing/2014/main" id="{F1E6500D-1520-42E2-BC76-39D48F7715B8}"/>
              </a:ext>
            </a:extLst>
          </p:cNvPr>
          <p:cNvSpPr/>
          <p:nvPr/>
        </p:nvSpPr>
        <p:spPr>
          <a:xfrm>
            <a:off x="7412803" y="4340970"/>
            <a:ext cx="2245942" cy="507114"/>
          </a:xfrm>
          <a:prstGeom prst="roundRect">
            <a:avLst/>
          </a:prstGeom>
          <a:solidFill>
            <a:srgbClr val="4472C4"/>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600"/>
              <a:t>Алтернативна</a:t>
            </a:r>
            <a:endParaRPr lang="bg-BG" sz="2400"/>
          </a:p>
        </p:txBody>
      </p:sp>
      <p:sp>
        <p:nvSpPr>
          <p:cNvPr id="44" name="Текстово поле 18">
            <a:extLst>
              <a:ext uri="{FF2B5EF4-FFF2-40B4-BE49-F238E27FC236}">
                <a16:creationId xmlns:a16="http://schemas.microsoft.com/office/drawing/2014/main" id="{6DAF67DC-D031-4C05-97EC-70A5B3014D4B}"/>
              </a:ext>
            </a:extLst>
          </p:cNvPr>
          <p:cNvSpPr txBox="1"/>
          <p:nvPr/>
        </p:nvSpPr>
        <p:spPr>
          <a:xfrm>
            <a:off x="5012783" y="3974024"/>
            <a:ext cx="397649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bg-BG" b="1"/>
              <a:t>Техники за справяне с възражения</a:t>
            </a:r>
          </a:p>
        </p:txBody>
      </p:sp>
      <p:sp>
        <p:nvSpPr>
          <p:cNvPr id="45" name="Rectangle: Rounded Corners 12">
            <a:extLst>
              <a:ext uri="{FF2B5EF4-FFF2-40B4-BE49-F238E27FC236}">
                <a16:creationId xmlns:a16="http://schemas.microsoft.com/office/drawing/2014/main" id="{A9D3FCD5-A915-45A7-B159-D51BB416951A}"/>
              </a:ext>
            </a:extLst>
          </p:cNvPr>
          <p:cNvSpPr/>
          <p:nvPr/>
        </p:nvSpPr>
        <p:spPr>
          <a:xfrm>
            <a:off x="5062177" y="4903035"/>
            <a:ext cx="2245942" cy="507114"/>
          </a:xfrm>
          <a:prstGeom prst="round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600"/>
              <a:t>Относителна</a:t>
            </a:r>
            <a:endParaRPr lang="bg-BG" sz="2400"/>
          </a:p>
        </p:txBody>
      </p:sp>
      <p:sp>
        <p:nvSpPr>
          <p:cNvPr id="46" name="Rectangle: Rounded Corners 12">
            <a:extLst>
              <a:ext uri="{FF2B5EF4-FFF2-40B4-BE49-F238E27FC236}">
                <a16:creationId xmlns:a16="http://schemas.microsoft.com/office/drawing/2014/main" id="{3B24D917-B344-4565-8587-17E08CA51E53}"/>
              </a:ext>
            </a:extLst>
          </p:cNvPr>
          <p:cNvSpPr/>
          <p:nvPr/>
        </p:nvSpPr>
        <p:spPr>
          <a:xfrm>
            <a:off x="7412803" y="4901093"/>
            <a:ext cx="2245942" cy="507114"/>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600"/>
              <a:t>Тирбушон</a:t>
            </a:r>
            <a:endParaRPr lang="bg-BG" sz="2400"/>
          </a:p>
        </p:txBody>
      </p:sp>
      <p:sp>
        <p:nvSpPr>
          <p:cNvPr id="22" name="Балонче за говор: правоъгълник със заоблени ъгли 14">
            <a:extLst>
              <a:ext uri="{FF2B5EF4-FFF2-40B4-BE49-F238E27FC236}">
                <a16:creationId xmlns:a16="http://schemas.microsoft.com/office/drawing/2014/main" id="{26555D8D-FF92-42EF-856D-24031EFEC434}"/>
              </a:ext>
            </a:extLst>
          </p:cNvPr>
          <p:cNvSpPr/>
          <p:nvPr/>
        </p:nvSpPr>
        <p:spPr>
          <a:xfrm rot="10800000" flipV="1">
            <a:off x="5082348" y="5468011"/>
            <a:ext cx="4608961" cy="1216462"/>
          </a:xfrm>
          <a:prstGeom prst="roundRect">
            <a:avLst>
              <a:gd name="adj" fmla="val 14834"/>
            </a:avLst>
          </a:prstGeom>
          <a:solidFill>
            <a:schemeClr val="bg1"/>
          </a:solidFill>
          <a:ln>
            <a:noFill/>
          </a:ln>
          <a:effectLst>
            <a:outerShdw blurRad="50800" dist="38100" dir="5400000" algn="t" rotWithShape="0">
              <a:prstClr val="black">
                <a:alpha val="40000"/>
              </a:prstClr>
            </a:outerShdw>
          </a:effectLst>
        </p:spPr>
        <p:style>
          <a:lnRef idx="1">
            <a:schemeClr val="accent4"/>
          </a:lnRef>
          <a:fillRef idx="2">
            <a:schemeClr val="accent4"/>
          </a:fillRef>
          <a:effectRef idx="1">
            <a:schemeClr val="accent4"/>
          </a:effectRef>
          <a:fontRef idx="minor">
            <a:schemeClr val="dk1"/>
          </a:fontRef>
        </p:style>
        <p:txBody>
          <a:bodyPr rtlCol="0" anchor="ctr"/>
          <a:lstStyle/>
          <a:p>
            <a:r>
              <a:rPr lang="ru-RU" sz="1400" b="1"/>
              <a:t>Относителна</a:t>
            </a:r>
            <a:r>
              <a:rPr lang="ru-RU" sz="1400"/>
              <a:t>​</a:t>
            </a:r>
            <a:br>
              <a:rPr lang="ru-RU" sz="1400"/>
            </a:br>
            <a:r>
              <a:rPr lang="ru-RU" sz="1400"/>
              <a:t>Поставяш възражението в контекст и насочваш </a:t>
            </a:r>
            <a:br>
              <a:rPr lang="en-US" sz="1400"/>
            </a:br>
            <a:r>
              <a:rPr lang="ru-RU" sz="1400"/>
              <a:t>към стойността и ползите.​</a:t>
            </a:r>
            <a:br>
              <a:rPr lang="ru-RU" sz="1400"/>
            </a:br>
            <a:r>
              <a:rPr lang="ru-RU" sz="1400" b="1"/>
              <a:t>Пример:</a:t>
            </a:r>
            <a:r>
              <a:rPr lang="ru-RU" sz="1400"/>
              <a:t> „Важно е да се види не само цената, а и </a:t>
            </a:r>
            <a:br>
              <a:rPr lang="en-US" sz="1400"/>
            </a:br>
            <a:r>
              <a:rPr lang="ru-RU" sz="1400"/>
              <a:t>какво получавате срещу нея.“</a:t>
            </a:r>
            <a:endParaRPr lang="bg-BG" sz="1400"/>
          </a:p>
        </p:txBody>
      </p:sp>
      <p:pic>
        <p:nvPicPr>
          <p:cNvPr id="23" name="Picture 22">
            <a:extLst>
              <a:ext uri="{FF2B5EF4-FFF2-40B4-BE49-F238E27FC236}">
                <a16:creationId xmlns:a16="http://schemas.microsoft.com/office/drawing/2014/main" id="{E4E097C1-CA4E-4C99-BA90-7CA5CCAF04D2}"/>
              </a:ext>
            </a:extLst>
          </p:cNvPr>
          <p:cNvPicPr>
            <a:picLocks noChangeAspect="1"/>
          </p:cNvPicPr>
          <p:nvPr/>
        </p:nvPicPr>
        <p:blipFill>
          <a:blip r:embed="rId2"/>
          <a:stretch>
            <a:fillRect/>
          </a:stretch>
        </p:blipFill>
        <p:spPr>
          <a:xfrm>
            <a:off x="10883590" y="5621341"/>
            <a:ext cx="982751" cy="995681"/>
          </a:xfrm>
          <a:prstGeom prst="rect">
            <a:avLst/>
          </a:prstGeom>
        </p:spPr>
      </p:pic>
    </p:spTree>
    <p:extLst>
      <p:ext uri="{BB962C8B-B14F-4D97-AF65-F5344CB8AC3E}">
        <p14:creationId xmlns:p14="http://schemas.microsoft.com/office/powerpoint/2010/main" val="102144966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B5C517-1EF3-F589-648D-DDB5A5EF5978}"/>
            </a:ext>
          </a:extLst>
        </p:cNvPr>
        <p:cNvGrpSpPr/>
        <p:nvPr/>
      </p:nvGrpSpPr>
      <p:grpSpPr>
        <a:xfrm>
          <a:off x="0" y="0"/>
          <a:ext cx="0" cy="0"/>
          <a:chOff x="0" y="0"/>
          <a:chExt cx="0" cy="0"/>
        </a:xfrm>
      </p:grpSpPr>
      <p:sp>
        <p:nvSpPr>
          <p:cNvPr id="30" name="Rectangle: Rounded Corners 29">
            <a:extLst>
              <a:ext uri="{FF2B5EF4-FFF2-40B4-BE49-F238E27FC236}">
                <a16:creationId xmlns:a16="http://schemas.microsoft.com/office/drawing/2014/main" id="{2C402BF4-D0F5-43DF-8EE3-6F0FE1F26E60}"/>
              </a:ext>
            </a:extLst>
          </p:cNvPr>
          <p:cNvSpPr/>
          <p:nvPr/>
        </p:nvSpPr>
        <p:spPr>
          <a:xfrm>
            <a:off x="1896198" y="1956771"/>
            <a:ext cx="2932281" cy="677242"/>
          </a:xfrm>
          <a:prstGeom prst="round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600"/>
              <a:t>Идентифициране на нужди</a:t>
            </a:r>
            <a:endParaRPr lang="en-GB" sz="1600"/>
          </a:p>
        </p:txBody>
      </p:sp>
      <p:sp>
        <p:nvSpPr>
          <p:cNvPr id="31" name="Rectangle: Rounded Corners 30">
            <a:extLst>
              <a:ext uri="{FF2B5EF4-FFF2-40B4-BE49-F238E27FC236}">
                <a16:creationId xmlns:a16="http://schemas.microsoft.com/office/drawing/2014/main" id="{9755D179-B8BB-4FBA-8116-D813EC933692}"/>
              </a:ext>
            </a:extLst>
          </p:cNvPr>
          <p:cNvSpPr/>
          <p:nvPr/>
        </p:nvSpPr>
        <p:spPr>
          <a:xfrm>
            <a:off x="1896198" y="1146226"/>
            <a:ext cx="2932281" cy="677242"/>
          </a:xfrm>
          <a:prstGeom prst="round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600"/>
              <a:t>Отваряне на разговор</a:t>
            </a:r>
            <a:endParaRPr lang="en-GB" sz="1600"/>
          </a:p>
        </p:txBody>
      </p:sp>
      <p:sp>
        <p:nvSpPr>
          <p:cNvPr id="32" name="Rectangle: Rounded Corners 31">
            <a:extLst>
              <a:ext uri="{FF2B5EF4-FFF2-40B4-BE49-F238E27FC236}">
                <a16:creationId xmlns:a16="http://schemas.microsoft.com/office/drawing/2014/main" id="{715D252E-3B53-47A5-BB71-E92E9DFC35AD}"/>
              </a:ext>
            </a:extLst>
          </p:cNvPr>
          <p:cNvSpPr/>
          <p:nvPr/>
        </p:nvSpPr>
        <p:spPr>
          <a:xfrm>
            <a:off x="1896198" y="3577861"/>
            <a:ext cx="2932281" cy="677242"/>
          </a:xfrm>
          <a:prstGeom prst="roundRect">
            <a:avLst/>
          </a:prstGeom>
          <a:solidFill>
            <a:srgbClr val="4472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600"/>
              <a:t>Справяне с възражения</a:t>
            </a:r>
            <a:endParaRPr lang="en-GB" sz="1600"/>
          </a:p>
        </p:txBody>
      </p:sp>
      <p:sp>
        <p:nvSpPr>
          <p:cNvPr id="33" name="Rectangle: Rounded Corners 32">
            <a:extLst>
              <a:ext uri="{FF2B5EF4-FFF2-40B4-BE49-F238E27FC236}">
                <a16:creationId xmlns:a16="http://schemas.microsoft.com/office/drawing/2014/main" id="{845C0A3D-50AD-4CA8-A117-48BD95529CDC}"/>
              </a:ext>
            </a:extLst>
          </p:cNvPr>
          <p:cNvSpPr/>
          <p:nvPr/>
        </p:nvSpPr>
        <p:spPr>
          <a:xfrm>
            <a:off x="1896198" y="4388406"/>
            <a:ext cx="2932281" cy="677242"/>
          </a:xfrm>
          <a:prstGeom prst="round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600"/>
              <a:t>Затваряне</a:t>
            </a:r>
            <a:endParaRPr lang="en-GB" sz="1600"/>
          </a:p>
        </p:txBody>
      </p:sp>
      <p:sp>
        <p:nvSpPr>
          <p:cNvPr id="34" name="Rectangle 13">
            <a:extLst>
              <a:ext uri="{FF2B5EF4-FFF2-40B4-BE49-F238E27FC236}">
                <a16:creationId xmlns:a16="http://schemas.microsoft.com/office/drawing/2014/main" id="{2D5E4279-FC46-4909-B0EF-7275BA27B56C}"/>
              </a:ext>
            </a:extLst>
          </p:cNvPr>
          <p:cNvSpPr/>
          <p:nvPr/>
        </p:nvSpPr>
        <p:spPr>
          <a:xfrm>
            <a:off x="1896198" y="2767316"/>
            <a:ext cx="2932281" cy="677242"/>
          </a:xfrm>
          <a:prstGeom prst="round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600"/>
              <a:t>Предложение</a:t>
            </a:r>
            <a:endParaRPr lang="en-GB" sz="1600"/>
          </a:p>
        </p:txBody>
      </p:sp>
      <p:sp>
        <p:nvSpPr>
          <p:cNvPr id="35" name="Rectangle 3">
            <a:extLst>
              <a:ext uri="{FF2B5EF4-FFF2-40B4-BE49-F238E27FC236}">
                <a16:creationId xmlns:a16="http://schemas.microsoft.com/office/drawing/2014/main" id="{FABEF15F-03F9-4E9F-B984-26EB9FA34AD7}"/>
              </a:ext>
            </a:extLst>
          </p:cNvPr>
          <p:cNvSpPr/>
          <p:nvPr/>
        </p:nvSpPr>
        <p:spPr>
          <a:xfrm>
            <a:off x="1443475" y="4245"/>
            <a:ext cx="5338363" cy="677242"/>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36" name="Rectangle 4">
            <a:extLst>
              <a:ext uri="{FF2B5EF4-FFF2-40B4-BE49-F238E27FC236}">
                <a16:creationId xmlns:a16="http://schemas.microsoft.com/office/drawing/2014/main" id="{3293CB32-D00F-45AC-8844-A57A952C2260}"/>
              </a:ext>
            </a:extLst>
          </p:cNvPr>
          <p:cNvSpPr/>
          <p:nvPr/>
        </p:nvSpPr>
        <p:spPr>
          <a:xfrm>
            <a:off x="6788435" y="4245"/>
            <a:ext cx="5417300" cy="677242"/>
          </a:xfrm>
          <a:prstGeom prst="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37" name="Rectangle 36">
            <a:extLst>
              <a:ext uri="{FF2B5EF4-FFF2-40B4-BE49-F238E27FC236}">
                <a16:creationId xmlns:a16="http://schemas.microsoft.com/office/drawing/2014/main" id="{7AC7A2F6-7722-4C0B-AC87-727B4D8BD4A1}"/>
              </a:ext>
            </a:extLst>
          </p:cNvPr>
          <p:cNvSpPr/>
          <p:nvPr/>
        </p:nvSpPr>
        <p:spPr>
          <a:xfrm>
            <a:off x="-1671" y="1599"/>
            <a:ext cx="1451167" cy="6866954"/>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200">
              <a:latin typeface="Aptos"/>
              <a:ea typeface="Calibri"/>
              <a:cs typeface="Calibri"/>
            </a:endParaRPr>
          </a:p>
        </p:txBody>
      </p:sp>
      <p:sp>
        <p:nvSpPr>
          <p:cNvPr id="38" name="Rectangle 37">
            <a:extLst>
              <a:ext uri="{FF2B5EF4-FFF2-40B4-BE49-F238E27FC236}">
                <a16:creationId xmlns:a16="http://schemas.microsoft.com/office/drawing/2014/main" id="{5ED7378A-07C3-401B-9FA3-A6691CC01755}"/>
              </a:ext>
            </a:extLst>
          </p:cNvPr>
          <p:cNvSpPr/>
          <p:nvPr/>
        </p:nvSpPr>
        <p:spPr>
          <a:xfrm>
            <a:off x="-1671" y="2528038"/>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Типове клиенти</a:t>
            </a:r>
            <a:endParaRPr lang="en-GB" sz="1400">
              <a:latin typeface="Aptos"/>
              <a:ea typeface="Calibri"/>
              <a:cs typeface="Calibri"/>
            </a:endParaRPr>
          </a:p>
        </p:txBody>
      </p:sp>
      <p:sp>
        <p:nvSpPr>
          <p:cNvPr id="39" name="Rectangle 38">
            <a:extLst>
              <a:ext uri="{FF2B5EF4-FFF2-40B4-BE49-F238E27FC236}">
                <a16:creationId xmlns:a16="http://schemas.microsoft.com/office/drawing/2014/main" id="{CA63B424-E43B-42F7-AB13-EED32A89F5F7}"/>
              </a:ext>
            </a:extLst>
          </p:cNvPr>
          <p:cNvSpPr/>
          <p:nvPr/>
        </p:nvSpPr>
        <p:spPr>
          <a:xfrm>
            <a:off x="8626" y="1913210"/>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Сценарии</a:t>
            </a:r>
            <a:endParaRPr lang="en-GB" sz="1400">
              <a:latin typeface="Aptos"/>
              <a:ea typeface="Calibri"/>
              <a:cs typeface="Calibri"/>
            </a:endParaRPr>
          </a:p>
        </p:txBody>
      </p:sp>
      <p:sp>
        <p:nvSpPr>
          <p:cNvPr id="40" name="Rectangle 39">
            <a:extLst>
              <a:ext uri="{FF2B5EF4-FFF2-40B4-BE49-F238E27FC236}">
                <a16:creationId xmlns:a16="http://schemas.microsoft.com/office/drawing/2014/main" id="{F1A1DF79-2B11-426F-ADE6-CE21C8D863C7}"/>
              </a:ext>
            </a:extLst>
          </p:cNvPr>
          <p:cNvSpPr/>
          <p:nvPr/>
        </p:nvSpPr>
        <p:spPr>
          <a:xfrm>
            <a:off x="-1671" y="1298382"/>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b="1">
                <a:solidFill>
                  <a:schemeClr val="tx2"/>
                </a:solidFill>
                <a:latin typeface="Aptos"/>
                <a:ea typeface="Calibri"/>
                <a:cs typeface="Calibri"/>
              </a:rPr>
              <a:t>Стъпки при среща</a:t>
            </a:r>
            <a:endParaRPr lang="bg-BG" sz="1400">
              <a:solidFill>
                <a:schemeClr val="tx2"/>
              </a:solidFill>
              <a:latin typeface="Aptos"/>
              <a:ea typeface="Calibri"/>
              <a:cs typeface="Calibri"/>
            </a:endParaRPr>
          </a:p>
        </p:txBody>
      </p:sp>
      <p:sp>
        <p:nvSpPr>
          <p:cNvPr id="41" name="Rectangle 28">
            <a:extLst>
              <a:ext uri="{FF2B5EF4-FFF2-40B4-BE49-F238E27FC236}">
                <a16:creationId xmlns:a16="http://schemas.microsoft.com/office/drawing/2014/main" id="{93E58A2E-E4F9-4E39-8446-1C158C25A972}"/>
              </a:ext>
            </a:extLst>
          </p:cNvPr>
          <p:cNvSpPr/>
          <p:nvPr/>
        </p:nvSpPr>
        <p:spPr>
          <a:xfrm>
            <a:off x="6154" y="690328"/>
            <a:ext cx="1435083"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a:solidFill>
                  <a:schemeClr val="bg1"/>
                </a:solidFill>
                <a:latin typeface="Aptos"/>
                <a:ea typeface="Calibri"/>
                <a:cs typeface="Calibri"/>
              </a:rPr>
              <a:t>Подготовка</a:t>
            </a:r>
            <a:endParaRPr lang="en-GB" sz="1400">
              <a:solidFill>
                <a:schemeClr val="bg1"/>
              </a:solidFill>
              <a:latin typeface="Aptos"/>
              <a:ea typeface="Calibri"/>
              <a:cs typeface="Calibri"/>
            </a:endParaRPr>
          </a:p>
        </p:txBody>
      </p:sp>
      <p:sp>
        <p:nvSpPr>
          <p:cNvPr id="11" name="Rectangle: Rounded Corners 10">
            <a:extLst>
              <a:ext uri="{FF2B5EF4-FFF2-40B4-BE49-F238E27FC236}">
                <a16:creationId xmlns:a16="http://schemas.microsoft.com/office/drawing/2014/main" id="{8BC9B408-BED5-C9F1-8AB1-A9B6FBA00F52}"/>
              </a:ext>
            </a:extLst>
          </p:cNvPr>
          <p:cNvSpPr/>
          <p:nvPr/>
        </p:nvSpPr>
        <p:spPr>
          <a:xfrm>
            <a:off x="5082348" y="1146226"/>
            <a:ext cx="6258442" cy="2711593"/>
          </a:xfrm>
          <a:prstGeom prst="roundRect">
            <a:avLst>
              <a:gd name="adj" fmla="val 5027"/>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ru-RU" sz="1200"/>
              <a:t>Ако сме свършили добра работа с </a:t>
            </a:r>
            <a:r>
              <a:rPr lang="ru-RU" sz="1200" b="1"/>
              <a:t>идентифицирането на нуждите</a:t>
            </a:r>
            <a:r>
              <a:rPr lang="ru-RU" sz="1200"/>
              <a:t> и даването на нашето </a:t>
            </a:r>
            <a:r>
              <a:rPr lang="ru-RU" sz="1200" b="1"/>
              <a:t>предложение с ползи</a:t>
            </a:r>
            <a:r>
              <a:rPr lang="ru-RU" sz="1200"/>
              <a:t>, би трябвало да имаме много </a:t>
            </a:r>
            <a:r>
              <a:rPr lang="ru-RU" sz="1200" b="1"/>
              <a:t>малко възражения</a:t>
            </a:r>
            <a:r>
              <a:rPr lang="ru-RU" sz="1200"/>
              <a:t> – клиентът би бил любопитен да види нашето предложение.</a:t>
            </a:r>
            <a:endParaRPr lang="en-US" sz="1200"/>
          </a:p>
          <a:p>
            <a:endParaRPr lang="ru-RU" sz="1200"/>
          </a:p>
          <a:p>
            <a:r>
              <a:rPr lang="ru-RU" sz="1200"/>
              <a:t>Ако все пак има такива, или клиентът изрази по някакъв начин колебанията си, </a:t>
            </a:r>
            <a:r>
              <a:rPr lang="ru-RU" sz="1200" b="1"/>
              <a:t>това вероятно показва</a:t>
            </a:r>
            <a:r>
              <a:rPr lang="ru-RU" sz="1200"/>
              <a:t>:</a:t>
            </a:r>
            <a:endParaRPr lang="en-US" sz="1200"/>
          </a:p>
          <a:p>
            <a:endParaRPr lang="ru-RU" sz="1200"/>
          </a:p>
          <a:p>
            <a:pPr marL="171450" indent="-171450">
              <a:buFont typeface="Arial" panose="020B0604020202020204" pitchFamily="34" charset="0"/>
              <a:buChar char="•"/>
            </a:pPr>
            <a:r>
              <a:rPr lang="ru-RU" sz="1200" b="1"/>
              <a:t>Не сме успели да идентифицираме достатъчно важна нужда на клиента, въпреки положените усилия.</a:t>
            </a:r>
            <a:endParaRPr lang="en-US" sz="1200" b="1"/>
          </a:p>
          <a:p>
            <a:pPr marL="171450" indent="-171450">
              <a:buFont typeface="Arial" panose="020B0604020202020204" pitchFamily="34" charset="0"/>
              <a:buChar char="•"/>
            </a:pPr>
            <a:r>
              <a:rPr lang="ru-RU" sz="1200" b="1"/>
              <a:t>Преминали сме прекалено рано към предложението, без да успеем да поговорим достатъчно за нуждите.</a:t>
            </a:r>
            <a:endParaRPr lang="en-US" sz="1200" b="1"/>
          </a:p>
          <a:p>
            <a:pPr marL="171450" indent="-171450">
              <a:buFont typeface="Arial" panose="020B0604020202020204" pitchFamily="34" charset="0"/>
              <a:buChar char="•"/>
            </a:pPr>
            <a:r>
              <a:rPr lang="ru-RU" sz="1200" b="1"/>
              <a:t>Не сме успели да спечелим доверието на клиента.</a:t>
            </a:r>
            <a:endParaRPr lang="ru-RU" sz="1200"/>
          </a:p>
          <a:p>
            <a:pPr marL="171450" indent="-171450">
              <a:buFont typeface="Arial" panose="020B0604020202020204" pitchFamily="34" charset="0"/>
              <a:buChar char="•"/>
            </a:pPr>
            <a:r>
              <a:rPr lang="ru-RU" sz="1200" b="1"/>
              <a:t>Има друга причина.</a:t>
            </a:r>
            <a:endParaRPr lang="ru-RU" sz="1200"/>
          </a:p>
        </p:txBody>
      </p:sp>
      <p:sp>
        <p:nvSpPr>
          <p:cNvPr id="42" name="Rectangle: Rounded Corners 41">
            <a:extLst>
              <a:ext uri="{FF2B5EF4-FFF2-40B4-BE49-F238E27FC236}">
                <a16:creationId xmlns:a16="http://schemas.microsoft.com/office/drawing/2014/main" id="{3C5E35C9-B294-4B3B-BF61-7024F8FB61B5}"/>
              </a:ext>
            </a:extLst>
          </p:cNvPr>
          <p:cNvSpPr/>
          <p:nvPr/>
        </p:nvSpPr>
        <p:spPr>
          <a:xfrm>
            <a:off x="5062177" y="4338059"/>
            <a:ext cx="2245942" cy="507114"/>
          </a:xfrm>
          <a:prstGeom prst="roundRect">
            <a:avLst/>
          </a:prstGeom>
          <a:solidFill>
            <a:srgbClr val="4472C4"/>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600"/>
              <a:t>Огледална</a:t>
            </a:r>
          </a:p>
        </p:txBody>
      </p:sp>
      <p:sp>
        <p:nvSpPr>
          <p:cNvPr id="43" name="Rectangle: Rounded Corners 12">
            <a:extLst>
              <a:ext uri="{FF2B5EF4-FFF2-40B4-BE49-F238E27FC236}">
                <a16:creationId xmlns:a16="http://schemas.microsoft.com/office/drawing/2014/main" id="{F1E6500D-1520-42E2-BC76-39D48F7715B8}"/>
              </a:ext>
            </a:extLst>
          </p:cNvPr>
          <p:cNvSpPr/>
          <p:nvPr/>
        </p:nvSpPr>
        <p:spPr>
          <a:xfrm>
            <a:off x="7412803" y="4340970"/>
            <a:ext cx="2245942" cy="507114"/>
          </a:xfrm>
          <a:prstGeom prst="roundRect">
            <a:avLst/>
          </a:prstGeom>
          <a:solidFill>
            <a:srgbClr val="4472C4"/>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600"/>
              <a:t>Алтернативна</a:t>
            </a:r>
            <a:endParaRPr lang="bg-BG" sz="2400"/>
          </a:p>
        </p:txBody>
      </p:sp>
      <p:sp>
        <p:nvSpPr>
          <p:cNvPr id="44" name="Текстово поле 18">
            <a:extLst>
              <a:ext uri="{FF2B5EF4-FFF2-40B4-BE49-F238E27FC236}">
                <a16:creationId xmlns:a16="http://schemas.microsoft.com/office/drawing/2014/main" id="{6DAF67DC-D031-4C05-97EC-70A5B3014D4B}"/>
              </a:ext>
            </a:extLst>
          </p:cNvPr>
          <p:cNvSpPr txBox="1"/>
          <p:nvPr/>
        </p:nvSpPr>
        <p:spPr>
          <a:xfrm>
            <a:off x="5012783" y="3974024"/>
            <a:ext cx="397649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bg-BG" b="1"/>
              <a:t>Техники за справяне с възражения</a:t>
            </a:r>
          </a:p>
        </p:txBody>
      </p:sp>
      <p:sp>
        <p:nvSpPr>
          <p:cNvPr id="45" name="Rectangle: Rounded Corners 12">
            <a:extLst>
              <a:ext uri="{FF2B5EF4-FFF2-40B4-BE49-F238E27FC236}">
                <a16:creationId xmlns:a16="http://schemas.microsoft.com/office/drawing/2014/main" id="{A9D3FCD5-A915-45A7-B159-D51BB416951A}"/>
              </a:ext>
            </a:extLst>
          </p:cNvPr>
          <p:cNvSpPr/>
          <p:nvPr/>
        </p:nvSpPr>
        <p:spPr>
          <a:xfrm>
            <a:off x="5062177" y="4903035"/>
            <a:ext cx="2245942" cy="507114"/>
          </a:xfrm>
          <a:prstGeom prst="roundRect">
            <a:avLst/>
          </a:prstGeom>
          <a:solidFill>
            <a:srgbClr val="4472C4"/>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600"/>
              <a:t>Относителна</a:t>
            </a:r>
            <a:endParaRPr lang="bg-BG" sz="2400"/>
          </a:p>
        </p:txBody>
      </p:sp>
      <p:sp>
        <p:nvSpPr>
          <p:cNvPr id="46" name="Rectangle: Rounded Corners 12">
            <a:extLst>
              <a:ext uri="{FF2B5EF4-FFF2-40B4-BE49-F238E27FC236}">
                <a16:creationId xmlns:a16="http://schemas.microsoft.com/office/drawing/2014/main" id="{3B24D917-B344-4565-8587-17E08CA51E53}"/>
              </a:ext>
            </a:extLst>
          </p:cNvPr>
          <p:cNvSpPr/>
          <p:nvPr/>
        </p:nvSpPr>
        <p:spPr>
          <a:xfrm>
            <a:off x="7412803" y="4901093"/>
            <a:ext cx="2245942" cy="507114"/>
          </a:xfrm>
          <a:prstGeom prst="round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600"/>
              <a:t>Тирбушон</a:t>
            </a:r>
            <a:endParaRPr lang="bg-BG" sz="2400"/>
          </a:p>
        </p:txBody>
      </p:sp>
      <p:sp>
        <p:nvSpPr>
          <p:cNvPr id="25" name="Балонче за говор: правоъгълник със заоблени ъгли 14">
            <a:extLst>
              <a:ext uri="{FF2B5EF4-FFF2-40B4-BE49-F238E27FC236}">
                <a16:creationId xmlns:a16="http://schemas.microsoft.com/office/drawing/2014/main" id="{0E72F2FA-A403-4369-BFF9-3DA4826B9A61}"/>
              </a:ext>
            </a:extLst>
          </p:cNvPr>
          <p:cNvSpPr/>
          <p:nvPr/>
        </p:nvSpPr>
        <p:spPr>
          <a:xfrm rot="10800000" flipV="1">
            <a:off x="5062177" y="5475013"/>
            <a:ext cx="4608961" cy="1216462"/>
          </a:xfrm>
          <a:prstGeom prst="roundRect">
            <a:avLst>
              <a:gd name="adj" fmla="val 14834"/>
            </a:avLst>
          </a:prstGeom>
          <a:solidFill>
            <a:schemeClr val="bg1"/>
          </a:solidFill>
          <a:ln>
            <a:noFill/>
          </a:ln>
          <a:effectLst>
            <a:outerShdw blurRad="50800" dist="38100" dir="5400000" algn="t" rotWithShape="0">
              <a:prstClr val="black">
                <a:alpha val="40000"/>
              </a:prstClr>
            </a:outerShdw>
          </a:effectLst>
        </p:spPr>
        <p:style>
          <a:lnRef idx="1">
            <a:schemeClr val="accent4"/>
          </a:lnRef>
          <a:fillRef idx="2">
            <a:schemeClr val="accent4"/>
          </a:fillRef>
          <a:effectRef idx="1">
            <a:schemeClr val="accent4"/>
          </a:effectRef>
          <a:fontRef idx="minor">
            <a:schemeClr val="dk1"/>
          </a:fontRef>
        </p:style>
        <p:txBody>
          <a:bodyPr rtlCol="0" anchor="ctr"/>
          <a:lstStyle/>
          <a:p>
            <a:r>
              <a:rPr lang="ru-RU" sz="1400" b="1"/>
              <a:t>Тирбушон</a:t>
            </a:r>
            <a:br>
              <a:rPr lang="ru-RU" sz="1400"/>
            </a:br>
            <a:r>
              <a:rPr lang="ru-RU" sz="1400"/>
              <a:t>Задаваш уточняващ въпрос, за да стигнеш до реалната причина зад възражението.</a:t>
            </a:r>
            <a:br>
              <a:rPr lang="ru-RU" sz="1400"/>
            </a:br>
            <a:r>
              <a:rPr lang="ru-RU" sz="1400" b="1"/>
              <a:t>Пример:</a:t>
            </a:r>
            <a:r>
              <a:rPr lang="ru-RU" sz="1400"/>
              <a:t> „Кое по-скоро Ви спира – моментът, нуждата или самото предложение?“</a:t>
            </a:r>
          </a:p>
        </p:txBody>
      </p:sp>
      <p:pic>
        <p:nvPicPr>
          <p:cNvPr id="26" name="Picture 25">
            <a:extLst>
              <a:ext uri="{FF2B5EF4-FFF2-40B4-BE49-F238E27FC236}">
                <a16:creationId xmlns:a16="http://schemas.microsoft.com/office/drawing/2014/main" id="{3561CFC2-3F93-4006-8D18-EE6792960CE3}"/>
              </a:ext>
            </a:extLst>
          </p:cNvPr>
          <p:cNvPicPr>
            <a:picLocks noChangeAspect="1"/>
          </p:cNvPicPr>
          <p:nvPr/>
        </p:nvPicPr>
        <p:blipFill>
          <a:blip r:embed="rId2"/>
          <a:stretch>
            <a:fillRect/>
          </a:stretch>
        </p:blipFill>
        <p:spPr>
          <a:xfrm>
            <a:off x="10883590" y="5621341"/>
            <a:ext cx="982751" cy="995681"/>
          </a:xfrm>
          <a:prstGeom prst="rect">
            <a:avLst/>
          </a:prstGeom>
        </p:spPr>
      </p:pic>
    </p:spTree>
    <p:extLst>
      <p:ext uri="{BB962C8B-B14F-4D97-AF65-F5344CB8AC3E}">
        <p14:creationId xmlns:p14="http://schemas.microsoft.com/office/powerpoint/2010/main" val="373870834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F30C3A-6198-250E-DCF9-40DE33004C10}"/>
            </a:ext>
          </a:extLst>
        </p:cNvPr>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32C7B0E5-4852-A4C9-0137-83CF78C1BCDB}"/>
              </a:ext>
            </a:extLst>
          </p:cNvPr>
          <p:cNvSpPr/>
          <p:nvPr/>
        </p:nvSpPr>
        <p:spPr>
          <a:xfrm>
            <a:off x="5361193" y="1146226"/>
            <a:ext cx="5165558" cy="2667491"/>
          </a:xfrm>
          <a:prstGeom prst="roundRect">
            <a:avLst>
              <a:gd name="adj" fmla="val 6417"/>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endParaRPr lang="ru-RU" sz="1400" dirty="0"/>
          </a:p>
          <a:p>
            <a:r>
              <a:rPr lang="ru-RU" sz="1400" dirty="0" err="1"/>
              <a:t>Затварянето</a:t>
            </a:r>
            <a:r>
              <a:rPr lang="ru-RU" sz="1400" dirty="0"/>
              <a:t> е </a:t>
            </a:r>
            <a:r>
              <a:rPr lang="ru-RU" sz="1400" dirty="0" err="1"/>
              <a:t>последният</a:t>
            </a:r>
            <a:r>
              <a:rPr lang="ru-RU" sz="1400" dirty="0"/>
              <a:t> </a:t>
            </a:r>
            <a:r>
              <a:rPr lang="ru-RU" sz="1400" dirty="0" err="1"/>
              <a:t>етап</a:t>
            </a:r>
            <a:r>
              <a:rPr lang="ru-RU" sz="1400" dirty="0"/>
              <a:t> от </a:t>
            </a:r>
            <a:r>
              <a:rPr lang="ru-RU" sz="1400" dirty="0" err="1"/>
              <a:t>срещата</a:t>
            </a:r>
            <a:r>
              <a:rPr lang="ru-RU" sz="1400" dirty="0"/>
              <a:t> с клиента, при който:</a:t>
            </a:r>
            <a:endParaRPr lang="en-US" sz="1400" dirty="0"/>
          </a:p>
          <a:p>
            <a:endParaRPr lang="ru-RU" sz="1400" dirty="0"/>
          </a:p>
          <a:p>
            <a:pPr marL="285750" indent="-285750">
              <a:buFont typeface="Arial" panose="020B0604020202020204" pitchFamily="34" charset="0"/>
              <a:buChar char="•"/>
            </a:pPr>
            <a:r>
              <a:rPr lang="ru-RU" sz="1400" dirty="0" err="1"/>
              <a:t>Подчертаваме</a:t>
            </a:r>
            <a:r>
              <a:rPr lang="ru-RU" sz="1400" dirty="0"/>
              <a:t> </a:t>
            </a:r>
            <a:r>
              <a:rPr lang="ru-RU" sz="1400" dirty="0" err="1"/>
              <a:t>професионализъм</a:t>
            </a:r>
            <a:r>
              <a:rPr lang="ru-RU" sz="1400" dirty="0"/>
              <a:t> и </a:t>
            </a:r>
            <a:r>
              <a:rPr lang="ru-RU" sz="1400" dirty="0" err="1"/>
              <a:t>увереност</a:t>
            </a:r>
            <a:r>
              <a:rPr lang="ru-RU" sz="1400" dirty="0"/>
              <a:t>.</a:t>
            </a:r>
          </a:p>
          <a:p>
            <a:pPr marL="285750" indent="-285750">
              <a:buFont typeface="Arial" panose="020B0604020202020204" pitchFamily="34" charset="0"/>
              <a:buChar char="•"/>
            </a:pPr>
            <a:r>
              <a:rPr lang="ru-RU" sz="1400" dirty="0" err="1"/>
              <a:t>Уточняваме</a:t>
            </a:r>
            <a:r>
              <a:rPr lang="ru-RU" sz="1400" dirty="0"/>
              <a:t> и </a:t>
            </a:r>
            <a:r>
              <a:rPr lang="ru-RU" sz="1400" dirty="0" err="1"/>
              <a:t>регламентираме</a:t>
            </a:r>
            <a:r>
              <a:rPr lang="ru-RU" sz="1400" dirty="0"/>
              <a:t> </a:t>
            </a:r>
            <a:r>
              <a:rPr lang="ru-RU" sz="1400" dirty="0" err="1"/>
              <a:t>следващите</a:t>
            </a:r>
            <a:r>
              <a:rPr lang="ru-RU" sz="1400" dirty="0"/>
              <a:t> </a:t>
            </a:r>
            <a:r>
              <a:rPr lang="ru-RU" sz="1400" dirty="0" err="1"/>
              <a:t>стъпки</a:t>
            </a:r>
            <a:r>
              <a:rPr lang="ru-RU" sz="1400" dirty="0"/>
              <a:t> и като </a:t>
            </a:r>
            <a:r>
              <a:rPr lang="ru-RU" sz="1400" dirty="0" err="1"/>
              <a:t>предаване</a:t>
            </a:r>
            <a:r>
              <a:rPr lang="ru-RU" sz="1400" dirty="0"/>
              <a:t> на </a:t>
            </a:r>
            <a:r>
              <a:rPr lang="ru-RU" sz="1400" dirty="0" err="1"/>
              <a:t>документи</a:t>
            </a:r>
            <a:r>
              <a:rPr lang="ru-RU" sz="1400" dirty="0"/>
              <a:t>, </a:t>
            </a:r>
            <a:r>
              <a:rPr lang="ru-RU" sz="1400" dirty="0" err="1"/>
              <a:t>следващи</a:t>
            </a:r>
            <a:r>
              <a:rPr lang="ru-RU" sz="1400" dirty="0"/>
              <a:t> </a:t>
            </a:r>
            <a:r>
              <a:rPr lang="ru-RU" sz="1400" dirty="0" err="1"/>
              <a:t>срещи</a:t>
            </a:r>
            <a:r>
              <a:rPr lang="ru-RU" sz="1400" dirty="0"/>
              <a:t> и </a:t>
            </a:r>
            <a:r>
              <a:rPr lang="ru-RU" sz="1400" dirty="0" err="1"/>
              <a:t>други</a:t>
            </a:r>
            <a:r>
              <a:rPr lang="ru-RU" sz="1400" dirty="0"/>
              <a:t>.</a:t>
            </a:r>
          </a:p>
          <a:p>
            <a:pPr marL="285750" indent="-285750">
              <a:buFont typeface="Arial" panose="020B0604020202020204" pitchFamily="34" charset="0"/>
              <a:buChar char="•"/>
            </a:pPr>
            <a:r>
              <a:rPr lang="ru-RU" sz="1400" dirty="0" err="1"/>
              <a:t>Управляваме</a:t>
            </a:r>
            <a:r>
              <a:rPr lang="ru-RU" sz="1400" dirty="0"/>
              <a:t> </a:t>
            </a:r>
            <a:r>
              <a:rPr lang="ru-RU" sz="1400" dirty="0" err="1"/>
              <a:t>очакванията</a:t>
            </a:r>
            <a:r>
              <a:rPr lang="ru-RU" sz="1400" dirty="0"/>
              <a:t> – в </a:t>
            </a:r>
            <a:r>
              <a:rPr lang="ru-RU" sz="1400" dirty="0" err="1"/>
              <a:t>какви</a:t>
            </a:r>
            <a:r>
              <a:rPr lang="ru-RU" sz="1400" dirty="0"/>
              <a:t> </a:t>
            </a:r>
            <a:r>
              <a:rPr lang="ru-RU" sz="1400" dirty="0" err="1"/>
              <a:t>реалистични</a:t>
            </a:r>
            <a:r>
              <a:rPr lang="ru-RU" sz="1400" dirty="0"/>
              <a:t> </a:t>
            </a:r>
            <a:r>
              <a:rPr lang="ru-RU" sz="1400" dirty="0" err="1"/>
              <a:t>срокове</a:t>
            </a:r>
            <a:r>
              <a:rPr lang="ru-RU" sz="1400" dirty="0"/>
              <a:t> </a:t>
            </a:r>
            <a:r>
              <a:rPr lang="ru-RU" sz="1400" dirty="0" err="1"/>
              <a:t>ще</a:t>
            </a:r>
            <a:r>
              <a:rPr lang="ru-RU" sz="1400" dirty="0"/>
              <a:t> се случат </a:t>
            </a:r>
            <a:r>
              <a:rPr lang="ru-RU" sz="1400" dirty="0" err="1"/>
              <a:t>следващите</a:t>
            </a:r>
            <a:r>
              <a:rPr lang="ru-RU" sz="1400" dirty="0"/>
              <a:t> </a:t>
            </a:r>
            <a:r>
              <a:rPr lang="ru-RU" sz="1400" dirty="0" err="1"/>
              <a:t>стъпки</a:t>
            </a:r>
            <a:r>
              <a:rPr lang="ru-RU" sz="1400" dirty="0"/>
              <a:t>.</a:t>
            </a:r>
          </a:p>
          <a:p>
            <a:pPr marL="285750" indent="-285750">
              <a:buFont typeface="Arial" panose="020B0604020202020204" pitchFamily="34" charset="0"/>
              <a:buChar char="•"/>
            </a:pPr>
            <a:r>
              <a:rPr lang="ru-RU" sz="1400" dirty="0" err="1"/>
              <a:t>Укрепваме</a:t>
            </a:r>
            <a:r>
              <a:rPr lang="ru-RU" sz="1400" dirty="0"/>
              <a:t> </a:t>
            </a:r>
            <a:r>
              <a:rPr lang="ru-RU" sz="1400" dirty="0" err="1"/>
              <a:t>връзката</a:t>
            </a:r>
            <a:r>
              <a:rPr lang="ru-RU" sz="1400" dirty="0"/>
              <a:t> с клиента, като </a:t>
            </a:r>
            <a:r>
              <a:rPr lang="ru-RU" sz="1400" dirty="0" err="1"/>
              <a:t>оставяме</a:t>
            </a:r>
            <a:r>
              <a:rPr lang="ru-RU" sz="1400" dirty="0"/>
              <a:t> </a:t>
            </a:r>
            <a:r>
              <a:rPr lang="ru-RU" sz="1400" dirty="0" err="1"/>
              <a:t>положително</a:t>
            </a:r>
            <a:r>
              <a:rPr lang="ru-RU" sz="1400" dirty="0"/>
              <a:t> впечатление.</a:t>
            </a:r>
          </a:p>
          <a:p>
            <a:pPr marL="285750" indent="-285750">
              <a:buFont typeface="Arial" panose="020B0604020202020204" pitchFamily="34" charset="0"/>
              <a:buChar char="•"/>
            </a:pPr>
            <a:r>
              <a:rPr lang="ru-RU" sz="1400" dirty="0" err="1"/>
              <a:t>Създаваме</a:t>
            </a:r>
            <a:r>
              <a:rPr lang="ru-RU" sz="1400" dirty="0"/>
              <a:t> основа за </a:t>
            </a:r>
            <a:r>
              <a:rPr lang="ru-RU" sz="1400" dirty="0" err="1"/>
              <a:t>бъдещо</a:t>
            </a:r>
            <a:r>
              <a:rPr lang="ru-RU" sz="1400" dirty="0"/>
              <a:t> </a:t>
            </a:r>
            <a:r>
              <a:rPr lang="ru-RU" sz="1400" dirty="0" err="1"/>
              <a:t>сътрудничество</a:t>
            </a:r>
            <a:r>
              <a:rPr lang="ru-RU" sz="1400" dirty="0"/>
              <a:t>.</a:t>
            </a:r>
          </a:p>
          <a:p>
            <a:pPr marL="285750" indent="-285750">
              <a:buFont typeface="Arial" panose="020B0604020202020204" pitchFamily="34" charset="0"/>
              <a:buChar char="•"/>
            </a:pPr>
            <a:r>
              <a:rPr lang="ru-RU" sz="1400" dirty="0" err="1"/>
              <a:t>Оставяме</a:t>
            </a:r>
            <a:r>
              <a:rPr lang="ru-RU" sz="1400" dirty="0"/>
              <a:t> визитка, </a:t>
            </a:r>
            <a:r>
              <a:rPr lang="ru-RU" sz="1400" dirty="0" err="1"/>
              <a:t>ако</a:t>
            </a:r>
            <a:r>
              <a:rPr lang="ru-RU" sz="1400" dirty="0"/>
              <a:t> вече не </a:t>
            </a:r>
            <a:r>
              <a:rPr lang="ru-RU" sz="1400" dirty="0" err="1"/>
              <a:t>сме</a:t>
            </a:r>
            <a:r>
              <a:rPr lang="ru-RU" sz="1400" dirty="0"/>
              <a:t> го направили</a:t>
            </a:r>
            <a:r>
              <a:rPr lang="ru-RU" dirty="0"/>
              <a:t>.</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endParaRPr lang="en-US" sz="1400" dirty="0"/>
          </a:p>
        </p:txBody>
      </p:sp>
      <p:sp>
        <p:nvSpPr>
          <p:cNvPr id="15" name="Rectangle: Rounded Corners 14">
            <a:extLst>
              <a:ext uri="{FF2B5EF4-FFF2-40B4-BE49-F238E27FC236}">
                <a16:creationId xmlns:a16="http://schemas.microsoft.com/office/drawing/2014/main" id="{A91AC183-E9C2-4195-B95D-C242AFAAD4FA}"/>
              </a:ext>
            </a:extLst>
          </p:cNvPr>
          <p:cNvSpPr/>
          <p:nvPr/>
        </p:nvSpPr>
        <p:spPr>
          <a:xfrm>
            <a:off x="1896198" y="1956771"/>
            <a:ext cx="2932281" cy="677242"/>
          </a:xfrm>
          <a:prstGeom prst="round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600"/>
              <a:t>Идентифициране на нужди</a:t>
            </a:r>
            <a:endParaRPr lang="en-GB" sz="1600"/>
          </a:p>
        </p:txBody>
      </p:sp>
      <p:sp>
        <p:nvSpPr>
          <p:cNvPr id="16" name="Rectangle: Rounded Corners 15">
            <a:extLst>
              <a:ext uri="{FF2B5EF4-FFF2-40B4-BE49-F238E27FC236}">
                <a16:creationId xmlns:a16="http://schemas.microsoft.com/office/drawing/2014/main" id="{D404C733-B050-4424-85D0-DC93C0746EC8}"/>
              </a:ext>
            </a:extLst>
          </p:cNvPr>
          <p:cNvSpPr/>
          <p:nvPr/>
        </p:nvSpPr>
        <p:spPr>
          <a:xfrm>
            <a:off x="1896198" y="1146226"/>
            <a:ext cx="2932281" cy="677242"/>
          </a:xfrm>
          <a:prstGeom prst="round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600"/>
              <a:t>Отваряне на разговор</a:t>
            </a:r>
            <a:endParaRPr lang="en-GB" sz="1600"/>
          </a:p>
        </p:txBody>
      </p:sp>
      <p:sp>
        <p:nvSpPr>
          <p:cNvPr id="23" name="Rectangle: Rounded Corners 22">
            <a:extLst>
              <a:ext uri="{FF2B5EF4-FFF2-40B4-BE49-F238E27FC236}">
                <a16:creationId xmlns:a16="http://schemas.microsoft.com/office/drawing/2014/main" id="{E5AFA33A-A5FA-41ED-BAAD-FBED9FD05E8C}"/>
              </a:ext>
            </a:extLst>
          </p:cNvPr>
          <p:cNvSpPr/>
          <p:nvPr/>
        </p:nvSpPr>
        <p:spPr>
          <a:xfrm>
            <a:off x="1896198" y="3577861"/>
            <a:ext cx="2932281" cy="677242"/>
          </a:xfrm>
          <a:prstGeom prst="round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600"/>
              <a:t>Справяне с възражения</a:t>
            </a:r>
            <a:endParaRPr lang="en-GB" sz="1600"/>
          </a:p>
        </p:txBody>
      </p:sp>
      <p:sp>
        <p:nvSpPr>
          <p:cNvPr id="24" name="Rectangle: Rounded Corners 23">
            <a:extLst>
              <a:ext uri="{FF2B5EF4-FFF2-40B4-BE49-F238E27FC236}">
                <a16:creationId xmlns:a16="http://schemas.microsoft.com/office/drawing/2014/main" id="{A0E7B358-1605-48E1-97F6-0E33C39CDD9D}"/>
              </a:ext>
            </a:extLst>
          </p:cNvPr>
          <p:cNvSpPr/>
          <p:nvPr/>
        </p:nvSpPr>
        <p:spPr>
          <a:xfrm>
            <a:off x="1896198" y="4388406"/>
            <a:ext cx="2932281" cy="677242"/>
          </a:xfrm>
          <a:prstGeom prst="roundRect">
            <a:avLst/>
          </a:prstGeom>
          <a:solidFill>
            <a:srgbClr val="4472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600"/>
              <a:t>Затваряне</a:t>
            </a:r>
            <a:endParaRPr lang="en-GB" sz="1600"/>
          </a:p>
        </p:txBody>
      </p:sp>
      <p:sp>
        <p:nvSpPr>
          <p:cNvPr id="25" name="Rectangle 13">
            <a:extLst>
              <a:ext uri="{FF2B5EF4-FFF2-40B4-BE49-F238E27FC236}">
                <a16:creationId xmlns:a16="http://schemas.microsoft.com/office/drawing/2014/main" id="{ABAF0BA0-D7B6-492D-8282-5FC8AE82D89D}"/>
              </a:ext>
            </a:extLst>
          </p:cNvPr>
          <p:cNvSpPr/>
          <p:nvPr/>
        </p:nvSpPr>
        <p:spPr>
          <a:xfrm>
            <a:off x="1896198" y="2767316"/>
            <a:ext cx="2932281" cy="677242"/>
          </a:xfrm>
          <a:prstGeom prst="round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600"/>
              <a:t>Предложение</a:t>
            </a:r>
            <a:endParaRPr lang="en-GB" sz="1600"/>
          </a:p>
        </p:txBody>
      </p:sp>
      <p:sp>
        <p:nvSpPr>
          <p:cNvPr id="26" name="Rectangle 3">
            <a:extLst>
              <a:ext uri="{FF2B5EF4-FFF2-40B4-BE49-F238E27FC236}">
                <a16:creationId xmlns:a16="http://schemas.microsoft.com/office/drawing/2014/main" id="{0FC8951F-D886-45F6-BEF6-932E708C2F77}"/>
              </a:ext>
            </a:extLst>
          </p:cNvPr>
          <p:cNvSpPr/>
          <p:nvPr/>
        </p:nvSpPr>
        <p:spPr>
          <a:xfrm>
            <a:off x="1443475" y="4245"/>
            <a:ext cx="5338363" cy="677242"/>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27" name="Rectangle 4">
            <a:extLst>
              <a:ext uri="{FF2B5EF4-FFF2-40B4-BE49-F238E27FC236}">
                <a16:creationId xmlns:a16="http://schemas.microsoft.com/office/drawing/2014/main" id="{1F929E23-255F-4411-82EF-46A4C0E73B7A}"/>
              </a:ext>
            </a:extLst>
          </p:cNvPr>
          <p:cNvSpPr/>
          <p:nvPr/>
        </p:nvSpPr>
        <p:spPr>
          <a:xfrm>
            <a:off x="6788435" y="4245"/>
            <a:ext cx="5417300" cy="677242"/>
          </a:xfrm>
          <a:prstGeom prst="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28" name="Rectangle 27">
            <a:extLst>
              <a:ext uri="{FF2B5EF4-FFF2-40B4-BE49-F238E27FC236}">
                <a16:creationId xmlns:a16="http://schemas.microsoft.com/office/drawing/2014/main" id="{C7904F21-82A2-49DD-B1C0-2BC71D2E4B94}"/>
              </a:ext>
            </a:extLst>
          </p:cNvPr>
          <p:cNvSpPr/>
          <p:nvPr/>
        </p:nvSpPr>
        <p:spPr>
          <a:xfrm>
            <a:off x="-1671" y="1599"/>
            <a:ext cx="1451167" cy="6866954"/>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200">
              <a:latin typeface="Aptos"/>
              <a:ea typeface="Calibri"/>
              <a:cs typeface="Calibri"/>
            </a:endParaRPr>
          </a:p>
        </p:txBody>
      </p:sp>
      <p:sp>
        <p:nvSpPr>
          <p:cNvPr id="29" name="Rectangle 28">
            <a:extLst>
              <a:ext uri="{FF2B5EF4-FFF2-40B4-BE49-F238E27FC236}">
                <a16:creationId xmlns:a16="http://schemas.microsoft.com/office/drawing/2014/main" id="{4EF087D6-1CFE-4CA1-9D6F-02F496F25FCA}"/>
              </a:ext>
            </a:extLst>
          </p:cNvPr>
          <p:cNvSpPr/>
          <p:nvPr/>
        </p:nvSpPr>
        <p:spPr>
          <a:xfrm>
            <a:off x="-1671" y="2528038"/>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Типове клиенти</a:t>
            </a:r>
            <a:endParaRPr lang="en-GB" sz="1400">
              <a:latin typeface="Aptos"/>
              <a:ea typeface="Calibri"/>
              <a:cs typeface="Calibri"/>
            </a:endParaRPr>
          </a:p>
        </p:txBody>
      </p:sp>
      <p:sp>
        <p:nvSpPr>
          <p:cNvPr id="30" name="Rectangle 29">
            <a:extLst>
              <a:ext uri="{FF2B5EF4-FFF2-40B4-BE49-F238E27FC236}">
                <a16:creationId xmlns:a16="http://schemas.microsoft.com/office/drawing/2014/main" id="{7543E9B0-C808-436B-88D1-AB91EBF003D5}"/>
              </a:ext>
            </a:extLst>
          </p:cNvPr>
          <p:cNvSpPr/>
          <p:nvPr/>
        </p:nvSpPr>
        <p:spPr>
          <a:xfrm>
            <a:off x="8626" y="1913210"/>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Сценарии</a:t>
            </a:r>
            <a:endParaRPr lang="en-GB" sz="1400">
              <a:latin typeface="Aptos"/>
              <a:ea typeface="Calibri"/>
              <a:cs typeface="Calibri"/>
            </a:endParaRPr>
          </a:p>
        </p:txBody>
      </p:sp>
      <p:sp>
        <p:nvSpPr>
          <p:cNvPr id="31" name="Rectangle 30">
            <a:extLst>
              <a:ext uri="{FF2B5EF4-FFF2-40B4-BE49-F238E27FC236}">
                <a16:creationId xmlns:a16="http://schemas.microsoft.com/office/drawing/2014/main" id="{A17A9DF3-10BA-4682-8E9A-7C9AA7AF10A7}"/>
              </a:ext>
            </a:extLst>
          </p:cNvPr>
          <p:cNvSpPr/>
          <p:nvPr/>
        </p:nvSpPr>
        <p:spPr>
          <a:xfrm>
            <a:off x="-1671" y="1298382"/>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b="1">
                <a:solidFill>
                  <a:schemeClr val="tx2"/>
                </a:solidFill>
                <a:latin typeface="Aptos"/>
                <a:ea typeface="Calibri"/>
                <a:cs typeface="Calibri"/>
              </a:rPr>
              <a:t>Стъпки при среща</a:t>
            </a:r>
            <a:endParaRPr lang="bg-BG" sz="1400">
              <a:solidFill>
                <a:srgbClr val="000000"/>
              </a:solidFill>
              <a:latin typeface="Aptos"/>
              <a:ea typeface="Calibri"/>
              <a:cs typeface="Calibri"/>
            </a:endParaRPr>
          </a:p>
        </p:txBody>
      </p:sp>
      <p:sp>
        <p:nvSpPr>
          <p:cNvPr id="32" name="Rectangle 28">
            <a:extLst>
              <a:ext uri="{FF2B5EF4-FFF2-40B4-BE49-F238E27FC236}">
                <a16:creationId xmlns:a16="http://schemas.microsoft.com/office/drawing/2014/main" id="{3C0BEE62-0F20-4DD9-BEF3-7E7A111A1BC2}"/>
              </a:ext>
            </a:extLst>
          </p:cNvPr>
          <p:cNvSpPr/>
          <p:nvPr/>
        </p:nvSpPr>
        <p:spPr>
          <a:xfrm>
            <a:off x="6154" y="690328"/>
            <a:ext cx="1435083"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a:solidFill>
                  <a:schemeClr val="bg1"/>
                </a:solidFill>
                <a:latin typeface="Aptos"/>
                <a:ea typeface="Calibri"/>
                <a:cs typeface="Calibri"/>
              </a:rPr>
              <a:t>Подготовка</a:t>
            </a:r>
            <a:endParaRPr lang="en-GB" sz="1400">
              <a:solidFill>
                <a:schemeClr val="bg1"/>
              </a:solidFill>
              <a:latin typeface="Aptos"/>
              <a:ea typeface="Calibri"/>
              <a:cs typeface="Calibri"/>
            </a:endParaRPr>
          </a:p>
        </p:txBody>
      </p:sp>
      <p:pic>
        <p:nvPicPr>
          <p:cNvPr id="33" name="Picture 32">
            <a:extLst>
              <a:ext uri="{FF2B5EF4-FFF2-40B4-BE49-F238E27FC236}">
                <a16:creationId xmlns:a16="http://schemas.microsoft.com/office/drawing/2014/main" id="{92F7AC49-E1F9-4EE8-A6F3-2ACCBF132969}"/>
              </a:ext>
            </a:extLst>
          </p:cNvPr>
          <p:cNvPicPr>
            <a:picLocks noChangeAspect="1"/>
          </p:cNvPicPr>
          <p:nvPr/>
        </p:nvPicPr>
        <p:blipFill>
          <a:blip r:embed="rId3"/>
          <a:stretch>
            <a:fillRect/>
          </a:stretch>
        </p:blipFill>
        <p:spPr>
          <a:xfrm>
            <a:off x="10883590" y="5621341"/>
            <a:ext cx="982751" cy="995681"/>
          </a:xfrm>
          <a:prstGeom prst="rect">
            <a:avLst/>
          </a:prstGeom>
        </p:spPr>
      </p:pic>
    </p:spTree>
    <p:extLst>
      <p:ext uri="{BB962C8B-B14F-4D97-AF65-F5344CB8AC3E}">
        <p14:creationId xmlns:p14="http://schemas.microsoft.com/office/powerpoint/2010/main" val="2631733573"/>
      </p:ext>
    </p:extLst>
  </p:cSld>
  <p:clrMapOvr>
    <a:masterClrMapping/>
  </p:clrMapOvr>
  <p:extLst>
    <p:ext uri="{6950BFC3-D8DA-4A85-94F7-54DA5524770B}">
      <p188:commentRel xmlns:p188="http://schemas.microsoft.com/office/powerpoint/2018/8/main" r:id="rId2"/>
    </p:ext>
  </p:extLs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0E8736-E19B-E987-15A8-F8B709C4A637}"/>
            </a:ext>
          </a:extLst>
        </p:cNvPr>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047E1E11-2E81-C0AD-A4B3-1B3A524FDFDA}"/>
              </a:ext>
            </a:extLst>
          </p:cNvPr>
          <p:cNvSpPr/>
          <p:nvPr/>
        </p:nvSpPr>
        <p:spPr>
          <a:xfrm>
            <a:off x="1896199" y="2037152"/>
            <a:ext cx="2871747" cy="767079"/>
          </a:xfrm>
          <a:prstGeom prst="roundRect">
            <a:avLst/>
          </a:prstGeom>
          <a:solidFill>
            <a:schemeClr val="bg1">
              <a:lumMod val="65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ru-RU" sz="1600" err="1"/>
              <a:t>Настоящ</a:t>
            </a:r>
            <a:r>
              <a:rPr lang="ru-RU" sz="1600"/>
              <a:t> клиент за нов кредит</a:t>
            </a:r>
            <a:endParaRPr lang="en-GB" sz="1600"/>
          </a:p>
        </p:txBody>
      </p:sp>
      <p:sp>
        <p:nvSpPr>
          <p:cNvPr id="12" name="Rectangle: Rounded Corners 11">
            <a:extLst>
              <a:ext uri="{FF2B5EF4-FFF2-40B4-BE49-F238E27FC236}">
                <a16:creationId xmlns:a16="http://schemas.microsoft.com/office/drawing/2014/main" id="{820B9CC7-39D5-4E6C-A960-915F37D6EADC}"/>
              </a:ext>
            </a:extLst>
          </p:cNvPr>
          <p:cNvSpPr/>
          <p:nvPr/>
        </p:nvSpPr>
        <p:spPr>
          <a:xfrm>
            <a:off x="1896199" y="1147427"/>
            <a:ext cx="2871747" cy="767079"/>
          </a:xfrm>
          <a:prstGeom prst="roundRect">
            <a:avLst/>
          </a:prstGeom>
          <a:solidFill>
            <a:schemeClr val="bg1">
              <a:lumMod val="65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Нов клиент в офис</a:t>
            </a:r>
            <a:endParaRPr lang="en-GB" sz="1600"/>
          </a:p>
        </p:txBody>
      </p:sp>
      <p:sp>
        <p:nvSpPr>
          <p:cNvPr id="14" name="Rectangle: Rounded Corners 13">
            <a:extLst>
              <a:ext uri="{FF2B5EF4-FFF2-40B4-BE49-F238E27FC236}">
                <a16:creationId xmlns:a16="http://schemas.microsoft.com/office/drawing/2014/main" id="{AE5EE79A-18C5-6AD6-6870-2CBF155FBC7D}"/>
              </a:ext>
            </a:extLst>
          </p:cNvPr>
          <p:cNvSpPr/>
          <p:nvPr/>
        </p:nvSpPr>
        <p:spPr>
          <a:xfrm>
            <a:off x="1896199" y="2926877"/>
            <a:ext cx="2871747" cy="767079"/>
          </a:xfrm>
          <a:prstGeom prst="roundRect">
            <a:avLst/>
          </a:prstGeom>
          <a:solidFill>
            <a:schemeClr val="bg1">
              <a:lumMod val="65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Настоящ клиент за рефинансиране</a:t>
            </a:r>
            <a:endParaRPr lang="en-GB" sz="1600"/>
          </a:p>
        </p:txBody>
      </p:sp>
      <p:sp>
        <p:nvSpPr>
          <p:cNvPr id="15" name="Rectangle 11">
            <a:extLst>
              <a:ext uri="{FF2B5EF4-FFF2-40B4-BE49-F238E27FC236}">
                <a16:creationId xmlns:a16="http://schemas.microsoft.com/office/drawing/2014/main" id="{C0690AFD-D01A-CA90-5485-F2EFCEEBED86}"/>
              </a:ext>
            </a:extLst>
          </p:cNvPr>
          <p:cNvSpPr/>
          <p:nvPr/>
        </p:nvSpPr>
        <p:spPr>
          <a:xfrm>
            <a:off x="1896199" y="3816603"/>
            <a:ext cx="2871747" cy="767079"/>
          </a:xfrm>
          <a:prstGeom prst="roundRect">
            <a:avLst/>
          </a:prstGeom>
          <a:solidFill>
            <a:schemeClr val="bg1">
              <a:lumMod val="65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Посещение на адрес</a:t>
            </a:r>
            <a:endParaRPr lang="en-GB" sz="1600"/>
          </a:p>
        </p:txBody>
      </p:sp>
      <p:sp>
        <p:nvSpPr>
          <p:cNvPr id="13" name="Rectangle 3">
            <a:extLst>
              <a:ext uri="{FF2B5EF4-FFF2-40B4-BE49-F238E27FC236}">
                <a16:creationId xmlns:a16="http://schemas.microsoft.com/office/drawing/2014/main" id="{88D1DA13-6454-49DD-8271-E0F05CD3C3DE}"/>
              </a:ext>
            </a:extLst>
          </p:cNvPr>
          <p:cNvSpPr/>
          <p:nvPr/>
        </p:nvSpPr>
        <p:spPr>
          <a:xfrm>
            <a:off x="1443475" y="4245"/>
            <a:ext cx="5338363" cy="677242"/>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16" name="Rectangle 4">
            <a:extLst>
              <a:ext uri="{FF2B5EF4-FFF2-40B4-BE49-F238E27FC236}">
                <a16:creationId xmlns:a16="http://schemas.microsoft.com/office/drawing/2014/main" id="{450573E8-BC9A-4739-AC0A-6F806454215E}"/>
              </a:ext>
            </a:extLst>
          </p:cNvPr>
          <p:cNvSpPr/>
          <p:nvPr/>
        </p:nvSpPr>
        <p:spPr>
          <a:xfrm>
            <a:off x="6788435" y="4245"/>
            <a:ext cx="5417300" cy="677242"/>
          </a:xfrm>
          <a:prstGeom prst="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18" name="Rectangle 17">
            <a:extLst>
              <a:ext uri="{FF2B5EF4-FFF2-40B4-BE49-F238E27FC236}">
                <a16:creationId xmlns:a16="http://schemas.microsoft.com/office/drawing/2014/main" id="{6FCB31E1-F177-47C0-81AA-33D686E913F1}"/>
              </a:ext>
            </a:extLst>
          </p:cNvPr>
          <p:cNvSpPr/>
          <p:nvPr/>
        </p:nvSpPr>
        <p:spPr>
          <a:xfrm>
            <a:off x="-1671" y="1599"/>
            <a:ext cx="1451167" cy="6866954"/>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200">
              <a:latin typeface="Aptos"/>
              <a:ea typeface="Calibri"/>
              <a:cs typeface="Calibri"/>
            </a:endParaRPr>
          </a:p>
        </p:txBody>
      </p:sp>
      <p:sp>
        <p:nvSpPr>
          <p:cNvPr id="19" name="Rectangle 18">
            <a:extLst>
              <a:ext uri="{FF2B5EF4-FFF2-40B4-BE49-F238E27FC236}">
                <a16:creationId xmlns:a16="http://schemas.microsoft.com/office/drawing/2014/main" id="{63BCDFEF-CF12-445B-8D41-D7389EE408F6}"/>
              </a:ext>
            </a:extLst>
          </p:cNvPr>
          <p:cNvSpPr/>
          <p:nvPr/>
        </p:nvSpPr>
        <p:spPr>
          <a:xfrm>
            <a:off x="-1671" y="2528038"/>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Типове клиенти</a:t>
            </a:r>
            <a:endParaRPr lang="en-GB" sz="1400">
              <a:latin typeface="Aptos"/>
              <a:ea typeface="Calibri"/>
              <a:cs typeface="Calibri"/>
            </a:endParaRPr>
          </a:p>
        </p:txBody>
      </p:sp>
      <p:sp>
        <p:nvSpPr>
          <p:cNvPr id="20" name="Rectangle 19">
            <a:extLst>
              <a:ext uri="{FF2B5EF4-FFF2-40B4-BE49-F238E27FC236}">
                <a16:creationId xmlns:a16="http://schemas.microsoft.com/office/drawing/2014/main" id="{D6265C6A-884D-4820-89FD-EC1BCCF5A98A}"/>
              </a:ext>
            </a:extLst>
          </p:cNvPr>
          <p:cNvSpPr/>
          <p:nvPr/>
        </p:nvSpPr>
        <p:spPr>
          <a:xfrm>
            <a:off x="8626" y="1913210"/>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b="1">
                <a:solidFill>
                  <a:srgbClr val="2F5597"/>
                </a:solidFill>
                <a:latin typeface="Aptos"/>
                <a:ea typeface="Calibri"/>
                <a:cs typeface="Calibri"/>
              </a:rPr>
              <a:t>Сценарии</a:t>
            </a:r>
            <a:endParaRPr lang="en-GB" sz="1400" b="1">
              <a:solidFill>
                <a:srgbClr val="2F5597"/>
              </a:solidFill>
              <a:latin typeface="Aptos"/>
              <a:ea typeface="Calibri"/>
              <a:cs typeface="Calibri"/>
            </a:endParaRPr>
          </a:p>
        </p:txBody>
      </p:sp>
      <p:sp>
        <p:nvSpPr>
          <p:cNvPr id="21" name="Rectangle 20">
            <a:extLst>
              <a:ext uri="{FF2B5EF4-FFF2-40B4-BE49-F238E27FC236}">
                <a16:creationId xmlns:a16="http://schemas.microsoft.com/office/drawing/2014/main" id="{727264C7-B440-4A7E-931C-549E86373479}"/>
              </a:ext>
            </a:extLst>
          </p:cNvPr>
          <p:cNvSpPr/>
          <p:nvPr/>
        </p:nvSpPr>
        <p:spPr>
          <a:xfrm>
            <a:off x="-1671" y="1298382"/>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b="1">
                <a:solidFill>
                  <a:schemeClr val="bg1"/>
                </a:solidFill>
                <a:latin typeface="Aptos"/>
                <a:ea typeface="Calibri"/>
                <a:cs typeface="Calibri"/>
              </a:rPr>
              <a:t>Стъпки при среща</a:t>
            </a:r>
            <a:endParaRPr lang="bg-BG" sz="1400">
              <a:solidFill>
                <a:schemeClr val="bg1"/>
              </a:solidFill>
              <a:latin typeface="Aptos"/>
              <a:ea typeface="Calibri"/>
              <a:cs typeface="Calibri"/>
            </a:endParaRPr>
          </a:p>
        </p:txBody>
      </p:sp>
      <p:sp>
        <p:nvSpPr>
          <p:cNvPr id="22" name="Rectangle 28">
            <a:extLst>
              <a:ext uri="{FF2B5EF4-FFF2-40B4-BE49-F238E27FC236}">
                <a16:creationId xmlns:a16="http://schemas.microsoft.com/office/drawing/2014/main" id="{A0D3F5C8-BFCD-4540-A96C-6A685D2FD584}"/>
              </a:ext>
            </a:extLst>
          </p:cNvPr>
          <p:cNvSpPr/>
          <p:nvPr/>
        </p:nvSpPr>
        <p:spPr>
          <a:xfrm>
            <a:off x="6154" y="690328"/>
            <a:ext cx="1435083"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a:solidFill>
                  <a:schemeClr val="bg1"/>
                </a:solidFill>
                <a:latin typeface="Aptos"/>
                <a:ea typeface="Calibri"/>
                <a:cs typeface="Calibri"/>
              </a:rPr>
              <a:t>Подготовка</a:t>
            </a:r>
            <a:endParaRPr lang="en-GB" sz="1400">
              <a:solidFill>
                <a:schemeClr val="bg1"/>
              </a:solidFill>
              <a:latin typeface="Aptos"/>
              <a:ea typeface="Calibri"/>
              <a:cs typeface="Calibri"/>
            </a:endParaRPr>
          </a:p>
        </p:txBody>
      </p:sp>
      <p:pic>
        <p:nvPicPr>
          <p:cNvPr id="24" name="Picture 23">
            <a:extLst>
              <a:ext uri="{FF2B5EF4-FFF2-40B4-BE49-F238E27FC236}">
                <a16:creationId xmlns:a16="http://schemas.microsoft.com/office/drawing/2014/main" id="{6245CF41-A8E2-4669-9659-D0BD2CA61AE6}"/>
              </a:ext>
            </a:extLst>
          </p:cNvPr>
          <p:cNvPicPr>
            <a:picLocks noChangeAspect="1"/>
          </p:cNvPicPr>
          <p:nvPr/>
        </p:nvPicPr>
        <p:blipFill>
          <a:blip r:embed="rId2"/>
          <a:stretch>
            <a:fillRect/>
          </a:stretch>
        </p:blipFill>
        <p:spPr>
          <a:xfrm>
            <a:off x="10883590" y="5621341"/>
            <a:ext cx="982751" cy="995681"/>
          </a:xfrm>
          <a:prstGeom prst="rect">
            <a:avLst/>
          </a:prstGeom>
        </p:spPr>
      </p:pic>
    </p:spTree>
    <p:extLst>
      <p:ext uri="{BB962C8B-B14F-4D97-AF65-F5344CB8AC3E}">
        <p14:creationId xmlns:p14="http://schemas.microsoft.com/office/powerpoint/2010/main" val="278797199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7752CB-C97C-F066-14AF-48FE06FB8DF4}"/>
            </a:ext>
          </a:extLst>
        </p:cNvPr>
        <p:cNvGrpSpPr/>
        <p:nvPr/>
      </p:nvGrpSpPr>
      <p:grpSpPr>
        <a:xfrm>
          <a:off x="0" y="0"/>
          <a:ext cx="0" cy="0"/>
          <a:chOff x="0" y="0"/>
          <a:chExt cx="0" cy="0"/>
        </a:xfrm>
      </p:grpSpPr>
      <p:sp>
        <p:nvSpPr>
          <p:cNvPr id="18" name="Rectangle: Rounded Corners 17">
            <a:extLst>
              <a:ext uri="{FF2B5EF4-FFF2-40B4-BE49-F238E27FC236}">
                <a16:creationId xmlns:a16="http://schemas.microsoft.com/office/drawing/2014/main" id="{359FF472-FD9D-4DEA-924A-0F8180264A33}"/>
              </a:ext>
            </a:extLst>
          </p:cNvPr>
          <p:cNvSpPr/>
          <p:nvPr/>
        </p:nvSpPr>
        <p:spPr>
          <a:xfrm>
            <a:off x="1896199" y="2037152"/>
            <a:ext cx="2871747" cy="767079"/>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ru-RU" sz="1600"/>
              <a:t>Настоящ клиент за нов кредит</a:t>
            </a:r>
            <a:endParaRPr lang="en-GB" sz="1600"/>
          </a:p>
        </p:txBody>
      </p:sp>
      <p:sp>
        <p:nvSpPr>
          <p:cNvPr id="19" name="Rectangle: Rounded Corners 18">
            <a:extLst>
              <a:ext uri="{FF2B5EF4-FFF2-40B4-BE49-F238E27FC236}">
                <a16:creationId xmlns:a16="http://schemas.microsoft.com/office/drawing/2014/main" id="{0F678A5C-ECCD-4FFD-9B67-0F53FA394372}"/>
              </a:ext>
            </a:extLst>
          </p:cNvPr>
          <p:cNvSpPr/>
          <p:nvPr/>
        </p:nvSpPr>
        <p:spPr>
          <a:xfrm>
            <a:off x="1896199" y="1147427"/>
            <a:ext cx="2871747" cy="767079"/>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Нов клиент в офис</a:t>
            </a:r>
            <a:endParaRPr lang="en-GB" sz="1600"/>
          </a:p>
        </p:txBody>
      </p:sp>
      <p:sp>
        <p:nvSpPr>
          <p:cNvPr id="25" name="Rectangle: Rounded Corners 24">
            <a:extLst>
              <a:ext uri="{FF2B5EF4-FFF2-40B4-BE49-F238E27FC236}">
                <a16:creationId xmlns:a16="http://schemas.microsoft.com/office/drawing/2014/main" id="{E5589F82-2C09-4250-9141-BAFAD415C05E}"/>
              </a:ext>
            </a:extLst>
          </p:cNvPr>
          <p:cNvSpPr/>
          <p:nvPr/>
        </p:nvSpPr>
        <p:spPr>
          <a:xfrm>
            <a:off x="1896199" y="2926877"/>
            <a:ext cx="2871747" cy="767079"/>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Настоящ клиент за рефинансиране</a:t>
            </a:r>
            <a:endParaRPr lang="en-GB" sz="1600"/>
          </a:p>
        </p:txBody>
      </p:sp>
      <p:sp>
        <p:nvSpPr>
          <p:cNvPr id="26" name="Rectangle 11">
            <a:extLst>
              <a:ext uri="{FF2B5EF4-FFF2-40B4-BE49-F238E27FC236}">
                <a16:creationId xmlns:a16="http://schemas.microsoft.com/office/drawing/2014/main" id="{FEF5F86A-D849-488A-AC14-F43C5F54F4C0}"/>
              </a:ext>
            </a:extLst>
          </p:cNvPr>
          <p:cNvSpPr/>
          <p:nvPr/>
        </p:nvSpPr>
        <p:spPr>
          <a:xfrm>
            <a:off x="1896199" y="3816603"/>
            <a:ext cx="2871747" cy="767079"/>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Посещение на адрес</a:t>
            </a:r>
            <a:endParaRPr lang="en-GB" sz="1600"/>
          </a:p>
        </p:txBody>
      </p:sp>
      <p:sp>
        <p:nvSpPr>
          <p:cNvPr id="27" name="Rectangle 3">
            <a:extLst>
              <a:ext uri="{FF2B5EF4-FFF2-40B4-BE49-F238E27FC236}">
                <a16:creationId xmlns:a16="http://schemas.microsoft.com/office/drawing/2014/main" id="{419484C4-B110-4B71-B77B-B7BF1CF68467}"/>
              </a:ext>
            </a:extLst>
          </p:cNvPr>
          <p:cNvSpPr/>
          <p:nvPr/>
        </p:nvSpPr>
        <p:spPr>
          <a:xfrm>
            <a:off x="1443475" y="4245"/>
            <a:ext cx="5338363" cy="677242"/>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28" name="Rectangle 4">
            <a:extLst>
              <a:ext uri="{FF2B5EF4-FFF2-40B4-BE49-F238E27FC236}">
                <a16:creationId xmlns:a16="http://schemas.microsoft.com/office/drawing/2014/main" id="{08E9F7F1-B91E-480D-AA00-869BDEE21209}"/>
              </a:ext>
            </a:extLst>
          </p:cNvPr>
          <p:cNvSpPr/>
          <p:nvPr/>
        </p:nvSpPr>
        <p:spPr>
          <a:xfrm>
            <a:off x="6788435" y="4245"/>
            <a:ext cx="5417300" cy="677242"/>
          </a:xfrm>
          <a:prstGeom prst="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29" name="Rectangle 28">
            <a:extLst>
              <a:ext uri="{FF2B5EF4-FFF2-40B4-BE49-F238E27FC236}">
                <a16:creationId xmlns:a16="http://schemas.microsoft.com/office/drawing/2014/main" id="{C7BC0F00-B5BE-4ECF-88E8-FBD419773B1A}"/>
              </a:ext>
            </a:extLst>
          </p:cNvPr>
          <p:cNvSpPr/>
          <p:nvPr/>
        </p:nvSpPr>
        <p:spPr>
          <a:xfrm>
            <a:off x="-1671" y="1599"/>
            <a:ext cx="1451167" cy="6866954"/>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200">
              <a:latin typeface="Aptos"/>
              <a:ea typeface="Calibri"/>
              <a:cs typeface="Calibri"/>
            </a:endParaRPr>
          </a:p>
        </p:txBody>
      </p:sp>
      <p:sp>
        <p:nvSpPr>
          <p:cNvPr id="30" name="Rectangle 29">
            <a:extLst>
              <a:ext uri="{FF2B5EF4-FFF2-40B4-BE49-F238E27FC236}">
                <a16:creationId xmlns:a16="http://schemas.microsoft.com/office/drawing/2014/main" id="{290F880C-9DF1-476E-90DB-AEBFE36A0C38}"/>
              </a:ext>
            </a:extLst>
          </p:cNvPr>
          <p:cNvSpPr/>
          <p:nvPr/>
        </p:nvSpPr>
        <p:spPr>
          <a:xfrm>
            <a:off x="-1671" y="2528038"/>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Типове клиенти</a:t>
            </a:r>
            <a:endParaRPr lang="en-GB" sz="1400">
              <a:latin typeface="Aptos"/>
              <a:ea typeface="Calibri"/>
              <a:cs typeface="Calibri"/>
            </a:endParaRPr>
          </a:p>
        </p:txBody>
      </p:sp>
      <p:sp>
        <p:nvSpPr>
          <p:cNvPr id="31" name="Rectangle 30">
            <a:extLst>
              <a:ext uri="{FF2B5EF4-FFF2-40B4-BE49-F238E27FC236}">
                <a16:creationId xmlns:a16="http://schemas.microsoft.com/office/drawing/2014/main" id="{E3525E3E-A447-4E1B-B3BA-59623D106924}"/>
              </a:ext>
            </a:extLst>
          </p:cNvPr>
          <p:cNvSpPr/>
          <p:nvPr/>
        </p:nvSpPr>
        <p:spPr>
          <a:xfrm>
            <a:off x="8626" y="1913210"/>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b="1">
                <a:solidFill>
                  <a:srgbClr val="2F5597"/>
                </a:solidFill>
                <a:latin typeface="Aptos"/>
                <a:ea typeface="Calibri"/>
                <a:cs typeface="Calibri"/>
              </a:rPr>
              <a:t>Сценарии</a:t>
            </a:r>
            <a:endParaRPr lang="en-GB" sz="1400" b="1">
              <a:solidFill>
                <a:srgbClr val="2F5597"/>
              </a:solidFill>
              <a:latin typeface="Aptos"/>
              <a:ea typeface="Calibri"/>
              <a:cs typeface="Calibri"/>
            </a:endParaRPr>
          </a:p>
        </p:txBody>
      </p:sp>
      <p:sp>
        <p:nvSpPr>
          <p:cNvPr id="32" name="Rectangle 31">
            <a:extLst>
              <a:ext uri="{FF2B5EF4-FFF2-40B4-BE49-F238E27FC236}">
                <a16:creationId xmlns:a16="http://schemas.microsoft.com/office/drawing/2014/main" id="{19034894-C390-4E18-944A-A9D0F1300D11}"/>
              </a:ext>
            </a:extLst>
          </p:cNvPr>
          <p:cNvSpPr/>
          <p:nvPr/>
        </p:nvSpPr>
        <p:spPr>
          <a:xfrm>
            <a:off x="-1671" y="1298382"/>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b="1">
                <a:solidFill>
                  <a:schemeClr val="bg1"/>
                </a:solidFill>
                <a:latin typeface="Aptos"/>
                <a:ea typeface="Calibri"/>
                <a:cs typeface="Calibri"/>
              </a:rPr>
              <a:t>Стъпки при среща</a:t>
            </a:r>
            <a:endParaRPr lang="bg-BG" sz="1400">
              <a:solidFill>
                <a:srgbClr val="000000"/>
              </a:solidFill>
              <a:latin typeface="Aptos"/>
              <a:ea typeface="Calibri"/>
              <a:cs typeface="Calibri"/>
            </a:endParaRPr>
          </a:p>
        </p:txBody>
      </p:sp>
      <p:sp>
        <p:nvSpPr>
          <p:cNvPr id="33" name="Rectangle 28">
            <a:extLst>
              <a:ext uri="{FF2B5EF4-FFF2-40B4-BE49-F238E27FC236}">
                <a16:creationId xmlns:a16="http://schemas.microsoft.com/office/drawing/2014/main" id="{C229AE85-D14E-40D2-BB48-22B2C12C7E1A}"/>
              </a:ext>
            </a:extLst>
          </p:cNvPr>
          <p:cNvSpPr/>
          <p:nvPr/>
        </p:nvSpPr>
        <p:spPr>
          <a:xfrm>
            <a:off x="6154" y="690328"/>
            <a:ext cx="1435083"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a:solidFill>
                  <a:schemeClr val="bg1"/>
                </a:solidFill>
                <a:latin typeface="Aptos"/>
                <a:ea typeface="Calibri"/>
                <a:cs typeface="Calibri"/>
              </a:rPr>
              <a:t>Подготовка</a:t>
            </a:r>
            <a:endParaRPr lang="en-GB" sz="1400">
              <a:solidFill>
                <a:schemeClr val="bg1"/>
              </a:solidFill>
              <a:latin typeface="Aptos"/>
              <a:ea typeface="Calibri"/>
              <a:cs typeface="Calibri"/>
            </a:endParaRPr>
          </a:p>
        </p:txBody>
      </p:sp>
      <p:sp>
        <p:nvSpPr>
          <p:cNvPr id="34" name="Правоъгълник: със заоблени ъгли 16">
            <a:extLst>
              <a:ext uri="{FF2B5EF4-FFF2-40B4-BE49-F238E27FC236}">
                <a16:creationId xmlns:a16="http://schemas.microsoft.com/office/drawing/2014/main" id="{E2E0188D-4214-4023-A95D-ECA54D9A2BE2}"/>
              </a:ext>
            </a:extLst>
          </p:cNvPr>
          <p:cNvSpPr/>
          <p:nvPr/>
        </p:nvSpPr>
        <p:spPr>
          <a:xfrm>
            <a:off x="5294850" y="3553597"/>
            <a:ext cx="2013461" cy="519092"/>
          </a:xfrm>
          <a:prstGeom prst="roundRect">
            <a:avLst>
              <a:gd name="adj" fmla="val 50000"/>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Тренирай</a:t>
            </a:r>
          </a:p>
        </p:txBody>
      </p:sp>
      <p:pic>
        <p:nvPicPr>
          <p:cNvPr id="35" name="Picture 34">
            <a:extLst>
              <a:ext uri="{FF2B5EF4-FFF2-40B4-BE49-F238E27FC236}">
                <a16:creationId xmlns:a16="http://schemas.microsoft.com/office/drawing/2014/main" id="{69FF9C5B-1CD4-4393-BC74-87835FFAAE6C}"/>
              </a:ext>
            </a:extLst>
          </p:cNvPr>
          <p:cNvPicPr>
            <a:picLocks noChangeAspect="1"/>
          </p:cNvPicPr>
          <p:nvPr/>
        </p:nvPicPr>
        <p:blipFill>
          <a:blip r:embed="rId2"/>
          <a:stretch>
            <a:fillRect/>
          </a:stretch>
        </p:blipFill>
        <p:spPr>
          <a:xfrm>
            <a:off x="11031388" y="5709427"/>
            <a:ext cx="982751" cy="995681"/>
          </a:xfrm>
          <a:prstGeom prst="rect">
            <a:avLst/>
          </a:prstGeom>
        </p:spPr>
      </p:pic>
      <p:sp>
        <p:nvSpPr>
          <p:cNvPr id="3" name="Овал 2">
            <a:extLst>
              <a:ext uri="{FF2B5EF4-FFF2-40B4-BE49-F238E27FC236}">
                <a16:creationId xmlns:a16="http://schemas.microsoft.com/office/drawing/2014/main" id="{D9087001-B008-52F3-8E33-6350DCA7C9BA}"/>
              </a:ext>
            </a:extLst>
          </p:cNvPr>
          <p:cNvSpPr/>
          <p:nvPr/>
        </p:nvSpPr>
        <p:spPr>
          <a:xfrm>
            <a:off x="16277461" y="1430065"/>
            <a:ext cx="177402" cy="159446"/>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2" name="Rectangle: Rounded Corners 1">
            <a:extLst>
              <a:ext uri="{FF2B5EF4-FFF2-40B4-BE49-F238E27FC236}">
                <a16:creationId xmlns:a16="http://schemas.microsoft.com/office/drawing/2014/main" id="{FE17C624-1EE1-13C0-85C1-C1091091F73C}"/>
              </a:ext>
            </a:extLst>
          </p:cNvPr>
          <p:cNvSpPr/>
          <p:nvPr/>
        </p:nvSpPr>
        <p:spPr>
          <a:xfrm>
            <a:off x="5375803" y="1552088"/>
            <a:ext cx="1841407" cy="467065"/>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600">
                <a:ea typeface="+mn-lt"/>
                <a:cs typeface="+mn-lt"/>
              </a:rPr>
              <a:t>Клиент влиза в Регионален офис</a:t>
            </a:r>
            <a:endParaRPr lang="en-US"/>
          </a:p>
        </p:txBody>
      </p:sp>
      <p:sp>
        <p:nvSpPr>
          <p:cNvPr id="6" name="Rectangle: Rounded Corners 1">
            <a:extLst>
              <a:ext uri="{FF2B5EF4-FFF2-40B4-BE49-F238E27FC236}">
                <a16:creationId xmlns:a16="http://schemas.microsoft.com/office/drawing/2014/main" id="{D3646BE8-9848-07D7-56AF-BA051AC14B72}"/>
              </a:ext>
            </a:extLst>
          </p:cNvPr>
          <p:cNvSpPr/>
          <p:nvPr/>
        </p:nvSpPr>
        <p:spPr>
          <a:xfrm>
            <a:off x="7846395" y="1875905"/>
            <a:ext cx="3196027" cy="1667792"/>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600"/>
              <a:t>Видео</a:t>
            </a:r>
            <a:endParaRPr lang="en-GB" sz="1600"/>
          </a:p>
        </p:txBody>
      </p:sp>
    </p:spTree>
    <p:extLst>
      <p:ext uri="{BB962C8B-B14F-4D97-AF65-F5344CB8AC3E}">
        <p14:creationId xmlns:p14="http://schemas.microsoft.com/office/powerpoint/2010/main" val="212891755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B4E6DF-4181-A2B7-3643-853E2BB9EA5D}"/>
            </a:ext>
          </a:extLst>
        </p:cNvPr>
        <p:cNvGrpSpPr/>
        <p:nvPr/>
      </p:nvGrpSpPr>
      <p:grpSpPr>
        <a:xfrm>
          <a:off x="0" y="0"/>
          <a:ext cx="0" cy="0"/>
          <a:chOff x="0" y="0"/>
          <a:chExt cx="0" cy="0"/>
        </a:xfrm>
      </p:grpSpPr>
      <p:sp>
        <p:nvSpPr>
          <p:cNvPr id="27" name="Rectangle 3">
            <a:extLst>
              <a:ext uri="{FF2B5EF4-FFF2-40B4-BE49-F238E27FC236}">
                <a16:creationId xmlns:a16="http://schemas.microsoft.com/office/drawing/2014/main" id="{B20AF7A3-D727-B47C-4628-FB06D79FEA60}"/>
              </a:ext>
            </a:extLst>
          </p:cNvPr>
          <p:cNvSpPr/>
          <p:nvPr/>
        </p:nvSpPr>
        <p:spPr>
          <a:xfrm>
            <a:off x="1443475" y="4245"/>
            <a:ext cx="5338363" cy="677242"/>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28" name="Rectangle 4">
            <a:extLst>
              <a:ext uri="{FF2B5EF4-FFF2-40B4-BE49-F238E27FC236}">
                <a16:creationId xmlns:a16="http://schemas.microsoft.com/office/drawing/2014/main" id="{98549202-AA3F-20FD-5C85-DA017FAA0464}"/>
              </a:ext>
            </a:extLst>
          </p:cNvPr>
          <p:cNvSpPr/>
          <p:nvPr/>
        </p:nvSpPr>
        <p:spPr>
          <a:xfrm>
            <a:off x="6788435" y="4245"/>
            <a:ext cx="5417300" cy="677242"/>
          </a:xfrm>
          <a:prstGeom prst="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29" name="Rectangle 28">
            <a:extLst>
              <a:ext uri="{FF2B5EF4-FFF2-40B4-BE49-F238E27FC236}">
                <a16:creationId xmlns:a16="http://schemas.microsoft.com/office/drawing/2014/main" id="{1635128C-24E0-78AF-53ED-CB823DA120AB}"/>
              </a:ext>
            </a:extLst>
          </p:cNvPr>
          <p:cNvSpPr/>
          <p:nvPr/>
        </p:nvSpPr>
        <p:spPr>
          <a:xfrm>
            <a:off x="-1671" y="1599"/>
            <a:ext cx="1451167" cy="6866954"/>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200">
              <a:latin typeface="Aptos"/>
              <a:ea typeface="Calibri"/>
              <a:cs typeface="Calibri"/>
            </a:endParaRPr>
          </a:p>
        </p:txBody>
      </p:sp>
      <p:sp>
        <p:nvSpPr>
          <p:cNvPr id="30" name="Rectangle 29">
            <a:extLst>
              <a:ext uri="{FF2B5EF4-FFF2-40B4-BE49-F238E27FC236}">
                <a16:creationId xmlns:a16="http://schemas.microsoft.com/office/drawing/2014/main" id="{946EA4CF-EFFB-78E8-13D8-1A54DEC6D7EE}"/>
              </a:ext>
            </a:extLst>
          </p:cNvPr>
          <p:cNvSpPr/>
          <p:nvPr/>
        </p:nvSpPr>
        <p:spPr>
          <a:xfrm>
            <a:off x="-1671" y="2528038"/>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Типове клиенти</a:t>
            </a:r>
            <a:endParaRPr lang="en-GB" sz="1400">
              <a:latin typeface="Aptos"/>
              <a:ea typeface="Calibri"/>
              <a:cs typeface="Calibri"/>
            </a:endParaRPr>
          </a:p>
        </p:txBody>
      </p:sp>
      <p:sp>
        <p:nvSpPr>
          <p:cNvPr id="31" name="Rectangle 30">
            <a:extLst>
              <a:ext uri="{FF2B5EF4-FFF2-40B4-BE49-F238E27FC236}">
                <a16:creationId xmlns:a16="http://schemas.microsoft.com/office/drawing/2014/main" id="{091EC380-7A63-5D4A-53B5-890E6D174BBF}"/>
              </a:ext>
            </a:extLst>
          </p:cNvPr>
          <p:cNvSpPr/>
          <p:nvPr/>
        </p:nvSpPr>
        <p:spPr>
          <a:xfrm>
            <a:off x="8626" y="1913210"/>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b="1">
                <a:solidFill>
                  <a:srgbClr val="2F5597"/>
                </a:solidFill>
                <a:latin typeface="Aptos"/>
                <a:ea typeface="Calibri"/>
                <a:cs typeface="Calibri"/>
              </a:rPr>
              <a:t>Сценарии</a:t>
            </a:r>
            <a:endParaRPr lang="en-GB" sz="1400" b="1">
              <a:solidFill>
                <a:srgbClr val="2F5597"/>
              </a:solidFill>
              <a:latin typeface="Aptos"/>
              <a:ea typeface="Calibri"/>
              <a:cs typeface="Calibri"/>
            </a:endParaRPr>
          </a:p>
        </p:txBody>
      </p:sp>
      <p:sp>
        <p:nvSpPr>
          <p:cNvPr id="32" name="Rectangle 31">
            <a:extLst>
              <a:ext uri="{FF2B5EF4-FFF2-40B4-BE49-F238E27FC236}">
                <a16:creationId xmlns:a16="http://schemas.microsoft.com/office/drawing/2014/main" id="{119F21F8-01E2-54B0-1ED6-2848933D4775}"/>
              </a:ext>
            </a:extLst>
          </p:cNvPr>
          <p:cNvSpPr/>
          <p:nvPr/>
        </p:nvSpPr>
        <p:spPr>
          <a:xfrm>
            <a:off x="-1671" y="1298382"/>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b="1">
                <a:solidFill>
                  <a:schemeClr val="bg1"/>
                </a:solidFill>
                <a:latin typeface="Aptos"/>
                <a:ea typeface="Calibri"/>
                <a:cs typeface="Calibri"/>
              </a:rPr>
              <a:t>Стъпки при среща</a:t>
            </a:r>
            <a:endParaRPr lang="bg-BG" sz="1400">
              <a:solidFill>
                <a:srgbClr val="000000"/>
              </a:solidFill>
              <a:latin typeface="Aptos"/>
              <a:ea typeface="Calibri"/>
              <a:cs typeface="Calibri"/>
            </a:endParaRPr>
          </a:p>
        </p:txBody>
      </p:sp>
      <p:sp>
        <p:nvSpPr>
          <p:cNvPr id="33" name="Rectangle 28">
            <a:extLst>
              <a:ext uri="{FF2B5EF4-FFF2-40B4-BE49-F238E27FC236}">
                <a16:creationId xmlns:a16="http://schemas.microsoft.com/office/drawing/2014/main" id="{A7CDEEDD-E07F-2672-5F90-BDFADE98D230}"/>
              </a:ext>
            </a:extLst>
          </p:cNvPr>
          <p:cNvSpPr/>
          <p:nvPr/>
        </p:nvSpPr>
        <p:spPr>
          <a:xfrm>
            <a:off x="6154" y="690328"/>
            <a:ext cx="1435083"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a:solidFill>
                  <a:schemeClr val="bg1"/>
                </a:solidFill>
                <a:latin typeface="Aptos"/>
                <a:ea typeface="Calibri"/>
                <a:cs typeface="Calibri"/>
              </a:rPr>
              <a:t>Подготовка</a:t>
            </a:r>
            <a:endParaRPr lang="en-GB" sz="1400">
              <a:solidFill>
                <a:schemeClr val="bg1"/>
              </a:solidFill>
              <a:latin typeface="Aptos"/>
              <a:ea typeface="Calibri"/>
              <a:cs typeface="Calibri"/>
            </a:endParaRPr>
          </a:p>
        </p:txBody>
      </p:sp>
      <p:pic>
        <p:nvPicPr>
          <p:cNvPr id="35" name="Picture 34">
            <a:extLst>
              <a:ext uri="{FF2B5EF4-FFF2-40B4-BE49-F238E27FC236}">
                <a16:creationId xmlns:a16="http://schemas.microsoft.com/office/drawing/2014/main" id="{8B3449DB-8742-8DE9-1DA0-4F3D7296DB39}"/>
              </a:ext>
            </a:extLst>
          </p:cNvPr>
          <p:cNvPicPr>
            <a:picLocks noChangeAspect="1"/>
          </p:cNvPicPr>
          <p:nvPr/>
        </p:nvPicPr>
        <p:blipFill>
          <a:blip r:embed="rId2"/>
          <a:stretch>
            <a:fillRect/>
          </a:stretch>
        </p:blipFill>
        <p:spPr>
          <a:xfrm>
            <a:off x="11031388" y="5709427"/>
            <a:ext cx="982751" cy="995681"/>
          </a:xfrm>
          <a:prstGeom prst="rect">
            <a:avLst/>
          </a:prstGeom>
        </p:spPr>
      </p:pic>
      <p:sp>
        <p:nvSpPr>
          <p:cNvPr id="3" name="Овал 2">
            <a:extLst>
              <a:ext uri="{FF2B5EF4-FFF2-40B4-BE49-F238E27FC236}">
                <a16:creationId xmlns:a16="http://schemas.microsoft.com/office/drawing/2014/main" id="{EB6F0520-F74B-0E39-1FAD-8EFCDCCA33C7}"/>
              </a:ext>
            </a:extLst>
          </p:cNvPr>
          <p:cNvSpPr/>
          <p:nvPr/>
        </p:nvSpPr>
        <p:spPr>
          <a:xfrm>
            <a:off x="16277461" y="1430065"/>
            <a:ext cx="177402" cy="159446"/>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6" name="Rectangle: Rounded Corners 1">
            <a:extLst>
              <a:ext uri="{FF2B5EF4-FFF2-40B4-BE49-F238E27FC236}">
                <a16:creationId xmlns:a16="http://schemas.microsoft.com/office/drawing/2014/main" id="{8D129DF0-19DA-7CDC-3BF3-ED33AD8A6D97}"/>
              </a:ext>
            </a:extLst>
          </p:cNvPr>
          <p:cNvSpPr/>
          <p:nvPr/>
        </p:nvSpPr>
        <p:spPr>
          <a:xfrm>
            <a:off x="2167114" y="923406"/>
            <a:ext cx="8875308" cy="4942009"/>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600"/>
              <a:t>Видео</a:t>
            </a:r>
            <a:endParaRPr lang="en-GB" sz="1600"/>
          </a:p>
        </p:txBody>
      </p:sp>
      <p:sp>
        <p:nvSpPr>
          <p:cNvPr id="7" name="Isosceles Triangle 6">
            <a:extLst>
              <a:ext uri="{FF2B5EF4-FFF2-40B4-BE49-F238E27FC236}">
                <a16:creationId xmlns:a16="http://schemas.microsoft.com/office/drawing/2014/main" id="{09B971A3-F6B5-3F91-E127-AB4E67608560}"/>
              </a:ext>
            </a:extLst>
          </p:cNvPr>
          <p:cNvSpPr/>
          <p:nvPr/>
        </p:nvSpPr>
        <p:spPr>
          <a:xfrm rot="5400000">
            <a:off x="6219467" y="3061977"/>
            <a:ext cx="758838" cy="729079"/>
          </a:xfrm>
          <a:prstGeom prst="triangl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Знак за умножение 47">
            <a:extLst>
              <a:ext uri="{FF2B5EF4-FFF2-40B4-BE49-F238E27FC236}">
                <a16:creationId xmlns:a16="http://schemas.microsoft.com/office/drawing/2014/main" id="{E7FA4BF5-5495-BE40-FFA8-2AA200147BEE}"/>
              </a:ext>
            </a:extLst>
          </p:cNvPr>
          <p:cNvSpPr/>
          <p:nvPr/>
        </p:nvSpPr>
        <p:spPr>
          <a:xfrm>
            <a:off x="10235491" y="1097196"/>
            <a:ext cx="446569" cy="496188"/>
          </a:xfrm>
          <a:prstGeom prst="mathMultiply">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Tree>
    <p:extLst>
      <p:ext uri="{BB962C8B-B14F-4D97-AF65-F5344CB8AC3E}">
        <p14:creationId xmlns:p14="http://schemas.microsoft.com/office/powerpoint/2010/main" val="233414601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603B9E-0222-4E51-9D59-2918DCC7C6E5}"/>
            </a:ext>
          </a:extLst>
        </p:cNvPr>
        <p:cNvGrpSpPr/>
        <p:nvPr/>
      </p:nvGrpSpPr>
      <p:grpSpPr>
        <a:xfrm>
          <a:off x="0" y="0"/>
          <a:ext cx="0" cy="0"/>
          <a:chOff x="0" y="0"/>
          <a:chExt cx="0" cy="0"/>
        </a:xfrm>
      </p:grpSpPr>
      <p:sp>
        <p:nvSpPr>
          <p:cNvPr id="18" name="Rectangle: Rounded Corners 17">
            <a:extLst>
              <a:ext uri="{FF2B5EF4-FFF2-40B4-BE49-F238E27FC236}">
                <a16:creationId xmlns:a16="http://schemas.microsoft.com/office/drawing/2014/main" id="{76177F66-8E73-F74F-00F1-EAD2092BA3F5}"/>
              </a:ext>
            </a:extLst>
          </p:cNvPr>
          <p:cNvSpPr/>
          <p:nvPr/>
        </p:nvSpPr>
        <p:spPr>
          <a:xfrm>
            <a:off x="1896199" y="2037152"/>
            <a:ext cx="2871747" cy="767079"/>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ru-RU" sz="1600"/>
              <a:t>Настоящ клиент за нов кредит</a:t>
            </a:r>
            <a:endParaRPr lang="en-GB" sz="1600"/>
          </a:p>
        </p:txBody>
      </p:sp>
      <p:sp>
        <p:nvSpPr>
          <p:cNvPr id="19" name="Rectangle: Rounded Corners 18">
            <a:extLst>
              <a:ext uri="{FF2B5EF4-FFF2-40B4-BE49-F238E27FC236}">
                <a16:creationId xmlns:a16="http://schemas.microsoft.com/office/drawing/2014/main" id="{BA1FF679-29F6-24BE-03EC-151A485A90F7}"/>
              </a:ext>
            </a:extLst>
          </p:cNvPr>
          <p:cNvSpPr/>
          <p:nvPr/>
        </p:nvSpPr>
        <p:spPr>
          <a:xfrm>
            <a:off x="1896199" y="1147427"/>
            <a:ext cx="2871747" cy="767079"/>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Нов клиент в офис</a:t>
            </a:r>
            <a:endParaRPr lang="en-GB" sz="1600"/>
          </a:p>
        </p:txBody>
      </p:sp>
      <p:sp>
        <p:nvSpPr>
          <p:cNvPr id="25" name="Rectangle: Rounded Corners 24">
            <a:extLst>
              <a:ext uri="{FF2B5EF4-FFF2-40B4-BE49-F238E27FC236}">
                <a16:creationId xmlns:a16="http://schemas.microsoft.com/office/drawing/2014/main" id="{FC1FEEA3-83A5-A8F6-F562-A1E4506FEC30}"/>
              </a:ext>
            </a:extLst>
          </p:cNvPr>
          <p:cNvSpPr/>
          <p:nvPr/>
        </p:nvSpPr>
        <p:spPr>
          <a:xfrm>
            <a:off x="1896199" y="2926877"/>
            <a:ext cx="2871747" cy="767079"/>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Настоящ клиент за рефинансиране</a:t>
            </a:r>
            <a:endParaRPr lang="en-GB" sz="1600"/>
          </a:p>
        </p:txBody>
      </p:sp>
      <p:sp>
        <p:nvSpPr>
          <p:cNvPr id="26" name="Rectangle 11">
            <a:extLst>
              <a:ext uri="{FF2B5EF4-FFF2-40B4-BE49-F238E27FC236}">
                <a16:creationId xmlns:a16="http://schemas.microsoft.com/office/drawing/2014/main" id="{75494AE4-F6C8-C467-AA02-3F7285711F50}"/>
              </a:ext>
            </a:extLst>
          </p:cNvPr>
          <p:cNvSpPr/>
          <p:nvPr/>
        </p:nvSpPr>
        <p:spPr>
          <a:xfrm>
            <a:off x="1896199" y="3816603"/>
            <a:ext cx="2871747" cy="767079"/>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Посещение на адрес</a:t>
            </a:r>
            <a:endParaRPr lang="en-GB" sz="1600"/>
          </a:p>
        </p:txBody>
      </p:sp>
      <p:sp>
        <p:nvSpPr>
          <p:cNvPr id="27" name="Rectangle 3">
            <a:extLst>
              <a:ext uri="{FF2B5EF4-FFF2-40B4-BE49-F238E27FC236}">
                <a16:creationId xmlns:a16="http://schemas.microsoft.com/office/drawing/2014/main" id="{40122CA5-0725-594E-E82C-32D1E5EFBA4D}"/>
              </a:ext>
            </a:extLst>
          </p:cNvPr>
          <p:cNvSpPr/>
          <p:nvPr/>
        </p:nvSpPr>
        <p:spPr>
          <a:xfrm>
            <a:off x="1443475" y="4245"/>
            <a:ext cx="5338363" cy="677242"/>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28" name="Rectangle 4">
            <a:extLst>
              <a:ext uri="{FF2B5EF4-FFF2-40B4-BE49-F238E27FC236}">
                <a16:creationId xmlns:a16="http://schemas.microsoft.com/office/drawing/2014/main" id="{C6BD84C0-CF4C-BA47-829F-28E34CA5E008}"/>
              </a:ext>
            </a:extLst>
          </p:cNvPr>
          <p:cNvSpPr/>
          <p:nvPr/>
        </p:nvSpPr>
        <p:spPr>
          <a:xfrm>
            <a:off x="6788435" y="4245"/>
            <a:ext cx="5417300" cy="677242"/>
          </a:xfrm>
          <a:prstGeom prst="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29" name="Rectangle 28">
            <a:extLst>
              <a:ext uri="{FF2B5EF4-FFF2-40B4-BE49-F238E27FC236}">
                <a16:creationId xmlns:a16="http://schemas.microsoft.com/office/drawing/2014/main" id="{719D12CC-C453-181E-8D94-F29EBAB38048}"/>
              </a:ext>
            </a:extLst>
          </p:cNvPr>
          <p:cNvSpPr/>
          <p:nvPr/>
        </p:nvSpPr>
        <p:spPr>
          <a:xfrm>
            <a:off x="-1671" y="1599"/>
            <a:ext cx="1451167" cy="6866954"/>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200">
              <a:latin typeface="Aptos"/>
              <a:ea typeface="Calibri"/>
              <a:cs typeface="Calibri"/>
            </a:endParaRPr>
          </a:p>
        </p:txBody>
      </p:sp>
      <p:sp>
        <p:nvSpPr>
          <p:cNvPr id="30" name="Rectangle 29">
            <a:extLst>
              <a:ext uri="{FF2B5EF4-FFF2-40B4-BE49-F238E27FC236}">
                <a16:creationId xmlns:a16="http://schemas.microsoft.com/office/drawing/2014/main" id="{0F02357B-77FC-CD67-F980-4ABC6CB1BEFE}"/>
              </a:ext>
            </a:extLst>
          </p:cNvPr>
          <p:cNvSpPr/>
          <p:nvPr/>
        </p:nvSpPr>
        <p:spPr>
          <a:xfrm>
            <a:off x="-1671" y="2528038"/>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Типове клиенти</a:t>
            </a:r>
            <a:endParaRPr lang="en-GB" sz="1400">
              <a:latin typeface="Aptos"/>
              <a:ea typeface="Calibri"/>
              <a:cs typeface="Calibri"/>
            </a:endParaRPr>
          </a:p>
        </p:txBody>
      </p:sp>
      <p:sp>
        <p:nvSpPr>
          <p:cNvPr id="31" name="Rectangle 30">
            <a:extLst>
              <a:ext uri="{FF2B5EF4-FFF2-40B4-BE49-F238E27FC236}">
                <a16:creationId xmlns:a16="http://schemas.microsoft.com/office/drawing/2014/main" id="{1E5EE399-7A3D-0884-1BA0-E066C4A6F40B}"/>
              </a:ext>
            </a:extLst>
          </p:cNvPr>
          <p:cNvSpPr/>
          <p:nvPr/>
        </p:nvSpPr>
        <p:spPr>
          <a:xfrm>
            <a:off x="8626" y="1913210"/>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b="1">
                <a:solidFill>
                  <a:srgbClr val="2F5597"/>
                </a:solidFill>
                <a:latin typeface="Aptos"/>
                <a:ea typeface="Calibri"/>
                <a:cs typeface="Calibri"/>
              </a:rPr>
              <a:t>Сценарии</a:t>
            </a:r>
            <a:endParaRPr lang="en-GB" sz="1400" b="1">
              <a:solidFill>
                <a:srgbClr val="2F5597"/>
              </a:solidFill>
              <a:latin typeface="Aptos"/>
              <a:ea typeface="Calibri"/>
              <a:cs typeface="Calibri"/>
            </a:endParaRPr>
          </a:p>
        </p:txBody>
      </p:sp>
      <p:sp>
        <p:nvSpPr>
          <p:cNvPr id="32" name="Rectangle 31">
            <a:extLst>
              <a:ext uri="{FF2B5EF4-FFF2-40B4-BE49-F238E27FC236}">
                <a16:creationId xmlns:a16="http://schemas.microsoft.com/office/drawing/2014/main" id="{D64C981E-5153-8DDF-EA1B-B412A92E316A}"/>
              </a:ext>
            </a:extLst>
          </p:cNvPr>
          <p:cNvSpPr/>
          <p:nvPr/>
        </p:nvSpPr>
        <p:spPr>
          <a:xfrm>
            <a:off x="-1671" y="1298382"/>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b="1">
                <a:solidFill>
                  <a:schemeClr val="bg1"/>
                </a:solidFill>
                <a:latin typeface="Aptos"/>
                <a:ea typeface="Calibri"/>
                <a:cs typeface="Calibri"/>
              </a:rPr>
              <a:t>Стъпки при среща</a:t>
            </a:r>
            <a:endParaRPr lang="bg-BG" sz="1400">
              <a:solidFill>
                <a:srgbClr val="000000"/>
              </a:solidFill>
              <a:latin typeface="Aptos"/>
              <a:ea typeface="Calibri"/>
              <a:cs typeface="Calibri"/>
            </a:endParaRPr>
          </a:p>
        </p:txBody>
      </p:sp>
      <p:sp>
        <p:nvSpPr>
          <p:cNvPr id="33" name="Rectangle 28">
            <a:extLst>
              <a:ext uri="{FF2B5EF4-FFF2-40B4-BE49-F238E27FC236}">
                <a16:creationId xmlns:a16="http://schemas.microsoft.com/office/drawing/2014/main" id="{41F6DF96-9938-F954-E3ED-AA5E514D7003}"/>
              </a:ext>
            </a:extLst>
          </p:cNvPr>
          <p:cNvSpPr/>
          <p:nvPr/>
        </p:nvSpPr>
        <p:spPr>
          <a:xfrm>
            <a:off x="6154" y="690328"/>
            <a:ext cx="1435083"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a:solidFill>
                  <a:schemeClr val="bg1"/>
                </a:solidFill>
                <a:latin typeface="Aptos"/>
                <a:ea typeface="Calibri"/>
                <a:cs typeface="Calibri"/>
              </a:rPr>
              <a:t>Подготовка</a:t>
            </a:r>
            <a:endParaRPr lang="en-GB" sz="1400">
              <a:solidFill>
                <a:schemeClr val="bg1"/>
              </a:solidFill>
              <a:latin typeface="Aptos"/>
              <a:ea typeface="Calibri"/>
              <a:cs typeface="Calibri"/>
            </a:endParaRPr>
          </a:p>
        </p:txBody>
      </p:sp>
      <p:sp>
        <p:nvSpPr>
          <p:cNvPr id="34" name="Правоъгълник: със заоблени ъгли 16">
            <a:extLst>
              <a:ext uri="{FF2B5EF4-FFF2-40B4-BE49-F238E27FC236}">
                <a16:creationId xmlns:a16="http://schemas.microsoft.com/office/drawing/2014/main" id="{F809D5E2-EF07-93E3-8D85-94F4033C0A83}"/>
              </a:ext>
            </a:extLst>
          </p:cNvPr>
          <p:cNvSpPr/>
          <p:nvPr/>
        </p:nvSpPr>
        <p:spPr>
          <a:xfrm>
            <a:off x="5294850" y="3553597"/>
            <a:ext cx="2013461" cy="519092"/>
          </a:xfrm>
          <a:prstGeom prst="roundRect">
            <a:avLst>
              <a:gd name="adj" fmla="val 50000"/>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Тренирай</a:t>
            </a:r>
          </a:p>
        </p:txBody>
      </p:sp>
      <p:pic>
        <p:nvPicPr>
          <p:cNvPr id="35" name="Picture 34">
            <a:extLst>
              <a:ext uri="{FF2B5EF4-FFF2-40B4-BE49-F238E27FC236}">
                <a16:creationId xmlns:a16="http://schemas.microsoft.com/office/drawing/2014/main" id="{38364A45-307F-F109-BF09-518512D7141F}"/>
              </a:ext>
            </a:extLst>
          </p:cNvPr>
          <p:cNvPicPr>
            <a:picLocks noChangeAspect="1"/>
          </p:cNvPicPr>
          <p:nvPr/>
        </p:nvPicPr>
        <p:blipFill>
          <a:blip r:embed="rId2"/>
          <a:stretch>
            <a:fillRect/>
          </a:stretch>
        </p:blipFill>
        <p:spPr>
          <a:xfrm>
            <a:off x="11031388" y="5709427"/>
            <a:ext cx="982751" cy="995681"/>
          </a:xfrm>
          <a:prstGeom prst="rect">
            <a:avLst/>
          </a:prstGeom>
        </p:spPr>
      </p:pic>
      <p:sp>
        <p:nvSpPr>
          <p:cNvPr id="3" name="Овал 2">
            <a:extLst>
              <a:ext uri="{FF2B5EF4-FFF2-40B4-BE49-F238E27FC236}">
                <a16:creationId xmlns:a16="http://schemas.microsoft.com/office/drawing/2014/main" id="{4FADF52B-6C0F-9A13-6DFC-80C6FC08B1A5}"/>
              </a:ext>
            </a:extLst>
          </p:cNvPr>
          <p:cNvSpPr/>
          <p:nvPr/>
        </p:nvSpPr>
        <p:spPr>
          <a:xfrm>
            <a:off x="16277461" y="1430065"/>
            <a:ext cx="177402" cy="159446"/>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2" name="Rectangle: Rounded Corners 1">
            <a:extLst>
              <a:ext uri="{FF2B5EF4-FFF2-40B4-BE49-F238E27FC236}">
                <a16:creationId xmlns:a16="http://schemas.microsoft.com/office/drawing/2014/main" id="{E402A511-CD3F-8A71-73E7-03D15C5619A7}"/>
              </a:ext>
            </a:extLst>
          </p:cNvPr>
          <p:cNvSpPr/>
          <p:nvPr/>
        </p:nvSpPr>
        <p:spPr>
          <a:xfrm>
            <a:off x="5375803" y="1552088"/>
            <a:ext cx="1841407" cy="467065"/>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600">
                <a:ea typeface="+mn-lt"/>
                <a:cs typeface="+mn-lt"/>
              </a:rPr>
              <a:t>Клиент влиза в Регионален офис</a:t>
            </a:r>
            <a:endParaRPr lang="en-US"/>
          </a:p>
        </p:txBody>
      </p:sp>
      <p:sp>
        <p:nvSpPr>
          <p:cNvPr id="6" name="Rectangle: Rounded Corners 1">
            <a:extLst>
              <a:ext uri="{FF2B5EF4-FFF2-40B4-BE49-F238E27FC236}">
                <a16:creationId xmlns:a16="http://schemas.microsoft.com/office/drawing/2014/main" id="{06A6148C-3D4E-D2FD-153F-0D8BCF79C974}"/>
              </a:ext>
            </a:extLst>
          </p:cNvPr>
          <p:cNvSpPr/>
          <p:nvPr/>
        </p:nvSpPr>
        <p:spPr>
          <a:xfrm>
            <a:off x="7846395" y="1875905"/>
            <a:ext cx="3196027" cy="1667792"/>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600"/>
              <a:t>Видео</a:t>
            </a:r>
            <a:endParaRPr lang="en-GB" sz="1600"/>
          </a:p>
        </p:txBody>
      </p:sp>
    </p:spTree>
    <p:extLst>
      <p:ext uri="{BB962C8B-B14F-4D97-AF65-F5344CB8AC3E}">
        <p14:creationId xmlns:p14="http://schemas.microsoft.com/office/powerpoint/2010/main" val="217153924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959289-2173-49E1-9637-AE1AE7DC7DE7}"/>
            </a:ext>
          </a:extLst>
        </p:cNvPr>
        <p:cNvGrpSpPr/>
        <p:nvPr/>
      </p:nvGrpSpPr>
      <p:grpSpPr>
        <a:xfrm>
          <a:off x="0" y="0"/>
          <a:ext cx="0" cy="0"/>
          <a:chOff x="0" y="0"/>
          <a:chExt cx="0" cy="0"/>
        </a:xfrm>
      </p:grpSpPr>
      <p:sp>
        <p:nvSpPr>
          <p:cNvPr id="18" name="Rectangle: Rounded Corners 17">
            <a:extLst>
              <a:ext uri="{FF2B5EF4-FFF2-40B4-BE49-F238E27FC236}">
                <a16:creationId xmlns:a16="http://schemas.microsoft.com/office/drawing/2014/main" id="{B37F520A-FD48-13EF-BF4D-40DC3E2DC46E}"/>
              </a:ext>
            </a:extLst>
          </p:cNvPr>
          <p:cNvSpPr/>
          <p:nvPr/>
        </p:nvSpPr>
        <p:spPr>
          <a:xfrm>
            <a:off x="1896199" y="2037152"/>
            <a:ext cx="2871747" cy="767079"/>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ru-RU" sz="1600"/>
              <a:t>Настоящ клиент за нов кредит</a:t>
            </a:r>
            <a:endParaRPr lang="en-GB" sz="1600"/>
          </a:p>
        </p:txBody>
      </p:sp>
      <p:sp>
        <p:nvSpPr>
          <p:cNvPr id="19" name="Rectangle: Rounded Corners 18">
            <a:extLst>
              <a:ext uri="{FF2B5EF4-FFF2-40B4-BE49-F238E27FC236}">
                <a16:creationId xmlns:a16="http://schemas.microsoft.com/office/drawing/2014/main" id="{1A6E459C-6723-6887-3BEE-21E449F41E27}"/>
              </a:ext>
            </a:extLst>
          </p:cNvPr>
          <p:cNvSpPr/>
          <p:nvPr/>
        </p:nvSpPr>
        <p:spPr>
          <a:xfrm>
            <a:off x="1896199" y="1147427"/>
            <a:ext cx="2871747" cy="767079"/>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Нов клиент в офис</a:t>
            </a:r>
            <a:endParaRPr lang="en-GB" sz="1600"/>
          </a:p>
        </p:txBody>
      </p:sp>
      <p:sp>
        <p:nvSpPr>
          <p:cNvPr id="25" name="Rectangle: Rounded Corners 24">
            <a:extLst>
              <a:ext uri="{FF2B5EF4-FFF2-40B4-BE49-F238E27FC236}">
                <a16:creationId xmlns:a16="http://schemas.microsoft.com/office/drawing/2014/main" id="{7161FE81-72CF-E8CF-5F3A-A036323CE8D5}"/>
              </a:ext>
            </a:extLst>
          </p:cNvPr>
          <p:cNvSpPr/>
          <p:nvPr/>
        </p:nvSpPr>
        <p:spPr>
          <a:xfrm>
            <a:off x="1896199" y="2926877"/>
            <a:ext cx="2871747" cy="767079"/>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Настоящ клиент за рефинансиране</a:t>
            </a:r>
            <a:endParaRPr lang="en-GB" sz="1600"/>
          </a:p>
        </p:txBody>
      </p:sp>
      <p:sp>
        <p:nvSpPr>
          <p:cNvPr id="26" name="Rectangle 11">
            <a:extLst>
              <a:ext uri="{FF2B5EF4-FFF2-40B4-BE49-F238E27FC236}">
                <a16:creationId xmlns:a16="http://schemas.microsoft.com/office/drawing/2014/main" id="{D52572DD-CED5-4767-F59B-A23221BB61EF}"/>
              </a:ext>
            </a:extLst>
          </p:cNvPr>
          <p:cNvSpPr/>
          <p:nvPr/>
        </p:nvSpPr>
        <p:spPr>
          <a:xfrm>
            <a:off x="1896199" y="3816603"/>
            <a:ext cx="2871747" cy="767079"/>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Посещение на адрес</a:t>
            </a:r>
            <a:endParaRPr lang="en-GB" sz="1600"/>
          </a:p>
        </p:txBody>
      </p:sp>
      <p:sp>
        <p:nvSpPr>
          <p:cNvPr id="27" name="Rectangle 3">
            <a:extLst>
              <a:ext uri="{FF2B5EF4-FFF2-40B4-BE49-F238E27FC236}">
                <a16:creationId xmlns:a16="http://schemas.microsoft.com/office/drawing/2014/main" id="{8E411693-8276-082B-E4CD-6DFD2BD70A45}"/>
              </a:ext>
            </a:extLst>
          </p:cNvPr>
          <p:cNvSpPr/>
          <p:nvPr/>
        </p:nvSpPr>
        <p:spPr>
          <a:xfrm>
            <a:off x="1443475" y="4245"/>
            <a:ext cx="5338363" cy="677242"/>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28" name="Rectangle 4">
            <a:extLst>
              <a:ext uri="{FF2B5EF4-FFF2-40B4-BE49-F238E27FC236}">
                <a16:creationId xmlns:a16="http://schemas.microsoft.com/office/drawing/2014/main" id="{C1B253C8-C1A5-2179-4D6E-1D23A2E9EE95}"/>
              </a:ext>
            </a:extLst>
          </p:cNvPr>
          <p:cNvSpPr/>
          <p:nvPr/>
        </p:nvSpPr>
        <p:spPr>
          <a:xfrm>
            <a:off x="6788435" y="4245"/>
            <a:ext cx="5417300" cy="677242"/>
          </a:xfrm>
          <a:prstGeom prst="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29" name="Rectangle 28">
            <a:extLst>
              <a:ext uri="{FF2B5EF4-FFF2-40B4-BE49-F238E27FC236}">
                <a16:creationId xmlns:a16="http://schemas.microsoft.com/office/drawing/2014/main" id="{2BCE4C2D-6D08-8823-7689-2EEDD7602123}"/>
              </a:ext>
            </a:extLst>
          </p:cNvPr>
          <p:cNvSpPr/>
          <p:nvPr/>
        </p:nvSpPr>
        <p:spPr>
          <a:xfrm>
            <a:off x="-1671" y="1599"/>
            <a:ext cx="1451167" cy="6866954"/>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200">
              <a:latin typeface="Aptos"/>
              <a:ea typeface="Calibri"/>
              <a:cs typeface="Calibri"/>
            </a:endParaRPr>
          </a:p>
        </p:txBody>
      </p:sp>
      <p:sp>
        <p:nvSpPr>
          <p:cNvPr id="30" name="Rectangle 29">
            <a:extLst>
              <a:ext uri="{FF2B5EF4-FFF2-40B4-BE49-F238E27FC236}">
                <a16:creationId xmlns:a16="http://schemas.microsoft.com/office/drawing/2014/main" id="{D96031B9-CA9F-1E7C-324A-7BBCBB440C26}"/>
              </a:ext>
            </a:extLst>
          </p:cNvPr>
          <p:cNvSpPr/>
          <p:nvPr/>
        </p:nvSpPr>
        <p:spPr>
          <a:xfrm>
            <a:off x="-1671" y="2528038"/>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Типове клиенти</a:t>
            </a:r>
            <a:endParaRPr lang="en-GB" sz="1400">
              <a:latin typeface="Aptos"/>
              <a:ea typeface="Calibri"/>
              <a:cs typeface="Calibri"/>
            </a:endParaRPr>
          </a:p>
        </p:txBody>
      </p:sp>
      <p:sp>
        <p:nvSpPr>
          <p:cNvPr id="31" name="Rectangle 30">
            <a:extLst>
              <a:ext uri="{FF2B5EF4-FFF2-40B4-BE49-F238E27FC236}">
                <a16:creationId xmlns:a16="http://schemas.microsoft.com/office/drawing/2014/main" id="{EAE9DBA9-2260-3BA7-6BC1-AEB7287D689B}"/>
              </a:ext>
            </a:extLst>
          </p:cNvPr>
          <p:cNvSpPr/>
          <p:nvPr/>
        </p:nvSpPr>
        <p:spPr>
          <a:xfrm>
            <a:off x="8626" y="1913210"/>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b="1">
                <a:solidFill>
                  <a:srgbClr val="2F5597"/>
                </a:solidFill>
                <a:latin typeface="Aptos"/>
                <a:ea typeface="Calibri"/>
                <a:cs typeface="Calibri"/>
              </a:rPr>
              <a:t>Сценарии</a:t>
            </a:r>
            <a:endParaRPr lang="en-GB" sz="1400" b="1">
              <a:solidFill>
                <a:srgbClr val="2F5597"/>
              </a:solidFill>
              <a:latin typeface="Aptos"/>
              <a:ea typeface="Calibri"/>
              <a:cs typeface="Calibri"/>
            </a:endParaRPr>
          </a:p>
        </p:txBody>
      </p:sp>
      <p:sp>
        <p:nvSpPr>
          <p:cNvPr id="32" name="Rectangle 31">
            <a:extLst>
              <a:ext uri="{FF2B5EF4-FFF2-40B4-BE49-F238E27FC236}">
                <a16:creationId xmlns:a16="http://schemas.microsoft.com/office/drawing/2014/main" id="{E416B2D7-6BCC-9F69-5947-77005B170C54}"/>
              </a:ext>
            </a:extLst>
          </p:cNvPr>
          <p:cNvSpPr/>
          <p:nvPr/>
        </p:nvSpPr>
        <p:spPr>
          <a:xfrm>
            <a:off x="-1671" y="1298382"/>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b="1">
                <a:solidFill>
                  <a:schemeClr val="bg1"/>
                </a:solidFill>
                <a:latin typeface="Aptos"/>
                <a:ea typeface="Calibri"/>
                <a:cs typeface="Calibri"/>
              </a:rPr>
              <a:t>Стъпки при среща</a:t>
            </a:r>
            <a:endParaRPr lang="bg-BG" sz="1400">
              <a:solidFill>
                <a:srgbClr val="000000"/>
              </a:solidFill>
              <a:latin typeface="Aptos"/>
              <a:ea typeface="Calibri"/>
              <a:cs typeface="Calibri"/>
            </a:endParaRPr>
          </a:p>
        </p:txBody>
      </p:sp>
      <p:sp>
        <p:nvSpPr>
          <p:cNvPr id="33" name="Rectangle 28">
            <a:extLst>
              <a:ext uri="{FF2B5EF4-FFF2-40B4-BE49-F238E27FC236}">
                <a16:creationId xmlns:a16="http://schemas.microsoft.com/office/drawing/2014/main" id="{D1F04FAD-7611-F4AA-9DD4-6A59D8ADEB74}"/>
              </a:ext>
            </a:extLst>
          </p:cNvPr>
          <p:cNvSpPr/>
          <p:nvPr/>
        </p:nvSpPr>
        <p:spPr>
          <a:xfrm>
            <a:off x="6154" y="690328"/>
            <a:ext cx="1435083"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a:solidFill>
                  <a:schemeClr val="bg1"/>
                </a:solidFill>
                <a:latin typeface="Aptos"/>
                <a:ea typeface="Calibri"/>
                <a:cs typeface="Calibri"/>
              </a:rPr>
              <a:t>Подготовка</a:t>
            </a:r>
            <a:endParaRPr lang="en-GB" sz="1400">
              <a:solidFill>
                <a:schemeClr val="bg1"/>
              </a:solidFill>
              <a:latin typeface="Aptos"/>
              <a:ea typeface="Calibri"/>
              <a:cs typeface="Calibri"/>
            </a:endParaRPr>
          </a:p>
        </p:txBody>
      </p:sp>
      <p:sp>
        <p:nvSpPr>
          <p:cNvPr id="3" name="Овал 2">
            <a:extLst>
              <a:ext uri="{FF2B5EF4-FFF2-40B4-BE49-F238E27FC236}">
                <a16:creationId xmlns:a16="http://schemas.microsoft.com/office/drawing/2014/main" id="{8AF0159A-C209-4523-5B99-BDF59C76C4B1}"/>
              </a:ext>
            </a:extLst>
          </p:cNvPr>
          <p:cNvSpPr/>
          <p:nvPr/>
        </p:nvSpPr>
        <p:spPr>
          <a:xfrm>
            <a:off x="16277461" y="1430065"/>
            <a:ext cx="177402" cy="159446"/>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2" name="Rectangle: Rounded Corners 1">
            <a:extLst>
              <a:ext uri="{FF2B5EF4-FFF2-40B4-BE49-F238E27FC236}">
                <a16:creationId xmlns:a16="http://schemas.microsoft.com/office/drawing/2014/main" id="{A1C2984A-E277-A82A-D7B7-430892CF5D5E}"/>
              </a:ext>
            </a:extLst>
          </p:cNvPr>
          <p:cNvSpPr/>
          <p:nvPr/>
        </p:nvSpPr>
        <p:spPr>
          <a:xfrm>
            <a:off x="5052530" y="778542"/>
            <a:ext cx="6979134" cy="270793"/>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600">
                <a:ea typeface="+mn-lt"/>
                <a:cs typeface="+mn-lt"/>
              </a:rPr>
              <a:t>Клиент влиза в Регионален офис</a:t>
            </a:r>
            <a:endParaRPr lang="en-US"/>
          </a:p>
        </p:txBody>
      </p:sp>
      <p:sp>
        <p:nvSpPr>
          <p:cNvPr id="4" name="Rectangle: Rounded Corners 3">
            <a:extLst>
              <a:ext uri="{FF2B5EF4-FFF2-40B4-BE49-F238E27FC236}">
                <a16:creationId xmlns:a16="http://schemas.microsoft.com/office/drawing/2014/main" id="{B3CE678B-8F22-D2A6-E301-DF1E20C65D3A}"/>
              </a:ext>
            </a:extLst>
          </p:cNvPr>
          <p:cNvSpPr/>
          <p:nvPr/>
        </p:nvSpPr>
        <p:spPr>
          <a:xfrm>
            <a:off x="5070813" y="1139750"/>
            <a:ext cx="6987310" cy="77666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nSpc>
                <a:spcPts val="900"/>
              </a:lnSpc>
            </a:pPr>
            <a:r>
              <a:rPr lang="az-Cyrl-AZ" sz="1200" b="1">
                <a:solidFill>
                  <a:srgbClr val="FFFFFF"/>
                </a:solidFill>
                <a:latin typeface="Aptos"/>
                <a:ea typeface="Segoe UI"/>
                <a:cs typeface="Segoe UI"/>
              </a:rPr>
              <a:t>Начало на разговора:</a:t>
            </a:r>
            <a:endParaRPr lang="en-US" b="1">
              <a:solidFill>
                <a:srgbClr val="FFFFFF"/>
              </a:solidFill>
            </a:endParaRPr>
          </a:p>
          <a:p>
            <a:pPr>
              <a:lnSpc>
                <a:spcPts val="900"/>
              </a:lnSpc>
            </a:pPr>
            <a:endParaRPr lang="az-Cyrl-AZ" sz="1200" b="1" dirty="0">
              <a:latin typeface="Aptos"/>
              <a:ea typeface="Segoe UI"/>
              <a:cs typeface="Segoe UI"/>
            </a:endParaRPr>
          </a:p>
          <a:p>
            <a:pPr>
              <a:lnSpc>
                <a:spcPts val="900"/>
              </a:lnSpc>
            </a:pPr>
            <a:r>
              <a:rPr lang="az-Cyrl-AZ" sz="1200">
                <a:latin typeface="Aptos"/>
                <a:ea typeface="Segoe UI"/>
                <a:cs typeface="Segoe UI"/>
              </a:rPr>
              <a:t>КК</a:t>
            </a:r>
            <a:r>
              <a:rPr lang="az-Cyrl-AZ" sz="1200" baseline="0">
                <a:latin typeface="Aptos"/>
                <a:ea typeface="Segoe UI"/>
                <a:cs typeface="Segoe UI"/>
              </a:rPr>
              <a:t>: „Добър ден, аз съм Елена Иванова, КК/ОП/МР/РМ/касиер в Изи Кредит. Моля, </a:t>
            </a:r>
            <a:r>
              <a:rPr lang="az-Cyrl-AZ" sz="1200" baseline="0" dirty="0">
                <a:latin typeface="Aptos"/>
                <a:ea typeface="Segoe UI"/>
                <a:cs typeface="Segoe UI"/>
              </a:rPr>
              <a:t>заповядайте. Да Ви предложа чаша вода или кафе? С какво можем да Ви бъдем полезни?“ </a:t>
            </a:r>
            <a:r>
              <a:rPr lang="en-US" sz="1200" dirty="0">
                <a:latin typeface="Aptos"/>
                <a:ea typeface="Segoe UI"/>
                <a:cs typeface="Segoe UI"/>
              </a:rPr>
              <a:t>​</a:t>
            </a:r>
            <a:endParaRPr lang="en-US"/>
          </a:p>
          <a:p>
            <a:pPr rtl="0">
              <a:lnSpc>
                <a:spcPts val="900"/>
              </a:lnSpc>
            </a:pPr>
            <a:r>
              <a:rPr lang="az-Cyrl-AZ" sz="1200" baseline="0">
                <a:latin typeface="Aptos"/>
                <a:ea typeface="Segoe UI"/>
                <a:cs typeface="Segoe UI"/>
              </a:rPr>
              <a:t>Клиент: „Искам кредит, как стоят нещата?“ </a:t>
            </a:r>
            <a:endParaRPr lang="en-US"/>
          </a:p>
        </p:txBody>
      </p:sp>
      <p:sp>
        <p:nvSpPr>
          <p:cNvPr id="5" name="Rectangle: Rounded Corners 4">
            <a:extLst>
              <a:ext uri="{FF2B5EF4-FFF2-40B4-BE49-F238E27FC236}">
                <a16:creationId xmlns:a16="http://schemas.microsoft.com/office/drawing/2014/main" id="{A06628B2-3FEE-07A5-23B7-C620C3EBD72E}"/>
              </a:ext>
            </a:extLst>
          </p:cNvPr>
          <p:cNvSpPr/>
          <p:nvPr/>
        </p:nvSpPr>
        <p:spPr>
          <a:xfrm>
            <a:off x="5073410" y="2039617"/>
            <a:ext cx="6979114" cy="1906050"/>
          </a:xfrm>
          <a:prstGeom prst="roundRect">
            <a:avLst/>
          </a:prstGeom>
          <a:solidFill>
            <a:schemeClr val="accent1"/>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az-Cyrl-AZ" sz="1200" b="1">
                <a:solidFill>
                  <a:schemeClr val="bg1"/>
                </a:solidFill>
              </a:rPr>
              <a:t>Представяне: </a:t>
            </a:r>
            <a:br>
              <a:rPr lang="az-Cyrl-AZ" sz="1200" b="1" dirty="0">
                <a:solidFill>
                  <a:schemeClr val="bg1"/>
                </a:solidFill>
              </a:rPr>
            </a:br>
            <a:r>
              <a:rPr lang="az-Cyrl-AZ" sz="1200" b="1">
                <a:solidFill>
                  <a:schemeClr val="bg1"/>
                </a:solidFill>
              </a:rPr>
              <a:t>КК: „Нека Ви разкажа за нас, нашите продукти и възможностите, които предоставяме. Компанията е </a:t>
            </a:r>
            <a:r>
              <a:rPr lang="az-Cyrl-AZ" sz="1200">
                <a:solidFill>
                  <a:schemeClr val="bg1"/>
                </a:solidFill>
              </a:rPr>
              <a:t>специализирана в предлагане на бързи кредити. Предложението за кредит може да бъде написано на място, удобно за Вас. Всеки наш клиент получава лично отношение от Кредитен консултант. Той Ви информира през цялото време за състоянието на кредита и на него можете да разчитате на професионално отношение. Всеки клиент е важен за нас и затова винаги имаме специално предложение…“ </a:t>
            </a:r>
            <a:endParaRPr lang="en-US" sz="1200">
              <a:solidFill>
                <a:schemeClr val="bg1"/>
              </a:solidFill>
            </a:endParaRPr>
          </a:p>
          <a:p>
            <a:r>
              <a:rPr lang="az-Cyrl-AZ" sz="1200">
                <a:solidFill>
                  <a:schemeClr val="bg1"/>
                </a:solidFill>
              </a:rPr>
              <a:t>КК: „Имате ли нещо против да си говорим на ти?“ </a:t>
            </a:r>
            <a:endParaRPr lang="en-US" sz="1200">
              <a:solidFill>
                <a:schemeClr val="bg1"/>
              </a:solidFill>
            </a:endParaRPr>
          </a:p>
          <a:p>
            <a:r>
              <a:rPr lang="az-Cyrl-AZ" sz="1200">
                <a:solidFill>
                  <a:schemeClr val="bg1"/>
                </a:solidFill>
              </a:rPr>
              <a:t>Клиент: „Не, нямам.“ </a:t>
            </a:r>
            <a:endParaRPr lang="en-US">
              <a:solidFill>
                <a:schemeClr val="bg1"/>
              </a:solidFill>
            </a:endParaRPr>
          </a:p>
        </p:txBody>
      </p:sp>
      <p:sp>
        <p:nvSpPr>
          <p:cNvPr id="6" name="Rectangle: Rounded Corners 5">
            <a:extLst>
              <a:ext uri="{FF2B5EF4-FFF2-40B4-BE49-F238E27FC236}">
                <a16:creationId xmlns:a16="http://schemas.microsoft.com/office/drawing/2014/main" id="{7CEBA245-7BEE-3C74-43C4-D41F893370D9}"/>
              </a:ext>
            </a:extLst>
          </p:cNvPr>
          <p:cNvSpPr/>
          <p:nvPr/>
        </p:nvSpPr>
        <p:spPr>
          <a:xfrm>
            <a:off x="5073772" y="4024131"/>
            <a:ext cx="6978925" cy="1748497"/>
          </a:xfrm>
          <a:prstGeom prst="roundRect">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r>
              <a:rPr lang="az-Cyrl-AZ" sz="1200" b="1">
                <a:solidFill>
                  <a:schemeClr val="bg1"/>
                </a:solidFill>
              </a:rPr>
              <a:t>Проучване на нуждите</a:t>
            </a:r>
            <a:br>
              <a:rPr lang="az-Cyrl-AZ" sz="1200" b="1" dirty="0"/>
            </a:br>
            <a:r>
              <a:rPr lang="az-Cyrl-AZ" sz="1200" b="1">
                <a:solidFill>
                  <a:schemeClr val="bg1"/>
                </a:solidFill>
              </a:rPr>
              <a:t>КК: „Ще ми бъде необходима малко информация, за да ти помогна да вземеш най-правилното </a:t>
            </a:r>
            <a:r>
              <a:rPr lang="az-Cyrl-AZ" sz="1200">
                <a:solidFill>
                  <a:schemeClr val="bg1"/>
                </a:solidFill>
              </a:rPr>
              <a:t>решение.“ </a:t>
            </a:r>
            <a:endParaRPr lang="en-US" sz="1200">
              <a:solidFill>
                <a:schemeClr val="bg1"/>
              </a:solidFill>
            </a:endParaRPr>
          </a:p>
          <a:p>
            <a:r>
              <a:rPr lang="az-Cyrl-AZ" sz="1200">
                <a:solidFill>
                  <a:schemeClr val="bg1"/>
                </a:solidFill>
              </a:rPr>
              <a:t>Следват въпросите:</a:t>
            </a:r>
            <a:endParaRPr lang="en-US" sz="1200">
              <a:solidFill>
                <a:schemeClr val="bg1"/>
              </a:solidFill>
            </a:endParaRPr>
          </a:p>
          <a:p>
            <a:pPr marL="285750" indent="-285750">
              <a:buFont typeface="Arial"/>
              <a:buChar char="•"/>
            </a:pPr>
            <a:r>
              <a:rPr lang="az-Cyrl-AZ" sz="1200">
                <a:solidFill>
                  <a:schemeClr val="bg1"/>
                </a:solidFill>
              </a:rPr>
              <a:t>„Работиш ли? На ТД? / Пенсионер ли си? / Получаваш ли пенсия?“ </a:t>
            </a:r>
            <a:endParaRPr lang="en-US" sz="1200">
              <a:solidFill>
                <a:schemeClr val="bg1"/>
              </a:solidFill>
            </a:endParaRPr>
          </a:p>
          <a:p>
            <a:pPr marL="285750" indent="-285750">
              <a:buFont typeface="Arial"/>
              <a:buChar char="•"/>
            </a:pPr>
            <a:r>
              <a:rPr lang="az-Cyrl-AZ" sz="1200">
                <a:solidFill>
                  <a:schemeClr val="bg1"/>
                </a:solidFill>
              </a:rPr>
              <a:t>„Каква сума ти е необходима?“ </a:t>
            </a:r>
            <a:endParaRPr lang="en-US" sz="1200">
              <a:solidFill>
                <a:schemeClr val="bg1"/>
              </a:solidFill>
            </a:endParaRPr>
          </a:p>
          <a:p>
            <a:pPr marL="285750" indent="-285750">
              <a:buFont typeface="Arial"/>
              <a:buChar char="•"/>
            </a:pPr>
            <a:r>
              <a:rPr lang="az-Cyrl-AZ" sz="1200">
                <a:solidFill>
                  <a:schemeClr val="bg1"/>
                </a:solidFill>
              </a:rPr>
              <a:t>„Каква е целта на кредита / За какво са ти необходими парите?“ </a:t>
            </a:r>
            <a:endParaRPr lang="en-US" sz="1200">
              <a:solidFill>
                <a:schemeClr val="bg1"/>
              </a:solidFill>
            </a:endParaRPr>
          </a:p>
          <a:p>
            <a:pPr marL="285750" indent="-285750">
              <a:buFont typeface="Arial"/>
              <a:buChar char="•"/>
            </a:pPr>
            <a:r>
              <a:rPr lang="az-Cyrl-AZ" sz="1200">
                <a:solidFill>
                  <a:schemeClr val="bg1"/>
                </a:solidFill>
              </a:rPr>
              <a:t>„Как получаваш заплата – веднъж в месеца или два пъти в месеца?“ </a:t>
            </a:r>
            <a:endParaRPr lang="en-US">
              <a:solidFill>
                <a:schemeClr val="bg1"/>
              </a:solidFill>
            </a:endParaRPr>
          </a:p>
        </p:txBody>
      </p:sp>
      <p:sp>
        <p:nvSpPr>
          <p:cNvPr id="8" name="Rectangle: Rounded Corners 7">
            <a:extLst>
              <a:ext uri="{FF2B5EF4-FFF2-40B4-BE49-F238E27FC236}">
                <a16:creationId xmlns:a16="http://schemas.microsoft.com/office/drawing/2014/main" id="{64170A53-E6B2-F09F-337F-07CBFBD1C9C9}"/>
              </a:ext>
            </a:extLst>
          </p:cNvPr>
          <p:cNvSpPr/>
          <p:nvPr/>
        </p:nvSpPr>
        <p:spPr>
          <a:xfrm>
            <a:off x="5073772" y="5894494"/>
            <a:ext cx="6978925" cy="674770"/>
          </a:xfrm>
          <a:prstGeom prst="roundRect">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r>
              <a:rPr lang="az-Cyrl-AZ" sz="1200" b="1">
                <a:solidFill>
                  <a:schemeClr val="bg1"/>
                </a:solidFill>
              </a:rPr>
              <a:t>Насочване към продукт</a:t>
            </a:r>
            <a:br>
              <a:rPr lang="az-Cyrl-AZ" sz="1200" b="1" dirty="0">
                <a:solidFill>
                  <a:schemeClr val="bg1"/>
                </a:solidFill>
              </a:rPr>
            </a:br>
            <a:r>
              <a:rPr lang="az-Cyrl-AZ" sz="1200" b="1">
                <a:solidFill>
                  <a:schemeClr val="bg1"/>
                </a:solidFill>
              </a:rPr>
              <a:t>След като се изясни нуждата, според документа се започва попълване на СЕФ и се описват </a:t>
            </a:r>
            <a:r>
              <a:rPr lang="az-Cyrl-AZ" sz="1200">
                <a:solidFill>
                  <a:schemeClr val="bg1"/>
                </a:solidFill>
              </a:rPr>
              <a:t>продуктът и неговите характеристики. </a:t>
            </a:r>
            <a:endParaRPr lang="en-US">
              <a:solidFill>
                <a:schemeClr val="bg1"/>
              </a:solidFill>
            </a:endParaRPr>
          </a:p>
        </p:txBody>
      </p:sp>
      <p:sp>
        <p:nvSpPr>
          <p:cNvPr id="9" name="Rectangle: Rounded Corners 8">
            <a:extLst>
              <a:ext uri="{FF2B5EF4-FFF2-40B4-BE49-F238E27FC236}">
                <a16:creationId xmlns:a16="http://schemas.microsoft.com/office/drawing/2014/main" id="{2ED5C746-8712-6137-4B14-F234AEACAD9A}"/>
              </a:ext>
            </a:extLst>
          </p:cNvPr>
          <p:cNvSpPr/>
          <p:nvPr/>
        </p:nvSpPr>
        <p:spPr>
          <a:xfrm>
            <a:off x="5073410" y="6703981"/>
            <a:ext cx="6979114" cy="1421141"/>
          </a:xfrm>
          <a:prstGeom prst="roundRect">
            <a:avLst/>
          </a:prstGeom>
          <a:solidFill>
            <a:schemeClr val="accent1"/>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az-Cyrl-AZ" sz="1200" b="1">
                <a:solidFill>
                  <a:schemeClr val="bg1"/>
                </a:solidFill>
              </a:rPr>
              <a:t>Примерно възражение</a:t>
            </a:r>
            <a:br>
              <a:rPr lang="az-Cyrl-AZ" sz="1200" b="1" dirty="0">
                <a:solidFill>
                  <a:schemeClr val="bg1"/>
                </a:solidFill>
              </a:rPr>
            </a:br>
            <a:r>
              <a:rPr lang="az-Cyrl-AZ" sz="1200" b="1">
                <a:solidFill>
                  <a:schemeClr val="bg1"/>
                </a:solidFill>
              </a:rPr>
              <a:t>Клиент: „Не благодаря, не ме устройва, много са високи лихвите.“ </a:t>
            </a:r>
            <a:endParaRPr lang="en-US" sz="1200">
              <a:solidFill>
                <a:schemeClr val="bg1"/>
              </a:solidFill>
            </a:endParaRPr>
          </a:p>
          <a:p>
            <a:r>
              <a:rPr lang="az-Cyrl-AZ" sz="1200">
                <a:solidFill>
                  <a:schemeClr val="bg1"/>
                </a:solidFill>
              </a:rPr>
              <a:t>КК: „Да, може би ти се струва по-скъпо, но в сравнение с какво? Имай предвид, че не плащаш такса за разглеждане, такса за усвояване и такса обслужване на сметка. Кредитът се отпуска без гаранции и само срещу лична карта в рамките на деня. Плащаш си вноските на Кредитен консултант, когато ти е удобно. Не губиш време и средства за преводи на вноските по кредита.“ </a:t>
            </a:r>
            <a:endParaRPr lang="en-US">
              <a:solidFill>
                <a:schemeClr val="bg1"/>
              </a:solidFill>
            </a:endParaRPr>
          </a:p>
        </p:txBody>
      </p:sp>
      <p:sp>
        <p:nvSpPr>
          <p:cNvPr id="10" name="Rectangle: Rounded Corners 9">
            <a:extLst>
              <a:ext uri="{FF2B5EF4-FFF2-40B4-BE49-F238E27FC236}">
                <a16:creationId xmlns:a16="http://schemas.microsoft.com/office/drawing/2014/main" id="{173E1823-3A91-DC95-C14E-5D667537BD6D}"/>
              </a:ext>
            </a:extLst>
          </p:cNvPr>
          <p:cNvSpPr/>
          <p:nvPr/>
        </p:nvSpPr>
        <p:spPr>
          <a:xfrm>
            <a:off x="5073409" y="8239526"/>
            <a:ext cx="6979114" cy="959323"/>
          </a:xfrm>
          <a:prstGeom prst="roundRect">
            <a:avLst/>
          </a:prstGeom>
          <a:solidFill>
            <a:schemeClr val="accent1"/>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az-Cyrl-AZ" sz="1200" b="1">
                <a:solidFill>
                  <a:schemeClr val="bg1"/>
                </a:solidFill>
              </a:rPr>
              <a:t>Ако клиентът не е готов да реши</a:t>
            </a:r>
            <a:br>
              <a:rPr lang="az-Cyrl-AZ" sz="1200" b="1" dirty="0">
                <a:solidFill>
                  <a:schemeClr val="bg1"/>
                </a:solidFill>
              </a:rPr>
            </a:br>
            <a:r>
              <a:rPr lang="az-Cyrl-AZ" sz="1200" b="1">
                <a:solidFill>
                  <a:schemeClr val="bg1"/>
                </a:solidFill>
              </a:rPr>
              <a:t>Клиент: „Ами благодаря за информацията, ще си помисля.“ </a:t>
            </a:r>
            <a:endParaRPr lang="en-US" sz="1200">
              <a:solidFill>
                <a:schemeClr val="bg1"/>
              </a:solidFill>
            </a:endParaRPr>
          </a:p>
          <a:p>
            <a:r>
              <a:rPr lang="az-Cyrl-AZ" sz="1200">
                <a:solidFill>
                  <a:schemeClr val="bg1"/>
                </a:solidFill>
              </a:rPr>
              <a:t>КК: „Каква още информация ти е необходима, за да вземеш решение? За всякакви въпроси съм насреща. Вземи този документ (СЕФ) и моята визитка, ще бъда на разположение при нужда.“ </a:t>
            </a:r>
            <a:endParaRPr lang="en-US">
              <a:solidFill>
                <a:schemeClr val="bg1"/>
              </a:solidFill>
            </a:endParaRPr>
          </a:p>
        </p:txBody>
      </p:sp>
      <p:sp>
        <p:nvSpPr>
          <p:cNvPr id="11" name="Rectangle: Rounded Corners 10">
            <a:extLst>
              <a:ext uri="{FF2B5EF4-FFF2-40B4-BE49-F238E27FC236}">
                <a16:creationId xmlns:a16="http://schemas.microsoft.com/office/drawing/2014/main" id="{9F5C7C31-CE7C-A552-D45F-A284F3881E37}"/>
              </a:ext>
            </a:extLst>
          </p:cNvPr>
          <p:cNvSpPr/>
          <p:nvPr/>
        </p:nvSpPr>
        <p:spPr>
          <a:xfrm>
            <a:off x="5073772" y="9300403"/>
            <a:ext cx="6978925" cy="674770"/>
          </a:xfrm>
          <a:prstGeom prst="roundRect">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r>
              <a:rPr lang="az-Cyrl-AZ" sz="1200" b="1" dirty="0">
                <a:solidFill>
                  <a:schemeClr val="bg1"/>
                </a:solidFill>
              </a:rPr>
              <a:t>Ако клиентът приеме</a:t>
            </a:r>
            <a:br>
              <a:rPr lang="az-Cyrl-AZ" sz="1200" b="1" dirty="0">
                <a:solidFill>
                  <a:schemeClr val="bg1"/>
                </a:solidFill>
              </a:rPr>
            </a:br>
            <a:r>
              <a:rPr lang="az-Cyrl-AZ" sz="1200" b="1" dirty="0">
                <a:solidFill>
                  <a:schemeClr val="bg1"/>
                </a:solidFill>
              </a:rPr>
              <a:t>Според сценария, ако възражението е преодоляно и клиентът се съгласи, се преминава към </a:t>
            </a:r>
            <a:r>
              <a:rPr lang="az-Cyrl-AZ" sz="1200" dirty="0">
                <a:solidFill>
                  <a:schemeClr val="bg1"/>
                </a:solidFill>
              </a:rPr>
              <a:t>попълване на ППЗ и събиране на необходимата информация. </a:t>
            </a:r>
            <a:endParaRPr lang="en-US" dirty="0">
              <a:solidFill>
                <a:schemeClr val="bg1"/>
              </a:solidFill>
            </a:endParaRPr>
          </a:p>
        </p:txBody>
      </p:sp>
      <p:sp>
        <p:nvSpPr>
          <p:cNvPr id="13" name="Rectangle: Rounded Corners 12">
            <a:extLst>
              <a:ext uri="{FF2B5EF4-FFF2-40B4-BE49-F238E27FC236}">
                <a16:creationId xmlns:a16="http://schemas.microsoft.com/office/drawing/2014/main" id="{01F291AF-8C09-0B2D-C206-92AC4FE244BB}"/>
              </a:ext>
            </a:extLst>
          </p:cNvPr>
          <p:cNvSpPr/>
          <p:nvPr/>
        </p:nvSpPr>
        <p:spPr>
          <a:xfrm>
            <a:off x="5073772" y="10120130"/>
            <a:ext cx="6978925" cy="847951"/>
          </a:xfrm>
          <a:prstGeom prst="roundRect">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r>
              <a:rPr lang="az-Cyrl-AZ" sz="1200" b="1">
                <a:solidFill>
                  <a:schemeClr val="bg1"/>
                </a:solidFill>
              </a:rPr>
              <a:t>Финализиране на срещата</a:t>
            </a:r>
            <a:br>
              <a:rPr lang="az-Cyrl-AZ" sz="1200" b="1" dirty="0">
                <a:solidFill>
                  <a:schemeClr val="bg1"/>
                </a:solidFill>
              </a:rPr>
            </a:br>
            <a:r>
              <a:rPr lang="az-Cyrl-AZ" sz="1200" b="1">
                <a:solidFill>
                  <a:schemeClr val="bg1"/>
                </a:solidFill>
              </a:rPr>
              <a:t>КК: „Мисля, че направихме най-добрия избор“ — повтарят се параметрите на кредита.</a:t>
            </a:r>
            <a:br>
              <a:rPr lang="az-Cyrl-AZ" sz="1200" b="1" dirty="0">
                <a:solidFill>
                  <a:schemeClr val="bg1"/>
                </a:solidFill>
              </a:rPr>
            </a:br>
            <a:r>
              <a:rPr lang="az-Cyrl-AZ" sz="1200" b="1">
                <a:solidFill>
                  <a:schemeClr val="bg1"/>
                </a:solidFill>
              </a:rPr>
              <a:t>След това: „Днес до края на деня очаквай отговор от нас, нека телефонът ти е на разположение, тъй </a:t>
            </a:r>
            <a:r>
              <a:rPr lang="az-Cyrl-AZ" sz="1200">
                <a:solidFill>
                  <a:schemeClr val="bg1"/>
                </a:solidFill>
              </a:rPr>
              <a:t>като колегите ще искат да се свържат с теб. Благодаря ти за доверието!“</a:t>
            </a:r>
            <a:endParaRPr lang="en-US" sz="1200">
              <a:solidFill>
                <a:schemeClr val="bg1"/>
              </a:solidFill>
            </a:endParaRPr>
          </a:p>
          <a:p>
            <a:endParaRPr lang="az-Cyrl-AZ" sz="1200" dirty="0">
              <a:solidFill>
                <a:schemeClr val="bg1"/>
              </a:solidFill>
            </a:endParaRPr>
          </a:p>
        </p:txBody>
      </p:sp>
    </p:spTree>
    <p:extLst>
      <p:ext uri="{BB962C8B-B14F-4D97-AF65-F5344CB8AC3E}">
        <p14:creationId xmlns:p14="http://schemas.microsoft.com/office/powerpoint/2010/main" val="3645406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96F61-DFF5-4855-30A8-980C5E3DB863}"/>
            </a:ext>
          </a:extLst>
        </p:cNvPr>
        <p:cNvGrpSpPr/>
        <p:nvPr/>
      </p:nvGrpSpPr>
      <p:grpSpPr>
        <a:xfrm>
          <a:off x="0" y="0"/>
          <a:ext cx="0" cy="0"/>
          <a:chOff x="0" y="0"/>
          <a:chExt cx="0" cy="0"/>
        </a:xfrm>
      </p:grpSpPr>
      <p:sp>
        <p:nvSpPr>
          <p:cNvPr id="18" name="Rectangle: Rounded Corners 17">
            <a:extLst>
              <a:ext uri="{FF2B5EF4-FFF2-40B4-BE49-F238E27FC236}">
                <a16:creationId xmlns:a16="http://schemas.microsoft.com/office/drawing/2014/main" id="{D7CDDB7A-3807-22B4-65ED-ACCC75264CF4}"/>
              </a:ext>
            </a:extLst>
          </p:cNvPr>
          <p:cNvSpPr/>
          <p:nvPr/>
        </p:nvSpPr>
        <p:spPr>
          <a:xfrm>
            <a:off x="1896199" y="2037152"/>
            <a:ext cx="2871747" cy="767079"/>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ru-RU" sz="1600"/>
              <a:t>Настоящ клиент за нов кредит</a:t>
            </a:r>
            <a:endParaRPr lang="en-GB" sz="1600"/>
          </a:p>
        </p:txBody>
      </p:sp>
      <p:sp>
        <p:nvSpPr>
          <p:cNvPr id="19" name="Rectangle: Rounded Corners 18">
            <a:extLst>
              <a:ext uri="{FF2B5EF4-FFF2-40B4-BE49-F238E27FC236}">
                <a16:creationId xmlns:a16="http://schemas.microsoft.com/office/drawing/2014/main" id="{A1A58DB3-BFAC-4BF2-3F7C-8C0FFED68C30}"/>
              </a:ext>
            </a:extLst>
          </p:cNvPr>
          <p:cNvSpPr/>
          <p:nvPr/>
        </p:nvSpPr>
        <p:spPr>
          <a:xfrm>
            <a:off x="1896199" y="1147427"/>
            <a:ext cx="2871747" cy="767079"/>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Нов клиент в офис</a:t>
            </a:r>
            <a:endParaRPr lang="en-GB" sz="1600"/>
          </a:p>
        </p:txBody>
      </p:sp>
      <p:sp>
        <p:nvSpPr>
          <p:cNvPr id="25" name="Rectangle: Rounded Corners 24">
            <a:extLst>
              <a:ext uri="{FF2B5EF4-FFF2-40B4-BE49-F238E27FC236}">
                <a16:creationId xmlns:a16="http://schemas.microsoft.com/office/drawing/2014/main" id="{3BBD0E3D-13C2-5E3B-2C43-D881FABD6497}"/>
              </a:ext>
            </a:extLst>
          </p:cNvPr>
          <p:cNvSpPr/>
          <p:nvPr/>
        </p:nvSpPr>
        <p:spPr>
          <a:xfrm>
            <a:off x="1896199" y="2926877"/>
            <a:ext cx="2871747" cy="767079"/>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Настоящ клиент за рефинансиране</a:t>
            </a:r>
            <a:endParaRPr lang="en-GB" sz="1600"/>
          </a:p>
        </p:txBody>
      </p:sp>
      <p:sp>
        <p:nvSpPr>
          <p:cNvPr id="26" name="Rectangle 11">
            <a:extLst>
              <a:ext uri="{FF2B5EF4-FFF2-40B4-BE49-F238E27FC236}">
                <a16:creationId xmlns:a16="http://schemas.microsoft.com/office/drawing/2014/main" id="{6B703795-EF35-3236-6271-A3CF9F3BDD6E}"/>
              </a:ext>
            </a:extLst>
          </p:cNvPr>
          <p:cNvSpPr/>
          <p:nvPr/>
        </p:nvSpPr>
        <p:spPr>
          <a:xfrm>
            <a:off x="1896199" y="3816603"/>
            <a:ext cx="2871747" cy="767079"/>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Посещение на адрес</a:t>
            </a:r>
            <a:endParaRPr lang="en-GB" sz="1600"/>
          </a:p>
        </p:txBody>
      </p:sp>
      <p:sp>
        <p:nvSpPr>
          <p:cNvPr id="27" name="Rectangle 3">
            <a:extLst>
              <a:ext uri="{FF2B5EF4-FFF2-40B4-BE49-F238E27FC236}">
                <a16:creationId xmlns:a16="http://schemas.microsoft.com/office/drawing/2014/main" id="{456DD1D4-8880-83DB-8945-A2800461901D}"/>
              </a:ext>
            </a:extLst>
          </p:cNvPr>
          <p:cNvSpPr/>
          <p:nvPr/>
        </p:nvSpPr>
        <p:spPr>
          <a:xfrm>
            <a:off x="1443475" y="4245"/>
            <a:ext cx="5338363" cy="677242"/>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28" name="Rectangle 4">
            <a:extLst>
              <a:ext uri="{FF2B5EF4-FFF2-40B4-BE49-F238E27FC236}">
                <a16:creationId xmlns:a16="http://schemas.microsoft.com/office/drawing/2014/main" id="{BA25A719-C832-012A-64FC-B3BB982CB667}"/>
              </a:ext>
            </a:extLst>
          </p:cNvPr>
          <p:cNvSpPr/>
          <p:nvPr/>
        </p:nvSpPr>
        <p:spPr>
          <a:xfrm>
            <a:off x="6788435" y="4245"/>
            <a:ext cx="5417300" cy="677242"/>
          </a:xfrm>
          <a:prstGeom prst="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29" name="Rectangle 28">
            <a:extLst>
              <a:ext uri="{FF2B5EF4-FFF2-40B4-BE49-F238E27FC236}">
                <a16:creationId xmlns:a16="http://schemas.microsoft.com/office/drawing/2014/main" id="{3B44E524-E973-94A0-FC49-3BCA6CB9074B}"/>
              </a:ext>
            </a:extLst>
          </p:cNvPr>
          <p:cNvSpPr/>
          <p:nvPr/>
        </p:nvSpPr>
        <p:spPr>
          <a:xfrm>
            <a:off x="-1671" y="1599"/>
            <a:ext cx="1451167" cy="6866954"/>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200">
              <a:latin typeface="Aptos"/>
              <a:ea typeface="Calibri"/>
              <a:cs typeface="Calibri"/>
            </a:endParaRPr>
          </a:p>
        </p:txBody>
      </p:sp>
      <p:sp>
        <p:nvSpPr>
          <p:cNvPr id="30" name="Rectangle 29">
            <a:extLst>
              <a:ext uri="{FF2B5EF4-FFF2-40B4-BE49-F238E27FC236}">
                <a16:creationId xmlns:a16="http://schemas.microsoft.com/office/drawing/2014/main" id="{73A3C1D4-3BC7-53AD-1D45-506948227A88}"/>
              </a:ext>
            </a:extLst>
          </p:cNvPr>
          <p:cNvSpPr/>
          <p:nvPr/>
        </p:nvSpPr>
        <p:spPr>
          <a:xfrm>
            <a:off x="-1671" y="2528038"/>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Типове клиенти</a:t>
            </a:r>
            <a:endParaRPr lang="en-GB" sz="1400">
              <a:latin typeface="Aptos"/>
              <a:ea typeface="Calibri"/>
              <a:cs typeface="Calibri"/>
            </a:endParaRPr>
          </a:p>
        </p:txBody>
      </p:sp>
      <p:sp>
        <p:nvSpPr>
          <p:cNvPr id="31" name="Rectangle 30">
            <a:extLst>
              <a:ext uri="{FF2B5EF4-FFF2-40B4-BE49-F238E27FC236}">
                <a16:creationId xmlns:a16="http://schemas.microsoft.com/office/drawing/2014/main" id="{F1CC5636-3956-5FCE-DA01-4B28707AD6BC}"/>
              </a:ext>
            </a:extLst>
          </p:cNvPr>
          <p:cNvSpPr/>
          <p:nvPr/>
        </p:nvSpPr>
        <p:spPr>
          <a:xfrm>
            <a:off x="8626" y="1913210"/>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b="1">
                <a:solidFill>
                  <a:srgbClr val="2F5597"/>
                </a:solidFill>
                <a:latin typeface="Aptos"/>
                <a:ea typeface="Calibri"/>
                <a:cs typeface="Calibri"/>
              </a:rPr>
              <a:t>Сценарии</a:t>
            </a:r>
            <a:endParaRPr lang="en-GB" sz="1400" b="1">
              <a:solidFill>
                <a:srgbClr val="2F5597"/>
              </a:solidFill>
              <a:latin typeface="Aptos"/>
              <a:ea typeface="Calibri"/>
              <a:cs typeface="Calibri"/>
            </a:endParaRPr>
          </a:p>
        </p:txBody>
      </p:sp>
      <p:sp>
        <p:nvSpPr>
          <p:cNvPr id="32" name="Rectangle 31">
            <a:extLst>
              <a:ext uri="{FF2B5EF4-FFF2-40B4-BE49-F238E27FC236}">
                <a16:creationId xmlns:a16="http://schemas.microsoft.com/office/drawing/2014/main" id="{12B5A4D9-D400-63C5-4C15-5B8EDB1C640F}"/>
              </a:ext>
            </a:extLst>
          </p:cNvPr>
          <p:cNvSpPr/>
          <p:nvPr/>
        </p:nvSpPr>
        <p:spPr>
          <a:xfrm>
            <a:off x="-1671" y="1298382"/>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b="1">
                <a:solidFill>
                  <a:schemeClr val="bg1"/>
                </a:solidFill>
                <a:latin typeface="Aptos"/>
                <a:ea typeface="Calibri"/>
                <a:cs typeface="Calibri"/>
              </a:rPr>
              <a:t>Стъпки при среща</a:t>
            </a:r>
            <a:endParaRPr lang="bg-BG" sz="1400">
              <a:solidFill>
                <a:srgbClr val="000000"/>
              </a:solidFill>
              <a:latin typeface="Aptos"/>
              <a:ea typeface="Calibri"/>
              <a:cs typeface="Calibri"/>
            </a:endParaRPr>
          </a:p>
        </p:txBody>
      </p:sp>
      <p:sp>
        <p:nvSpPr>
          <p:cNvPr id="33" name="Rectangle 28">
            <a:extLst>
              <a:ext uri="{FF2B5EF4-FFF2-40B4-BE49-F238E27FC236}">
                <a16:creationId xmlns:a16="http://schemas.microsoft.com/office/drawing/2014/main" id="{9CDF360F-86F1-6546-34E1-C96B580F0A23}"/>
              </a:ext>
            </a:extLst>
          </p:cNvPr>
          <p:cNvSpPr/>
          <p:nvPr/>
        </p:nvSpPr>
        <p:spPr>
          <a:xfrm>
            <a:off x="6154" y="690328"/>
            <a:ext cx="1435083"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a:solidFill>
                  <a:schemeClr val="bg1"/>
                </a:solidFill>
                <a:latin typeface="Aptos"/>
                <a:ea typeface="Calibri"/>
                <a:cs typeface="Calibri"/>
              </a:rPr>
              <a:t>Подготовка</a:t>
            </a:r>
            <a:endParaRPr lang="en-GB" sz="1400">
              <a:solidFill>
                <a:schemeClr val="bg1"/>
              </a:solidFill>
              <a:latin typeface="Aptos"/>
              <a:ea typeface="Calibri"/>
              <a:cs typeface="Calibri"/>
            </a:endParaRPr>
          </a:p>
        </p:txBody>
      </p:sp>
      <p:sp>
        <p:nvSpPr>
          <p:cNvPr id="34" name="Правоъгълник: със заоблени ъгли 16">
            <a:extLst>
              <a:ext uri="{FF2B5EF4-FFF2-40B4-BE49-F238E27FC236}">
                <a16:creationId xmlns:a16="http://schemas.microsoft.com/office/drawing/2014/main" id="{3162A212-94D6-5F26-65A8-9B41A45AF29D}"/>
              </a:ext>
            </a:extLst>
          </p:cNvPr>
          <p:cNvSpPr/>
          <p:nvPr/>
        </p:nvSpPr>
        <p:spPr>
          <a:xfrm>
            <a:off x="5294850" y="3553597"/>
            <a:ext cx="2013461" cy="519092"/>
          </a:xfrm>
          <a:prstGeom prst="roundRect">
            <a:avLst>
              <a:gd name="adj" fmla="val 50000"/>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Тренирай</a:t>
            </a:r>
          </a:p>
        </p:txBody>
      </p:sp>
      <p:pic>
        <p:nvPicPr>
          <p:cNvPr id="35" name="Picture 34">
            <a:extLst>
              <a:ext uri="{FF2B5EF4-FFF2-40B4-BE49-F238E27FC236}">
                <a16:creationId xmlns:a16="http://schemas.microsoft.com/office/drawing/2014/main" id="{0FE046DE-D891-C823-A568-FDD8D4180B7C}"/>
              </a:ext>
            </a:extLst>
          </p:cNvPr>
          <p:cNvPicPr>
            <a:picLocks noChangeAspect="1"/>
          </p:cNvPicPr>
          <p:nvPr/>
        </p:nvPicPr>
        <p:blipFill>
          <a:blip r:embed="rId2"/>
          <a:stretch>
            <a:fillRect/>
          </a:stretch>
        </p:blipFill>
        <p:spPr>
          <a:xfrm>
            <a:off x="11031388" y="5709427"/>
            <a:ext cx="982751" cy="995681"/>
          </a:xfrm>
          <a:prstGeom prst="rect">
            <a:avLst/>
          </a:prstGeom>
        </p:spPr>
      </p:pic>
      <p:sp>
        <p:nvSpPr>
          <p:cNvPr id="3" name="Овал 2">
            <a:extLst>
              <a:ext uri="{FF2B5EF4-FFF2-40B4-BE49-F238E27FC236}">
                <a16:creationId xmlns:a16="http://schemas.microsoft.com/office/drawing/2014/main" id="{463E4273-8317-3051-F198-BD01C83FFAD5}"/>
              </a:ext>
            </a:extLst>
          </p:cNvPr>
          <p:cNvSpPr/>
          <p:nvPr/>
        </p:nvSpPr>
        <p:spPr>
          <a:xfrm>
            <a:off x="16277461" y="1430065"/>
            <a:ext cx="177402" cy="159446"/>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2" name="Rectangle: Rounded Corners 1">
            <a:extLst>
              <a:ext uri="{FF2B5EF4-FFF2-40B4-BE49-F238E27FC236}">
                <a16:creationId xmlns:a16="http://schemas.microsoft.com/office/drawing/2014/main" id="{DD2527DE-7D11-CEC9-CF24-261DB97813E4}"/>
              </a:ext>
            </a:extLst>
          </p:cNvPr>
          <p:cNvSpPr/>
          <p:nvPr/>
        </p:nvSpPr>
        <p:spPr>
          <a:xfrm>
            <a:off x="5375803" y="1552088"/>
            <a:ext cx="1841407" cy="467065"/>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600">
                <a:ea typeface="+mn-lt"/>
                <a:cs typeface="+mn-lt"/>
              </a:rPr>
              <a:t>Клиент влиза в Регионален офис</a:t>
            </a:r>
            <a:endParaRPr lang="en-US"/>
          </a:p>
        </p:txBody>
      </p:sp>
      <p:sp>
        <p:nvSpPr>
          <p:cNvPr id="6" name="Rectangle: Rounded Corners 1">
            <a:extLst>
              <a:ext uri="{FF2B5EF4-FFF2-40B4-BE49-F238E27FC236}">
                <a16:creationId xmlns:a16="http://schemas.microsoft.com/office/drawing/2014/main" id="{6C2D078E-10EE-7671-ABA9-497DC0CF606B}"/>
              </a:ext>
            </a:extLst>
          </p:cNvPr>
          <p:cNvSpPr/>
          <p:nvPr/>
        </p:nvSpPr>
        <p:spPr>
          <a:xfrm>
            <a:off x="7846395" y="1875905"/>
            <a:ext cx="3196027" cy="1667792"/>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600"/>
              <a:t>Видео</a:t>
            </a:r>
            <a:endParaRPr lang="en-GB" sz="1600"/>
          </a:p>
        </p:txBody>
      </p:sp>
    </p:spTree>
    <p:extLst>
      <p:ext uri="{BB962C8B-B14F-4D97-AF65-F5344CB8AC3E}">
        <p14:creationId xmlns:p14="http://schemas.microsoft.com/office/powerpoint/2010/main" val="325010029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E019E6-A581-A46B-4EF1-24F57B4BAC41}"/>
            </a:ext>
          </a:extLst>
        </p:cNvPr>
        <p:cNvGrpSpPr/>
        <p:nvPr/>
      </p:nvGrpSpPr>
      <p:grpSpPr>
        <a:xfrm>
          <a:off x="0" y="0"/>
          <a:ext cx="0" cy="0"/>
          <a:chOff x="0" y="0"/>
          <a:chExt cx="0" cy="0"/>
        </a:xfrm>
      </p:grpSpPr>
      <p:sp>
        <p:nvSpPr>
          <p:cNvPr id="25" name="Rectangle 28">
            <a:extLst>
              <a:ext uri="{FF2B5EF4-FFF2-40B4-BE49-F238E27FC236}">
                <a16:creationId xmlns:a16="http://schemas.microsoft.com/office/drawing/2014/main" id="{60C8A581-475A-67F5-F3A0-A90C0B01859B}"/>
              </a:ext>
            </a:extLst>
          </p:cNvPr>
          <p:cNvSpPr/>
          <p:nvPr/>
        </p:nvSpPr>
        <p:spPr>
          <a:xfrm>
            <a:off x="-15824" y="1599"/>
            <a:ext cx="1465320" cy="6859628"/>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400">
              <a:latin typeface="Aptos"/>
              <a:ea typeface="Calibri"/>
              <a:cs typeface="Calibri"/>
            </a:endParaRPr>
          </a:p>
        </p:txBody>
      </p:sp>
      <p:sp>
        <p:nvSpPr>
          <p:cNvPr id="26" name="Rectangle 29">
            <a:extLst>
              <a:ext uri="{FF2B5EF4-FFF2-40B4-BE49-F238E27FC236}">
                <a16:creationId xmlns:a16="http://schemas.microsoft.com/office/drawing/2014/main" id="{52E3444A-74AF-13CA-CD01-9613E7FF2FBB}"/>
              </a:ext>
            </a:extLst>
          </p:cNvPr>
          <p:cNvSpPr/>
          <p:nvPr/>
        </p:nvSpPr>
        <p:spPr>
          <a:xfrm>
            <a:off x="-1671" y="2528038"/>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Типове клиенти</a:t>
            </a:r>
            <a:endParaRPr lang="en-GB" sz="1400">
              <a:latin typeface="Aptos"/>
              <a:ea typeface="Calibri"/>
              <a:cs typeface="Calibri"/>
            </a:endParaRPr>
          </a:p>
        </p:txBody>
      </p:sp>
      <p:sp>
        <p:nvSpPr>
          <p:cNvPr id="27" name="Rectangle 30">
            <a:extLst>
              <a:ext uri="{FF2B5EF4-FFF2-40B4-BE49-F238E27FC236}">
                <a16:creationId xmlns:a16="http://schemas.microsoft.com/office/drawing/2014/main" id="{2AE23721-F5A3-A866-5949-7BAA6AB94E25}"/>
              </a:ext>
            </a:extLst>
          </p:cNvPr>
          <p:cNvSpPr/>
          <p:nvPr/>
        </p:nvSpPr>
        <p:spPr>
          <a:xfrm>
            <a:off x="8626" y="1913210"/>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002060"/>
                </a:solidFill>
                <a:latin typeface="Aptos"/>
                <a:ea typeface="Calibri"/>
                <a:cs typeface="Calibri"/>
              </a:rPr>
              <a:t>Сценарии</a:t>
            </a:r>
            <a:endParaRPr lang="en-GB" sz="1400">
              <a:solidFill>
                <a:srgbClr val="002060"/>
              </a:solidFill>
              <a:latin typeface="Aptos"/>
              <a:ea typeface="Calibri"/>
              <a:cs typeface="Calibri"/>
            </a:endParaRPr>
          </a:p>
        </p:txBody>
      </p:sp>
      <p:sp>
        <p:nvSpPr>
          <p:cNvPr id="28" name="Rectangle 31">
            <a:extLst>
              <a:ext uri="{FF2B5EF4-FFF2-40B4-BE49-F238E27FC236}">
                <a16:creationId xmlns:a16="http://schemas.microsoft.com/office/drawing/2014/main" id="{B84BF1D5-0549-040E-8BC5-A18842241962}"/>
              </a:ext>
            </a:extLst>
          </p:cNvPr>
          <p:cNvSpPr/>
          <p:nvPr/>
        </p:nvSpPr>
        <p:spPr>
          <a:xfrm>
            <a:off x="-1671" y="1298382"/>
            <a:ext cx="1442908" cy="4485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chemeClr val="bg1"/>
                </a:solidFill>
                <a:latin typeface="Aptos"/>
                <a:ea typeface="Calibri"/>
                <a:cs typeface="Calibri"/>
              </a:rPr>
              <a:t>Стъпки в обаждането</a:t>
            </a:r>
            <a:endParaRPr lang="en-GB" sz="1400">
              <a:solidFill>
                <a:schemeClr val="bg1"/>
              </a:solidFill>
              <a:latin typeface="Aptos"/>
              <a:ea typeface="Calibri"/>
              <a:cs typeface="Calibri"/>
            </a:endParaRPr>
          </a:p>
        </p:txBody>
      </p:sp>
      <p:sp>
        <p:nvSpPr>
          <p:cNvPr id="29" name="Rectangle 3">
            <a:extLst>
              <a:ext uri="{FF2B5EF4-FFF2-40B4-BE49-F238E27FC236}">
                <a16:creationId xmlns:a16="http://schemas.microsoft.com/office/drawing/2014/main" id="{4A979EA5-3A9D-E4BB-DBD2-2A0706399D0E}"/>
              </a:ext>
            </a:extLst>
          </p:cNvPr>
          <p:cNvSpPr/>
          <p:nvPr/>
        </p:nvSpPr>
        <p:spPr>
          <a:xfrm>
            <a:off x="1443475" y="4245"/>
            <a:ext cx="5338363" cy="67724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30" name="Rectangle 4">
            <a:extLst>
              <a:ext uri="{FF2B5EF4-FFF2-40B4-BE49-F238E27FC236}">
                <a16:creationId xmlns:a16="http://schemas.microsoft.com/office/drawing/2014/main" id="{C4CA6A87-2289-0247-F254-ABDDA894B067}"/>
              </a:ext>
            </a:extLst>
          </p:cNvPr>
          <p:cNvSpPr/>
          <p:nvPr/>
        </p:nvSpPr>
        <p:spPr>
          <a:xfrm>
            <a:off x="6788435" y="4245"/>
            <a:ext cx="5417300" cy="677242"/>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31" name="Rectangle 28">
            <a:extLst>
              <a:ext uri="{FF2B5EF4-FFF2-40B4-BE49-F238E27FC236}">
                <a16:creationId xmlns:a16="http://schemas.microsoft.com/office/drawing/2014/main" id="{A274CCB0-C3F4-F073-05A6-5DEFFA3874A1}"/>
              </a:ext>
            </a:extLst>
          </p:cNvPr>
          <p:cNvSpPr/>
          <p:nvPr/>
        </p:nvSpPr>
        <p:spPr>
          <a:xfrm>
            <a:off x="-15827" y="690328"/>
            <a:ext cx="1465322"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FFFFFF"/>
                </a:solidFill>
                <a:latin typeface="Aptos"/>
                <a:ea typeface="Calibri"/>
                <a:cs typeface="Calibri"/>
              </a:rPr>
              <a:t>Подготовка</a:t>
            </a:r>
            <a:endParaRPr lang="en-GB" sz="1400">
              <a:solidFill>
                <a:srgbClr val="FFFFFF"/>
              </a:solidFill>
              <a:latin typeface="Aptos"/>
              <a:ea typeface="Calibri"/>
              <a:cs typeface="Calibri"/>
            </a:endParaRPr>
          </a:p>
        </p:txBody>
      </p:sp>
      <p:pic>
        <p:nvPicPr>
          <p:cNvPr id="2" name="Картина 1" descr="Картина, която съдържа текст, екранна снимка, софтуер, Уеб страница&#10;&#10;Генерирано от ИИ съдържание може да е неправилно.">
            <a:extLst>
              <a:ext uri="{FF2B5EF4-FFF2-40B4-BE49-F238E27FC236}">
                <a16:creationId xmlns:a16="http://schemas.microsoft.com/office/drawing/2014/main" id="{5FE82859-F266-00CC-3A03-72822BF95AAC}"/>
              </a:ext>
            </a:extLst>
          </p:cNvPr>
          <p:cNvPicPr>
            <a:picLocks noChangeAspect="1"/>
          </p:cNvPicPr>
          <p:nvPr/>
        </p:nvPicPr>
        <p:blipFill>
          <a:blip r:embed="rId2"/>
          <a:stretch>
            <a:fillRect/>
          </a:stretch>
        </p:blipFill>
        <p:spPr>
          <a:xfrm>
            <a:off x="1574800" y="794695"/>
            <a:ext cx="10434320" cy="5868049"/>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
        <p:nvSpPr>
          <p:cNvPr id="4" name="Балонче за говор: правоъгълник със заоблени ъгли 10">
            <a:extLst>
              <a:ext uri="{FF2B5EF4-FFF2-40B4-BE49-F238E27FC236}">
                <a16:creationId xmlns:a16="http://schemas.microsoft.com/office/drawing/2014/main" id="{D7833C8B-890A-1760-2B9C-880FC86BEFBE}"/>
              </a:ext>
            </a:extLst>
          </p:cNvPr>
          <p:cNvSpPr/>
          <p:nvPr/>
        </p:nvSpPr>
        <p:spPr>
          <a:xfrm>
            <a:off x="2025410" y="1146225"/>
            <a:ext cx="9339070" cy="4813465"/>
          </a:xfrm>
          <a:prstGeom prst="roundRect">
            <a:avLst>
              <a:gd name="adj" fmla="val 423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bg-BG" sz="1400"/>
          </a:p>
        </p:txBody>
      </p:sp>
      <p:sp>
        <p:nvSpPr>
          <p:cNvPr id="6" name="Текстово поле 15">
            <a:extLst>
              <a:ext uri="{FF2B5EF4-FFF2-40B4-BE49-F238E27FC236}">
                <a16:creationId xmlns:a16="http://schemas.microsoft.com/office/drawing/2014/main" id="{4EF15590-853F-417E-9CD0-F811C1B6357D}"/>
              </a:ext>
            </a:extLst>
          </p:cNvPr>
          <p:cNvSpPr txBox="1"/>
          <p:nvPr/>
        </p:nvSpPr>
        <p:spPr>
          <a:xfrm>
            <a:off x="2272327" y="1275809"/>
            <a:ext cx="8969490" cy="3231654"/>
          </a:xfrm>
          <a:prstGeom prst="rect">
            <a:avLst/>
          </a:prstGeom>
          <a:noFill/>
        </p:spPr>
        <p:txBody>
          <a:bodyPr wrap="square" rtlCol="0">
            <a:spAutoFit/>
          </a:bodyPr>
          <a:lstStyle/>
          <a:p>
            <a:r>
              <a:rPr lang="ru-RU" sz="1200" b="1">
                <a:solidFill>
                  <a:schemeClr val="bg1"/>
                </a:solidFill>
              </a:rPr>
              <a:t>Нов клиент в офис</a:t>
            </a:r>
            <a:br>
              <a:rPr lang="ru-RU" sz="1200">
                <a:solidFill>
                  <a:schemeClr val="bg1"/>
                </a:solidFill>
              </a:rPr>
            </a:br>
            <a:r>
              <a:rPr lang="ru-RU" sz="1200">
                <a:solidFill>
                  <a:schemeClr val="bg1"/>
                </a:solidFill>
              </a:rPr>
              <a:t>Тип: </a:t>
            </a:r>
            <a:r>
              <a:rPr lang="ru-RU" sz="1200" b="1">
                <a:solidFill>
                  <a:schemeClr val="bg1"/>
                </a:solidFill>
              </a:rPr>
              <a:t>реактивен</a:t>
            </a:r>
            <a:br>
              <a:rPr lang="ru-RU" sz="1200">
                <a:solidFill>
                  <a:schemeClr val="bg1"/>
                </a:solidFill>
              </a:rPr>
            </a:br>
            <a:r>
              <a:rPr lang="ru-RU" sz="1200">
                <a:solidFill>
                  <a:schemeClr val="bg1"/>
                </a:solidFill>
              </a:rPr>
              <a:t>Персонаж: </a:t>
            </a:r>
            <a:r>
              <a:rPr lang="ru-RU" sz="1200" b="1">
                <a:solidFill>
                  <a:schemeClr val="bg1"/>
                </a:solidFill>
              </a:rPr>
              <a:t>Елица Христова</a:t>
            </a:r>
            <a:br>
              <a:rPr lang="ru-RU" sz="1200">
                <a:solidFill>
                  <a:schemeClr val="bg1"/>
                </a:solidFill>
              </a:rPr>
            </a:br>
            <a:r>
              <a:rPr lang="ru-RU" sz="1200">
                <a:solidFill>
                  <a:schemeClr val="bg1"/>
                </a:solidFill>
              </a:rPr>
              <a:t>Профил: </a:t>
            </a:r>
            <a:r>
              <a:rPr lang="ru-RU" sz="1200" b="1">
                <a:solidFill>
                  <a:schemeClr val="bg1"/>
                </a:solidFill>
              </a:rPr>
              <a:t>нов клиент, 31 г.</a:t>
            </a:r>
            <a:br>
              <a:rPr lang="ru-RU" sz="1200">
                <a:solidFill>
                  <a:schemeClr val="bg1"/>
                </a:solidFill>
              </a:rPr>
            </a:br>
            <a:r>
              <a:rPr lang="ru-RU" sz="1200">
                <a:solidFill>
                  <a:schemeClr val="bg1"/>
                </a:solidFill>
              </a:rPr>
              <a:t>Контекст: влиза в офиса с първоначално запитване и има нужда от добро първо впечатление.</a:t>
            </a:r>
            <a:br>
              <a:rPr lang="ru-RU" sz="1200">
                <a:solidFill>
                  <a:schemeClr val="bg1"/>
                </a:solidFill>
              </a:rPr>
            </a:br>
            <a:r>
              <a:rPr lang="ru-RU" sz="1200">
                <a:solidFill>
                  <a:schemeClr val="bg1"/>
                </a:solidFill>
              </a:rPr>
              <a:t>Цел: да се създаде добро първо впечатление и клиентът да се въведе в процеса спокойно и уверено.</a:t>
            </a:r>
            <a:br>
              <a:rPr lang="ru-RU" sz="1200">
                <a:solidFill>
                  <a:schemeClr val="bg1"/>
                </a:solidFill>
              </a:rPr>
            </a:br>
            <a:r>
              <a:rPr lang="ru-RU" sz="1200">
                <a:solidFill>
                  <a:schemeClr val="bg1"/>
                </a:solidFill>
              </a:rPr>
              <a:t>Логика на разговора: посрещаш професионално; създаваш комфорт; уточняваш повода за посещението; събираш основна информация; представяш най-подходящото решение.</a:t>
            </a:r>
            <a:br>
              <a:rPr lang="ru-RU" sz="1200">
                <a:solidFill>
                  <a:schemeClr val="bg1"/>
                </a:solidFill>
              </a:rPr>
            </a:br>
            <a:r>
              <a:rPr lang="ru-RU" sz="1200">
                <a:solidFill>
                  <a:schemeClr val="bg1"/>
                </a:solidFill>
              </a:rPr>
              <a:t>Примерни реплики: „Добре дошли, заповядайте.“ / „Нека първо да уточним с какво мога да бъда полезен.“ / „Ще Ви ориентирам в най-подходящите възможности според това, което търсите.“</a:t>
            </a:r>
            <a:br>
              <a:rPr lang="ru-RU" sz="1200">
                <a:solidFill>
                  <a:schemeClr val="bg1"/>
                </a:solidFill>
              </a:rPr>
            </a:br>
            <a:r>
              <a:rPr lang="ru-RU" sz="1200">
                <a:solidFill>
                  <a:schemeClr val="bg1"/>
                </a:solidFill>
              </a:rPr>
              <a:t>Възможни възражения: „Искам кредит, как стоят нещата?“, „Много са високи лихвите.“, „Ще си помисля.“</a:t>
            </a:r>
            <a:br>
              <a:rPr lang="ru-RU" sz="1200">
                <a:solidFill>
                  <a:schemeClr val="bg1"/>
                </a:solidFill>
              </a:rPr>
            </a:br>
            <a:r>
              <a:rPr lang="ru-RU" sz="1200">
                <a:solidFill>
                  <a:schemeClr val="bg1"/>
                </a:solidFill>
              </a:rPr>
              <a:t>Подходящи техники: </a:t>
            </a:r>
            <a:r>
              <a:rPr lang="ru-RU" sz="1200" b="1">
                <a:solidFill>
                  <a:schemeClr val="bg1"/>
                </a:solidFill>
              </a:rPr>
              <a:t>относителна; огледална; тирбушон</a:t>
            </a:r>
            <a:br>
              <a:rPr lang="ru-RU" sz="1200">
                <a:solidFill>
                  <a:schemeClr val="bg1"/>
                </a:solidFill>
              </a:rPr>
            </a:br>
            <a:r>
              <a:rPr lang="ru-RU" sz="1200">
                <a:solidFill>
                  <a:schemeClr val="bg1"/>
                </a:solidFill>
              </a:rPr>
              <a:t>Следваща стъпка / финализиране: представяне на оферта, оформяне на документи или повторен разговор. Когато клиентът е в офиса, документите могат да бъдат разпечатани на хартия, но работният модел е дигитално подписване чрез мобилното приложение на кредитния консултант. Тук се изисква лична среща с клиента, но не е задължително процесът да продължи с посещение на адрес.</a:t>
            </a:r>
            <a:br>
              <a:rPr lang="ru-RU" sz="1200">
                <a:solidFill>
                  <a:schemeClr val="bg1"/>
                </a:solidFill>
              </a:rPr>
            </a:br>
            <a:r>
              <a:rPr lang="ru-RU" sz="1200">
                <a:solidFill>
                  <a:schemeClr val="bg1"/>
                </a:solidFill>
              </a:rPr>
              <a:t>Какво да не правиш: да говориш хаотично; да влизаш в спор; да създаваш усещане за натиск.</a:t>
            </a:r>
            <a:endParaRPr lang="bg-BG" sz="1200">
              <a:solidFill>
                <a:schemeClr val="bg1"/>
              </a:solidFill>
            </a:endParaRPr>
          </a:p>
        </p:txBody>
      </p:sp>
      <p:sp>
        <p:nvSpPr>
          <p:cNvPr id="8" name="Правоъгълник: със заоблени ъгли 16">
            <a:extLst>
              <a:ext uri="{FF2B5EF4-FFF2-40B4-BE49-F238E27FC236}">
                <a16:creationId xmlns:a16="http://schemas.microsoft.com/office/drawing/2014/main" id="{8585652B-269F-01A7-FA30-1069C2212357}"/>
              </a:ext>
            </a:extLst>
          </p:cNvPr>
          <p:cNvSpPr/>
          <p:nvPr/>
        </p:nvSpPr>
        <p:spPr>
          <a:xfrm>
            <a:off x="3480973" y="5140812"/>
            <a:ext cx="6632649" cy="484973"/>
          </a:xfrm>
          <a:prstGeom prst="roundRect">
            <a:avLst>
              <a:gd name="adj" fmla="val 50000"/>
            </a:avLst>
          </a:prstGeom>
          <a:solidFill>
            <a:schemeClr val="bg1"/>
          </a:solidFill>
          <a:ln>
            <a:noFill/>
          </a:ln>
          <a:effectLst>
            <a:outerShdw blurRad="50800" dist="38100" dir="5400000" algn="t" rotWithShape="0">
              <a:prstClr val="black">
                <a:alpha val="40000"/>
              </a:prstClr>
            </a:outerShdw>
          </a:effectLst>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bg-BG" b="1">
                <a:solidFill>
                  <a:srgbClr val="002060"/>
                </a:solidFill>
              </a:rPr>
              <a:t>Тренирай</a:t>
            </a:r>
          </a:p>
        </p:txBody>
      </p:sp>
    </p:spTree>
    <p:extLst>
      <p:ext uri="{BB962C8B-B14F-4D97-AF65-F5344CB8AC3E}">
        <p14:creationId xmlns:p14="http://schemas.microsoft.com/office/powerpoint/2010/main" val="205251261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F49A4E-9257-3A04-F1FB-24F81F14DDD1}"/>
            </a:ext>
          </a:extLst>
        </p:cNvPr>
        <p:cNvGrpSpPr/>
        <p:nvPr/>
      </p:nvGrpSpPr>
      <p:grpSpPr>
        <a:xfrm>
          <a:off x="0" y="0"/>
          <a:ext cx="0" cy="0"/>
          <a:chOff x="0" y="0"/>
          <a:chExt cx="0" cy="0"/>
        </a:xfrm>
      </p:grpSpPr>
      <p:sp>
        <p:nvSpPr>
          <p:cNvPr id="25" name="Rectangle 28">
            <a:extLst>
              <a:ext uri="{FF2B5EF4-FFF2-40B4-BE49-F238E27FC236}">
                <a16:creationId xmlns:a16="http://schemas.microsoft.com/office/drawing/2014/main" id="{789349AA-6874-8E5D-036D-0312AC079998}"/>
              </a:ext>
            </a:extLst>
          </p:cNvPr>
          <p:cNvSpPr/>
          <p:nvPr/>
        </p:nvSpPr>
        <p:spPr>
          <a:xfrm>
            <a:off x="-15824" y="1599"/>
            <a:ext cx="1465320" cy="6859628"/>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400">
              <a:latin typeface="Aptos"/>
              <a:ea typeface="Calibri"/>
              <a:cs typeface="Calibri"/>
            </a:endParaRPr>
          </a:p>
        </p:txBody>
      </p:sp>
      <p:sp>
        <p:nvSpPr>
          <p:cNvPr id="26" name="Rectangle 29">
            <a:extLst>
              <a:ext uri="{FF2B5EF4-FFF2-40B4-BE49-F238E27FC236}">
                <a16:creationId xmlns:a16="http://schemas.microsoft.com/office/drawing/2014/main" id="{7E3DE72F-8CE8-8BC6-FFEE-0E729696FD90}"/>
              </a:ext>
            </a:extLst>
          </p:cNvPr>
          <p:cNvSpPr/>
          <p:nvPr/>
        </p:nvSpPr>
        <p:spPr>
          <a:xfrm>
            <a:off x="-1671" y="2528038"/>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Типове клиенти</a:t>
            </a:r>
            <a:endParaRPr lang="en-GB" sz="1400">
              <a:latin typeface="Aptos"/>
              <a:ea typeface="Calibri"/>
              <a:cs typeface="Calibri"/>
            </a:endParaRPr>
          </a:p>
        </p:txBody>
      </p:sp>
      <p:sp>
        <p:nvSpPr>
          <p:cNvPr id="27" name="Rectangle 30">
            <a:extLst>
              <a:ext uri="{FF2B5EF4-FFF2-40B4-BE49-F238E27FC236}">
                <a16:creationId xmlns:a16="http://schemas.microsoft.com/office/drawing/2014/main" id="{0602AD79-726A-3800-977B-D1163AB1F0BA}"/>
              </a:ext>
            </a:extLst>
          </p:cNvPr>
          <p:cNvSpPr/>
          <p:nvPr/>
        </p:nvSpPr>
        <p:spPr>
          <a:xfrm>
            <a:off x="8626" y="1913210"/>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002060"/>
                </a:solidFill>
                <a:latin typeface="Aptos"/>
                <a:ea typeface="Calibri"/>
                <a:cs typeface="Calibri"/>
              </a:rPr>
              <a:t>Сценарии</a:t>
            </a:r>
            <a:endParaRPr lang="en-GB" sz="1400">
              <a:solidFill>
                <a:srgbClr val="002060"/>
              </a:solidFill>
              <a:latin typeface="Aptos"/>
              <a:ea typeface="Calibri"/>
              <a:cs typeface="Calibri"/>
            </a:endParaRPr>
          </a:p>
        </p:txBody>
      </p:sp>
      <p:sp>
        <p:nvSpPr>
          <p:cNvPr id="28" name="Rectangle 31">
            <a:extLst>
              <a:ext uri="{FF2B5EF4-FFF2-40B4-BE49-F238E27FC236}">
                <a16:creationId xmlns:a16="http://schemas.microsoft.com/office/drawing/2014/main" id="{3813BD27-1CF5-1DDC-B77D-D98FE682DA41}"/>
              </a:ext>
            </a:extLst>
          </p:cNvPr>
          <p:cNvSpPr/>
          <p:nvPr/>
        </p:nvSpPr>
        <p:spPr>
          <a:xfrm>
            <a:off x="-1671" y="1298382"/>
            <a:ext cx="1442908" cy="4485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chemeClr val="bg1"/>
                </a:solidFill>
                <a:latin typeface="Aptos"/>
                <a:ea typeface="Calibri"/>
                <a:cs typeface="Calibri"/>
              </a:rPr>
              <a:t>Стъпки в обаждането</a:t>
            </a:r>
            <a:endParaRPr lang="en-GB" sz="1400">
              <a:solidFill>
                <a:schemeClr val="bg1"/>
              </a:solidFill>
              <a:latin typeface="Aptos"/>
              <a:ea typeface="Calibri"/>
              <a:cs typeface="Calibri"/>
            </a:endParaRPr>
          </a:p>
        </p:txBody>
      </p:sp>
      <p:sp>
        <p:nvSpPr>
          <p:cNvPr id="29" name="Rectangle 3">
            <a:extLst>
              <a:ext uri="{FF2B5EF4-FFF2-40B4-BE49-F238E27FC236}">
                <a16:creationId xmlns:a16="http://schemas.microsoft.com/office/drawing/2014/main" id="{1D36A59A-BA4D-30CE-7841-C9B2024B0B02}"/>
              </a:ext>
            </a:extLst>
          </p:cNvPr>
          <p:cNvSpPr/>
          <p:nvPr/>
        </p:nvSpPr>
        <p:spPr>
          <a:xfrm>
            <a:off x="1443475" y="4245"/>
            <a:ext cx="5338363" cy="67724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30" name="Rectangle 4">
            <a:extLst>
              <a:ext uri="{FF2B5EF4-FFF2-40B4-BE49-F238E27FC236}">
                <a16:creationId xmlns:a16="http://schemas.microsoft.com/office/drawing/2014/main" id="{4254F0B4-5198-B6A3-093A-BB60979ED886}"/>
              </a:ext>
            </a:extLst>
          </p:cNvPr>
          <p:cNvSpPr/>
          <p:nvPr/>
        </p:nvSpPr>
        <p:spPr>
          <a:xfrm>
            <a:off x="6788435" y="4245"/>
            <a:ext cx="5417300" cy="677242"/>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31" name="Rectangle 28">
            <a:extLst>
              <a:ext uri="{FF2B5EF4-FFF2-40B4-BE49-F238E27FC236}">
                <a16:creationId xmlns:a16="http://schemas.microsoft.com/office/drawing/2014/main" id="{3A4AED59-4BA0-ED9A-4126-2F58DA273908}"/>
              </a:ext>
            </a:extLst>
          </p:cNvPr>
          <p:cNvSpPr/>
          <p:nvPr/>
        </p:nvSpPr>
        <p:spPr>
          <a:xfrm>
            <a:off x="-15827" y="690328"/>
            <a:ext cx="1465322"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FFFFFF"/>
                </a:solidFill>
                <a:latin typeface="Aptos"/>
                <a:ea typeface="Calibri"/>
                <a:cs typeface="Calibri"/>
              </a:rPr>
              <a:t>Подготовка</a:t>
            </a:r>
            <a:endParaRPr lang="en-GB" sz="1400">
              <a:solidFill>
                <a:srgbClr val="FFFFFF"/>
              </a:solidFill>
              <a:latin typeface="Aptos"/>
              <a:ea typeface="Calibri"/>
              <a:cs typeface="Calibri"/>
            </a:endParaRPr>
          </a:p>
        </p:txBody>
      </p:sp>
      <p:pic>
        <p:nvPicPr>
          <p:cNvPr id="2" name="Картина 1" descr="Картина, която съдържа текст, екранна снимка, софтуер, Уеб страница&#10;&#10;Генерирано от ИИ съдържание може да е неправилно.">
            <a:extLst>
              <a:ext uri="{FF2B5EF4-FFF2-40B4-BE49-F238E27FC236}">
                <a16:creationId xmlns:a16="http://schemas.microsoft.com/office/drawing/2014/main" id="{D040507B-7209-DE31-157D-C1ACAB0E4976}"/>
              </a:ext>
            </a:extLst>
          </p:cNvPr>
          <p:cNvPicPr>
            <a:picLocks noChangeAspect="1"/>
          </p:cNvPicPr>
          <p:nvPr/>
        </p:nvPicPr>
        <p:blipFill>
          <a:blip r:embed="rId2"/>
          <a:stretch>
            <a:fillRect/>
          </a:stretch>
        </p:blipFill>
        <p:spPr>
          <a:xfrm>
            <a:off x="1574800" y="794695"/>
            <a:ext cx="10434320" cy="5868049"/>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Tree>
    <p:extLst>
      <p:ext uri="{BB962C8B-B14F-4D97-AF65-F5344CB8AC3E}">
        <p14:creationId xmlns:p14="http://schemas.microsoft.com/office/powerpoint/2010/main" val="173460705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EF5E35-4A64-1300-141E-A052C467674C}"/>
            </a:ext>
          </a:extLst>
        </p:cNvPr>
        <p:cNvGrpSpPr/>
        <p:nvPr/>
      </p:nvGrpSpPr>
      <p:grpSpPr>
        <a:xfrm>
          <a:off x="0" y="0"/>
          <a:ext cx="0" cy="0"/>
          <a:chOff x="0" y="0"/>
          <a:chExt cx="0" cy="0"/>
        </a:xfrm>
      </p:grpSpPr>
      <p:sp>
        <p:nvSpPr>
          <p:cNvPr id="25" name="Rectangle 28">
            <a:extLst>
              <a:ext uri="{FF2B5EF4-FFF2-40B4-BE49-F238E27FC236}">
                <a16:creationId xmlns:a16="http://schemas.microsoft.com/office/drawing/2014/main" id="{28ADE65D-2D7C-94C5-460D-05D8DB65E4F7}"/>
              </a:ext>
            </a:extLst>
          </p:cNvPr>
          <p:cNvSpPr/>
          <p:nvPr/>
        </p:nvSpPr>
        <p:spPr>
          <a:xfrm>
            <a:off x="-15824" y="1599"/>
            <a:ext cx="1465320" cy="6859628"/>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400">
              <a:latin typeface="Aptos"/>
              <a:ea typeface="Calibri"/>
              <a:cs typeface="Calibri"/>
            </a:endParaRPr>
          </a:p>
        </p:txBody>
      </p:sp>
      <p:sp>
        <p:nvSpPr>
          <p:cNvPr id="26" name="Rectangle 29">
            <a:extLst>
              <a:ext uri="{FF2B5EF4-FFF2-40B4-BE49-F238E27FC236}">
                <a16:creationId xmlns:a16="http://schemas.microsoft.com/office/drawing/2014/main" id="{6480D6C3-D4CF-F1DB-E341-BED0DF1C3FBC}"/>
              </a:ext>
            </a:extLst>
          </p:cNvPr>
          <p:cNvSpPr/>
          <p:nvPr/>
        </p:nvSpPr>
        <p:spPr>
          <a:xfrm>
            <a:off x="-1671" y="2528038"/>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Типове клиенти</a:t>
            </a:r>
            <a:endParaRPr lang="en-GB" sz="1400">
              <a:latin typeface="Aptos"/>
              <a:ea typeface="Calibri"/>
              <a:cs typeface="Calibri"/>
            </a:endParaRPr>
          </a:p>
        </p:txBody>
      </p:sp>
      <p:sp>
        <p:nvSpPr>
          <p:cNvPr id="27" name="Rectangle 30">
            <a:extLst>
              <a:ext uri="{FF2B5EF4-FFF2-40B4-BE49-F238E27FC236}">
                <a16:creationId xmlns:a16="http://schemas.microsoft.com/office/drawing/2014/main" id="{13606340-733A-18F6-02D3-D0B237576FD1}"/>
              </a:ext>
            </a:extLst>
          </p:cNvPr>
          <p:cNvSpPr/>
          <p:nvPr/>
        </p:nvSpPr>
        <p:spPr>
          <a:xfrm>
            <a:off x="8626" y="1913210"/>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002060"/>
                </a:solidFill>
                <a:latin typeface="Aptos"/>
                <a:ea typeface="Calibri"/>
                <a:cs typeface="Calibri"/>
              </a:rPr>
              <a:t>Сценарии</a:t>
            </a:r>
            <a:endParaRPr lang="en-GB" sz="1400">
              <a:solidFill>
                <a:srgbClr val="002060"/>
              </a:solidFill>
              <a:latin typeface="Aptos"/>
              <a:ea typeface="Calibri"/>
              <a:cs typeface="Calibri"/>
            </a:endParaRPr>
          </a:p>
        </p:txBody>
      </p:sp>
      <p:sp>
        <p:nvSpPr>
          <p:cNvPr id="28" name="Rectangle 31">
            <a:extLst>
              <a:ext uri="{FF2B5EF4-FFF2-40B4-BE49-F238E27FC236}">
                <a16:creationId xmlns:a16="http://schemas.microsoft.com/office/drawing/2014/main" id="{4E21A8E5-088C-A3FE-A2D8-E92269A69080}"/>
              </a:ext>
            </a:extLst>
          </p:cNvPr>
          <p:cNvSpPr/>
          <p:nvPr/>
        </p:nvSpPr>
        <p:spPr>
          <a:xfrm>
            <a:off x="-1671" y="1298382"/>
            <a:ext cx="1442908" cy="4485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chemeClr val="bg1"/>
                </a:solidFill>
                <a:latin typeface="Aptos"/>
                <a:ea typeface="Calibri"/>
                <a:cs typeface="Calibri"/>
              </a:rPr>
              <a:t>Стъпки в обаждането</a:t>
            </a:r>
            <a:endParaRPr lang="en-GB" sz="1400">
              <a:solidFill>
                <a:schemeClr val="bg1"/>
              </a:solidFill>
              <a:latin typeface="Aptos"/>
              <a:ea typeface="Calibri"/>
              <a:cs typeface="Calibri"/>
            </a:endParaRPr>
          </a:p>
        </p:txBody>
      </p:sp>
      <p:sp>
        <p:nvSpPr>
          <p:cNvPr id="29" name="Rectangle 3">
            <a:extLst>
              <a:ext uri="{FF2B5EF4-FFF2-40B4-BE49-F238E27FC236}">
                <a16:creationId xmlns:a16="http://schemas.microsoft.com/office/drawing/2014/main" id="{D91E18BA-08C8-78AF-BA2D-50BE81151361}"/>
              </a:ext>
            </a:extLst>
          </p:cNvPr>
          <p:cNvSpPr/>
          <p:nvPr/>
        </p:nvSpPr>
        <p:spPr>
          <a:xfrm>
            <a:off x="1443475" y="4245"/>
            <a:ext cx="5338363" cy="67724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30" name="Rectangle 4">
            <a:extLst>
              <a:ext uri="{FF2B5EF4-FFF2-40B4-BE49-F238E27FC236}">
                <a16:creationId xmlns:a16="http://schemas.microsoft.com/office/drawing/2014/main" id="{0B099D89-C977-6E82-521D-99D146708437}"/>
              </a:ext>
            </a:extLst>
          </p:cNvPr>
          <p:cNvSpPr/>
          <p:nvPr/>
        </p:nvSpPr>
        <p:spPr>
          <a:xfrm>
            <a:off x="6788435" y="4245"/>
            <a:ext cx="5417300" cy="677242"/>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31" name="Rectangle 28">
            <a:extLst>
              <a:ext uri="{FF2B5EF4-FFF2-40B4-BE49-F238E27FC236}">
                <a16:creationId xmlns:a16="http://schemas.microsoft.com/office/drawing/2014/main" id="{B58468D2-4F34-1DD0-4E10-97BB9D4C0229}"/>
              </a:ext>
            </a:extLst>
          </p:cNvPr>
          <p:cNvSpPr/>
          <p:nvPr/>
        </p:nvSpPr>
        <p:spPr>
          <a:xfrm>
            <a:off x="-15827" y="690328"/>
            <a:ext cx="1465322"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FFFFFF"/>
                </a:solidFill>
                <a:latin typeface="Aptos"/>
                <a:ea typeface="Calibri"/>
                <a:cs typeface="Calibri"/>
              </a:rPr>
              <a:t>Подготовка</a:t>
            </a:r>
            <a:endParaRPr lang="en-GB" sz="1400">
              <a:solidFill>
                <a:srgbClr val="FFFFFF"/>
              </a:solidFill>
              <a:latin typeface="Aptos"/>
              <a:ea typeface="Calibri"/>
              <a:cs typeface="Calibri"/>
            </a:endParaRPr>
          </a:p>
        </p:txBody>
      </p:sp>
      <p:pic>
        <p:nvPicPr>
          <p:cNvPr id="3" name="Картина 2" descr="Картина, която съдържа текст, екранна снимка, Шрифт, Уеб страница&#10;&#10;Генерирано от ИИ съдържание може да е неправилно.">
            <a:extLst>
              <a:ext uri="{FF2B5EF4-FFF2-40B4-BE49-F238E27FC236}">
                <a16:creationId xmlns:a16="http://schemas.microsoft.com/office/drawing/2014/main" id="{B97AAC0A-6270-C061-7884-0ECCC1ECD193}"/>
              </a:ext>
            </a:extLst>
          </p:cNvPr>
          <p:cNvPicPr>
            <a:picLocks noChangeAspect="1"/>
          </p:cNvPicPr>
          <p:nvPr/>
        </p:nvPicPr>
        <p:blipFill>
          <a:blip r:embed="rId2"/>
          <a:stretch>
            <a:fillRect/>
          </a:stretch>
        </p:blipFill>
        <p:spPr>
          <a:xfrm>
            <a:off x="1564640" y="807110"/>
            <a:ext cx="10525760" cy="5904180"/>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Tree>
    <p:extLst>
      <p:ext uri="{BB962C8B-B14F-4D97-AF65-F5344CB8AC3E}">
        <p14:creationId xmlns:p14="http://schemas.microsoft.com/office/powerpoint/2010/main" val="160022042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52F353-0EE6-5026-ABBD-66E560D057A7}"/>
            </a:ext>
          </a:extLst>
        </p:cNvPr>
        <p:cNvGrpSpPr/>
        <p:nvPr/>
      </p:nvGrpSpPr>
      <p:grpSpPr>
        <a:xfrm>
          <a:off x="0" y="0"/>
          <a:ext cx="0" cy="0"/>
          <a:chOff x="0" y="0"/>
          <a:chExt cx="0" cy="0"/>
        </a:xfrm>
      </p:grpSpPr>
      <p:sp>
        <p:nvSpPr>
          <p:cNvPr id="28" name="Правоъгълник: със заоблени ъгли 27">
            <a:extLst>
              <a:ext uri="{FF2B5EF4-FFF2-40B4-BE49-F238E27FC236}">
                <a16:creationId xmlns:a16="http://schemas.microsoft.com/office/drawing/2014/main" id="{80CA9BF0-3D8C-63F4-57EA-7EFA731E5911}"/>
              </a:ext>
            </a:extLst>
          </p:cNvPr>
          <p:cNvSpPr/>
          <p:nvPr/>
        </p:nvSpPr>
        <p:spPr>
          <a:xfrm>
            <a:off x="5298509" y="251749"/>
            <a:ext cx="3671794" cy="6172583"/>
          </a:xfrm>
          <a:prstGeom prst="roundRect">
            <a:avLst/>
          </a:prstGeom>
          <a:solidFill>
            <a:schemeClr val="bg1">
              <a:lumMod val="95000"/>
            </a:schemeClr>
          </a:solidFill>
          <a:ln>
            <a:noFill/>
          </a:ln>
          <a:effectLst>
            <a:outerShdw blurRad="63500" dist="38100" dir="270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pic>
        <p:nvPicPr>
          <p:cNvPr id="33" name="Picture 10" descr="Картина, която съдържа текст, екранна снимка&#10;&#10;Генерирано от ИИ съдържание може да е неправилно.">
            <a:extLst>
              <a:ext uri="{FF2B5EF4-FFF2-40B4-BE49-F238E27FC236}">
                <a16:creationId xmlns:a16="http://schemas.microsoft.com/office/drawing/2014/main" id="{39457F32-B894-4C95-06CF-6EE8B8D4B212}"/>
              </a:ext>
            </a:extLst>
          </p:cNvPr>
          <p:cNvPicPr>
            <a:picLocks noChangeAspect="1"/>
          </p:cNvPicPr>
          <p:nvPr/>
        </p:nvPicPr>
        <p:blipFill>
          <a:blip r:embed="rId2"/>
          <a:srcRect b="88415"/>
          <a:stretch>
            <a:fillRect/>
          </a:stretch>
        </p:blipFill>
        <p:spPr>
          <a:xfrm>
            <a:off x="5232507" y="278693"/>
            <a:ext cx="3740239" cy="77148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43" name="Rectangle: Rounded Corners 11">
            <a:extLst>
              <a:ext uri="{FF2B5EF4-FFF2-40B4-BE49-F238E27FC236}">
                <a16:creationId xmlns:a16="http://schemas.microsoft.com/office/drawing/2014/main" id="{5E3D4263-2DB4-F4B7-B1F5-8D47C56D1D27}"/>
              </a:ext>
            </a:extLst>
          </p:cNvPr>
          <p:cNvSpPr/>
          <p:nvPr/>
        </p:nvSpPr>
        <p:spPr>
          <a:xfrm>
            <a:off x="5228800" y="1046439"/>
            <a:ext cx="3740184" cy="355916"/>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bg-BG" sz="1600"/>
              <a:t>Нов клиент в офис</a:t>
            </a:r>
            <a:endParaRPr lang="en-US"/>
          </a:p>
        </p:txBody>
      </p:sp>
      <p:sp>
        <p:nvSpPr>
          <p:cNvPr id="47" name="Правоъгълник: със заоблени ъгли 16">
            <a:extLst>
              <a:ext uri="{FF2B5EF4-FFF2-40B4-BE49-F238E27FC236}">
                <a16:creationId xmlns:a16="http://schemas.microsoft.com/office/drawing/2014/main" id="{6B080E2C-1DEC-AB37-BCFE-897C56F75455}"/>
              </a:ext>
            </a:extLst>
          </p:cNvPr>
          <p:cNvSpPr/>
          <p:nvPr/>
        </p:nvSpPr>
        <p:spPr>
          <a:xfrm>
            <a:off x="5904554" y="5318755"/>
            <a:ext cx="2344027" cy="434737"/>
          </a:xfrm>
          <a:prstGeom prst="roundRect">
            <a:avLst>
              <a:gd name="adj" fmla="val 50000"/>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200"/>
              <a:t>Тренирай</a:t>
            </a:r>
          </a:p>
        </p:txBody>
      </p:sp>
      <p:sp>
        <p:nvSpPr>
          <p:cNvPr id="48" name="Знак за умножение 47">
            <a:extLst>
              <a:ext uri="{FF2B5EF4-FFF2-40B4-BE49-F238E27FC236}">
                <a16:creationId xmlns:a16="http://schemas.microsoft.com/office/drawing/2014/main" id="{6C27135C-1AAD-FAEC-4936-927DCF38CF8C}"/>
              </a:ext>
            </a:extLst>
          </p:cNvPr>
          <p:cNvSpPr/>
          <p:nvPr/>
        </p:nvSpPr>
        <p:spPr>
          <a:xfrm>
            <a:off x="8520991" y="961176"/>
            <a:ext cx="446569" cy="496188"/>
          </a:xfrm>
          <a:prstGeom prst="mathMultiply">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59" name="Правоъгълник: със заоблени ъгли 58">
            <a:extLst>
              <a:ext uri="{FF2B5EF4-FFF2-40B4-BE49-F238E27FC236}">
                <a16:creationId xmlns:a16="http://schemas.microsoft.com/office/drawing/2014/main" id="{C4DFDDDD-678C-FAEA-35BB-D8D8018140CF}"/>
              </a:ext>
            </a:extLst>
          </p:cNvPr>
          <p:cNvSpPr/>
          <p:nvPr/>
        </p:nvSpPr>
        <p:spPr>
          <a:xfrm>
            <a:off x="719415" y="256478"/>
            <a:ext cx="3671794" cy="6172583"/>
          </a:xfrm>
          <a:prstGeom prst="roundRect">
            <a:avLst/>
          </a:prstGeom>
          <a:solidFill>
            <a:schemeClr val="bg1">
              <a:lumMod val="95000"/>
            </a:schemeClr>
          </a:solidFill>
          <a:ln>
            <a:noFill/>
          </a:ln>
          <a:effectLst>
            <a:outerShdw blurRad="63500" dist="38100" dir="270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pic>
        <p:nvPicPr>
          <p:cNvPr id="60" name="Picture 10" descr="Картина, която съдържа текст, екранна снимка&#10;&#10;Генерирано от ИИ съдържание може да е неправилно.">
            <a:extLst>
              <a:ext uri="{FF2B5EF4-FFF2-40B4-BE49-F238E27FC236}">
                <a16:creationId xmlns:a16="http://schemas.microsoft.com/office/drawing/2014/main" id="{02CDC710-D13A-95EA-0E9D-98F7D97BF6E0}"/>
              </a:ext>
            </a:extLst>
          </p:cNvPr>
          <p:cNvPicPr>
            <a:picLocks noChangeAspect="1"/>
          </p:cNvPicPr>
          <p:nvPr/>
        </p:nvPicPr>
        <p:blipFill>
          <a:blip r:embed="rId2"/>
          <a:srcRect b="88415"/>
          <a:stretch>
            <a:fillRect/>
          </a:stretch>
        </p:blipFill>
        <p:spPr>
          <a:xfrm>
            <a:off x="688049" y="260331"/>
            <a:ext cx="3740239" cy="77148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62" name="Стрелка надясно 61">
            <a:extLst>
              <a:ext uri="{FF2B5EF4-FFF2-40B4-BE49-F238E27FC236}">
                <a16:creationId xmlns:a16="http://schemas.microsoft.com/office/drawing/2014/main" id="{5EEF506F-96ED-4558-FEA8-B3FA5AD9267A}"/>
              </a:ext>
            </a:extLst>
          </p:cNvPr>
          <p:cNvSpPr/>
          <p:nvPr/>
        </p:nvSpPr>
        <p:spPr>
          <a:xfrm>
            <a:off x="4584780" y="2818350"/>
            <a:ext cx="535883" cy="30763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3" name="Rectangle: Rounded Corners 2">
            <a:extLst>
              <a:ext uri="{FF2B5EF4-FFF2-40B4-BE49-F238E27FC236}">
                <a16:creationId xmlns:a16="http://schemas.microsoft.com/office/drawing/2014/main" id="{D14AB2D5-BFBC-E937-7114-748F31D3FAFE}"/>
              </a:ext>
            </a:extLst>
          </p:cNvPr>
          <p:cNvSpPr/>
          <p:nvPr/>
        </p:nvSpPr>
        <p:spPr>
          <a:xfrm>
            <a:off x="1053381" y="2244970"/>
            <a:ext cx="2871747" cy="767079"/>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ru-RU" sz="1600"/>
              <a:t>Настоящ клиент за нов кредит</a:t>
            </a:r>
            <a:endParaRPr lang="en-GB" sz="1600"/>
          </a:p>
        </p:txBody>
      </p:sp>
      <p:sp>
        <p:nvSpPr>
          <p:cNvPr id="6" name="Rectangle: Rounded Corners 5">
            <a:extLst>
              <a:ext uri="{FF2B5EF4-FFF2-40B4-BE49-F238E27FC236}">
                <a16:creationId xmlns:a16="http://schemas.microsoft.com/office/drawing/2014/main" id="{E1AB7FB3-DAD1-C5EA-C47C-58FDD2570F3A}"/>
              </a:ext>
            </a:extLst>
          </p:cNvPr>
          <p:cNvSpPr/>
          <p:nvPr/>
        </p:nvSpPr>
        <p:spPr>
          <a:xfrm>
            <a:off x="1053381" y="1355245"/>
            <a:ext cx="2871747" cy="767079"/>
          </a:xfrm>
          <a:prstGeom prst="roundRect">
            <a:avLst/>
          </a:prstGeom>
          <a:solidFill>
            <a:schemeClr val="accent1"/>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Нов клиент в офис</a:t>
            </a:r>
            <a:endParaRPr lang="en-GB" sz="1600"/>
          </a:p>
        </p:txBody>
      </p:sp>
      <p:sp>
        <p:nvSpPr>
          <p:cNvPr id="9" name="Rectangle: Rounded Corners 8">
            <a:extLst>
              <a:ext uri="{FF2B5EF4-FFF2-40B4-BE49-F238E27FC236}">
                <a16:creationId xmlns:a16="http://schemas.microsoft.com/office/drawing/2014/main" id="{A4657F3A-A5F0-94F6-80CC-B51F7696AF92}"/>
              </a:ext>
            </a:extLst>
          </p:cNvPr>
          <p:cNvSpPr/>
          <p:nvPr/>
        </p:nvSpPr>
        <p:spPr>
          <a:xfrm>
            <a:off x="1053381" y="3134695"/>
            <a:ext cx="2871747" cy="767079"/>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Настоящ клиент за рефинансиране</a:t>
            </a:r>
            <a:endParaRPr lang="en-GB" sz="1600"/>
          </a:p>
        </p:txBody>
      </p:sp>
      <p:sp>
        <p:nvSpPr>
          <p:cNvPr id="11" name="Rectangle 11">
            <a:extLst>
              <a:ext uri="{FF2B5EF4-FFF2-40B4-BE49-F238E27FC236}">
                <a16:creationId xmlns:a16="http://schemas.microsoft.com/office/drawing/2014/main" id="{3AF2D876-856A-388E-F5AD-7E143A878461}"/>
              </a:ext>
            </a:extLst>
          </p:cNvPr>
          <p:cNvSpPr/>
          <p:nvPr/>
        </p:nvSpPr>
        <p:spPr>
          <a:xfrm>
            <a:off x="1053381" y="4024421"/>
            <a:ext cx="2871747" cy="767079"/>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Посещение на адрес</a:t>
            </a:r>
            <a:endParaRPr lang="en-GB" sz="1600"/>
          </a:p>
        </p:txBody>
      </p:sp>
      <p:sp>
        <p:nvSpPr>
          <p:cNvPr id="15" name="Rectangle: Rounded Corners 14">
            <a:extLst>
              <a:ext uri="{FF2B5EF4-FFF2-40B4-BE49-F238E27FC236}">
                <a16:creationId xmlns:a16="http://schemas.microsoft.com/office/drawing/2014/main" id="{D707D668-68D2-51AB-B903-23889349822F}"/>
              </a:ext>
            </a:extLst>
          </p:cNvPr>
          <p:cNvSpPr/>
          <p:nvPr/>
        </p:nvSpPr>
        <p:spPr>
          <a:xfrm>
            <a:off x="5228800" y="1566164"/>
            <a:ext cx="3738760" cy="455520"/>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600">
                <a:ea typeface="+mn-lt"/>
                <a:cs typeface="+mn-lt"/>
              </a:rPr>
              <a:t>Клиент влиза в Регионален офис</a:t>
            </a:r>
            <a:endParaRPr lang="en-US"/>
          </a:p>
        </p:txBody>
      </p:sp>
      <p:sp>
        <p:nvSpPr>
          <p:cNvPr id="21" name="Rectangle: Rounded Corners 1">
            <a:extLst>
              <a:ext uri="{FF2B5EF4-FFF2-40B4-BE49-F238E27FC236}">
                <a16:creationId xmlns:a16="http://schemas.microsoft.com/office/drawing/2014/main" id="{EAB9837D-201F-DAC5-6FDC-0048DE093658}"/>
              </a:ext>
            </a:extLst>
          </p:cNvPr>
          <p:cNvSpPr/>
          <p:nvPr/>
        </p:nvSpPr>
        <p:spPr>
          <a:xfrm>
            <a:off x="5341032" y="4173449"/>
            <a:ext cx="3473117" cy="467065"/>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600"/>
              <a:t>Видео</a:t>
            </a:r>
            <a:endParaRPr lang="en-GB" sz="1600"/>
          </a:p>
        </p:txBody>
      </p:sp>
      <p:sp>
        <p:nvSpPr>
          <p:cNvPr id="41" name="Знак плюс 40">
            <a:extLst>
              <a:ext uri="{FF2B5EF4-FFF2-40B4-BE49-F238E27FC236}">
                <a16:creationId xmlns:a16="http://schemas.microsoft.com/office/drawing/2014/main" id="{29CACD94-7A54-E7C1-89B7-54080DDDA6EE}"/>
              </a:ext>
            </a:extLst>
          </p:cNvPr>
          <p:cNvSpPr/>
          <p:nvPr/>
        </p:nvSpPr>
        <p:spPr>
          <a:xfrm>
            <a:off x="8651222" y="1649217"/>
            <a:ext cx="317560" cy="337408"/>
          </a:xfrm>
          <a:prstGeom prst="mathPlu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Tree>
    <p:extLst>
      <p:ext uri="{BB962C8B-B14F-4D97-AF65-F5344CB8AC3E}">
        <p14:creationId xmlns:p14="http://schemas.microsoft.com/office/powerpoint/2010/main" val="42218300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994C47-0B63-53A5-2C96-4AB58E133533}"/>
            </a:ext>
          </a:extLst>
        </p:cNvPr>
        <p:cNvGrpSpPr/>
        <p:nvPr/>
      </p:nvGrpSpPr>
      <p:grpSpPr>
        <a:xfrm>
          <a:off x="0" y="0"/>
          <a:ext cx="0" cy="0"/>
          <a:chOff x="0" y="0"/>
          <a:chExt cx="0" cy="0"/>
        </a:xfrm>
      </p:grpSpPr>
      <p:sp>
        <p:nvSpPr>
          <p:cNvPr id="18" name="Rectangle: Rounded Corners 17">
            <a:extLst>
              <a:ext uri="{FF2B5EF4-FFF2-40B4-BE49-F238E27FC236}">
                <a16:creationId xmlns:a16="http://schemas.microsoft.com/office/drawing/2014/main" id="{76DA65B5-4E55-559C-1937-1D7771A892FD}"/>
              </a:ext>
            </a:extLst>
          </p:cNvPr>
          <p:cNvSpPr/>
          <p:nvPr/>
        </p:nvSpPr>
        <p:spPr>
          <a:xfrm>
            <a:off x="1896199" y="2037152"/>
            <a:ext cx="2871747" cy="767079"/>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ru-RU" sz="1600"/>
              <a:t>Настоящ клиент за нов кредит</a:t>
            </a:r>
            <a:endParaRPr lang="en-GB" sz="1600"/>
          </a:p>
        </p:txBody>
      </p:sp>
      <p:sp>
        <p:nvSpPr>
          <p:cNvPr id="19" name="Rectangle: Rounded Corners 18">
            <a:extLst>
              <a:ext uri="{FF2B5EF4-FFF2-40B4-BE49-F238E27FC236}">
                <a16:creationId xmlns:a16="http://schemas.microsoft.com/office/drawing/2014/main" id="{04D54265-7AD7-1B04-94EB-90828D396BE7}"/>
              </a:ext>
            </a:extLst>
          </p:cNvPr>
          <p:cNvSpPr/>
          <p:nvPr/>
        </p:nvSpPr>
        <p:spPr>
          <a:xfrm>
            <a:off x="1896199" y="1147427"/>
            <a:ext cx="2871747" cy="767079"/>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Нов клиент в офис</a:t>
            </a:r>
            <a:endParaRPr lang="en-GB" sz="1600"/>
          </a:p>
        </p:txBody>
      </p:sp>
      <p:sp>
        <p:nvSpPr>
          <p:cNvPr id="25" name="Rectangle: Rounded Corners 24">
            <a:extLst>
              <a:ext uri="{FF2B5EF4-FFF2-40B4-BE49-F238E27FC236}">
                <a16:creationId xmlns:a16="http://schemas.microsoft.com/office/drawing/2014/main" id="{1A370979-A004-0F65-DC0D-EF86285FB767}"/>
              </a:ext>
            </a:extLst>
          </p:cNvPr>
          <p:cNvSpPr/>
          <p:nvPr/>
        </p:nvSpPr>
        <p:spPr>
          <a:xfrm>
            <a:off x="1896199" y="2926877"/>
            <a:ext cx="2871747" cy="767079"/>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Настоящ клиент за рефинансиране</a:t>
            </a:r>
            <a:endParaRPr lang="en-GB" sz="1600"/>
          </a:p>
        </p:txBody>
      </p:sp>
      <p:sp>
        <p:nvSpPr>
          <p:cNvPr id="26" name="Rectangle 11">
            <a:extLst>
              <a:ext uri="{FF2B5EF4-FFF2-40B4-BE49-F238E27FC236}">
                <a16:creationId xmlns:a16="http://schemas.microsoft.com/office/drawing/2014/main" id="{B8BCCB0F-C901-EC78-3995-962D5ED426BB}"/>
              </a:ext>
            </a:extLst>
          </p:cNvPr>
          <p:cNvSpPr/>
          <p:nvPr/>
        </p:nvSpPr>
        <p:spPr>
          <a:xfrm>
            <a:off x="1896199" y="3816603"/>
            <a:ext cx="2871747" cy="767079"/>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Посещение на адрес</a:t>
            </a:r>
            <a:endParaRPr lang="en-GB" sz="1600"/>
          </a:p>
        </p:txBody>
      </p:sp>
      <p:sp>
        <p:nvSpPr>
          <p:cNvPr id="27" name="Rectangle 3">
            <a:extLst>
              <a:ext uri="{FF2B5EF4-FFF2-40B4-BE49-F238E27FC236}">
                <a16:creationId xmlns:a16="http://schemas.microsoft.com/office/drawing/2014/main" id="{8C0E8E05-A12B-3309-B5AE-681220B4AF87}"/>
              </a:ext>
            </a:extLst>
          </p:cNvPr>
          <p:cNvSpPr/>
          <p:nvPr/>
        </p:nvSpPr>
        <p:spPr>
          <a:xfrm>
            <a:off x="1443475" y="4245"/>
            <a:ext cx="5338363" cy="677242"/>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28" name="Rectangle 4">
            <a:extLst>
              <a:ext uri="{FF2B5EF4-FFF2-40B4-BE49-F238E27FC236}">
                <a16:creationId xmlns:a16="http://schemas.microsoft.com/office/drawing/2014/main" id="{4ABCED11-1322-0C3A-E2E6-C399BC2BFEB8}"/>
              </a:ext>
            </a:extLst>
          </p:cNvPr>
          <p:cNvSpPr/>
          <p:nvPr/>
        </p:nvSpPr>
        <p:spPr>
          <a:xfrm>
            <a:off x="6788435" y="4245"/>
            <a:ext cx="5417300" cy="677242"/>
          </a:xfrm>
          <a:prstGeom prst="rect">
            <a:avLst/>
          </a:prstGeom>
          <a:solidFill>
            <a:schemeClr val="accent1"/>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29" name="Rectangle 28">
            <a:extLst>
              <a:ext uri="{FF2B5EF4-FFF2-40B4-BE49-F238E27FC236}">
                <a16:creationId xmlns:a16="http://schemas.microsoft.com/office/drawing/2014/main" id="{022C5359-9D51-B8AE-068B-9E1CFF8D821A}"/>
              </a:ext>
            </a:extLst>
          </p:cNvPr>
          <p:cNvSpPr/>
          <p:nvPr/>
        </p:nvSpPr>
        <p:spPr>
          <a:xfrm>
            <a:off x="-1671" y="1599"/>
            <a:ext cx="1451167" cy="6866954"/>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200">
              <a:latin typeface="Aptos"/>
              <a:ea typeface="Calibri"/>
              <a:cs typeface="Calibri"/>
            </a:endParaRPr>
          </a:p>
        </p:txBody>
      </p:sp>
      <p:sp>
        <p:nvSpPr>
          <p:cNvPr id="30" name="Rectangle 29">
            <a:extLst>
              <a:ext uri="{FF2B5EF4-FFF2-40B4-BE49-F238E27FC236}">
                <a16:creationId xmlns:a16="http://schemas.microsoft.com/office/drawing/2014/main" id="{DD441E24-74AE-C8B2-7B69-7B8FA509A309}"/>
              </a:ext>
            </a:extLst>
          </p:cNvPr>
          <p:cNvSpPr/>
          <p:nvPr/>
        </p:nvSpPr>
        <p:spPr>
          <a:xfrm>
            <a:off x="-1671" y="2528038"/>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Типове клиенти</a:t>
            </a:r>
            <a:endParaRPr lang="en-GB" sz="1400">
              <a:latin typeface="Aptos"/>
              <a:ea typeface="Calibri"/>
              <a:cs typeface="Calibri"/>
            </a:endParaRPr>
          </a:p>
        </p:txBody>
      </p:sp>
      <p:sp>
        <p:nvSpPr>
          <p:cNvPr id="31" name="Rectangle 30">
            <a:extLst>
              <a:ext uri="{FF2B5EF4-FFF2-40B4-BE49-F238E27FC236}">
                <a16:creationId xmlns:a16="http://schemas.microsoft.com/office/drawing/2014/main" id="{D792F04A-5657-587D-2CEE-DF9F1D98497F}"/>
              </a:ext>
            </a:extLst>
          </p:cNvPr>
          <p:cNvSpPr/>
          <p:nvPr/>
        </p:nvSpPr>
        <p:spPr>
          <a:xfrm>
            <a:off x="8626" y="1913210"/>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b="1">
                <a:solidFill>
                  <a:srgbClr val="2F5597"/>
                </a:solidFill>
                <a:latin typeface="Aptos"/>
                <a:ea typeface="Calibri"/>
                <a:cs typeface="Calibri"/>
              </a:rPr>
              <a:t>Сценарии</a:t>
            </a:r>
            <a:endParaRPr lang="en-GB" sz="1400" b="1">
              <a:solidFill>
                <a:srgbClr val="2F5597"/>
              </a:solidFill>
              <a:latin typeface="Aptos"/>
              <a:ea typeface="Calibri"/>
              <a:cs typeface="Calibri"/>
            </a:endParaRPr>
          </a:p>
        </p:txBody>
      </p:sp>
      <p:sp>
        <p:nvSpPr>
          <p:cNvPr id="32" name="Rectangle 31">
            <a:extLst>
              <a:ext uri="{FF2B5EF4-FFF2-40B4-BE49-F238E27FC236}">
                <a16:creationId xmlns:a16="http://schemas.microsoft.com/office/drawing/2014/main" id="{B53800B7-B3C0-430D-CDD3-0A05ADD3EB7D}"/>
              </a:ext>
            </a:extLst>
          </p:cNvPr>
          <p:cNvSpPr/>
          <p:nvPr/>
        </p:nvSpPr>
        <p:spPr>
          <a:xfrm>
            <a:off x="-1671" y="1298382"/>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b="1">
                <a:solidFill>
                  <a:schemeClr val="bg1"/>
                </a:solidFill>
                <a:latin typeface="Aptos"/>
                <a:ea typeface="Calibri"/>
                <a:cs typeface="Calibri"/>
              </a:rPr>
              <a:t>Стъпки при среща</a:t>
            </a:r>
            <a:endParaRPr lang="bg-BG" sz="1400">
              <a:solidFill>
                <a:srgbClr val="000000"/>
              </a:solidFill>
              <a:latin typeface="Aptos"/>
              <a:ea typeface="Calibri"/>
              <a:cs typeface="Calibri"/>
            </a:endParaRPr>
          </a:p>
        </p:txBody>
      </p:sp>
      <p:sp>
        <p:nvSpPr>
          <p:cNvPr id="33" name="Rectangle 28">
            <a:extLst>
              <a:ext uri="{FF2B5EF4-FFF2-40B4-BE49-F238E27FC236}">
                <a16:creationId xmlns:a16="http://schemas.microsoft.com/office/drawing/2014/main" id="{C099F9AC-B830-1F38-45E3-4E2DBD91B1A1}"/>
              </a:ext>
            </a:extLst>
          </p:cNvPr>
          <p:cNvSpPr/>
          <p:nvPr/>
        </p:nvSpPr>
        <p:spPr>
          <a:xfrm>
            <a:off x="6154" y="690328"/>
            <a:ext cx="1435083"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a:solidFill>
                  <a:schemeClr val="bg1"/>
                </a:solidFill>
                <a:latin typeface="Aptos"/>
                <a:ea typeface="Calibri"/>
                <a:cs typeface="Calibri"/>
              </a:rPr>
              <a:t>Подготовка</a:t>
            </a:r>
            <a:endParaRPr lang="en-GB" sz="1400">
              <a:solidFill>
                <a:schemeClr val="bg1"/>
              </a:solidFill>
              <a:latin typeface="Aptos"/>
              <a:ea typeface="Calibri"/>
              <a:cs typeface="Calibri"/>
            </a:endParaRPr>
          </a:p>
        </p:txBody>
      </p:sp>
      <p:pic>
        <p:nvPicPr>
          <p:cNvPr id="35" name="Picture 34">
            <a:extLst>
              <a:ext uri="{FF2B5EF4-FFF2-40B4-BE49-F238E27FC236}">
                <a16:creationId xmlns:a16="http://schemas.microsoft.com/office/drawing/2014/main" id="{39956214-591D-36EA-E3A4-0555B3254FD6}"/>
              </a:ext>
            </a:extLst>
          </p:cNvPr>
          <p:cNvPicPr>
            <a:picLocks noChangeAspect="1"/>
          </p:cNvPicPr>
          <p:nvPr/>
        </p:nvPicPr>
        <p:blipFill>
          <a:blip r:embed="rId2"/>
          <a:stretch>
            <a:fillRect/>
          </a:stretch>
        </p:blipFill>
        <p:spPr>
          <a:xfrm>
            <a:off x="11031388" y="5709427"/>
            <a:ext cx="982751" cy="995681"/>
          </a:xfrm>
          <a:prstGeom prst="rect">
            <a:avLst/>
          </a:prstGeom>
        </p:spPr>
      </p:pic>
      <p:sp>
        <p:nvSpPr>
          <p:cNvPr id="3" name="Овал 2">
            <a:extLst>
              <a:ext uri="{FF2B5EF4-FFF2-40B4-BE49-F238E27FC236}">
                <a16:creationId xmlns:a16="http://schemas.microsoft.com/office/drawing/2014/main" id="{808E1D46-F69E-0D18-C563-B2BF35F77DD1}"/>
              </a:ext>
            </a:extLst>
          </p:cNvPr>
          <p:cNvSpPr/>
          <p:nvPr/>
        </p:nvSpPr>
        <p:spPr>
          <a:xfrm>
            <a:off x="16277461" y="1430065"/>
            <a:ext cx="177402" cy="159446"/>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20" name="Правоъгълник: със заоблени ъгли 16">
            <a:extLst>
              <a:ext uri="{FF2B5EF4-FFF2-40B4-BE49-F238E27FC236}">
                <a16:creationId xmlns:a16="http://schemas.microsoft.com/office/drawing/2014/main" id="{542F15B0-3984-29D7-D8AB-D7E570EF1177}"/>
              </a:ext>
            </a:extLst>
          </p:cNvPr>
          <p:cNvSpPr/>
          <p:nvPr/>
        </p:nvSpPr>
        <p:spPr>
          <a:xfrm>
            <a:off x="5294850" y="3553597"/>
            <a:ext cx="2013461" cy="519092"/>
          </a:xfrm>
          <a:prstGeom prst="roundRect">
            <a:avLst>
              <a:gd name="adj" fmla="val 50000"/>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Тренирай</a:t>
            </a:r>
          </a:p>
        </p:txBody>
      </p:sp>
      <p:sp>
        <p:nvSpPr>
          <p:cNvPr id="22" name="Rectangle: Rounded Corners 21">
            <a:extLst>
              <a:ext uri="{FF2B5EF4-FFF2-40B4-BE49-F238E27FC236}">
                <a16:creationId xmlns:a16="http://schemas.microsoft.com/office/drawing/2014/main" id="{F99FAAE9-CA43-7A11-4321-90361F8DBA9E}"/>
              </a:ext>
            </a:extLst>
          </p:cNvPr>
          <p:cNvSpPr/>
          <p:nvPr/>
        </p:nvSpPr>
        <p:spPr>
          <a:xfrm>
            <a:off x="5375803" y="1552088"/>
            <a:ext cx="1841407" cy="467065"/>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600">
                <a:ea typeface="+mn-lt"/>
                <a:cs typeface="+mn-lt"/>
              </a:rPr>
              <a:t>Клиент влиза в Регионален офис</a:t>
            </a:r>
            <a:endParaRPr lang="en-US"/>
          </a:p>
        </p:txBody>
      </p:sp>
      <p:sp>
        <p:nvSpPr>
          <p:cNvPr id="39" name="Rectangle: Rounded Corners 1">
            <a:extLst>
              <a:ext uri="{FF2B5EF4-FFF2-40B4-BE49-F238E27FC236}">
                <a16:creationId xmlns:a16="http://schemas.microsoft.com/office/drawing/2014/main" id="{32450A2F-7D23-E597-2AD6-B5BAA361FF2E}"/>
              </a:ext>
            </a:extLst>
          </p:cNvPr>
          <p:cNvSpPr/>
          <p:nvPr/>
        </p:nvSpPr>
        <p:spPr>
          <a:xfrm>
            <a:off x="7846395" y="1875905"/>
            <a:ext cx="3196027" cy="1667792"/>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600"/>
              <a:t>Видео</a:t>
            </a:r>
            <a:endParaRPr lang="en-GB" sz="1600"/>
          </a:p>
        </p:txBody>
      </p:sp>
    </p:spTree>
    <p:extLst>
      <p:ext uri="{BB962C8B-B14F-4D97-AF65-F5344CB8AC3E}">
        <p14:creationId xmlns:p14="http://schemas.microsoft.com/office/powerpoint/2010/main" val="368224722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0DED1F-249E-1335-E3D7-E39941DC1B92}"/>
            </a:ext>
          </a:extLst>
        </p:cNvPr>
        <p:cNvGrpSpPr/>
        <p:nvPr/>
      </p:nvGrpSpPr>
      <p:grpSpPr>
        <a:xfrm>
          <a:off x="0" y="0"/>
          <a:ext cx="0" cy="0"/>
          <a:chOff x="0" y="0"/>
          <a:chExt cx="0" cy="0"/>
        </a:xfrm>
      </p:grpSpPr>
      <p:sp>
        <p:nvSpPr>
          <p:cNvPr id="27" name="Rectangle 3">
            <a:extLst>
              <a:ext uri="{FF2B5EF4-FFF2-40B4-BE49-F238E27FC236}">
                <a16:creationId xmlns:a16="http://schemas.microsoft.com/office/drawing/2014/main" id="{B9718E74-7403-D42B-0BCE-2BEEE5749C74}"/>
              </a:ext>
            </a:extLst>
          </p:cNvPr>
          <p:cNvSpPr/>
          <p:nvPr/>
        </p:nvSpPr>
        <p:spPr>
          <a:xfrm>
            <a:off x="1443475" y="4245"/>
            <a:ext cx="5338363" cy="677242"/>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28" name="Rectangle 4">
            <a:extLst>
              <a:ext uri="{FF2B5EF4-FFF2-40B4-BE49-F238E27FC236}">
                <a16:creationId xmlns:a16="http://schemas.microsoft.com/office/drawing/2014/main" id="{0B8D5BFE-DC4C-5166-5FDE-BA69D9ED1719}"/>
              </a:ext>
            </a:extLst>
          </p:cNvPr>
          <p:cNvSpPr/>
          <p:nvPr/>
        </p:nvSpPr>
        <p:spPr>
          <a:xfrm>
            <a:off x="6788435" y="4245"/>
            <a:ext cx="5417300" cy="677242"/>
          </a:xfrm>
          <a:prstGeom prst="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29" name="Rectangle 28">
            <a:extLst>
              <a:ext uri="{FF2B5EF4-FFF2-40B4-BE49-F238E27FC236}">
                <a16:creationId xmlns:a16="http://schemas.microsoft.com/office/drawing/2014/main" id="{AACC10D3-3008-1C98-D355-33D5F179A9AC}"/>
              </a:ext>
            </a:extLst>
          </p:cNvPr>
          <p:cNvSpPr/>
          <p:nvPr/>
        </p:nvSpPr>
        <p:spPr>
          <a:xfrm>
            <a:off x="-1671" y="1599"/>
            <a:ext cx="1451167" cy="6866954"/>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200">
              <a:latin typeface="Aptos"/>
              <a:ea typeface="Calibri"/>
              <a:cs typeface="Calibri"/>
            </a:endParaRPr>
          </a:p>
        </p:txBody>
      </p:sp>
      <p:sp>
        <p:nvSpPr>
          <p:cNvPr id="30" name="Rectangle 29">
            <a:extLst>
              <a:ext uri="{FF2B5EF4-FFF2-40B4-BE49-F238E27FC236}">
                <a16:creationId xmlns:a16="http://schemas.microsoft.com/office/drawing/2014/main" id="{C1B875F4-60F9-68D7-B91C-336BB432F358}"/>
              </a:ext>
            </a:extLst>
          </p:cNvPr>
          <p:cNvSpPr/>
          <p:nvPr/>
        </p:nvSpPr>
        <p:spPr>
          <a:xfrm>
            <a:off x="-1671" y="2528038"/>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Типове клиенти</a:t>
            </a:r>
            <a:endParaRPr lang="en-GB" sz="1400">
              <a:latin typeface="Aptos"/>
              <a:ea typeface="Calibri"/>
              <a:cs typeface="Calibri"/>
            </a:endParaRPr>
          </a:p>
        </p:txBody>
      </p:sp>
      <p:sp>
        <p:nvSpPr>
          <p:cNvPr id="31" name="Rectangle 30">
            <a:extLst>
              <a:ext uri="{FF2B5EF4-FFF2-40B4-BE49-F238E27FC236}">
                <a16:creationId xmlns:a16="http://schemas.microsoft.com/office/drawing/2014/main" id="{6535A4DA-9DFF-62BD-AB2C-AACE49A29083}"/>
              </a:ext>
            </a:extLst>
          </p:cNvPr>
          <p:cNvSpPr/>
          <p:nvPr/>
        </p:nvSpPr>
        <p:spPr>
          <a:xfrm>
            <a:off x="8626" y="1913210"/>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b="1">
                <a:solidFill>
                  <a:srgbClr val="2F5597"/>
                </a:solidFill>
                <a:latin typeface="Aptos"/>
                <a:ea typeface="Calibri"/>
                <a:cs typeface="Calibri"/>
              </a:rPr>
              <a:t>Сценарии</a:t>
            </a:r>
            <a:endParaRPr lang="en-GB" sz="1400" b="1">
              <a:solidFill>
                <a:srgbClr val="2F5597"/>
              </a:solidFill>
              <a:latin typeface="Aptos"/>
              <a:ea typeface="Calibri"/>
              <a:cs typeface="Calibri"/>
            </a:endParaRPr>
          </a:p>
        </p:txBody>
      </p:sp>
      <p:sp>
        <p:nvSpPr>
          <p:cNvPr id="32" name="Rectangle 31">
            <a:extLst>
              <a:ext uri="{FF2B5EF4-FFF2-40B4-BE49-F238E27FC236}">
                <a16:creationId xmlns:a16="http://schemas.microsoft.com/office/drawing/2014/main" id="{9A9932B7-27DE-C38F-0470-37E9570D9793}"/>
              </a:ext>
            </a:extLst>
          </p:cNvPr>
          <p:cNvSpPr/>
          <p:nvPr/>
        </p:nvSpPr>
        <p:spPr>
          <a:xfrm>
            <a:off x="-1671" y="1298382"/>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b="1">
                <a:solidFill>
                  <a:schemeClr val="bg1"/>
                </a:solidFill>
                <a:latin typeface="Aptos"/>
                <a:ea typeface="Calibri"/>
                <a:cs typeface="Calibri"/>
              </a:rPr>
              <a:t>Стъпки при среща</a:t>
            </a:r>
            <a:endParaRPr lang="bg-BG" sz="1400">
              <a:solidFill>
                <a:srgbClr val="000000"/>
              </a:solidFill>
              <a:latin typeface="Aptos"/>
              <a:ea typeface="Calibri"/>
              <a:cs typeface="Calibri"/>
            </a:endParaRPr>
          </a:p>
        </p:txBody>
      </p:sp>
      <p:sp>
        <p:nvSpPr>
          <p:cNvPr id="33" name="Rectangle 28">
            <a:extLst>
              <a:ext uri="{FF2B5EF4-FFF2-40B4-BE49-F238E27FC236}">
                <a16:creationId xmlns:a16="http://schemas.microsoft.com/office/drawing/2014/main" id="{D0882C31-CBD3-7B87-A484-78B38060D719}"/>
              </a:ext>
            </a:extLst>
          </p:cNvPr>
          <p:cNvSpPr/>
          <p:nvPr/>
        </p:nvSpPr>
        <p:spPr>
          <a:xfrm>
            <a:off x="6154" y="690328"/>
            <a:ext cx="1435083"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a:solidFill>
                  <a:schemeClr val="bg1"/>
                </a:solidFill>
                <a:latin typeface="Aptos"/>
                <a:ea typeface="Calibri"/>
                <a:cs typeface="Calibri"/>
              </a:rPr>
              <a:t>Подготовка</a:t>
            </a:r>
            <a:endParaRPr lang="en-GB" sz="1400">
              <a:solidFill>
                <a:schemeClr val="bg1"/>
              </a:solidFill>
              <a:latin typeface="Aptos"/>
              <a:ea typeface="Calibri"/>
              <a:cs typeface="Calibri"/>
            </a:endParaRPr>
          </a:p>
        </p:txBody>
      </p:sp>
      <p:pic>
        <p:nvPicPr>
          <p:cNvPr id="35" name="Picture 34">
            <a:extLst>
              <a:ext uri="{FF2B5EF4-FFF2-40B4-BE49-F238E27FC236}">
                <a16:creationId xmlns:a16="http://schemas.microsoft.com/office/drawing/2014/main" id="{DCB5AC73-BDB2-6D8E-2DD1-403B74BE1E57}"/>
              </a:ext>
            </a:extLst>
          </p:cNvPr>
          <p:cNvPicPr>
            <a:picLocks noChangeAspect="1"/>
          </p:cNvPicPr>
          <p:nvPr/>
        </p:nvPicPr>
        <p:blipFill>
          <a:blip r:embed="rId2"/>
          <a:stretch>
            <a:fillRect/>
          </a:stretch>
        </p:blipFill>
        <p:spPr>
          <a:xfrm>
            <a:off x="11031388" y="5709427"/>
            <a:ext cx="982751" cy="995681"/>
          </a:xfrm>
          <a:prstGeom prst="rect">
            <a:avLst/>
          </a:prstGeom>
        </p:spPr>
      </p:pic>
      <p:sp>
        <p:nvSpPr>
          <p:cNvPr id="3" name="Овал 2">
            <a:extLst>
              <a:ext uri="{FF2B5EF4-FFF2-40B4-BE49-F238E27FC236}">
                <a16:creationId xmlns:a16="http://schemas.microsoft.com/office/drawing/2014/main" id="{500E3C39-3E62-2A07-2C6A-0050901C4D74}"/>
              </a:ext>
            </a:extLst>
          </p:cNvPr>
          <p:cNvSpPr/>
          <p:nvPr/>
        </p:nvSpPr>
        <p:spPr>
          <a:xfrm>
            <a:off x="16277461" y="1430065"/>
            <a:ext cx="177402" cy="159446"/>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6" name="Rectangle: Rounded Corners 1">
            <a:extLst>
              <a:ext uri="{FF2B5EF4-FFF2-40B4-BE49-F238E27FC236}">
                <a16:creationId xmlns:a16="http://schemas.microsoft.com/office/drawing/2014/main" id="{8ACBCECD-C153-B12A-F018-C6C182DD3E3E}"/>
              </a:ext>
            </a:extLst>
          </p:cNvPr>
          <p:cNvSpPr/>
          <p:nvPr/>
        </p:nvSpPr>
        <p:spPr>
          <a:xfrm>
            <a:off x="2167114" y="923406"/>
            <a:ext cx="8875308" cy="4942009"/>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600"/>
              <a:t>Видео</a:t>
            </a:r>
            <a:endParaRPr lang="en-GB" sz="1600"/>
          </a:p>
        </p:txBody>
      </p:sp>
      <p:sp>
        <p:nvSpPr>
          <p:cNvPr id="7" name="Isosceles Triangle 6">
            <a:extLst>
              <a:ext uri="{FF2B5EF4-FFF2-40B4-BE49-F238E27FC236}">
                <a16:creationId xmlns:a16="http://schemas.microsoft.com/office/drawing/2014/main" id="{0AC9D309-A433-FA13-0331-7E13D8ACEE3C}"/>
              </a:ext>
            </a:extLst>
          </p:cNvPr>
          <p:cNvSpPr/>
          <p:nvPr/>
        </p:nvSpPr>
        <p:spPr>
          <a:xfrm rot="5400000">
            <a:off x="6219467" y="3061977"/>
            <a:ext cx="758838" cy="729079"/>
          </a:xfrm>
          <a:prstGeom prst="triangl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Знак за умножение 47">
            <a:extLst>
              <a:ext uri="{FF2B5EF4-FFF2-40B4-BE49-F238E27FC236}">
                <a16:creationId xmlns:a16="http://schemas.microsoft.com/office/drawing/2014/main" id="{00890E78-AFE0-B630-CFB7-C4CCEB4E2772}"/>
              </a:ext>
            </a:extLst>
          </p:cNvPr>
          <p:cNvSpPr/>
          <p:nvPr/>
        </p:nvSpPr>
        <p:spPr>
          <a:xfrm>
            <a:off x="10187866" y="1097196"/>
            <a:ext cx="446569" cy="496188"/>
          </a:xfrm>
          <a:prstGeom prst="mathMultiply">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Tree>
    <p:extLst>
      <p:ext uri="{BB962C8B-B14F-4D97-AF65-F5344CB8AC3E}">
        <p14:creationId xmlns:p14="http://schemas.microsoft.com/office/powerpoint/2010/main" val="2513358482"/>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055A75-4051-BC9B-5098-23FFEB1F6B1B}"/>
            </a:ext>
          </a:extLst>
        </p:cNvPr>
        <p:cNvGrpSpPr/>
        <p:nvPr/>
      </p:nvGrpSpPr>
      <p:grpSpPr>
        <a:xfrm>
          <a:off x="0" y="0"/>
          <a:ext cx="0" cy="0"/>
          <a:chOff x="0" y="0"/>
          <a:chExt cx="0" cy="0"/>
        </a:xfrm>
      </p:grpSpPr>
      <p:sp>
        <p:nvSpPr>
          <p:cNvPr id="18" name="Rectangle: Rounded Corners 17">
            <a:extLst>
              <a:ext uri="{FF2B5EF4-FFF2-40B4-BE49-F238E27FC236}">
                <a16:creationId xmlns:a16="http://schemas.microsoft.com/office/drawing/2014/main" id="{9AD45D3D-4A36-6D6F-D305-5A454DAD4141}"/>
              </a:ext>
            </a:extLst>
          </p:cNvPr>
          <p:cNvSpPr/>
          <p:nvPr/>
        </p:nvSpPr>
        <p:spPr>
          <a:xfrm>
            <a:off x="1896199" y="2037152"/>
            <a:ext cx="2871747" cy="767079"/>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ru-RU" sz="1600"/>
              <a:t>Настоящ клиент за нов кредит</a:t>
            </a:r>
            <a:endParaRPr lang="en-GB" sz="1600"/>
          </a:p>
        </p:txBody>
      </p:sp>
      <p:sp>
        <p:nvSpPr>
          <p:cNvPr id="19" name="Rectangle: Rounded Corners 18">
            <a:extLst>
              <a:ext uri="{FF2B5EF4-FFF2-40B4-BE49-F238E27FC236}">
                <a16:creationId xmlns:a16="http://schemas.microsoft.com/office/drawing/2014/main" id="{90B6EC0F-818E-0950-4F9A-A4CC222992E6}"/>
              </a:ext>
            </a:extLst>
          </p:cNvPr>
          <p:cNvSpPr/>
          <p:nvPr/>
        </p:nvSpPr>
        <p:spPr>
          <a:xfrm>
            <a:off x="1896199" y="1147427"/>
            <a:ext cx="2871747" cy="767079"/>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Нов клиент в офис</a:t>
            </a:r>
            <a:endParaRPr lang="en-GB" sz="1600"/>
          </a:p>
        </p:txBody>
      </p:sp>
      <p:sp>
        <p:nvSpPr>
          <p:cNvPr id="25" name="Rectangle: Rounded Corners 24">
            <a:extLst>
              <a:ext uri="{FF2B5EF4-FFF2-40B4-BE49-F238E27FC236}">
                <a16:creationId xmlns:a16="http://schemas.microsoft.com/office/drawing/2014/main" id="{94426C39-BAA0-0DFC-66D1-E0BF227393DD}"/>
              </a:ext>
            </a:extLst>
          </p:cNvPr>
          <p:cNvSpPr/>
          <p:nvPr/>
        </p:nvSpPr>
        <p:spPr>
          <a:xfrm>
            <a:off x="1896199" y="2926877"/>
            <a:ext cx="2871747" cy="767079"/>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Настоящ клиент за рефинансиране</a:t>
            </a:r>
            <a:endParaRPr lang="en-GB" sz="1600"/>
          </a:p>
        </p:txBody>
      </p:sp>
      <p:sp>
        <p:nvSpPr>
          <p:cNvPr id="26" name="Rectangle 11">
            <a:extLst>
              <a:ext uri="{FF2B5EF4-FFF2-40B4-BE49-F238E27FC236}">
                <a16:creationId xmlns:a16="http://schemas.microsoft.com/office/drawing/2014/main" id="{32AF3795-6831-C952-C5F0-69A770E0EAFA}"/>
              </a:ext>
            </a:extLst>
          </p:cNvPr>
          <p:cNvSpPr/>
          <p:nvPr/>
        </p:nvSpPr>
        <p:spPr>
          <a:xfrm>
            <a:off x="1896199" y="3816603"/>
            <a:ext cx="2871747" cy="767079"/>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Посещение на адрес</a:t>
            </a:r>
            <a:endParaRPr lang="en-GB" sz="1600"/>
          </a:p>
        </p:txBody>
      </p:sp>
      <p:sp>
        <p:nvSpPr>
          <p:cNvPr id="27" name="Rectangle 3">
            <a:extLst>
              <a:ext uri="{FF2B5EF4-FFF2-40B4-BE49-F238E27FC236}">
                <a16:creationId xmlns:a16="http://schemas.microsoft.com/office/drawing/2014/main" id="{FA0198A6-0C1C-5B64-2A44-485D35563C18}"/>
              </a:ext>
            </a:extLst>
          </p:cNvPr>
          <p:cNvSpPr/>
          <p:nvPr/>
        </p:nvSpPr>
        <p:spPr>
          <a:xfrm>
            <a:off x="1443475" y="4245"/>
            <a:ext cx="5338363" cy="677242"/>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28" name="Rectangle 4">
            <a:extLst>
              <a:ext uri="{FF2B5EF4-FFF2-40B4-BE49-F238E27FC236}">
                <a16:creationId xmlns:a16="http://schemas.microsoft.com/office/drawing/2014/main" id="{B2EF0141-607E-0328-FD60-C50E073C7948}"/>
              </a:ext>
            </a:extLst>
          </p:cNvPr>
          <p:cNvSpPr/>
          <p:nvPr/>
        </p:nvSpPr>
        <p:spPr>
          <a:xfrm>
            <a:off x="6788435" y="4245"/>
            <a:ext cx="5417300" cy="677242"/>
          </a:xfrm>
          <a:prstGeom prst="rect">
            <a:avLst/>
          </a:prstGeom>
          <a:solidFill>
            <a:schemeClr val="accent1"/>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29" name="Rectangle 28">
            <a:extLst>
              <a:ext uri="{FF2B5EF4-FFF2-40B4-BE49-F238E27FC236}">
                <a16:creationId xmlns:a16="http://schemas.microsoft.com/office/drawing/2014/main" id="{1DEAB075-A61B-C14C-074B-4E0E82C217BA}"/>
              </a:ext>
            </a:extLst>
          </p:cNvPr>
          <p:cNvSpPr/>
          <p:nvPr/>
        </p:nvSpPr>
        <p:spPr>
          <a:xfrm>
            <a:off x="-1671" y="1599"/>
            <a:ext cx="1451167" cy="6866954"/>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200">
              <a:latin typeface="Aptos"/>
              <a:ea typeface="Calibri"/>
              <a:cs typeface="Calibri"/>
            </a:endParaRPr>
          </a:p>
        </p:txBody>
      </p:sp>
      <p:sp>
        <p:nvSpPr>
          <p:cNvPr id="30" name="Rectangle 29">
            <a:extLst>
              <a:ext uri="{FF2B5EF4-FFF2-40B4-BE49-F238E27FC236}">
                <a16:creationId xmlns:a16="http://schemas.microsoft.com/office/drawing/2014/main" id="{8AC77C6A-5725-8842-86B8-DEE3BD1003F7}"/>
              </a:ext>
            </a:extLst>
          </p:cNvPr>
          <p:cNvSpPr/>
          <p:nvPr/>
        </p:nvSpPr>
        <p:spPr>
          <a:xfrm>
            <a:off x="-1671" y="2528038"/>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Типове клиенти</a:t>
            </a:r>
            <a:endParaRPr lang="en-GB" sz="1400">
              <a:latin typeface="Aptos"/>
              <a:ea typeface="Calibri"/>
              <a:cs typeface="Calibri"/>
            </a:endParaRPr>
          </a:p>
        </p:txBody>
      </p:sp>
      <p:sp>
        <p:nvSpPr>
          <p:cNvPr id="31" name="Rectangle 30">
            <a:extLst>
              <a:ext uri="{FF2B5EF4-FFF2-40B4-BE49-F238E27FC236}">
                <a16:creationId xmlns:a16="http://schemas.microsoft.com/office/drawing/2014/main" id="{DEA5739D-8C43-2D79-67D4-5971EC4F86D2}"/>
              </a:ext>
            </a:extLst>
          </p:cNvPr>
          <p:cNvSpPr/>
          <p:nvPr/>
        </p:nvSpPr>
        <p:spPr>
          <a:xfrm>
            <a:off x="8626" y="1913210"/>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b="1">
                <a:solidFill>
                  <a:srgbClr val="2F5597"/>
                </a:solidFill>
                <a:latin typeface="Aptos"/>
                <a:ea typeface="Calibri"/>
                <a:cs typeface="Calibri"/>
              </a:rPr>
              <a:t>Сценарии</a:t>
            </a:r>
            <a:endParaRPr lang="en-GB" sz="1400" b="1">
              <a:solidFill>
                <a:srgbClr val="2F5597"/>
              </a:solidFill>
              <a:latin typeface="Aptos"/>
              <a:ea typeface="Calibri"/>
              <a:cs typeface="Calibri"/>
            </a:endParaRPr>
          </a:p>
        </p:txBody>
      </p:sp>
      <p:sp>
        <p:nvSpPr>
          <p:cNvPr id="32" name="Rectangle 31">
            <a:extLst>
              <a:ext uri="{FF2B5EF4-FFF2-40B4-BE49-F238E27FC236}">
                <a16:creationId xmlns:a16="http://schemas.microsoft.com/office/drawing/2014/main" id="{5D25146D-7605-FD23-6CDA-FB1C493A1BFC}"/>
              </a:ext>
            </a:extLst>
          </p:cNvPr>
          <p:cNvSpPr/>
          <p:nvPr/>
        </p:nvSpPr>
        <p:spPr>
          <a:xfrm>
            <a:off x="-1671" y="1298382"/>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b="1">
                <a:solidFill>
                  <a:schemeClr val="bg1"/>
                </a:solidFill>
                <a:latin typeface="Aptos"/>
                <a:ea typeface="Calibri"/>
                <a:cs typeface="Calibri"/>
              </a:rPr>
              <a:t>Стъпки при среща</a:t>
            </a:r>
            <a:endParaRPr lang="bg-BG" sz="1400">
              <a:solidFill>
                <a:srgbClr val="000000"/>
              </a:solidFill>
              <a:latin typeface="Aptos"/>
              <a:ea typeface="Calibri"/>
              <a:cs typeface="Calibri"/>
            </a:endParaRPr>
          </a:p>
        </p:txBody>
      </p:sp>
      <p:sp>
        <p:nvSpPr>
          <p:cNvPr id="33" name="Rectangle 28">
            <a:extLst>
              <a:ext uri="{FF2B5EF4-FFF2-40B4-BE49-F238E27FC236}">
                <a16:creationId xmlns:a16="http://schemas.microsoft.com/office/drawing/2014/main" id="{0913E2F2-75E2-DEF3-4150-EE7DFA682C18}"/>
              </a:ext>
            </a:extLst>
          </p:cNvPr>
          <p:cNvSpPr/>
          <p:nvPr/>
        </p:nvSpPr>
        <p:spPr>
          <a:xfrm>
            <a:off x="6154" y="690328"/>
            <a:ext cx="1435083"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a:solidFill>
                  <a:schemeClr val="bg1"/>
                </a:solidFill>
                <a:latin typeface="Aptos"/>
                <a:ea typeface="Calibri"/>
                <a:cs typeface="Calibri"/>
              </a:rPr>
              <a:t>Подготовка</a:t>
            </a:r>
            <a:endParaRPr lang="en-GB" sz="1400">
              <a:solidFill>
                <a:schemeClr val="bg1"/>
              </a:solidFill>
              <a:latin typeface="Aptos"/>
              <a:ea typeface="Calibri"/>
              <a:cs typeface="Calibri"/>
            </a:endParaRPr>
          </a:p>
        </p:txBody>
      </p:sp>
      <p:pic>
        <p:nvPicPr>
          <p:cNvPr id="35" name="Picture 34">
            <a:extLst>
              <a:ext uri="{FF2B5EF4-FFF2-40B4-BE49-F238E27FC236}">
                <a16:creationId xmlns:a16="http://schemas.microsoft.com/office/drawing/2014/main" id="{79E8416F-93DC-C4B4-D50A-014A40AD3738}"/>
              </a:ext>
            </a:extLst>
          </p:cNvPr>
          <p:cNvPicPr>
            <a:picLocks noChangeAspect="1"/>
          </p:cNvPicPr>
          <p:nvPr/>
        </p:nvPicPr>
        <p:blipFill>
          <a:blip r:embed="rId2"/>
          <a:stretch>
            <a:fillRect/>
          </a:stretch>
        </p:blipFill>
        <p:spPr>
          <a:xfrm>
            <a:off x="11031388" y="5709427"/>
            <a:ext cx="982751" cy="995681"/>
          </a:xfrm>
          <a:prstGeom prst="rect">
            <a:avLst/>
          </a:prstGeom>
        </p:spPr>
      </p:pic>
      <p:sp>
        <p:nvSpPr>
          <p:cNvPr id="3" name="Овал 2">
            <a:extLst>
              <a:ext uri="{FF2B5EF4-FFF2-40B4-BE49-F238E27FC236}">
                <a16:creationId xmlns:a16="http://schemas.microsoft.com/office/drawing/2014/main" id="{371F55C7-50EF-62F7-463F-A84A7A22A743}"/>
              </a:ext>
            </a:extLst>
          </p:cNvPr>
          <p:cNvSpPr/>
          <p:nvPr/>
        </p:nvSpPr>
        <p:spPr>
          <a:xfrm>
            <a:off x="16277461" y="1430065"/>
            <a:ext cx="177402" cy="159446"/>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20" name="Правоъгълник: със заоблени ъгли 16">
            <a:extLst>
              <a:ext uri="{FF2B5EF4-FFF2-40B4-BE49-F238E27FC236}">
                <a16:creationId xmlns:a16="http://schemas.microsoft.com/office/drawing/2014/main" id="{B9182222-E435-B37A-C0D1-78E5FB1848B4}"/>
              </a:ext>
            </a:extLst>
          </p:cNvPr>
          <p:cNvSpPr/>
          <p:nvPr/>
        </p:nvSpPr>
        <p:spPr>
          <a:xfrm>
            <a:off x="5294850" y="3553597"/>
            <a:ext cx="2013461" cy="519092"/>
          </a:xfrm>
          <a:prstGeom prst="roundRect">
            <a:avLst>
              <a:gd name="adj" fmla="val 50000"/>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Тренирай</a:t>
            </a:r>
          </a:p>
        </p:txBody>
      </p:sp>
      <p:sp>
        <p:nvSpPr>
          <p:cNvPr id="22" name="Rectangle: Rounded Corners 21">
            <a:extLst>
              <a:ext uri="{FF2B5EF4-FFF2-40B4-BE49-F238E27FC236}">
                <a16:creationId xmlns:a16="http://schemas.microsoft.com/office/drawing/2014/main" id="{756B7DBA-58E8-F7C8-AE55-15A22147B23F}"/>
              </a:ext>
            </a:extLst>
          </p:cNvPr>
          <p:cNvSpPr/>
          <p:nvPr/>
        </p:nvSpPr>
        <p:spPr>
          <a:xfrm>
            <a:off x="5375803" y="1552088"/>
            <a:ext cx="1841407" cy="467065"/>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600">
                <a:ea typeface="+mn-lt"/>
                <a:cs typeface="+mn-lt"/>
              </a:rPr>
              <a:t>Клиент влиза в Регионален офис</a:t>
            </a:r>
            <a:endParaRPr lang="en-US"/>
          </a:p>
        </p:txBody>
      </p:sp>
      <p:sp>
        <p:nvSpPr>
          <p:cNvPr id="39" name="Rectangle: Rounded Corners 1">
            <a:extLst>
              <a:ext uri="{FF2B5EF4-FFF2-40B4-BE49-F238E27FC236}">
                <a16:creationId xmlns:a16="http://schemas.microsoft.com/office/drawing/2014/main" id="{2B45E617-93E9-E65E-17CB-B5DBFDE68A53}"/>
              </a:ext>
            </a:extLst>
          </p:cNvPr>
          <p:cNvSpPr/>
          <p:nvPr/>
        </p:nvSpPr>
        <p:spPr>
          <a:xfrm>
            <a:off x="7846395" y="1875905"/>
            <a:ext cx="3196027" cy="1667792"/>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600"/>
              <a:t>Видео</a:t>
            </a:r>
            <a:endParaRPr lang="en-GB" sz="1600"/>
          </a:p>
        </p:txBody>
      </p:sp>
    </p:spTree>
    <p:extLst>
      <p:ext uri="{BB962C8B-B14F-4D97-AF65-F5344CB8AC3E}">
        <p14:creationId xmlns:p14="http://schemas.microsoft.com/office/powerpoint/2010/main" val="3131308168"/>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CF748A-F55F-6CC3-469A-179B1BE27ABB}"/>
            </a:ext>
          </a:extLst>
        </p:cNvPr>
        <p:cNvGrpSpPr/>
        <p:nvPr/>
      </p:nvGrpSpPr>
      <p:grpSpPr>
        <a:xfrm>
          <a:off x="0" y="0"/>
          <a:ext cx="0" cy="0"/>
          <a:chOff x="0" y="0"/>
          <a:chExt cx="0" cy="0"/>
        </a:xfrm>
      </p:grpSpPr>
      <p:sp>
        <p:nvSpPr>
          <p:cNvPr id="18" name="Rectangle: Rounded Corners 17">
            <a:extLst>
              <a:ext uri="{FF2B5EF4-FFF2-40B4-BE49-F238E27FC236}">
                <a16:creationId xmlns:a16="http://schemas.microsoft.com/office/drawing/2014/main" id="{A28831AF-F51F-CCC7-2016-D6D1282E5C1E}"/>
              </a:ext>
            </a:extLst>
          </p:cNvPr>
          <p:cNvSpPr/>
          <p:nvPr/>
        </p:nvSpPr>
        <p:spPr>
          <a:xfrm>
            <a:off x="1896199" y="3242704"/>
            <a:ext cx="2871747" cy="767079"/>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ru-RU" sz="1600"/>
              <a:t>Настоящ клиент за нов кредит</a:t>
            </a:r>
            <a:endParaRPr lang="en-GB" sz="1600"/>
          </a:p>
        </p:txBody>
      </p:sp>
      <p:sp>
        <p:nvSpPr>
          <p:cNvPr id="19" name="Rectangle: Rounded Corners 18">
            <a:extLst>
              <a:ext uri="{FF2B5EF4-FFF2-40B4-BE49-F238E27FC236}">
                <a16:creationId xmlns:a16="http://schemas.microsoft.com/office/drawing/2014/main" id="{E8979558-51DC-85C1-1EF7-7BC57B7B6781}"/>
              </a:ext>
            </a:extLst>
          </p:cNvPr>
          <p:cNvSpPr/>
          <p:nvPr/>
        </p:nvSpPr>
        <p:spPr>
          <a:xfrm>
            <a:off x="1896199" y="1147427"/>
            <a:ext cx="2871747" cy="767079"/>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Нов клиент в офис</a:t>
            </a:r>
            <a:endParaRPr lang="en-GB" sz="1600"/>
          </a:p>
        </p:txBody>
      </p:sp>
      <p:sp>
        <p:nvSpPr>
          <p:cNvPr id="25" name="Rectangle: Rounded Corners 24">
            <a:extLst>
              <a:ext uri="{FF2B5EF4-FFF2-40B4-BE49-F238E27FC236}">
                <a16:creationId xmlns:a16="http://schemas.microsoft.com/office/drawing/2014/main" id="{B8DC76D3-B4F9-B97B-1DA9-086CBAABF9D7}"/>
              </a:ext>
            </a:extLst>
          </p:cNvPr>
          <p:cNvSpPr/>
          <p:nvPr/>
        </p:nvSpPr>
        <p:spPr>
          <a:xfrm>
            <a:off x="1896199" y="4132429"/>
            <a:ext cx="2871747" cy="767079"/>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Настоящ клиент за рефинансиране</a:t>
            </a:r>
            <a:endParaRPr lang="en-GB" sz="1600"/>
          </a:p>
        </p:txBody>
      </p:sp>
      <p:sp>
        <p:nvSpPr>
          <p:cNvPr id="26" name="Rectangle 11">
            <a:extLst>
              <a:ext uri="{FF2B5EF4-FFF2-40B4-BE49-F238E27FC236}">
                <a16:creationId xmlns:a16="http://schemas.microsoft.com/office/drawing/2014/main" id="{28D832AE-21FC-DF3F-FDD9-F708DE06D0B3}"/>
              </a:ext>
            </a:extLst>
          </p:cNvPr>
          <p:cNvSpPr/>
          <p:nvPr/>
        </p:nvSpPr>
        <p:spPr>
          <a:xfrm>
            <a:off x="1896199" y="5022155"/>
            <a:ext cx="2871747" cy="767079"/>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Посещение на адрес</a:t>
            </a:r>
            <a:endParaRPr lang="en-GB" sz="1600"/>
          </a:p>
        </p:txBody>
      </p:sp>
      <p:sp>
        <p:nvSpPr>
          <p:cNvPr id="27" name="Rectangle 3">
            <a:extLst>
              <a:ext uri="{FF2B5EF4-FFF2-40B4-BE49-F238E27FC236}">
                <a16:creationId xmlns:a16="http://schemas.microsoft.com/office/drawing/2014/main" id="{9ECA92CA-4632-0C81-FE51-F031A5045393}"/>
              </a:ext>
            </a:extLst>
          </p:cNvPr>
          <p:cNvSpPr/>
          <p:nvPr/>
        </p:nvSpPr>
        <p:spPr>
          <a:xfrm>
            <a:off x="1443475" y="4245"/>
            <a:ext cx="5338363" cy="677242"/>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28" name="Rectangle 4">
            <a:extLst>
              <a:ext uri="{FF2B5EF4-FFF2-40B4-BE49-F238E27FC236}">
                <a16:creationId xmlns:a16="http://schemas.microsoft.com/office/drawing/2014/main" id="{99B60DDB-3B82-EF06-A20F-372884205E2C}"/>
              </a:ext>
            </a:extLst>
          </p:cNvPr>
          <p:cNvSpPr/>
          <p:nvPr/>
        </p:nvSpPr>
        <p:spPr>
          <a:xfrm>
            <a:off x="6788435" y="4245"/>
            <a:ext cx="5417300" cy="677242"/>
          </a:xfrm>
          <a:prstGeom prst="rect">
            <a:avLst/>
          </a:prstGeom>
          <a:solidFill>
            <a:schemeClr val="accent1"/>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29" name="Rectangle 28">
            <a:extLst>
              <a:ext uri="{FF2B5EF4-FFF2-40B4-BE49-F238E27FC236}">
                <a16:creationId xmlns:a16="http://schemas.microsoft.com/office/drawing/2014/main" id="{00907E4A-4F93-FD0A-0017-AA445AF98A43}"/>
              </a:ext>
            </a:extLst>
          </p:cNvPr>
          <p:cNvSpPr/>
          <p:nvPr/>
        </p:nvSpPr>
        <p:spPr>
          <a:xfrm>
            <a:off x="-1671" y="1599"/>
            <a:ext cx="1451167" cy="6866954"/>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200">
              <a:latin typeface="Aptos"/>
              <a:ea typeface="Calibri"/>
              <a:cs typeface="Calibri"/>
            </a:endParaRPr>
          </a:p>
        </p:txBody>
      </p:sp>
      <p:sp>
        <p:nvSpPr>
          <p:cNvPr id="30" name="Rectangle 29">
            <a:extLst>
              <a:ext uri="{FF2B5EF4-FFF2-40B4-BE49-F238E27FC236}">
                <a16:creationId xmlns:a16="http://schemas.microsoft.com/office/drawing/2014/main" id="{78B44CFD-9E0E-8E2E-E19D-20ECA7ECB4A2}"/>
              </a:ext>
            </a:extLst>
          </p:cNvPr>
          <p:cNvSpPr/>
          <p:nvPr/>
        </p:nvSpPr>
        <p:spPr>
          <a:xfrm>
            <a:off x="-1671" y="2528038"/>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Типове клиенти</a:t>
            </a:r>
            <a:endParaRPr lang="en-GB" sz="1400">
              <a:latin typeface="Aptos"/>
              <a:ea typeface="Calibri"/>
              <a:cs typeface="Calibri"/>
            </a:endParaRPr>
          </a:p>
        </p:txBody>
      </p:sp>
      <p:sp>
        <p:nvSpPr>
          <p:cNvPr id="31" name="Rectangle 30">
            <a:extLst>
              <a:ext uri="{FF2B5EF4-FFF2-40B4-BE49-F238E27FC236}">
                <a16:creationId xmlns:a16="http://schemas.microsoft.com/office/drawing/2014/main" id="{85910DAA-AD32-E65E-DF7E-A6DF4AC62E00}"/>
              </a:ext>
            </a:extLst>
          </p:cNvPr>
          <p:cNvSpPr/>
          <p:nvPr/>
        </p:nvSpPr>
        <p:spPr>
          <a:xfrm>
            <a:off x="8626" y="1913210"/>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b="1">
                <a:solidFill>
                  <a:srgbClr val="2F5597"/>
                </a:solidFill>
                <a:latin typeface="Aptos"/>
                <a:ea typeface="Calibri"/>
                <a:cs typeface="Calibri"/>
              </a:rPr>
              <a:t>Сценарии</a:t>
            </a:r>
            <a:endParaRPr lang="en-GB" sz="1400" b="1">
              <a:solidFill>
                <a:srgbClr val="2F5597"/>
              </a:solidFill>
              <a:latin typeface="Aptos"/>
              <a:ea typeface="Calibri"/>
              <a:cs typeface="Calibri"/>
            </a:endParaRPr>
          </a:p>
        </p:txBody>
      </p:sp>
      <p:sp>
        <p:nvSpPr>
          <p:cNvPr id="32" name="Rectangle 31">
            <a:extLst>
              <a:ext uri="{FF2B5EF4-FFF2-40B4-BE49-F238E27FC236}">
                <a16:creationId xmlns:a16="http://schemas.microsoft.com/office/drawing/2014/main" id="{A01169EE-5FB9-C793-F9AC-620248F1615E}"/>
              </a:ext>
            </a:extLst>
          </p:cNvPr>
          <p:cNvSpPr/>
          <p:nvPr/>
        </p:nvSpPr>
        <p:spPr>
          <a:xfrm>
            <a:off x="-1671" y="1298382"/>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b="1">
                <a:solidFill>
                  <a:schemeClr val="bg1"/>
                </a:solidFill>
                <a:latin typeface="Aptos"/>
                <a:ea typeface="Calibri"/>
                <a:cs typeface="Calibri"/>
              </a:rPr>
              <a:t>Стъпки при среща</a:t>
            </a:r>
            <a:endParaRPr lang="bg-BG" sz="1400">
              <a:solidFill>
                <a:srgbClr val="000000"/>
              </a:solidFill>
              <a:latin typeface="Aptos"/>
              <a:ea typeface="Calibri"/>
              <a:cs typeface="Calibri"/>
            </a:endParaRPr>
          </a:p>
        </p:txBody>
      </p:sp>
      <p:sp>
        <p:nvSpPr>
          <p:cNvPr id="33" name="Rectangle 28">
            <a:extLst>
              <a:ext uri="{FF2B5EF4-FFF2-40B4-BE49-F238E27FC236}">
                <a16:creationId xmlns:a16="http://schemas.microsoft.com/office/drawing/2014/main" id="{C3DAF455-8646-22B2-3234-ABB22D833920}"/>
              </a:ext>
            </a:extLst>
          </p:cNvPr>
          <p:cNvSpPr/>
          <p:nvPr/>
        </p:nvSpPr>
        <p:spPr>
          <a:xfrm>
            <a:off x="6154" y="690328"/>
            <a:ext cx="1435083"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a:solidFill>
                  <a:schemeClr val="bg1"/>
                </a:solidFill>
                <a:latin typeface="Aptos"/>
                <a:ea typeface="Calibri"/>
                <a:cs typeface="Calibri"/>
              </a:rPr>
              <a:t>Подготовка</a:t>
            </a:r>
            <a:endParaRPr lang="en-GB" sz="1400">
              <a:solidFill>
                <a:schemeClr val="bg1"/>
              </a:solidFill>
              <a:latin typeface="Aptos"/>
              <a:ea typeface="Calibri"/>
              <a:cs typeface="Calibri"/>
            </a:endParaRPr>
          </a:p>
        </p:txBody>
      </p:sp>
      <p:sp>
        <p:nvSpPr>
          <p:cNvPr id="3" name="Овал 2">
            <a:extLst>
              <a:ext uri="{FF2B5EF4-FFF2-40B4-BE49-F238E27FC236}">
                <a16:creationId xmlns:a16="http://schemas.microsoft.com/office/drawing/2014/main" id="{F8B1AC4D-6C07-4D5C-7EF0-E7F1E89F33BA}"/>
              </a:ext>
            </a:extLst>
          </p:cNvPr>
          <p:cNvSpPr/>
          <p:nvPr/>
        </p:nvSpPr>
        <p:spPr>
          <a:xfrm>
            <a:off x="16277461" y="1430065"/>
            <a:ext cx="177402" cy="159446"/>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22" name="Rectangle: Rounded Corners 21">
            <a:extLst>
              <a:ext uri="{FF2B5EF4-FFF2-40B4-BE49-F238E27FC236}">
                <a16:creationId xmlns:a16="http://schemas.microsoft.com/office/drawing/2014/main" id="{E8FB69CA-96A1-BD00-25F3-757B15BAB237}"/>
              </a:ext>
            </a:extLst>
          </p:cNvPr>
          <p:cNvSpPr/>
          <p:nvPr/>
        </p:nvSpPr>
        <p:spPr>
          <a:xfrm>
            <a:off x="5206412" y="790087"/>
            <a:ext cx="6575043" cy="247703"/>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600">
                <a:ea typeface="+mn-lt"/>
                <a:cs typeface="+mn-lt"/>
              </a:rPr>
              <a:t>Клиент влиза в Регионален офис</a:t>
            </a:r>
            <a:endParaRPr lang="en-US"/>
          </a:p>
        </p:txBody>
      </p:sp>
      <p:sp>
        <p:nvSpPr>
          <p:cNvPr id="5" name="Rectangle: Rounded Corners 4">
            <a:extLst>
              <a:ext uri="{FF2B5EF4-FFF2-40B4-BE49-F238E27FC236}">
                <a16:creationId xmlns:a16="http://schemas.microsoft.com/office/drawing/2014/main" id="{A5D8FB75-25BB-D607-C604-F1404DBFFDF7}"/>
              </a:ext>
            </a:extLst>
          </p:cNvPr>
          <p:cNvSpPr/>
          <p:nvPr/>
        </p:nvSpPr>
        <p:spPr>
          <a:xfrm>
            <a:off x="5207291" y="1162496"/>
            <a:ext cx="6839460" cy="181161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300" b="1" dirty="0" err="1">
                <a:solidFill>
                  <a:schemeClr val="bg1"/>
                </a:solidFill>
                <a:latin typeface="Aptos"/>
                <a:ea typeface="Segoe UI"/>
                <a:cs typeface="Segoe UI"/>
              </a:rPr>
              <a:t>Начало</a:t>
            </a:r>
            <a:r>
              <a:rPr lang="en-US" sz="1300" b="1" dirty="0">
                <a:solidFill>
                  <a:schemeClr val="bg1"/>
                </a:solidFill>
                <a:latin typeface="Aptos"/>
                <a:ea typeface="Segoe UI"/>
                <a:cs typeface="Segoe UI"/>
              </a:rPr>
              <a:t> </a:t>
            </a:r>
            <a:r>
              <a:rPr lang="en-US" sz="1300" b="1" dirty="0" err="1">
                <a:solidFill>
                  <a:schemeClr val="bg1"/>
                </a:solidFill>
                <a:latin typeface="Aptos"/>
                <a:ea typeface="Segoe UI"/>
                <a:cs typeface="Segoe UI"/>
              </a:rPr>
              <a:t>на</a:t>
            </a:r>
            <a:r>
              <a:rPr lang="en-US" sz="1300" b="1" dirty="0">
                <a:solidFill>
                  <a:schemeClr val="bg1"/>
                </a:solidFill>
                <a:latin typeface="Aptos"/>
                <a:ea typeface="Segoe UI"/>
                <a:cs typeface="Segoe UI"/>
              </a:rPr>
              <a:t> </a:t>
            </a:r>
            <a:r>
              <a:rPr lang="en-US" sz="1300" b="1" dirty="0" err="1">
                <a:solidFill>
                  <a:schemeClr val="bg1"/>
                </a:solidFill>
                <a:latin typeface="Aptos"/>
                <a:ea typeface="Segoe UI"/>
                <a:cs typeface="Segoe UI"/>
              </a:rPr>
              <a:t>разговора</a:t>
            </a:r>
            <a:br>
              <a:rPr lang="en-US" sz="1300" b="1" dirty="0">
                <a:solidFill>
                  <a:schemeClr val="bg1"/>
                </a:solidFill>
                <a:latin typeface="Aptos"/>
                <a:ea typeface="Segoe UI"/>
                <a:cs typeface="Segoe UI"/>
              </a:rPr>
            </a:br>
            <a:r>
              <a:rPr lang="en-US" sz="1300" b="1" dirty="0">
                <a:solidFill>
                  <a:schemeClr val="bg1"/>
                </a:solidFill>
                <a:latin typeface="Aptos"/>
                <a:ea typeface="Segoe UI"/>
                <a:cs typeface="Segoe UI"/>
              </a:rPr>
              <a:t>КК</a:t>
            </a:r>
            <a:r>
              <a:rPr lang="en-US" sz="1300" b="1" baseline="0" dirty="0">
                <a:solidFill>
                  <a:schemeClr val="bg1"/>
                </a:solidFill>
                <a:latin typeface="Aptos"/>
                <a:ea typeface="Segoe UI"/>
                <a:cs typeface="Segoe UI"/>
              </a:rPr>
              <a:t>: „</a:t>
            </a:r>
            <a:r>
              <a:rPr lang="en-US" sz="1300" b="1" dirty="0" err="1">
                <a:solidFill>
                  <a:schemeClr val="bg1"/>
                </a:solidFill>
                <a:latin typeface="Aptos"/>
                <a:ea typeface="Segoe UI"/>
                <a:cs typeface="Segoe UI"/>
              </a:rPr>
              <a:t>Здравей</a:t>
            </a:r>
            <a:r>
              <a:rPr lang="en-US" sz="1300" b="1" baseline="0" dirty="0">
                <a:solidFill>
                  <a:schemeClr val="bg1"/>
                </a:solidFill>
                <a:latin typeface="Aptos"/>
                <a:ea typeface="Segoe UI"/>
                <a:cs typeface="Segoe UI"/>
              </a:rPr>
              <a:t>, </a:t>
            </a:r>
            <a:r>
              <a:rPr lang="en-US" sz="1300" b="1" dirty="0" err="1">
                <a:solidFill>
                  <a:schemeClr val="bg1"/>
                </a:solidFill>
                <a:latin typeface="Aptos"/>
                <a:ea typeface="Segoe UI"/>
                <a:cs typeface="Segoe UI"/>
              </a:rPr>
              <a:t>заповядай</a:t>
            </a:r>
            <a:r>
              <a:rPr lang="en-US" sz="1300" b="1" dirty="0">
                <a:solidFill>
                  <a:schemeClr val="bg1"/>
                </a:solidFill>
                <a:latin typeface="Aptos"/>
                <a:ea typeface="Segoe UI"/>
                <a:cs typeface="Segoe UI"/>
              </a:rPr>
              <a:t>! </a:t>
            </a:r>
            <a:r>
              <a:rPr lang="en-US" sz="1300" b="1" baseline="0" dirty="0" err="1">
                <a:solidFill>
                  <a:schemeClr val="bg1"/>
                </a:solidFill>
                <a:latin typeface="Aptos"/>
                <a:ea typeface="Segoe UI"/>
                <a:cs typeface="Segoe UI"/>
              </a:rPr>
              <a:t>Да</a:t>
            </a:r>
            <a:r>
              <a:rPr lang="en-US" sz="1300" b="1" baseline="0" dirty="0">
                <a:solidFill>
                  <a:schemeClr val="bg1"/>
                </a:solidFill>
                <a:latin typeface="Aptos"/>
                <a:ea typeface="Segoe UI"/>
                <a:cs typeface="Segoe UI"/>
              </a:rPr>
              <a:t> </a:t>
            </a:r>
            <a:r>
              <a:rPr lang="en-US" sz="1300" b="1" dirty="0" err="1">
                <a:solidFill>
                  <a:schemeClr val="bg1"/>
                </a:solidFill>
                <a:latin typeface="Aptos"/>
                <a:ea typeface="Segoe UI"/>
                <a:cs typeface="Segoe UI"/>
              </a:rPr>
              <a:t>ти</a:t>
            </a:r>
            <a:r>
              <a:rPr lang="en-US" sz="1300" b="1" dirty="0">
                <a:solidFill>
                  <a:schemeClr val="bg1"/>
                </a:solidFill>
                <a:latin typeface="Aptos"/>
                <a:ea typeface="Segoe UI"/>
                <a:cs typeface="Segoe UI"/>
              </a:rPr>
              <a:t> </a:t>
            </a:r>
            <a:r>
              <a:rPr lang="en-US" sz="1300" b="1" baseline="0" dirty="0" err="1">
                <a:solidFill>
                  <a:schemeClr val="bg1"/>
                </a:solidFill>
                <a:latin typeface="Aptos"/>
                <a:ea typeface="Segoe UI"/>
                <a:cs typeface="Segoe UI"/>
              </a:rPr>
              <a:t>предложа</a:t>
            </a:r>
            <a:r>
              <a:rPr lang="en-US" sz="1300" b="1" baseline="0" dirty="0">
                <a:solidFill>
                  <a:schemeClr val="bg1"/>
                </a:solidFill>
                <a:latin typeface="Aptos"/>
                <a:ea typeface="Segoe UI"/>
                <a:cs typeface="Segoe UI"/>
              </a:rPr>
              <a:t> </a:t>
            </a:r>
            <a:r>
              <a:rPr lang="en-US" sz="1300" b="1" baseline="0" dirty="0" err="1">
                <a:solidFill>
                  <a:schemeClr val="bg1"/>
                </a:solidFill>
                <a:latin typeface="Aptos"/>
                <a:ea typeface="Segoe UI"/>
                <a:cs typeface="Segoe UI"/>
              </a:rPr>
              <a:t>чаша</a:t>
            </a:r>
            <a:r>
              <a:rPr lang="en-US" sz="1300" b="1" baseline="0" dirty="0">
                <a:solidFill>
                  <a:schemeClr val="bg1"/>
                </a:solidFill>
                <a:latin typeface="Aptos"/>
                <a:ea typeface="Segoe UI"/>
                <a:cs typeface="Segoe UI"/>
              </a:rPr>
              <a:t> </a:t>
            </a:r>
            <a:r>
              <a:rPr lang="en-US" sz="1300" b="1" baseline="0" dirty="0" err="1">
                <a:solidFill>
                  <a:schemeClr val="bg1"/>
                </a:solidFill>
                <a:latin typeface="Aptos"/>
                <a:ea typeface="Segoe UI"/>
                <a:cs typeface="Segoe UI"/>
              </a:rPr>
              <a:t>вода</a:t>
            </a:r>
            <a:r>
              <a:rPr lang="en-US" sz="1300" b="1" baseline="0" dirty="0">
                <a:solidFill>
                  <a:schemeClr val="bg1"/>
                </a:solidFill>
                <a:latin typeface="Aptos"/>
                <a:ea typeface="Segoe UI"/>
                <a:cs typeface="Segoe UI"/>
              </a:rPr>
              <a:t> </a:t>
            </a:r>
            <a:r>
              <a:rPr lang="en-US" sz="1300" b="1" baseline="0" dirty="0" err="1">
                <a:solidFill>
                  <a:schemeClr val="bg1"/>
                </a:solidFill>
                <a:latin typeface="Aptos"/>
                <a:ea typeface="Segoe UI"/>
                <a:cs typeface="Segoe UI"/>
              </a:rPr>
              <a:t>или</a:t>
            </a:r>
            <a:r>
              <a:rPr lang="en-US" sz="1300" b="1" baseline="0" dirty="0">
                <a:solidFill>
                  <a:schemeClr val="bg1"/>
                </a:solidFill>
                <a:latin typeface="Aptos"/>
                <a:ea typeface="Segoe UI"/>
                <a:cs typeface="Segoe UI"/>
              </a:rPr>
              <a:t> </a:t>
            </a:r>
            <a:r>
              <a:rPr lang="en-US" sz="1300" b="1" baseline="0" dirty="0" err="1">
                <a:solidFill>
                  <a:schemeClr val="bg1"/>
                </a:solidFill>
                <a:latin typeface="Aptos"/>
                <a:ea typeface="Segoe UI"/>
                <a:cs typeface="Segoe UI"/>
              </a:rPr>
              <a:t>кафе</a:t>
            </a:r>
            <a:r>
              <a:rPr lang="en-US" sz="1300" b="1" dirty="0">
                <a:solidFill>
                  <a:schemeClr val="bg1"/>
                </a:solidFill>
                <a:latin typeface="Aptos"/>
                <a:ea typeface="Segoe UI"/>
                <a:cs typeface="Segoe UI"/>
              </a:rPr>
              <a:t> </a:t>
            </a:r>
            <a:r>
              <a:rPr lang="en-US" sz="1300" dirty="0">
                <a:solidFill>
                  <a:schemeClr val="bg1"/>
                </a:solidFill>
                <a:latin typeface="Aptos"/>
                <a:ea typeface="Segoe UI"/>
                <a:cs typeface="Segoe UI"/>
              </a:rPr>
              <a:t>“ </a:t>
            </a:r>
          </a:p>
          <a:p>
            <a:r>
              <a:rPr lang="en-US" sz="1300" dirty="0">
                <a:solidFill>
                  <a:schemeClr val="bg1"/>
                </a:solidFill>
                <a:latin typeface="Aptos"/>
                <a:ea typeface="Segoe UI"/>
                <a:cs typeface="Segoe UI"/>
              </a:rPr>
              <a:t>К: „</a:t>
            </a:r>
            <a:r>
              <a:rPr lang="en-US" sz="1300" dirty="0" err="1">
                <a:solidFill>
                  <a:schemeClr val="bg1"/>
                </a:solidFill>
                <a:latin typeface="Aptos"/>
                <a:ea typeface="Segoe UI"/>
                <a:cs typeface="Segoe UI"/>
              </a:rPr>
              <a:t>Здравей</a:t>
            </a:r>
            <a:r>
              <a:rPr lang="en-US" sz="1300" dirty="0">
                <a:solidFill>
                  <a:schemeClr val="bg1"/>
                </a:solidFill>
                <a:latin typeface="Aptos"/>
                <a:ea typeface="Segoe UI"/>
                <a:cs typeface="Segoe UI"/>
              </a:rPr>
              <a:t>, </a:t>
            </a:r>
            <a:r>
              <a:rPr lang="en-US" sz="1300" dirty="0" err="1">
                <a:solidFill>
                  <a:schemeClr val="bg1"/>
                </a:solidFill>
                <a:latin typeface="Aptos"/>
                <a:ea typeface="Segoe UI"/>
                <a:cs typeface="Segoe UI"/>
              </a:rPr>
              <a:t>благодаря</a:t>
            </a:r>
            <a:r>
              <a:rPr lang="en-US" sz="1300" dirty="0">
                <a:solidFill>
                  <a:schemeClr val="bg1"/>
                </a:solidFill>
                <a:latin typeface="Aptos"/>
                <a:ea typeface="Segoe UI"/>
                <a:cs typeface="Segoe UI"/>
              </a:rPr>
              <a:t>“ </a:t>
            </a:r>
            <a:endParaRPr lang="en-US" sz="1300">
              <a:solidFill>
                <a:schemeClr val="bg1"/>
              </a:solidFill>
            </a:endParaRPr>
          </a:p>
          <a:p>
            <a:r>
              <a:rPr lang="en-US" sz="1300" dirty="0">
                <a:solidFill>
                  <a:schemeClr val="bg1"/>
                </a:solidFill>
                <a:latin typeface="Aptos"/>
                <a:ea typeface="Segoe UI"/>
                <a:cs typeface="Segoe UI"/>
              </a:rPr>
              <a:t>КК</a:t>
            </a:r>
            <a:r>
              <a:rPr lang="en-US" sz="1300" baseline="0" dirty="0">
                <a:solidFill>
                  <a:schemeClr val="bg1"/>
                </a:solidFill>
                <a:latin typeface="Aptos"/>
                <a:ea typeface="Segoe UI"/>
                <a:cs typeface="Segoe UI"/>
              </a:rPr>
              <a:t>: „</a:t>
            </a:r>
            <a:r>
              <a:rPr lang="en-US" sz="1300" dirty="0" err="1">
                <a:solidFill>
                  <a:schemeClr val="bg1"/>
                </a:solidFill>
                <a:latin typeface="Aptos"/>
                <a:ea typeface="Segoe UI"/>
                <a:cs typeface="Segoe UI"/>
              </a:rPr>
              <a:t>Изготвих</a:t>
            </a:r>
            <a:r>
              <a:rPr lang="en-US" sz="1300" dirty="0">
                <a:solidFill>
                  <a:schemeClr val="bg1"/>
                </a:solidFill>
                <a:latin typeface="Aptos"/>
                <a:ea typeface="Segoe UI"/>
                <a:cs typeface="Segoe UI"/>
              </a:rPr>
              <a:t> </a:t>
            </a:r>
            <a:r>
              <a:rPr lang="en-US" sz="1300" dirty="0" err="1">
                <a:solidFill>
                  <a:schemeClr val="bg1"/>
                </a:solidFill>
                <a:latin typeface="Aptos"/>
                <a:ea typeface="Segoe UI"/>
                <a:cs typeface="Segoe UI"/>
              </a:rPr>
              <a:t>за</a:t>
            </a:r>
            <a:r>
              <a:rPr lang="en-US" sz="1300" dirty="0">
                <a:solidFill>
                  <a:schemeClr val="bg1"/>
                </a:solidFill>
                <a:latin typeface="Aptos"/>
                <a:ea typeface="Segoe UI"/>
                <a:cs typeface="Segoe UI"/>
              </a:rPr>
              <a:t> </a:t>
            </a:r>
            <a:r>
              <a:rPr lang="en-US" sz="1300" dirty="0" err="1">
                <a:solidFill>
                  <a:schemeClr val="bg1"/>
                </a:solidFill>
                <a:latin typeface="Aptos"/>
                <a:ea typeface="Segoe UI"/>
                <a:cs typeface="Segoe UI"/>
              </a:rPr>
              <a:t>теб</a:t>
            </a:r>
            <a:r>
              <a:rPr lang="en-US" sz="1300" dirty="0">
                <a:solidFill>
                  <a:schemeClr val="bg1"/>
                </a:solidFill>
                <a:latin typeface="Aptos"/>
                <a:ea typeface="Segoe UI"/>
                <a:cs typeface="Segoe UI"/>
              </a:rPr>
              <a:t> </a:t>
            </a:r>
            <a:r>
              <a:rPr lang="en-US" sz="1300" dirty="0" err="1">
                <a:solidFill>
                  <a:schemeClr val="bg1"/>
                </a:solidFill>
                <a:latin typeface="Aptos"/>
                <a:ea typeface="Segoe UI"/>
                <a:cs typeface="Segoe UI"/>
              </a:rPr>
              <a:t>специално</a:t>
            </a:r>
            <a:r>
              <a:rPr lang="en-US" sz="1300" dirty="0">
                <a:solidFill>
                  <a:schemeClr val="bg1"/>
                </a:solidFill>
                <a:latin typeface="Aptos"/>
                <a:ea typeface="Segoe UI"/>
                <a:cs typeface="Segoe UI"/>
              </a:rPr>
              <a:t> </a:t>
            </a:r>
            <a:r>
              <a:rPr lang="en-US" sz="1300" dirty="0" err="1">
                <a:solidFill>
                  <a:schemeClr val="bg1"/>
                </a:solidFill>
                <a:latin typeface="Aptos"/>
                <a:ea typeface="Segoe UI"/>
                <a:cs typeface="Segoe UI"/>
              </a:rPr>
              <a:t>предложение</a:t>
            </a:r>
            <a:r>
              <a:rPr lang="en-US" sz="1300" dirty="0">
                <a:solidFill>
                  <a:schemeClr val="bg1"/>
                </a:solidFill>
                <a:latin typeface="Aptos"/>
                <a:ea typeface="Segoe UI"/>
                <a:cs typeface="Segoe UI"/>
              </a:rPr>
              <a:t>. </a:t>
            </a:r>
            <a:r>
              <a:rPr lang="en-US" sz="1300" dirty="0" err="1">
                <a:solidFill>
                  <a:schemeClr val="bg1"/>
                </a:solidFill>
                <a:latin typeface="Aptos"/>
                <a:ea typeface="Segoe UI"/>
                <a:cs typeface="Segoe UI"/>
              </a:rPr>
              <a:t>Можеш</a:t>
            </a:r>
            <a:r>
              <a:rPr lang="en-US" sz="1300" dirty="0">
                <a:solidFill>
                  <a:schemeClr val="bg1"/>
                </a:solidFill>
                <a:latin typeface="Aptos"/>
                <a:ea typeface="Segoe UI"/>
                <a:cs typeface="Segoe UI"/>
              </a:rPr>
              <a:t> </a:t>
            </a:r>
            <a:r>
              <a:rPr lang="en-US" sz="1300" dirty="0" err="1">
                <a:solidFill>
                  <a:schemeClr val="bg1"/>
                </a:solidFill>
                <a:latin typeface="Aptos"/>
                <a:ea typeface="Segoe UI"/>
                <a:cs typeface="Segoe UI"/>
              </a:rPr>
              <a:t>още</a:t>
            </a:r>
            <a:r>
              <a:rPr lang="en-US" sz="1300" dirty="0">
                <a:solidFill>
                  <a:schemeClr val="bg1"/>
                </a:solidFill>
                <a:latin typeface="Aptos"/>
                <a:ea typeface="Segoe UI"/>
                <a:cs typeface="Segoe UI"/>
              </a:rPr>
              <a:t> </a:t>
            </a:r>
            <a:r>
              <a:rPr lang="en-US" sz="1300" dirty="0" err="1">
                <a:solidFill>
                  <a:schemeClr val="bg1"/>
                </a:solidFill>
                <a:latin typeface="Aptos"/>
                <a:ea typeface="Segoe UI"/>
                <a:cs typeface="Segoe UI"/>
              </a:rPr>
              <a:t>сега</a:t>
            </a:r>
            <a:r>
              <a:rPr lang="en-US" sz="1300" dirty="0">
                <a:solidFill>
                  <a:schemeClr val="bg1"/>
                </a:solidFill>
                <a:latin typeface="Aptos"/>
                <a:ea typeface="Segoe UI"/>
                <a:cs typeface="Segoe UI"/>
              </a:rPr>
              <a:t> </a:t>
            </a:r>
            <a:r>
              <a:rPr lang="en-US" sz="1300" dirty="0" err="1">
                <a:solidFill>
                  <a:schemeClr val="bg1"/>
                </a:solidFill>
                <a:latin typeface="Aptos"/>
                <a:ea typeface="Segoe UI"/>
                <a:cs typeface="Segoe UI"/>
              </a:rPr>
              <a:t>да</a:t>
            </a:r>
            <a:r>
              <a:rPr lang="en-US" sz="1300" dirty="0">
                <a:solidFill>
                  <a:schemeClr val="bg1"/>
                </a:solidFill>
                <a:latin typeface="Aptos"/>
                <a:ea typeface="Segoe UI"/>
                <a:cs typeface="Segoe UI"/>
              </a:rPr>
              <a:t> </a:t>
            </a:r>
            <a:r>
              <a:rPr lang="en-US" sz="1300" dirty="0" err="1">
                <a:solidFill>
                  <a:schemeClr val="bg1"/>
                </a:solidFill>
                <a:latin typeface="Aptos"/>
                <a:ea typeface="Segoe UI"/>
                <a:cs typeface="Segoe UI"/>
              </a:rPr>
              <a:t>се</a:t>
            </a:r>
            <a:r>
              <a:rPr lang="en-US" sz="1300" dirty="0">
                <a:solidFill>
                  <a:schemeClr val="bg1"/>
                </a:solidFill>
                <a:latin typeface="Aptos"/>
                <a:ea typeface="Segoe UI"/>
                <a:cs typeface="Segoe UI"/>
              </a:rPr>
              <a:t> </a:t>
            </a:r>
            <a:r>
              <a:rPr lang="en-US" sz="1300" dirty="0" err="1">
                <a:solidFill>
                  <a:schemeClr val="bg1"/>
                </a:solidFill>
                <a:latin typeface="Aptos"/>
                <a:ea typeface="Segoe UI"/>
                <a:cs typeface="Segoe UI"/>
              </a:rPr>
              <a:t>възползваш</a:t>
            </a:r>
            <a:r>
              <a:rPr lang="en-US" sz="1300" dirty="0">
                <a:solidFill>
                  <a:schemeClr val="bg1"/>
                </a:solidFill>
                <a:latin typeface="Aptos"/>
                <a:ea typeface="Segoe UI"/>
                <a:cs typeface="Segoe UI"/>
              </a:rPr>
              <a:t> </a:t>
            </a:r>
            <a:r>
              <a:rPr lang="en-US" sz="1300" dirty="0" err="1">
                <a:solidFill>
                  <a:schemeClr val="bg1"/>
                </a:solidFill>
                <a:latin typeface="Aptos"/>
                <a:ea typeface="Segoe UI"/>
                <a:cs typeface="Segoe UI"/>
              </a:rPr>
              <a:t>от</a:t>
            </a:r>
            <a:r>
              <a:rPr lang="en-US" sz="1300" dirty="0">
                <a:solidFill>
                  <a:schemeClr val="bg1"/>
                </a:solidFill>
                <a:latin typeface="Aptos"/>
                <a:ea typeface="Segoe UI"/>
                <a:cs typeface="Segoe UI"/>
              </a:rPr>
              <a:t> ..................... </a:t>
            </a:r>
            <a:r>
              <a:rPr lang="en-US" sz="1300" dirty="0" err="1">
                <a:solidFill>
                  <a:schemeClr val="bg1"/>
                </a:solidFill>
                <a:latin typeface="Aptos"/>
                <a:ea typeface="Segoe UI"/>
                <a:cs typeface="Segoe UI"/>
              </a:rPr>
              <a:t>лв</a:t>
            </a:r>
            <a:r>
              <a:rPr lang="en-US" sz="1300" dirty="0">
                <a:solidFill>
                  <a:schemeClr val="bg1"/>
                </a:solidFill>
                <a:latin typeface="Aptos"/>
                <a:ea typeface="Segoe UI"/>
                <a:cs typeface="Segoe UI"/>
              </a:rPr>
              <a:t>., и </a:t>
            </a:r>
            <a:r>
              <a:rPr lang="en-US" sz="1300" dirty="0" err="1">
                <a:solidFill>
                  <a:schemeClr val="bg1"/>
                </a:solidFill>
                <a:latin typeface="Aptos"/>
                <a:ea typeface="Segoe UI"/>
                <a:cs typeface="Segoe UI"/>
              </a:rPr>
              <a:t>лично</a:t>
            </a:r>
            <a:r>
              <a:rPr lang="en-US" sz="1300" dirty="0">
                <a:solidFill>
                  <a:schemeClr val="bg1"/>
                </a:solidFill>
                <a:latin typeface="Aptos"/>
                <a:ea typeface="Segoe UI"/>
                <a:cs typeface="Segoe UI"/>
              </a:rPr>
              <a:t> </a:t>
            </a:r>
            <a:r>
              <a:rPr lang="en-US" sz="1300" dirty="0" err="1">
                <a:solidFill>
                  <a:schemeClr val="bg1"/>
                </a:solidFill>
                <a:latin typeface="Aptos"/>
                <a:ea typeface="Segoe UI"/>
                <a:cs typeface="Segoe UI"/>
              </a:rPr>
              <a:t>ще</a:t>
            </a:r>
            <a:r>
              <a:rPr lang="en-US" sz="1300" dirty="0">
                <a:solidFill>
                  <a:schemeClr val="bg1"/>
                </a:solidFill>
                <a:latin typeface="Aptos"/>
                <a:ea typeface="Segoe UI"/>
                <a:cs typeface="Segoe UI"/>
              </a:rPr>
              <a:t> </a:t>
            </a:r>
            <a:r>
              <a:rPr lang="en-US" sz="1300" dirty="0" err="1">
                <a:solidFill>
                  <a:schemeClr val="bg1"/>
                </a:solidFill>
                <a:latin typeface="Aptos"/>
                <a:ea typeface="Segoe UI"/>
                <a:cs typeface="Segoe UI"/>
              </a:rPr>
              <a:t>съдействам</a:t>
            </a:r>
            <a:r>
              <a:rPr lang="en-US" sz="1300" dirty="0">
                <a:solidFill>
                  <a:schemeClr val="bg1"/>
                </a:solidFill>
                <a:latin typeface="Aptos"/>
                <a:ea typeface="Segoe UI"/>
                <a:cs typeface="Segoe UI"/>
              </a:rPr>
              <a:t> </a:t>
            </a:r>
            <a:r>
              <a:rPr lang="en-US" sz="1300" dirty="0" err="1">
                <a:solidFill>
                  <a:schemeClr val="bg1"/>
                </a:solidFill>
                <a:latin typeface="Aptos"/>
                <a:ea typeface="Segoe UI"/>
                <a:cs typeface="Segoe UI"/>
              </a:rPr>
              <a:t>да</a:t>
            </a:r>
            <a:r>
              <a:rPr lang="en-US" sz="1300" dirty="0">
                <a:solidFill>
                  <a:schemeClr val="bg1"/>
                </a:solidFill>
                <a:latin typeface="Aptos"/>
                <a:ea typeface="Segoe UI"/>
                <a:cs typeface="Segoe UI"/>
              </a:rPr>
              <a:t> </a:t>
            </a:r>
            <a:r>
              <a:rPr lang="en-US" sz="1300" dirty="0" err="1">
                <a:solidFill>
                  <a:schemeClr val="bg1"/>
                </a:solidFill>
                <a:latin typeface="Aptos"/>
                <a:ea typeface="Segoe UI"/>
                <a:cs typeface="Segoe UI"/>
              </a:rPr>
              <a:t>ги</a:t>
            </a:r>
            <a:r>
              <a:rPr lang="en-US" sz="1300" dirty="0">
                <a:solidFill>
                  <a:schemeClr val="bg1"/>
                </a:solidFill>
                <a:latin typeface="Aptos"/>
                <a:ea typeface="Segoe UI"/>
                <a:cs typeface="Segoe UI"/>
              </a:rPr>
              <a:t> </a:t>
            </a:r>
            <a:r>
              <a:rPr lang="en-US" sz="1300" dirty="0" err="1">
                <a:solidFill>
                  <a:schemeClr val="bg1"/>
                </a:solidFill>
                <a:latin typeface="Aptos"/>
                <a:ea typeface="Segoe UI"/>
                <a:cs typeface="Segoe UI"/>
              </a:rPr>
              <a:t>получиш</a:t>
            </a:r>
            <a:r>
              <a:rPr lang="en-US" sz="1300" dirty="0">
                <a:solidFill>
                  <a:schemeClr val="bg1"/>
                </a:solidFill>
                <a:latin typeface="Aptos"/>
                <a:ea typeface="Segoe UI"/>
                <a:cs typeface="Segoe UI"/>
              </a:rPr>
              <a:t>, </a:t>
            </a:r>
            <a:r>
              <a:rPr lang="en-US" sz="1300" dirty="0" err="1">
                <a:solidFill>
                  <a:schemeClr val="bg1"/>
                </a:solidFill>
                <a:latin typeface="Aptos"/>
                <a:ea typeface="Segoe UI"/>
                <a:cs typeface="Segoe UI"/>
              </a:rPr>
              <a:t>докато</a:t>
            </a:r>
            <a:r>
              <a:rPr lang="en-US" sz="1300" dirty="0">
                <a:solidFill>
                  <a:schemeClr val="bg1"/>
                </a:solidFill>
                <a:latin typeface="Aptos"/>
                <a:ea typeface="Segoe UI"/>
                <a:cs typeface="Segoe UI"/>
              </a:rPr>
              <a:t> </a:t>
            </a:r>
            <a:r>
              <a:rPr lang="en-US" sz="1300" dirty="0" err="1">
                <a:solidFill>
                  <a:schemeClr val="bg1"/>
                </a:solidFill>
                <a:latin typeface="Aptos"/>
                <a:ea typeface="Segoe UI"/>
                <a:cs typeface="Segoe UI"/>
              </a:rPr>
              <a:t>изпиеш</a:t>
            </a:r>
            <a:r>
              <a:rPr lang="en-US" sz="1300" dirty="0">
                <a:solidFill>
                  <a:schemeClr val="bg1"/>
                </a:solidFill>
                <a:latin typeface="Aptos"/>
                <a:ea typeface="Segoe UI"/>
                <a:cs typeface="Segoe UI"/>
              </a:rPr>
              <a:t> </a:t>
            </a:r>
            <a:r>
              <a:rPr lang="en-US" sz="1300" dirty="0" err="1">
                <a:solidFill>
                  <a:schemeClr val="bg1"/>
                </a:solidFill>
                <a:latin typeface="Aptos"/>
                <a:ea typeface="Segoe UI"/>
                <a:cs typeface="Segoe UI"/>
              </a:rPr>
              <a:t>кафето</a:t>
            </a:r>
            <a:r>
              <a:rPr lang="en-US" sz="1300" dirty="0">
                <a:solidFill>
                  <a:schemeClr val="bg1"/>
                </a:solidFill>
                <a:latin typeface="Aptos"/>
                <a:ea typeface="Segoe UI"/>
                <a:cs typeface="Segoe UI"/>
              </a:rPr>
              <a:t> </a:t>
            </a:r>
            <a:r>
              <a:rPr lang="en-US" sz="1300" dirty="0" err="1">
                <a:solidFill>
                  <a:schemeClr val="bg1"/>
                </a:solidFill>
                <a:latin typeface="Aptos"/>
                <a:ea typeface="Segoe UI"/>
                <a:cs typeface="Segoe UI"/>
              </a:rPr>
              <a:t>си</a:t>
            </a:r>
            <a:r>
              <a:rPr lang="en-US" sz="1300" dirty="0">
                <a:solidFill>
                  <a:schemeClr val="bg1"/>
                </a:solidFill>
                <a:latin typeface="Aptos"/>
                <a:ea typeface="Segoe UI"/>
                <a:cs typeface="Segoe UI"/>
              </a:rPr>
              <a:t>. </a:t>
            </a:r>
            <a:r>
              <a:rPr lang="en-US" sz="1300" dirty="0" err="1">
                <a:solidFill>
                  <a:schemeClr val="bg1"/>
                </a:solidFill>
                <a:latin typeface="Aptos"/>
                <a:ea typeface="Segoe UI"/>
                <a:cs typeface="Segoe UI"/>
              </a:rPr>
              <a:t>Ще</a:t>
            </a:r>
            <a:r>
              <a:rPr lang="en-US" sz="1300" dirty="0">
                <a:solidFill>
                  <a:schemeClr val="bg1"/>
                </a:solidFill>
                <a:latin typeface="Aptos"/>
                <a:ea typeface="Segoe UI"/>
                <a:cs typeface="Segoe UI"/>
              </a:rPr>
              <a:t> </a:t>
            </a:r>
            <a:r>
              <a:rPr lang="en-US" sz="1300" dirty="0" err="1">
                <a:solidFill>
                  <a:schemeClr val="bg1"/>
                </a:solidFill>
                <a:latin typeface="Aptos"/>
                <a:ea typeface="Segoe UI"/>
                <a:cs typeface="Segoe UI"/>
              </a:rPr>
              <a:t>се</a:t>
            </a:r>
            <a:r>
              <a:rPr lang="en-US" sz="1300" dirty="0">
                <a:solidFill>
                  <a:schemeClr val="bg1"/>
                </a:solidFill>
                <a:latin typeface="Aptos"/>
                <a:ea typeface="Segoe UI"/>
                <a:cs typeface="Segoe UI"/>
              </a:rPr>
              <a:t> </a:t>
            </a:r>
            <a:r>
              <a:rPr lang="en-US" sz="1300" dirty="0" err="1">
                <a:solidFill>
                  <a:schemeClr val="bg1"/>
                </a:solidFill>
                <a:latin typeface="Aptos"/>
                <a:ea typeface="Segoe UI"/>
                <a:cs typeface="Segoe UI"/>
              </a:rPr>
              <a:t>радвам</a:t>
            </a:r>
            <a:r>
              <a:rPr lang="en-US" sz="1300" dirty="0">
                <a:solidFill>
                  <a:schemeClr val="bg1"/>
                </a:solidFill>
                <a:latin typeface="Aptos"/>
                <a:ea typeface="Segoe UI"/>
                <a:cs typeface="Segoe UI"/>
              </a:rPr>
              <a:t> </a:t>
            </a:r>
            <a:r>
              <a:rPr lang="en-US" sz="1300" dirty="0" err="1">
                <a:solidFill>
                  <a:schemeClr val="bg1"/>
                </a:solidFill>
                <a:latin typeface="Aptos"/>
                <a:ea typeface="Segoe UI"/>
                <a:cs typeface="Segoe UI"/>
              </a:rPr>
              <a:t>да</a:t>
            </a:r>
            <a:r>
              <a:rPr lang="en-US" sz="1300" dirty="0">
                <a:solidFill>
                  <a:schemeClr val="bg1"/>
                </a:solidFill>
                <a:latin typeface="Aptos"/>
                <a:ea typeface="Segoe UI"/>
                <a:cs typeface="Segoe UI"/>
              </a:rPr>
              <a:t> </a:t>
            </a:r>
            <a:r>
              <a:rPr lang="en-US" sz="1300" dirty="0" err="1">
                <a:solidFill>
                  <a:schemeClr val="bg1"/>
                </a:solidFill>
                <a:latin typeface="Aptos"/>
                <a:ea typeface="Segoe UI"/>
                <a:cs typeface="Segoe UI"/>
              </a:rPr>
              <a:t>продължим</a:t>
            </a:r>
            <a:r>
              <a:rPr lang="en-US" sz="1300" dirty="0">
                <a:solidFill>
                  <a:schemeClr val="bg1"/>
                </a:solidFill>
                <a:latin typeface="Aptos"/>
                <a:ea typeface="Segoe UI"/>
                <a:cs typeface="Segoe UI"/>
              </a:rPr>
              <a:t> </a:t>
            </a:r>
            <a:r>
              <a:rPr lang="en-US" sz="1300" dirty="0" err="1">
                <a:solidFill>
                  <a:schemeClr val="bg1"/>
                </a:solidFill>
                <a:latin typeface="Aptos"/>
                <a:ea typeface="Segoe UI"/>
                <a:cs typeface="Segoe UI"/>
              </a:rPr>
              <a:t>да</a:t>
            </a:r>
            <a:r>
              <a:rPr lang="en-US" sz="1300" dirty="0">
                <a:solidFill>
                  <a:schemeClr val="bg1"/>
                </a:solidFill>
                <a:latin typeface="Aptos"/>
                <a:ea typeface="Segoe UI"/>
                <a:cs typeface="Segoe UI"/>
              </a:rPr>
              <a:t> </a:t>
            </a:r>
            <a:r>
              <a:rPr lang="en-US" sz="1300" dirty="0" err="1">
                <a:solidFill>
                  <a:schemeClr val="bg1"/>
                </a:solidFill>
                <a:latin typeface="Aptos"/>
                <a:ea typeface="Segoe UI"/>
                <a:cs typeface="Segoe UI"/>
              </a:rPr>
              <a:t>работим</a:t>
            </a:r>
            <a:r>
              <a:rPr lang="en-US" sz="1300" dirty="0">
                <a:solidFill>
                  <a:schemeClr val="bg1"/>
                </a:solidFill>
                <a:latin typeface="Aptos"/>
                <a:ea typeface="Segoe UI"/>
                <a:cs typeface="Segoe UI"/>
              </a:rPr>
              <a:t> </a:t>
            </a:r>
            <a:r>
              <a:rPr lang="en-US" sz="1300" dirty="0" err="1">
                <a:solidFill>
                  <a:schemeClr val="bg1"/>
                </a:solidFill>
                <a:latin typeface="Aptos"/>
                <a:ea typeface="Segoe UI"/>
                <a:cs typeface="Segoe UI"/>
              </a:rPr>
              <a:t>заедно</a:t>
            </a:r>
            <a:r>
              <a:rPr lang="en-US" sz="1300" dirty="0">
                <a:solidFill>
                  <a:schemeClr val="bg1"/>
                </a:solidFill>
                <a:latin typeface="Aptos"/>
                <a:ea typeface="Segoe UI"/>
                <a:cs typeface="Segoe UI"/>
              </a:rPr>
              <a:t>, и </a:t>
            </a:r>
            <a:r>
              <a:rPr lang="en-US" sz="1300" dirty="0" err="1">
                <a:solidFill>
                  <a:schemeClr val="bg1"/>
                </a:solidFill>
                <a:latin typeface="Aptos"/>
                <a:ea typeface="Segoe UI"/>
                <a:cs typeface="Segoe UI"/>
              </a:rPr>
              <a:t>заради</a:t>
            </a:r>
            <a:r>
              <a:rPr lang="en-US" sz="1300" dirty="0">
                <a:solidFill>
                  <a:schemeClr val="bg1"/>
                </a:solidFill>
                <a:latin typeface="Aptos"/>
                <a:ea typeface="Segoe UI"/>
                <a:cs typeface="Segoe UI"/>
              </a:rPr>
              <a:t> </a:t>
            </a:r>
            <a:r>
              <a:rPr lang="en-US" sz="1300" dirty="0" err="1">
                <a:solidFill>
                  <a:schemeClr val="bg1"/>
                </a:solidFill>
                <a:latin typeface="Aptos"/>
                <a:ea typeface="Segoe UI"/>
                <a:cs typeface="Segoe UI"/>
              </a:rPr>
              <a:t>това</a:t>
            </a:r>
            <a:r>
              <a:rPr lang="en-US" sz="1300" baseline="0" dirty="0">
                <a:solidFill>
                  <a:schemeClr val="bg1"/>
                </a:solidFill>
                <a:latin typeface="Aptos"/>
                <a:ea typeface="Segoe UI"/>
                <a:cs typeface="Segoe UI"/>
              </a:rPr>
              <a:t>, </a:t>
            </a:r>
            <a:r>
              <a:rPr lang="en-US" sz="1300" dirty="0" err="1">
                <a:solidFill>
                  <a:schemeClr val="bg1"/>
                </a:solidFill>
                <a:latin typeface="Aptos"/>
                <a:ea typeface="Segoe UI"/>
                <a:cs typeface="Segoe UI"/>
              </a:rPr>
              <a:t>че</a:t>
            </a:r>
            <a:r>
              <a:rPr lang="en-US" sz="1300" dirty="0">
                <a:solidFill>
                  <a:schemeClr val="bg1"/>
                </a:solidFill>
                <a:latin typeface="Aptos"/>
                <a:ea typeface="Segoe UI"/>
                <a:cs typeface="Segoe UI"/>
              </a:rPr>
              <a:t> </a:t>
            </a:r>
            <a:r>
              <a:rPr lang="en-US" sz="1300" dirty="0" err="1">
                <a:solidFill>
                  <a:schemeClr val="bg1"/>
                </a:solidFill>
                <a:latin typeface="Aptos"/>
                <a:ea typeface="Segoe UI"/>
                <a:cs typeface="Segoe UI"/>
              </a:rPr>
              <a:t>си</a:t>
            </a:r>
            <a:r>
              <a:rPr lang="en-US" sz="1300" dirty="0">
                <a:solidFill>
                  <a:schemeClr val="bg1"/>
                </a:solidFill>
                <a:latin typeface="Aptos"/>
                <a:ea typeface="Segoe UI"/>
                <a:cs typeface="Segoe UI"/>
              </a:rPr>
              <a:t> </a:t>
            </a:r>
            <a:r>
              <a:rPr lang="en-US" sz="1300" dirty="0" err="1">
                <a:solidFill>
                  <a:schemeClr val="bg1"/>
                </a:solidFill>
                <a:latin typeface="Aptos"/>
                <a:ea typeface="Segoe UI"/>
                <a:cs typeface="Segoe UI"/>
              </a:rPr>
              <a:t>наш</a:t>
            </a:r>
            <a:r>
              <a:rPr lang="en-US" sz="1300" dirty="0">
                <a:solidFill>
                  <a:schemeClr val="bg1"/>
                </a:solidFill>
                <a:latin typeface="Aptos"/>
                <a:ea typeface="Segoe UI"/>
                <a:cs typeface="Segoe UI"/>
              </a:rPr>
              <a:t> </a:t>
            </a:r>
            <a:r>
              <a:rPr lang="en-US" sz="1300" dirty="0" err="1">
                <a:solidFill>
                  <a:schemeClr val="bg1"/>
                </a:solidFill>
                <a:latin typeface="Aptos"/>
                <a:ea typeface="Segoe UI"/>
                <a:cs typeface="Segoe UI"/>
              </a:rPr>
              <a:t>лоялен</a:t>
            </a:r>
            <a:r>
              <a:rPr lang="en-US" sz="1300" dirty="0">
                <a:solidFill>
                  <a:schemeClr val="bg1"/>
                </a:solidFill>
                <a:latin typeface="Aptos"/>
                <a:ea typeface="Segoe UI"/>
                <a:cs typeface="Segoe UI"/>
              </a:rPr>
              <a:t> </a:t>
            </a:r>
            <a:r>
              <a:rPr lang="en-US" sz="1300" dirty="0" err="1">
                <a:solidFill>
                  <a:schemeClr val="bg1"/>
                </a:solidFill>
                <a:latin typeface="Aptos"/>
                <a:ea typeface="Segoe UI"/>
                <a:cs typeface="Segoe UI"/>
              </a:rPr>
              <a:t>клиент</a:t>
            </a:r>
            <a:r>
              <a:rPr lang="en-US" sz="1300" dirty="0">
                <a:solidFill>
                  <a:schemeClr val="bg1"/>
                </a:solidFill>
                <a:latin typeface="Aptos"/>
                <a:ea typeface="Segoe UI"/>
                <a:cs typeface="Segoe UI"/>
              </a:rPr>
              <a:t> </a:t>
            </a:r>
            <a:r>
              <a:rPr lang="en-US" sz="1300" dirty="0" err="1">
                <a:solidFill>
                  <a:schemeClr val="bg1"/>
                </a:solidFill>
                <a:latin typeface="Aptos"/>
                <a:ea typeface="Segoe UI"/>
                <a:cs typeface="Segoe UI"/>
              </a:rPr>
              <a:t>сме</a:t>
            </a:r>
            <a:r>
              <a:rPr lang="en-US" sz="1300" dirty="0">
                <a:solidFill>
                  <a:schemeClr val="bg1"/>
                </a:solidFill>
                <a:latin typeface="Aptos"/>
                <a:ea typeface="Segoe UI"/>
                <a:cs typeface="Segoe UI"/>
              </a:rPr>
              <a:t> </a:t>
            </a:r>
            <a:r>
              <a:rPr lang="en-US" sz="1300" dirty="0" err="1">
                <a:solidFill>
                  <a:schemeClr val="bg1"/>
                </a:solidFill>
                <a:latin typeface="Aptos"/>
                <a:ea typeface="Segoe UI"/>
                <a:cs typeface="Segoe UI"/>
              </a:rPr>
              <a:t>ти</a:t>
            </a:r>
            <a:r>
              <a:rPr lang="en-US" sz="1300" dirty="0">
                <a:solidFill>
                  <a:schemeClr val="bg1"/>
                </a:solidFill>
                <a:latin typeface="Aptos"/>
                <a:ea typeface="Segoe UI"/>
                <a:cs typeface="Segoe UI"/>
              </a:rPr>
              <a:t> </a:t>
            </a:r>
            <a:r>
              <a:rPr lang="en-US" sz="1300" dirty="0" err="1">
                <a:solidFill>
                  <a:schemeClr val="bg1"/>
                </a:solidFill>
                <a:latin typeface="Aptos"/>
                <a:ea typeface="Segoe UI"/>
                <a:cs typeface="Segoe UI"/>
              </a:rPr>
              <a:t>подготвили</a:t>
            </a:r>
            <a:r>
              <a:rPr lang="en-US" sz="1300" dirty="0">
                <a:solidFill>
                  <a:schemeClr val="bg1"/>
                </a:solidFill>
                <a:latin typeface="Aptos"/>
                <a:ea typeface="Segoe UI"/>
                <a:cs typeface="Segoe UI"/>
              </a:rPr>
              <a:t> </a:t>
            </a:r>
            <a:r>
              <a:rPr lang="en-US" sz="1300" dirty="0" err="1">
                <a:solidFill>
                  <a:schemeClr val="bg1"/>
                </a:solidFill>
                <a:latin typeface="Aptos"/>
                <a:ea typeface="Segoe UI"/>
                <a:cs typeface="Segoe UI"/>
              </a:rPr>
              <a:t>още</a:t>
            </a:r>
            <a:r>
              <a:rPr lang="en-US" sz="1300" dirty="0">
                <a:solidFill>
                  <a:schemeClr val="bg1"/>
                </a:solidFill>
                <a:latin typeface="Aptos"/>
                <a:ea typeface="Segoe UI"/>
                <a:cs typeface="Segoe UI"/>
              </a:rPr>
              <a:t> </a:t>
            </a:r>
            <a:r>
              <a:rPr lang="en-US" sz="1300" dirty="0" err="1">
                <a:solidFill>
                  <a:schemeClr val="bg1"/>
                </a:solidFill>
                <a:latin typeface="Aptos"/>
                <a:ea typeface="Segoe UI"/>
                <a:cs typeface="Segoe UI"/>
              </a:rPr>
              <a:t>един</a:t>
            </a:r>
            <a:r>
              <a:rPr lang="en-US" sz="1300" dirty="0">
                <a:solidFill>
                  <a:schemeClr val="bg1"/>
                </a:solidFill>
                <a:latin typeface="Aptos"/>
                <a:ea typeface="Segoe UI"/>
                <a:cs typeface="Segoe UI"/>
              </a:rPr>
              <a:t> </a:t>
            </a:r>
            <a:r>
              <a:rPr lang="en-US" sz="1300" dirty="0" err="1">
                <a:solidFill>
                  <a:schemeClr val="bg1"/>
                </a:solidFill>
                <a:latin typeface="Aptos"/>
                <a:ea typeface="Segoe UI"/>
                <a:cs typeface="Segoe UI"/>
              </a:rPr>
              <a:t>наистина</a:t>
            </a:r>
            <a:r>
              <a:rPr lang="en-US" sz="1300" dirty="0">
                <a:solidFill>
                  <a:schemeClr val="bg1"/>
                </a:solidFill>
                <a:latin typeface="Aptos"/>
                <a:ea typeface="Segoe UI"/>
                <a:cs typeface="Segoe UI"/>
              </a:rPr>
              <a:t> </a:t>
            </a:r>
            <a:r>
              <a:rPr lang="en-US" sz="1300" dirty="0" err="1">
                <a:solidFill>
                  <a:schemeClr val="bg1"/>
                </a:solidFill>
                <a:latin typeface="Aptos"/>
                <a:ea typeface="Segoe UI"/>
                <a:cs typeface="Segoe UI"/>
              </a:rPr>
              <a:t>страхотен</a:t>
            </a:r>
            <a:r>
              <a:rPr lang="en-US" sz="1300" dirty="0">
                <a:solidFill>
                  <a:schemeClr val="bg1"/>
                </a:solidFill>
                <a:latin typeface="Aptos"/>
                <a:ea typeface="Segoe UI"/>
                <a:cs typeface="Segoe UI"/>
              </a:rPr>
              <a:t> </a:t>
            </a:r>
            <a:r>
              <a:rPr lang="en-US" sz="1300" dirty="0" err="1">
                <a:solidFill>
                  <a:schemeClr val="bg1"/>
                </a:solidFill>
                <a:latin typeface="Aptos"/>
                <a:ea typeface="Segoe UI"/>
                <a:cs typeface="Segoe UI"/>
              </a:rPr>
              <a:t>подарък</a:t>
            </a:r>
            <a:r>
              <a:rPr lang="en-US" sz="1300" dirty="0">
                <a:solidFill>
                  <a:schemeClr val="bg1"/>
                </a:solidFill>
                <a:latin typeface="Aptos"/>
                <a:ea typeface="Segoe UI"/>
                <a:cs typeface="Segoe UI"/>
              </a:rPr>
              <a:t>. </a:t>
            </a:r>
            <a:r>
              <a:rPr lang="en-US" sz="1300" dirty="0" err="1">
                <a:solidFill>
                  <a:schemeClr val="bg1"/>
                </a:solidFill>
                <a:latin typeface="Aptos"/>
                <a:ea typeface="Segoe UI"/>
                <a:cs typeface="Segoe UI"/>
              </a:rPr>
              <a:t>Как</a:t>
            </a:r>
            <a:r>
              <a:rPr lang="en-US" sz="1300" dirty="0">
                <a:solidFill>
                  <a:schemeClr val="bg1"/>
                </a:solidFill>
                <a:latin typeface="Aptos"/>
                <a:ea typeface="Segoe UI"/>
                <a:cs typeface="Segoe UI"/>
              </a:rPr>
              <a:t> </a:t>
            </a:r>
            <a:r>
              <a:rPr lang="en-US" sz="1300" dirty="0" err="1">
                <a:solidFill>
                  <a:schemeClr val="bg1"/>
                </a:solidFill>
                <a:latin typeface="Aptos"/>
                <a:ea typeface="Segoe UI"/>
                <a:cs typeface="Segoe UI"/>
              </a:rPr>
              <a:t>ти</a:t>
            </a:r>
            <a:r>
              <a:rPr lang="en-US" sz="1300" dirty="0">
                <a:solidFill>
                  <a:schemeClr val="bg1"/>
                </a:solidFill>
                <a:latin typeface="Aptos"/>
                <a:ea typeface="Segoe UI"/>
                <a:cs typeface="Segoe UI"/>
              </a:rPr>
              <a:t> </a:t>
            </a:r>
            <a:r>
              <a:rPr lang="en-US" sz="1300" dirty="0" err="1">
                <a:solidFill>
                  <a:schemeClr val="bg1"/>
                </a:solidFill>
                <a:latin typeface="Aptos"/>
                <a:ea typeface="Segoe UI"/>
                <a:cs typeface="Segoe UI"/>
              </a:rPr>
              <a:t>се</a:t>
            </a:r>
            <a:r>
              <a:rPr lang="en-US" sz="1300" dirty="0">
                <a:solidFill>
                  <a:schemeClr val="bg1"/>
                </a:solidFill>
                <a:latin typeface="Aptos"/>
                <a:ea typeface="Segoe UI"/>
                <a:cs typeface="Segoe UI"/>
              </a:rPr>
              <a:t> </a:t>
            </a:r>
            <a:r>
              <a:rPr lang="en-US" sz="1300" dirty="0" err="1">
                <a:solidFill>
                  <a:schemeClr val="bg1"/>
                </a:solidFill>
                <a:latin typeface="Aptos"/>
                <a:ea typeface="Segoe UI"/>
                <a:cs typeface="Segoe UI"/>
              </a:rPr>
              <a:t>струва</a:t>
            </a:r>
            <a:r>
              <a:rPr lang="en-US" sz="1300" dirty="0">
                <a:solidFill>
                  <a:schemeClr val="bg1"/>
                </a:solidFill>
                <a:latin typeface="Aptos"/>
                <a:ea typeface="Segoe UI"/>
                <a:cs typeface="Segoe UI"/>
              </a:rPr>
              <a:t> </a:t>
            </a:r>
            <a:r>
              <a:rPr lang="en-US" sz="1300" dirty="0" err="1">
                <a:solidFill>
                  <a:schemeClr val="bg1"/>
                </a:solidFill>
                <a:latin typeface="Aptos"/>
                <a:ea typeface="Segoe UI"/>
                <a:cs typeface="Segoe UI"/>
              </a:rPr>
              <a:t>моето</a:t>
            </a:r>
            <a:r>
              <a:rPr lang="en-US" sz="1300" dirty="0">
                <a:solidFill>
                  <a:schemeClr val="bg1"/>
                </a:solidFill>
                <a:latin typeface="Aptos"/>
                <a:ea typeface="Segoe UI"/>
                <a:cs typeface="Segoe UI"/>
              </a:rPr>
              <a:t> </a:t>
            </a:r>
            <a:r>
              <a:rPr lang="en-US" sz="1300" dirty="0" err="1">
                <a:solidFill>
                  <a:schemeClr val="bg1"/>
                </a:solidFill>
                <a:latin typeface="Aptos"/>
                <a:ea typeface="Segoe UI"/>
                <a:cs typeface="Segoe UI"/>
              </a:rPr>
              <a:t>предложение</a:t>
            </a:r>
            <a:r>
              <a:rPr lang="en-US" sz="1300" baseline="0" dirty="0">
                <a:solidFill>
                  <a:schemeClr val="bg1"/>
                </a:solidFill>
                <a:latin typeface="Aptos"/>
                <a:ea typeface="Segoe UI"/>
                <a:cs typeface="Segoe UI"/>
              </a:rPr>
              <a:t>?“ </a:t>
            </a:r>
            <a:endParaRPr lang="en-US" sz="1300">
              <a:solidFill>
                <a:schemeClr val="bg1"/>
              </a:solidFill>
            </a:endParaRPr>
          </a:p>
        </p:txBody>
      </p:sp>
      <p:sp>
        <p:nvSpPr>
          <p:cNvPr id="7" name="Rectangle: Rounded Corners 6">
            <a:extLst>
              <a:ext uri="{FF2B5EF4-FFF2-40B4-BE49-F238E27FC236}">
                <a16:creationId xmlns:a16="http://schemas.microsoft.com/office/drawing/2014/main" id="{F7C585CA-63AE-FBC0-30B4-25B61342CC4C}"/>
              </a:ext>
            </a:extLst>
          </p:cNvPr>
          <p:cNvSpPr/>
          <p:nvPr/>
        </p:nvSpPr>
        <p:spPr>
          <a:xfrm>
            <a:off x="5209888" y="3040452"/>
            <a:ext cx="6831264" cy="1917423"/>
          </a:xfrm>
          <a:prstGeom prst="roundRect">
            <a:avLst/>
          </a:prstGeom>
          <a:solidFill>
            <a:schemeClr val="accent1"/>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300" b="1" dirty="0" err="1">
                <a:solidFill>
                  <a:schemeClr val="bg1"/>
                </a:solidFill>
              </a:rPr>
              <a:t>Справяне</a:t>
            </a:r>
            <a:r>
              <a:rPr lang="en-US" sz="1300" b="1" dirty="0">
                <a:solidFill>
                  <a:schemeClr val="bg1"/>
                </a:solidFill>
              </a:rPr>
              <a:t> с </a:t>
            </a:r>
            <a:r>
              <a:rPr lang="en-US" sz="1300" b="1" dirty="0" err="1">
                <a:solidFill>
                  <a:schemeClr val="bg1"/>
                </a:solidFill>
              </a:rPr>
              <a:t>възражения</a:t>
            </a:r>
            <a:endParaRPr lang="en-US" sz="1300" dirty="0" err="1">
              <a:solidFill>
                <a:schemeClr val="bg1"/>
              </a:solidFill>
            </a:endParaRPr>
          </a:p>
          <a:p>
            <a:r>
              <a:rPr lang="en-US" sz="1300" b="1" dirty="0" err="1">
                <a:solidFill>
                  <a:schemeClr val="bg1"/>
                </a:solidFill>
              </a:rPr>
              <a:t>Ако</a:t>
            </a:r>
            <a:r>
              <a:rPr lang="en-US" sz="1300" b="1" dirty="0">
                <a:solidFill>
                  <a:schemeClr val="bg1"/>
                </a:solidFill>
              </a:rPr>
              <a:t> </a:t>
            </a:r>
            <a:r>
              <a:rPr lang="en-US" sz="1300" b="1" dirty="0" err="1">
                <a:solidFill>
                  <a:schemeClr val="bg1"/>
                </a:solidFill>
              </a:rPr>
              <a:t>клиентът</a:t>
            </a:r>
            <a:r>
              <a:rPr lang="en-US" sz="1300" b="1" dirty="0">
                <a:solidFill>
                  <a:schemeClr val="bg1"/>
                </a:solidFill>
              </a:rPr>
              <a:t> </a:t>
            </a:r>
            <a:r>
              <a:rPr lang="en-US" sz="1300" b="1" dirty="0" err="1">
                <a:solidFill>
                  <a:schemeClr val="bg1"/>
                </a:solidFill>
              </a:rPr>
              <a:t>не</a:t>
            </a:r>
            <a:r>
              <a:rPr lang="en-US" sz="1300" b="1" dirty="0">
                <a:solidFill>
                  <a:schemeClr val="bg1"/>
                </a:solidFill>
              </a:rPr>
              <a:t> </a:t>
            </a:r>
            <a:r>
              <a:rPr lang="en-US" sz="1300" b="1" dirty="0" err="1">
                <a:solidFill>
                  <a:schemeClr val="bg1"/>
                </a:solidFill>
              </a:rPr>
              <a:t>може</a:t>
            </a:r>
            <a:r>
              <a:rPr lang="en-US" sz="1300" b="1" dirty="0">
                <a:solidFill>
                  <a:schemeClr val="bg1"/>
                </a:solidFill>
              </a:rPr>
              <a:t> </a:t>
            </a:r>
            <a:r>
              <a:rPr lang="en-US" sz="1300" b="1" dirty="0" err="1">
                <a:solidFill>
                  <a:schemeClr val="bg1"/>
                </a:solidFill>
              </a:rPr>
              <a:t>да</a:t>
            </a:r>
            <a:r>
              <a:rPr lang="en-US" sz="1300" b="1" dirty="0">
                <a:solidFill>
                  <a:schemeClr val="bg1"/>
                </a:solidFill>
              </a:rPr>
              <a:t> </a:t>
            </a:r>
            <a:r>
              <a:rPr lang="en-US" sz="1300" b="1" dirty="0" err="1">
                <a:solidFill>
                  <a:schemeClr val="bg1"/>
                </a:solidFill>
              </a:rPr>
              <a:t>вземе</a:t>
            </a:r>
            <a:r>
              <a:rPr lang="en-US" sz="1300" b="1" dirty="0">
                <a:solidFill>
                  <a:schemeClr val="bg1"/>
                </a:solidFill>
              </a:rPr>
              <a:t> </a:t>
            </a:r>
            <a:r>
              <a:rPr lang="en-US" sz="1300" b="1" dirty="0" err="1">
                <a:solidFill>
                  <a:schemeClr val="bg1"/>
                </a:solidFill>
              </a:rPr>
              <a:t>решение</a:t>
            </a:r>
            <a:r>
              <a:rPr lang="en-US" sz="1300" b="1" dirty="0">
                <a:solidFill>
                  <a:schemeClr val="bg1"/>
                </a:solidFill>
              </a:rPr>
              <a:t> </a:t>
            </a:r>
            <a:r>
              <a:rPr lang="en-US" sz="1300" b="1" dirty="0" err="1">
                <a:solidFill>
                  <a:schemeClr val="bg1"/>
                </a:solidFill>
              </a:rPr>
              <a:t>или</a:t>
            </a:r>
            <a:r>
              <a:rPr lang="en-US" sz="1300" b="1" dirty="0">
                <a:solidFill>
                  <a:schemeClr val="bg1"/>
                </a:solidFill>
              </a:rPr>
              <a:t> </a:t>
            </a:r>
            <a:r>
              <a:rPr lang="en-US" sz="1300" b="1" dirty="0" err="1">
                <a:solidFill>
                  <a:schemeClr val="bg1"/>
                </a:solidFill>
              </a:rPr>
              <a:t>казва</a:t>
            </a:r>
            <a:r>
              <a:rPr lang="en-US" sz="1300" b="1" dirty="0">
                <a:solidFill>
                  <a:schemeClr val="bg1"/>
                </a:solidFill>
              </a:rPr>
              <a:t>, </a:t>
            </a:r>
            <a:r>
              <a:rPr lang="en-US" sz="1300" b="1" dirty="0" err="1">
                <a:solidFill>
                  <a:schemeClr val="bg1"/>
                </a:solidFill>
              </a:rPr>
              <a:t>че</a:t>
            </a:r>
            <a:r>
              <a:rPr lang="en-US" sz="1300" b="1" dirty="0">
                <a:solidFill>
                  <a:schemeClr val="bg1"/>
                </a:solidFill>
              </a:rPr>
              <a:t> </a:t>
            </a:r>
            <a:r>
              <a:rPr lang="en-US" sz="1300" b="1" dirty="0" err="1">
                <a:solidFill>
                  <a:schemeClr val="bg1"/>
                </a:solidFill>
              </a:rPr>
              <a:t>иска</a:t>
            </a:r>
            <a:r>
              <a:rPr lang="en-US" sz="1300" b="1" dirty="0">
                <a:solidFill>
                  <a:schemeClr val="bg1"/>
                </a:solidFill>
              </a:rPr>
              <a:t> </a:t>
            </a:r>
            <a:r>
              <a:rPr lang="en-US" sz="1300" b="1" dirty="0" err="1">
                <a:solidFill>
                  <a:schemeClr val="bg1"/>
                </a:solidFill>
              </a:rPr>
              <a:t>да</a:t>
            </a:r>
            <a:r>
              <a:rPr lang="en-US" sz="1300" b="1" dirty="0">
                <a:solidFill>
                  <a:schemeClr val="bg1"/>
                </a:solidFill>
              </a:rPr>
              <a:t> </a:t>
            </a:r>
            <a:r>
              <a:rPr lang="en-US" sz="1300" b="1" dirty="0" err="1">
                <a:solidFill>
                  <a:schemeClr val="bg1"/>
                </a:solidFill>
              </a:rPr>
              <a:t>си</a:t>
            </a:r>
            <a:r>
              <a:rPr lang="en-US" sz="1300" b="1" dirty="0">
                <a:solidFill>
                  <a:schemeClr val="bg1"/>
                </a:solidFill>
              </a:rPr>
              <a:t> </a:t>
            </a:r>
            <a:r>
              <a:rPr lang="en-US" sz="1300" b="1" dirty="0" err="1">
                <a:solidFill>
                  <a:schemeClr val="bg1"/>
                </a:solidFill>
              </a:rPr>
              <a:t>помисли</a:t>
            </a:r>
            <a:r>
              <a:rPr lang="en-US" sz="1300" b="1" dirty="0">
                <a:solidFill>
                  <a:schemeClr val="bg1"/>
                </a:solidFill>
              </a:rPr>
              <a:t>:</a:t>
            </a:r>
            <a:br>
              <a:rPr lang="en-US" sz="1300" b="1" dirty="0">
                <a:solidFill>
                  <a:schemeClr val="bg1"/>
                </a:solidFill>
              </a:rPr>
            </a:br>
            <a:r>
              <a:rPr lang="en-US" sz="1300" b="1" dirty="0">
                <a:solidFill>
                  <a:schemeClr val="bg1"/>
                </a:solidFill>
              </a:rPr>
              <a:t> КК: „</a:t>
            </a:r>
            <a:r>
              <a:rPr lang="en-US" sz="1300" b="1" dirty="0" err="1">
                <a:solidFill>
                  <a:schemeClr val="bg1"/>
                </a:solidFill>
              </a:rPr>
              <a:t>Каква</a:t>
            </a:r>
            <a:r>
              <a:rPr lang="en-US" sz="1300" b="1" dirty="0">
                <a:solidFill>
                  <a:schemeClr val="bg1"/>
                </a:solidFill>
              </a:rPr>
              <a:t> </a:t>
            </a:r>
            <a:r>
              <a:rPr lang="en-US" sz="1300" b="1" dirty="0" err="1">
                <a:solidFill>
                  <a:schemeClr val="bg1"/>
                </a:solidFill>
              </a:rPr>
              <a:t>още</a:t>
            </a:r>
            <a:r>
              <a:rPr lang="en-US" sz="1300" b="1" dirty="0">
                <a:solidFill>
                  <a:schemeClr val="bg1"/>
                </a:solidFill>
              </a:rPr>
              <a:t> </a:t>
            </a:r>
            <a:r>
              <a:rPr lang="en-US" sz="1300" b="1" dirty="0" err="1">
                <a:solidFill>
                  <a:schemeClr val="bg1"/>
                </a:solidFill>
              </a:rPr>
              <a:t>информация</a:t>
            </a:r>
            <a:r>
              <a:rPr lang="en-US" sz="1300" b="1" dirty="0">
                <a:solidFill>
                  <a:schemeClr val="bg1"/>
                </a:solidFill>
              </a:rPr>
              <a:t> </a:t>
            </a:r>
            <a:r>
              <a:rPr lang="en-US" sz="1300" b="1" dirty="0" err="1">
                <a:solidFill>
                  <a:schemeClr val="bg1"/>
                </a:solidFill>
              </a:rPr>
              <a:t>ти</a:t>
            </a:r>
            <a:r>
              <a:rPr lang="en-US" sz="1300" b="1" dirty="0">
                <a:solidFill>
                  <a:schemeClr val="bg1"/>
                </a:solidFill>
              </a:rPr>
              <a:t> е </a:t>
            </a:r>
            <a:r>
              <a:rPr lang="en-US" sz="1300" b="1" dirty="0" err="1">
                <a:solidFill>
                  <a:schemeClr val="bg1"/>
                </a:solidFill>
              </a:rPr>
              <a:t>необходима</a:t>
            </a:r>
            <a:r>
              <a:rPr lang="en-US" sz="1300" b="1" dirty="0">
                <a:solidFill>
                  <a:schemeClr val="bg1"/>
                </a:solidFill>
              </a:rPr>
              <a:t> </a:t>
            </a:r>
            <a:r>
              <a:rPr lang="en-US" sz="1300" b="1" dirty="0" err="1">
                <a:solidFill>
                  <a:schemeClr val="bg1"/>
                </a:solidFill>
              </a:rPr>
              <a:t>за</a:t>
            </a:r>
            <a:r>
              <a:rPr lang="en-US" sz="1300" b="1" dirty="0">
                <a:solidFill>
                  <a:schemeClr val="bg1"/>
                </a:solidFill>
              </a:rPr>
              <a:t> </a:t>
            </a:r>
            <a:r>
              <a:rPr lang="en-US" sz="1300" b="1" dirty="0" err="1">
                <a:solidFill>
                  <a:schemeClr val="bg1"/>
                </a:solidFill>
              </a:rPr>
              <a:t>да</a:t>
            </a:r>
            <a:r>
              <a:rPr lang="en-US" sz="1300" b="1" dirty="0">
                <a:solidFill>
                  <a:schemeClr val="bg1"/>
                </a:solidFill>
              </a:rPr>
              <a:t> </a:t>
            </a:r>
            <a:r>
              <a:rPr lang="en-US" sz="1300" b="1" dirty="0" err="1">
                <a:solidFill>
                  <a:schemeClr val="bg1"/>
                </a:solidFill>
              </a:rPr>
              <a:t>вземеш</a:t>
            </a:r>
            <a:r>
              <a:rPr lang="en-US" sz="1300" b="1" dirty="0">
                <a:solidFill>
                  <a:schemeClr val="bg1"/>
                </a:solidFill>
              </a:rPr>
              <a:t> </a:t>
            </a:r>
            <a:r>
              <a:rPr lang="en-US" sz="1300" b="1" dirty="0" err="1">
                <a:solidFill>
                  <a:schemeClr val="bg1"/>
                </a:solidFill>
              </a:rPr>
              <a:t>решение</a:t>
            </a:r>
            <a:r>
              <a:rPr lang="en-US" sz="1300" b="1" dirty="0">
                <a:solidFill>
                  <a:schemeClr val="bg1"/>
                </a:solidFill>
              </a:rPr>
              <a:t>? </a:t>
            </a:r>
            <a:r>
              <a:rPr lang="en-US" sz="1300" b="1" dirty="0" err="1">
                <a:solidFill>
                  <a:schemeClr val="bg1"/>
                </a:solidFill>
              </a:rPr>
              <a:t>За</a:t>
            </a:r>
            <a:r>
              <a:rPr lang="en-US" sz="1300" b="1" dirty="0">
                <a:solidFill>
                  <a:schemeClr val="bg1"/>
                </a:solidFill>
              </a:rPr>
              <a:t> </a:t>
            </a:r>
            <a:r>
              <a:rPr lang="en-US" sz="1300" b="1" dirty="0" err="1">
                <a:solidFill>
                  <a:schemeClr val="bg1"/>
                </a:solidFill>
              </a:rPr>
              <a:t>всякакви</a:t>
            </a:r>
            <a:r>
              <a:rPr lang="en-US" sz="1300" b="1" dirty="0">
                <a:solidFill>
                  <a:schemeClr val="bg1"/>
                </a:solidFill>
              </a:rPr>
              <a:t> </a:t>
            </a:r>
            <a:r>
              <a:rPr lang="en-US" sz="1300" b="1" dirty="0" err="1">
                <a:solidFill>
                  <a:schemeClr val="bg1"/>
                </a:solidFill>
              </a:rPr>
              <a:t>въпроси</a:t>
            </a:r>
            <a:r>
              <a:rPr lang="en-US" sz="1300" b="1" dirty="0">
                <a:solidFill>
                  <a:schemeClr val="bg1"/>
                </a:solidFill>
              </a:rPr>
              <a:t> </a:t>
            </a:r>
            <a:r>
              <a:rPr lang="en-US" sz="1300" b="1" dirty="0" err="1">
                <a:solidFill>
                  <a:schemeClr val="bg1"/>
                </a:solidFill>
              </a:rPr>
              <a:t>съм</a:t>
            </a:r>
            <a:r>
              <a:rPr lang="en-US" sz="1300" b="1" dirty="0">
                <a:solidFill>
                  <a:schemeClr val="bg1"/>
                </a:solidFill>
              </a:rPr>
              <a:t> </a:t>
            </a:r>
            <a:r>
              <a:rPr lang="en-US" sz="1300" b="1" dirty="0" err="1">
                <a:solidFill>
                  <a:schemeClr val="bg1"/>
                </a:solidFill>
              </a:rPr>
              <a:t>насреща</a:t>
            </a:r>
            <a:r>
              <a:rPr lang="en-US" sz="1300" b="1" dirty="0">
                <a:solidFill>
                  <a:schemeClr val="bg1"/>
                </a:solidFill>
              </a:rPr>
              <a:t>. </a:t>
            </a:r>
            <a:r>
              <a:rPr lang="en-US" sz="1300" b="1" dirty="0" err="1">
                <a:solidFill>
                  <a:schemeClr val="bg1"/>
                </a:solidFill>
              </a:rPr>
              <a:t>Това</a:t>
            </a:r>
            <a:r>
              <a:rPr lang="en-US" sz="1300" b="1" dirty="0">
                <a:solidFill>
                  <a:schemeClr val="bg1"/>
                </a:solidFill>
              </a:rPr>
              <a:t> </a:t>
            </a:r>
            <a:r>
              <a:rPr lang="en-US" sz="1300" b="1" dirty="0" err="1">
                <a:solidFill>
                  <a:schemeClr val="bg1"/>
                </a:solidFill>
              </a:rPr>
              <a:t>предложение</a:t>
            </a:r>
            <a:r>
              <a:rPr lang="en-US" sz="1300" b="1" dirty="0">
                <a:solidFill>
                  <a:schemeClr val="bg1"/>
                </a:solidFill>
              </a:rPr>
              <a:t> </a:t>
            </a:r>
            <a:r>
              <a:rPr lang="en-US" sz="1300" b="1" dirty="0" err="1">
                <a:solidFill>
                  <a:schemeClr val="bg1"/>
                </a:solidFill>
              </a:rPr>
              <a:t>не</a:t>
            </a:r>
            <a:r>
              <a:rPr lang="en-US" sz="1300" b="1" dirty="0">
                <a:solidFill>
                  <a:schemeClr val="bg1"/>
                </a:solidFill>
              </a:rPr>
              <a:t> е </a:t>
            </a:r>
            <a:r>
              <a:rPr lang="en-US" sz="1300" b="1" dirty="0" err="1">
                <a:solidFill>
                  <a:schemeClr val="bg1"/>
                </a:solidFill>
              </a:rPr>
              <a:t>безсрочно</a:t>
            </a:r>
            <a:r>
              <a:rPr lang="en-US" sz="1300" b="1" dirty="0">
                <a:solidFill>
                  <a:schemeClr val="bg1"/>
                </a:solidFill>
              </a:rPr>
              <a:t>, </a:t>
            </a:r>
            <a:r>
              <a:rPr lang="en-US" sz="1300" b="1" dirty="0" err="1">
                <a:solidFill>
                  <a:schemeClr val="bg1"/>
                </a:solidFill>
              </a:rPr>
              <a:t>нека</a:t>
            </a:r>
            <a:r>
              <a:rPr lang="en-US" sz="1300" b="1" dirty="0">
                <a:solidFill>
                  <a:schemeClr val="bg1"/>
                </a:solidFill>
              </a:rPr>
              <a:t> </a:t>
            </a:r>
            <a:r>
              <a:rPr lang="en-US" sz="1300" b="1" dirty="0" err="1">
                <a:solidFill>
                  <a:schemeClr val="bg1"/>
                </a:solidFill>
              </a:rPr>
              <a:t>се</a:t>
            </a:r>
            <a:r>
              <a:rPr lang="en-US" sz="1300" b="1" dirty="0">
                <a:solidFill>
                  <a:schemeClr val="bg1"/>
                </a:solidFill>
              </a:rPr>
              <a:t> </a:t>
            </a:r>
            <a:r>
              <a:rPr lang="en-US" sz="1300" b="1" dirty="0" err="1">
                <a:solidFill>
                  <a:schemeClr val="bg1"/>
                </a:solidFill>
              </a:rPr>
              <a:t>чуем</a:t>
            </a:r>
            <a:r>
              <a:rPr lang="en-US" sz="1300" b="1" dirty="0">
                <a:solidFill>
                  <a:schemeClr val="bg1"/>
                </a:solidFill>
              </a:rPr>
              <a:t> </a:t>
            </a:r>
            <a:r>
              <a:rPr lang="en-US" sz="1300" b="1" dirty="0" err="1">
                <a:solidFill>
                  <a:schemeClr val="bg1"/>
                </a:solidFill>
              </a:rPr>
              <a:t>след</a:t>
            </a:r>
            <a:r>
              <a:rPr lang="en-US" sz="1300" b="1" dirty="0">
                <a:solidFill>
                  <a:schemeClr val="bg1"/>
                </a:solidFill>
              </a:rPr>
              <a:t> </a:t>
            </a:r>
            <a:r>
              <a:rPr lang="en-US" sz="1300" b="1" dirty="0" err="1">
                <a:solidFill>
                  <a:schemeClr val="bg1"/>
                </a:solidFill>
              </a:rPr>
              <a:t>седмица</a:t>
            </a:r>
            <a:r>
              <a:rPr lang="en-US" sz="1300" b="1" dirty="0">
                <a:solidFill>
                  <a:schemeClr val="bg1"/>
                </a:solidFill>
              </a:rPr>
              <a:t>.“</a:t>
            </a:r>
            <a:br>
              <a:rPr lang="en-US" sz="1300" b="1" dirty="0">
                <a:solidFill>
                  <a:schemeClr val="bg1"/>
                </a:solidFill>
              </a:rPr>
            </a:br>
            <a:r>
              <a:rPr lang="en-US" sz="1300" b="1" dirty="0">
                <a:solidFill>
                  <a:schemeClr val="bg1"/>
                </a:solidFill>
              </a:rPr>
              <a:t> </a:t>
            </a:r>
            <a:r>
              <a:rPr lang="en-US" sz="1300" i="1" dirty="0">
                <a:solidFill>
                  <a:schemeClr val="bg1"/>
                </a:solidFill>
              </a:rPr>
              <a:t>(</a:t>
            </a:r>
            <a:r>
              <a:rPr lang="en-US" sz="1300" i="1" dirty="0" err="1">
                <a:solidFill>
                  <a:schemeClr val="bg1"/>
                </a:solidFill>
              </a:rPr>
              <a:t>Усмихваме</a:t>
            </a:r>
            <a:r>
              <a:rPr lang="en-US" sz="1300" i="1" dirty="0">
                <a:solidFill>
                  <a:schemeClr val="bg1"/>
                </a:solidFill>
              </a:rPr>
              <a:t> </a:t>
            </a:r>
            <a:r>
              <a:rPr lang="en-US" sz="1300" i="1" dirty="0" err="1">
                <a:solidFill>
                  <a:schemeClr val="bg1"/>
                </a:solidFill>
              </a:rPr>
              <a:t>се</a:t>
            </a:r>
            <a:r>
              <a:rPr lang="en-US" sz="1300" i="1" dirty="0">
                <a:solidFill>
                  <a:schemeClr val="bg1"/>
                </a:solidFill>
              </a:rPr>
              <a:t>, </a:t>
            </a:r>
            <a:r>
              <a:rPr lang="en-US" sz="1300" i="1" dirty="0" err="1">
                <a:solidFill>
                  <a:schemeClr val="bg1"/>
                </a:solidFill>
              </a:rPr>
              <a:t>пожелаваме</a:t>
            </a:r>
            <a:r>
              <a:rPr lang="en-US" sz="1300" i="1" dirty="0">
                <a:solidFill>
                  <a:schemeClr val="bg1"/>
                </a:solidFill>
              </a:rPr>
              <a:t> </a:t>
            </a:r>
            <a:r>
              <a:rPr lang="en-US" sz="1300" i="1" dirty="0" err="1">
                <a:solidFill>
                  <a:schemeClr val="bg1"/>
                </a:solidFill>
              </a:rPr>
              <a:t>приятен</a:t>
            </a:r>
            <a:r>
              <a:rPr lang="en-US" sz="1300" i="1" dirty="0">
                <a:solidFill>
                  <a:schemeClr val="bg1"/>
                </a:solidFill>
              </a:rPr>
              <a:t> </a:t>
            </a:r>
            <a:r>
              <a:rPr lang="en-US" sz="1300" i="1" dirty="0" err="1">
                <a:solidFill>
                  <a:schemeClr val="bg1"/>
                </a:solidFill>
              </a:rPr>
              <a:t>ден</a:t>
            </a:r>
            <a:r>
              <a:rPr lang="en-US" sz="1300" i="1" dirty="0">
                <a:solidFill>
                  <a:schemeClr val="bg1"/>
                </a:solidFill>
              </a:rPr>
              <a:t> </a:t>
            </a:r>
            <a:r>
              <a:rPr lang="en-US" sz="1300" i="1" dirty="0" err="1">
                <a:solidFill>
                  <a:schemeClr val="bg1"/>
                </a:solidFill>
              </a:rPr>
              <a:t>на</a:t>
            </a:r>
            <a:r>
              <a:rPr lang="en-US" sz="1300" i="1" dirty="0">
                <a:solidFill>
                  <a:schemeClr val="bg1"/>
                </a:solidFill>
              </a:rPr>
              <a:t> </a:t>
            </a:r>
            <a:r>
              <a:rPr lang="en-US" sz="1300" i="1" dirty="0" err="1">
                <a:solidFill>
                  <a:schemeClr val="bg1"/>
                </a:solidFill>
              </a:rPr>
              <a:t>клиента</a:t>
            </a:r>
            <a:r>
              <a:rPr lang="en-US" sz="1300" i="1" dirty="0">
                <a:solidFill>
                  <a:schemeClr val="bg1"/>
                </a:solidFill>
              </a:rPr>
              <a:t>, </a:t>
            </a:r>
            <a:r>
              <a:rPr lang="en-US" sz="1300" i="1" dirty="0" err="1">
                <a:solidFill>
                  <a:schemeClr val="bg1"/>
                </a:solidFill>
              </a:rPr>
              <a:t>даваме</a:t>
            </a:r>
            <a:r>
              <a:rPr lang="en-US" sz="1300" i="1" dirty="0">
                <a:solidFill>
                  <a:schemeClr val="bg1"/>
                </a:solidFill>
              </a:rPr>
              <a:t> </a:t>
            </a:r>
            <a:r>
              <a:rPr lang="en-US" sz="1300" i="1" dirty="0" err="1">
                <a:solidFill>
                  <a:schemeClr val="bg1"/>
                </a:solidFill>
              </a:rPr>
              <a:t>му</a:t>
            </a:r>
            <a:r>
              <a:rPr lang="en-US" sz="1300" i="1" dirty="0">
                <a:solidFill>
                  <a:schemeClr val="bg1"/>
                </a:solidFill>
              </a:rPr>
              <a:t> </a:t>
            </a:r>
            <a:r>
              <a:rPr lang="en-US" sz="1300" i="1" dirty="0" err="1">
                <a:solidFill>
                  <a:schemeClr val="bg1"/>
                </a:solidFill>
              </a:rPr>
              <a:t>визитка</a:t>
            </a:r>
            <a:r>
              <a:rPr lang="en-US" sz="1300" i="1" dirty="0">
                <a:solidFill>
                  <a:schemeClr val="bg1"/>
                </a:solidFill>
              </a:rPr>
              <a:t> и </a:t>
            </a:r>
            <a:r>
              <a:rPr lang="en-US" sz="1300" i="1" dirty="0" err="1">
                <a:solidFill>
                  <a:schemeClr val="bg1"/>
                </a:solidFill>
              </a:rPr>
              <a:t>си</a:t>
            </a:r>
            <a:r>
              <a:rPr lang="en-US" sz="1300" i="1" dirty="0">
                <a:solidFill>
                  <a:schemeClr val="bg1"/>
                </a:solidFill>
              </a:rPr>
              <a:t> </a:t>
            </a:r>
            <a:r>
              <a:rPr lang="en-US" sz="1300" i="1" dirty="0" err="1">
                <a:solidFill>
                  <a:schemeClr val="bg1"/>
                </a:solidFill>
              </a:rPr>
              <a:t>записваме</a:t>
            </a:r>
            <a:r>
              <a:rPr lang="en-US" sz="1300" i="1" dirty="0">
                <a:solidFill>
                  <a:schemeClr val="bg1"/>
                </a:solidFill>
              </a:rPr>
              <a:t> в </a:t>
            </a:r>
            <a:r>
              <a:rPr lang="en-US" sz="1300" i="1" dirty="0" err="1">
                <a:solidFill>
                  <a:schemeClr val="bg1"/>
                </a:solidFill>
              </a:rPr>
              <a:t>тефтера</a:t>
            </a:r>
            <a:r>
              <a:rPr lang="en-US" sz="1300" i="1" dirty="0">
                <a:solidFill>
                  <a:schemeClr val="bg1"/>
                </a:solidFill>
              </a:rPr>
              <a:t> </a:t>
            </a:r>
            <a:r>
              <a:rPr lang="en-US" sz="1300" i="1" dirty="0" err="1">
                <a:solidFill>
                  <a:schemeClr val="bg1"/>
                </a:solidFill>
              </a:rPr>
              <a:t>за</a:t>
            </a:r>
            <a:r>
              <a:rPr lang="en-US" sz="1300" i="1" dirty="0">
                <a:solidFill>
                  <a:schemeClr val="bg1"/>
                </a:solidFill>
              </a:rPr>
              <a:t> </a:t>
            </a:r>
            <a:r>
              <a:rPr lang="en-US" sz="1300" i="1" dirty="0" err="1">
                <a:solidFill>
                  <a:schemeClr val="bg1"/>
                </a:solidFill>
              </a:rPr>
              <a:t>повторно</a:t>
            </a:r>
            <a:r>
              <a:rPr lang="en-US" sz="1300" i="1" dirty="0">
                <a:solidFill>
                  <a:schemeClr val="bg1"/>
                </a:solidFill>
              </a:rPr>
              <a:t> </a:t>
            </a:r>
            <a:r>
              <a:rPr lang="en-US" sz="1300" i="1" dirty="0" err="1">
                <a:solidFill>
                  <a:schemeClr val="bg1"/>
                </a:solidFill>
              </a:rPr>
              <a:t>обаждане</a:t>
            </a:r>
            <a:r>
              <a:rPr lang="en-US" sz="1300" i="1" dirty="0">
                <a:solidFill>
                  <a:schemeClr val="bg1"/>
                </a:solidFill>
              </a:rPr>
              <a:t>.)</a:t>
            </a:r>
            <a:r>
              <a:rPr lang="en-US" sz="1300" dirty="0">
                <a:solidFill>
                  <a:schemeClr val="bg1"/>
                </a:solidFill>
              </a:rPr>
              <a:t> </a:t>
            </a:r>
          </a:p>
          <a:p>
            <a:endParaRPr lang="az-Cyrl-AZ" sz="1200" dirty="0">
              <a:solidFill>
                <a:schemeClr val="bg1"/>
              </a:solidFill>
            </a:endParaRPr>
          </a:p>
        </p:txBody>
      </p:sp>
      <p:sp>
        <p:nvSpPr>
          <p:cNvPr id="9" name="Rectangle: Rounded Corners 8">
            <a:extLst>
              <a:ext uri="{FF2B5EF4-FFF2-40B4-BE49-F238E27FC236}">
                <a16:creationId xmlns:a16="http://schemas.microsoft.com/office/drawing/2014/main" id="{E49D18AB-47F8-A858-A163-609F63C3E990}"/>
              </a:ext>
            </a:extLst>
          </p:cNvPr>
          <p:cNvSpPr/>
          <p:nvPr/>
        </p:nvSpPr>
        <p:spPr>
          <a:xfrm>
            <a:off x="5210250" y="5036341"/>
            <a:ext cx="6831074" cy="1304944"/>
          </a:xfrm>
          <a:prstGeom prst="roundRect">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r>
              <a:rPr lang="en-US" sz="1300" b="1" dirty="0" err="1">
                <a:solidFill>
                  <a:schemeClr val="bg1"/>
                </a:solidFill>
              </a:rPr>
              <a:t>Ако</a:t>
            </a:r>
            <a:r>
              <a:rPr lang="en-US" sz="1300" b="1" dirty="0">
                <a:solidFill>
                  <a:schemeClr val="bg1"/>
                </a:solidFill>
              </a:rPr>
              <a:t> </a:t>
            </a:r>
            <a:r>
              <a:rPr lang="en-US" sz="1300" b="1" dirty="0" err="1">
                <a:solidFill>
                  <a:schemeClr val="bg1"/>
                </a:solidFill>
              </a:rPr>
              <a:t>клиентът</a:t>
            </a:r>
            <a:r>
              <a:rPr lang="en-US" sz="1300" b="1" dirty="0">
                <a:solidFill>
                  <a:schemeClr val="bg1"/>
                </a:solidFill>
              </a:rPr>
              <a:t> е </a:t>
            </a:r>
            <a:r>
              <a:rPr lang="en-US" sz="1300" b="1" dirty="0" err="1">
                <a:solidFill>
                  <a:schemeClr val="bg1"/>
                </a:solidFill>
              </a:rPr>
              <a:t>взел</a:t>
            </a:r>
            <a:r>
              <a:rPr lang="en-US" sz="1300" b="1" dirty="0">
                <a:solidFill>
                  <a:schemeClr val="bg1"/>
                </a:solidFill>
              </a:rPr>
              <a:t> </a:t>
            </a:r>
            <a:r>
              <a:rPr lang="en-US" sz="1300" b="1" dirty="0" err="1">
                <a:solidFill>
                  <a:schemeClr val="bg1"/>
                </a:solidFill>
              </a:rPr>
              <a:t>решение</a:t>
            </a:r>
            <a:r>
              <a:rPr lang="en-US" sz="1300" b="1" dirty="0">
                <a:solidFill>
                  <a:schemeClr val="bg1"/>
                </a:solidFill>
              </a:rPr>
              <a:t> и </a:t>
            </a:r>
            <a:r>
              <a:rPr lang="en-US" sz="1300" b="1" dirty="0" err="1">
                <a:solidFill>
                  <a:schemeClr val="bg1"/>
                </a:solidFill>
              </a:rPr>
              <a:t>иска</a:t>
            </a:r>
            <a:r>
              <a:rPr lang="en-US" sz="1300" b="1" dirty="0">
                <a:solidFill>
                  <a:schemeClr val="bg1"/>
                </a:solidFill>
              </a:rPr>
              <a:t> </a:t>
            </a:r>
            <a:r>
              <a:rPr lang="en-US" sz="1300" b="1" dirty="0" err="1">
                <a:solidFill>
                  <a:schemeClr val="bg1"/>
                </a:solidFill>
              </a:rPr>
              <a:t>да</a:t>
            </a:r>
            <a:r>
              <a:rPr lang="en-US" sz="1300" b="1" dirty="0">
                <a:solidFill>
                  <a:schemeClr val="bg1"/>
                </a:solidFill>
              </a:rPr>
              <a:t> </a:t>
            </a:r>
            <a:r>
              <a:rPr lang="en-US" sz="1300" b="1" dirty="0" err="1">
                <a:solidFill>
                  <a:schemeClr val="bg1"/>
                </a:solidFill>
              </a:rPr>
              <a:t>се</a:t>
            </a:r>
            <a:r>
              <a:rPr lang="en-US" sz="1300" b="1" dirty="0">
                <a:solidFill>
                  <a:schemeClr val="bg1"/>
                </a:solidFill>
              </a:rPr>
              <a:t> </a:t>
            </a:r>
            <a:r>
              <a:rPr lang="en-US" sz="1300" b="1" dirty="0" err="1">
                <a:solidFill>
                  <a:schemeClr val="bg1"/>
                </a:solidFill>
              </a:rPr>
              <a:t>възползва</a:t>
            </a:r>
            <a:r>
              <a:rPr lang="en-US" sz="1300" b="1" dirty="0">
                <a:solidFill>
                  <a:schemeClr val="bg1"/>
                </a:solidFill>
              </a:rPr>
              <a:t> </a:t>
            </a:r>
            <a:r>
              <a:rPr lang="en-US" sz="1300" b="1" dirty="0" err="1">
                <a:solidFill>
                  <a:schemeClr val="bg1"/>
                </a:solidFill>
              </a:rPr>
              <a:t>от</a:t>
            </a:r>
            <a:r>
              <a:rPr lang="en-US" sz="1300" b="1" dirty="0">
                <a:solidFill>
                  <a:schemeClr val="bg1"/>
                </a:solidFill>
              </a:rPr>
              <a:t> </a:t>
            </a:r>
            <a:r>
              <a:rPr lang="en-US" sz="1300" b="1" dirty="0" err="1">
                <a:solidFill>
                  <a:schemeClr val="bg1"/>
                </a:solidFill>
              </a:rPr>
              <a:t>предложението</a:t>
            </a:r>
            <a:r>
              <a:rPr lang="en-US" sz="1300" b="1" dirty="0">
                <a:solidFill>
                  <a:schemeClr val="bg1"/>
                </a:solidFill>
              </a:rPr>
              <a:t>:</a:t>
            </a:r>
            <a:br>
              <a:rPr lang="en-US" sz="1300" b="1" dirty="0">
                <a:solidFill>
                  <a:schemeClr val="bg1"/>
                </a:solidFill>
              </a:rPr>
            </a:br>
            <a:r>
              <a:rPr lang="en-US" sz="1300" b="1" dirty="0">
                <a:solidFill>
                  <a:schemeClr val="bg1"/>
                </a:solidFill>
              </a:rPr>
              <a:t> К: „</a:t>
            </a:r>
            <a:r>
              <a:rPr lang="en-US" sz="1300" b="1" dirty="0" err="1">
                <a:solidFill>
                  <a:schemeClr val="bg1"/>
                </a:solidFill>
              </a:rPr>
              <a:t>Да</a:t>
            </a:r>
            <a:r>
              <a:rPr lang="en-US" sz="1300" b="1" dirty="0">
                <a:solidFill>
                  <a:schemeClr val="bg1"/>
                </a:solidFill>
              </a:rPr>
              <a:t>, </a:t>
            </a:r>
            <a:r>
              <a:rPr lang="en-US" sz="1300" b="1" dirty="0" err="1">
                <a:solidFill>
                  <a:schemeClr val="bg1"/>
                </a:solidFill>
              </a:rPr>
              <a:t>добре</a:t>
            </a:r>
            <a:r>
              <a:rPr lang="en-US" sz="1300" b="1" dirty="0">
                <a:solidFill>
                  <a:schemeClr val="bg1"/>
                </a:solidFill>
              </a:rPr>
              <a:t> / </a:t>
            </a:r>
            <a:r>
              <a:rPr lang="en-US" sz="1300" b="1" dirty="0" err="1">
                <a:solidFill>
                  <a:schemeClr val="bg1"/>
                </a:solidFill>
              </a:rPr>
              <a:t>Съгласен</a:t>
            </a:r>
            <a:r>
              <a:rPr lang="en-US" sz="1300" b="1" dirty="0">
                <a:solidFill>
                  <a:schemeClr val="bg1"/>
                </a:solidFill>
              </a:rPr>
              <a:t> </a:t>
            </a:r>
            <a:r>
              <a:rPr lang="en-US" sz="1300" b="1" dirty="0" err="1">
                <a:solidFill>
                  <a:schemeClr val="bg1"/>
                </a:solidFill>
              </a:rPr>
              <a:t>съм</a:t>
            </a:r>
            <a:r>
              <a:rPr lang="en-US" sz="1300" b="1" dirty="0">
                <a:solidFill>
                  <a:schemeClr val="bg1"/>
                </a:solidFill>
              </a:rPr>
              <a:t>“ </a:t>
            </a:r>
            <a:endParaRPr lang="en-US" sz="1300" dirty="0">
              <a:solidFill>
                <a:schemeClr val="bg1"/>
              </a:solidFill>
            </a:endParaRPr>
          </a:p>
          <a:p>
            <a:r>
              <a:rPr lang="en-US" sz="1300" dirty="0">
                <a:solidFill>
                  <a:schemeClr val="bg1"/>
                </a:solidFill>
              </a:rPr>
              <a:t>КК: „</a:t>
            </a:r>
            <a:r>
              <a:rPr lang="en-US" sz="1300" dirty="0" err="1">
                <a:solidFill>
                  <a:schemeClr val="bg1"/>
                </a:solidFill>
              </a:rPr>
              <a:t>Това</a:t>
            </a:r>
            <a:r>
              <a:rPr lang="en-US" sz="1300" dirty="0">
                <a:solidFill>
                  <a:schemeClr val="bg1"/>
                </a:solidFill>
              </a:rPr>
              <a:t>, </a:t>
            </a:r>
            <a:r>
              <a:rPr lang="en-US" sz="1300" dirty="0" err="1">
                <a:solidFill>
                  <a:schemeClr val="bg1"/>
                </a:solidFill>
              </a:rPr>
              <a:t>което</a:t>
            </a:r>
            <a:r>
              <a:rPr lang="en-US" sz="1300" dirty="0">
                <a:solidFill>
                  <a:schemeClr val="bg1"/>
                </a:solidFill>
              </a:rPr>
              <a:t> </a:t>
            </a:r>
            <a:r>
              <a:rPr lang="en-US" sz="1300" dirty="0" err="1">
                <a:solidFill>
                  <a:schemeClr val="bg1"/>
                </a:solidFill>
              </a:rPr>
              <a:t>мога</a:t>
            </a:r>
            <a:r>
              <a:rPr lang="en-US" sz="1300" dirty="0">
                <a:solidFill>
                  <a:schemeClr val="bg1"/>
                </a:solidFill>
              </a:rPr>
              <a:t> </a:t>
            </a:r>
            <a:r>
              <a:rPr lang="en-US" sz="1300" dirty="0" err="1">
                <a:solidFill>
                  <a:schemeClr val="bg1"/>
                </a:solidFill>
              </a:rPr>
              <a:t>да</a:t>
            </a:r>
            <a:r>
              <a:rPr lang="en-US" sz="1300" dirty="0">
                <a:solidFill>
                  <a:schemeClr val="bg1"/>
                </a:solidFill>
              </a:rPr>
              <a:t> </a:t>
            </a:r>
            <a:r>
              <a:rPr lang="en-US" sz="1300" dirty="0" err="1">
                <a:solidFill>
                  <a:schemeClr val="bg1"/>
                </a:solidFill>
              </a:rPr>
              <a:t>направя</a:t>
            </a:r>
            <a:r>
              <a:rPr lang="en-US" sz="1300" dirty="0">
                <a:solidFill>
                  <a:schemeClr val="bg1"/>
                </a:solidFill>
              </a:rPr>
              <a:t> </a:t>
            </a:r>
            <a:r>
              <a:rPr lang="en-US" sz="1300" dirty="0" err="1">
                <a:solidFill>
                  <a:schemeClr val="bg1"/>
                </a:solidFill>
              </a:rPr>
              <a:t>за</a:t>
            </a:r>
            <a:r>
              <a:rPr lang="en-US" sz="1300" dirty="0">
                <a:solidFill>
                  <a:schemeClr val="bg1"/>
                </a:solidFill>
              </a:rPr>
              <a:t> </a:t>
            </a:r>
            <a:r>
              <a:rPr lang="en-US" sz="1300" dirty="0" err="1">
                <a:solidFill>
                  <a:schemeClr val="bg1"/>
                </a:solidFill>
              </a:rPr>
              <a:t>теб</a:t>
            </a:r>
            <a:r>
              <a:rPr lang="en-US" sz="1300" dirty="0">
                <a:solidFill>
                  <a:schemeClr val="bg1"/>
                </a:solidFill>
              </a:rPr>
              <a:t>, е </a:t>
            </a:r>
            <a:r>
              <a:rPr lang="en-US" sz="1300" dirty="0" err="1">
                <a:solidFill>
                  <a:schemeClr val="bg1"/>
                </a:solidFill>
              </a:rPr>
              <a:t>още</a:t>
            </a:r>
            <a:r>
              <a:rPr lang="en-US" sz="1300" dirty="0">
                <a:solidFill>
                  <a:schemeClr val="bg1"/>
                </a:solidFill>
              </a:rPr>
              <a:t> </a:t>
            </a:r>
            <a:r>
              <a:rPr lang="en-US" sz="1300" dirty="0" err="1">
                <a:solidFill>
                  <a:schemeClr val="bg1"/>
                </a:solidFill>
              </a:rPr>
              <a:t>сега</a:t>
            </a:r>
            <a:r>
              <a:rPr lang="en-US" sz="1300" dirty="0">
                <a:solidFill>
                  <a:schemeClr val="bg1"/>
                </a:solidFill>
              </a:rPr>
              <a:t> </a:t>
            </a:r>
            <a:r>
              <a:rPr lang="en-US" sz="1300" dirty="0" err="1">
                <a:solidFill>
                  <a:schemeClr val="bg1"/>
                </a:solidFill>
              </a:rPr>
              <a:t>да</a:t>
            </a:r>
            <a:r>
              <a:rPr lang="en-US" sz="1300" dirty="0">
                <a:solidFill>
                  <a:schemeClr val="bg1"/>
                </a:solidFill>
              </a:rPr>
              <a:t> </a:t>
            </a:r>
            <a:r>
              <a:rPr lang="en-US" sz="1300" dirty="0" err="1">
                <a:solidFill>
                  <a:schemeClr val="bg1"/>
                </a:solidFill>
              </a:rPr>
              <a:t>попълним</a:t>
            </a:r>
            <a:r>
              <a:rPr lang="en-US" sz="1300" dirty="0">
                <a:solidFill>
                  <a:schemeClr val="bg1"/>
                </a:solidFill>
              </a:rPr>
              <a:t> </a:t>
            </a:r>
            <a:r>
              <a:rPr lang="en-US" sz="1300" dirty="0" err="1">
                <a:solidFill>
                  <a:schemeClr val="bg1"/>
                </a:solidFill>
              </a:rPr>
              <a:t>предложението</a:t>
            </a:r>
            <a:r>
              <a:rPr lang="en-US" sz="1300" dirty="0">
                <a:solidFill>
                  <a:schemeClr val="bg1"/>
                </a:solidFill>
              </a:rPr>
              <a:t> и </a:t>
            </a:r>
            <a:r>
              <a:rPr lang="en-US" sz="1300" dirty="0" err="1">
                <a:solidFill>
                  <a:schemeClr val="bg1"/>
                </a:solidFill>
              </a:rPr>
              <a:t>да</a:t>
            </a:r>
            <a:r>
              <a:rPr lang="en-US" sz="1300" dirty="0">
                <a:solidFill>
                  <a:schemeClr val="bg1"/>
                </a:solidFill>
              </a:rPr>
              <a:t> </a:t>
            </a:r>
            <a:r>
              <a:rPr lang="en-US" sz="1300" dirty="0" err="1">
                <a:solidFill>
                  <a:schemeClr val="bg1"/>
                </a:solidFill>
              </a:rPr>
              <a:t>уточним</a:t>
            </a:r>
            <a:r>
              <a:rPr lang="en-US" sz="1300" dirty="0">
                <a:solidFill>
                  <a:schemeClr val="bg1"/>
                </a:solidFill>
              </a:rPr>
              <a:t> </a:t>
            </a:r>
            <a:r>
              <a:rPr lang="en-US" sz="1300" dirty="0" err="1">
                <a:solidFill>
                  <a:schemeClr val="bg1"/>
                </a:solidFill>
              </a:rPr>
              <a:t>допълнителните</a:t>
            </a:r>
            <a:r>
              <a:rPr lang="en-US" sz="1300" dirty="0">
                <a:solidFill>
                  <a:schemeClr val="bg1"/>
                </a:solidFill>
              </a:rPr>
              <a:t> </a:t>
            </a:r>
            <a:r>
              <a:rPr lang="en-US" sz="1300" dirty="0" err="1">
                <a:solidFill>
                  <a:schemeClr val="bg1"/>
                </a:solidFill>
              </a:rPr>
              <a:t>детайли</a:t>
            </a:r>
            <a:r>
              <a:rPr lang="en-US" sz="1300" dirty="0">
                <a:solidFill>
                  <a:schemeClr val="bg1"/>
                </a:solidFill>
              </a:rPr>
              <a:t> </a:t>
            </a:r>
            <a:r>
              <a:rPr lang="en-US" sz="1300" dirty="0" err="1">
                <a:solidFill>
                  <a:schemeClr val="bg1"/>
                </a:solidFill>
              </a:rPr>
              <a:t>по</a:t>
            </a:r>
            <a:r>
              <a:rPr lang="en-US" sz="1300" dirty="0">
                <a:solidFill>
                  <a:schemeClr val="bg1"/>
                </a:solidFill>
              </a:rPr>
              <a:t> </a:t>
            </a:r>
            <a:r>
              <a:rPr lang="en-US" sz="1300" dirty="0" err="1">
                <a:solidFill>
                  <a:schemeClr val="bg1"/>
                </a:solidFill>
              </a:rPr>
              <a:t>кредита</a:t>
            </a:r>
            <a:r>
              <a:rPr lang="en-US" sz="1300" dirty="0">
                <a:solidFill>
                  <a:schemeClr val="bg1"/>
                </a:solidFill>
              </a:rPr>
              <a:t>. </a:t>
            </a:r>
            <a:r>
              <a:rPr lang="en-US" sz="1300" dirty="0" err="1">
                <a:solidFill>
                  <a:schemeClr val="bg1"/>
                </a:solidFill>
              </a:rPr>
              <a:t>Моля</a:t>
            </a:r>
            <a:r>
              <a:rPr lang="en-US" sz="1300" dirty="0">
                <a:solidFill>
                  <a:schemeClr val="bg1"/>
                </a:solidFill>
              </a:rPr>
              <a:t> </a:t>
            </a:r>
            <a:r>
              <a:rPr lang="en-US" sz="1300" dirty="0" err="1">
                <a:solidFill>
                  <a:schemeClr val="bg1"/>
                </a:solidFill>
              </a:rPr>
              <a:t>само</a:t>
            </a:r>
            <a:r>
              <a:rPr lang="en-US" sz="1300" dirty="0">
                <a:solidFill>
                  <a:schemeClr val="bg1"/>
                </a:solidFill>
              </a:rPr>
              <a:t> </a:t>
            </a:r>
            <a:r>
              <a:rPr lang="en-US" sz="1300" dirty="0" err="1">
                <a:solidFill>
                  <a:schemeClr val="bg1"/>
                </a:solidFill>
              </a:rPr>
              <a:t>да</a:t>
            </a:r>
            <a:r>
              <a:rPr lang="en-US" sz="1300" dirty="0">
                <a:solidFill>
                  <a:schemeClr val="bg1"/>
                </a:solidFill>
              </a:rPr>
              <a:t> </a:t>
            </a:r>
            <a:r>
              <a:rPr lang="en-US" sz="1300" dirty="0" err="1">
                <a:solidFill>
                  <a:schemeClr val="bg1"/>
                </a:solidFill>
              </a:rPr>
              <a:t>направим</a:t>
            </a:r>
            <a:r>
              <a:rPr lang="en-US" sz="1300" dirty="0">
                <a:solidFill>
                  <a:schemeClr val="bg1"/>
                </a:solidFill>
              </a:rPr>
              <a:t> </a:t>
            </a:r>
            <a:r>
              <a:rPr lang="en-US" sz="1300" dirty="0" err="1">
                <a:solidFill>
                  <a:schemeClr val="bg1"/>
                </a:solidFill>
              </a:rPr>
              <a:t>копие</a:t>
            </a:r>
            <a:r>
              <a:rPr lang="en-US" sz="1300" dirty="0">
                <a:solidFill>
                  <a:schemeClr val="bg1"/>
                </a:solidFill>
              </a:rPr>
              <a:t> </a:t>
            </a:r>
            <a:r>
              <a:rPr lang="en-US" sz="1300" dirty="0" err="1">
                <a:solidFill>
                  <a:schemeClr val="bg1"/>
                </a:solidFill>
              </a:rPr>
              <a:t>на</a:t>
            </a:r>
            <a:r>
              <a:rPr lang="en-US" sz="1300" dirty="0">
                <a:solidFill>
                  <a:schemeClr val="bg1"/>
                </a:solidFill>
              </a:rPr>
              <a:t> </a:t>
            </a:r>
            <a:r>
              <a:rPr lang="en-US" sz="1300" dirty="0" err="1">
                <a:solidFill>
                  <a:schemeClr val="bg1"/>
                </a:solidFill>
              </a:rPr>
              <a:t>личната</a:t>
            </a:r>
            <a:r>
              <a:rPr lang="en-US" sz="1300" dirty="0">
                <a:solidFill>
                  <a:schemeClr val="bg1"/>
                </a:solidFill>
              </a:rPr>
              <a:t> </a:t>
            </a:r>
            <a:r>
              <a:rPr lang="en-US" sz="1300" dirty="0" err="1">
                <a:solidFill>
                  <a:schemeClr val="bg1"/>
                </a:solidFill>
              </a:rPr>
              <a:t>ти</a:t>
            </a:r>
            <a:r>
              <a:rPr lang="en-US" sz="1300" dirty="0">
                <a:solidFill>
                  <a:schemeClr val="bg1"/>
                </a:solidFill>
              </a:rPr>
              <a:t> </a:t>
            </a:r>
            <a:r>
              <a:rPr lang="en-US" sz="1300" dirty="0" err="1">
                <a:solidFill>
                  <a:schemeClr val="bg1"/>
                </a:solidFill>
              </a:rPr>
              <a:t>карта</a:t>
            </a:r>
            <a:r>
              <a:rPr lang="en-US" sz="1300" dirty="0">
                <a:solidFill>
                  <a:schemeClr val="bg1"/>
                </a:solidFill>
              </a:rPr>
              <a:t>. </a:t>
            </a:r>
            <a:r>
              <a:rPr lang="en-US" sz="1300" dirty="0" err="1">
                <a:solidFill>
                  <a:schemeClr val="bg1"/>
                </a:solidFill>
              </a:rPr>
              <a:t>Благодаря</a:t>
            </a:r>
            <a:r>
              <a:rPr lang="en-US" sz="1300" dirty="0">
                <a:solidFill>
                  <a:schemeClr val="bg1"/>
                </a:solidFill>
              </a:rPr>
              <a:t>!“ </a:t>
            </a:r>
          </a:p>
        </p:txBody>
      </p:sp>
      <p:sp>
        <p:nvSpPr>
          <p:cNvPr id="11" name="Rectangle: Rounded Corners 10">
            <a:extLst>
              <a:ext uri="{FF2B5EF4-FFF2-40B4-BE49-F238E27FC236}">
                <a16:creationId xmlns:a16="http://schemas.microsoft.com/office/drawing/2014/main" id="{5248023A-07FE-DB2B-6BAB-7778DF556930}"/>
              </a:ext>
            </a:extLst>
          </p:cNvPr>
          <p:cNvSpPr/>
          <p:nvPr/>
        </p:nvSpPr>
        <p:spPr>
          <a:xfrm>
            <a:off x="5210250" y="6440403"/>
            <a:ext cx="6831075" cy="595159"/>
          </a:xfrm>
          <a:prstGeom prst="roundRect">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r>
              <a:rPr lang="en-US" sz="1300" b="1" dirty="0" err="1">
                <a:solidFill>
                  <a:schemeClr val="bg1"/>
                </a:solidFill>
              </a:rPr>
              <a:t>Финализиране</a:t>
            </a:r>
            <a:r>
              <a:rPr lang="en-US" sz="1300" b="1" dirty="0">
                <a:solidFill>
                  <a:schemeClr val="bg1"/>
                </a:solidFill>
              </a:rPr>
              <a:t> </a:t>
            </a:r>
            <a:r>
              <a:rPr lang="en-US" sz="1300" b="1" dirty="0" err="1">
                <a:solidFill>
                  <a:schemeClr val="bg1"/>
                </a:solidFill>
              </a:rPr>
              <a:t>на</a:t>
            </a:r>
            <a:r>
              <a:rPr lang="en-US" sz="1300" b="1" dirty="0">
                <a:solidFill>
                  <a:schemeClr val="bg1"/>
                </a:solidFill>
              </a:rPr>
              <a:t> </a:t>
            </a:r>
            <a:r>
              <a:rPr lang="en-US" sz="1300" b="1" dirty="0" err="1">
                <a:solidFill>
                  <a:schemeClr val="bg1"/>
                </a:solidFill>
              </a:rPr>
              <a:t>срещата</a:t>
            </a:r>
            <a:endParaRPr lang="en-US" sz="1300" dirty="0">
              <a:solidFill>
                <a:schemeClr val="bg1"/>
              </a:solidFill>
            </a:endParaRPr>
          </a:p>
          <a:p>
            <a:r>
              <a:rPr lang="en-US" sz="1300" dirty="0">
                <a:solidFill>
                  <a:schemeClr val="bg1"/>
                </a:solidFill>
              </a:rPr>
              <a:t>КК: „</a:t>
            </a:r>
            <a:r>
              <a:rPr lang="en-US" sz="1300" dirty="0" err="1">
                <a:solidFill>
                  <a:schemeClr val="bg1"/>
                </a:solidFill>
              </a:rPr>
              <a:t>Благодаря</a:t>
            </a:r>
            <a:r>
              <a:rPr lang="en-US" sz="1300" dirty="0">
                <a:solidFill>
                  <a:schemeClr val="bg1"/>
                </a:solidFill>
              </a:rPr>
              <a:t> </a:t>
            </a:r>
            <a:r>
              <a:rPr lang="en-US" sz="1300" dirty="0" err="1">
                <a:solidFill>
                  <a:schemeClr val="bg1"/>
                </a:solidFill>
              </a:rPr>
              <a:t>за</a:t>
            </a:r>
            <a:r>
              <a:rPr lang="en-US" sz="1300" dirty="0">
                <a:solidFill>
                  <a:schemeClr val="bg1"/>
                </a:solidFill>
              </a:rPr>
              <a:t> </a:t>
            </a:r>
            <a:r>
              <a:rPr lang="en-US" sz="1300" dirty="0" err="1">
                <a:solidFill>
                  <a:schemeClr val="bg1"/>
                </a:solidFill>
              </a:rPr>
              <a:t>доверието</a:t>
            </a:r>
            <a:r>
              <a:rPr lang="en-US" sz="1300" dirty="0">
                <a:solidFill>
                  <a:schemeClr val="bg1"/>
                </a:solidFill>
              </a:rPr>
              <a:t>, </a:t>
            </a:r>
            <a:r>
              <a:rPr lang="en-US" sz="1300" dirty="0" err="1">
                <a:solidFill>
                  <a:schemeClr val="bg1"/>
                </a:solidFill>
              </a:rPr>
              <a:t>винаги</a:t>
            </a:r>
            <a:r>
              <a:rPr lang="en-US" sz="1300" dirty="0">
                <a:solidFill>
                  <a:schemeClr val="bg1"/>
                </a:solidFill>
              </a:rPr>
              <a:t> </a:t>
            </a:r>
            <a:r>
              <a:rPr lang="en-US" sz="1300" dirty="0" err="1">
                <a:solidFill>
                  <a:schemeClr val="bg1"/>
                </a:solidFill>
              </a:rPr>
              <a:t>можеш</a:t>
            </a:r>
            <a:r>
              <a:rPr lang="en-US" sz="1300" dirty="0">
                <a:solidFill>
                  <a:schemeClr val="bg1"/>
                </a:solidFill>
              </a:rPr>
              <a:t> </a:t>
            </a:r>
            <a:r>
              <a:rPr lang="en-US" sz="1300" dirty="0" err="1">
                <a:solidFill>
                  <a:schemeClr val="bg1"/>
                </a:solidFill>
              </a:rPr>
              <a:t>да</a:t>
            </a:r>
            <a:r>
              <a:rPr lang="en-US" sz="1300" dirty="0">
                <a:solidFill>
                  <a:schemeClr val="bg1"/>
                </a:solidFill>
              </a:rPr>
              <a:t> </a:t>
            </a:r>
            <a:r>
              <a:rPr lang="en-US" sz="1300" dirty="0" err="1">
                <a:solidFill>
                  <a:schemeClr val="bg1"/>
                </a:solidFill>
              </a:rPr>
              <a:t>разчиташ</a:t>
            </a:r>
            <a:r>
              <a:rPr lang="en-US" sz="1300" dirty="0">
                <a:solidFill>
                  <a:schemeClr val="bg1"/>
                </a:solidFill>
              </a:rPr>
              <a:t> </a:t>
            </a:r>
            <a:r>
              <a:rPr lang="en-US" sz="1300" dirty="0" err="1">
                <a:solidFill>
                  <a:schemeClr val="bg1"/>
                </a:solidFill>
              </a:rPr>
              <a:t>на</a:t>
            </a:r>
            <a:r>
              <a:rPr lang="en-US" sz="1300" dirty="0">
                <a:solidFill>
                  <a:schemeClr val="bg1"/>
                </a:solidFill>
              </a:rPr>
              <a:t> </a:t>
            </a:r>
            <a:r>
              <a:rPr lang="en-US" sz="1300" dirty="0" err="1">
                <a:solidFill>
                  <a:schemeClr val="bg1"/>
                </a:solidFill>
              </a:rPr>
              <a:t>мен</a:t>
            </a:r>
            <a:r>
              <a:rPr lang="en-US" sz="1300" dirty="0">
                <a:solidFill>
                  <a:schemeClr val="bg1"/>
                </a:solidFill>
              </a:rPr>
              <a:t>!“</a:t>
            </a:r>
            <a:endParaRPr lang="en-US">
              <a:solidFill>
                <a:schemeClr val="bg1"/>
              </a:solidFill>
            </a:endParaRPr>
          </a:p>
        </p:txBody>
      </p:sp>
    </p:spTree>
    <p:extLst>
      <p:ext uri="{BB962C8B-B14F-4D97-AF65-F5344CB8AC3E}">
        <p14:creationId xmlns:p14="http://schemas.microsoft.com/office/powerpoint/2010/main" val="851434243"/>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B3EFB6-98C9-ACC9-3158-8E3030F31BB6}"/>
            </a:ext>
          </a:extLst>
        </p:cNvPr>
        <p:cNvGrpSpPr/>
        <p:nvPr/>
      </p:nvGrpSpPr>
      <p:grpSpPr>
        <a:xfrm>
          <a:off x="0" y="0"/>
          <a:ext cx="0" cy="0"/>
          <a:chOff x="0" y="0"/>
          <a:chExt cx="0" cy="0"/>
        </a:xfrm>
      </p:grpSpPr>
      <p:sp>
        <p:nvSpPr>
          <p:cNvPr id="18" name="Rectangle: Rounded Corners 17">
            <a:extLst>
              <a:ext uri="{FF2B5EF4-FFF2-40B4-BE49-F238E27FC236}">
                <a16:creationId xmlns:a16="http://schemas.microsoft.com/office/drawing/2014/main" id="{376EB592-7D9C-EAC9-DD0A-35D9279CDB35}"/>
              </a:ext>
            </a:extLst>
          </p:cNvPr>
          <p:cNvSpPr/>
          <p:nvPr/>
        </p:nvSpPr>
        <p:spPr>
          <a:xfrm>
            <a:off x="1896199" y="2037152"/>
            <a:ext cx="2871747" cy="767079"/>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ru-RU" sz="1600"/>
              <a:t>Настоящ клиент за нов кредит</a:t>
            </a:r>
            <a:endParaRPr lang="en-GB" sz="1600"/>
          </a:p>
        </p:txBody>
      </p:sp>
      <p:sp>
        <p:nvSpPr>
          <p:cNvPr id="19" name="Rectangle: Rounded Corners 18">
            <a:extLst>
              <a:ext uri="{FF2B5EF4-FFF2-40B4-BE49-F238E27FC236}">
                <a16:creationId xmlns:a16="http://schemas.microsoft.com/office/drawing/2014/main" id="{355DD460-25C4-D4BE-363F-804D58EDBCC1}"/>
              </a:ext>
            </a:extLst>
          </p:cNvPr>
          <p:cNvSpPr/>
          <p:nvPr/>
        </p:nvSpPr>
        <p:spPr>
          <a:xfrm>
            <a:off x="1896199" y="1147427"/>
            <a:ext cx="2871747" cy="767079"/>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Нов клиент в офис</a:t>
            </a:r>
            <a:endParaRPr lang="en-GB" sz="1600"/>
          </a:p>
        </p:txBody>
      </p:sp>
      <p:sp>
        <p:nvSpPr>
          <p:cNvPr id="25" name="Rectangle: Rounded Corners 24">
            <a:extLst>
              <a:ext uri="{FF2B5EF4-FFF2-40B4-BE49-F238E27FC236}">
                <a16:creationId xmlns:a16="http://schemas.microsoft.com/office/drawing/2014/main" id="{704CCF4D-D55B-60BC-9E19-2AB09DA8C232}"/>
              </a:ext>
            </a:extLst>
          </p:cNvPr>
          <p:cNvSpPr/>
          <p:nvPr/>
        </p:nvSpPr>
        <p:spPr>
          <a:xfrm>
            <a:off x="1896199" y="2926877"/>
            <a:ext cx="2871747" cy="767079"/>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Настоящ клиент за рефинансиране</a:t>
            </a:r>
            <a:endParaRPr lang="en-GB" sz="1600"/>
          </a:p>
        </p:txBody>
      </p:sp>
      <p:sp>
        <p:nvSpPr>
          <p:cNvPr id="26" name="Rectangle 11">
            <a:extLst>
              <a:ext uri="{FF2B5EF4-FFF2-40B4-BE49-F238E27FC236}">
                <a16:creationId xmlns:a16="http://schemas.microsoft.com/office/drawing/2014/main" id="{21999F10-24EA-47C4-2DCC-3C582EA2958B}"/>
              </a:ext>
            </a:extLst>
          </p:cNvPr>
          <p:cNvSpPr/>
          <p:nvPr/>
        </p:nvSpPr>
        <p:spPr>
          <a:xfrm>
            <a:off x="1896199" y="3816603"/>
            <a:ext cx="2871747" cy="767079"/>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Посещение на адрес</a:t>
            </a:r>
            <a:endParaRPr lang="en-GB" sz="1600"/>
          </a:p>
        </p:txBody>
      </p:sp>
      <p:sp>
        <p:nvSpPr>
          <p:cNvPr id="27" name="Rectangle 3">
            <a:extLst>
              <a:ext uri="{FF2B5EF4-FFF2-40B4-BE49-F238E27FC236}">
                <a16:creationId xmlns:a16="http://schemas.microsoft.com/office/drawing/2014/main" id="{18186162-3A1F-2F4F-65E3-C618DBDF1500}"/>
              </a:ext>
            </a:extLst>
          </p:cNvPr>
          <p:cNvSpPr/>
          <p:nvPr/>
        </p:nvSpPr>
        <p:spPr>
          <a:xfrm>
            <a:off x="1443475" y="4245"/>
            <a:ext cx="5338363" cy="677242"/>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28" name="Rectangle 4">
            <a:extLst>
              <a:ext uri="{FF2B5EF4-FFF2-40B4-BE49-F238E27FC236}">
                <a16:creationId xmlns:a16="http://schemas.microsoft.com/office/drawing/2014/main" id="{5350629C-350C-133C-69D8-B08B4C0B3E00}"/>
              </a:ext>
            </a:extLst>
          </p:cNvPr>
          <p:cNvSpPr/>
          <p:nvPr/>
        </p:nvSpPr>
        <p:spPr>
          <a:xfrm>
            <a:off x="6788435" y="4245"/>
            <a:ext cx="5417300" cy="677242"/>
          </a:xfrm>
          <a:prstGeom prst="rect">
            <a:avLst/>
          </a:prstGeom>
          <a:solidFill>
            <a:schemeClr val="accent1"/>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29" name="Rectangle 28">
            <a:extLst>
              <a:ext uri="{FF2B5EF4-FFF2-40B4-BE49-F238E27FC236}">
                <a16:creationId xmlns:a16="http://schemas.microsoft.com/office/drawing/2014/main" id="{567AB9F2-0160-840B-DE95-10D324E76DE3}"/>
              </a:ext>
            </a:extLst>
          </p:cNvPr>
          <p:cNvSpPr/>
          <p:nvPr/>
        </p:nvSpPr>
        <p:spPr>
          <a:xfrm>
            <a:off x="-1671" y="1599"/>
            <a:ext cx="1451167" cy="6866954"/>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200">
              <a:latin typeface="Aptos"/>
              <a:ea typeface="Calibri"/>
              <a:cs typeface="Calibri"/>
            </a:endParaRPr>
          </a:p>
        </p:txBody>
      </p:sp>
      <p:sp>
        <p:nvSpPr>
          <p:cNvPr id="30" name="Rectangle 29">
            <a:extLst>
              <a:ext uri="{FF2B5EF4-FFF2-40B4-BE49-F238E27FC236}">
                <a16:creationId xmlns:a16="http://schemas.microsoft.com/office/drawing/2014/main" id="{A42C1536-720D-9664-0BE2-6147D110D22A}"/>
              </a:ext>
            </a:extLst>
          </p:cNvPr>
          <p:cNvSpPr/>
          <p:nvPr/>
        </p:nvSpPr>
        <p:spPr>
          <a:xfrm>
            <a:off x="-1671" y="2528038"/>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Типове клиенти</a:t>
            </a:r>
            <a:endParaRPr lang="en-GB" sz="1400">
              <a:latin typeface="Aptos"/>
              <a:ea typeface="Calibri"/>
              <a:cs typeface="Calibri"/>
            </a:endParaRPr>
          </a:p>
        </p:txBody>
      </p:sp>
      <p:sp>
        <p:nvSpPr>
          <p:cNvPr id="31" name="Rectangle 30">
            <a:extLst>
              <a:ext uri="{FF2B5EF4-FFF2-40B4-BE49-F238E27FC236}">
                <a16:creationId xmlns:a16="http://schemas.microsoft.com/office/drawing/2014/main" id="{CACA789B-1396-451C-81BD-5C550D8E1A2F}"/>
              </a:ext>
            </a:extLst>
          </p:cNvPr>
          <p:cNvSpPr/>
          <p:nvPr/>
        </p:nvSpPr>
        <p:spPr>
          <a:xfrm>
            <a:off x="8626" y="1913210"/>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b="1">
                <a:solidFill>
                  <a:srgbClr val="2F5597"/>
                </a:solidFill>
                <a:latin typeface="Aptos"/>
                <a:ea typeface="Calibri"/>
                <a:cs typeface="Calibri"/>
              </a:rPr>
              <a:t>Сценарии</a:t>
            </a:r>
            <a:endParaRPr lang="en-GB" sz="1400" b="1">
              <a:solidFill>
                <a:srgbClr val="2F5597"/>
              </a:solidFill>
              <a:latin typeface="Aptos"/>
              <a:ea typeface="Calibri"/>
              <a:cs typeface="Calibri"/>
            </a:endParaRPr>
          </a:p>
        </p:txBody>
      </p:sp>
      <p:sp>
        <p:nvSpPr>
          <p:cNvPr id="32" name="Rectangle 31">
            <a:extLst>
              <a:ext uri="{FF2B5EF4-FFF2-40B4-BE49-F238E27FC236}">
                <a16:creationId xmlns:a16="http://schemas.microsoft.com/office/drawing/2014/main" id="{3B579C5A-27AB-E65E-EF10-D583696EA3FB}"/>
              </a:ext>
            </a:extLst>
          </p:cNvPr>
          <p:cNvSpPr/>
          <p:nvPr/>
        </p:nvSpPr>
        <p:spPr>
          <a:xfrm>
            <a:off x="-1671" y="1298382"/>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b="1">
                <a:solidFill>
                  <a:schemeClr val="bg1"/>
                </a:solidFill>
                <a:latin typeface="Aptos"/>
                <a:ea typeface="Calibri"/>
                <a:cs typeface="Calibri"/>
              </a:rPr>
              <a:t>Стъпки при среща</a:t>
            </a:r>
            <a:endParaRPr lang="bg-BG" sz="1400">
              <a:solidFill>
                <a:srgbClr val="000000"/>
              </a:solidFill>
              <a:latin typeface="Aptos"/>
              <a:ea typeface="Calibri"/>
              <a:cs typeface="Calibri"/>
            </a:endParaRPr>
          </a:p>
        </p:txBody>
      </p:sp>
      <p:sp>
        <p:nvSpPr>
          <p:cNvPr id="33" name="Rectangle 28">
            <a:extLst>
              <a:ext uri="{FF2B5EF4-FFF2-40B4-BE49-F238E27FC236}">
                <a16:creationId xmlns:a16="http://schemas.microsoft.com/office/drawing/2014/main" id="{0C41E93F-B3E6-4257-1E6E-8B2441F5E134}"/>
              </a:ext>
            </a:extLst>
          </p:cNvPr>
          <p:cNvSpPr/>
          <p:nvPr/>
        </p:nvSpPr>
        <p:spPr>
          <a:xfrm>
            <a:off x="6154" y="690328"/>
            <a:ext cx="1435083"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a:solidFill>
                  <a:schemeClr val="bg1"/>
                </a:solidFill>
                <a:latin typeface="Aptos"/>
                <a:ea typeface="Calibri"/>
                <a:cs typeface="Calibri"/>
              </a:rPr>
              <a:t>Подготовка</a:t>
            </a:r>
            <a:endParaRPr lang="en-GB" sz="1400">
              <a:solidFill>
                <a:schemeClr val="bg1"/>
              </a:solidFill>
              <a:latin typeface="Aptos"/>
              <a:ea typeface="Calibri"/>
              <a:cs typeface="Calibri"/>
            </a:endParaRPr>
          </a:p>
        </p:txBody>
      </p:sp>
      <p:pic>
        <p:nvPicPr>
          <p:cNvPr id="35" name="Picture 34">
            <a:extLst>
              <a:ext uri="{FF2B5EF4-FFF2-40B4-BE49-F238E27FC236}">
                <a16:creationId xmlns:a16="http://schemas.microsoft.com/office/drawing/2014/main" id="{92F1837E-412C-9E73-3278-A077FD163792}"/>
              </a:ext>
            </a:extLst>
          </p:cNvPr>
          <p:cNvPicPr>
            <a:picLocks noChangeAspect="1"/>
          </p:cNvPicPr>
          <p:nvPr/>
        </p:nvPicPr>
        <p:blipFill>
          <a:blip r:embed="rId2"/>
          <a:stretch>
            <a:fillRect/>
          </a:stretch>
        </p:blipFill>
        <p:spPr>
          <a:xfrm>
            <a:off x="11031388" y="5709427"/>
            <a:ext cx="982751" cy="995681"/>
          </a:xfrm>
          <a:prstGeom prst="rect">
            <a:avLst/>
          </a:prstGeom>
        </p:spPr>
      </p:pic>
      <p:sp>
        <p:nvSpPr>
          <p:cNvPr id="3" name="Овал 2">
            <a:extLst>
              <a:ext uri="{FF2B5EF4-FFF2-40B4-BE49-F238E27FC236}">
                <a16:creationId xmlns:a16="http://schemas.microsoft.com/office/drawing/2014/main" id="{66E1E3AA-8810-C90D-89C4-5AEADA9608C5}"/>
              </a:ext>
            </a:extLst>
          </p:cNvPr>
          <p:cNvSpPr/>
          <p:nvPr/>
        </p:nvSpPr>
        <p:spPr>
          <a:xfrm>
            <a:off x="16277461" y="1430065"/>
            <a:ext cx="177402" cy="159446"/>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20" name="Правоъгълник: със заоблени ъгли 16">
            <a:extLst>
              <a:ext uri="{FF2B5EF4-FFF2-40B4-BE49-F238E27FC236}">
                <a16:creationId xmlns:a16="http://schemas.microsoft.com/office/drawing/2014/main" id="{D26206F9-DD2F-320D-B18D-587701068924}"/>
              </a:ext>
            </a:extLst>
          </p:cNvPr>
          <p:cNvSpPr/>
          <p:nvPr/>
        </p:nvSpPr>
        <p:spPr>
          <a:xfrm>
            <a:off x="5294850" y="3553597"/>
            <a:ext cx="2013461" cy="519092"/>
          </a:xfrm>
          <a:prstGeom prst="roundRect">
            <a:avLst>
              <a:gd name="adj" fmla="val 50000"/>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Тренирай</a:t>
            </a:r>
          </a:p>
        </p:txBody>
      </p:sp>
      <p:sp>
        <p:nvSpPr>
          <p:cNvPr id="22" name="Rectangle: Rounded Corners 21">
            <a:extLst>
              <a:ext uri="{FF2B5EF4-FFF2-40B4-BE49-F238E27FC236}">
                <a16:creationId xmlns:a16="http://schemas.microsoft.com/office/drawing/2014/main" id="{E518767B-F1A7-814A-85FC-D4C561101459}"/>
              </a:ext>
            </a:extLst>
          </p:cNvPr>
          <p:cNvSpPr/>
          <p:nvPr/>
        </p:nvSpPr>
        <p:spPr>
          <a:xfrm>
            <a:off x="5375803" y="1552088"/>
            <a:ext cx="1841407" cy="467065"/>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600">
                <a:ea typeface="+mn-lt"/>
                <a:cs typeface="+mn-lt"/>
              </a:rPr>
              <a:t>Клиент влиза в Регионален офис</a:t>
            </a:r>
            <a:endParaRPr lang="en-US"/>
          </a:p>
        </p:txBody>
      </p:sp>
      <p:sp>
        <p:nvSpPr>
          <p:cNvPr id="39" name="Rectangle: Rounded Corners 1">
            <a:extLst>
              <a:ext uri="{FF2B5EF4-FFF2-40B4-BE49-F238E27FC236}">
                <a16:creationId xmlns:a16="http://schemas.microsoft.com/office/drawing/2014/main" id="{E49A09AB-1640-3952-1C5E-20918726EFCB}"/>
              </a:ext>
            </a:extLst>
          </p:cNvPr>
          <p:cNvSpPr/>
          <p:nvPr/>
        </p:nvSpPr>
        <p:spPr>
          <a:xfrm>
            <a:off x="7846395" y="1875905"/>
            <a:ext cx="3196027" cy="1667792"/>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600"/>
              <a:t>Видео</a:t>
            </a:r>
            <a:endParaRPr lang="en-GB" sz="1600"/>
          </a:p>
        </p:txBody>
      </p:sp>
    </p:spTree>
    <p:extLst>
      <p:ext uri="{BB962C8B-B14F-4D97-AF65-F5344CB8AC3E}">
        <p14:creationId xmlns:p14="http://schemas.microsoft.com/office/powerpoint/2010/main" val="1782396268"/>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46C76B-0694-30A9-D5D7-A4B45E7F8A32}"/>
            </a:ext>
          </a:extLst>
        </p:cNvPr>
        <p:cNvGrpSpPr/>
        <p:nvPr/>
      </p:nvGrpSpPr>
      <p:grpSpPr>
        <a:xfrm>
          <a:off x="0" y="0"/>
          <a:ext cx="0" cy="0"/>
          <a:chOff x="0" y="0"/>
          <a:chExt cx="0" cy="0"/>
        </a:xfrm>
      </p:grpSpPr>
      <p:sp>
        <p:nvSpPr>
          <p:cNvPr id="25" name="Rectangle 28">
            <a:extLst>
              <a:ext uri="{FF2B5EF4-FFF2-40B4-BE49-F238E27FC236}">
                <a16:creationId xmlns:a16="http://schemas.microsoft.com/office/drawing/2014/main" id="{9FCB53B0-8511-D4CD-FBFA-FAC3EF741513}"/>
              </a:ext>
            </a:extLst>
          </p:cNvPr>
          <p:cNvSpPr/>
          <p:nvPr/>
        </p:nvSpPr>
        <p:spPr>
          <a:xfrm>
            <a:off x="-15824" y="1599"/>
            <a:ext cx="1465320" cy="6859628"/>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400">
              <a:latin typeface="Aptos"/>
              <a:ea typeface="Calibri"/>
              <a:cs typeface="Calibri"/>
            </a:endParaRPr>
          </a:p>
        </p:txBody>
      </p:sp>
      <p:sp>
        <p:nvSpPr>
          <p:cNvPr id="26" name="Rectangle 29">
            <a:extLst>
              <a:ext uri="{FF2B5EF4-FFF2-40B4-BE49-F238E27FC236}">
                <a16:creationId xmlns:a16="http://schemas.microsoft.com/office/drawing/2014/main" id="{76CABB07-B02B-B56A-3F48-306AD9471857}"/>
              </a:ext>
            </a:extLst>
          </p:cNvPr>
          <p:cNvSpPr/>
          <p:nvPr/>
        </p:nvSpPr>
        <p:spPr>
          <a:xfrm>
            <a:off x="-1671" y="2528038"/>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Типове клиенти</a:t>
            </a:r>
            <a:endParaRPr lang="en-GB" sz="1400">
              <a:latin typeface="Aptos"/>
              <a:ea typeface="Calibri"/>
              <a:cs typeface="Calibri"/>
            </a:endParaRPr>
          </a:p>
        </p:txBody>
      </p:sp>
      <p:sp>
        <p:nvSpPr>
          <p:cNvPr id="27" name="Rectangle 30">
            <a:extLst>
              <a:ext uri="{FF2B5EF4-FFF2-40B4-BE49-F238E27FC236}">
                <a16:creationId xmlns:a16="http://schemas.microsoft.com/office/drawing/2014/main" id="{EA637664-ABAD-7F6F-96AD-C0B5FC272A82}"/>
              </a:ext>
            </a:extLst>
          </p:cNvPr>
          <p:cNvSpPr/>
          <p:nvPr/>
        </p:nvSpPr>
        <p:spPr>
          <a:xfrm>
            <a:off x="8626" y="1913210"/>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002060"/>
                </a:solidFill>
                <a:latin typeface="Aptos"/>
                <a:ea typeface="Calibri"/>
                <a:cs typeface="Calibri"/>
              </a:rPr>
              <a:t>Сценарии</a:t>
            </a:r>
            <a:endParaRPr lang="en-GB" sz="1400">
              <a:solidFill>
                <a:srgbClr val="002060"/>
              </a:solidFill>
              <a:latin typeface="Aptos"/>
              <a:ea typeface="Calibri"/>
              <a:cs typeface="Calibri"/>
            </a:endParaRPr>
          </a:p>
        </p:txBody>
      </p:sp>
      <p:sp>
        <p:nvSpPr>
          <p:cNvPr id="28" name="Rectangle 31">
            <a:extLst>
              <a:ext uri="{FF2B5EF4-FFF2-40B4-BE49-F238E27FC236}">
                <a16:creationId xmlns:a16="http://schemas.microsoft.com/office/drawing/2014/main" id="{8E25FC09-860A-699F-BDC4-239B596816D6}"/>
              </a:ext>
            </a:extLst>
          </p:cNvPr>
          <p:cNvSpPr/>
          <p:nvPr/>
        </p:nvSpPr>
        <p:spPr>
          <a:xfrm>
            <a:off x="-1671" y="1298382"/>
            <a:ext cx="1442908" cy="4485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chemeClr val="bg1"/>
                </a:solidFill>
                <a:latin typeface="Aptos"/>
                <a:ea typeface="Calibri"/>
                <a:cs typeface="Calibri"/>
              </a:rPr>
              <a:t>Стъпки в обаждането</a:t>
            </a:r>
            <a:endParaRPr lang="en-GB" sz="1400">
              <a:solidFill>
                <a:schemeClr val="bg1"/>
              </a:solidFill>
              <a:latin typeface="Aptos"/>
              <a:ea typeface="Calibri"/>
              <a:cs typeface="Calibri"/>
            </a:endParaRPr>
          </a:p>
        </p:txBody>
      </p:sp>
      <p:sp>
        <p:nvSpPr>
          <p:cNvPr id="29" name="Rectangle 3">
            <a:extLst>
              <a:ext uri="{FF2B5EF4-FFF2-40B4-BE49-F238E27FC236}">
                <a16:creationId xmlns:a16="http://schemas.microsoft.com/office/drawing/2014/main" id="{639CB878-F713-0BFF-0C5A-98B9E9CE7468}"/>
              </a:ext>
            </a:extLst>
          </p:cNvPr>
          <p:cNvSpPr/>
          <p:nvPr/>
        </p:nvSpPr>
        <p:spPr>
          <a:xfrm>
            <a:off x="1443475" y="4245"/>
            <a:ext cx="5338363" cy="67724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30" name="Rectangle 4">
            <a:extLst>
              <a:ext uri="{FF2B5EF4-FFF2-40B4-BE49-F238E27FC236}">
                <a16:creationId xmlns:a16="http://schemas.microsoft.com/office/drawing/2014/main" id="{5B39D0D0-CA76-1358-4D0D-40B08BFAA5E6}"/>
              </a:ext>
            </a:extLst>
          </p:cNvPr>
          <p:cNvSpPr/>
          <p:nvPr/>
        </p:nvSpPr>
        <p:spPr>
          <a:xfrm>
            <a:off x="6788435" y="4245"/>
            <a:ext cx="5417300" cy="677242"/>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31" name="Rectangle 28">
            <a:extLst>
              <a:ext uri="{FF2B5EF4-FFF2-40B4-BE49-F238E27FC236}">
                <a16:creationId xmlns:a16="http://schemas.microsoft.com/office/drawing/2014/main" id="{0767068C-548A-188A-13AE-44C41B6A13F2}"/>
              </a:ext>
            </a:extLst>
          </p:cNvPr>
          <p:cNvSpPr/>
          <p:nvPr/>
        </p:nvSpPr>
        <p:spPr>
          <a:xfrm>
            <a:off x="-15827" y="690328"/>
            <a:ext cx="1465322"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FFFFFF"/>
                </a:solidFill>
                <a:latin typeface="Aptos"/>
                <a:ea typeface="Calibri"/>
                <a:cs typeface="Calibri"/>
              </a:rPr>
              <a:t>Подготовка</a:t>
            </a:r>
            <a:endParaRPr lang="en-GB" sz="1400">
              <a:solidFill>
                <a:srgbClr val="FFFFFF"/>
              </a:solidFill>
              <a:latin typeface="Aptos"/>
              <a:ea typeface="Calibri"/>
              <a:cs typeface="Calibri"/>
            </a:endParaRPr>
          </a:p>
        </p:txBody>
      </p:sp>
      <p:pic>
        <p:nvPicPr>
          <p:cNvPr id="2" name="Картина 1" descr="Картина, която съдържа текст, екранна снимка, софтуер, Уеб страница&#10;&#10;Генерирано от ИИ съдържание може да е неправилно.">
            <a:extLst>
              <a:ext uri="{FF2B5EF4-FFF2-40B4-BE49-F238E27FC236}">
                <a16:creationId xmlns:a16="http://schemas.microsoft.com/office/drawing/2014/main" id="{E7E978B1-9EF8-FAC3-C88D-35A4BDE7901D}"/>
              </a:ext>
            </a:extLst>
          </p:cNvPr>
          <p:cNvPicPr>
            <a:picLocks noChangeAspect="1"/>
          </p:cNvPicPr>
          <p:nvPr/>
        </p:nvPicPr>
        <p:blipFill>
          <a:blip r:embed="rId2"/>
          <a:stretch>
            <a:fillRect/>
          </a:stretch>
        </p:blipFill>
        <p:spPr>
          <a:xfrm>
            <a:off x="1574800" y="794695"/>
            <a:ext cx="10434320" cy="5868049"/>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
        <p:nvSpPr>
          <p:cNvPr id="4" name="Балонче за говор: правоъгълник със заоблени ъгли 10">
            <a:extLst>
              <a:ext uri="{FF2B5EF4-FFF2-40B4-BE49-F238E27FC236}">
                <a16:creationId xmlns:a16="http://schemas.microsoft.com/office/drawing/2014/main" id="{B785C77C-5979-F975-9F03-521DED5E9B81}"/>
              </a:ext>
            </a:extLst>
          </p:cNvPr>
          <p:cNvSpPr/>
          <p:nvPr/>
        </p:nvSpPr>
        <p:spPr>
          <a:xfrm>
            <a:off x="2681500" y="1363919"/>
            <a:ext cx="8657190" cy="4279560"/>
          </a:xfrm>
          <a:prstGeom prst="roundRect">
            <a:avLst>
              <a:gd name="adj" fmla="val 3996"/>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bg-BG" sz="1400"/>
          </a:p>
        </p:txBody>
      </p:sp>
      <p:sp>
        <p:nvSpPr>
          <p:cNvPr id="6" name="Текстово поле 15">
            <a:extLst>
              <a:ext uri="{FF2B5EF4-FFF2-40B4-BE49-F238E27FC236}">
                <a16:creationId xmlns:a16="http://schemas.microsoft.com/office/drawing/2014/main" id="{897C803D-8D88-4644-F44F-5803EEDD4F28}"/>
              </a:ext>
            </a:extLst>
          </p:cNvPr>
          <p:cNvSpPr txBox="1"/>
          <p:nvPr/>
        </p:nvSpPr>
        <p:spPr>
          <a:xfrm>
            <a:off x="3043699" y="1497636"/>
            <a:ext cx="7883220" cy="3416320"/>
          </a:xfrm>
          <a:prstGeom prst="rect">
            <a:avLst/>
          </a:prstGeom>
          <a:noFill/>
        </p:spPr>
        <p:txBody>
          <a:bodyPr wrap="square" rtlCol="0">
            <a:spAutoFit/>
          </a:bodyPr>
          <a:lstStyle/>
          <a:p>
            <a:r>
              <a:rPr lang="ru-RU" sz="1200" b="1">
                <a:solidFill>
                  <a:schemeClr val="bg1"/>
                </a:solidFill>
              </a:rPr>
              <a:t>Настоящ клиент за рефинансиране</a:t>
            </a:r>
            <a:br>
              <a:rPr lang="ru-RU" sz="1200">
                <a:solidFill>
                  <a:schemeClr val="bg1"/>
                </a:solidFill>
              </a:rPr>
            </a:br>
            <a:r>
              <a:rPr lang="ru-RU" sz="1200">
                <a:solidFill>
                  <a:schemeClr val="bg1"/>
                </a:solidFill>
              </a:rPr>
              <a:t>Тип: </a:t>
            </a:r>
            <a:r>
              <a:rPr lang="ru-RU" sz="1200" b="1">
                <a:solidFill>
                  <a:schemeClr val="bg1"/>
                </a:solidFill>
              </a:rPr>
              <a:t>реактивен</a:t>
            </a:r>
            <a:br>
              <a:rPr lang="ru-RU" sz="1200">
                <a:solidFill>
                  <a:schemeClr val="bg1"/>
                </a:solidFill>
              </a:rPr>
            </a:br>
            <a:r>
              <a:rPr lang="ru-RU" sz="1200">
                <a:solidFill>
                  <a:schemeClr val="bg1"/>
                </a:solidFill>
              </a:rPr>
              <a:t>Персонаж: </a:t>
            </a:r>
            <a:r>
              <a:rPr lang="ru-RU" sz="1200" b="1">
                <a:solidFill>
                  <a:schemeClr val="bg1"/>
                </a:solidFill>
              </a:rPr>
              <a:t>Галина Иванова</a:t>
            </a:r>
            <a:br>
              <a:rPr lang="ru-RU" sz="1200">
                <a:solidFill>
                  <a:schemeClr val="bg1"/>
                </a:solidFill>
              </a:rPr>
            </a:br>
            <a:r>
              <a:rPr lang="ru-RU" sz="1200">
                <a:solidFill>
                  <a:schemeClr val="bg1"/>
                </a:solidFill>
              </a:rPr>
              <a:t>Профил: </a:t>
            </a:r>
            <a:r>
              <a:rPr lang="ru-RU" sz="1200" b="1">
                <a:solidFill>
                  <a:schemeClr val="bg1"/>
                </a:solidFill>
              </a:rPr>
              <a:t>настоящ клиент за рефинансиране, 39 г.</a:t>
            </a:r>
            <a:br>
              <a:rPr lang="ru-RU" sz="1200">
                <a:solidFill>
                  <a:schemeClr val="bg1"/>
                </a:solidFill>
              </a:rPr>
            </a:br>
            <a:r>
              <a:rPr lang="ru-RU" sz="1200">
                <a:solidFill>
                  <a:schemeClr val="bg1"/>
                </a:solidFill>
              </a:rPr>
              <a:t>Контекст: има конкретна нужда и иска да разбере дали новото решение е по-добро за нея.</a:t>
            </a:r>
            <a:br>
              <a:rPr lang="ru-RU" sz="1200">
                <a:solidFill>
                  <a:schemeClr val="bg1"/>
                </a:solidFill>
              </a:rPr>
            </a:br>
            <a:r>
              <a:rPr lang="ru-RU" sz="1200">
                <a:solidFill>
                  <a:schemeClr val="bg1"/>
                </a:solidFill>
              </a:rPr>
              <a:t>Цел: да се покаже предимството на новото решение чрез сравнение, яснота и спокойна аргументация.</a:t>
            </a:r>
            <a:br>
              <a:rPr lang="ru-RU" sz="1200">
                <a:solidFill>
                  <a:schemeClr val="bg1"/>
                </a:solidFill>
              </a:rPr>
            </a:br>
            <a:r>
              <a:rPr lang="ru-RU" sz="1200">
                <a:solidFill>
                  <a:schemeClr val="bg1"/>
                </a:solidFill>
              </a:rPr>
              <a:t>Логика на разговора: започваш с конкретика; сравняваш текущата ситуация с новия вариант; подчертаваш разликата и ползата; проверяваш реакцията; при колебание изясняваш какво липсва.</a:t>
            </a:r>
            <a:br>
              <a:rPr lang="ru-RU" sz="1200">
                <a:solidFill>
                  <a:schemeClr val="bg1"/>
                </a:solidFill>
              </a:rPr>
            </a:br>
            <a:r>
              <a:rPr lang="ru-RU" sz="1200">
                <a:solidFill>
                  <a:schemeClr val="bg1"/>
                </a:solidFill>
              </a:rPr>
              <a:t>Примерни реплики: „Нека сравним текущата ситуация с възможния нов вариант.“ / „Ще Ви покажа къде е разликата и защо тя е важна.“ / „Целта е да преценим кое е по-доброто решение за Вас.“</a:t>
            </a:r>
            <a:br>
              <a:rPr lang="ru-RU" sz="1200">
                <a:solidFill>
                  <a:schemeClr val="bg1"/>
                </a:solidFill>
              </a:rPr>
            </a:br>
            <a:r>
              <a:rPr lang="ru-RU" sz="1200">
                <a:solidFill>
                  <a:schemeClr val="bg1"/>
                </a:solidFill>
              </a:rPr>
              <a:t>Възможни възражения: „За момента нямам нужда.“, „Ще си помисля.“, „Не съм убеден.“</a:t>
            </a:r>
            <a:br>
              <a:rPr lang="ru-RU" sz="1200">
                <a:solidFill>
                  <a:schemeClr val="bg1"/>
                </a:solidFill>
              </a:rPr>
            </a:br>
            <a:r>
              <a:rPr lang="ru-RU" sz="1200">
                <a:solidFill>
                  <a:schemeClr val="bg1"/>
                </a:solidFill>
              </a:rPr>
              <a:t>Подходящи техники: </a:t>
            </a:r>
            <a:r>
              <a:rPr lang="ru-RU" sz="1200" b="1">
                <a:solidFill>
                  <a:schemeClr val="bg1"/>
                </a:solidFill>
              </a:rPr>
              <a:t>относителна; огледална; тирбушон</a:t>
            </a:r>
            <a:br>
              <a:rPr lang="ru-RU" sz="1200">
                <a:solidFill>
                  <a:schemeClr val="bg1"/>
                </a:solidFill>
              </a:rPr>
            </a:br>
            <a:r>
              <a:rPr lang="ru-RU" sz="1200">
                <a:solidFill>
                  <a:schemeClr val="bg1"/>
                </a:solidFill>
              </a:rPr>
              <a:t>Следваща стъпка / финализиране: решение на клиента, последващ контакт или подготовка на документи. При интерес документите могат да се оформят в офис, на адрес или на друго удобно място чрез мобилното приложение на кредитния консултант, като при поредно кандидатстване са възможни различни процеси според случая.</a:t>
            </a:r>
            <a:br>
              <a:rPr lang="ru-RU" sz="1200">
                <a:solidFill>
                  <a:schemeClr val="bg1"/>
                </a:solidFill>
              </a:rPr>
            </a:br>
            <a:r>
              <a:rPr lang="ru-RU" sz="1200">
                <a:solidFill>
                  <a:schemeClr val="bg1"/>
                </a:solidFill>
              </a:rPr>
              <a:t>Какво да не правиш: да говориш само за сума; да представяш общи твърдения без сравнение; да оставиш клиента сам да си прави изводите.</a:t>
            </a:r>
            <a:endParaRPr lang="bg-BG" sz="1200">
              <a:solidFill>
                <a:schemeClr val="bg1"/>
              </a:solidFill>
            </a:endParaRPr>
          </a:p>
        </p:txBody>
      </p:sp>
      <p:sp>
        <p:nvSpPr>
          <p:cNvPr id="8" name="Правоъгълник: със заоблени ъгли 16">
            <a:extLst>
              <a:ext uri="{FF2B5EF4-FFF2-40B4-BE49-F238E27FC236}">
                <a16:creationId xmlns:a16="http://schemas.microsoft.com/office/drawing/2014/main" id="{6447CDB5-50A3-E320-87F4-97E36DB75C2C}"/>
              </a:ext>
            </a:extLst>
          </p:cNvPr>
          <p:cNvSpPr/>
          <p:nvPr/>
        </p:nvSpPr>
        <p:spPr>
          <a:xfrm>
            <a:off x="3932089" y="5060935"/>
            <a:ext cx="6166352" cy="405361"/>
          </a:xfrm>
          <a:prstGeom prst="roundRect">
            <a:avLst>
              <a:gd name="adj" fmla="val 50000"/>
            </a:avLst>
          </a:prstGeom>
          <a:solidFill>
            <a:schemeClr val="bg1"/>
          </a:solidFill>
          <a:ln>
            <a:noFill/>
          </a:ln>
          <a:effectLst>
            <a:outerShdw blurRad="50800" dist="38100" dir="5400000" algn="t" rotWithShape="0">
              <a:prstClr val="black">
                <a:alpha val="40000"/>
              </a:prstClr>
            </a:outerShdw>
          </a:effectLst>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bg-BG" b="1">
                <a:solidFill>
                  <a:srgbClr val="002060"/>
                </a:solidFill>
              </a:rPr>
              <a:t>Тренирай</a:t>
            </a:r>
          </a:p>
        </p:txBody>
      </p:sp>
    </p:spTree>
    <p:extLst>
      <p:ext uri="{BB962C8B-B14F-4D97-AF65-F5344CB8AC3E}">
        <p14:creationId xmlns:p14="http://schemas.microsoft.com/office/powerpoint/2010/main" val="3181576815"/>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57EFB6-174A-F1D2-106F-1754E25B0122}"/>
            </a:ext>
          </a:extLst>
        </p:cNvPr>
        <p:cNvGrpSpPr/>
        <p:nvPr/>
      </p:nvGrpSpPr>
      <p:grpSpPr>
        <a:xfrm>
          <a:off x="0" y="0"/>
          <a:ext cx="0" cy="0"/>
          <a:chOff x="0" y="0"/>
          <a:chExt cx="0" cy="0"/>
        </a:xfrm>
      </p:grpSpPr>
      <p:sp>
        <p:nvSpPr>
          <p:cNvPr id="25" name="Rectangle 28">
            <a:extLst>
              <a:ext uri="{FF2B5EF4-FFF2-40B4-BE49-F238E27FC236}">
                <a16:creationId xmlns:a16="http://schemas.microsoft.com/office/drawing/2014/main" id="{A83F8D70-DD5A-B89A-D352-22FEF84245CF}"/>
              </a:ext>
            </a:extLst>
          </p:cNvPr>
          <p:cNvSpPr/>
          <p:nvPr/>
        </p:nvSpPr>
        <p:spPr>
          <a:xfrm>
            <a:off x="-15824" y="1599"/>
            <a:ext cx="1465320" cy="6859628"/>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400">
              <a:latin typeface="Aptos"/>
              <a:ea typeface="Calibri"/>
              <a:cs typeface="Calibri"/>
            </a:endParaRPr>
          </a:p>
        </p:txBody>
      </p:sp>
      <p:sp>
        <p:nvSpPr>
          <p:cNvPr id="26" name="Rectangle 29">
            <a:extLst>
              <a:ext uri="{FF2B5EF4-FFF2-40B4-BE49-F238E27FC236}">
                <a16:creationId xmlns:a16="http://schemas.microsoft.com/office/drawing/2014/main" id="{81B7D3F0-C697-ADF3-E21F-0E6E7E6EBBA3}"/>
              </a:ext>
            </a:extLst>
          </p:cNvPr>
          <p:cNvSpPr/>
          <p:nvPr/>
        </p:nvSpPr>
        <p:spPr>
          <a:xfrm>
            <a:off x="-1671" y="2528038"/>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Типове клиенти</a:t>
            </a:r>
            <a:endParaRPr lang="en-GB" sz="1400">
              <a:latin typeface="Aptos"/>
              <a:ea typeface="Calibri"/>
              <a:cs typeface="Calibri"/>
            </a:endParaRPr>
          </a:p>
        </p:txBody>
      </p:sp>
      <p:sp>
        <p:nvSpPr>
          <p:cNvPr id="27" name="Rectangle 30">
            <a:extLst>
              <a:ext uri="{FF2B5EF4-FFF2-40B4-BE49-F238E27FC236}">
                <a16:creationId xmlns:a16="http://schemas.microsoft.com/office/drawing/2014/main" id="{06002AFA-B732-EB07-3756-8711961062F3}"/>
              </a:ext>
            </a:extLst>
          </p:cNvPr>
          <p:cNvSpPr/>
          <p:nvPr/>
        </p:nvSpPr>
        <p:spPr>
          <a:xfrm>
            <a:off x="8626" y="1913210"/>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002060"/>
                </a:solidFill>
                <a:latin typeface="Aptos"/>
                <a:ea typeface="Calibri"/>
                <a:cs typeface="Calibri"/>
              </a:rPr>
              <a:t>Сценарии</a:t>
            </a:r>
            <a:endParaRPr lang="en-GB" sz="1400">
              <a:solidFill>
                <a:srgbClr val="002060"/>
              </a:solidFill>
              <a:latin typeface="Aptos"/>
              <a:ea typeface="Calibri"/>
              <a:cs typeface="Calibri"/>
            </a:endParaRPr>
          </a:p>
        </p:txBody>
      </p:sp>
      <p:sp>
        <p:nvSpPr>
          <p:cNvPr id="28" name="Rectangle 31">
            <a:extLst>
              <a:ext uri="{FF2B5EF4-FFF2-40B4-BE49-F238E27FC236}">
                <a16:creationId xmlns:a16="http://schemas.microsoft.com/office/drawing/2014/main" id="{B788FE44-5740-4230-CACB-19A6501B0DEF}"/>
              </a:ext>
            </a:extLst>
          </p:cNvPr>
          <p:cNvSpPr/>
          <p:nvPr/>
        </p:nvSpPr>
        <p:spPr>
          <a:xfrm>
            <a:off x="-1671" y="1298382"/>
            <a:ext cx="1442908" cy="4485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chemeClr val="bg1"/>
                </a:solidFill>
                <a:latin typeface="Aptos"/>
                <a:ea typeface="Calibri"/>
                <a:cs typeface="Calibri"/>
              </a:rPr>
              <a:t>Стъпки в обаждането</a:t>
            </a:r>
            <a:endParaRPr lang="en-GB" sz="1400">
              <a:solidFill>
                <a:schemeClr val="bg1"/>
              </a:solidFill>
              <a:latin typeface="Aptos"/>
              <a:ea typeface="Calibri"/>
              <a:cs typeface="Calibri"/>
            </a:endParaRPr>
          </a:p>
        </p:txBody>
      </p:sp>
      <p:sp>
        <p:nvSpPr>
          <p:cNvPr id="29" name="Rectangle 3">
            <a:extLst>
              <a:ext uri="{FF2B5EF4-FFF2-40B4-BE49-F238E27FC236}">
                <a16:creationId xmlns:a16="http://schemas.microsoft.com/office/drawing/2014/main" id="{E8A82FE7-B8D1-8196-32AB-64549C92F501}"/>
              </a:ext>
            </a:extLst>
          </p:cNvPr>
          <p:cNvSpPr/>
          <p:nvPr/>
        </p:nvSpPr>
        <p:spPr>
          <a:xfrm>
            <a:off x="1443475" y="4245"/>
            <a:ext cx="5338363" cy="67724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30" name="Rectangle 4">
            <a:extLst>
              <a:ext uri="{FF2B5EF4-FFF2-40B4-BE49-F238E27FC236}">
                <a16:creationId xmlns:a16="http://schemas.microsoft.com/office/drawing/2014/main" id="{ABF691E5-1D1B-83B8-BA3C-DE494B847AAE}"/>
              </a:ext>
            </a:extLst>
          </p:cNvPr>
          <p:cNvSpPr/>
          <p:nvPr/>
        </p:nvSpPr>
        <p:spPr>
          <a:xfrm>
            <a:off x="6788435" y="4245"/>
            <a:ext cx="5417300" cy="677242"/>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31" name="Rectangle 28">
            <a:extLst>
              <a:ext uri="{FF2B5EF4-FFF2-40B4-BE49-F238E27FC236}">
                <a16:creationId xmlns:a16="http://schemas.microsoft.com/office/drawing/2014/main" id="{3324FF56-D948-3D53-C802-55C74F2D8C01}"/>
              </a:ext>
            </a:extLst>
          </p:cNvPr>
          <p:cNvSpPr/>
          <p:nvPr/>
        </p:nvSpPr>
        <p:spPr>
          <a:xfrm>
            <a:off x="-15827" y="690328"/>
            <a:ext cx="1465322"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FFFFFF"/>
                </a:solidFill>
                <a:latin typeface="Aptos"/>
                <a:ea typeface="Calibri"/>
                <a:cs typeface="Calibri"/>
              </a:rPr>
              <a:t>Подготовка</a:t>
            </a:r>
            <a:endParaRPr lang="en-GB" sz="1400">
              <a:solidFill>
                <a:srgbClr val="FFFFFF"/>
              </a:solidFill>
              <a:latin typeface="Aptos"/>
              <a:ea typeface="Calibri"/>
              <a:cs typeface="Calibri"/>
            </a:endParaRPr>
          </a:p>
        </p:txBody>
      </p:sp>
      <p:pic>
        <p:nvPicPr>
          <p:cNvPr id="2" name="Картина 1" descr="Картина, която съдържа текст, екранна снимка, софтуер, Уеб страница&#10;&#10;Генерирано от ИИ съдържание може да е неправилно.">
            <a:extLst>
              <a:ext uri="{FF2B5EF4-FFF2-40B4-BE49-F238E27FC236}">
                <a16:creationId xmlns:a16="http://schemas.microsoft.com/office/drawing/2014/main" id="{A501EB09-2B66-CB8F-7EC0-F7B98DD748EF}"/>
              </a:ext>
            </a:extLst>
          </p:cNvPr>
          <p:cNvPicPr>
            <a:picLocks noChangeAspect="1"/>
          </p:cNvPicPr>
          <p:nvPr/>
        </p:nvPicPr>
        <p:blipFill>
          <a:blip r:embed="rId2"/>
          <a:stretch>
            <a:fillRect/>
          </a:stretch>
        </p:blipFill>
        <p:spPr>
          <a:xfrm>
            <a:off x="1574800" y="794695"/>
            <a:ext cx="10434320" cy="5868049"/>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Tree>
    <p:extLst>
      <p:ext uri="{BB962C8B-B14F-4D97-AF65-F5344CB8AC3E}">
        <p14:creationId xmlns:p14="http://schemas.microsoft.com/office/powerpoint/2010/main" val="2873020153"/>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DE448C-1BC7-1792-08E0-66386A36A967}"/>
            </a:ext>
          </a:extLst>
        </p:cNvPr>
        <p:cNvGrpSpPr/>
        <p:nvPr/>
      </p:nvGrpSpPr>
      <p:grpSpPr>
        <a:xfrm>
          <a:off x="0" y="0"/>
          <a:ext cx="0" cy="0"/>
          <a:chOff x="0" y="0"/>
          <a:chExt cx="0" cy="0"/>
        </a:xfrm>
      </p:grpSpPr>
      <p:sp>
        <p:nvSpPr>
          <p:cNvPr id="25" name="Rectangle 28">
            <a:extLst>
              <a:ext uri="{FF2B5EF4-FFF2-40B4-BE49-F238E27FC236}">
                <a16:creationId xmlns:a16="http://schemas.microsoft.com/office/drawing/2014/main" id="{BD0834F5-01B4-6BA4-6046-E999ABCAAABB}"/>
              </a:ext>
            </a:extLst>
          </p:cNvPr>
          <p:cNvSpPr/>
          <p:nvPr/>
        </p:nvSpPr>
        <p:spPr>
          <a:xfrm>
            <a:off x="-15824" y="1599"/>
            <a:ext cx="1465320" cy="6859628"/>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400">
              <a:latin typeface="Aptos"/>
              <a:ea typeface="Calibri"/>
              <a:cs typeface="Calibri"/>
            </a:endParaRPr>
          </a:p>
        </p:txBody>
      </p:sp>
      <p:sp>
        <p:nvSpPr>
          <p:cNvPr id="26" name="Rectangle 29">
            <a:extLst>
              <a:ext uri="{FF2B5EF4-FFF2-40B4-BE49-F238E27FC236}">
                <a16:creationId xmlns:a16="http://schemas.microsoft.com/office/drawing/2014/main" id="{713B0558-4704-6D63-8CD4-ECABD4CDB730}"/>
              </a:ext>
            </a:extLst>
          </p:cNvPr>
          <p:cNvSpPr/>
          <p:nvPr/>
        </p:nvSpPr>
        <p:spPr>
          <a:xfrm>
            <a:off x="-1671" y="2528038"/>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Типове клиенти</a:t>
            </a:r>
            <a:endParaRPr lang="en-GB" sz="1400">
              <a:latin typeface="Aptos"/>
              <a:ea typeface="Calibri"/>
              <a:cs typeface="Calibri"/>
            </a:endParaRPr>
          </a:p>
        </p:txBody>
      </p:sp>
      <p:sp>
        <p:nvSpPr>
          <p:cNvPr id="27" name="Rectangle 30">
            <a:extLst>
              <a:ext uri="{FF2B5EF4-FFF2-40B4-BE49-F238E27FC236}">
                <a16:creationId xmlns:a16="http://schemas.microsoft.com/office/drawing/2014/main" id="{1B598416-B653-2027-E7BE-AF933E0613AE}"/>
              </a:ext>
            </a:extLst>
          </p:cNvPr>
          <p:cNvSpPr/>
          <p:nvPr/>
        </p:nvSpPr>
        <p:spPr>
          <a:xfrm>
            <a:off x="8626" y="1913210"/>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002060"/>
                </a:solidFill>
                <a:latin typeface="Aptos"/>
                <a:ea typeface="Calibri"/>
                <a:cs typeface="Calibri"/>
              </a:rPr>
              <a:t>Сценарии</a:t>
            </a:r>
            <a:endParaRPr lang="en-GB" sz="1400">
              <a:solidFill>
                <a:srgbClr val="002060"/>
              </a:solidFill>
              <a:latin typeface="Aptos"/>
              <a:ea typeface="Calibri"/>
              <a:cs typeface="Calibri"/>
            </a:endParaRPr>
          </a:p>
        </p:txBody>
      </p:sp>
      <p:sp>
        <p:nvSpPr>
          <p:cNvPr id="28" name="Rectangle 31">
            <a:extLst>
              <a:ext uri="{FF2B5EF4-FFF2-40B4-BE49-F238E27FC236}">
                <a16:creationId xmlns:a16="http://schemas.microsoft.com/office/drawing/2014/main" id="{67A22E92-88F4-AB8C-26E2-A5A68929D481}"/>
              </a:ext>
            </a:extLst>
          </p:cNvPr>
          <p:cNvSpPr/>
          <p:nvPr/>
        </p:nvSpPr>
        <p:spPr>
          <a:xfrm>
            <a:off x="-1671" y="1298382"/>
            <a:ext cx="1442908" cy="4485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chemeClr val="bg1"/>
                </a:solidFill>
                <a:latin typeface="Aptos"/>
                <a:ea typeface="Calibri"/>
                <a:cs typeface="Calibri"/>
              </a:rPr>
              <a:t>Стъпки в обаждането</a:t>
            </a:r>
            <a:endParaRPr lang="en-GB" sz="1400">
              <a:solidFill>
                <a:schemeClr val="bg1"/>
              </a:solidFill>
              <a:latin typeface="Aptos"/>
              <a:ea typeface="Calibri"/>
              <a:cs typeface="Calibri"/>
            </a:endParaRPr>
          </a:p>
        </p:txBody>
      </p:sp>
      <p:sp>
        <p:nvSpPr>
          <p:cNvPr id="29" name="Rectangle 3">
            <a:extLst>
              <a:ext uri="{FF2B5EF4-FFF2-40B4-BE49-F238E27FC236}">
                <a16:creationId xmlns:a16="http://schemas.microsoft.com/office/drawing/2014/main" id="{A1F31694-6C78-C6DF-C72B-4838CA376265}"/>
              </a:ext>
            </a:extLst>
          </p:cNvPr>
          <p:cNvSpPr/>
          <p:nvPr/>
        </p:nvSpPr>
        <p:spPr>
          <a:xfrm>
            <a:off x="1443475" y="4245"/>
            <a:ext cx="5338363" cy="67724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30" name="Rectangle 4">
            <a:extLst>
              <a:ext uri="{FF2B5EF4-FFF2-40B4-BE49-F238E27FC236}">
                <a16:creationId xmlns:a16="http://schemas.microsoft.com/office/drawing/2014/main" id="{85CFB755-243C-C8E9-C87A-687EB9874E48}"/>
              </a:ext>
            </a:extLst>
          </p:cNvPr>
          <p:cNvSpPr/>
          <p:nvPr/>
        </p:nvSpPr>
        <p:spPr>
          <a:xfrm>
            <a:off x="6788435" y="4245"/>
            <a:ext cx="5417300" cy="677242"/>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31" name="Rectangle 28">
            <a:extLst>
              <a:ext uri="{FF2B5EF4-FFF2-40B4-BE49-F238E27FC236}">
                <a16:creationId xmlns:a16="http://schemas.microsoft.com/office/drawing/2014/main" id="{07CC7E61-3059-3F84-7050-D87B69438E4B}"/>
              </a:ext>
            </a:extLst>
          </p:cNvPr>
          <p:cNvSpPr/>
          <p:nvPr/>
        </p:nvSpPr>
        <p:spPr>
          <a:xfrm>
            <a:off x="-15827" y="690328"/>
            <a:ext cx="1465322"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FFFFFF"/>
                </a:solidFill>
                <a:latin typeface="Aptos"/>
                <a:ea typeface="Calibri"/>
                <a:cs typeface="Calibri"/>
              </a:rPr>
              <a:t>Подготовка</a:t>
            </a:r>
            <a:endParaRPr lang="en-GB" sz="1400">
              <a:solidFill>
                <a:srgbClr val="FFFFFF"/>
              </a:solidFill>
              <a:latin typeface="Aptos"/>
              <a:ea typeface="Calibri"/>
              <a:cs typeface="Calibri"/>
            </a:endParaRPr>
          </a:p>
        </p:txBody>
      </p:sp>
      <p:pic>
        <p:nvPicPr>
          <p:cNvPr id="3" name="Картина 2" descr="Картина, която съдържа текст, екранна снимка, Шрифт, Уеб страница&#10;&#10;Генерирано от ИИ съдържание може да е неправилно.">
            <a:extLst>
              <a:ext uri="{FF2B5EF4-FFF2-40B4-BE49-F238E27FC236}">
                <a16:creationId xmlns:a16="http://schemas.microsoft.com/office/drawing/2014/main" id="{86AF9CBA-25B0-5A28-37AF-427F6187842C}"/>
              </a:ext>
            </a:extLst>
          </p:cNvPr>
          <p:cNvPicPr>
            <a:picLocks noChangeAspect="1"/>
          </p:cNvPicPr>
          <p:nvPr/>
        </p:nvPicPr>
        <p:blipFill>
          <a:blip r:embed="rId2"/>
          <a:stretch>
            <a:fillRect/>
          </a:stretch>
        </p:blipFill>
        <p:spPr>
          <a:xfrm>
            <a:off x="1564640" y="807110"/>
            <a:ext cx="10525760" cy="5904180"/>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Tree>
    <p:extLst>
      <p:ext uri="{BB962C8B-B14F-4D97-AF65-F5344CB8AC3E}">
        <p14:creationId xmlns:p14="http://schemas.microsoft.com/office/powerpoint/2010/main" val="27162704"/>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D381D1-14C1-9343-707B-FFAA89EF8067}"/>
            </a:ext>
          </a:extLst>
        </p:cNvPr>
        <p:cNvGrpSpPr/>
        <p:nvPr/>
      </p:nvGrpSpPr>
      <p:grpSpPr>
        <a:xfrm>
          <a:off x="0" y="0"/>
          <a:ext cx="0" cy="0"/>
          <a:chOff x="0" y="0"/>
          <a:chExt cx="0" cy="0"/>
        </a:xfrm>
      </p:grpSpPr>
      <p:sp>
        <p:nvSpPr>
          <p:cNvPr id="28" name="Правоъгълник: със заоблени ъгли 27">
            <a:extLst>
              <a:ext uri="{FF2B5EF4-FFF2-40B4-BE49-F238E27FC236}">
                <a16:creationId xmlns:a16="http://schemas.microsoft.com/office/drawing/2014/main" id="{E853EFFA-CEA3-F40A-5512-EAFFB29A2E0C}"/>
              </a:ext>
            </a:extLst>
          </p:cNvPr>
          <p:cNvSpPr/>
          <p:nvPr/>
        </p:nvSpPr>
        <p:spPr>
          <a:xfrm>
            <a:off x="5298509" y="251749"/>
            <a:ext cx="3671794" cy="6172583"/>
          </a:xfrm>
          <a:prstGeom prst="roundRect">
            <a:avLst/>
          </a:prstGeom>
          <a:solidFill>
            <a:schemeClr val="bg1">
              <a:lumMod val="95000"/>
            </a:schemeClr>
          </a:solidFill>
          <a:ln>
            <a:noFill/>
          </a:ln>
          <a:effectLst>
            <a:outerShdw blurRad="63500" dist="38100" dir="270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pic>
        <p:nvPicPr>
          <p:cNvPr id="33" name="Picture 10" descr="Картина, която съдържа текст, екранна снимка&#10;&#10;Генерирано от ИИ съдържание може да е неправилно.">
            <a:extLst>
              <a:ext uri="{FF2B5EF4-FFF2-40B4-BE49-F238E27FC236}">
                <a16:creationId xmlns:a16="http://schemas.microsoft.com/office/drawing/2014/main" id="{D430C018-93D0-B25B-4096-0BAFB38C2B17}"/>
              </a:ext>
            </a:extLst>
          </p:cNvPr>
          <p:cNvPicPr>
            <a:picLocks noChangeAspect="1"/>
          </p:cNvPicPr>
          <p:nvPr/>
        </p:nvPicPr>
        <p:blipFill>
          <a:blip r:embed="rId2"/>
          <a:srcRect b="88415"/>
          <a:stretch>
            <a:fillRect/>
          </a:stretch>
        </p:blipFill>
        <p:spPr>
          <a:xfrm>
            <a:off x="5267143" y="278693"/>
            <a:ext cx="3740239" cy="77148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43" name="Rectangle: Rounded Corners 11">
            <a:extLst>
              <a:ext uri="{FF2B5EF4-FFF2-40B4-BE49-F238E27FC236}">
                <a16:creationId xmlns:a16="http://schemas.microsoft.com/office/drawing/2014/main" id="{8BB31B6F-0408-3B2B-6048-E86632C327C3}"/>
              </a:ext>
            </a:extLst>
          </p:cNvPr>
          <p:cNvSpPr/>
          <p:nvPr/>
        </p:nvSpPr>
        <p:spPr>
          <a:xfrm>
            <a:off x="5263436" y="1046439"/>
            <a:ext cx="3740184" cy="355916"/>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600"/>
              <a:t>Настоящ клиент за нов кредит</a:t>
            </a:r>
            <a:endParaRPr lang="en-US"/>
          </a:p>
        </p:txBody>
      </p:sp>
      <p:sp>
        <p:nvSpPr>
          <p:cNvPr id="47" name="Правоъгълник: със заоблени ъгли 16">
            <a:extLst>
              <a:ext uri="{FF2B5EF4-FFF2-40B4-BE49-F238E27FC236}">
                <a16:creationId xmlns:a16="http://schemas.microsoft.com/office/drawing/2014/main" id="{AB1D7947-47A4-F1E9-0309-40CB6352CF29}"/>
              </a:ext>
            </a:extLst>
          </p:cNvPr>
          <p:cNvSpPr/>
          <p:nvPr/>
        </p:nvSpPr>
        <p:spPr>
          <a:xfrm>
            <a:off x="5904554" y="5318755"/>
            <a:ext cx="2344027" cy="434737"/>
          </a:xfrm>
          <a:prstGeom prst="roundRect">
            <a:avLst>
              <a:gd name="adj" fmla="val 50000"/>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200"/>
              <a:t>Тренирай</a:t>
            </a:r>
          </a:p>
        </p:txBody>
      </p:sp>
      <p:sp>
        <p:nvSpPr>
          <p:cNvPr id="48" name="Знак за умножение 47">
            <a:extLst>
              <a:ext uri="{FF2B5EF4-FFF2-40B4-BE49-F238E27FC236}">
                <a16:creationId xmlns:a16="http://schemas.microsoft.com/office/drawing/2014/main" id="{13AF606B-FDAA-6A99-9F8A-21505BB1BEAC}"/>
              </a:ext>
            </a:extLst>
          </p:cNvPr>
          <p:cNvSpPr/>
          <p:nvPr/>
        </p:nvSpPr>
        <p:spPr>
          <a:xfrm>
            <a:off x="8520991" y="961176"/>
            <a:ext cx="446569" cy="496188"/>
          </a:xfrm>
          <a:prstGeom prst="mathMultiply">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59" name="Правоъгълник: със заоблени ъгли 58">
            <a:extLst>
              <a:ext uri="{FF2B5EF4-FFF2-40B4-BE49-F238E27FC236}">
                <a16:creationId xmlns:a16="http://schemas.microsoft.com/office/drawing/2014/main" id="{EE446AB0-58D9-D9C2-D236-AE6D62475E51}"/>
              </a:ext>
            </a:extLst>
          </p:cNvPr>
          <p:cNvSpPr/>
          <p:nvPr/>
        </p:nvSpPr>
        <p:spPr>
          <a:xfrm>
            <a:off x="719415" y="256478"/>
            <a:ext cx="3671794" cy="6172583"/>
          </a:xfrm>
          <a:prstGeom prst="roundRect">
            <a:avLst/>
          </a:prstGeom>
          <a:solidFill>
            <a:schemeClr val="bg1">
              <a:lumMod val="95000"/>
            </a:schemeClr>
          </a:solidFill>
          <a:ln>
            <a:noFill/>
          </a:ln>
          <a:effectLst>
            <a:outerShdw blurRad="63500" dist="38100" dir="270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pic>
        <p:nvPicPr>
          <p:cNvPr id="60" name="Picture 10" descr="Картина, която съдържа текст, екранна снимка&#10;&#10;Генерирано от ИИ съдържание може да е неправилно.">
            <a:extLst>
              <a:ext uri="{FF2B5EF4-FFF2-40B4-BE49-F238E27FC236}">
                <a16:creationId xmlns:a16="http://schemas.microsoft.com/office/drawing/2014/main" id="{7019742D-DEEA-30E8-EDDF-6D02279F865A}"/>
              </a:ext>
            </a:extLst>
          </p:cNvPr>
          <p:cNvPicPr>
            <a:picLocks noChangeAspect="1"/>
          </p:cNvPicPr>
          <p:nvPr/>
        </p:nvPicPr>
        <p:blipFill>
          <a:blip r:embed="rId2"/>
          <a:srcRect b="88415"/>
          <a:stretch>
            <a:fillRect/>
          </a:stretch>
        </p:blipFill>
        <p:spPr>
          <a:xfrm>
            <a:off x="688049" y="260331"/>
            <a:ext cx="3740239" cy="77148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62" name="Стрелка надясно 61">
            <a:extLst>
              <a:ext uri="{FF2B5EF4-FFF2-40B4-BE49-F238E27FC236}">
                <a16:creationId xmlns:a16="http://schemas.microsoft.com/office/drawing/2014/main" id="{F1C37621-7543-00B8-DB2B-CFA218782938}"/>
              </a:ext>
            </a:extLst>
          </p:cNvPr>
          <p:cNvSpPr/>
          <p:nvPr/>
        </p:nvSpPr>
        <p:spPr>
          <a:xfrm>
            <a:off x="4584780" y="2818350"/>
            <a:ext cx="535883" cy="30763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3" name="Rectangle: Rounded Corners 2">
            <a:extLst>
              <a:ext uri="{FF2B5EF4-FFF2-40B4-BE49-F238E27FC236}">
                <a16:creationId xmlns:a16="http://schemas.microsoft.com/office/drawing/2014/main" id="{74DF4B12-B049-2EC0-4B4F-84A9080F5D5D}"/>
              </a:ext>
            </a:extLst>
          </p:cNvPr>
          <p:cNvSpPr/>
          <p:nvPr/>
        </p:nvSpPr>
        <p:spPr>
          <a:xfrm>
            <a:off x="1053381" y="2244970"/>
            <a:ext cx="2871747" cy="767079"/>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ru-RU" sz="1600"/>
              <a:t>Настоящ клиент за нов кредит</a:t>
            </a:r>
            <a:endParaRPr lang="en-GB" sz="1600"/>
          </a:p>
        </p:txBody>
      </p:sp>
      <p:sp>
        <p:nvSpPr>
          <p:cNvPr id="6" name="Rectangle: Rounded Corners 5">
            <a:extLst>
              <a:ext uri="{FF2B5EF4-FFF2-40B4-BE49-F238E27FC236}">
                <a16:creationId xmlns:a16="http://schemas.microsoft.com/office/drawing/2014/main" id="{150B9604-DB95-31CF-5033-A5A5A2F5084C}"/>
              </a:ext>
            </a:extLst>
          </p:cNvPr>
          <p:cNvSpPr/>
          <p:nvPr/>
        </p:nvSpPr>
        <p:spPr>
          <a:xfrm>
            <a:off x="1053381" y="1355245"/>
            <a:ext cx="2871747" cy="767079"/>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Нов клиент в офис</a:t>
            </a:r>
            <a:endParaRPr lang="en-GB" sz="1600"/>
          </a:p>
        </p:txBody>
      </p:sp>
      <p:sp>
        <p:nvSpPr>
          <p:cNvPr id="9" name="Rectangle: Rounded Corners 8">
            <a:extLst>
              <a:ext uri="{FF2B5EF4-FFF2-40B4-BE49-F238E27FC236}">
                <a16:creationId xmlns:a16="http://schemas.microsoft.com/office/drawing/2014/main" id="{1F887434-9C54-FACF-3F48-D056041F9314}"/>
              </a:ext>
            </a:extLst>
          </p:cNvPr>
          <p:cNvSpPr/>
          <p:nvPr/>
        </p:nvSpPr>
        <p:spPr>
          <a:xfrm>
            <a:off x="1053381" y="3134695"/>
            <a:ext cx="2871747" cy="767079"/>
          </a:xfrm>
          <a:prstGeom prst="roundRect">
            <a:avLst/>
          </a:prstGeom>
          <a:solidFill>
            <a:srgbClr val="A5A5A5"/>
          </a:solidFill>
          <a:ln>
            <a:solidFill>
              <a:srgbClr val="A5A5A5"/>
            </a:solid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Настоящ клиент за рефинансиране</a:t>
            </a:r>
            <a:endParaRPr lang="en-GB" sz="1600"/>
          </a:p>
        </p:txBody>
      </p:sp>
      <p:sp>
        <p:nvSpPr>
          <p:cNvPr id="11" name="Rectangle 11">
            <a:extLst>
              <a:ext uri="{FF2B5EF4-FFF2-40B4-BE49-F238E27FC236}">
                <a16:creationId xmlns:a16="http://schemas.microsoft.com/office/drawing/2014/main" id="{190FD34A-0280-8C98-BFC5-CD35D3F1837B}"/>
              </a:ext>
            </a:extLst>
          </p:cNvPr>
          <p:cNvSpPr/>
          <p:nvPr/>
        </p:nvSpPr>
        <p:spPr>
          <a:xfrm>
            <a:off x="1053381" y="4024421"/>
            <a:ext cx="2871747" cy="767079"/>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Посещение на адрес</a:t>
            </a:r>
            <a:endParaRPr lang="en-GB" sz="1600"/>
          </a:p>
        </p:txBody>
      </p:sp>
      <p:sp>
        <p:nvSpPr>
          <p:cNvPr id="15" name="Rectangle: Rounded Corners 14">
            <a:extLst>
              <a:ext uri="{FF2B5EF4-FFF2-40B4-BE49-F238E27FC236}">
                <a16:creationId xmlns:a16="http://schemas.microsoft.com/office/drawing/2014/main" id="{4FAEB1D2-4A36-7031-548D-2927FF9CF2D3}"/>
              </a:ext>
            </a:extLst>
          </p:cNvPr>
          <p:cNvSpPr/>
          <p:nvPr/>
        </p:nvSpPr>
        <p:spPr>
          <a:xfrm>
            <a:off x="5300151" y="1530141"/>
            <a:ext cx="3650156" cy="455520"/>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600">
                <a:ea typeface="+mn-lt"/>
                <a:cs typeface="+mn-lt"/>
              </a:rPr>
              <a:t>Клиент влиза в Регионален офис</a:t>
            </a:r>
            <a:endParaRPr lang="en-US"/>
          </a:p>
        </p:txBody>
      </p:sp>
      <p:sp>
        <p:nvSpPr>
          <p:cNvPr id="21" name="Rectangle: Rounded Corners 1">
            <a:extLst>
              <a:ext uri="{FF2B5EF4-FFF2-40B4-BE49-F238E27FC236}">
                <a16:creationId xmlns:a16="http://schemas.microsoft.com/office/drawing/2014/main" id="{DB52FE87-F265-0BA1-EED9-0B353AEB871A}"/>
              </a:ext>
            </a:extLst>
          </p:cNvPr>
          <p:cNvSpPr/>
          <p:nvPr/>
        </p:nvSpPr>
        <p:spPr>
          <a:xfrm>
            <a:off x="5479576" y="4311994"/>
            <a:ext cx="3207574" cy="467065"/>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600"/>
              <a:t>Видео</a:t>
            </a:r>
            <a:endParaRPr lang="en-GB" sz="1600"/>
          </a:p>
        </p:txBody>
      </p:sp>
      <p:sp>
        <p:nvSpPr>
          <p:cNvPr id="41" name="Знак плюс 40">
            <a:extLst>
              <a:ext uri="{FF2B5EF4-FFF2-40B4-BE49-F238E27FC236}">
                <a16:creationId xmlns:a16="http://schemas.microsoft.com/office/drawing/2014/main" id="{E135EFF1-EF91-50B3-A8AB-4A79E5C10D4D}"/>
              </a:ext>
            </a:extLst>
          </p:cNvPr>
          <p:cNvSpPr/>
          <p:nvPr/>
        </p:nvSpPr>
        <p:spPr>
          <a:xfrm>
            <a:off x="8632747" y="1591220"/>
            <a:ext cx="317560" cy="337408"/>
          </a:xfrm>
          <a:prstGeom prst="mathPlu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Tree>
    <p:extLst>
      <p:ext uri="{BB962C8B-B14F-4D97-AF65-F5344CB8AC3E}">
        <p14:creationId xmlns:p14="http://schemas.microsoft.com/office/powerpoint/2010/main" val="3144647336"/>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FC7B99-B75D-9053-60D8-7B67E3904C3F}"/>
            </a:ext>
          </a:extLst>
        </p:cNvPr>
        <p:cNvGrpSpPr/>
        <p:nvPr/>
      </p:nvGrpSpPr>
      <p:grpSpPr>
        <a:xfrm>
          <a:off x="0" y="0"/>
          <a:ext cx="0" cy="0"/>
          <a:chOff x="0" y="0"/>
          <a:chExt cx="0" cy="0"/>
        </a:xfrm>
      </p:grpSpPr>
      <p:sp>
        <p:nvSpPr>
          <p:cNvPr id="18" name="Rectangle: Rounded Corners 17">
            <a:extLst>
              <a:ext uri="{FF2B5EF4-FFF2-40B4-BE49-F238E27FC236}">
                <a16:creationId xmlns:a16="http://schemas.microsoft.com/office/drawing/2014/main" id="{8B221EEF-F657-FD25-6B04-CF8E84A15524}"/>
              </a:ext>
            </a:extLst>
          </p:cNvPr>
          <p:cNvSpPr/>
          <p:nvPr/>
        </p:nvSpPr>
        <p:spPr>
          <a:xfrm>
            <a:off x="1896199" y="2037152"/>
            <a:ext cx="2871747" cy="767079"/>
          </a:xfrm>
          <a:prstGeom prst="roundRect">
            <a:avLst/>
          </a:prstGeom>
          <a:solidFill>
            <a:schemeClr val="bg2">
              <a:lumMod val="75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ru-RU" sz="1600"/>
              <a:t>Настоящ клиент за нов кредит</a:t>
            </a:r>
            <a:endParaRPr lang="en-GB" sz="1600"/>
          </a:p>
        </p:txBody>
      </p:sp>
      <p:sp>
        <p:nvSpPr>
          <p:cNvPr id="19" name="Rectangle: Rounded Corners 18">
            <a:extLst>
              <a:ext uri="{FF2B5EF4-FFF2-40B4-BE49-F238E27FC236}">
                <a16:creationId xmlns:a16="http://schemas.microsoft.com/office/drawing/2014/main" id="{11266D20-8B92-DCFD-3623-FD1CC4B770EB}"/>
              </a:ext>
            </a:extLst>
          </p:cNvPr>
          <p:cNvSpPr/>
          <p:nvPr/>
        </p:nvSpPr>
        <p:spPr>
          <a:xfrm>
            <a:off x="1896199" y="1147427"/>
            <a:ext cx="2871747" cy="767079"/>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Нов клиент в офис</a:t>
            </a:r>
            <a:endParaRPr lang="en-GB" sz="1600"/>
          </a:p>
        </p:txBody>
      </p:sp>
      <p:sp>
        <p:nvSpPr>
          <p:cNvPr id="25" name="Rectangle: Rounded Corners 24">
            <a:extLst>
              <a:ext uri="{FF2B5EF4-FFF2-40B4-BE49-F238E27FC236}">
                <a16:creationId xmlns:a16="http://schemas.microsoft.com/office/drawing/2014/main" id="{BFB7B705-880B-11E0-C981-30E909DDA9C8}"/>
              </a:ext>
            </a:extLst>
          </p:cNvPr>
          <p:cNvSpPr/>
          <p:nvPr/>
        </p:nvSpPr>
        <p:spPr>
          <a:xfrm>
            <a:off x="1896199" y="2926877"/>
            <a:ext cx="2871747" cy="767079"/>
          </a:xfrm>
          <a:prstGeom prst="roundRect">
            <a:avLst/>
          </a:prstGeom>
          <a:solidFill>
            <a:schemeClr val="accent1"/>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Настоящ клиент за рефинансиране</a:t>
            </a:r>
            <a:endParaRPr lang="en-GB" sz="1600"/>
          </a:p>
        </p:txBody>
      </p:sp>
      <p:sp>
        <p:nvSpPr>
          <p:cNvPr id="26" name="Rectangle 11">
            <a:extLst>
              <a:ext uri="{FF2B5EF4-FFF2-40B4-BE49-F238E27FC236}">
                <a16:creationId xmlns:a16="http://schemas.microsoft.com/office/drawing/2014/main" id="{4AD6E82D-E72F-F55B-125B-DDCED55BE850}"/>
              </a:ext>
            </a:extLst>
          </p:cNvPr>
          <p:cNvSpPr/>
          <p:nvPr/>
        </p:nvSpPr>
        <p:spPr>
          <a:xfrm>
            <a:off x="1896199" y="3816603"/>
            <a:ext cx="2871747" cy="767079"/>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Посещение на адрес</a:t>
            </a:r>
            <a:endParaRPr lang="en-GB" sz="1600"/>
          </a:p>
        </p:txBody>
      </p:sp>
      <p:sp>
        <p:nvSpPr>
          <p:cNvPr id="27" name="Rectangle 3">
            <a:extLst>
              <a:ext uri="{FF2B5EF4-FFF2-40B4-BE49-F238E27FC236}">
                <a16:creationId xmlns:a16="http://schemas.microsoft.com/office/drawing/2014/main" id="{0CB492F3-27AA-F669-12F4-D99EF085E1C1}"/>
              </a:ext>
            </a:extLst>
          </p:cNvPr>
          <p:cNvSpPr/>
          <p:nvPr/>
        </p:nvSpPr>
        <p:spPr>
          <a:xfrm>
            <a:off x="1443475" y="4245"/>
            <a:ext cx="5338363" cy="677242"/>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28" name="Rectangle 4">
            <a:extLst>
              <a:ext uri="{FF2B5EF4-FFF2-40B4-BE49-F238E27FC236}">
                <a16:creationId xmlns:a16="http://schemas.microsoft.com/office/drawing/2014/main" id="{2D88FDD7-B055-79C6-392A-1C92283FD444}"/>
              </a:ext>
            </a:extLst>
          </p:cNvPr>
          <p:cNvSpPr/>
          <p:nvPr/>
        </p:nvSpPr>
        <p:spPr>
          <a:xfrm>
            <a:off x="6788435" y="4245"/>
            <a:ext cx="5417300" cy="677242"/>
          </a:xfrm>
          <a:prstGeom prst="rect">
            <a:avLst/>
          </a:prstGeom>
          <a:solidFill>
            <a:schemeClr val="accent1"/>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29" name="Rectangle 28">
            <a:extLst>
              <a:ext uri="{FF2B5EF4-FFF2-40B4-BE49-F238E27FC236}">
                <a16:creationId xmlns:a16="http://schemas.microsoft.com/office/drawing/2014/main" id="{613F8F6F-8286-4ADA-F740-C60EE69B3E8F}"/>
              </a:ext>
            </a:extLst>
          </p:cNvPr>
          <p:cNvSpPr/>
          <p:nvPr/>
        </p:nvSpPr>
        <p:spPr>
          <a:xfrm>
            <a:off x="-1671" y="1599"/>
            <a:ext cx="1451167" cy="6866954"/>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200">
              <a:latin typeface="Aptos"/>
              <a:ea typeface="Calibri"/>
              <a:cs typeface="Calibri"/>
            </a:endParaRPr>
          </a:p>
        </p:txBody>
      </p:sp>
      <p:sp>
        <p:nvSpPr>
          <p:cNvPr id="30" name="Rectangle 29">
            <a:extLst>
              <a:ext uri="{FF2B5EF4-FFF2-40B4-BE49-F238E27FC236}">
                <a16:creationId xmlns:a16="http://schemas.microsoft.com/office/drawing/2014/main" id="{54B6094C-F438-7897-16E6-2FBEF9300A0A}"/>
              </a:ext>
            </a:extLst>
          </p:cNvPr>
          <p:cNvSpPr/>
          <p:nvPr/>
        </p:nvSpPr>
        <p:spPr>
          <a:xfrm>
            <a:off x="-1671" y="2528038"/>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Типове клиенти</a:t>
            </a:r>
            <a:endParaRPr lang="en-GB" sz="1400">
              <a:latin typeface="Aptos"/>
              <a:ea typeface="Calibri"/>
              <a:cs typeface="Calibri"/>
            </a:endParaRPr>
          </a:p>
        </p:txBody>
      </p:sp>
      <p:sp>
        <p:nvSpPr>
          <p:cNvPr id="31" name="Rectangle 30">
            <a:extLst>
              <a:ext uri="{FF2B5EF4-FFF2-40B4-BE49-F238E27FC236}">
                <a16:creationId xmlns:a16="http://schemas.microsoft.com/office/drawing/2014/main" id="{AC383B23-86FD-A712-C049-C14702E3AAFA}"/>
              </a:ext>
            </a:extLst>
          </p:cNvPr>
          <p:cNvSpPr/>
          <p:nvPr/>
        </p:nvSpPr>
        <p:spPr>
          <a:xfrm>
            <a:off x="8626" y="1913210"/>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b="1">
                <a:solidFill>
                  <a:srgbClr val="2F5597"/>
                </a:solidFill>
                <a:latin typeface="Aptos"/>
                <a:ea typeface="Calibri"/>
                <a:cs typeface="Calibri"/>
              </a:rPr>
              <a:t>Сценарии</a:t>
            </a:r>
            <a:endParaRPr lang="en-GB" sz="1400" b="1">
              <a:solidFill>
                <a:srgbClr val="2F5597"/>
              </a:solidFill>
              <a:latin typeface="Aptos"/>
              <a:ea typeface="Calibri"/>
              <a:cs typeface="Calibri"/>
            </a:endParaRPr>
          </a:p>
        </p:txBody>
      </p:sp>
      <p:sp>
        <p:nvSpPr>
          <p:cNvPr id="32" name="Rectangle 31">
            <a:extLst>
              <a:ext uri="{FF2B5EF4-FFF2-40B4-BE49-F238E27FC236}">
                <a16:creationId xmlns:a16="http://schemas.microsoft.com/office/drawing/2014/main" id="{3832A4BC-4AE7-91DB-9CE2-75AB67F6727F}"/>
              </a:ext>
            </a:extLst>
          </p:cNvPr>
          <p:cNvSpPr/>
          <p:nvPr/>
        </p:nvSpPr>
        <p:spPr>
          <a:xfrm>
            <a:off x="-1671" y="1298382"/>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b="1">
                <a:solidFill>
                  <a:schemeClr val="bg1"/>
                </a:solidFill>
                <a:latin typeface="Aptos"/>
                <a:ea typeface="Calibri"/>
                <a:cs typeface="Calibri"/>
              </a:rPr>
              <a:t>Стъпки при среща</a:t>
            </a:r>
            <a:endParaRPr lang="bg-BG" sz="1400">
              <a:solidFill>
                <a:srgbClr val="000000"/>
              </a:solidFill>
              <a:latin typeface="Aptos"/>
              <a:ea typeface="Calibri"/>
              <a:cs typeface="Calibri"/>
            </a:endParaRPr>
          </a:p>
        </p:txBody>
      </p:sp>
      <p:sp>
        <p:nvSpPr>
          <p:cNvPr id="33" name="Rectangle 28">
            <a:extLst>
              <a:ext uri="{FF2B5EF4-FFF2-40B4-BE49-F238E27FC236}">
                <a16:creationId xmlns:a16="http://schemas.microsoft.com/office/drawing/2014/main" id="{5FFE0BA1-4A99-4F43-A1C9-74776D0E947D}"/>
              </a:ext>
            </a:extLst>
          </p:cNvPr>
          <p:cNvSpPr/>
          <p:nvPr/>
        </p:nvSpPr>
        <p:spPr>
          <a:xfrm>
            <a:off x="6154" y="690328"/>
            <a:ext cx="1435083"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a:solidFill>
                  <a:schemeClr val="bg1"/>
                </a:solidFill>
                <a:latin typeface="Aptos"/>
                <a:ea typeface="Calibri"/>
                <a:cs typeface="Calibri"/>
              </a:rPr>
              <a:t>Подготовка</a:t>
            </a:r>
            <a:endParaRPr lang="en-GB" sz="1400">
              <a:solidFill>
                <a:schemeClr val="bg1"/>
              </a:solidFill>
              <a:latin typeface="Aptos"/>
              <a:ea typeface="Calibri"/>
              <a:cs typeface="Calibri"/>
            </a:endParaRPr>
          </a:p>
        </p:txBody>
      </p:sp>
      <p:pic>
        <p:nvPicPr>
          <p:cNvPr id="35" name="Picture 34">
            <a:extLst>
              <a:ext uri="{FF2B5EF4-FFF2-40B4-BE49-F238E27FC236}">
                <a16:creationId xmlns:a16="http://schemas.microsoft.com/office/drawing/2014/main" id="{574C254A-22A7-D579-7491-91ABA8F5F72F}"/>
              </a:ext>
            </a:extLst>
          </p:cNvPr>
          <p:cNvPicPr>
            <a:picLocks noChangeAspect="1"/>
          </p:cNvPicPr>
          <p:nvPr/>
        </p:nvPicPr>
        <p:blipFill>
          <a:blip r:embed="rId2"/>
          <a:stretch>
            <a:fillRect/>
          </a:stretch>
        </p:blipFill>
        <p:spPr>
          <a:xfrm>
            <a:off x="11031388" y="5709427"/>
            <a:ext cx="982751" cy="995681"/>
          </a:xfrm>
          <a:prstGeom prst="rect">
            <a:avLst/>
          </a:prstGeom>
        </p:spPr>
      </p:pic>
      <p:sp>
        <p:nvSpPr>
          <p:cNvPr id="3" name="Овал 2">
            <a:extLst>
              <a:ext uri="{FF2B5EF4-FFF2-40B4-BE49-F238E27FC236}">
                <a16:creationId xmlns:a16="http://schemas.microsoft.com/office/drawing/2014/main" id="{EE9E977E-A80A-5778-78DC-9AEC0DCBDEAA}"/>
              </a:ext>
            </a:extLst>
          </p:cNvPr>
          <p:cNvSpPr/>
          <p:nvPr/>
        </p:nvSpPr>
        <p:spPr>
          <a:xfrm>
            <a:off x="16277461" y="1430065"/>
            <a:ext cx="177402" cy="159446"/>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20" name="Правоъгълник: със заоблени ъгли 16">
            <a:extLst>
              <a:ext uri="{FF2B5EF4-FFF2-40B4-BE49-F238E27FC236}">
                <a16:creationId xmlns:a16="http://schemas.microsoft.com/office/drawing/2014/main" id="{7FB24F44-6948-0020-38F8-4E7DFFABD005}"/>
              </a:ext>
            </a:extLst>
          </p:cNvPr>
          <p:cNvSpPr/>
          <p:nvPr/>
        </p:nvSpPr>
        <p:spPr>
          <a:xfrm>
            <a:off x="5294850" y="3553597"/>
            <a:ext cx="2013461" cy="519092"/>
          </a:xfrm>
          <a:prstGeom prst="roundRect">
            <a:avLst>
              <a:gd name="adj" fmla="val 50000"/>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Тренирай</a:t>
            </a:r>
          </a:p>
        </p:txBody>
      </p:sp>
      <p:sp>
        <p:nvSpPr>
          <p:cNvPr id="22" name="Rectangle: Rounded Corners 21">
            <a:extLst>
              <a:ext uri="{FF2B5EF4-FFF2-40B4-BE49-F238E27FC236}">
                <a16:creationId xmlns:a16="http://schemas.microsoft.com/office/drawing/2014/main" id="{6B70D32F-C58E-8736-41F3-FBCC96DA8CE6}"/>
              </a:ext>
            </a:extLst>
          </p:cNvPr>
          <p:cNvSpPr/>
          <p:nvPr/>
        </p:nvSpPr>
        <p:spPr>
          <a:xfrm>
            <a:off x="5375803" y="1552088"/>
            <a:ext cx="1841407" cy="467065"/>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600">
                <a:ea typeface="+mn-lt"/>
                <a:cs typeface="+mn-lt"/>
              </a:rPr>
              <a:t>Клиент влиза в Регионален офис</a:t>
            </a:r>
            <a:endParaRPr lang="en-US"/>
          </a:p>
        </p:txBody>
      </p:sp>
      <p:sp>
        <p:nvSpPr>
          <p:cNvPr id="39" name="Rectangle: Rounded Corners 1">
            <a:extLst>
              <a:ext uri="{FF2B5EF4-FFF2-40B4-BE49-F238E27FC236}">
                <a16:creationId xmlns:a16="http://schemas.microsoft.com/office/drawing/2014/main" id="{C51B444C-5F0F-1BD9-7E2D-4B0E8B13FD74}"/>
              </a:ext>
            </a:extLst>
          </p:cNvPr>
          <p:cNvSpPr/>
          <p:nvPr/>
        </p:nvSpPr>
        <p:spPr>
          <a:xfrm>
            <a:off x="7846395" y="1875905"/>
            <a:ext cx="3196027" cy="1667792"/>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600"/>
              <a:t>Видео</a:t>
            </a:r>
            <a:endParaRPr lang="en-GB" sz="1600"/>
          </a:p>
        </p:txBody>
      </p:sp>
    </p:spTree>
    <p:extLst>
      <p:ext uri="{BB962C8B-B14F-4D97-AF65-F5344CB8AC3E}">
        <p14:creationId xmlns:p14="http://schemas.microsoft.com/office/powerpoint/2010/main" val="2780967793"/>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A46E75-4DB6-FAFA-DA31-7874B6ADD43C}"/>
            </a:ext>
          </a:extLst>
        </p:cNvPr>
        <p:cNvGrpSpPr/>
        <p:nvPr/>
      </p:nvGrpSpPr>
      <p:grpSpPr>
        <a:xfrm>
          <a:off x="0" y="0"/>
          <a:ext cx="0" cy="0"/>
          <a:chOff x="0" y="0"/>
          <a:chExt cx="0" cy="0"/>
        </a:xfrm>
      </p:grpSpPr>
      <p:sp>
        <p:nvSpPr>
          <p:cNvPr id="27" name="Rectangle 3">
            <a:extLst>
              <a:ext uri="{FF2B5EF4-FFF2-40B4-BE49-F238E27FC236}">
                <a16:creationId xmlns:a16="http://schemas.microsoft.com/office/drawing/2014/main" id="{7E966BB6-4676-DE72-7841-30B7FB4E31B9}"/>
              </a:ext>
            </a:extLst>
          </p:cNvPr>
          <p:cNvSpPr/>
          <p:nvPr/>
        </p:nvSpPr>
        <p:spPr>
          <a:xfrm>
            <a:off x="1443475" y="4245"/>
            <a:ext cx="5338363" cy="677242"/>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28" name="Rectangle 4">
            <a:extLst>
              <a:ext uri="{FF2B5EF4-FFF2-40B4-BE49-F238E27FC236}">
                <a16:creationId xmlns:a16="http://schemas.microsoft.com/office/drawing/2014/main" id="{AE95B504-0971-7BF7-DC54-954188FAC213}"/>
              </a:ext>
            </a:extLst>
          </p:cNvPr>
          <p:cNvSpPr/>
          <p:nvPr/>
        </p:nvSpPr>
        <p:spPr>
          <a:xfrm>
            <a:off x="6788435" y="4245"/>
            <a:ext cx="5417300" cy="677242"/>
          </a:xfrm>
          <a:prstGeom prst="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29" name="Rectangle 28">
            <a:extLst>
              <a:ext uri="{FF2B5EF4-FFF2-40B4-BE49-F238E27FC236}">
                <a16:creationId xmlns:a16="http://schemas.microsoft.com/office/drawing/2014/main" id="{A11FB9CB-AE3B-23AA-AEF4-FA4529775E5C}"/>
              </a:ext>
            </a:extLst>
          </p:cNvPr>
          <p:cNvSpPr/>
          <p:nvPr/>
        </p:nvSpPr>
        <p:spPr>
          <a:xfrm>
            <a:off x="-1671" y="1599"/>
            <a:ext cx="1451167" cy="6866954"/>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200">
              <a:latin typeface="Aptos"/>
              <a:ea typeface="Calibri"/>
              <a:cs typeface="Calibri"/>
            </a:endParaRPr>
          </a:p>
        </p:txBody>
      </p:sp>
      <p:sp>
        <p:nvSpPr>
          <p:cNvPr id="30" name="Rectangle 29">
            <a:extLst>
              <a:ext uri="{FF2B5EF4-FFF2-40B4-BE49-F238E27FC236}">
                <a16:creationId xmlns:a16="http://schemas.microsoft.com/office/drawing/2014/main" id="{D0D5158A-6EFE-A3DD-E887-620F51CD72BC}"/>
              </a:ext>
            </a:extLst>
          </p:cNvPr>
          <p:cNvSpPr/>
          <p:nvPr/>
        </p:nvSpPr>
        <p:spPr>
          <a:xfrm>
            <a:off x="-1671" y="2528038"/>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Типове клиенти</a:t>
            </a:r>
            <a:endParaRPr lang="en-GB" sz="1400">
              <a:latin typeface="Aptos"/>
              <a:ea typeface="Calibri"/>
              <a:cs typeface="Calibri"/>
            </a:endParaRPr>
          </a:p>
        </p:txBody>
      </p:sp>
      <p:sp>
        <p:nvSpPr>
          <p:cNvPr id="31" name="Rectangle 30">
            <a:extLst>
              <a:ext uri="{FF2B5EF4-FFF2-40B4-BE49-F238E27FC236}">
                <a16:creationId xmlns:a16="http://schemas.microsoft.com/office/drawing/2014/main" id="{A5BBECD9-7CEF-25D9-EEF4-8EB3621B678C}"/>
              </a:ext>
            </a:extLst>
          </p:cNvPr>
          <p:cNvSpPr/>
          <p:nvPr/>
        </p:nvSpPr>
        <p:spPr>
          <a:xfrm>
            <a:off x="8626" y="1913210"/>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b="1">
                <a:solidFill>
                  <a:srgbClr val="2F5597"/>
                </a:solidFill>
                <a:latin typeface="Aptos"/>
                <a:ea typeface="Calibri"/>
                <a:cs typeface="Calibri"/>
              </a:rPr>
              <a:t>Сценарии</a:t>
            </a:r>
            <a:endParaRPr lang="en-GB" sz="1400" b="1">
              <a:solidFill>
                <a:srgbClr val="2F5597"/>
              </a:solidFill>
              <a:latin typeface="Aptos"/>
              <a:ea typeface="Calibri"/>
              <a:cs typeface="Calibri"/>
            </a:endParaRPr>
          </a:p>
        </p:txBody>
      </p:sp>
      <p:sp>
        <p:nvSpPr>
          <p:cNvPr id="32" name="Rectangle 31">
            <a:extLst>
              <a:ext uri="{FF2B5EF4-FFF2-40B4-BE49-F238E27FC236}">
                <a16:creationId xmlns:a16="http://schemas.microsoft.com/office/drawing/2014/main" id="{3B4D1377-5654-5B39-6E63-78CBF6A63074}"/>
              </a:ext>
            </a:extLst>
          </p:cNvPr>
          <p:cNvSpPr/>
          <p:nvPr/>
        </p:nvSpPr>
        <p:spPr>
          <a:xfrm>
            <a:off x="-1671" y="1298382"/>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b="1">
                <a:solidFill>
                  <a:schemeClr val="bg1"/>
                </a:solidFill>
                <a:latin typeface="Aptos"/>
                <a:ea typeface="Calibri"/>
                <a:cs typeface="Calibri"/>
              </a:rPr>
              <a:t>Стъпки при среща</a:t>
            </a:r>
            <a:endParaRPr lang="bg-BG" sz="1400">
              <a:solidFill>
                <a:srgbClr val="000000"/>
              </a:solidFill>
              <a:latin typeface="Aptos"/>
              <a:ea typeface="Calibri"/>
              <a:cs typeface="Calibri"/>
            </a:endParaRPr>
          </a:p>
        </p:txBody>
      </p:sp>
      <p:sp>
        <p:nvSpPr>
          <p:cNvPr id="33" name="Rectangle 28">
            <a:extLst>
              <a:ext uri="{FF2B5EF4-FFF2-40B4-BE49-F238E27FC236}">
                <a16:creationId xmlns:a16="http://schemas.microsoft.com/office/drawing/2014/main" id="{23C843A3-B3BA-F0BB-A3B0-FF9CCAF2FEB0}"/>
              </a:ext>
            </a:extLst>
          </p:cNvPr>
          <p:cNvSpPr/>
          <p:nvPr/>
        </p:nvSpPr>
        <p:spPr>
          <a:xfrm>
            <a:off x="6154" y="690328"/>
            <a:ext cx="1435083"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a:solidFill>
                  <a:schemeClr val="bg1"/>
                </a:solidFill>
                <a:latin typeface="Aptos"/>
                <a:ea typeface="Calibri"/>
                <a:cs typeface="Calibri"/>
              </a:rPr>
              <a:t>Подготовка</a:t>
            </a:r>
            <a:endParaRPr lang="en-GB" sz="1400">
              <a:solidFill>
                <a:schemeClr val="bg1"/>
              </a:solidFill>
              <a:latin typeface="Aptos"/>
              <a:ea typeface="Calibri"/>
              <a:cs typeface="Calibri"/>
            </a:endParaRPr>
          </a:p>
        </p:txBody>
      </p:sp>
      <p:pic>
        <p:nvPicPr>
          <p:cNvPr id="35" name="Picture 34">
            <a:extLst>
              <a:ext uri="{FF2B5EF4-FFF2-40B4-BE49-F238E27FC236}">
                <a16:creationId xmlns:a16="http://schemas.microsoft.com/office/drawing/2014/main" id="{DF47C00E-BFBC-16DD-3797-4392ABA41994}"/>
              </a:ext>
            </a:extLst>
          </p:cNvPr>
          <p:cNvPicPr>
            <a:picLocks noChangeAspect="1"/>
          </p:cNvPicPr>
          <p:nvPr/>
        </p:nvPicPr>
        <p:blipFill>
          <a:blip r:embed="rId2"/>
          <a:stretch>
            <a:fillRect/>
          </a:stretch>
        </p:blipFill>
        <p:spPr>
          <a:xfrm>
            <a:off x="11031388" y="5709427"/>
            <a:ext cx="982751" cy="995681"/>
          </a:xfrm>
          <a:prstGeom prst="rect">
            <a:avLst/>
          </a:prstGeom>
        </p:spPr>
      </p:pic>
      <p:sp>
        <p:nvSpPr>
          <p:cNvPr id="3" name="Овал 2">
            <a:extLst>
              <a:ext uri="{FF2B5EF4-FFF2-40B4-BE49-F238E27FC236}">
                <a16:creationId xmlns:a16="http://schemas.microsoft.com/office/drawing/2014/main" id="{DBC1F400-BB09-9065-C6E9-D87A113492FA}"/>
              </a:ext>
            </a:extLst>
          </p:cNvPr>
          <p:cNvSpPr/>
          <p:nvPr/>
        </p:nvSpPr>
        <p:spPr>
          <a:xfrm>
            <a:off x="16277461" y="1430065"/>
            <a:ext cx="177402" cy="159446"/>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6" name="Rectangle: Rounded Corners 1">
            <a:extLst>
              <a:ext uri="{FF2B5EF4-FFF2-40B4-BE49-F238E27FC236}">
                <a16:creationId xmlns:a16="http://schemas.microsoft.com/office/drawing/2014/main" id="{6DA31EDD-2682-33B1-10B3-F46A4C5DC85F}"/>
              </a:ext>
            </a:extLst>
          </p:cNvPr>
          <p:cNvSpPr/>
          <p:nvPr/>
        </p:nvSpPr>
        <p:spPr>
          <a:xfrm>
            <a:off x="2167114" y="923406"/>
            <a:ext cx="8875308" cy="4942009"/>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endParaRPr lang="ru-RU" sz="1600" dirty="0"/>
          </a:p>
        </p:txBody>
      </p:sp>
      <p:sp>
        <p:nvSpPr>
          <p:cNvPr id="8" name="Знак за умножение 47">
            <a:extLst>
              <a:ext uri="{FF2B5EF4-FFF2-40B4-BE49-F238E27FC236}">
                <a16:creationId xmlns:a16="http://schemas.microsoft.com/office/drawing/2014/main" id="{33837742-F15C-5482-5861-7B48DAFC7463}"/>
              </a:ext>
            </a:extLst>
          </p:cNvPr>
          <p:cNvSpPr/>
          <p:nvPr/>
        </p:nvSpPr>
        <p:spPr>
          <a:xfrm>
            <a:off x="10187866" y="1216258"/>
            <a:ext cx="446569" cy="496188"/>
          </a:xfrm>
          <a:prstGeom prst="mathMultiply">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10" name="Isosceles Triangle 9">
            <a:extLst>
              <a:ext uri="{FF2B5EF4-FFF2-40B4-BE49-F238E27FC236}">
                <a16:creationId xmlns:a16="http://schemas.microsoft.com/office/drawing/2014/main" id="{CF0B2CAC-7DFA-320A-E096-7553C86FA11C}"/>
              </a:ext>
            </a:extLst>
          </p:cNvPr>
          <p:cNvSpPr/>
          <p:nvPr/>
        </p:nvSpPr>
        <p:spPr>
          <a:xfrm rot="5400000">
            <a:off x="6219467" y="3240570"/>
            <a:ext cx="758838" cy="729079"/>
          </a:xfrm>
          <a:prstGeom prst="triangl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27228897"/>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28D517-C338-4BC9-B202-0DF72430E405}"/>
            </a:ext>
          </a:extLst>
        </p:cNvPr>
        <p:cNvGrpSpPr/>
        <p:nvPr/>
      </p:nvGrpSpPr>
      <p:grpSpPr>
        <a:xfrm>
          <a:off x="0" y="0"/>
          <a:ext cx="0" cy="0"/>
          <a:chOff x="0" y="0"/>
          <a:chExt cx="0" cy="0"/>
        </a:xfrm>
      </p:grpSpPr>
      <p:sp>
        <p:nvSpPr>
          <p:cNvPr id="18" name="Rectangle: Rounded Corners 17">
            <a:extLst>
              <a:ext uri="{FF2B5EF4-FFF2-40B4-BE49-F238E27FC236}">
                <a16:creationId xmlns:a16="http://schemas.microsoft.com/office/drawing/2014/main" id="{904239B6-8B36-89BE-DDEF-3D50C24614FE}"/>
              </a:ext>
            </a:extLst>
          </p:cNvPr>
          <p:cNvSpPr/>
          <p:nvPr/>
        </p:nvSpPr>
        <p:spPr>
          <a:xfrm>
            <a:off x="1896199" y="2037152"/>
            <a:ext cx="2871747" cy="767079"/>
          </a:xfrm>
          <a:prstGeom prst="roundRect">
            <a:avLst/>
          </a:prstGeom>
          <a:solidFill>
            <a:schemeClr val="bg2">
              <a:lumMod val="75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ru-RU" sz="1600"/>
              <a:t>Настоящ клиент за нов кредит</a:t>
            </a:r>
            <a:endParaRPr lang="en-GB" sz="1600"/>
          </a:p>
        </p:txBody>
      </p:sp>
      <p:sp>
        <p:nvSpPr>
          <p:cNvPr id="19" name="Rectangle: Rounded Corners 18">
            <a:extLst>
              <a:ext uri="{FF2B5EF4-FFF2-40B4-BE49-F238E27FC236}">
                <a16:creationId xmlns:a16="http://schemas.microsoft.com/office/drawing/2014/main" id="{284101BE-C3F4-3F30-95F9-17D9369AF1B4}"/>
              </a:ext>
            </a:extLst>
          </p:cNvPr>
          <p:cNvSpPr/>
          <p:nvPr/>
        </p:nvSpPr>
        <p:spPr>
          <a:xfrm>
            <a:off x="1896199" y="1147427"/>
            <a:ext cx="2871747" cy="767079"/>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Нов клиент в офис</a:t>
            </a:r>
            <a:endParaRPr lang="en-GB" sz="1600"/>
          </a:p>
        </p:txBody>
      </p:sp>
      <p:sp>
        <p:nvSpPr>
          <p:cNvPr id="25" name="Rectangle: Rounded Corners 24">
            <a:extLst>
              <a:ext uri="{FF2B5EF4-FFF2-40B4-BE49-F238E27FC236}">
                <a16:creationId xmlns:a16="http://schemas.microsoft.com/office/drawing/2014/main" id="{C4C48BFE-BB35-A81D-66BD-F516C5D6563C}"/>
              </a:ext>
            </a:extLst>
          </p:cNvPr>
          <p:cNvSpPr/>
          <p:nvPr/>
        </p:nvSpPr>
        <p:spPr>
          <a:xfrm>
            <a:off x="1896199" y="2926877"/>
            <a:ext cx="2871747" cy="767079"/>
          </a:xfrm>
          <a:prstGeom prst="roundRect">
            <a:avLst/>
          </a:prstGeom>
          <a:solidFill>
            <a:schemeClr val="accent1"/>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Настоящ клиент за рефинансиране</a:t>
            </a:r>
            <a:endParaRPr lang="en-GB" sz="1600"/>
          </a:p>
        </p:txBody>
      </p:sp>
      <p:sp>
        <p:nvSpPr>
          <p:cNvPr id="26" name="Rectangle 11">
            <a:extLst>
              <a:ext uri="{FF2B5EF4-FFF2-40B4-BE49-F238E27FC236}">
                <a16:creationId xmlns:a16="http://schemas.microsoft.com/office/drawing/2014/main" id="{92D67933-0DD5-7A99-1FC3-40421A83A75E}"/>
              </a:ext>
            </a:extLst>
          </p:cNvPr>
          <p:cNvSpPr/>
          <p:nvPr/>
        </p:nvSpPr>
        <p:spPr>
          <a:xfrm>
            <a:off x="1896199" y="3816603"/>
            <a:ext cx="2871747" cy="767079"/>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Посещение на адрес</a:t>
            </a:r>
            <a:endParaRPr lang="en-GB" sz="1600"/>
          </a:p>
        </p:txBody>
      </p:sp>
      <p:sp>
        <p:nvSpPr>
          <p:cNvPr id="27" name="Rectangle 3">
            <a:extLst>
              <a:ext uri="{FF2B5EF4-FFF2-40B4-BE49-F238E27FC236}">
                <a16:creationId xmlns:a16="http://schemas.microsoft.com/office/drawing/2014/main" id="{457820C9-29B9-6D3A-828A-75589FFDD4FB}"/>
              </a:ext>
            </a:extLst>
          </p:cNvPr>
          <p:cNvSpPr/>
          <p:nvPr/>
        </p:nvSpPr>
        <p:spPr>
          <a:xfrm>
            <a:off x="1443475" y="4245"/>
            <a:ext cx="5338363" cy="677242"/>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28" name="Rectangle 4">
            <a:extLst>
              <a:ext uri="{FF2B5EF4-FFF2-40B4-BE49-F238E27FC236}">
                <a16:creationId xmlns:a16="http://schemas.microsoft.com/office/drawing/2014/main" id="{D5F53076-50EB-694C-1069-1736C3F2360B}"/>
              </a:ext>
            </a:extLst>
          </p:cNvPr>
          <p:cNvSpPr/>
          <p:nvPr/>
        </p:nvSpPr>
        <p:spPr>
          <a:xfrm>
            <a:off x="6788435" y="4245"/>
            <a:ext cx="5417300" cy="677242"/>
          </a:xfrm>
          <a:prstGeom prst="rect">
            <a:avLst/>
          </a:prstGeom>
          <a:solidFill>
            <a:schemeClr val="accent1"/>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29" name="Rectangle 28">
            <a:extLst>
              <a:ext uri="{FF2B5EF4-FFF2-40B4-BE49-F238E27FC236}">
                <a16:creationId xmlns:a16="http://schemas.microsoft.com/office/drawing/2014/main" id="{55DC5370-D2FA-52F0-F98A-28E77DEC8223}"/>
              </a:ext>
            </a:extLst>
          </p:cNvPr>
          <p:cNvSpPr/>
          <p:nvPr/>
        </p:nvSpPr>
        <p:spPr>
          <a:xfrm>
            <a:off x="-1671" y="1599"/>
            <a:ext cx="1451167" cy="6866954"/>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200">
              <a:latin typeface="Aptos"/>
              <a:ea typeface="Calibri"/>
              <a:cs typeface="Calibri"/>
            </a:endParaRPr>
          </a:p>
        </p:txBody>
      </p:sp>
      <p:sp>
        <p:nvSpPr>
          <p:cNvPr id="30" name="Rectangle 29">
            <a:extLst>
              <a:ext uri="{FF2B5EF4-FFF2-40B4-BE49-F238E27FC236}">
                <a16:creationId xmlns:a16="http://schemas.microsoft.com/office/drawing/2014/main" id="{2306F2C9-B580-CAF8-3CFC-EE470517EA55}"/>
              </a:ext>
            </a:extLst>
          </p:cNvPr>
          <p:cNvSpPr/>
          <p:nvPr/>
        </p:nvSpPr>
        <p:spPr>
          <a:xfrm>
            <a:off x="-1671" y="2528038"/>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Типове клиенти</a:t>
            </a:r>
            <a:endParaRPr lang="en-GB" sz="1400">
              <a:latin typeface="Aptos"/>
              <a:ea typeface="Calibri"/>
              <a:cs typeface="Calibri"/>
            </a:endParaRPr>
          </a:p>
        </p:txBody>
      </p:sp>
      <p:sp>
        <p:nvSpPr>
          <p:cNvPr id="31" name="Rectangle 30">
            <a:extLst>
              <a:ext uri="{FF2B5EF4-FFF2-40B4-BE49-F238E27FC236}">
                <a16:creationId xmlns:a16="http://schemas.microsoft.com/office/drawing/2014/main" id="{7481990A-A976-55D2-44D2-B06C2D069827}"/>
              </a:ext>
            </a:extLst>
          </p:cNvPr>
          <p:cNvSpPr/>
          <p:nvPr/>
        </p:nvSpPr>
        <p:spPr>
          <a:xfrm>
            <a:off x="8626" y="1913210"/>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b="1">
                <a:solidFill>
                  <a:srgbClr val="2F5597"/>
                </a:solidFill>
                <a:latin typeface="Aptos"/>
                <a:ea typeface="Calibri"/>
                <a:cs typeface="Calibri"/>
              </a:rPr>
              <a:t>Сценарии</a:t>
            </a:r>
            <a:endParaRPr lang="en-GB" sz="1400" b="1">
              <a:solidFill>
                <a:srgbClr val="2F5597"/>
              </a:solidFill>
              <a:latin typeface="Aptos"/>
              <a:ea typeface="Calibri"/>
              <a:cs typeface="Calibri"/>
            </a:endParaRPr>
          </a:p>
        </p:txBody>
      </p:sp>
      <p:sp>
        <p:nvSpPr>
          <p:cNvPr id="32" name="Rectangle 31">
            <a:extLst>
              <a:ext uri="{FF2B5EF4-FFF2-40B4-BE49-F238E27FC236}">
                <a16:creationId xmlns:a16="http://schemas.microsoft.com/office/drawing/2014/main" id="{288A19FA-1182-972C-0FC9-8F7A3C790554}"/>
              </a:ext>
            </a:extLst>
          </p:cNvPr>
          <p:cNvSpPr/>
          <p:nvPr/>
        </p:nvSpPr>
        <p:spPr>
          <a:xfrm>
            <a:off x="-1671" y="1298382"/>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b="1">
                <a:solidFill>
                  <a:schemeClr val="bg1"/>
                </a:solidFill>
                <a:latin typeface="Aptos"/>
                <a:ea typeface="Calibri"/>
                <a:cs typeface="Calibri"/>
              </a:rPr>
              <a:t>Стъпки при среща</a:t>
            </a:r>
            <a:endParaRPr lang="bg-BG" sz="1400">
              <a:solidFill>
                <a:srgbClr val="000000"/>
              </a:solidFill>
              <a:latin typeface="Aptos"/>
              <a:ea typeface="Calibri"/>
              <a:cs typeface="Calibri"/>
            </a:endParaRPr>
          </a:p>
        </p:txBody>
      </p:sp>
      <p:sp>
        <p:nvSpPr>
          <p:cNvPr id="33" name="Rectangle 28">
            <a:extLst>
              <a:ext uri="{FF2B5EF4-FFF2-40B4-BE49-F238E27FC236}">
                <a16:creationId xmlns:a16="http://schemas.microsoft.com/office/drawing/2014/main" id="{046AC467-03DA-BCBB-50EF-D51DFC93B56D}"/>
              </a:ext>
            </a:extLst>
          </p:cNvPr>
          <p:cNvSpPr/>
          <p:nvPr/>
        </p:nvSpPr>
        <p:spPr>
          <a:xfrm>
            <a:off x="6154" y="690328"/>
            <a:ext cx="1435083"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a:solidFill>
                  <a:schemeClr val="bg1"/>
                </a:solidFill>
                <a:latin typeface="Aptos"/>
                <a:ea typeface="Calibri"/>
                <a:cs typeface="Calibri"/>
              </a:rPr>
              <a:t>Подготовка</a:t>
            </a:r>
            <a:endParaRPr lang="en-GB" sz="1400">
              <a:solidFill>
                <a:schemeClr val="bg1"/>
              </a:solidFill>
              <a:latin typeface="Aptos"/>
              <a:ea typeface="Calibri"/>
              <a:cs typeface="Calibri"/>
            </a:endParaRPr>
          </a:p>
        </p:txBody>
      </p:sp>
      <p:pic>
        <p:nvPicPr>
          <p:cNvPr id="35" name="Picture 34">
            <a:extLst>
              <a:ext uri="{FF2B5EF4-FFF2-40B4-BE49-F238E27FC236}">
                <a16:creationId xmlns:a16="http://schemas.microsoft.com/office/drawing/2014/main" id="{5B6EE0BC-4C42-9F87-40DC-B85BCE241FFD}"/>
              </a:ext>
            </a:extLst>
          </p:cNvPr>
          <p:cNvPicPr>
            <a:picLocks noChangeAspect="1"/>
          </p:cNvPicPr>
          <p:nvPr/>
        </p:nvPicPr>
        <p:blipFill>
          <a:blip r:embed="rId2"/>
          <a:stretch>
            <a:fillRect/>
          </a:stretch>
        </p:blipFill>
        <p:spPr>
          <a:xfrm>
            <a:off x="11031388" y="5709427"/>
            <a:ext cx="982751" cy="995681"/>
          </a:xfrm>
          <a:prstGeom prst="rect">
            <a:avLst/>
          </a:prstGeom>
        </p:spPr>
      </p:pic>
      <p:sp>
        <p:nvSpPr>
          <p:cNvPr id="3" name="Овал 2">
            <a:extLst>
              <a:ext uri="{FF2B5EF4-FFF2-40B4-BE49-F238E27FC236}">
                <a16:creationId xmlns:a16="http://schemas.microsoft.com/office/drawing/2014/main" id="{0B18653B-7644-8CD3-C76E-E206D1AC3FF3}"/>
              </a:ext>
            </a:extLst>
          </p:cNvPr>
          <p:cNvSpPr/>
          <p:nvPr/>
        </p:nvSpPr>
        <p:spPr>
          <a:xfrm>
            <a:off x="16277461" y="1430065"/>
            <a:ext cx="177402" cy="159446"/>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20" name="Правоъгълник: със заоблени ъгли 16">
            <a:extLst>
              <a:ext uri="{FF2B5EF4-FFF2-40B4-BE49-F238E27FC236}">
                <a16:creationId xmlns:a16="http://schemas.microsoft.com/office/drawing/2014/main" id="{271BA378-D62D-5FA4-60F0-279E5F74DBC7}"/>
              </a:ext>
            </a:extLst>
          </p:cNvPr>
          <p:cNvSpPr/>
          <p:nvPr/>
        </p:nvSpPr>
        <p:spPr>
          <a:xfrm>
            <a:off x="5294850" y="3553597"/>
            <a:ext cx="2013461" cy="519092"/>
          </a:xfrm>
          <a:prstGeom prst="roundRect">
            <a:avLst>
              <a:gd name="adj" fmla="val 50000"/>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Тренирай</a:t>
            </a:r>
          </a:p>
        </p:txBody>
      </p:sp>
      <p:sp>
        <p:nvSpPr>
          <p:cNvPr id="22" name="Rectangle: Rounded Corners 21">
            <a:extLst>
              <a:ext uri="{FF2B5EF4-FFF2-40B4-BE49-F238E27FC236}">
                <a16:creationId xmlns:a16="http://schemas.microsoft.com/office/drawing/2014/main" id="{BE55DD37-BC71-01EE-6FD0-DE6C28D76B0E}"/>
              </a:ext>
            </a:extLst>
          </p:cNvPr>
          <p:cNvSpPr/>
          <p:nvPr/>
        </p:nvSpPr>
        <p:spPr>
          <a:xfrm>
            <a:off x="5375803" y="1552088"/>
            <a:ext cx="1841407" cy="467065"/>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600">
                <a:ea typeface="+mn-lt"/>
                <a:cs typeface="+mn-lt"/>
              </a:rPr>
              <a:t>Клиент влиза в Регионален офис</a:t>
            </a:r>
            <a:endParaRPr lang="en-US"/>
          </a:p>
        </p:txBody>
      </p:sp>
      <p:sp>
        <p:nvSpPr>
          <p:cNvPr id="39" name="Rectangle: Rounded Corners 1">
            <a:extLst>
              <a:ext uri="{FF2B5EF4-FFF2-40B4-BE49-F238E27FC236}">
                <a16:creationId xmlns:a16="http://schemas.microsoft.com/office/drawing/2014/main" id="{B942C37B-6D1A-7314-CE3F-5058D676272A}"/>
              </a:ext>
            </a:extLst>
          </p:cNvPr>
          <p:cNvSpPr/>
          <p:nvPr/>
        </p:nvSpPr>
        <p:spPr>
          <a:xfrm>
            <a:off x="7846395" y="1875905"/>
            <a:ext cx="3196027" cy="1667792"/>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600"/>
              <a:t>Видео</a:t>
            </a:r>
            <a:endParaRPr lang="en-GB" sz="1600"/>
          </a:p>
        </p:txBody>
      </p:sp>
    </p:spTree>
    <p:extLst>
      <p:ext uri="{BB962C8B-B14F-4D97-AF65-F5344CB8AC3E}">
        <p14:creationId xmlns:p14="http://schemas.microsoft.com/office/powerpoint/2010/main" val="1394032332"/>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11AED0-F6C6-3A6A-EB94-28AB053E4BDE}"/>
            </a:ext>
          </a:extLst>
        </p:cNvPr>
        <p:cNvGrpSpPr/>
        <p:nvPr/>
      </p:nvGrpSpPr>
      <p:grpSpPr>
        <a:xfrm>
          <a:off x="0" y="0"/>
          <a:ext cx="0" cy="0"/>
          <a:chOff x="0" y="0"/>
          <a:chExt cx="0" cy="0"/>
        </a:xfrm>
      </p:grpSpPr>
      <p:sp>
        <p:nvSpPr>
          <p:cNvPr id="18" name="Rectangle: Rounded Corners 17">
            <a:extLst>
              <a:ext uri="{FF2B5EF4-FFF2-40B4-BE49-F238E27FC236}">
                <a16:creationId xmlns:a16="http://schemas.microsoft.com/office/drawing/2014/main" id="{027C6358-83DA-51FE-4E35-0C6AB6F1F045}"/>
              </a:ext>
            </a:extLst>
          </p:cNvPr>
          <p:cNvSpPr/>
          <p:nvPr/>
        </p:nvSpPr>
        <p:spPr>
          <a:xfrm>
            <a:off x="1896199" y="2094018"/>
            <a:ext cx="2871747" cy="767079"/>
          </a:xfrm>
          <a:prstGeom prst="roundRect">
            <a:avLst/>
          </a:prstGeom>
          <a:solidFill>
            <a:schemeClr val="bg2">
              <a:lumMod val="75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ru-RU" sz="1600"/>
              <a:t>Настоящ клиент за нов кредит</a:t>
            </a:r>
            <a:endParaRPr lang="en-GB" sz="1600"/>
          </a:p>
        </p:txBody>
      </p:sp>
      <p:sp>
        <p:nvSpPr>
          <p:cNvPr id="19" name="Rectangle: Rounded Corners 18">
            <a:extLst>
              <a:ext uri="{FF2B5EF4-FFF2-40B4-BE49-F238E27FC236}">
                <a16:creationId xmlns:a16="http://schemas.microsoft.com/office/drawing/2014/main" id="{E42AD280-43C3-742C-5123-8AF13E5DFAB2}"/>
              </a:ext>
            </a:extLst>
          </p:cNvPr>
          <p:cNvSpPr/>
          <p:nvPr/>
        </p:nvSpPr>
        <p:spPr>
          <a:xfrm>
            <a:off x="1896199" y="1147427"/>
            <a:ext cx="2871747" cy="767079"/>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Нов клиент в офис</a:t>
            </a:r>
            <a:endParaRPr lang="en-GB" sz="1600"/>
          </a:p>
        </p:txBody>
      </p:sp>
      <p:sp>
        <p:nvSpPr>
          <p:cNvPr id="25" name="Rectangle: Rounded Corners 24">
            <a:extLst>
              <a:ext uri="{FF2B5EF4-FFF2-40B4-BE49-F238E27FC236}">
                <a16:creationId xmlns:a16="http://schemas.microsoft.com/office/drawing/2014/main" id="{9E0CF339-B4AC-C0D1-4898-A4351B5E768A}"/>
              </a:ext>
            </a:extLst>
          </p:cNvPr>
          <p:cNvSpPr/>
          <p:nvPr/>
        </p:nvSpPr>
        <p:spPr>
          <a:xfrm>
            <a:off x="1896199" y="2983743"/>
            <a:ext cx="2871747" cy="767079"/>
          </a:xfrm>
          <a:prstGeom prst="roundRect">
            <a:avLst/>
          </a:prstGeom>
          <a:solidFill>
            <a:schemeClr val="accent1"/>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Настоящ клиент за рефинансиране</a:t>
            </a:r>
            <a:endParaRPr lang="en-GB" sz="1600"/>
          </a:p>
        </p:txBody>
      </p:sp>
      <p:sp>
        <p:nvSpPr>
          <p:cNvPr id="26" name="Rectangle 11">
            <a:extLst>
              <a:ext uri="{FF2B5EF4-FFF2-40B4-BE49-F238E27FC236}">
                <a16:creationId xmlns:a16="http://schemas.microsoft.com/office/drawing/2014/main" id="{DF725BC8-40B0-AE3F-CF22-616CF173BFAE}"/>
              </a:ext>
            </a:extLst>
          </p:cNvPr>
          <p:cNvSpPr/>
          <p:nvPr/>
        </p:nvSpPr>
        <p:spPr>
          <a:xfrm>
            <a:off x="1896199" y="3873469"/>
            <a:ext cx="2871747" cy="767079"/>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Посещение на адрес</a:t>
            </a:r>
            <a:endParaRPr lang="en-GB" sz="1600"/>
          </a:p>
        </p:txBody>
      </p:sp>
      <p:sp>
        <p:nvSpPr>
          <p:cNvPr id="27" name="Rectangle 3">
            <a:extLst>
              <a:ext uri="{FF2B5EF4-FFF2-40B4-BE49-F238E27FC236}">
                <a16:creationId xmlns:a16="http://schemas.microsoft.com/office/drawing/2014/main" id="{385A514F-38A2-DDA6-D66C-84A6BAF748A5}"/>
              </a:ext>
            </a:extLst>
          </p:cNvPr>
          <p:cNvSpPr/>
          <p:nvPr/>
        </p:nvSpPr>
        <p:spPr>
          <a:xfrm>
            <a:off x="1443475" y="4245"/>
            <a:ext cx="5338363" cy="677242"/>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28" name="Rectangle 4">
            <a:extLst>
              <a:ext uri="{FF2B5EF4-FFF2-40B4-BE49-F238E27FC236}">
                <a16:creationId xmlns:a16="http://schemas.microsoft.com/office/drawing/2014/main" id="{38CF8149-9657-C109-C27E-A9049926F8B7}"/>
              </a:ext>
            </a:extLst>
          </p:cNvPr>
          <p:cNvSpPr/>
          <p:nvPr/>
        </p:nvSpPr>
        <p:spPr>
          <a:xfrm>
            <a:off x="6788435" y="4245"/>
            <a:ext cx="5417300" cy="677242"/>
          </a:xfrm>
          <a:prstGeom prst="rect">
            <a:avLst/>
          </a:prstGeom>
          <a:solidFill>
            <a:schemeClr val="accent1"/>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29" name="Rectangle 28">
            <a:extLst>
              <a:ext uri="{FF2B5EF4-FFF2-40B4-BE49-F238E27FC236}">
                <a16:creationId xmlns:a16="http://schemas.microsoft.com/office/drawing/2014/main" id="{1B8D7872-82BE-DF3A-DEA5-3228D2A985C0}"/>
              </a:ext>
            </a:extLst>
          </p:cNvPr>
          <p:cNvSpPr/>
          <p:nvPr/>
        </p:nvSpPr>
        <p:spPr>
          <a:xfrm>
            <a:off x="-1671" y="1599"/>
            <a:ext cx="1451167" cy="6866954"/>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200">
              <a:latin typeface="Aptos"/>
              <a:ea typeface="Calibri"/>
              <a:cs typeface="Calibri"/>
            </a:endParaRPr>
          </a:p>
        </p:txBody>
      </p:sp>
      <p:sp>
        <p:nvSpPr>
          <p:cNvPr id="30" name="Rectangle 29">
            <a:extLst>
              <a:ext uri="{FF2B5EF4-FFF2-40B4-BE49-F238E27FC236}">
                <a16:creationId xmlns:a16="http://schemas.microsoft.com/office/drawing/2014/main" id="{23DAC6BA-0406-F197-663E-7C6DBDD7E0D1}"/>
              </a:ext>
            </a:extLst>
          </p:cNvPr>
          <p:cNvSpPr/>
          <p:nvPr/>
        </p:nvSpPr>
        <p:spPr>
          <a:xfrm>
            <a:off x="-1671" y="2528038"/>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Типове клиенти</a:t>
            </a:r>
            <a:endParaRPr lang="en-GB" sz="1400">
              <a:latin typeface="Aptos"/>
              <a:ea typeface="Calibri"/>
              <a:cs typeface="Calibri"/>
            </a:endParaRPr>
          </a:p>
        </p:txBody>
      </p:sp>
      <p:sp>
        <p:nvSpPr>
          <p:cNvPr id="31" name="Rectangle 30">
            <a:extLst>
              <a:ext uri="{FF2B5EF4-FFF2-40B4-BE49-F238E27FC236}">
                <a16:creationId xmlns:a16="http://schemas.microsoft.com/office/drawing/2014/main" id="{AB4DD9BC-8FE3-49B9-544C-DF192F37FC38}"/>
              </a:ext>
            </a:extLst>
          </p:cNvPr>
          <p:cNvSpPr/>
          <p:nvPr/>
        </p:nvSpPr>
        <p:spPr>
          <a:xfrm>
            <a:off x="8626" y="1913210"/>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b="1">
                <a:solidFill>
                  <a:srgbClr val="2F5597"/>
                </a:solidFill>
                <a:latin typeface="Aptos"/>
                <a:ea typeface="Calibri"/>
                <a:cs typeface="Calibri"/>
              </a:rPr>
              <a:t>Сценарии</a:t>
            </a:r>
            <a:endParaRPr lang="en-GB" sz="1400" b="1">
              <a:solidFill>
                <a:srgbClr val="2F5597"/>
              </a:solidFill>
              <a:latin typeface="Aptos"/>
              <a:ea typeface="Calibri"/>
              <a:cs typeface="Calibri"/>
            </a:endParaRPr>
          </a:p>
        </p:txBody>
      </p:sp>
      <p:sp>
        <p:nvSpPr>
          <p:cNvPr id="32" name="Rectangle 31">
            <a:extLst>
              <a:ext uri="{FF2B5EF4-FFF2-40B4-BE49-F238E27FC236}">
                <a16:creationId xmlns:a16="http://schemas.microsoft.com/office/drawing/2014/main" id="{097B7709-0976-3C80-E650-279508B6C5A9}"/>
              </a:ext>
            </a:extLst>
          </p:cNvPr>
          <p:cNvSpPr/>
          <p:nvPr/>
        </p:nvSpPr>
        <p:spPr>
          <a:xfrm>
            <a:off x="-1671" y="1298382"/>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b="1">
                <a:solidFill>
                  <a:schemeClr val="bg1"/>
                </a:solidFill>
                <a:latin typeface="Aptos"/>
                <a:ea typeface="Calibri"/>
                <a:cs typeface="Calibri"/>
              </a:rPr>
              <a:t>Стъпки при среща</a:t>
            </a:r>
            <a:endParaRPr lang="bg-BG" sz="1400">
              <a:solidFill>
                <a:srgbClr val="000000"/>
              </a:solidFill>
              <a:latin typeface="Aptos"/>
              <a:ea typeface="Calibri"/>
              <a:cs typeface="Calibri"/>
            </a:endParaRPr>
          </a:p>
        </p:txBody>
      </p:sp>
      <p:sp>
        <p:nvSpPr>
          <p:cNvPr id="33" name="Rectangle 28">
            <a:extLst>
              <a:ext uri="{FF2B5EF4-FFF2-40B4-BE49-F238E27FC236}">
                <a16:creationId xmlns:a16="http://schemas.microsoft.com/office/drawing/2014/main" id="{9F34124F-CB74-F9AA-B0F1-F31D289C196C}"/>
              </a:ext>
            </a:extLst>
          </p:cNvPr>
          <p:cNvSpPr/>
          <p:nvPr/>
        </p:nvSpPr>
        <p:spPr>
          <a:xfrm>
            <a:off x="6154" y="690328"/>
            <a:ext cx="1435083"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a:solidFill>
                  <a:schemeClr val="bg1"/>
                </a:solidFill>
                <a:latin typeface="Aptos"/>
                <a:ea typeface="Calibri"/>
                <a:cs typeface="Calibri"/>
              </a:rPr>
              <a:t>Подготовка</a:t>
            </a:r>
            <a:endParaRPr lang="en-GB" sz="1400">
              <a:solidFill>
                <a:schemeClr val="bg1"/>
              </a:solidFill>
              <a:latin typeface="Aptos"/>
              <a:ea typeface="Calibri"/>
              <a:cs typeface="Calibri"/>
            </a:endParaRPr>
          </a:p>
        </p:txBody>
      </p:sp>
      <p:sp>
        <p:nvSpPr>
          <p:cNvPr id="3" name="Овал 2">
            <a:extLst>
              <a:ext uri="{FF2B5EF4-FFF2-40B4-BE49-F238E27FC236}">
                <a16:creationId xmlns:a16="http://schemas.microsoft.com/office/drawing/2014/main" id="{239ED544-11EB-74CF-0B57-06D774B08E82}"/>
              </a:ext>
            </a:extLst>
          </p:cNvPr>
          <p:cNvSpPr/>
          <p:nvPr/>
        </p:nvSpPr>
        <p:spPr>
          <a:xfrm>
            <a:off x="16277461" y="1430065"/>
            <a:ext cx="177402" cy="159446"/>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22" name="Rectangle: Rounded Corners 21">
            <a:extLst>
              <a:ext uri="{FF2B5EF4-FFF2-40B4-BE49-F238E27FC236}">
                <a16:creationId xmlns:a16="http://schemas.microsoft.com/office/drawing/2014/main" id="{397753ED-C34D-0882-220E-AC0CD27C3BB1}"/>
              </a:ext>
            </a:extLst>
          </p:cNvPr>
          <p:cNvSpPr/>
          <p:nvPr/>
        </p:nvSpPr>
        <p:spPr>
          <a:xfrm>
            <a:off x="5456621" y="790087"/>
            <a:ext cx="6575043" cy="247703"/>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600">
                <a:ea typeface="+mn-lt"/>
                <a:cs typeface="+mn-lt"/>
              </a:rPr>
              <a:t>Клиент влиза в Регионален офис</a:t>
            </a:r>
            <a:endParaRPr lang="en-US"/>
          </a:p>
        </p:txBody>
      </p:sp>
      <p:sp>
        <p:nvSpPr>
          <p:cNvPr id="5" name="Rectangle: Rounded Corners 4">
            <a:extLst>
              <a:ext uri="{FF2B5EF4-FFF2-40B4-BE49-F238E27FC236}">
                <a16:creationId xmlns:a16="http://schemas.microsoft.com/office/drawing/2014/main" id="{639F4E87-97A5-7245-D8B6-D4C8ED8CB485}"/>
              </a:ext>
            </a:extLst>
          </p:cNvPr>
          <p:cNvSpPr/>
          <p:nvPr/>
        </p:nvSpPr>
        <p:spPr>
          <a:xfrm>
            <a:off x="5514366" y="1082883"/>
            <a:ext cx="6577878" cy="183436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200" b="1" dirty="0" err="1">
                <a:solidFill>
                  <a:schemeClr val="bg1"/>
                </a:solidFill>
                <a:latin typeface="Aptos"/>
                <a:ea typeface="Segoe UI"/>
                <a:cs typeface="Segoe UI"/>
              </a:rPr>
              <a:t>Начало</a:t>
            </a:r>
            <a:r>
              <a:rPr lang="en-US" sz="1200" b="1" dirty="0">
                <a:solidFill>
                  <a:schemeClr val="bg1"/>
                </a:solidFill>
                <a:latin typeface="Aptos"/>
                <a:ea typeface="Segoe UI"/>
                <a:cs typeface="Segoe UI"/>
              </a:rPr>
              <a:t> </a:t>
            </a:r>
            <a:r>
              <a:rPr lang="en-US" sz="1200" b="1" dirty="0" err="1">
                <a:solidFill>
                  <a:schemeClr val="bg1"/>
                </a:solidFill>
                <a:latin typeface="Aptos"/>
                <a:ea typeface="Segoe UI"/>
                <a:cs typeface="Segoe UI"/>
              </a:rPr>
              <a:t>на</a:t>
            </a:r>
            <a:r>
              <a:rPr lang="en-US" sz="1200" b="1" dirty="0">
                <a:solidFill>
                  <a:schemeClr val="bg1"/>
                </a:solidFill>
                <a:latin typeface="Aptos"/>
                <a:ea typeface="Segoe UI"/>
                <a:cs typeface="Segoe UI"/>
              </a:rPr>
              <a:t> </a:t>
            </a:r>
            <a:r>
              <a:rPr lang="en-US" sz="1200" b="1" dirty="0" err="1">
                <a:solidFill>
                  <a:schemeClr val="bg1"/>
                </a:solidFill>
                <a:latin typeface="Aptos"/>
                <a:ea typeface="Segoe UI"/>
                <a:cs typeface="Segoe UI"/>
              </a:rPr>
              <a:t>разговора</a:t>
            </a:r>
            <a:br>
              <a:rPr lang="en-US" sz="1200" b="1" dirty="0">
                <a:solidFill>
                  <a:schemeClr val="bg1"/>
                </a:solidFill>
                <a:latin typeface="Aptos"/>
                <a:ea typeface="Segoe UI"/>
                <a:cs typeface="Segoe UI"/>
              </a:rPr>
            </a:br>
            <a:r>
              <a:rPr lang="en-US" sz="1200" b="1" dirty="0">
                <a:solidFill>
                  <a:schemeClr val="bg1"/>
                </a:solidFill>
                <a:latin typeface="Aptos"/>
                <a:ea typeface="Segoe UI"/>
                <a:cs typeface="Segoe UI"/>
              </a:rPr>
              <a:t>КК</a:t>
            </a:r>
            <a:r>
              <a:rPr lang="en-US" sz="1200" b="1" baseline="0" dirty="0">
                <a:solidFill>
                  <a:schemeClr val="bg1"/>
                </a:solidFill>
                <a:latin typeface="Aptos"/>
                <a:ea typeface="Segoe UI"/>
                <a:cs typeface="Segoe UI"/>
              </a:rPr>
              <a:t>: „</a:t>
            </a:r>
            <a:r>
              <a:rPr lang="en-US" sz="1200" dirty="0" err="1">
                <a:solidFill>
                  <a:schemeClr val="bg1"/>
                </a:solidFill>
                <a:latin typeface="Aptos"/>
                <a:ea typeface="Segoe UI"/>
                <a:cs typeface="Segoe UI"/>
              </a:rPr>
              <a:t>Здравей</a:t>
            </a:r>
            <a:r>
              <a:rPr lang="en-US" sz="1200" baseline="0" dirty="0">
                <a:solidFill>
                  <a:schemeClr val="bg1"/>
                </a:solidFill>
                <a:latin typeface="Aptos"/>
                <a:ea typeface="Segoe UI"/>
                <a:cs typeface="Segoe UI"/>
              </a:rPr>
              <a:t>, </a:t>
            </a:r>
            <a:r>
              <a:rPr lang="en-US" sz="1200" dirty="0" err="1">
                <a:solidFill>
                  <a:schemeClr val="bg1"/>
                </a:solidFill>
                <a:latin typeface="Aptos"/>
                <a:ea typeface="Segoe UI"/>
                <a:cs typeface="Segoe UI"/>
              </a:rPr>
              <a:t>заповядай</a:t>
            </a:r>
            <a:r>
              <a:rPr lang="en-US" sz="1200" dirty="0">
                <a:solidFill>
                  <a:schemeClr val="bg1"/>
                </a:solidFill>
                <a:latin typeface="Aptos"/>
                <a:ea typeface="Segoe UI"/>
                <a:cs typeface="Segoe UI"/>
              </a:rPr>
              <a:t>. </a:t>
            </a:r>
            <a:r>
              <a:rPr lang="en-US" sz="1200" baseline="0" dirty="0" err="1">
                <a:solidFill>
                  <a:schemeClr val="bg1"/>
                </a:solidFill>
                <a:latin typeface="Aptos"/>
                <a:ea typeface="Segoe UI"/>
                <a:cs typeface="Segoe UI"/>
              </a:rPr>
              <a:t>Да</a:t>
            </a:r>
            <a:r>
              <a:rPr lang="en-US" sz="1200" baseline="0" dirty="0">
                <a:solidFill>
                  <a:schemeClr val="bg1"/>
                </a:solidFill>
                <a:latin typeface="Aptos"/>
                <a:ea typeface="Segoe UI"/>
                <a:cs typeface="Segoe UI"/>
              </a:rPr>
              <a:t> </a:t>
            </a:r>
            <a:r>
              <a:rPr lang="en-US" sz="1200" dirty="0" err="1">
                <a:solidFill>
                  <a:schemeClr val="bg1"/>
                </a:solidFill>
                <a:latin typeface="Aptos"/>
                <a:ea typeface="Segoe UI"/>
                <a:cs typeface="Segoe UI"/>
              </a:rPr>
              <a:t>ти</a:t>
            </a:r>
            <a:r>
              <a:rPr lang="en-US" sz="1200" dirty="0">
                <a:solidFill>
                  <a:schemeClr val="bg1"/>
                </a:solidFill>
                <a:latin typeface="Aptos"/>
                <a:ea typeface="Segoe UI"/>
                <a:cs typeface="Segoe UI"/>
              </a:rPr>
              <a:t> </a:t>
            </a:r>
            <a:r>
              <a:rPr lang="en-US" sz="1200" baseline="0" dirty="0" err="1">
                <a:solidFill>
                  <a:schemeClr val="bg1"/>
                </a:solidFill>
                <a:latin typeface="Aptos"/>
                <a:ea typeface="Segoe UI"/>
                <a:cs typeface="Segoe UI"/>
              </a:rPr>
              <a:t>предложа</a:t>
            </a:r>
            <a:r>
              <a:rPr lang="en-US" sz="1200" baseline="0" dirty="0">
                <a:solidFill>
                  <a:schemeClr val="bg1"/>
                </a:solidFill>
                <a:latin typeface="Aptos"/>
                <a:ea typeface="Segoe UI"/>
                <a:cs typeface="Segoe UI"/>
              </a:rPr>
              <a:t> </a:t>
            </a:r>
            <a:r>
              <a:rPr lang="en-US" sz="1200" baseline="0" dirty="0" err="1">
                <a:solidFill>
                  <a:schemeClr val="bg1"/>
                </a:solidFill>
                <a:latin typeface="Aptos"/>
                <a:ea typeface="Segoe UI"/>
                <a:cs typeface="Segoe UI"/>
              </a:rPr>
              <a:t>чаша</a:t>
            </a:r>
            <a:r>
              <a:rPr lang="en-US" sz="1200" baseline="0" dirty="0">
                <a:solidFill>
                  <a:schemeClr val="bg1"/>
                </a:solidFill>
                <a:latin typeface="Aptos"/>
                <a:ea typeface="Segoe UI"/>
                <a:cs typeface="Segoe UI"/>
              </a:rPr>
              <a:t> </a:t>
            </a:r>
            <a:r>
              <a:rPr lang="en-US" sz="1200" baseline="0" dirty="0" err="1">
                <a:solidFill>
                  <a:schemeClr val="bg1"/>
                </a:solidFill>
                <a:latin typeface="Aptos"/>
                <a:ea typeface="Segoe UI"/>
                <a:cs typeface="Segoe UI"/>
              </a:rPr>
              <a:t>вода</a:t>
            </a:r>
            <a:r>
              <a:rPr lang="en-US" sz="1200" baseline="0" dirty="0">
                <a:solidFill>
                  <a:schemeClr val="bg1"/>
                </a:solidFill>
                <a:latin typeface="Aptos"/>
                <a:ea typeface="Segoe UI"/>
                <a:cs typeface="Segoe UI"/>
              </a:rPr>
              <a:t> </a:t>
            </a:r>
            <a:r>
              <a:rPr lang="en-US" sz="1200" baseline="0" dirty="0" err="1">
                <a:solidFill>
                  <a:schemeClr val="bg1"/>
                </a:solidFill>
                <a:latin typeface="Aptos"/>
                <a:ea typeface="Segoe UI"/>
                <a:cs typeface="Segoe UI"/>
              </a:rPr>
              <a:t>или</a:t>
            </a:r>
            <a:r>
              <a:rPr lang="en-US" sz="1200" baseline="0" dirty="0">
                <a:solidFill>
                  <a:schemeClr val="bg1"/>
                </a:solidFill>
                <a:latin typeface="Aptos"/>
                <a:ea typeface="Segoe UI"/>
                <a:cs typeface="Segoe UI"/>
              </a:rPr>
              <a:t> </a:t>
            </a:r>
            <a:r>
              <a:rPr lang="en-US" sz="1200" baseline="0" dirty="0" err="1">
                <a:solidFill>
                  <a:schemeClr val="bg1"/>
                </a:solidFill>
                <a:latin typeface="Aptos"/>
                <a:ea typeface="Segoe UI"/>
                <a:cs typeface="Segoe UI"/>
              </a:rPr>
              <a:t>кафе</a:t>
            </a:r>
            <a:r>
              <a:rPr lang="en-US" sz="1200" dirty="0">
                <a:solidFill>
                  <a:schemeClr val="bg1"/>
                </a:solidFill>
                <a:latin typeface="Aptos"/>
                <a:ea typeface="Segoe UI"/>
                <a:cs typeface="Segoe UI"/>
              </a:rPr>
              <a:t> .“ </a:t>
            </a:r>
          </a:p>
          <a:p>
            <a:r>
              <a:rPr lang="en-US" sz="1200" dirty="0">
                <a:solidFill>
                  <a:schemeClr val="bg1"/>
                </a:solidFill>
                <a:latin typeface="Aptos"/>
                <a:ea typeface="Segoe UI"/>
                <a:cs typeface="Segoe UI"/>
              </a:rPr>
              <a:t>К: „</a:t>
            </a:r>
            <a:r>
              <a:rPr lang="en-US" sz="1200" dirty="0" err="1">
                <a:solidFill>
                  <a:schemeClr val="bg1"/>
                </a:solidFill>
                <a:latin typeface="Aptos"/>
                <a:ea typeface="Segoe UI"/>
                <a:cs typeface="Segoe UI"/>
              </a:rPr>
              <a:t>Здравей</a:t>
            </a:r>
            <a:r>
              <a:rPr lang="en-US" sz="1200" dirty="0">
                <a:solidFill>
                  <a:schemeClr val="bg1"/>
                </a:solidFill>
                <a:latin typeface="Aptos"/>
                <a:ea typeface="Segoe UI"/>
                <a:cs typeface="Segoe UI"/>
              </a:rPr>
              <a:t>, </a:t>
            </a:r>
            <a:r>
              <a:rPr lang="en-US" sz="1200" dirty="0" err="1">
                <a:solidFill>
                  <a:schemeClr val="bg1"/>
                </a:solidFill>
                <a:latin typeface="Aptos"/>
                <a:ea typeface="Segoe UI"/>
                <a:cs typeface="Segoe UI"/>
              </a:rPr>
              <a:t>благодаря</a:t>
            </a:r>
            <a:r>
              <a:rPr lang="en-US" sz="1200" dirty="0">
                <a:solidFill>
                  <a:schemeClr val="bg1"/>
                </a:solidFill>
                <a:latin typeface="Aptos"/>
                <a:ea typeface="Segoe UI"/>
                <a:cs typeface="Segoe UI"/>
              </a:rPr>
              <a:t>“ </a:t>
            </a:r>
            <a:endParaRPr lang="en-US" sz="1200">
              <a:solidFill>
                <a:schemeClr val="bg1"/>
              </a:solidFill>
            </a:endParaRPr>
          </a:p>
          <a:p>
            <a:r>
              <a:rPr lang="en-US" sz="1200" dirty="0">
                <a:solidFill>
                  <a:schemeClr val="bg1"/>
                </a:solidFill>
                <a:latin typeface="Aptos"/>
                <a:ea typeface="Segoe UI"/>
                <a:cs typeface="Segoe UI"/>
              </a:rPr>
              <a:t>КК</a:t>
            </a:r>
            <a:r>
              <a:rPr lang="en-US" sz="1200" baseline="0" dirty="0">
                <a:solidFill>
                  <a:schemeClr val="bg1"/>
                </a:solidFill>
                <a:latin typeface="Aptos"/>
                <a:ea typeface="Segoe UI"/>
                <a:cs typeface="Segoe UI"/>
              </a:rPr>
              <a:t>: „</a:t>
            </a:r>
            <a:r>
              <a:rPr lang="en-US" sz="1200" dirty="0" err="1">
                <a:solidFill>
                  <a:schemeClr val="bg1"/>
                </a:solidFill>
                <a:latin typeface="Aptos"/>
                <a:ea typeface="Segoe UI"/>
                <a:cs typeface="Segoe UI"/>
              </a:rPr>
              <a:t>От</a:t>
            </a:r>
            <a:r>
              <a:rPr lang="en-US" sz="1200" dirty="0">
                <a:solidFill>
                  <a:schemeClr val="bg1"/>
                </a:solidFill>
                <a:latin typeface="Aptos"/>
                <a:ea typeface="Segoe UI"/>
                <a:cs typeface="Segoe UI"/>
              </a:rPr>
              <a:t> </a:t>
            </a:r>
            <a:r>
              <a:rPr lang="en-US" sz="1200" dirty="0" err="1">
                <a:solidFill>
                  <a:schemeClr val="bg1"/>
                </a:solidFill>
                <a:latin typeface="Aptos"/>
                <a:ea typeface="Segoe UI"/>
                <a:cs typeface="Segoe UI"/>
              </a:rPr>
              <a:t>днес</a:t>
            </a:r>
            <a:r>
              <a:rPr lang="en-US" sz="1200" dirty="0">
                <a:solidFill>
                  <a:schemeClr val="bg1"/>
                </a:solidFill>
                <a:latin typeface="Aptos"/>
                <a:ea typeface="Segoe UI"/>
                <a:cs typeface="Segoe UI"/>
              </a:rPr>
              <a:t> </a:t>
            </a:r>
            <a:r>
              <a:rPr lang="en-US" sz="1200" dirty="0" err="1">
                <a:solidFill>
                  <a:schemeClr val="bg1"/>
                </a:solidFill>
                <a:latin typeface="Aptos"/>
                <a:ea typeface="Segoe UI"/>
                <a:cs typeface="Segoe UI"/>
              </a:rPr>
              <a:t>имаш</a:t>
            </a:r>
            <a:r>
              <a:rPr lang="en-US" sz="1200" dirty="0">
                <a:solidFill>
                  <a:schemeClr val="bg1"/>
                </a:solidFill>
                <a:latin typeface="Aptos"/>
                <a:ea typeface="Segoe UI"/>
                <a:cs typeface="Segoe UI"/>
              </a:rPr>
              <a:t> </a:t>
            </a:r>
            <a:r>
              <a:rPr lang="en-US" sz="1200" dirty="0" err="1">
                <a:solidFill>
                  <a:schemeClr val="bg1"/>
                </a:solidFill>
                <a:latin typeface="Aptos"/>
                <a:ea typeface="Segoe UI"/>
                <a:cs typeface="Segoe UI"/>
              </a:rPr>
              <a:t>възможност</a:t>
            </a:r>
            <a:r>
              <a:rPr lang="en-US" sz="1200" dirty="0">
                <a:solidFill>
                  <a:schemeClr val="bg1"/>
                </a:solidFill>
                <a:latin typeface="Aptos"/>
                <a:ea typeface="Segoe UI"/>
                <a:cs typeface="Segoe UI"/>
              </a:rPr>
              <a:t> </a:t>
            </a:r>
            <a:r>
              <a:rPr lang="en-US" sz="1200" dirty="0" err="1">
                <a:solidFill>
                  <a:schemeClr val="bg1"/>
                </a:solidFill>
                <a:latin typeface="Aptos"/>
                <a:ea typeface="Segoe UI"/>
                <a:cs typeface="Segoe UI"/>
              </a:rPr>
              <a:t>за</a:t>
            </a:r>
            <a:r>
              <a:rPr lang="en-US" sz="1200" dirty="0">
                <a:solidFill>
                  <a:schemeClr val="bg1"/>
                </a:solidFill>
                <a:latin typeface="Aptos"/>
                <a:ea typeface="Segoe UI"/>
                <a:cs typeface="Segoe UI"/>
              </a:rPr>
              <a:t> </a:t>
            </a:r>
            <a:r>
              <a:rPr lang="en-US" sz="1200" dirty="0" err="1">
                <a:solidFill>
                  <a:schemeClr val="bg1"/>
                </a:solidFill>
                <a:latin typeface="Aptos"/>
                <a:ea typeface="Segoe UI"/>
                <a:cs typeface="Segoe UI"/>
              </a:rPr>
              <a:t>допълнителнo</a:t>
            </a:r>
            <a:r>
              <a:rPr lang="en-US" sz="1200" dirty="0">
                <a:solidFill>
                  <a:schemeClr val="bg1"/>
                </a:solidFill>
                <a:latin typeface="Aptos"/>
                <a:ea typeface="Segoe UI"/>
                <a:cs typeface="Segoe UI"/>
              </a:rPr>
              <a:t> </a:t>
            </a:r>
            <a:r>
              <a:rPr lang="en-US" sz="1200" dirty="0" err="1">
                <a:solidFill>
                  <a:schemeClr val="bg1"/>
                </a:solidFill>
                <a:latin typeface="Aptos"/>
                <a:ea typeface="Segoe UI"/>
                <a:cs typeface="Segoe UI"/>
              </a:rPr>
              <a:t>финансиране</a:t>
            </a:r>
            <a:r>
              <a:rPr lang="en-US" sz="1200" dirty="0">
                <a:solidFill>
                  <a:schemeClr val="bg1"/>
                </a:solidFill>
                <a:latin typeface="Aptos"/>
                <a:ea typeface="Segoe UI"/>
                <a:cs typeface="Segoe UI"/>
              </a:rPr>
              <a:t>. </a:t>
            </a:r>
            <a:r>
              <a:rPr lang="en-US" sz="1200" dirty="0" err="1">
                <a:solidFill>
                  <a:schemeClr val="bg1"/>
                </a:solidFill>
                <a:latin typeface="Aptos"/>
                <a:ea typeface="Segoe UI"/>
                <a:cs typeface="Segoe UI"/>
              </a:rPr>
              <a:t>За</a:t>
            </a:r>
            <a:r>
              <a:rPr lang="en-US" sz="1200" dirty="0">
                <a:solidFill>
                  <a:schemeClr val="bg1"/>
                </a:solidFill>
                <a:latin typeface="Aptos"/>
                <a:ea typeface="Segoe UI"/>
                <a:cs typeface="Segoe UI"/>
              </a:rPr>
              <a:t> </a:t>
            </a:r>
            <a:r>
              <a:rPr lang="en-US" sz="1200" dirty="0" err="1">
                <a:solidFill>
                  <a:schemeClr val="bg1"/>
                </a:solidFill>
                <a:latin typeface="Aptos"/>
                <a:ea typeface="Segoe UI"/>
                <a:cs typeface="Segoe UI"/>
              </a:rPr>
              <a:t>теб</a:t>
            </a:r>
            <a:r>
              <a:rPr lang="en-US" sz="1200" dirty="0">
                <a:solidFill>
                  <a:schemeClr val="bg1"/>
                </a:solidFill>
                <a:latin typeface="Aptos"/>
                <a:ea typeface="Segoe UI"/>
                <a:cs typeface="Segoe UI"/>
              </a:rPr>
              <a:t> </a:t>
            </a:r>
            <a:r>
              <a:rPr lang="en-US" sz="1200" dirty="0" err="1">
                <a:solidFill>
                  <a:schemeClr val="bg1"/>
                </a:solidFill>
                <a:latin typeface="Aptos"/>
                <a:ea typeface="Segoe UI"/>
                <a:cs typeface="Segoe UI"/>
              </a:rPr>
              <a:t>изготвих</a:t>
            </a:r>
            <a:r>
              <a:rPr lang="en-US" sz="1200" dirty="0">
                <a:solidFill>
                  <a:schemeClr val="bg1"/>
                </a:solidFill>
                <a:latin typeface="Aptos"/>
                <a:ea typeface="Segoe UI"/>
                <a:cs typeface="Segoe UI"/>
              </a:rPr>
              <a:t> </a:t>
            </a:r>
            <a:r>
              <a:rPr lang="en-US" sz="1200" dirty="0" err="1">
                <a:solidFill>
                  <a:schemeClr val="bg1"/>
                </a:solidFill>
                <a:latin typeface="Aptos"/>
                <a:ea typeface="Segoe UI"/>
                <a:cs typeface="Segoe UI"/>
              </a:rPr>
              <a:t>специална</a:t>
            </a:r>
            <a:r>
              <a:rPr lang="en-US" sz="1200" dirty="0">
                <a:solidFill>
                  <a:schemeClr val="bg1"/>
                </a:solidFill>
                <a:latin typeface="Aptos"/>
                <a:ea typeface="Segoe UI"/>
                <a:cs typeface="Segoe UI"/>
              </a:rPr>
              <a:t> </a:t>
            </a:r>
            <a:r>
              <a:rPr lang="en-US" sz="1200" dirty="0" err="1">
                <a:solidFill>
                  <a:schemeClr val="bg1"/>
                </a:solidFill>
                <a:latin typeface="Aptos"/>
                <a:ea typeface="Segoe UI"/>
                <a:cs typeface="Segoe UI"/>
              </a:rPr>
              <a:t>оферта</a:t>
            </a:r>
            <a:r>
              <a:rPr lang="en-US" sz="1200" dirty="0">
                <a:solidFill>
                  <a:schemeClr val="bg1"/>
                </a:solidFill>
                <a:latin typeface="Aptos"/>
                <a:ea typeface="Segoe UI"/>
                <a:cs typeface="Segoe UI"/>
              </a:rPr>
              <a:t> ......... </a:t>
            </a:r>
            <a:r>
              <a:rPr lang="en-US" sz="1200" dirty="0" err="1">
                <a:solidFill>
                  <a:schemeClr val="bg1"/>
                </a:solidFill>
                <a:latin typeface="Aptos"/>
                <a:ea typeface="Segoe UI"/>
                <a:cs typeface="Segoe UI"/>
              </a:rPr>
              <a:t>лв</a:t>
            </a:r>
            <a:r>
              <a:rPr lang="en-US" sz="1200" dirty="0">
                <a:solidFill>
                  <a:schemeClr val="bg1"/>
                </a:solidFill>
                <a:latin typeface="Aptos"/>
                <a:ea typeface="Segoe UI"/>
                <a:cs typeface="Segoe UI"/>
              </a:rPr>
              <a:t>. </a:t>
            </a:r>
            <a:r>
              <a:rPr lang="en-US" sz="1200" dirty="0" err="1">
                <a:solidFill>
                  <a:schemeClr val="bg1"/>
                </a:solidFill>
                <a:latin typeface="Aptos"/>
                <a:ea typeface="Segoe UI"/>
                <a:cs typeface="Segoe UI"/>
              </a:rPr>
              <a:t>Оставащата</a:t>
            </a:r>
            <a:r>
              <a:rPr lang="en-US" sz="1200" dirty="0">
                <a:solidFill>
                  <a:schemeClr val="bg1"/>
                </a:solidFill>
                <a:latin typeface="Aptos"/>
                <a:ea typeface="Segoe UI"/>
                <a:cs typeface="Segoe UI"/>
              </a:rPr>
              <a:t> </a:t>
            </a:r>
            <a:r>
              <a:rPr lang="en-US" sz="1200" dirty="0" err="1">
                <a:solidFill>
                  <a:schemeClr val="bg1"/>
                </a:solidFill>
                <a:latin typeface="Aptos"/>
                <a:ea typeface="Segoe UI"/>
                <a:cs typeface="Segoe UI"/>
              </a:rPr>
              <a:t>сума</a:t>
            </a:r>
            <a:r>
              <a:rPr lang="en-US" sz="1200" dirty="0">
                <a:solidFill>
                  <a:schemeClr val="bg1"/>
                </a:solidFill>
                <a:latin typeface="Aptos"/>
                <a:ea typeface="Segoe UI"/>
                <a:cs typeface="Segoe UI"/>
              </a:rPr>
              <a:t> </a:t>
            </a:r>
            <a:r>
              <a:rPr lang="en-US" sz="1200" dirty="0" err="1">
                <a:solidFill>
                  <a:schemeClr val="bg1"/>
                </a:solidFill>
                <a:latin typeface="Aptos"/>
                <a:ea typeface="Segoe UI"/>
                <a:cs typeface="Segoe UI"/>
              </a:rPr>
              <a:t>по</a:t>
            </a:r>
            <a:r>
              <a:rPr lang="en-US" sz="1200" dirty="0">
                <a:solidFill>
                  <a:schemeClr val="bg1"/>
                </a:solidFill>
                <a:latin typeface="Aptos"/>
                <a:ea typeface="Segoe UI"/>
                <a:cs typeface="Segoe UI"/>
              </a:rPr>
              <a:t> </a:t>
            </a:r>
            <a:r>
              <a:rPr lang="en-US" sz="1200" dirty="0" err="1">
                <a:solidFill>
                  <a:schemeClr val="bg1"/>
                </a:solidFill>
                <a:latin typeface="Aptos"/>
                <a:ea typeface="Segoe UI"/>
                <a:cs typeface="Segoe UI"/>
              </a:rPr>
              <a:t>текущия</a:t>
            </a:r>
            <a:r>
              <a:rPr lang="en-US" sz="1200" dirty="0">
                <a:solidFill>
                  <a:schemeClr val="bg1"/>
                </a:solidFill>
                <a:latin typeface="Aptos"/>
                <a:ea typeface="Segoe UI"/>
                <a:cs typeface="Segoe UI"/>
              </a:rPr>
              <a:t> </a:t>
            </a:r>
            <a:r>
              <a:rPr lang="en-US" sz="1200" dirty="0" err="1">
                <a:solidFill>
                  <a:schemeClr val="bg1"/>
                </a:solidFill>
                <a:latin typeface="Aptos"/>
                <a:ea typeface="Segoe UI"/>
                <a:cs typeface="Segoe UI"/>
              </a:rPr>
              <a:t>ти</a:t>
            </a:r>
            <a:r>
              <a:rPr lang="en-US" sz="1200" dirty="0">
                <a:solidFill>
                  <a:schemeClr val="bg1"/>
                </a:solidFill>
                <a:latin typeface="Aptos"/>
                <a:ea typeface="Segoe UI"/>
                <a:cs typeface="Segoe UI"/>
              </a:rPr>
              <a:t> </a:t>
            </a:r>
            <a:r>
              <a:rPr lang="en-US" sz="1200" dirty="0" err="1">
                <a:solidFill>
                  <a:schemeClr val="bg1"/>
                </a:solidFill>
                <a:latin typeface="Aptos"/>
                <a:ea typeface="Segoe UI"/>
                <a:cs typeface="Segoe UI"/>
              </a:rPr>
              <a:t>кредит</a:t>
            </a:r>
            <a:r>
              <a:rPr lang="en-US" sz="1200" dirty="0">
                <a:solidFill>
                  <a:schemeClr val="bg1"/>
                </a:solidFill>
                <a:latin typeface="Aptos"/>
                <a:ea typeface="Segoe UI"/>
                <a:cs typeface="Segoe UI"/>
              </a:rPr>
              <a:t> е в </a:t>
            </a:r>
            <a:r>
              <a:rPr lang="en-US" sz="1200" dirty="0" err="1">
                <a:solidFill>
                  <a:schemeClr val="bg1"/>
                </a:solidFill>
                <a:latin typeface="Aptos"/>
                <a:ea typeface="Segoe UI"/>
                <a:cs typeface="Segoe UI"/>
              </a:rPr>
              <a:t>размер</a:t>
            </a:r>
            <a:r>
              <a:rPr lang="en-US" sz="1200" dirty="0">
                <a:solidFill>
                  <a:schemeClr val="bg1"/>
                </a:solidFill>
                <a:latin typeface="Aptos"/>
                <a:ea typeface="Segoe UI"/>
                <a:cs typeface="Segoe UI"/>
              </a:rPr>
              <a:t> </a:t>
            </a:r>
            <a:r>
              <a:rPr lang="en-US" sz="1200" dirty="0" err="1">
                <a:solidFill>
                  <a:schemeClr val="bg1"/>
                </a:solidFill>
                <a:latin typeface="Aptos"/>
                <a:ea typeface="Segoe UI"/>
                <a:cs typeface="Segoe UI"/>
              </a:rPr>
              <a:t>на</a:t>
            </a:r>
            <a:r>
              <a:rPr lang="en-US" sz="1200" dirty="0">
                <a:solidFill>
                  <a:schemeClr val="bg1"/>
                </a:solidFill>
                <a:latin typeface="Aptos"/>
                <a:ea typeface="Segoe UI"/>
                <a:cs typeface="Segoe UI"/>
              </a:rPr>
              <a:t> ......</a:t>
            </a:r>
            <a:r>
              <a:rPr lang="en-US" sz="1200" dirty="0" err="1">
                <a:solidFill>
                  <a:schemeClr val="bg1"/>
                </a:solidFill>
                <a:latin typeface="Aptos"/>
                <a:ea typeface="Segoe UI"/>
                <a:cs typeface="Segoe UI"/>
              </a:rPr>
              <a:t>лв</a:t>
            </a:r>
            <a:r>
              <a:rPr lang="en-US" sz="1200" dirty="0">
                <a:solidFill>
                  <a:schemeClr val="bg1"/>
                </a:solidFill>
                <a:latin typeface="Aptos"/>
                <a:ea typeface="Segoe UI"/>
                <a:cs typeface="Segoe UI"/>
              </a:rPr>
              <a:t>. </a:t>
            </a:r>
            <a:r>
              <a:rPr lang="en-US" sz="1200" dirty="0" err="1">
                <a:solidFill>
                  <a:schemeClr val="bg1"/>
                </a:solidFill>
                <a:latin typeface="Aptos"/>
                <a:ea typeface="Segoe UI"/>
                <a:cs typeface="Segoe UI"/>
              </a:rPr>
              <a:t>Ти</a:t>
            </a:r>
            <a:r>
              <a:rPr lang="en-US" sz="1200" dirty="0">
                <a:solidFill>
                  <a:schemeClr val="bg1"/>
                </a:solidFill>
                <a:latin typeface="Aptos"/>
                <a:ea typeface="Segoe UI"/>
                <a:cs typeface="Segoe UI"/>
              </a:rPr>
              <a:t> </a:t>
            </a:r>
            <a:r>
              <a:rPr lang="en-US" sz="1200" dirty="0" err="1">
                <a:solidFill>
                  <a:schemeClr val="bg1"/>
                </a:solidFill>
                <a:latin typeface="Aptos"/>
                <a:ea typeface="Segoe UI"/>
                <a:cs typeface="Segoe UI"/>
              </a:rPr>
              <a:t>ще</a:t>
            </a:r>
            <a:r>
              <a:rPr lang="en-US" sz="1200" dirty="0">
                <a:solidFill>
                  <a:schemeClr val="bg1"/>
                </a:solidFill>
                <a:latin typeface="Aptos"/>
                <a:ea typeface="Segoe UI"/>
                <a:cs typeface="Segoe UI"/>
              </a:rPr>
              <a:t> </a:t>
            </a:r>
            <a:r>
              <a:rPr lang="en-US" sz="1200" dirty="0" err="1">
                <a:solidFill>
                  <a:schemeClr val="bg1"/>
                </a:solidFill>
                <a:latin typeface="Aptos"/>
                <a:ea typeface="Segoe UI"/>
                <a:cs typeface="Segoe UI"/>
              </a:rPr>
              <a:t>получиш</a:t>
            </a:r>
            <a:r>
              <a:rPr lang="en-US" sz="1200" dirty="0">
                <a:solidFill>
                  <a:schemeClr val="bg1"/>
                </a:solidFill>
                <a:latin typeface="Aptos"/>
                <a:ea typeface="Segoe UI"/>
                <a:cs typeface="Segoe UI"/>
              </a:rPr>
              <a:t> </a:t>
            </a:r>
            <a:r>
              <a:rPr lang="en-US" sz="1200" dirty="0" err="1">
                <a:solidFill>
                  <a:schemeClr val="bg1"/>
                </a:solidFill>
                <a:latin typeface="Aptos"/>
                <a:ea typeface="Segoe UI"/>
                <a:cs typeface="Segoe UI"/>
              </a:rPr>
              <a:t>разликата</a:t>
            </a:r>
            <a:r>
              <a:rPr lang="en-US" sz="1200" dirty="0">
                <a:solidFill>
                  <a:schemeClr val="bg1"/>
                </a:solidFill>
                <a:latin typeface="Aptos"/>
                <a:ea typeface="Segoe UI"/>
                <a:cs typeface="Segoe UI"/>
              </a:rPr>
              <a:t> </a:t>
            </a:r>
            <a:r>
              <a:rPr lang="en-US" sz="1200" dirty="0" err="1">
                <a:solidFill>
                  <a:schemeClr val="bg1"/>
                </a:solidFill>
                <a:latin typeface="Aptos"/>
                <a:ea typeface="Segoe UI"/>
                <a:cs typeface="Segoe UI"/>
              </a:rPr>
              <a:t>от</a:t>
            </a:r>
            <a:r>
              <a:rPr lang="en-US" sz="1200" dirty="0">
                <a:solidFill>
                  <a:schemeClr val="bg1"/>
                </a:solidFill>
                <a:latin typeface="Aptos"/>
                <a:ea typeface="Segoe UI"/>
                <a:cs typeface="Segoe UI"/>
              </a:rPr>
              <a:t> ....................</a:t>
            </a:r>
            <a:r>
              <a:rPr lang="en-US" sz="1200" dirty="0" err="1">
                <a:solidFill>
                  <a:schemeClr val="bg1"/>
                </a:solidFill>
                <a:latin typeface="Aptos"/>
                <a:ea typeface="Segoe UI"/>
                <a:cs typeface="Segoe UI"/>
              </a:rPr>
              <a:t>лв</a:t>
            </a:r>
            <a:r>
              <a:rPr lang="en-US" sz="1200" dirty="0">
                <a:solidFill>
                  <a:schemeClr val="bg1"/>
                </a:solidFill>
                <a:latin typeface="Aptos"/>
                <a:ea typeface="Segoe UI"/>
                <a:cs typeface="Segoe UI"/>
              </a:rPr>
              <a:t>, </a:t>
            </a:r>
            <a:r>
              <a:rPr lang="en-US" sz="1200" dirty="0" err="1">
                <a:solidFill>
                  <a:schemeClr val="bg1"/>
                </a:solidFill>
                <a:latin typeface="Aptos"/>
                <a:ea typeface="Segoe UI"/>
                <a:cs typeface="Segoe UI"/>
              </a:rPr>
              <a:t>сума</a:t>
            </a:r>
            <a:r>
              <a:rPr lang="en-US" sz="1200" dirty="0">
                <a:solidFill>
                  <a:schemeClr val="bg1"/>
                </a:solidFill>
                <a:latin typeface="Aptos"/>
                <a:ea typeface="Segoe UI"/>
                <a:cs typeface="Segoe UI"/>
              </a:rPr>
              <a:t> с </a:t>
            </a:r>
            <a:r>
              <a:rPr lang="en-US" sz="1200" dirty="0" err="1">
                <a:solidFill>
                  <a:schemeClr val="bg1"/>
                </a:solidFill>
                <a:latin typeface="Aptos"/>
                <a:ea typeface="Segoe UI"/>
                <a:cs typeface="Segoe UI"/>
              </a:rPr>
              <a:t>която</a:t>
            </a:r>
            <a:r>
              <a:rPr lang="en-US" sz="1200" dirty="0">
                <a:solidFill>
                  <a:schemeClr val="bg1"/>
                </a:solidFill>
                <a:latin typeface="Aptos"/>
                <a:ea typeface="Segoe UI"/>
                <a:cs typeface="Segoe UI"/>
              </a:rPr>
              <a:t> </a:t>
            </a:r>
            <a:r>
              <a:rPr lang="en-US" sz="1200" dirty="0" err="1">
                <a:solidFill>
                  <a:schemeClr val="bg1"/>
                </a:solidFill>
                <a:latin typeface="Aptos"/>
                <a:ea typeface="Segoe UI"/>
                <a:cs typeface="Segoe UI"/>
              </a:rPr>
              <a:t>да</a:t>
            </a:r>
            <a:r>
              <a:rPr lang="en-US" sz="1200" dirty="0">
                <a:solidFill>
                  <a:schemeClr val="bg1"/>
                </a:solidFill>
                <a:latin typeface="Aptos"/>
                <a:ea typeface="Segoe UI"/>
                <a:cs typeface="Segoe UI"/>
              </a:rPr>
              <a:t> </a:t>
            </a:r>
            <a:r>
              <a:rPr lang="en-US" sz="1200" dirty="0" err="1">
                <a:solidFill>
                  <a:schemeClr val="bg1"/>
                </a:solidFill>
                <a:latin typeface="Aptos"/>
                <a:ea typeface="Segoe UI"/>
                <a:cs typeface="Segoe UI"/>
              </a:rPr>
              <a:t>разполагаш</a:t>
            </a:r>
            <a:r>
              <a:rPr lang="en-US" sz="1200" dirty="0">
                <a:solidFill>
                  <a:schemeClr val="bg1"/>
                </a:solidFill>
                <a:latin typeface="Aptos"/>
                <a:ea typeface="Segoe UI"/>
                <a:cs typeface="Segoe UI"/>
              </a:rPr>
              <a:t>. </a:t>
            </a:r>
            <a:r>
              <a:rPr lang="en-US" sz="1200" dirty="0" err="1">
                <a:solidFill>
                  <a:schemeClr val="bg1"/>
                </a:solidFill>
                <a:latin typeface="Aptos"/>
                <a:ea typeface="Segoe UI"/>
                <a:cs typeface="Segoe UI"/>
              </a:rPr>
              <a:t>Също</a:t>
            </a:r>
            <a:r>
              <a:rPr lang="en-US" sz="1200" dirty="0">
                <a:solidFill>
                  <a:schemeClr val="bg1"/>
                </a:solidFill>
                <a:latin typeface="Aptos"/>
                <a:ea typeface="Segoe UI"/>
                <a:cs typeface="Segoe UI"/>
              </a:rPr>
              <a:t> </a:t>
            </a:r>
            <a:r>
              <a:rPr lang="en-US" sz="1200" dirty="0" err="1">
                <a:solidFill>
                  <a:schemeClr val="bg1"/>
                </a:solidFill>
                <a:latin typeface="Aptos"/>
                <a:ea typeface="Segoe UI"/>
                <a:cs typeface="Segoe UI"/>
              </a:rPr>
              <a:t>така</a:t>
            </a:r>
            <a:r>
              <a:rPr lang="en-US" sz="1200" dirty="0">
                <a:solidFill>
                  <a:schemeClr val="bg1"/>
                </a:solidFill>
                <a:latin typeface="Aptos"/>
                <a:ea typeface="Segoe UI"/>
                <a:cs typeface="Segoe UI"/>
              </a:rPr>
              <a:t> </a:t>
            </a:r>
            <a:r>
              <a:rPr lang="en-US" sz="1200" dirty="0" err="1">
                <a:solidFill>
                  <a:schemeClr val="bg1"/>
                </a:solidFill>
                <a:latin typeface="Aptos"/>
                <a:ea typeface="Segoe UI"/>
                <a:cs typeface="Segoe UI"/>
              </a:rPr>
              <a:t>участваш</a:t>
            </a:r>
            <a:r>
              <a:rPr lang="en-US" sz="1200" dirty="0">
                <a:solidFill>
                  <a:schemeClr val="bg1"/>
                </a:solidFill>
                <a:latin typeface="Aptos"/>
                <a:ea typeface="Segoe UI"/>
                <a:cs typeface="Segoe UI"/>
              </a:rPr>
              <a:t> в ...(</a:t>
            </a:r>
            <a:r>
              <a:rPr lang="en-US" sz="1200" dirty="0" err="1">
                <a:solidFill>
                  <a:schemeClr val="bg1"/>
                </a:solidFill>
                <a:latin typeface="Aptos"/>
                <a:ea typeface="Segoe UI"/>
                <a:cs typeface="Segoe UI"/>
              </a:rPr>
              <a:t>описваме</a:t>
            </a:r>
            <a:r>
              <a:rPr lang="en-US" sz="1200" dirty="0">
                <a:solidFill>
                  <a:schemeClr val="bg1"/>
                </a:solidFill>
                <a:latin typeface="Aptos"/>
                <a:ea typeface="Segoe UI"/>
                <a:cs typeface="Segoe UI"/>
              </a:rPr>
              <a:t> </a:t>
            </a:r>
            <a:r>
              <a:rPr lang="en-US" sz="1200" dirty="0" err="1">
                <a:solidFill>
                  <a:schemeClr val="bg1"/>
                </a:solidFill>
                <a:latin typeface="Aptos"/>
                <a:ea typeface="Segoe UI"/>
                <a:cs typeface="Segoe UI"/>
              </a:rPr>
              <a:t>текущата</a:t>
            </a:r>
            <a:r>
              <a:rPr lang="en-US" sz="1200" dirty="0">
                <a:solidFill>
                  <a:schemeClr val="bg1"/>
                </a:solidFill>
                <a:latin typeface="Aptos"/>
                <a:ea typeface="Segoe UI"/>
                <a:cs typeface="Segoe UI"/>
              </a:rPr>
              <a:t> </a:t>
            </a:r>
            <a:r>
              <a:rPr lang="en-US" sz="1200" dirty="0" err="1">
                <a:solidFill>
                  <a:schemeClr val="bg1"/>
                </a:solidFill>
                <a:latin typeface="Aptos"/>
                <a:ea typeface="Segoe UI"/>
                <a:cs typeface="Segoe UI"/>
              </a:rPr>
              <a:t>кампания</a:t>
            </a:r>
            <a:r>
              <a:rPr lang="en-US" sz="1200" dirty="0">
                <a:solidFill>
                  <a:schemeClr val="bg1"/>
                </a:solidFill>
                <a:latin typeface="Aptos"/>
                <a:ea typeface="Segoe UI"/>
                <a:cs typeface="Segoe UI"/>
              </a:rPr>
              <a:t>). </a:t>
            </a:r>
            <a:r>
              <a:rPr lang="en-US" sz="1200" dirty="0" err="1">
                <a:solidFill>
                  <a:schemeClr val="bg1"/>
                </a:solidFill>
                <a:latin typeface="Aptos"/>
                <a:ea typeface="Segoe UI"/>
                <a:cs typeface="Segoe UI"/>
              </a:rPr>
              <a:t>Моята</a:t>
            </a:r>
            <a:r>
              <a:rPr lang="en-US" sz="1200" dirty="0">
                <a:solidFill>
                  <a:schemeClr val="bg1"/>
                </a:solidFill>
                <a:latin typeface="Aptos"/>
                <a:ea typeface="Segoe UI"/>
                <a:cs typeface="Segoe UI"/>
              </a:rPr>
              <a:t> </a:t>
            </a:r>
            <a:r>
              <a:rPr lang="en-US" sz="1200" dirty="0" err="1">
                <a:solidFill>
                  <a:schemeClr val="bg1"/>
                </a:solidFill>
                <a:latin typeface="Aptos"/>
                <a:ea typeface="Segoe UI"/>
                <a:cs typeface="Segoe UI"/>
              </a:rPr>
              <a:t>оферта</a:t>
            </a:r>
            <a:r>
              <a:rPr lang="en-US" sz="1200" dirty="0">
                <a:solidFill>
                  <a:schemeClr val="bg1"/>
                </a:solidFill>
                <a:latin typeface="Aptos"/>
                <a:ea typeface="Segoe UI"/>
                <a:cs typeface="Segoe UI"/>
              </a:rPr>
              <a:t> е </a:t>
            </a:r>
            <a:r>
              <a:rPr lang="en-US" sz="1200" dirty="0" err="1">
                <a:solidFill>
                  <a:schemeClr val="bg1"/>
                </a:solidFill>
                <a:latin typeface="Aptos"/>
                <a:ea typeface="Segoe UI"/>
                <a:cs typeface="Segoe UI"/>
              </a:rPr>
              <a:t>страхотна</a:t>
            </a:r>
            <a:r>
              <a:rPr lang="en-US" sz="1200" dirty="0">
                <a:solidFill>
                  <a:schemeClr val="bg1"/>
                </a:solidFill>
                <a:latin typeface="Aptos"/>
                <a:ea typeface="Segoe UI"/>
                <a:cs typeface="Segoe UI"/>
              </a:rPr>
              <a:t> и </a:t>
            </a:r>
            <a:r>
              <a:rPr lang="en-US" sz="1200" dirty="0" err="1">
                <a:solidFill>
                  <a:schemeClr val="bg1"/>
                </a:solidFill>
                <a:latin typeface="Aptos"/>
                <a:ea typeface="Segoe UI"/>
                <a:cs typeface="Segoe UI"/>
              </a:rPr>
              <a:t>ти</a:t>
            </a:r>
            <a:r>
              <a:rPr lang="en-US" sz="1200" dirty="0">
                <a:solidFill>
                  <a:schemeClr val="bg1"/>
                </a:solidFill>
                <a:latin typeface="Aptos"/>
                <a:ea typeface="Segoe UI"/>
                <a:cs typeface="Segoe UI"/>
              </a:rPr>
              <a:t> </a:t>
            </a:r>
            <a:r>
              <a:rPr lang="en-US" sz="1200" dirty="0" err="1">
                <a:solidFill>
                  <a:schemeClr val="bg1"/>
                </a:solidFill>
                <a:latin typeface="Aptos"/>
                <a:ea typeface="Segoe UI"/>
                <a:cs typeface="Segoe UI"/>
              </a:rPr>
              <a:t>препоръчвам</a:t>
            </a:r>
            <a:r>
              <a:rPr lang="en-US" sz="1200" dirty="0">
                <a:solidFill>
                  <a:schemeClr val="bg1"/>
                </a:solidFill>
                <a:latin typeface="Aptos"/>
                <a:ea typeface="Segoe UI"/>
                <a:cs typeface="Segoe UI"/>
              </a:rPr>
              <a:t> </a:t>
            </a:r>
            <a:r>
              <a:rPr lang="en-US" sz="1200" dirty="0" err="1">
                <a:solidFill>
                  <a:schemeClr val="bg1"/>
                </a:solidFill>
                <a:latin typeface="Aptos"/>
                <a:ea typeface="Segoe UI"/>
                <a:cs typeface="Segoe UI"/>
              </a:rPr>
              <a:t>да</a:t>
            </a:r>
            <a:r>
              <a:rPr lang="en-US" sz="1200" dirty="0">
                <a:solidFill>
                  <a:schemeClr val="bg1"/>
                </a:solidFill>
                <a:latin typeface="Aptos"/>
                <a:ea typeface="Segoe UI"/>
                <a:cs typeface="Segoe UI"/>
              </a:rPr>
              <a:t> </a:t>
            </a:r>
            <a:r>
              <a:rPr lang="en-US" sz="1200" dirty="0" err="1">
                <a:solidFill>
                  <a:schemeClr val="bg1"/>
                </a:solidFill>
                <a:latin typeface="Aptos"/>
                <a:ea typeface="Segoe UI"/>
                <a:cs typeface="Segoe UI"/>
              </a:rPr>
              <a:t>се</a:t>
            </a:r>
            <a:r>
              <a:rPr lang="en-US" sz="1200" dirty="0">
                <a:solidFill>
                  <a:schemeClr val="bg1"/>
                </a:solidFill>
                <a:latin typeface="Aptos"/>
                <a:ea typeface="Segoe UI"/>
                <a:cs typeface="Segoe UI"/>
              </a:rPr>
              <a:t> </a:t>
            </a:r>
            <a:r>
              <a:rPr lang="en-US" sz="1200" dirty="0" err="1">
                <a:solidFill>
                  <a:schemeClr val="bg1"/>
                </a:solidFill>
                <a:latin typeface="Aptos"/>
                <a:ea typeface="Segoe UI"/>
                <a:cs typeface="Segoe UI"/>
              </a:rPr>
              <a:t>възползваш</a:t>
            </a:r>
            <a:r>
              <a:rPr lang="en-US" sz="1200" dirty="0">
                <a:solidFill>
                  <a:schemeClr val="bg1"/>
                </a:solidFill>
                <a:latin typeface="Aptos"/>
                <a:ea typeface="Segoe UI"/>
                <a:cs typeface="Segoe UI"/>
              </a:rPr>
              <a:t>. </a:t>
            </a:r>
            <a:r>
              <a:rPr lang="en-US" sz="1200" dirty="0" err="1">
                <a:solidFill>
                  <a:schemeClr val="bg1"/>
                </a:solidFill>
                <a:latin typeface="Aptos"/>
                <a:ea typeface="Segoe UI"/>
                <a:cs typeface="Segoe UI"/>
              </a:rPr>
              <a:t>Как</a:t>
            </a:r>
            <a:r>
              <a:rPr lang="en-US" sz="1200" dirty="0">
                <a:solidFill>
                  <a:schemeClr val="bg1"/>
                </a:solidFill>
                <a:latin typeface="Aptos"/>
                <a:ea typeface="Segoe UI"/>
                <a:cs typeface="Segoe UI"/>
              </a:rPr>
              <a:t> </a:t>
            </a:r>
            <a:r>
              <a:rPr lang="en-US" sz="1200" dirty="0" err="1">
                <a:solidFill>
                  <a:schemeClr val="bg1"/>
                </a:solidFill>
                <a:latin typeface="Aptos"/>
                <a:ea typeface="Segoe UI"/>
                <a:cs typeface="Segoe UI"/>
              </a:rPr>
              <a:t>ти</a:t>
            </a:r>
            <a:r>
              <a:rPr lang="en-US" sz="1200" dirty="0">
                <a:solidFill>
                  <a:schemeClr val="bg1"/>
                </a:solidFill>
                <a:latin typeface="Aptos"/>
                <a:ea typeface="Segoe UI"/>
                <a:cs typeface="Segoe UI"/>
              </a:rPr>
              <a:t> </a:t>
            </a:r>
            <a:r>
              <a:rPr lang="en-US" sz="1200" dirty="0" err="1">
                <a:solidFill>
                  <a:schemeClr val="bg1"/>
                </a:solidFill>
                <a:latin typeface="Aptos"/>
                <a:ea typeface="Segoe UI"/>
                <a:cs typeface="Segoe UI"/>
              </a:rPr>
              <a:t>се</a:t>
            </a:r>
            <a:r>
              <a:rPr lang="en-US" sz="1200" dirty="0">
                <a:solidFill>
                  <a:schemeClr val="bg1"/>
                </a:solidFill>
                <a:latin typeface="Aptos"/>
                <a:ea typeface="Segoe UI"/>
                <a:cs typeface="Segoe UI"/>
              </a:rPr>
              <a:t> </a:t>
            </a:r>
            <a:r>
              <a:rPr lang="en-US" sz="1200" dirty="0" err="1">
                <a:solidFill>
                  <a:schemeClr val="bg1"/>
                </a:solidFill>
                <a:latin typeface="Aptos"/>
                <a:ea typeface="Segoe UI"/>
                <a:cs typeface="Segoe UI"/>
              </a:rPr>
              <a:t>струва</a:t>
            </a:r>
            <a:r>
              <a:rPr lang="en-US" sz="1200" dirty="0">
                <a:solidFill>
                  <a:schemeClr val="bg1"/>
                </a:solidFill>
                <a:latin typeface="Aptos"/>
                <a:ea typeface="Segoe UI"/>
                <a:cs typeface="Segoe UI"/>
              </a:rPr>
              <a:t> </a:t>
            </a:r>
            <a:r>
              <a:rPr lang="en-US" sz="1200" dirty="0" err="1">
                <a:solidFill>
                  <a:schemeClr val="bg1"/>
                </a:solidFill>
                <a:latin typeface="Aptos"/>
                <a:ea typeface="Segoe UI"/>
                <a:cs typeface="Segoe UI"/>
              </a:rPr>
              <a:t>това</a:t>
            </a:r>
            <a:r>
              <a:rPr lang="en-US" sz="1200" dirty="0">
                <a:solidFill>
                  <a:schemeClr val="bg1"/>
                </a:solidFill>
                <a:latin typeface="Aptos"/>
                <a:ea typeface="Segoe UI"/>
                <a:cs typeface="Segoe UI"/>
              </a:rPr>
              <a:t>, </a:t>
            </a:r>
            <a:r>
              <a:rPr lang="en-US" sz="1200" dirty="0" err="1">
                <a:solidFill>
                  <a:schemeClr val="bg1"/>
                </a:solidFill>
                <a:latin typeface="Aptos"/>
                <a:ea typeface="Segoe UI"/>
                <a:cs typeface="Segoe UI"/>
              </a:rPr>
              <a:t>което</a:t>
            </a:r>
            <a:r>
              <a:rPr lang="en-US" sz="1200" dirty="0">
                <a:solidFill>
                  <a:schemeClr val="bg1"/>
                </a:solidFill>
                <a:latin typeface="Aptos"/>
                <a:ea typeface="Segoe UI"/>
                <a:cs typeface="Segoe UI"/>
              </a:rPr>
              <a:t> </a:t>
            </a:r>
            <a:r>
              <a:rPr lang="en-US" sz="1200" dirty="0" err="1">
                <a:solidFill>
                  <a:schemeClr val="bg1"/>
                </a:solidFill>
                <a:latin typeface="Aptos"/>
                <a:ea typeface="Segoe UI"/>
                <a:cs typeface="Segoe UI"/>
              </a:rPr>
              <a:t>ти</a:t>
            </a:r>
            <a:r>
              <a:rPr lang="en-US" sz="1200" dirty="0">
                <a:solidFill>
                  <a:schemeClr val="bg1"/>
                </a:solidFill>
                <a:latin typeface="Aptos"/>
                <a:ea typeface="Segoe UI"/>
                <a:cs typeface="Segoe UI"/>
              </a:rPr>
              <a:t> </a:t>
            </a:r>
            <a:r>
              <a:rPr lang="en-US" sz="1200" dirty="0" err="1">
                <a:solidFill>
                  <a:schemeClr val="bg1"/>
                </a:solidFill>
                <a:latin typeface="Aptos"/>
                <a:ea typeface="Segoe UI"/>
                <a:cs typeface="Segoe UI"/>
              </a:rPr>
              <a:t>предлагам</a:t>
            </a:r>
            <a:r>
              <a:rPr lang="en-US" sz="1200" baseline="0" dirty="0">
                <a:solidFill>
                  <a:schemeClr val="bg1"/>
                </a:solidFill>
                <a:latin typeface="Aptos"/>
                <a:ea typeface="Segoe UI"/>
                <a:cs typeface="Segoe UI"/>
              </a:rPr>
              <a:t>?“ </a:t>
            </a:r>
            <a:endParaRPr lang="en-US" sz="1200" dirty="0">
              <a:solidFill>
                <a:schemeClr val="bg1"/>
              </a:solidFill>
              <a:latin typeface="Aptos"/>
              <a:ea typeface="Segoe UI"/>
              <a:cs typeface="Segoe UI"/>
            </a:endParaRPr>
          </a:p>
          <a:p>
            <a:r>
              <a:rPr lang="en-US" sz="1200" dirty="0" err="1">
                <a:solidFill>
                  <a:schemeClr val="bg1"/>
                </a:solidFill>
                <a:latin typeface="Aptos"/>
                <a:ea typeface="Segoe UI"/>
                <a:cs typeface="Segoe UI"/>
              </a:rPr>
              <a:t>Справяне</a:t>
            </a:r>
            <a:r>
              <a:rPr lang="en-US" sz="1200" dirty="0">
                <a:solidFill>
                  <a:schemeClr val="bg1"/>
                </a:solidFill>
                <a:latin typeface="Aptos"/>
                <a:ea typeface="Segoe UI"/>
                <a:cs typeface="Segoe UI"/>
              </a:rPr>
              <a:t> с </a:t>
            </a:r>
            <a:r>
              <a:rPr lang="en-US" sz="1200" dirty="0" err="1">
                <a:solidFill>
                  <a:schemeClr val="bg1"/>
                </a:solidFill>
                <a:latin typeface="Aptos"/>
                <a:ea typeface="Segoe UI"/>
                <a:cs typeface="Segoe UI"/>
              </a:rPr>
              <a:t>възражения</a:t>
            </a:r>
            <a:endParaRPr lang="en-US" sz="1200">
              <a:solidFill>
                <a:schemeClr val="bg1"/>
              </a:solidFill>
            </a:endParaRPr>
          </a:p>
        </p:txBody>
      </p:sp>
      <p:sp>
        <p:nvSpPr>
          <p:cNvPr id="7" name="Rectangle: Rounded Corners 6">
            <a:extLst>
              <a:ext uri="{FF2B5EF4-FFF2-40B4-BE49-F238E27FC236}">
                <a16:creationId xmlns:a16="http://schemas.microsoft.com/office/drawing/2014/main" id="{38B0798E-D848-88A4-15CA-C7FB3A57A6CF}"/>
              </a:ext>
            </a:extLst>
          </p:cNvPr>
          <p:cNvSpPr/>
          <p:nvPr/>
        </p:nvSpPr>
        <p:spPr>
          <a:xfrm>
            <a:off x="5471471" y="2983587"/>
            <a:ext cx="6569682" cy="2213124"/>
          </a:xfrm>
          <a:prstGeom prst="roundRect">
            <a:avLst/>
          </a:prstGeom>
          <a:solidFill>
            <a:schemeClr val="accent1"/>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200" b="1" dirty="0" err="1">
                <a:solidFill>
                  <a:schemeClr val="bg1"/>
                </a:solidFill>
              </a:rPr>
              <a:t>Ако</a:t>
            </a:r>
            <a:r>
              <a:rPr lang="en-US" sz="1200" b="1" dirty="0">
                <a:solidFill>
                  <a:schemeClr val="bg1"/>
                </a:solidFill>
              </a:rPr>
              <a:t> </a:t>
            </a:r>
            <a:r>
              <a:rPr lang="en-US" sz="1200" b="1" dirty="0" err="1">
                <a:solidFill>
                  <a:schemeClr val="bg1"/>
                </a:solidFill>
              </a:rPr>
              <a:t>клиентът</a:t>
            </a:r>
            <a:r>
              <a:rPr lang="en-US" sz="1200" b="1" dirty="0">
                <a:solidFill>
                  <a:schemeClr val="bg1"/>
                </a:solidFill>
              </a:rPr>
              <a:t> </a:t>
            </a:r>
            <a:r>
              <a:rPr lang="en-US" sz="1200" b="1" dirty="0" err="1">
                <a:solidFill>
                  <a:schemeClr val="bg1"/>
                </a:solidFill>
              </a:rPr>
              <a:t>все</a:t>
            </a:r>
            <a:r>
              <a:rPr lang="en-US" sz="1200" b="1" dirty="0">
                <a:solidFill>
                  <a:schemeClr val="bg1"/>
                </a:solidFill>
              </a:rPr>
              <a:t> </a:t>
            </a:r>
            <a:r>
              <a:rPr lang="en-US" sz="1200" b="1" dirty="0" err="1">
                <a:solidFill>
                  <a:schemeClr val="bg1"/>
                </a:solidFill>
              </a:rPr>
              <a:t>още</a:t>
            </a:r>
            <a:r>
              <a:rPr lang="en-US" sz="1200" b="1" dirty="0">
                <a:solidFill>
                  <a:schemeClr val="bg1"/>
                </a:solidFill>
              </a:rPr>
              <a:t> </a:t>
            </a:r>
            <a:r>
              <a:rPr lang="en-US" sz="1200" b="1" dirty="0" err="1">
                <a:solidFill>
                  <a:schemeClr val="bg1"/>
                </a:solidFill>
              </a:rPr>
              <a:t>не</a:t>
            </a:r>
            <a:r>
              <a:rPr lang="en-US" sz="1200" b="1" dirty="0">
                <a:solidFill>
                  <a:schemeClr val="bg1"/>
                </a:solidFill>
              </a:rPr>
              <a:t> </a:t>
            </a:r>
            <a:r>
              <a:rPr lang="en-US" sz="1200" b="1" dirty="0" err="1">
                <a:solidFill>
                  <a:schemeClr val="bg1"/>
                </a:solidFill>
              </a:rPr>
              <a:t>може</a:t>
            </a:r>
            <a:r>
              <a:rPr lang="en-US" sz="1200" b="1" dirty="0">
                <a:solidFill>
                  <a:schemeClr val="bg1"/>
                </a:solidFill>
              </a:rPr>
              <a:t> </a:t>
            </a:r>
            <a:r>
              <a:rPr lang="en-US" sz="1200" b="1" dirty="0" err="1">
                <a:solidFill>
                  <a:schemeClr val="bg1"/>
                </a:solidFill>
              </a:rPr>
              <a:t>да</a:t>
            </a:r>
            <a:r>
              <a:rPr lang="en-US" sz="1200" b="1" dirty="0">
                <a:solidFill>
                  <a:schemeClr val="bg1"/>
                </a:solidFill>
              </a:rPr>
              <a:t> </a:t>
            </a:r>
            <a:r>
              <a:rPr lang="en-US" sz="1200" b="1" dirty="0" err="1">
                <a:solidFill>
                  <a:schemeClr val="bg1"/>
                </a:solidFill>
              </a:rPr>
              <a:t>вземе</a:t>
            </a:r>
            <a:r>
              <a:rPr lang="en-US" sz="1200" b="1" dirty="0">
                <a:solidFill>
                  <a:schemeClr val="bg1"/>
                </a:solidFill>
              </a:rPr>
              <a:t> </a:t>
            </a:r>
            <a:r>
              <a:rPr lang="en-US" sz="1200" b="1" dirty="0" err="1">
                <a:solidFill>
                  <a:schemeClr val="bg1"/>
                </a:solidFill>
              </a:rPr>
              <a:t>решение</a:t>
            </a:r>
            <a:r>
              <a:rPr lang="en-US" sz="1200" b="1" dirty="0">
                <a:solidFill>
                  <a:schemeClr val="bg1"/>
                </a:solidFill>
              </a:rPr>
              <a:t> </a:t>
            </a:r>
            <a:r>
              <a:rPr lang="en-US" sz="1200" b="1" dirty="0" err="1">
                <a:solidFill>
                  <a:schemeClr val="bg1"/>
                </a:solidFill>
              </a:rPr>
              <a:t>или</a:t>
            </a:r>
            <a:r>
              <a:rPr lang="en-US" sz="1200" b="1" dirty="0">
                <a:solidFill>
                  <a:schemeClr val="bg1"/>
                </a:solidFill>
              </a:rPr>
              <a:t> </a:t>
            </a:r>
            <a:r>
              <a:rPr lang="en-US" sz="1200" b="1" dirty="0" err="1">
                <a:solidFill>
                  <a:schemeClr val="bg1"/>
                </a:solidFill>
              </a:rPr>
              <a:t>казва</a:t>
            </a:r>
            <a:r>
              <a:rPr lang="en-US" sz="1200" b="1" dirty="0">
                <a:solidFill>
                  <a:schemeClr val="bg1"/>
                </a:solidFill>
              </a:rPr>
              <a:t>, </a:t>
            </a:r>
            <a:r>
              <a:rPr lang="en-US" sz="1200" b="1" dirty="0" err="1">
                <a:solidFill>
                  <a:schemeClr val="bg1"/>
                </a:solidFill>
              </a:rPr>
              <a:t>че</a:t>
            </a:r>
            <a:r>
              <a:rPr lang="en-US" sz="1200" b="1" dirty="0">
                <a:solidFill>
                  <a:schemeClr val="bg1"/>
                </a:solidFill>
              </a:rPr>
              <a:t> </a:t>
            </a:r>
            <a:r>
              <a:rPr lang="en-US" sz="1200" b="1" dirty="0" err="1">
                <a:solidFill>
                  <a:schemeClr val="bg1"/>
                </a:solidFill>
              </a:rPr>
              <a:t>желае</a:t>
            </a:r>
            <a:r>
              <a:rPr lang="en-US" sz="1200" b="1" dirty="0">
                <a:solidFill>
                  <a:schemeClr val="bg1"/>
                </a:solidFill>
              </a:rPr>
              <a:t> </a:t>
            </a:r>
            <a:r>
              <a:rPr lang="en-US" sz="1200" b="1" dirty="0" err="1">
                <a:solidFill>
                  <a:schemeClr val="bg1"/>
                </a:solidFill>
              </a:rPr>
              <a:t>да</a:t>
            </a:r>
            <a:r>
              <a:rPr lang="en-US" sz="1200" b="1" dirty="0">
                <a:solidFill>
                  <a:schemeClr val="bg1"/>
                </a:solidFill>
              </a:rPr>
              <a:t> </a:t>
            </a:r>
            <a:r>
              <a:rPr lang="en-US" sz="1200" b="1" dirty="0" err="1">
                <a:solidFill>
                  <a:schemeClr val="bg1"/>
                </a:solidFill>
              </a:rPr>
              <a:t>сипомисли</a:t>
            </a:r>
            <a:r>
              <a:rPr lang="en-US" sz="1200" b="1" dirty="0">
                <a:solidFill>
                  <a:schemeClr val="bg1"/>
                </a:solidFill>
              </a:rPr>
              <a:t>:</a:t>
            </a:r>
            <a:r>
              <a:rPr lang="en-US" sz="1200" dirty="0">
                <a:solidFill>
                  <a:schemeClr val="bg1"/>
                </a:solidFill>
              </a:rPr>
              <a:t> К: „</a:t>
            </a:r>
            <a:r>
              <a:rPr lang="en-US" sz="1200" dirty="0" err="1">
                <a:solidFill>
                  <a:schemeClr val="bg1"/>
                </a:solidFill>
              </a:rPr>
              <a:t>Ами</a:t>
            </a:r>
            <a:r>
              <a:rPr lang="en-US" sz="1200" dirty="0">
                <a:solidFill>
                  <a:schemeClr val="bg1"/>
                </a:solidFill>
              </a:rPr>
              <a:t> </a:t>
            </a:r>
            <a:r>
              <a:rPr lang="en-US" sz="1200" dirty="0" err="1">
                <a:solidFill>
                  <a:schemeClr val="bg1"/>
                </a:solidFill>
              </a:rPr>
              <a:t>за</a:t>
            </a:r>
            <a:r>
              <a:rPr lang="en-US" sz="1200" dirty="0">
                <a:solidFill>
                  <a:schemeClr val="bg1"/>
                </a:solidFill>
              </a:rPr>
              <a:t> </a:t>
            </a:r>
            <a:r>
              <a:rPr lang="en-US" sz="1200" dirty="0" err="1">
                <a:solidFill>
                  <a:schemeClr val="bg1"/>
                </a:solidFill>
              </a:rPr>
              <a:t>момента</a:t>
            </a:r>
            <a:r>
              <a:rPr lang="en-US" sz="1200" dirty="0">
                <a:solidFill>
                  <a:schemeClr val="bg1"/>
                </a:solidFill>
              </a:rPr>
              <a:t> </a:t>
            </a:r>
            <a:r>
              <a:rPr lang="en-US" sz="1200" dirty="0" err="1">
                <a:solidFill>
                  <a:schemeClr val="bg1"/>
                </a:solidFill>
              </a:rPr>
              <a:t>нямам</a:t>
            </a:r>
            <a:r>
              <a:rPr lang="en-US" sz="1200" dirty="0">
                <a:solidFill>
                  <a:schemeClr val="bg1"/>
                </a:solidFill>
              </a:rPr>
              <a:t> </a:t>
            </a:r>
            <a:r>
              <a:rPr lang="en-US" sz="1200" dirty="0" err="1">
                <a:solidFill>
                  <a:schemeClr val="bg1"/>
                </a:solidFill>
              </a:rPr>
              <a:t>нужда</a:t>
            </a:r>
            <a:r>
              <a:rPr lang="en-US" sz="1200" dirty="0">
                <a:solidFill>
                  <a:schemeClr val="bg1"/>
                </a:solidFill>
              </a:rPr>
              <a:t>.“ </a:t>
            </a:r>
            <a:endParaRPr lang="en-US">
              <a:solidFill>
                <a:schemeClr val="bg1"/>
              </a:solidFill>
            </a:endParaRPr>
          </a:p>
          <a:p>
            <a:r>
              <a:rPr lang="en-US" sz="1200" dirty="0">
                <a:solidFill>
                  <a:schemeClr val="bg1"/>
                </a:solidFill>
              </a:rPr>
              <a:t>КК: „</a:t>
            </a:r>
            <a:r>
              <a:rPr lang="en-US" sz="1200" dirty="0" err="1">
                <a:solidFill>
                  <a:schemeClr val="bg1"/>
                </a:solidFill>
              </a:rPr>
              <a:t>Нуждата</a:t>
            </a:r>
            <a:r>
              <a:rPr lang="en-US" sz="1200" dirty="0">
                <a:solidFill>
                  <a:schemeClr val="bg1"/>
                </a:solidFill>
              </a:rPr>
              <a:t> </a:t>
            </a:r>
            <a:r>
              <a:rPr lang="en-US" sz="1200" dirty="0" err="1">
                <a:solidFill>
                  <a:schemeClr val="bg1"/>
                </a:solidFill>
              </a:rPr>
              <a:t>не</a:t>
            </a:r>
            <a:r>
              <a:rPr lang="en-US" sz="1200" dirty="0">
                <a:solidFill>
                  <a:schemeClr val="bg1"/>
                </a:solidFill>
              </a:rPr>
              <a:t> </a:t>
            </a:r>
            <a:r>
              <a:rPr lang="en-US" sz="1200" dirty="0" err="1">
                <a:solidFill>
                  <a:schemeClr val="bg1"/>
                </a:solidFill>
              </a:rPr>
              <a:t>винаги</a:t>
            </a:r>
            <a:r>
              <a:rPr lang="en-US" sz="1200" dirty="0">
                <a:solidFill>
                  <a:schemeClr val="bg1"/>
                </a:solidFill>
              </a:rPr>
              <a:t> е </a:t>
            </a:r>
            <a:r>
              <a:rPr lang="en-US" sz="1200" dirty="0" err="1">
                <a:solidFill>
                  <a:schemeClr val="bg1"/>
                </a:solidFill>
              </a:rPr>
              <a:t>предвидима</a:t>
            </a:r>
            <a:r>
              <a:rPr lang="en-US" sz="1200" dirty="0">
                <a:solidFill>
                  <a:schemeClr val="bg1"/>
                </a:solidFill>
              </a:rPr>
              <a:t>. </a:t>
            </a:r>
            <a:r>
              <a:rPr lang="en-US" sz="1200" dirty="0" err="1">
                <a:solidFill>
                  <a:schemeClr val="bg1"/>
                </a:solidFill>
              </a:rPr>
              <a:t>Ако</a:t>
            </a:r>
            <a:r>
              <a:rPr lang="en-US" sz="1200" dirty="0">
                <a:solidFill>
                  <a:schemeClr val="bg1"/>
                </a:solidFill>
              </a:rPr>
              <a:t> </a:t>
            </a:r>
            <a:r>
              <a:rPr lang="en-US" sz="1200" dirty="0" err="1">
                <a:solidFill>
                  <a:schemeClr val="bg1"/>
                </a:solidFill>
              </a:rPr>
              <a:t>сега</a:t>
            </a:r>
            <a:r>
              <a:rPr lang="en-US" sz="1200" dirty="0">
                <a:solidFill>
                  <a:schemeClr val="bg1"/>
                </a:solidFill>
              </a:rPr>
              <a:t> </a:t>
            </a:r>
            <a:r>
              <a:rPr lang="en-US" sz="1200" dirty="0" err="1">
                <a:solidFill>
                  <a:schemeClr val="bg1"/>
                </a:solidFill>
              </a:rPr>
              <a:t>разполагаш</a:t>
            </a:r>
            <a:r>
              <a:rPr lang="en-US" sz="1200" dirty="0">
                <a:solidFill>
                  <a:schemeClr val="bg1"/>
                </a:solidFill>
              </a:rPr>
              <a:t> с 500 </a:t>
            </a:r>
            <a:r>
              <a:rPr lang="en-US" sz="1200" dirty="0" err="1">
                <a:solidFill>
                  <a:schemeClr val="bg1"/>
                </a:solidFill>
              </a:rPr>
              <a:t>лв</a:t>
            </a:r>
            <a:r>
              <a:rPr lang="en-US" sz="1200" dirty="0">
                <a:solidFill>
                  <a:schemeClr val="bg1"/>
                </a:solidFill>
              </a:rPr>
              <a:t> </a:t>
            </a:r>
            <a:r>
              <a:rPr lang="en-US" sz="1200" dirty="0" err="1">
                <a:solidFill>
                  <a:schemeClr val="bg1"/>
                </a:solidFill>
              </a:rPr>
              <a:t>за</a:t>
            </a:r>
            <a:r>
              <a:rPr lang="en-US" sz="1200" dirty="0">
                <a:solidFill>
                  <a:schemeClr val="bg1"/>
                </a:solidFill>
              </a:rPr>
              <a:t> </a:t>
            </a:r>
            <a:r>
              <a:rPr lang="en-US" sz="1200" dirty="0" err="1">
                <a:solidFill>
                  <a:schemeClr val="bg1"/>
                </a:solidFill>
              </a:rPr>
              <a:t>какво</a:t>
            </a:r>
            <a:r>
              <a:rPr lang="en-US" sz="1200" dirty="0">
                <a:solidFill>
                  <a:schemeClr val="bg1"/>
                </a:solidFill>
              </a:rPr>
              <a:t> </a:t>
            </a:r>
            <a:r>
              <a:rPr lang="en-US" sz="1200" dirty="0" err="1">
                <a:solidFill>
                  <a:schemeClr val="bg1"/>
                </a:solidFill>
              </a:rPr>
              <a:t>би</a:t>
            </a:r>
            <a:r>
              <a:rPr lang="en-US" sz="1200" dirty="0">
                <a:solidFill>
                  <a:schemeClr val="bg1"/>
                </a:solidFill>
              </a:rPr>
              <a:t> </a:t>
            </a:r>
            <a:r>
              <a:rPr lang="en-US" sz="1200" dirty="0" err="1">
                <a:solidFill>
                  <a:schemeClr val="bg1"/>
                </a:solidFill>
              </a:rPr>
              <a:t>гипохарчил</a:t>
            </a:r>
            <a:r>
              <a:rPr lang="en-US" sz="1200" dirty="0">
                <a:solidFill>
                  <a:schemeClr val="bg1"/>
                </a:solidFill>
              </a:rPr>
              <a:t>? (</a:t>
            </a:r>
            <a:r>
              <a:rPr lang="en-US" sz="1200" dirty="0" err="1">
                <a:solidFill>
                  <a:schemeClr val="bg1"/>
                </a:solidFill>
              </a:rPr>
              <a:t>Споменаваме</a:t>
            </a:r>
            <a:r>
              <a:rPr lang="en-US" sz="1200" dirty="0">
                <a:solidFill>
                  <a:schemeClr val="bg1"/>
                </a:solidFill>
              </a:rPr>
              <a:t> </a:t>
            </a:r>
            <a:r>
              <a:rPr lang="en-US" sz="1200" dirty="0" err="1">
                <a:solidFill>
                  <a:schemeClr val="bg1"/>
                </a:solidFill>
              </a:rPr>
              <a:t>общовалидни</a:t>
            </a:r>
            <a:r>
              <a:rPr lang="en-US" sz="1200" dirty="0">
                <a:solidFill>
                  <a:schemeClr val="bg1"/>
                </a:solidFill>
              </a:rPr>
              <a:t> </a:t>
            </a:r>
            <a:r>
              <a:rPr lang="en-US" sz="1200" dirty="0" err="1">
                <a:solidFill>
                  <a:schemeClr val="bg1"/>
                </a:solidFill>
              </a:rPr>
              <a:t>разходи</a:t>
            </a:r>
            <a:r>
              <a:rPr lang="en-US" sz="1200" dirty="0">
                <a:solidFill>
                  <a:schemeClr val="bg1"/>
                </a:solidFill>
              </a:rPr>
              <a:t> в </a:t>
            </a:r>
            <a:r>
              <a:rPr lang="en-US" sz="1200" dirty="0" err="1">
                <a:solidFill>
                  <a:schemeClr val="bg1"/>
                </a:solidFill>
              </a:rPr>
              <a:t>зависимост</a:t>
            </a:r>
            <a:r>
              <a:rPr lang="en-US" sz="1200" dirty="0">
                <a:solidFill>
                  <a:schemeClr val="bg1"/>
                </a:solidFill>
              </a:rPr>
              <a:t> </a:t>
            </a:r>
            <a:r>
              <a:rPr lang="en-US" sz="1200" dirty="0" err="1">
                <a:solidFill>
                  <a:schemeClr val="bg1"/>
                </a:solidFill>
              </a:rPr>
              <a:t>от</a:t>
            </a:r>
            <a:r>
              <a:rPr lang="en-US" sz="1200" dirty="0">
                <a:solidFill>
                  <a:schemeClr val="bg1"/>
                </a:solidFill>
              </a:rPr>
              <a:t> </a:t>
            </a:r>
            <a:r>
              <a:rPr lang="en-US" sz="1200" dirty="0" err="1">
                <a:solidFill>
                  <a:schemeClr val="bg1"/>
                </a:solidFill>
              </a:rPr>
              <a:t>сезона</a:t>
            </a:r>
            <a:r>
              <a:rPr lang="en-US" sz="1200" dirty="0">
                <a:solidFill>
                  <a:schemeClr val="bg1"/>
                </a:solidFill>
              </a:rPr>
              <a:t> –</a:t>
            </a:r>
            <a:r>
              <a:rPr lang="en-US" sz="1200" dirty="0" err="1">
                <a:solidFill>
                  <a:schemeClr val="bg1"/>
                </a:solidFill>
              </a:rPr>
              <a:t>празници</a:t>
            </a:r>
            <a:r>
              <a:rPr lang="en-US" sz="1200" dirty="0">
                <a:solidFill>
                  <a:schemeClr val="bg1"/>
                </a:solidFill>
              </a:rPr>
              <a:t>, </a:t>
            </a:r>
            <a:r>
              <a:rPr lang="en-US" sz="1200" dirty="0" err="1">
                <a:solidFill>
                  <a:schemeClr val="bg1"/>
                </a:solidFill>
              </a:rPr>
              <a:t>почивки</a:t>
            </a:r>
            <a:r>
              <a:rPr lang="en-US" sz="1200" dirty="0">
                <a:solidFill>
                  <a:schemeClr val="bg1"/>
                </a:solidFill>
              </a:rPr>
              <a:t>, </a:t>
            </a:r>
            <a:r>
              <a:rPr lang="en-US" sz="1200" dirty="0" err="1">
                <a:solidFill>
                  <a:schemeClr val="bg1"/>
                </a:solidFill>
              </a:rPr>
              <a:t>ремонти</a:t>
            </a:r>
            <a:r>
              <a:rPr lang="en-US" sz="1200" dirty="0">
                <a:solidFill>
                  <a:schemeClr val="bg1"/>
                </a:solidFill>
              </a:rPr>
              <a:t>, </a:t>
            </a:r>
            <a:r>
              <a:rPr lang="en-US" sz="1200" dirty="0" err="1">
                <a:solidFill>
                  <a:schemeClr val="bg1"/>
                </a:solidFill>
              </a:rPr>
              <a:t>огрев</a:t>
            </a:r>
            <a:r>
              <a:rPr lang="en-US" sz="1200" dirty="0">
                <a:solidFill>
                  <a:schemeClr val="bg1"/>
                </a:solidFill>
              </a:rPr>
              <a:t>, </a:t>
            </a:r>
            <a:r>
              <a:rPr lang="en-US" sz="1200" dirty="0" err="1">
                <a:solidFill>
                  <a:schemeClr val="bg1"/>
                </a:solidFill>
              </a:rPr>
              <a:t>смяна</a:t>
            </a:r>
            <a:r>
              <a:rPr lang="en-US" sz="1200" dirty="0">
                <a:solidFill>
                  <a:schemeClr val="bg1"/>
                </a:solidFill>
              </a:rPr>
              <a:t> </a:t>
            </a:r>
            <a:r>
              <a:rPr lang="en-US" sz="1200" dirty="0" err="1">
                <a:solidFill>
                  <a:schemeClr val="bg1"/>
                </a:solidFill>
              </a:rPr>
              <a:t>на</a:t>
            </a:r>
            <a:r>
              <a:rPr lang="en-US" sz="1200" dirty="0">
                <a:solidFill>
                  <a:schemeClr val="bg1"/>
                </a:solidFill>
              </a:rPr>
              <a:t> </a:t>
            </a:r>
            <a:r>
              <a:rPr lang="en-US" sz="1200" dirty="0" err="1">
                <a:solidFill>
                  <a:schemeClr val="bg1"/>
                </a:solidFill>
              </a:rPr>
              <a:t>гуми</a:t>
            </a:r>
            <a:r>
              <a:rPr lang="en-US" sz="1200" dirty="0">
                <a:solidFill>
                  <a:schemeClr val="bg1"/>
                </a:solidFill>
              </a:rPr>
              <a:t>, </a:t>
            </a:r>
            <a:r>
              <a:rPr lang="en-US" sz="1200" dirty="0" err="1">
                <a:solidFill>
                  <a:schemeClr val="bg1"/>
                </a:solidFill>
              </a:rPr>
              <a:t>подготовка</a:t>
            </a:r>
            <a:r>
              <a:rPr lang="en-US" sz="1200" dirty="0">
                <a:solidFill>
                  <a:schemeClr val="bg1"/>
                </a:solidFill>
              </a:rPr>
              <a:t> </a:t>
            </a:r>
            <a:r>
              <a:rPr lang="en-US" sz="1200" dirty="0" err="1">
                <a:solidFill>
                  <a:schemeClr val="bg1"/>
                </a:solidFill>
              </a:rPr>
              <a:t>за</a:t>
            </a:r>
            <a:r>
              <a:rPr lang="en-US" sz="1200" dirty="0">
                <a:solidFill>
                  <a:schemeClr val="bg1"/>
                </a:solidFill>
              </a:rPr>
              <a:t> </a:t>
            </a:r>
            <a:r>
              <a:rPr lang="en-US" sz="1200" dirty="0" err="1">
                <a:solidFill>
                  <a:schemeClr val="bg1"/>
                </a:solidFill>
              </a:rPr>
              <a:t>училище</a:t>
            </a:r>
            <a:r>
              <a:rPr lang="en-US" sz="1200" dirty="0">
                <a:solidFill>
                  <a:schemeClr val="bg1"/>
                </a:solidFill>
              </a:rPr>
              <a:t> </a:t>
            </a:r>
            <a:r>
              <a:rPr lang="en-US" sz="1200" dirty="0" err="1">
                <a:solidFill>
                  <a:schemeClr val="bg1"/>
                </a:solidFill>
              </a:rPr>
              <a:t>на</a:t>
            </a:r>
            <a:r>
              <a:rPr lang="en-US" sz="1200" dirty="0">
                <a:solidFill>
                  <a:schemeClr val="bg1"/>
                </a:solidFill>
              </a:rPr>
              <a:t> </a:t>
            </a:r>
            <a:r>
              <a:rPr lang="en-US" sz="1200" dirty="0" err="1">
                <a:solidFill>
                  <a:schemeClr val="bg1"/>
                </a:solidFill>
              </a:rPr>
              <a:t>децаи</a:t>
            </a:r>
            <a:r>
              <a:rPr lang="en-US" sz="1200" dirty="0">
                <a:solidFill>
                  <a:schemeClr val="bg1"/>
                </a:solidFill>
              </a:rPr>
              <a:t> </a:t>
            </a:r>
            <a:r>
              <a:rPr lang="en-US" sz="1200" dirty="0" err="1">
                <a:solidFill>
                  <a:schemeClr val="bg1"/>
                </a:solidFill>
              </a:rPr>
              <a:t>т.н</a:t>
            </a:r>
            <a:r>
              <a:rPr lang="en-US" sz="1200" dirty="0">
                <a:solidFill>
                  <a:schemeClr val="bg1"/>
                </a:solidFill>
              </a:rPr>
              <a:t> и </a:t>
            </a:r>
            <a:r>
              <a:rPr lang="en-US" sz="1200" dirty="0" err="1">
                <a:solidFill>
                  <a:schemeClr val="bg1"/>
                </a:solidFill>
              </a:rPr>
              <a:t>т.н</a:t>
            </a:r>
            <a:r>
              <a:rPr lang="en-US" sz="1200" dirty="0">
                <a:solidFill>
                  <a:schemeClr val="bg1"/>
                </a:solidFill>
              </a:rPr>
              <a:t>.) </a:t>
            </a:r>
            <a:r>
              <a:rPr lang="en-US" sz="1200" dirty="0" err="1">
                <a:solidFill>
                  <a:schemeClr val="bg1"/>
                </a:solidFill>
              </a:rPr>
              <a:t>Каква</a:t>
            </a:r>
            <a:r>
              <a:rPr lang="en-US" sz="1200" dirty="0">
                <a:solidFill>
                  <a:schemeClr val="bg1"/>
                </a:solidFill>
              </a:rPr>
              <a:t> </a:t>
            </a:r>
            <a:r>
              <a:rPr lang="en-US" sz="1200" dirty="0" err="1">
                <a:solidFill>
                  <a:schemeClr val="bg1"/>
                </a:solidFill>
              </a:rPr>
              <a:t>още</a:t>
            </a:r>
            <a:r>
              <a:rPr lang="en-US" sz="1200" dirty="0">
                <a:solidFill>
                  <a:schemeClr val="bg1"/>
                </a:solidFill>
              </a:rPr>
              <a:t> </a:t>
            </a:r>
            <a:r>
              <a:rPr lang="en-US" sz="1200" dirty="0" err="1">
                <a:solidFill>
                  <a:schemeClr val="bg1"/>
                </a:solidFill>
              </a:rPr>
              <a:t>информация</a:t>
            </a:r>
            <a:r>
              <a:rPr lang="en-US" sz="1200" dirty="0">
                <a:solidFill>
                  <a:schemeClr val="bg1"/>
                </a:solidFill>
              </a:rPr>
              <a:t> </a:t>
            </a:r>
            <a:r>
              <a:rPr lang="en-US" sz="1200" dirty="0" err="1">
                <a:solidFill>
                  <a:schemeClr val="bg1"/>
                </a:solidFill>
              </a:rPr>
              <a:t>ти</a:t>
            </a:r>
            <a:r>
              <a:rPr lang="en-US" sz="1200" dirty="0">
                <a:solidFill>
                  <a:schemeClr val="bg1"/>
                </a:solidFill>
              </a:rPr>
              <a:t> е </a:t>
            </a:r>
            <a:r>
              <a:rPr lang="en-US" sz="1200" dirty="0" err="1">
                <a:solidFill>
                  <a:schemeClr val="bg1"/>
                </a:solidFill>
              </a:rPr>
              <a:t>необходима</a:t>
            </a:r>
            <a:r>
              <a:rPr lang="en-US" sz="1200" dirty="0">
                <a:solidFill>
                  <a:schemeClr val="bg1"/>
                </a:solidFill>
              </a:rPr>
              <a:t> </a:t>
            </a:r>
            <a:r>
              <a:rPr lang="en-US" sz="1200" dirty="0" err="1">
                <a:solidFill>
                  <a:schemeClr val="bg1"/>
                </a:solidFill>
              </a:rPr>
              <a:t>за</a:t>
            </a:r>
            <a:r>
              <a:rPr lang="en-US" sz="1200" dirty="0">
                <a:solidFill>
                  <a:schemeClr val="bg1"/>
                </a:solidFill>
              </a:rPr>
              <a:t> </a:t>
            </a:r>
            <a:r>
              <a:rPr lang="en-US" sz="1200" dirty="0" err="1">
                <a:solidFill>
                  <a:schemeClr val="bg1"/>
                </a:solidFill>
              </a:rPr>
              <a:t>да</a:t>
            </a:r>
            <a:r>
              <a:rPr lang="en-US" sz="1200" dirty="0">
                <a:solidFill>
                  <a:schemeClr val="bg1"/>
                </a:solidFill>
              </a:rPr>
              <a:t> </a:t>
            </a:r>
            <a:r>
              <a:rPr lang="en-US" sz="1200" dirty="0" err="1">
                <a:solidFill>
                  <a:schemeClr val="bg1"/>
                </a:solidFill>
              </a:rPr>
              <a:t>вземеш</a:t>
            </a:r>
            <a:r>
              <a:rPr lang="en-US" sz="1200" dirty="0">
                <a:solidFill>
                  <a:schemeClr val="bg1"/>
                </a:solidFill>
              </a:rPr>
              <a:t> </a:t>
            </a:r>
            <a:r>
              <a:rPr lang="en-US" sz="1200" dirty="0" err="1">
                <a:solidFill>
                  <a:schemeClr val="bg1"/>
                </a:solidFill>
              </a:rPr>
              <a:t>решение</a:t>
            </a:r>
            <a:r>
              <a:rPr lang="en-US" sz="1200" dirty="0">
                <a:solidFill>
                  <a:schemeClr val="bg1"/>
                </a:solidFill>
              </a:rPr>
              <a:t>? </a:t>
            </a:r>
            <a:r>
              <a:rPr lang="en-US" sz="1200" dirty="0" err="1">
                <a:solidFill>
                  <a:schemeClr val="bg1"/>
                </a:solidFill>
              </a:rPr>
              <a:t>Завсякакви</a:t>
            </a:r>
            <a:r>
              <a:rPr lang="en-US" sz="1200" dirty="0">
                <a:solidFill>
                  <a:schemeClr val="bg1"/>
                </a:solidFill>
              </a:rPr>
              <a:t> </a:t>
            </a:r>
            <a:r>
              <a:rPr lang="en-US" sz="1200" dirty="0" err="1">
                <a:solidFill>
                  <a:schemeClr val="bg1"/>
                </a:solidFill>
              </a:rPr>
              <a:t>въпроси</a:t>
            </a:r>
            <a:r>
              <a:rPr lang="en-US" sz="1200" dirty="0">
                <a:solidFill>
                  <a:schemeClr val="bg1"/>
                </a:solidFill>
              </a:rPr>
              <a:t> </a:t>
            </a:r>
            <a:r>
              <a:rPr lang="en-US" sz="1200" dirty="0" err="1">
                <a:solidFill>
                  <a:schemeClr val="bg1"/>
                </a:solidFill>
              </a:rPr>
              <a:t>съм</a:t>
            </a:r>
            <a:r>
              <a:rPr lang="en-US" sz="1200" dirty="0">
                <a:solidFill>
                  <a:schemeClr val="bg1"/>
                </a:solidFill>
              </a:rPr>
              <a:t> </a:t>
            </a:r>
            <a:r>
              <a:rPr lang="en-US" sz="1200" dirty="0" err="1">
                <a:solidFill>
                  <a:schemeClr val="bg1"/>
                </a:solidFill>
              </a:rPr>
              <a:t>насреща</a:t>
            </a:r>
            <a:r>
              <a:rPr lang="en-US" sz="1200" dirty="0">
                <a:solidFill>
                  <a:schemeClr val="bg1"/>
                </a:solidFill>
              </a:rPr>
              <a:t>. </a:t>
            </a:r>
            <a:r>
              <a:rPr lang="en-US" sz="1200" dirty="0" err="1">
                <a:solidFill>
                  <a:schemeClr val="bg1"/>
                </a:solidFill>
              </a:rPr>
              <a:t>Това</a:t>
            </a:r>
            <a:r>
              <a:rPr lang="en-US" sz="1200" dirty="0">
                <a:solidFill>
                  <a:schemeClr val="bg1"/>
                </a:solidFill>
              </a:rPr>
              <a:t> </a:t>
            </a:r>
            <a:r>
              <a:rPr lang="en-US" sz="1200" dirty="0" err="1">
                <a:solidFill>
                  <a:schemeClr val="bg1"/>
                </a:solidFill>
              </a:rPr>
              <a:t>предложение</a:t>
            </a:r>
            <a:r>
              <a:rPr lang="en-US" sz="1200" dirty="0">
                <a:solidFill>
                  <a:schemeClr val="bg1"/>
                </a:solidFill>
              </a:rPr>
              <a:t> </a:t>
            </a:r>
            <a:r>
              <a:rPr lang="en-US" sz="1200" dirty="0" err="1">
                <a:solidFill>
                  <a:schemeClr val="bg1"/>
                </a:solidFill>
              </a:rPr>
              <a:t>не</a:t>
            </a:r>
            <a:r>
              <a:rPr lang="en-US" sz="1200" dirty="0">
                <a:solidFill>
                  <a:schemeClr val="bg1"/>
                </a:solidFill>
              </a:rPr>
              <a:t> е </a:t>
            </a:r>
            <a:r>
              <a:rPr lang="en-US" sz="1200" dirty="0" err="1">
                <a:solidFill>
                  <a:schemeClr val="bg1"/>
                </a:solidFill>
              </a:rPr>
              <a:t>безсрочно</a:t>
            </a:r>
            <a:r>
              <a:rPr lang="en-US" sz="1200" dirty="0">
                <a:solidFill>
                  <a:schemeClr val="bg1"/>
                </a:solidFill>
              </a:rPr>
              <a:t>, </a:t>
            </a:r>
            <a:r>
              <a:rPr lang="en-US" sz="1200" dirty="0" err="1">
                <a:solidFill>
                  <a:schemeClr val="bg1"/>
                </a:solidFill>
              </a:rPr>
              <a:t>нека</a:t>
            </a:r>
            <a:r>
              <a:rPr lang="en-US" sz="1200" dirty="0">
                <a:solidFill>
                  <a:schemeClr val="bg1"/>
                </a:solidFill>
              </a:rPr>
              <a:t> </a:t>
            </a:r>
            <a:r>
              <a:rPr lang="en-US" sz="1200" dirty="0" err="1">
                <a:solidFill>
                  <a:schemeClr val="bg1"/>
                </a:solidFill>
              </a:rPr>
              <a:t>се</a:t>
            </a:r>
            <a:r>
              <a:rPr lang="en-US" sz="1200" dirty="0">
                <a:solidFill>
                  <a:schemeClr val="bg1"/>
                </a:solidFill>
              </a:rPr>
              <a:t> </a:t>
            </a:r>
            <a:r>
              <a:rPr lang="en-US" sz="1200" dirty="0" err="1">
                <a:solidFill>
                  <a:schemeClr val="bg1"/>
                </a:solidFill>
              </a:rPr>
              <a:t>чуемслед</a:t>
            </a:r>
            <a:r>
              <a:rPr lang="en-US" sz="1200" dirty="0">
                <a:solidFill>
                  <a:schemeClr val="bg1"/>
                </a:solidFill>
              </a:rPr>
              <a:t> </a:t>
            </a:r>
            <a:r>
              <a:rPr lang="en-US" sz="1200" dirty="0" err="1">
                <a:solidFill>
                  <a:schemeClr val="bg1"/>
                </a:solidFill>
              </a:rPr>
              <a:t>седмица</a:t>
            </a:r>
            <a:r>
              <a:rPr lang="en-US" sz="1200" dirty="0">
                <a:solidFill>
                  <a:schemeClr val="bg1"/>
                </a:solidFill>
              </a:rPr>
              <a:t> </a:t>
            </a:r>
            <a:r>
              <a:rPr lang="en-US" sz="1200" dirty="0" err="1">
                <a:solidFill>
                  <a:schemeClr val="bg1"/>
                </a:solidFill>
              </a:rPr>
              <a:t>отново</a:t>
            </a:r>
            <a:r>
              <a:rPr lang="en-US" sz="1200" dirty="0">
                <a:solidFill>
                  <a:schemeClr val="bg1"/>
                </a:solidFill>
              </a:rPr>
              <a:t>.“ </a:t>
            </a:r>
          </a:p>
          <a:p>
            <a:r>
              <a:rPr lang="en-US" sz="1200" i="1" dirty="0">
                <a:solidFill>
                  <a:schemeClr val="bg1"/>
                </a:solidFill>
              </a:rPr>
              <a:t>(</a:t>
            </a:r>
            <a:r>
              <a:rPr lang="en-US" sz="1200" i="1" dirty="0" err="1">
                <a:solidFill>
                  <a:schemeClr val="bg1"/>
                </a:solidFill>
              </a:rPr>
              <a:t>Усмихваме</a:t>
            </a:r>
            <a:r>
              <a:rPr lang="en-US" sz="1200" i="1" dirty="0">
                <a:solidFill>
                  <a:schemeClr val="bg1"/>
                </a:solidFill>
              </a:rPr>
              <a:t> </a:t>
            </a:r>
            <a:r>
              <a:rPr lang="en-US" sz="1200" i="1" dirty="0" err="1">
                <a:solidFill>
                  <a:schemeClr val="bg1"/>
                </a:solidFill>
              </a:rPr>
              <a:t>се</a:t>
            </a:r>
            <a:r>
              <a:rPr lang="en-US" sz="1200" i="1" dirty="0">
                <a:solidFill>
                  <a:schemeClr val="bg1"/>
                </a:solidFill>
              </a:rPr>
              <a:t>, </a:t>
            </a:r>
            <a:r>
              <a:rPr lang="en-US" sz="1200" i="1" dirty="0" err="1">
                <a:solidFill>
                  <a:schemeClr val="bg1"/>
                </a:solidFill>
              </a:rPr>
              <a:t>пожелаваме</a:t>
            </a:r>
            <a:r>
              <a:rPr lang="en-US" sz="1200" i="1" dirty="0">
                <a:solidFill>
                  <a:schemeClr val="bg1"/>
                </a:solidFill>
              </a:rPr>
              <a:t> </a:t>
            </a:r>
            <a:r>
              <a:rPr lang="en-US" sz="1200" i="1" dirty="0" err="1">
                <a:solidFill>
                  <a:schemeClr val="bg1"/>
                </a:solidFill>
              </a:rPr>
              <a:t>приятен</a:t>
            </a:r>
            <a:r>
              <a:rPr lang="en-US" sz="1200" i="1" dirty="0">
                <a:solidFill>
                  <a:schemeClr val="bg1"/>
                </a:solidFill>
              </a:rPr>
              <a:t> </a:t>
            </a:r>
            <a:r>
              <a:rPr lang="en-US" sz="1200" i="1" dirty="0" err="1">
                <a:solidFill>
                  <a:schemeClr val="bg1"/>
                </a:solidFill>
              </a:rPr>
              <a:t>ден</a:t>
            </a:r>
            <a:r>
              <a:rPr lang="en-US" sz="1200" i="1" dirty="0">
                <a:solidFill>
                  <a:schemeClr val="bg1"/>
                </a:solidFill>
              </a:rPr>
              <a:t> </a:t>
            </a:r>
            <a:r>
              <a:rPr lang="en-US" sz="1200" i="1" dirty="0" err="1">
                <a:solidFill>
                  <a:schemeClr val="bg1"/>
                </a:solidFill>
              </a:rPr>
              <a:t>на</a:t>
            </a:r>
            <a:r>
              <a:rPr lang="en-US" sz="1200" i="1" dirty="0">
                <a:solidFill>
                  <a:schemeClr val="bg1"/>
                </a:solidFill>
              </a:rPr>
              <a:t> </a:t>
            </a:r>
            <a:r>
              <a:rPr lang="en-US" sz="1200" i="1" dirty="0" err="1">
                <a:solidFill>
                  <a:schemeClr val="bg1"/>
                </a:solidFill>
              </a:rPr>
              <a:t>клиента</a:t>
            </a:r>
            <a:r>
              <a:rPr lang="en-US" sz="1200" i="1" dirty="0">
                <a:solidFill>
                  <a:schemeClr val="bg1"/>
                </a:solidFill>
              </a:rPr>
              <a:t>, </a:t>
            </a:r>
            <a:r>
              <a:rPr lang="en-US" sz="1200" i="1" dirty="0" err="1">
                <a:solidFill>
                  <a:schemeClr val="bg1"/>
                </a:solidFill>
              </a:rPr>
              <a:t>даваме</a:t>
            </a:r>
            <a:r>
              <a:rPr lang="en-US" sz="1200" i="1" dirty="0">
                <a:solidFill>
                  <a:schemeClr val="bg1"/>
                </a:solidFill>
              </a:rPr>
              <a:t> </a:t>
            </a:r>
            <a:r>
              <a:rPr lang="en-US" sz="1200" i="1" dirty="0" err="1">
                <a:solidFill>
                  <a:schemeClr val="bg1"/>
                </a:solidFill>
              </a:rPr>
              <a:t>му</a:t>
            </a:r>
            <a:r>
              <a:rPr lang="en-US" sz="1200" i="1" dirty="0">
                <a:solidFill>
                  <a:schemeClr val="bg1"/>
                </a:solidFill>
              </a:rPr>
              <a:t> </a:t>
            </a:r>
            <a:r>
              <a:rPr lang="en-US" sz="1200" i="1" dirty="0" err="1">
                <a:solidFill>
                  <a:schemeClr val="bg1"/>
                </a:solidFill>
              </a:rPr>
              <a:t>визитка</a:t>
            </a:r>
            <a:r>
              <a:rPr lang="en-US" sz="1200" i="1" dirty="0">
                <a:solidFill>
                  <a:schemeClr val="bg1"/>
                </a:solidFill>
              </a:rPr>
              <a:t> и </a:t>
            </a:r>
            <a:r>
              <a:rPr lang="en-US" sz="1200" i="1" dirty="0" err="1">
                <a:solidFill>
                  <a:schemeClr val="bg1"/>
                </a:solidFill>
              </a:rPr>
              <a:t>сизаписваме</a:t>
            </a:r>
            <a:r>
              <a:rPr lang="en-US" sz="1200" i="1" dirty="0">
                <a:solidFill>
                  <a:schemeClr val="bg1"/>
                </a:solidFill>
              </a:rPr>
              <a:t> в </a:t>
            </a:r>
            <a:r>
              <a:rPr lang="en-US" sz="1200" i="1" dirty="0" err="1">
                <a:solidFill>
                  <a:schemeClr val="bg1"/>
                </a:solidFill>
              </a:rPr>
              <a:t>тефтера</a:t>
            </a:r>
            <a:r>
              <a:rPr lang="en-US" sz="1200" i="1" dirty="0">
                <a:solidFill>
                  <a:schemeClr val="bg1"/>
                </a:solidFill>
              </a:rPr>
              <a:t> </a:t>
            </a:r>
            <a:r>
              <a:rPr lang="en-US" sz="1200" i="1" dirty="0" err="1">
                <a:solidFill>
                  <a:schemeClr val="bg1"/>
                </a:solidFill>
              </a:rPr>
              <a:t>за</a:t>
            </a:r>
            <a:r>
              <a:rPr lang="en-US" sz="1200" i="1" dirty="0">
                <a:solidFill>
                  <a:schemeClr val="bg1"/>
                </a:solidFill>
              </a:rPr>
              <a:t> </a:t>
            </a:r>
            <a:r>
              <a:rPr lang="en-US" sz="1200" i="1" dirty="0" err="1">
                <a:solidFill>
                  <a:schemeClr val="bg1"/>
                </a:solidFill>
              </a:rPr>
              <a:t>повторно</a:t>
            </a:r>
            <a:r>
              <a:rPr lang="en-US" sz="1200" i="1" dirty="0">
                <a:solidFill>
                  <a:schemeClr val="bg1"/>
                </a:solidFill>
              </a:rPr>
              <a:t> </a:t>
            </a:r>
            <a:r>
              <a:rPr lang="en-US" sz="1200" i="1" dirty="0" err="1">
                <a:solidFill>
                  <a:schemeClr val="bg1"/>
                </a:solidFill>
              </a:rPr>
              <a:t>обаждане</a:t>
            </a:r>
            <a:r>
              <a:rPr lang="en-US" sz="1200" i="1" dirty="0">
                <a:solidFill>
                  <a:schemeClr val="bg1"/>
                </a:solidFill>
              </a:rPr>
              <a:t>.)</a:t>
            </a:r>
            <a:r>
              <a:rPr lang="en-US" sz="1200" dirty="0">
                <a:solidFill>
                  <a:schemeClr val="bg1"/>
                </a:solidFill>
              </a:rPr>
              <a:t> </a:t>
            </a:r>
            <a:endParaRPr lang="az-Cyrl-AZ" sz="1200">
              <a:solidFill>
                <a:schemeClr val="bg1"/>
              </a:solidFill>
            </a:endParaRPr>
          </a:p>
        </p:txBody>
      </p:sp>
      <p:sp>
        <p:nvSpPr>
          <p:cNvPr id="9" name="Rectangle: Rounded Corners 8">
            <a:extLst>
              <a:ext uri="{FF2B5EF4-FFF2-40B4-BE49-F238E27FC236}">
                <a16:creationId xmlns:a16="http://schemas.microsoft.com/office/drawing/2014/main" id="{B42217CF-413A-B173-B3AC-3A39005A399F}"/>
              </a:ext>
            </a:extLst>
          </p:cNvPr>
          <p:cNvSpPr/>
          <p:nvPr/>
        </p:nvSpPr>
        <p:spPr>
          <a:xfrm>
            <a:off x="5517324" y="5218312"/>
            <a:ext cx="6512627" cy="1009242"/>
          </a:xfrm>
          <a:prstGeom prst="roundRect">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r>
              <a:rPr lang="en-US" sz="1300" b="1" dirty="0" err="1">
                <a:solidFill>
                  <a:schemeClr val="bg1"/>
                </a:solidFill>
              </a:rPr>
              <a:t>Ако</a:t>
            </a:r>
            <a:r>
              <a:rPr lang="en-US" sz="1300" b="1" dirty="0">
                <a:solidFill>
                  <a:schemeClr val="bg1"/>
                </a:solidFill>
              </a:rPr>
              <a:t> </a:t>
            </a:r>
            <a:r>
              <a:rPr lang="en-US" sz="1300" b="1" dirty="0" err="1">
                <a:solidFill>
                  <a:schemeClr val="bg1"/>
                </a:solidFill>
              </a:rPr>
              <a:t>клиентът</a:t>
            </a:r>
            <a:r>
              <a:rPr lang="en-US" sz="1300" b="1" dirty="0">
                <a:solidFill>
                  <a:schemeClr val="bg1"/>
                </a:solidFill>
              </a:rPr>
              <a:t> е </a:t>
            </a:r>
            <a:r>
              <a:rPr lang="en-US" sz="1300" b="1" dirty="0" err="1">
                <a:solidFill>
                  <a:schemeClr val="bg1"/>
                </a:solidFill>
              </a:rPr>
              <a:t>взел</a:t>
            </a:r>
            <a:r>
              <a:rPr lang="en-US" sz="1300" b="1" dirty="0">
                <a:solidFill>
                  <a:schemeClr val="bg1"/>
                </a:solidFill>
              </a:rPr>
              <a:t> </a:t>
            </a:r>
            <a:r>
              <a:rPr lang="en-US" sz="1300" b="1" dirty="0" err="1">
                <a:solidFill>
                  <a:schemeClr val="bg1"/>
                </a:solidFill>
              </a:rPr>
              <a:t>решение</a:t>
            </a:r>
            <a:r>
              <a:rPr lang="en-US" sz="1300" b="1" dirty="0">
                <a:solidFill>
                  <a:schemeClr val="bg1"/>
                </a:solidFill>
              </a:rPr>
              <a:t> и </a:t>
            </a:r>
            <a:r>
              <a:rPr lang="en-US" sz="1300" b="1" dirty="0" err="1">
                <a:solidFill>
                  <a:schemeClr val="bg1"/>
                </a:solidFill>
              </a:rPr>
              <a:t>иска</a:t>
            </a:r>
            <a:r>
              <a:rPr lang="en-US" sz="1300" b="1" dirty="0">
                <a:solidFill>
                  <a:schemeClr val="bg1"/>
                </a:solidFill>
              </a:rPr>
              <a:t> </a:t>
            </a:r>
            <a:r>
              <a:rPr lang="en-US" sz="1300" b="1" dirty="0" err="1">
                <a:solidFill>
                  <a:schemeClr val="bg1"/>
                </a:solidFill>
              </a:rPr>
              <a:t>да</a:t>
            </a:r>
            <a:r>
              <a:rPr lang="en-US" sz="1300" b="1" dirty="0">
                <a:solidFill>
                  <a:schemeClr val="bg1"/>
                </a:solidFill>
              </a:rPr>
              <a:t> </a:t>
            </a:r>
            <a:r>
              <a:rPr lang="en-US" sz="1300" b="1" dirty="0" err="1">
                <a:solidFill>
                  <a:schemeClr val="bg1"/>
                </a:solidFill>
              </a:rPr>
              <a:t>се</a:t>
            </a:r>
            <a:r>
              <a:rPr lang="en-US" sz="1300" b="1" dirty="0">
                <a:solidFill>
                  <a:schemeClr val="bg1"/>
                </a:solidFill>
              </a:rPr>
              <a:t> </a:t>
            </a:r>
            <a:r>
              <a:rPr lang="en-US" sz="1300" b="1" dirty="0" err="1">
                <a:solidFill>
                  <a:schemeClr val="bg1"/>
                </a:solidFill>
              </a:rPr>
              <a:t>възползва</a:t>
            </a:r>
            <a:r>
              <a:rPr lang="en-US" sz="1300" b="1" dirty="0">
                <a:solidFill>
                  <a:schemeClr val="bg1"/>
                </a:solidFill>
              </a:rPr>
              <a:t> </a:t>
            </a:r>
            <a:r>
              <a:rPr lang="en-US" sz="1300" b="1" dirty="0" err="1">
                <a:solidFill>
                  <a:schemeClr val="bg1"/>
                </a:solidFill>
              </a:rPr>
              <a:t>от</a:t>
            </a:r>
            <a:r>
              <a:rPr lang="en-US" sz="1300" b="1" dirty="0">
                <a:solidFill>
                  <a:schemeClr val="bg1"/>
                </a:solidFill>
              </a:rPr>
              <a:t> </a:t>
            </a:r>
            <a:r>
              <a:rPr lang="en-US" sz="1300" b="1" dirty="0" err="1">
                <a:solidFill>
                  <a:schemeClr val="bg1"/>
                </a:solidFill>
              </a:rPr>
              <a:t>предложението</a:t>
            </a:r>
            <a:r>
              <a:rPr lang="en-US" sz="1300" b="1" dirty="0">
                <a:solidFill>
                  <a:schemeClr val="bg1"/>
                </a:solidFill>
              </a:rPr>
              <a:t>:</a:t>
            </a:r>
            <a:r>
              <a:rPr lang="en-US" sz="1300" dirty="0">
                <a:solidFill>
                  <a:schemeClr val="bg1"/>
                </a:solidFill>
              </a:rPr>
              <a:t> </a:t>
            </a:r>
          </a:p>
          <a:p>
            <a:r>
              <a:rPr lang="en-US" sz="1300" dirty="0">
                <a:solidFill>
                  <a:schemeClr val="bg1"/>
                </a:solidFill>
              </a:rPr>
              <a:t>К: „</a:t>
            </a:r>
            <a:r>
              <a:rPr lang="en-US" sz="1300" dirty="0" err="1">
                <a:solidFill>
                  <a:schemeClr val="bg1"/>
                </a:solidFill>
              </a:rPr>
              <a:t>Да</a:t>
            </a:r>
            <a:r>
              <a:rPr lang="en-US" sz="1300" dirty="0">
                <a:solidFill>
                  <a:schemeClr val="bg1"/>
                </a:solidFill>
              </a:rPr>
              <a:t> </a:t>
            </a:r>
            <a:r>
              <a:rPr lang="en-US" sz="1300" dirty="0" err="1">
                <a:solidFill>
                  <a:schemeClr val="bg1"/>
                </a:solidFill>
              </a:rPr>
              <a:t>добре</a:t>
            </a:r>
            <a:r>
              <a:rPr lang="en-US" sz="1300" dirty="0">
                <a:solidFill>
                  <a:schemeClr val="bg1"/>
                </a:solidFill>
              </a:rPr>
              <a:t> / </a:t>
            </a:r>
            <a:r>
              <a:rPr lang="en-US" sz="1300" dirty="0" err="1">
                <a:solidFill>
                  <a:schemeClr val="bg1"/>
                </a:solidFill>
              </a:rPr>
              <a:t>Съгласен</a:t>
            </a:r>
            <a:r>
              <a:rPr lang="en-US" sz="1300" dirty="0">
                <a:solidFill>
                  <a:schemeClr val="bg1"/>
                </a:solidFill>
              </a:rPr>
              <a:t> </a:t>
            </a:r>
            <a:r>
              <a:rPr lang="en-US" sz="1300" dirty="0" err="1">
                <a:solidFill>
                  <a:schemeClr val="bg1"/>
                </a:solidFill>
              </a:rPr>
              <a:t>съм</a:t>
            </a:r>
            <a:r>
              <a:rPr lang="en-US" sz="1300" dirty="0">
                <a:solidFill>
                  <a:schemeClr val="bg1"/>
                </a:solidFill>
              </a:rPr>
              <a:t>“ </a:t>
            </a:r>
          </a:p>
          <a:p>
            <a:r>
              <a:rPr lang="en-US" sz="1300" dirty="0">
                <a:solidFill>
                  <a:schemeClr val="bg1"/>
                </a:solidFill>
              </a:rPr>
              <a:t>КК: „</a:t>
            </a:r>
            <a:r>
              <a:rPr lang="en-US" sz="1300" dirty="0" err="1">
                <a:solidFill>
                  <a:schemeClr val="bg1"/>
                </a:solidFill>
              </a:rPr>
              <a:t>Това</a:t>
            </a:r>
            <a:r>
              <a:rPr lang="en-US" sz="1300" dirty="0">
                <a:solidFill>
                  <a:schemeClr val="bg1"/>
                </a:solidFill>
              </a:rPr>
              <a:t>, </a:t>
            </a:r>
            <a:r>
              <a:rPr lang="en-US" sz="1300" dirty="0" err="1">
                <a:solidFill>
                  <a:schemeClr val="bg1"/>
                </a:solidFill>
              </a:rPr>
              <a:t>което</a:t>
            </a:r>
            <a:r>
              <a:rPr lang="en-US" sz="1300" dirty="0">
                <a:solidFill>
                  <a:schemeClr val="bg1"/>
                </a:solidFill>
              </a:rPr>
              <a:t> </a:t>
            </a:r>
            <a:r>
              <a:rPr lang="en-US" sz="1300" dirty="0" err="1">
                <a:solidFill>
                  <a:schemeClr val="bg1"/>
                </a:solidFill>
              </a:rPr>
              <a:t>мога</a:t>
            </a:r>
            <a:r>
              <a:rPr lang="en-US" sz="1300" dirty="0">
                <a:solidFill>
                  <a:schemeClr val="bg1"/>
                </a:solidFill>
              </a:rPr>
              <a:t> да </a:t>
            </a:r>
            <a:r>
              <a:rPr lang="en-US" sz="1300" dirty="0" err="1">
                <a:solidFill>
                  <a:schemeClr val="bg1"/>
                </a:solidFill>
              </a:rPr>
              <a:t>направя</a:t>
            </a:r>
            <a:r>
              <a:rPr lang="en-US" sz="1300" dirty="0">
                <a:solidFill>
                  <a:schemeClr val="bg1"/>
                </a:solidFill>
              </a:rPr>
              <a:t> за </a:t>
            </a:r>
            <a:r>
              <a:rPr lang="en-US" sz="1300" dirty="0" err="1">
                <a:solidFill>
                  <a:schemeClr val="bg1"/>
                </a:solidFill>
              </a:rPr>
              <a:t>теб</a:t>
            </a:r>
            <a:r>
              <a:rPr lang="en-US" sz="1300" dirty="0">
                <a:solidFill>
                  <a:schemeClr val="bg1"/>
                </a:solidFill>
              </a:rPr>
              <a:t>, е </a:t>
            </a:r>
            <a:r>
              <a:rPr lang="en-US" sz="1300" dirty="0" err="1">
                <a:solidFill>
                  <a:schemeClr val="bg1"/>
                </a:solidFill>
              </a:rPr>
              <a:t>още</a:t>
            </a:r>
            <a:r>
              <a:rPr lang="en-US" sz="1300" dirty="0">
                <a:solidFill>
                  <a:schemeClr val="bg1"/>
                </a:solidFill>
              </a:rPr>
              <a:t> </a:t>
            </a:r>
            <a:r>
              <a:rPr lang="en-US" sz="1300" dirty="0" err="1">
                <a:solidFill>
                  <a:schemeClr val="bg1"/>
                </a:solidFill>
              </a:rPr>
              <a:t>сега</a:t>
            </a:r>
            <a:r>
              <a:rPr lang="en-US" sz="1300" dirty="0">
                <a:solidFill>
                  <a:schemeClr val="bg1"/>
                </a:solidFill>
              </a:rPr>
              <a:t> да </a:t>
            </a:r>
            <a:r>
              <a:rPr lang="en-US" sz="1300" dirty="0" err="1">
                <a:solidFill>
                  <a:schemeClr val="bg1"/>
                </a:solidFill>
              </a:rPr>
              <a:t>попълним</a:t>
            </a:r>
            <a:r>
              <a:rPr lang="en-US" sz="1300" dirty="0">
                <a:solidFill>
                  <a:schemeClr val="bg1"/>
                </a:solidFill>
              </a:rPr>
              <a:t> </a:t>
            </a:r>
            <a:r>
              <a:rPr lang="en-US" sz="1300" dirty="0" err="1">
                <a:solidFill>
                  <a:schemeClr val="bg1"/>
                </a:solidFill>
              </a:rPr>
              <a:t>предложението.Моля</a:t>
            </a:r>
            <a:r>
              <a:rPr lang="en-US" sz="1300" dirty="0">
                <a:solidFill>
                  <a:schemeClr val="bg1"/>
                </a:solidFill>
              </a:rPr>
              <a:t> за </a:t>
            </a:r>
            <a:r>
              <a:rPr lang="en-US" sz="1300" dirty="0" err="1">
                <a:solidFill>
                  <a:schemeClr val="bg1"/>
                </a:solidFill>
              </a:rPr>
              <a:t>копие</a:t>
            </a:r>
            <a:r>
              <a:rPr lang="en-US" sz="1300" dirty="0">
                <a:solidFill>
                  <a:schemeClr val="bg1"/>
                </a:solidFill>
              </a:rPr>
              <a:t> на </a:t>
            </a:r>
            <a:r>
              <a:rPr lang="en-US" sz="1300" dirty="0" err="1">
                <a:solidFill>
                  <a:schemeClr val="bg1"/>
                </a:solidFill>
              </a:rPr>
              <a:t>лична</a:t>
            </a:r>
            <a:r>
              <a:rPr lang="en-US" sz="1300" dirty="0">
                <a:solidFill>
                  <a:schemeClr val="bg1"/>
                </a:solidFill>
              </a:rPr>
              <a:t> </a:t>
            </a:r>
            <a:r>
              <a:rPr lang="en-US" sz="1300" dirty="0" err="1">
                <a:solidFill>
                  <a:schemeClr val="bg1"/>
                </a:solidFill>
              </a:rPr>
              <a:t>карта</a:t>
            </a:r>
            <a:r>
              <a:rPr lang="en-US" sz="1300" dirty="0">
                <a:solidFill>
                  <a:schemeClr val="bg1"/>
                </a:solidFill>
              </a:rPr>
              <a:t>.“ </a:t>
            </a:r>
            <a:endParaRPr lang="en-US" dirty="0">
              <a:solidFill>
                <a:schemeClr val="bg1"/>
              </a:solidFill>
            </a:endParaRPr>
          </a:p>
        </p:txBody>
      </p:sp>
      <p:sp>
        <p:nvSpPr>
          <p:cNvPr id="11" name="Rectangle: Rounded Corners 10">
            <a:extLst>
              <a:ext uri="{FF2B5EF4-FFF2-40B4-BE49-F238E27FC236}">
                <a16:creationId xmlns:a16="http://schemas.microsoft.com/office/drawing/2014/main" id="{3B01B0F9-3A47-1509-9F13-6BAC697EDE9F}"/>
              </a:ext>
            </a:extLst>
          </p:cNvPr>
          <p:cNvSpPr/>
          <p:nvPr/>
        </p:nvSpPr>
        <p:spPr>
          <a:xfrm>
            <a:off x="5574190" y="6281181"/>
            <a:ext cx="6512628" cy="1163814"/>
          </a:xfrm>
          <a:prstGeom prst="roundRect">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r>
              <a:rPr lang="en-US" sz="1300" b="1" dirty="0" err="1">
                <a:solidFill>
                  <a:schemeClr val="bg1"/>
                </a:solidFill>
              </a:rPr>
              <a:t>Финализиране</a:t>
            </a:r>
            <a:r>
              <a:rPr lang="en-US" sz="1300" b="1" dirty="0">
                <a:solidFill>
                  <a:schemeClr val="bg1"/>
                </a:solidFill>
              </a:rPr>
              <a:t> </a:t>
            </a:r>
            <a:r>
              <a:rPr lang="en-US" sz="1300" b="1" dirty="0" err="1">
                <a:solidFill>
                  <a:schemeClr val="bg1"/>
                </a:solidFill>
              </a:rPr>
              <a:t>на</a:t>
            </a:r>
            <a:r>
              <a:rPr lang="en-US" sz="1300" b="1" dirty="0">
                <a:solidFill>
                  <a:schemeClr val="bg1"/>
                </a:solidFill>
              </a:rPr>
              <a:t> </a:t>
            </a:r>
            <a:r>
              <a:rPr lang="en-US" sz="1300" b="1" dirty="0" err="1">
                <a:solidFill>
                  <a:schemeClr val="bg1"/>
                </a:solidFill>
              </a:rPr>
              <a:t>срещата</a:t>
            </a:r>
            <a:endParaRPr lang="en-US" sz="1300" dirty="0">
              <a:solidFill>
                <a:schemeClr val="bg1"/>
              </a:solidFill>
            </a:endParaRPr>
          </a:p>
          <a:p>
            <a:r>
              <a:rPr lang="en-US" sz="1300" dirty="0">
                <a:solidFill>
                  <a:schemeClr val="bg1"/>
                </a:solidFill>
              </a:rPr>
              <a:t>КК: „</a:t>
            </a:r>
            <a:r>
              <a:rPr lang="en-US" sz="1300" dirty="0" err="1">
                <a:solidFill>
                  <a:schemeClr val="bg1"/>
                </a:solidFill>
              </a:rPr>
              <a:t>Мисля</a:t>
            </a:r>
            <a:r>
              <a:rPr lang="en-US" sz="1300" dirty="0">
                <a:solidFill>
                  <a:schemeClr val="bg1"/>
                </a:solidFill>
              </a:rPr>
              <a:t>, </a:t>
            </a:r>
            <a:r>
              <a:rPr lang="en-US" sz="1300" dirty="0" err="1">
                <a:solidFill>
                  <a:schemeClr val="bg1"/>
                </a:solidFill>
              </a:rPr>
              <a:t>че</a:t>
            </a:r>
            <a:r>
              <a:rPr lang="en-US" sz="1300" dirty="0">
                <a:solidFill>
                  <a:schemeClr val="bg1"/>
                </a:solidFill>
              </a:rPr>
              <a:t> </a:t>
            </a:r>
            <a:r>
              <a:rPr lang="en-US" sz="1300" dirty="0" err="1">
                <a:solidFill>
                  <a:schemeClr val="bg1"/>
                </a:solidFill>
              </a:rPr>
              <a:t>направихме</a:t>
            </a:r>
            <a:r>
              <a:rPr lang="en-US" sz="1300" dirty="0">
                <a:solidFill>
                  <a:schemeClr val="bg1"/>
                </a:solidFill>
              </a:rPr>
              <a:t> </a:t>
            </a:r>
            <a:r>
              <a:rPr lang="en-US" sz="1300" dirty="0" err="1">
                <a:solidFill>
                  <a:schemeClr val="bg1"/>
                </a:solidFill>
              </a:rPr>
              <a:t>най-добрия</a:t>
            </a:r>
            <a:r>
              <a:rPr lang="en-US" sz="1300" dirty="0">
                <a:solidFill>
                  <a:schemeClr val="bg1"/>
                </a:solidFill>
              </a:rPr>
              <a:t> </a:t>
            </a:r>
            <a:r>
              <a:rPr lang="en-US" sz="1300" dirty="0" err="1">
                <a:solidFill>
                  <a:schemeClr val="bg1"/>
                </a:solidFill>
              </a:rPr>
              <a:t>избор</a:t>
            </a:r>
            <a:r>
              <a:rPr lang="en-US" sz="1300" dirty="0">
                <a:solidFill>
                  <a:schemeClr val="bg1"/>
                </a:solidFill>
              </a:rPr>
              <a:t>“ </a:t>
            </a:r>
            <a:r>
              <a:rPr lang="en-US" sz="1300" i="1" dirty="0">
                <a:solidFill>
                  <a:schemeClr val="bg1"/>
                </a:solidFill>
              </a:rPr>
              <a:t>(</a:t>
            </a:r>
            <a:r>
              <a:rPr lang="en-US" sz="1300" i="1" dirty="0" err="1">
                <a:solidFill>
                  <a:schemeClr val="bg1"/>
                </a:solidFill>
              </a:rPr>
              <a:t>повтаряме</a:t>
            </a:r>
            <a:r>
              <a:rPr lang="en-US" sz="1300" i="1" dirty="0">
                <a:solidFill>
                  <a:schemeClr val="bg1"/>
                </a:solidFill>
              </a:rPr>
              <a:t> </a:t>
            </a:r>
            <a:r>
              <a:rPr lang="en-US" sz="1300" i="1" dirty="0" err="1">
                <a:solidFill>
                  <a:schemeClr val="bg1"/>
                </a:solidFill>
              </a:rPr>
              <a:t>параметрите</a:t>
            </a:r>
            <a:r>
              <a:rPr lang="en-US" sz="1300" i="1" dirty="0">
                <a:solidFill>
                  <a:schemeClr val="bg1"/>
                </a:solidFill>
              </a:rPr>
              <a:t> </a:t>
            </a:r>
            <a:r>
              <a:rPr lang="en-US" sz="1300" i="1" dirty="0" err="1">
                <a:solidFill>
                  <a:schemeClr val="bg1"/>
                </a:solidFill>
              </a:rPr>
              <a:t>накредита</a:t>
            </a:r>
            <a:r>
              <a:rPr lang="en-US" sz="1300" i="1" dirty="0">
                <a:solidFill>
                  <a:schemeClr val="bg1"/>
                </a:solidFill>
              </a:rPr>
              <a:t>).</a:t>
            </a:r>
            <a:r>
              <a:rPr lang="en-US" sz="1300" dirty="0">
                <a:solidFill>
                  <a:schemeClr val="bg1"/>
                </a:solidFill>
              </a:rPr>
              <a:t> „</a:t>
            </a:r>
            <a:r>
              <a:rPr lang="en-US" sz="1300" dirty="0" err="1">
                <a:solidFill>
                  <a:schemeClr val="bg1"/>
                </a:solidFill>
              </a:rPr>
              <a:t>Днес</a:t>
            </a:r>
            <a:r>
              <a:rPr lang="en-US" sz="1300" dirty="0">
                <a:solidFill>
                  <a:schemeClr val="bg1"/>
                </a:solidFill>
              </a:rPr>
              <a:t> </a:t>
            </a:r>
            <a:r>
              <a:rPr lang="en-US" sz="1300" dirty="0" err="1">
                <a:solidFill>
                  <a:schemeClr val="bg1"/>
                </a:solidFill>
              </a:rPr>
              <a:t>до</a:t>
            </a:r>
            <a:r>
              <a:rPr lang="en-US" sz="1300" dirty="0">
                <a:solidFill>
                  <a:schemeClr val="bg1"/>
                </a:solidFill>
              </a:rPr>
              <a:t> </a:t>
            </a:r>
            <a:r>
              <a:rPr lang="en-US" sz="1300" dirty="0" err="1">
                <a:solidFill>
                  <a:schemeClr val="bg1"/>
                </a:solidFill>
              </a:rPr>
              <a:t>края</a:t>
            </a:r>
            <a:r>
              <a:rPr lang="en-US" sz="1300" dirty="0">
                <a:solidFill>
                  <a:schemeClr val="bg1"/>
                </a:solidFill>
              </a:rPr>
              <a:t> </a:t>
            </a:r>
            <a:r>
              <a:rPr lang="en-US" sz="1300" dirty="0" err="1">
                <a:solidFill>
                  <a:schemeClr val="bg1"/>
                </a:solidFill>
              </a:rPr>
              <a:t>на</a:t>
            </a:r>
            <a:r>
              <a:rPr lang="en-US" sz="1300" dirty="0">
                <a:solidFill>
                  <a:schemeClr val="bg1"/>
                </a:solidFill>
              </a:rPr>
              <a:t> </a:t>
            </a:r>
            <a:r>
              <a:rPr lang="en-US" sz="1300" dirty="0" err="1">
                <a:solidFill>
                  <a:schemeClr val="bg1"/>
                </a:solidFill>
              </a:rPr>
              <a:t>деня</a:t>
            </a:r>
            <a:r>
              <a:rPr lang="en-US" sz="1300" dirty="0">
                <a:solidFill>
                  <a:schemeClr val="bg1"/>
                </a:solidFill>
              </a:rPr>
              <a:t> </a:t>
            </a:r>
            <a:r>
              <a:rPr lang="en-US" sz="1300" dirty="0" err="1">
                <a:solidFill>
                  <a:schemeClr val="bg1"/>
                </a:solidFill>
              </a:rPr>
              <a:t>очаквай</a:t>
            </a:r>
            <a:r>
              <a:rPr lang="en-US" sz="1300" dirty="0">
                <a:solidFill>
                  <a:schemeClr val="bg1"/>
                </a:solidFill>
              </a:rPr>
              <a:t> </a:t>
            </a:r>
            <a:r>
              <a:rPr lang="en-US" sz="1300" dirty="0" err="1">
                <a:solidFill>
                  <a:schemeClr val="bg1"/>
                </a:solidFill>
              </a:rPr>
              <a:t>отговор</a:t>
            </a:r>
            <a:r>
              <a:rPr lang="en-US" sz="1300" dirty="0">
                <a:solidFill>
                  <a:schemeClr val="bg1"/>
                </a:solidFill>
              </a:rPr>
              <a:t> </a:t>
            </a:r>
            <a:r>
              <a:rPr lang="en-US" sz="1300" dirty="0" err="1">
                <a:solidFill>
                  <a:schemeClr val="bg1"/>
                </a:solidFill>
              </a:rPr>
              <a:t>от</a:t>
            </a:r>
            <a:r>
              <a:rPr lang="en-US" sz="1300" dirty="0">
                <a:solidFill>
                  <a:schemeClr val="bg1"/>
                </a:solidFill>
              </a:rPr>
              <a:t> </a:t>
            </a:r>
            <a:r>
              <a:rPr lang="en-US" sz="1300" dirty="0" err="1">
                <a:solidFill>
                  <a:schemeClr val="bg1"/>
                </a:solidFill>
              </a:rPr>
              <a:t>нас</a:t>
            </a:r>
            <a:r>
              <a:rPr lang="en-US" sz="1300" dirty="0">
                <a:solidFill>
                  <a:schemeClr val="bg1"/>
                </a:solidFill>
              </a:rPr>
              <a:t>, </a:t>
            </a:r>
            <a:r>
              <a:rPr lang="en-US" sz="1300" dirty="0" err="1">
                <a:solidFill>
                  <a:schemeClr val="bg1"/>
                </a:solidFill>
              </a:rPr>
              <a:t>нека</a:t>
            </a:r>
            <a:r>
              <a:rPr lang="en-US" sz="1300" dirty="0">
                <a:solidFill>
                  <a:schemeClr val="bg1"/>
                </a:solidFill>
              </a:rPr>
              <a:t> </a:t>
            </a:r>
            <a:r>
              <a:rPr lang="en-US" sz="1300" dirty="0" err="1">
                <a:solidFill>
                  <a:schemeClr val="bg1"/>
                </a:solidFill>
              </a:rPr>
              <a:t>телефона</a:t>
            </a:r>
            <a:r>
              <a:rPr lang="en-US" sz="1300" dirty="0">
                <a:solidFill>
                  <a:schemeClr val="bg1"/>
                </a:solidFill>
              </a:rPr>
              <a:t> </a:t>
            </a:r>
            <a:r>
              <a:rPr lang="en-US" sz="1300" dirty="0" err="1">
                <a:solidFill>
                  <a:schemeClr val="bg1"/>
                </a:solidFill>
              </a:rPr>
              <a:t>ти</a:t>
            </a:r>
            <a:r>
              <a:rPr lang="en-US" sz="1300" dirty="0">
                <a:solidFill>
                  <a:schemeClr val="bg1"/>
                </a:solidFill>
              </a:rPr>
              <a:t> е </a:t>
            </a:r>
            <a:r>
              <a:rPr lang="en-US" sz="1300" dirty="0" err="1">
                <a:solidFill>
                  <a:schemeClr val="bg1"/>
                </a:solidFill>
              </a:rPr>
              <a:t>наразположение</a:t>
            </a:r>
            <a:r>
              <a:rPr lang="en-US" sz="1300" dirty="0">
                <a:solidFill>
                  <a:schemeClr val="bg1"/>
                </a:solidFill>
              </a:rPr>
              <a:t>, </a:t>
            </a:r>
            <a:r>
              <a:rPr lang="en-US" sz="1300" dirty="0" err="1">
                <a:solidFill>
                  <a:schemeClr val="bg1"/>
                </a:solidFill>
              </a:rPr>
              <a:t>тъй</a:t>
            </a:r>
            <a:r>
              <a:rPr lang="en-US" sz="1300" dirty="0">
                <a:solidFill>
                  <a:schemeClr val="bg1"/>
                </a:solidFill>
              </a:rPr>
              <a:t> </a:t>
            </a:r>
            <a:r>
              <a:rPr lang="en-US" sz="1300" dirty="0" err="1">
                <a:solidFill>
                  <a:schemeClr val="bg1"/>
                </a:solidFill>
              </a:rPr>
              <a:t>като</a:t>
            </a:r>
            <a:r>
              <a:rPr lang="en-US" sz="1300" dirty="0">
                <a:solidFill>
                  <a:schemeClr val="bg1"/>
                </a:solidFill>
              </a:rPr>
              <a:t> </a:t>
            </a:r>
            <a:r>
              <a:rPr lang="en-US" sz="1300" dirty="0" err="1">
                <a:solidFill>
                  <a:schemeClr val="bg1"/>
                </a:solidFill>
              </a:rPr>
              <a:t>колегите</a:t>
            </a:r>
            <a:r>
              <a:rPr lang="en-US" sz="1300" dirty="0">
                <a:solidFill>
                  <a:schemeClr val="bg1"/>
                </a:solidFill>
              </a:rPr>
              <a:t> </a:t>
            </a:r>
            <a:r>
              <a:rPr lang="en-US" sz="1300" dirty="0" err="1">
                <a:solidFill>
                  <a:schemeClr val="bg1"/>
                </a:solidFill>
              </a:rPr>
              <a:t>ще</a:t>
            </a:r>
            <a:r>
              <a:rPr lang="en-US" sz="1300" dirty="0">
                <a:solidFill>
                  <a:schemeClr val="bg1"/>
                </a:solidFill>
              </a:rPr>
              <a:t> </a:t>
            </a:r>
            <a:r>
              <a:rPr lang="en-US" sz="1300" dirty="0" err="1">
                <a:solidFill>
                  <a:schemeClr val="bg1"/>
                </a:solidFill>
              </a:rPr>
              <a:t>искат</a:t>
            </a:r>
            <a:r>
              <a:rPr lang="en-US" sz="1300" dirty="0">
                <a:solidFill>
                  <a:schemeClr val="bg1"/>
                </a:solidFill>
              </a:rPr>
              <a:t> </a:t>
            </a:r>
            <a:r>
              <a:rPr lang="en-US" sz="1300" dirty="0" err="1">
                <a:solidFill>
                  <a:schemeClr val="bg1"/>
                </a:solidFill>
              </a:rPr>
              <a:t>да</a:t>
            </a:r>
            <a:r>
              <a:rPr lang="en-US" sz="1300" dirty="0">
                <a:solidFill>
                  <a:schemeClr val="bg1"/>
                </a:solidFill>
              </a:rPr>
              <a:t> </a:t>
            </a:r>
            <a:r>
              <a:rPr lang="en-US" sz="1300" dirty="0" err="1">
                <a:solidFill>
                  <a:schemeClr val="bg1"/>
                </a:solidFill>
              </a:rPr>
              <a:t>се</a:t>
            </a:r>
            <a:r>
              <a:rPr lang="en-US" sz="1300" dirty="0">
                <a:solidFill>
                  <a:schemeClr val="bg1"/>
                </a:solidFill>
              </a:rPr>
              <a:t> </a:t>
            </a:r>
            <a:r>
              <a:rPr lang="en-US" sz="1300" dirty="0" err="1">
                <a:solidFill>
                  <a:schemeClr val="bg1"/>
                </a:solidFill>
              </a:rPr>
              <a:t>свържат</a:t>
            </a:r>
            <a:r>
              <a:rPr lang="en-US" sz="1300" dirty="0">
                <a:solidFill>
                  <a:schemeClr val="bg1"/>
                </a:solidFill>
              </a:rPr>
              <a:t> с </a:t>
            </a:r>
            <a:r>
              <a:rPr lang="en-US" sz="1300" dirty="0" err="1">
                <a:solidFill>
                  <a:schemeClr val="bg1"/>
                </a:solidFill>
              </a:rPr>
              <a:t>теб</a:t>
            </a:r>
            <a:r>
              <a:rPr lang="en-US" sz="1300" dirty="0">
                <a:solidFill>
                  <a:schemeClr val="bg1"/>
                </a:solidFill>
              </a:rPr>
              <a:t>. </a:t>
            </a:r>
            <a:r>
              <a:rPr lang="en-US" sz="1300" dirty="0" err="1">
                <a:solidFill>
                  <a:schemeClr val="bg1"/>
                </a:solidFill>
              </a:rPr>
              <a:t>Благодаря</a:t>
            </a:r>
            <a:r>
              <a:rPr lang="en-US" sz="1300" dirty="0">
                <a:solidFill>
                  <a:schemeClr val="bg1"/>
                </a:solidFill>
              </a:rPr>
              <a:t> </a:t>
            </a:r>
            <a:r>
              <a:rPr lang="en-US" sz="1300" dirty="0" err="1">
                <a:solidFill>
                  <a:schemeClr val="bg1"/>
                </a:solidFill>
              </a:rPr>
              <a:t>ти</a:t>
            </a:r>
            <a:r>
              <a:rPr lang="en-US" sz="1300" dirty="0">
                <a:solidFill>
                  <a:schemeClr val="bg1"/>
                </a:solidFill>
              </a:rPr>
              <a:t> </a:t>
            </a:r>
            <a:r>
              <a:rPr lang="en-US" sz="1300" dirty="0" err="1">
                <a:solidFill>
                  <a:schemeClr val="bg1"/>
                </a:solidFill>
              </a:rPr>
              <a:t>задоверието</a:t>
            </a:r>
            <a:r>
              <a:rPr lang="en-US" sz="1300" dirty="0">
                <a:solidFill>
                  <a:schemeClr val="bg1"/>
                </a:solidFill>
              </a:rPr>
              <a:t>!“</a:t>
            </a:r>
          </a:p>
          <a:p>
            <a:endParaRPr lang="en-US" sz="1300" dirty="0">
              <a:solidFill>
                <a:schemeClr val="bg1"/>
              </a:solidFill>
            </a:endParaRPr>
          </a:p>
          <a:p>
            <a:endParaRPr lang="en-US" sz="1300" dirty="0">
              <a:solidFill>
                <a:schemeClr val="bg1"/>
              </a:solidFill>
            </a:endParaRPr>
          </a:p>
          <a:p>
            <a:endParaRPr lang="en-US" sz="1300" dirty="0">
              <a:solidFill>
                <a:schemeClr val="bg1"/>
              </a:solidFill>
            </a:endParaRPr>
          </a:p>
          <a:p>
            <a:endParaRPr lang="en-US" sz="1300" b="1" dirty="0">
              <a:solidFill>
                <a:schemeClr val="bg1"/>
              </a:solidFill>
            </a:endParaRPr>
          </a:p>
        </p:txBody>
      </p:sp>
    </p:spTree>
    <p:extLst>
      <p:ext uri="{BB962C8B-B14F-4D97-AF65-F5344CB8AC3E}">
        <p14:creationId xmlns:p14="http://schemas.microsoft.com/office/powerpoint/2010/main" val="4087446517"/>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0B65EF-0BFC-3A07-19D7-43BC88471AC8}"/>
            </a:ext>
          </a:extLst>
        </p:cNvPr>
        <p:cNvGrpSpPr/>
        <p:nvPr/>
      </p:nvGrpSpPr>
      <p:grpSpPr>
        <a:xfrm>
          <a:off x="0" y="0"/>
          <a:ext cx="0" cy="0"/>
          <a:chOff x="0" y="0"/>
          <a:chExt cx="0" cy="0"/>
        </a:xfrm>
      </p:grpSpPr>
      <p:sp>
        <p:nvSpPr>
          <p:cNvPr id="18" name="Rectangle: Rounded Corners 17">
            <a:extLst>
              <a:ext uri="{FF2B5EF4-FFF2-40B4-BE49-F238E27FC236}">
                <a16:creationId xmlns:a16="http://schemas.microsoft.com/office/drawing/2014/main" id="{2DA3E557-F5B0-C9CF-5FA8-71E7CE16C668}"/>
              </a:ext>
            </a:extLst>
          </p:cNvPr>
          <p:cNvSpPr/>
          <p:nvPr/>
        </p:nvSpPr>
        <p:spPr>
          <a:xfrm>
            <a:off x="1896199" y="2037152"/>
            <a:ext cx="2871747" cy="767079"/>
          </a:xfrm>
          <a:prstGeom prst="roundRect">
            <a:avLst/>
          </a:prstGeom>
          <a:solidFill>
            <a:schemeClr val="bg2">
              <a:lumMod val="75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ru-RU" sz="1600"/>
              <a:t>Настоящ клиент за нов кредит</a:t>
            </a:r>
            <a:endParaRPr lang="en-GB" sz="1600"/>
          </a:p>
        </p:txBody>
      </p:sp>
      <p:sp>
        <p:nvSpPr>
          <p:cNvPr id="19" name="Rectangle: Rounded Corners 18">
            <a:extLst>
              <a:ext uri="{FF2B5EF4-FFF2-40B4-BE49-F238E27FC236}">
                <a16:creationId xmlns:a16="http://schemas.microsoft.com/office/drawing/2014/main" id="{A1EC9FC8-5F88-0D56-95AE-4EF9842B5D95}"/>
              </a:ext>
            </a:extLst>
          </p:cNvPr>
          <p:cNvSpPr/>
          <p:nvPr/>
        </p:nvSpPr>
        <p:spPr>
          <a:xfrm>
            <a:off x="1896199" y="1147427"/>
            <a:ext cx="2871747" cy="767079"/>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Нов клиент в офис</a:t>
            </a:r>
            <a:endParaRPr lang="en-GB" sz="1600"/>
          </a:p>
        </p:txBody>
      </p:sp>
      <p:sp>
        <p:nvSpPr>
          <p:cNvPr id="25" name="Rectangle: Rounded Corners 24">
            <a:extLst>
              <a:ext uri="{FF2B5EF4-FFF2-40B4-BE49-F238E27FC236}">
                <a16:creationId xmlns:a16="http://schemas.microsoft.com/office/drawing/2014/main" id="{2AEE9446-CEDE-D434-1251-EB18810488FD}"/>
              </a:ext>
            </a:extLst>
          </p:cNvPr>
          <p:cNvSpPr/>
          <p:nvPr/>
        </p:nvSpPr>
        <p:spPr>
          <a:xfrm>
            <a:off x="1896199" y="2926877"/>
            <a:ext cx="2871747" cy="767079"/>
          </a:xfrm>
          <a:prstGeom prst="roundRect">
            <a:avLst/>
          </a:prstGeom>
          <a:solidFill>
            <a:schemeClr val="accent1"/>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Настоящ клиент за рефинансиране</a:t>
            </a:r>
            <a:endParaRPr lang="en-GB" sz="1600"/>
          </a:p>
        </p:txBody>
      </p:sp>
      <p:sp>
        <p:nvSpPr>
          <p:cNvPr id="26" name="Rectangle 11">
            <a:extLst>
              <a:ext uri="{FF2B5EF4-FFF2-40B4-BE49-F238E27FC236}">
                <a16:creationId xmlns:a16="http://schemas.microsoft.com/office/drawing/2014/main" id="{17707C52-71DE-0DA6-3427-DD65FB2DA423}"/>
              </a:ext>
            </a:extLst>
          </p:cNvPr>
          <p:cNvSpPr/>
          <p:nvPr/>
        </p:nvSpPr>
        <p:spPr>
          <a:xfrm>
            <a:off x="1896199" y="3816603"/>
            <a:ext cx="2871747" cy="767079"/>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Посещение на адрес</a:t>
            </a:r>
            <a:endParaRPr lang="en-GB" sz="1600"/>
          </a:p>
        </p:txBody>
      </p:sp>
      <p:sp>
        <p:nvSpPr>
          <p:cNvPr id="27" name="Rectangle 3">
            <a:extLst>
              <a:ext uri="{FF2B5EF4-FFF2-40B4-BE49-F238E27FC236}">
                <a16:creationId xmlns:a16="http://schemas.microsoft.com/office/drawing/2014/main" id="{3E9611B0-F414-E3DF-F5F0-B379149852AB}"/>
              </a:ext>
            </a:extLst>
          </p:cNvPr>
          <p:cNvSpPr/>
          <p:nvPr/>
        </p:nvSpPr>
        <p:spPr>
          <a:xfrm>
            <a:off x="1443475" y="4245"/>
            <a:ext cx="5338363" cy="677242"/>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28" name="Rectangle 4">
            <a:extLst>
              <a:ext uri="{FF2B5EF4-FFF2-40B4-BE49-F238E27FC236}">
                <a16:creationId xmlns:a16="http://schemas.microsoft.com/office/drawing/2014/main" id="{E360947D-5B98-430A-0AAE-6B6E18919B67}"/>
              </a:ext>
            </a:extLst>
          </p:cNvPr>
          <p:cNvSpPr/>
          <p:nvPr/>
        </p:nvSpPr>
        <p:spPr>
          <a:xfrm>
            <a:off x="6788435" y="4245"/>
            <a:ext cx="5417300" cy="677242"/>
          </a:xfrm>
          <a:prstGeom prst="rect">
            <a:avLst/>
          </a:prstGeom>
          <a:solidFill>
            <a:schemeClr val="accent1"/>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29" name="Rectangle 28">
            <a:extLst>
              <a:ext uri="{FF2B5EF4-FFF2-40B4-BE49-F238E27FC236}">
                <a16:creationId xmlns:a16="http://schemas.microsoft.com/office/drawing/2014/main" id="{1B7D22A8-3318-C64E-3195-15A97F806D9A}"/>
              </a:ext>
            </a:extLst>
          </p:cNvPr>
          <p:cNvSpPr/>
          <p:nvPr/>
        </p:nvSpPr>
        <p:spPr>
          <a:xfrm>
            <a:off x="-1671" y="1599"/>
            <a:ext cx="1451167" cy="6866954"/>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200">
              <a:latin typeface="Aptos"/>
              <a:ea typeface="Calibri"/>
              <a:cs typeface="Calibri"/>
            </a:endParaRPr>
          </a:p>
        </p:txBody>
      </p:sp>
      <p:sp>
        <p:nvSpPr>
          <p:cNvPr id="30" name="Rectangle 29">
            <a:extLst>
              <a:ext uri="{FF2B5EF4-FFF2-40B4-BE49-F238E27FC236}">
                <a16:creationId xmlns:a16="http://schemas.microsoft.com/office/drawing/2014/main" id="{4FB7E594-9D21-11FE-7872-C11341FDBA51}"/>
              </a:ext>
            </a:extLst>
          </p:cNvPr>
          <p:cNvSpPr/>
          <p:nvPr/>
        </p:nvSpPr>
        <p:spPr>
          <a:xfrm>
            <a:off x="-1671" y="2528038"/>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Типове клиенти</a:t>
            </a:r>
            <a:endParaRPr lang="en-GB" sz="1400">
              <a:latin typeface="Aptos"/>
              <a:ea typeface="Calibri"/>
              <a:cs typeface="Calibri"/>
            </a:endParaRPr>
          </a:p>
        </p:txBody>
      </p:sp>
      <p:sp>
        <p:nvSpPr>
          <p:cNvPr id="31" name="Rectangle 30">
            <a:extLst>
              <a:ext uri="{FF2B5EF4-FFF2-40B4-BE49-F238E27FC236}">
                <a16:creationId xmlns:a16="http://schemas.microsoft.com/office/drawing/2014/main" id="{9FF779AC-84E8-68A7-48E4-6E604E588FA9}"/>
              </a:ext>
            </a:extLst>
          </p:cNvPr>
          <p:cNvSpPr/>
          <p:nvPr/>
        </p:nvSpPr>
        <p:spPr>
          <a:xfrm>
            <a:off x="8626" y="1913210"/>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b="1">
                <a:solidFill>
                  <a:srgbClr val="2F5597"/>
                </a:solidFill>
                <a:latin typeface="Aptos"/>
                <a:ea typeface="Calibri"/>
                <a:cs typeface="Calibri"/>
              </a:rPr>
              <a:t>Сценарии</a:t>
            </a:r>
            <a:endParaRPr lang="en-GB" sz="1400" b="1">
              <a:solidFill>
                <a:srgbClr val="2F5597"/>
              </a:solidFill>
              <a:latin typeface="Aptos"/>
              <a:ea typeface="Calibri"/>
              <a:cs typeface="Calibri"/>
            </a:endParaRPr>
          </a:p>
        </p:txBody>
      </p:sp>
      <p:sp>
        <p:nvSpPr>
          <p:cNvPr id="32" name="Rectangle 31">
            <a:extLst>
              <a:ext uri="{FF2B5EF4-FFF2-40B4-BE49-F238E27FC236}">
                <a16:creationId xmlns:a16="http://schemas.microsoft.com/office/drawing/2014/main" id="{3E08DB8F-1264-8FFF-6BB6-83E84ED476E1}"/>
              </a:ext>
            </a:extLst>
          </p:cNvPr>
          <p:cNvSpPr/>
          <p:nvPr/>
        </p:nvSpPr>
        <p:spPr>
          <a:xfrm>
            <a:off x="-1671" y="1298382"/>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b="1">
                <a:solidFill>
                  <a:schemeClr val="bg1"/>
                </a:solidFill>
                <a:latin typeface="Aptos"/>
                <a:ea typeface="Calibri"/>
                <a:cs typeface="Calibri"/>
              </a:rPr>
              <a:t>Стъпки при среща</a:t>
            </a:r>
            <a:endParaRPr lang="bg-BG" sz="1400">
              <a:solidFill>
                <a:srgbClr val="000000"/>
              </a:solidFill>
              <a:latin typeface="Aptos"/>
              <a:ea typeface="Calibri"/>
              <a:cs typeface="Calibri"/>
            </a:endParaRPr>
          </a:p>
        </p:txBody>
      </p:sp>
      <p:sp>
        <p:nvSpPr>
          <p:cNvPr id="33" name="Rectangle 28">
            <a:extLst>
              <a:ext uri="{FF2B5EF4-FFF2-40B4-BE49-F238E27FC236}">
                <a16:creationId xmlns:a16="http://schemas.microsoft.com/office/drawing/2014/main" id="{4C877962-360A-DD6B-0A2D-54FC3463B064}"/>
              </a:ext>
            </a:extLst>
          </p:cNvPr>
          <p:cNvSpPr/>
          <p:nvPr/>
        </p:nvSpPr>
        <p:spPr>
          <a:xfrm>
            <a:off x="6154" y="690328"/>
            <a:ext cx="1435083"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a:solidFill>
                  <a:schemeClr val="bg1"/>
                </a:solidFill>
                <a:latin typeface="Aptos"/>
                <a:ea typeface="Calibri"/>
                <a:cs typeface="Calibri"/>
              </a:rPr>
              <a:t>Подготовка</a:t>
            </a:r>
            <a:endParaRPr lang="en-GB" sz="1400">
              <a:solidFill>
                <a:schemeClr val="bg1"/>
              </a:solidFill>
              <a:latin typeface="Aptos"/>
              <a:ea typeface="Calibri"/>
              <a:cs typeface="Calibri"/>
            </a:endParaRPr>
          </a:p>
        </p:txBody>
      </p:sp>
      <p:pic>
        <p:nvPicPr>
          <p:cNvPr id="35" name="Picture 34">
            <a:extLst>
              <a:ext uri="{FF2B5EF4-FFF2-40B4-BE49-F238E27FC236}">
                <a16:creationId xmlns:a16="http://schemas.microsoft.com/office/drawing/2014/main" id="{BF2AC5ED-E7E9-4FA5-4F79-B1BE760BE31E}"/>
              </a:ext>
            </a:extLst>
          </p:cNvPr>
          <p:cNvPicPr>
            <a:picLocks noChangeAspect="1"/>
          </p:cNvPicPr>
          <p:nvPr/>
        </p:nvPicPr>
        <p:blipFill>
          <a:blip r:embed="rId2"/>
          <a:stretch>
            <a:fillRect/>
          </a:stretch>
        </p:blipFill>
        <p:spPr>
          <a:xfrm>
            <a:off x="11031388" y="5709427"/>
            <a:ext cx="982751" cy="995681"/>
          </a:xfrm>
          <a:prstGeom prst="rect">
            <a:avLst/>
          </a:prstGeom>
        </p:spPr>
      </p:pic>
      <p:sp>
        <p:nvSpPr>
          <p:cNvPr id="3" name="Овал 2">
            <a:extLst>
              <a:ext uri="{FF2B5EF4-FFF2-40B4-BE49-F238E27FC236}">
                <a16:creationId xmlns:a16="http://schemas.microsoft.com/office/drawing/2014/main" id="{AD1926C8-D943-8176-032B-4A25FDBA3274}"/>
              </a:ext>
            </a:extLst>
          </p:cNvPr>
          <p:cNvSpPr/>
          <p:nvPr/>
        </p:nvSpPr>
        <p:spPr>
          <a:xfrm>
            <a:off x="16277461" y="1430065"/>
            <a:ext cx="177402" cy="159446"/>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20" name="Правоъгълник: със заоблени ъгли 16">
            <a:extLst>
              <a:ext uri="{FF2B5EF4-FFF2-40B4-BE49-F238E27FC236}">
                <a16:creationId xmlns:a16="http://schemas.microsoft.com/office/drawing/2014/main" id="{1EC65DD9-AC85-FB29-FD4F-CCD9ADED8601}"/>
              </a:ext>
            </a:extLst>
          </p:cNvPr>
          <p:cNvSpPr/>
          <p:nvPr/>
        </p:nvSpPr>
        <p:spPr>
          <a:xfrm>
            <a:off x="5294850" y="3553597"/>
            <a:ext cx="2013461" cy="519092"/>
          </a:xfrm>
          <a:prstGeom prst="roundRect">
            <a:avLst>
              <a:gd name="adj" fmla="val 50000"/>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Тренирай</a:t>
            </a:r>
          </a:p>
        </p:txBody>
      </p:sp>
      <p:sp>
        <p:nvSpPr>
          <p:cNvPr id="22" name="Rectangle: Rounded Corners 21">
            <a:extLst>
              <a:ext uri="{FF2B5EF4-FFF2-40B4-BE49-F238E27FC236}">
                <a16:creationId xmlns:a16="http://schemas.microsoft.com/office/drawing/2014/main" id="{E2252E50-51F3-2DD2-2746-14BA9219BF18}"/>
              </a:ext>
            </a:extLst>
          </p:cNvPr>
          <p:cNvSpPr/>
          <p:nvPr/>
        </p:nvSpPr>
        <p:spPr>
          <a:xfrm>
            <a:off x="5375803" y="1552088"/>
            <a:ext cx="1841407" cy="467065"/>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600">
                <a:ea typeface="+mn-lt"/>
                <a:cs typeface="+mn-lt"/>
              </a:rPr>
              <a:t>Клиент влиза в Регионален офис</a:t>
            </a:r>
            <a:endParaRPr lang="en-US"/>
          </a:p>
        </p:txBody>
      </p:sp>
      <p:sp>
        <p:nvSpPr>
          <p:cNvPr id="39" name="Rectangle: Rounded Corners 1">
            <a:extLst>
              <a:ext uri="{FF2B5EF4-FFF2-40B4-BE49-F238E27FC236}">
                <a16:creationId xmlns:a16="http://schemas.microsoft.com/office/drawing/2014/main" id="{DB97CA4C-B860-2C7E-62C5-4B62FEF5E4BD}"/>
              </a:ext>
            </a:extLst>
          </p:cNvPr>
          <p:cNvSpPr/>
          <p:nvPr/>
        </p:nvSpPr>
        <p:spPr>
          <a:xfrm>
            <a:off x="7846395" y="1875905"/>
            <a:ext cx="3196027" cy="1667792"/>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600"/>
              <a:t>Видео</a:t>
            </a:r>
            <a:endParaRPr lang="en-GB" sz="1600"/>
          </a:p>
        </p:txBody>
      </p:sp>
    </p:spTree>
    <p:extLst>
      <p:ext uri="{BB962C8B-B14F-4D97-AF65-F5344CB8AC3E}">
        <p14:creationId xmlns:p14="http://schemas.microsoft.com/office/powerpoint/2010/main" val="543627247"/>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665931-CD3D-2F3D-7129-40A96B63F1EC}"/>
            </a:ext>
          </a:extLst>
        </p:cNvPr>
        <p:cNvGrpSpPr/>
        <p:nvPr/>
      </p:nvGrpSpPr>
      <p:grpSpPr>
        <a:xfrm>
          <a:off x="0" y="0"/>
          <a:ext cx="0" cy="0"/>
          <a:chOff x="0" y="0"/>
          <a:chExt cx="0" cy="0"/>
        </a:xfrm>
      </p:grpSpPr>
      <p:sp>
        <p:nvSpPr>
          <p:cNvPr id="25" name="Rectangle 28">
            <a:extLst>
              <a:ext uri="{FF2B5EF4-FFF2-40B4-BE49-F238E27FC236}">
                <a16:creationId xmlns:a16="http://schemas.microsoft.com/office/drawing/2014/main" id="{E40AFF16-D8AA-1604-1169-4BF2B6E4C234}"/>
              </a:ext>
            </a:extLst>
          </p:cNvPr>
          <p:cNvSpPr/>
          <p:nvPr/>
        </p:nvSpPr>
        <p:spPr>
          <a:xfrm>
            <a:off x="-15824" y="1599"/>
            <a:ext cx="1465320" cy="6859628"/>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400">
              <a:latin typeface="Aptos"/>
              <a:ea typeface="Calibri"/>
              <a:cs typeface="Calibri"/>
            </a:endParaRPr>
          </a:p>
        </p:txBody>
      </p:sp>
      <p:sp>
        <p:nvSpPr>
          <p:cNvPr id="26" name="Rectangle 29">
            <a:extLst>
              <a:ext uri="{FF2B5EF4-FFF2-40B4-BE49-F238E27FC236}">
                <a16:creationId xmlns:a16="http://schemas.microsoft.com/office/drawing/2014/main" id="{C78E7EBC-256B-2AB4-0382-32EA3269DD88}"/>
              </a:ext>
            </a:extLst>
          </p:cNvPr>
          <p:cNvSpPr/>
          <p:nvPr/>
        </p:nvSpPr>
        <p:spPr>
          <a:xfrm>
            <a:off x="-1671" y="2528038"/>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Типове клиенти</a:t>
            </a:r>
            <a:endParaRPr lang="en-GB" sz="1400">
              <a:latin typeface="Aptos"/>
              <a:ea typeface="Calibri"/>
              <a:cs typeface="Calibri"/>
            </a:endParaRPr>
          </a:p>
        </p:txBody>
      </p:sp>
      <p:sp>
        <p:nvSpPr>
          <p:cNvPr id="27" name="Rectangle 30">
            <a:extLst>
              <a:ext uri="{FF2B5EF4-FFF2-40B4-BE49-F238E27FC236}">
                <a16:creationId xmlns:a16="http://schemas.microsoft.com/office/drawing/2014/main" id="{1077401B-8D4C-8A46-107D-257F7493FC17}"/>
              </a:ext>
            </a:extLst>
          </p:cNvPr>
          <p:cNvSpPr/>
          <p:nvPr/>
        </p:nvSpPr>
        <p:spPr>
          <a:xfrm>
            <a:off x="8626" y="1913210"/>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002060"/>
                </a:solidFill>
                <a:latin typeface="Aptos"/>
                <a:ea typeface="Calibri"/>
                <a:cs typeface="Calibri"/>
              </a:rPr>
              <a:t>Сценарии</a:t>
            </a:r>
            <a:endParaRPr lang="en-GB" sz="1400">
              <a:solidFill>
                <a:srgbClr val="002060"/>
              </a:solidFill>
              <a:latin typeface="Aptos"/>
              <a:ea typeface="Calibri"/>
              <a:cs typeface="Calibri"/>
            </a:endParaRPr>
          </a:p>
        </p:txBody>
      </p:sp>
      <p:sp>
        <p:nvSpPr>
          <p:cNvPr id="28" name="Rectangle 31">
            <a:extLst>
              <a:ext uri="{FF2B5EF4-FFF2-40B4-BE49-F238E27FC236}">
                <a16:creationId xmlns:a16="http://schemas.microsoft.com/office/drawing/2014/main" id="{D2C55939-3CA7-E529-7C91-935D1BAED5DF}"/>
              </a:ext>
            </a:extLst>
          </p:cNvPr>
          <p:cNvSpPr/>
          <p:nvPr/>
        </p:nvSpPr>
        <p:spPr>
          <a:xfrm>
            <a:off x="-1671" y="1298382"/>
            <a:ext cx="1442908" cy="4485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chemeClr val="bg1"/>
                </a:solidFill>
                <a:latin typeface="Aptos"/>
                <a:ea typeface="Calibri"/>
                <a:cs typeface="Calibri"/>
              </a:rPr>
              <a:t>Стъпки в обаждането</a:t>
            </a:r>
            <a:endParaRPr lang="en-GB" sz="1400">
              <a:solidFill>
                <a:schemeClr val="bg1"/>
              </a:solidFill>
              <a:latin typeface="Aptos"/>
              <a:ea typeface="Calibri"/>
              <a:cs typeface="Calibri"/>
            </a:endParaRPr>
          </a:p>
        </p:txBody>
      </p:sp>
      <p:sp>
        <p:nvSpPr>
          <p:cNvPr id="29" name="Rectangle 3">
            <a:extLst>
              <a:ext uri="{FF2B5EF4-FFF2-40B4-BE49-F238E27FC236}">
                <a16:creationId xmlns:a16="http://schemas.microsoft.com/office/drawing/2014/main" id="{E41D056C-3392-E792-B507-0A39D3972D50}"/>
              </a:ext>
            </a:extLst>
          </p:cNvPr>
          <p:cNvSpPr/>
          <p:nvPr/>
        </p:nvSpPr>
        <p:spPr>
          <a:xfrm>
            <a:off x="1443475" y="4245"/>
            <a:ext cx="5338363" cy="67724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30" name="Rectangle 4">
            <a:extLst>
              <a:ext uri="{FF2B5EF4-FFF2-40B4-BE49-F238E27FC236}">
                <a16:creationId xmlns:a16="http://schemas.microsoft.com/office/drawing/2014/main" id="{CCD039DA-BF8E-7A34-8A1E-F03B28A55A8D}"/>
              </a:ext>
            </a:extLst>
          </p:cNvPr>
          <p:cNvSpPr/>
          <p:nvPr/>
        </p:nvSpPr>
        <p:spPr>
          <a:xfrm>
            <a:off x="6788435" y="4245"/>
            <a:ext cx="5417300" cy="677242"/>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31" name="Rectangle 28">
            <a:extLst>
              <a:ext uri="{FF2B5EF4-FFF2-40B4-BE49-F238E27FC236}">
                <a16:creationId xmlns:a16="http://schemas.microsoft.com/office/drawing/2014/main" id="{6E0EC670-D3DE-7B89-129B-7810BE4AAE49}"/>
              </a:ext>
            </a:extLst>
          </p:cNvPr>
          <p:cNvSpPr/>
          <p:nvPr/>
        </p:nvSpPr>
        <p:spPr>
          <a:xfrm>
            <a:off x="-15827" y="690328"/>
            <a:ext cx="1465322"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FFFFFF"/>
                </a:solidFill>
                <a:latin typeface="Aptos"/>
                <a:ea typeface="Calibri"/>
                <a:cs typeface="Calibri"/>
              </a:rPr>
              <a:t>Подготовка</a:t>
            </a:r>
            <a:endParaRPr lang="en-GB" sz="1400">
              <a:solidFill>
                <a:srgbClr val="FFFFFF"/>
              </a:solidFill>
              <a:latin typeface="Aptos"/>
              <a:ea typeface="Calibri"/>
              <a:cs typeface="Calibri"/>
            </a:endParaRPr>
          </a:p>
        </p:txBody>
      </p:sp>
      <p:pic>
        <p:nvPicPr>
          <p:cNvPr id="2" name="Картина 1" descr="Картина, която съдържа текст, екранна снимка, софтуер, Уеб страница&#10;&#10;Генерирано от ИИ съдържание може да е неправилно.">
            <a:extLst>
              <a:ext uri="{FF2B5EF4-FFF2-40B4-BE49-F238E27FC236}">
                <a16:creationId xmlns:a16="http://schemas.microsoft.com/office/drawing/2014/main" id="{12CA635C-BA12-17E8-D868-B6A4EA81C82F}"/>
              </a:ext>
            </a:extLst>
          </p:cNvPr>
          <p:cNvPicPr>
            <a:picLocks noChangeAspect="1"/>
          </p:cNvPicPr>
          <p:nvPr/>
        </p:nvPicPr>
        <p:blipFill>
          <a:blip r:embed="rId2"/>
          <a:stretch>
            <a:fillRect/>
          </a:stretch>
        </p:blipFill>
        <p:spPr>
          <a:xfrm>
            <a:off x="1574800" y="794695"/>
            <a:ext cx="10434320" cy="5868049"/>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
        <p:nvSpPr>
          <p:cNvPr id="4" name="Балонче за говор: правоъгълник със заоблени ъгли 10">
            <a:extLst>
              <a:ext uri="{FF2B5EF4-FFF2-40B4-BE49-F238E27FC236}">
                <a16:creationId xmlns:a16="http://schemas.microsoft.com/office/drawing/2014/main" id="{BAE9AB3B-9560-5484-EE42-7F6ECB94A140}"/>
              </a:ext>
            </a:extLst>
          </p:cNvPr>
          <p:cNvSpPr/>
          <p:nvPr/>
        </p:nvSpPr>
        <p:spPr>
          <a:xfrm>
            <a:off x="2270912" y="1282704"/>
            <a:ext cx="8914485" cy="4598262"/>
          </a:xfrm>
          <a:prstGeom prst="roundRect">
            <a:avLst>
              <a:gd name="adj" fmla="val 3622"/>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bg-BG" sz="1400"/>
          </a:p>
        </p:txBody>
      </p:sp>
      <p:sp>
        <p:nvSpPr>
          <p:cNvPr id="6" name="Текстово поле 15">
            <a:extLst>
              <a:ext uri="{FF2B5EF4-FFF2-40B4-BE49-F238E27FC236}">
                <a16:creationId xmlns:a16="http://schemas.microsoft.com/office/drawing/2014/main" id="{EAAE8DA6-7E95-06B9-92A9-7673029E8A0A}"/>
              </a:ext>
            </a:extLst>
          </p:cNvPr>
          <p:cNvSpPr txBox="1"/>
          <p:nvPr/>
        </p:nvSpPr>
        <p:spPr>
          <a:xfrm>
            <a:off x="2438403" y="1327090"/>
            <a:ext cx="8735620" cy="3231654"/>
          </a:xfrm>
          <a:prstGeom prst="rect">
            <a:avLst/>
          </a:prstGeom>
          <a:noFill/>
        </p:spPr>
        <p:txBody>
          <a:bodyPr wrap="square" rtlCol="0">
            <a:spAutoFit/>
          </a:bodyPr>
          <a:lstStyle/>
          <a:p>
            <a:r>
              <a:rPr lang="ru-RU" sz="1200" b="1">
                <a:solidFill>
                  <a:schemeClr val="bg1"/>
                </a:solidFill>
              </a:rPr>
              <a:t>Посещение на адрес</a:t>
            </a:r>
            <a:br>
              <a:rPr lang="ru-RU" sz="1200">
                <a:solidFill>
                  <a:schemeClr val="bg1"/>
                </a:solidFill>
              </a:rPr>
            </a:br>
            <a:r>
              <a:rPr lang="ru-RU" sz="1200">
                <a:solidFill>
                  <a:schemeClr val="bg1"/>
                </a:solidFill>
              </a:rPr>
              <a:t>Тип: </a:t>
            </a:r>
            <a:r>
              <a:rPr lang="ru-RU" sz="1200" b="1">
                <a:solidFill>
                  <a:schemeClr val="bg1"/>
                </a:solidFill>
              </a:rPr>
              <a:t>активен</a:t>
            </a:r>
            <a:br>
              <a:rPr lang="ru-RU" sz="1200">
                <a:solidFill>
                  <a:schemeClr val="bg1"/>
                </a:solidFill>
              </a:rPr>
            </a:br>
            <a:r>
              <a:rPr lang="ru-RU" sz="1200">
                <a:solidFill>
                  <a:schemeClr val="bg1"/>
                </a:solidFill>
              </a:rPr>
              <a:t>Персонаж: </a:t>
            </a:r>
            <a:r>
              <a:rPr lang="ru-RU" sz="1200" b="1">
                <a:solidFill>
                  <a:schemeClr val="bg1"/>
                </a:solidFill>
              </a:rPr>
              <a:t>Иван Колев</a:t>
            </a:r>
            <a:br>
              <a:rPr lang="ru-RU" sz="1200">
                <a:solidFill>
                  <a:schemeClr val="bg1"/>
                </a:solidFill>
              </a:rPr>
            </a:br>
            <a:r>
              <a:rPr lang="ru-RU" sz="1200">
                <a:solidFill>
                  <a:schemeClr val="bg1"/>
                </a:solidFill>
              </a:rPr>
              <a:t>Профил: </a:t>
            </a:r>
            <a:r>
              <a:rPr lang="ru-RU" sz="1200" b="1">
                <a:solidFill>
                  <a:schemeClr val="bg1"/>
                </a:solidFill>
              </a:rPr>
              <a:t>клиент при посещение на адрес, 52 г.</a:t>
            </a:r>
            <a:br>
              <a:rPr lang="ru-RU" sz="1200">
                <a:solidFill>
                  <a:schemeClr val="bg1"/>
                </a:solidFill>
              </a:rPr>
            </a:br>
            <a:r>
              <a:rPr lang="ru-RU" sz="1200">
                <a:solidFill>
                  <a:schemeClr val="bg1"/>
                </a:solidFill>
              </a:rPr>
              <a:t>Контекст: очаква служителят да бъде уверен, ясен и уважителен в домашна среда.</a:t>
            </a:r>
            <a:br>
              <a:rPr lang="ru-RU" sz="1200">
                <a:solidFill>
                  <a:schemeClr val="bg1"/>
                </a:solidFill>
              </a:rPr>
            </a:br>
            <a:r>
              <a:rPr lang="ru-RU" sz="1200">
                <a:solidFill>
                  <a:schemeClr val="bg1"/>
                </a:solidFill>
              </a:rPr>
              <a:t>Цел: да се проведе спокоен, структуриран и професионален разговор в домашна среда.</a:t>
            </a:r>
            <a:br>
              <a:rPr lang="ru-RU" sz="1200">
                <a:solidFill>
                  <a:schemeClr val="bg1"/>
                </a:solidFill>
              </a:rPr>
            </a:br>
            <a:r>
              <a:rPr lang="ru-RU" sz="1200">
                <a:solidFill>
                  <a:schemeClr val="bg1"/>
                </a:solidFill>
              </a:rPr>
              <a:t>Логика на разговора: представяш се уверено; уважаваш личното пространство; създаваш усещане за сигурност; уточняваш причината за срещата; минаваш през параметрите; обобщаваш и завършваш ясно.</a:t>
            </a:r>
            <a:br>
              <a:rPr lang="ru-RU" sz="1200">
                <a:solidFill>
                  <a:schemeClr val="bg1"/>
                </a:solidFill>
              </a:rPr>
            </a:br>
            <a:r>
              <a:rPr lang="ru-RU" sz="1200">
                <a:solidFill>
                  <a:schemeClr val="bg1"/>
                </a:solidFill>
              </a:rPr>
              <a:t>Примерни реплики: „Благодаря, че ни приемате.“ / „Ще мина през основните стъпки, за да бъде всичко ясно.“ / „Нека първо уточним най-важното.“</a:t>
            </a:r>
            <a:br>
              <a:rPr lang="ru-RU" sz="1200">
                <a:solidFill>
                  <a:schemeClr val="bg1"/>
                </a:solidFill>
              </a:rPr>
            </a:br>
            <a:r>
              <a:rPr lang="ru-RU" sz="1200">
                <a:solidFill>
                  <a:schemeClr val="bg1"/>
                </a:solidFill>
              </a:rPr>
              <a:t>Възможни възражения: „Не искам да бързам.“, „Не съм сигурен каква сума ми е нужна.“, „Ще си помисля.“</a:t>
            </a:r>
            <a:br>
              <a:rPr lang="ru-RU" sz="1200">
                <a:solidFill>
                  <a:schemeClr val="bg1"/>
                </a:solidFill>
              </a:rPr>
            </a:br>
            <a:r>
              <a:rPr lang="ru-RU" sz="1200">
                <a:solidFill>
                  <a:schemeClr val="bg1"/>
                </a:solidFill>
              </a:rPr>
              <a:t>Подходящи техники: </a:t>
            </a:r>
            <a:r>
              <a:rPr lang="ru-RU" sz="1200" b="1">
                <a:solidFill>
                  <a:schemeClr val="bg1"/>
                </a:solidFill>
              </a:rPr>
              <a:t>огледална; тирбушон; относителна</a:t>
            </a:r>
            <a:br>
              <a:rPr lang="ru-RU" sz="1200">
                <a:solidFill>
                  <a:schemeClr val="bg1"/>
                </a:solidFill>
              </a:rPr>
            </a:br>
            <a:r>
              <a:rPr lang="ru-RU" sz="1200">
                <a:solidFill>
                  <a:schemeClr val="bg1"/>
                </a:solidFill>
              </a:rPr>
              <a:t>Следваща стъпка / финализиране: посещението на адрес е приложимо основно при първо кандидатстване и за клиенти, свързали се с кредитен консултант, офис или чрез заявка от колцентър. При такава среща документите могат да се оформят на място чрез мобилното приложение на служителя, а сумата може да бъде получена според договорения процес — на адрес, в офис или по банков път.</a:t>
            </a:r>
            <a:br>
              <a:rPr lang="ru-RU" sz="1200">
                <a:solidFill>
                  <a:schemeClr val="bg1"/>
                </a:solidFill>
              </a:rPr>
            </a:br>
            <a:r>
              <a:rPr lang="ru-RU" sz="1200">
                <a:solidFill>
                  <a:schemeClr val="bg1"/>
                </a:solidFill>
              </a:rPr>
              <a:t>Какво да не правиш: да влизаш прекалено рязко в темата; да нарушаваш личното пространство; да звучиш прибързано. </a:t>
            </a:r>
            <a:endParaRPr lang="bg-BG" sz="1200">
              <a:solidFill>
                <a:schemeClr val="bg1"/>
              </a:solidFill>
            </a:endParaRPr>
          </a:p>
        </p:txBody>
      </p:sp>
      <p:sp>
        <p:nvSpPr>
          <p:cNvPr id="8" name="Правоъгълник: със заоблени ъгли 16">
            <a:extLst>
              <a:ext uri="{FF2B5EF4-FFF2-40B4-BE49-F238E27FC236}">
                <a16:creationId xmlns:a16="http://schemas.microsoft.com/office/drawing/2014/main" id="{870F033C-ACBA-FF88-F257-C9A3E36858D4}"/>
              </a:ext>
            </a:extLst>
          </p:cNvPr>
          <p:cNvSpPr/>
          <p:nvPr/>
        </p:nvSpPr>
        <p:spPr>
          <a:xfrm>
            <a:off x="3469657" y="5000304"/>
            <a:ext cx="6666769" cy="496346"/>
          </a:xfrm>
          <a:prstGeom prst="roundRect">
            <a:avLst>
              <a:gd name="adj" fmla="val 50000"/>
            </a:avLst>
          </a:prstGeom>
          <a:solidFill>
            <a:schemeClr val="bg1"/>
          </a:solidFill>
          <a:ln>
            <a:noFill/>
          </a:ln>
          <a:effectLst>
            <a:outerShdw blurRad="50800" dist="38100" dir="5400000" algn="t" rotWithShape="0">
              <a:prstClr val="black">
                <a:alpha val="40000"/>
              </a:prstClr>
            </a:outerShdw>
          </a:effectLst>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bg-BG" b="1">
                <a:solidFill>
                  <a:srgbClr val="002060"/>
                </a:solidFill>
              </a:rPr>
              <a:t>Тренирай</a:t>
            </a:r>
          </a:p>
        </p:txBody>
      </p:sp>
    </p:spTree>
    <p:extLst>
      <p:ext uri="{BB962C8B-B14F-4D97-AF65-F5344CB8AC3E}">
        <p14:creationId xmlns:p14="http://schemas.microsoft.com/office/powerpoint/2010/main" val="3339419525"/>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16AB60-1B7A-FC9C-9AB5-1FD146E52CAE}"/>
            </a:ext>
          </a:extLst>
        </p:cNvPr>
        <p:cNvGrpSpPr/>
        <p:nvPr/>
      </p:nvGrpSpPr>
      <p:grpSpPr>
        <a:xfrm>
          <a:off x="0" y="0"/>
          <a:ext cx="0" cy="0"/>
          <a:chOff x="0" y="0"/>
          <a:chExt cx="0" cy="0"/>
        </a:xfrm>
      </p:grpSpPr>
      <p:sp>
        <p:nvSpPr>
          <p:cNvPr id="25" name="Rectangle 28">
            <a:extLst>
              <a:ext uri="{FF2B5EF4-FFF2-40B4-BE49-F238E27FC236}">
                <a16:creationId xmlns:a16="http://schemas.microsoft.com/office/drawing/2014/main" id="{2A2FBA34-14FA-53EB-63D7-F4D904EA2F8B}"/>
              </a:ext>
            </a:extLst>
          </p:cNvPr>
          <p:cNvSpPr/>
          <p:nvPr/>
        </p:nvSpPr>
        <p:spPr>
          <a:xfrm>
            <a:off x="-15824" y="1599"/>
            <a:ext cx="1465320" cy="6859628"/>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400">
              <a:latin typeface="Aptos"/>
              <a:ea typeface="Calibri"/>
              <a:cs typeface="Calibri"/>
            </a:endParaRPr>
          </a:p>
        </p:txBody>
      </p:sp>
      <p:sp>
        <p:nvSpPr>
          <p:cNvPr id="26" name="Rectangle 29">
            <a:extLst>
              <a:ext uri="{FF2B5EF4-FFF2-40B4-BE49-F238E27FC236}">
                <a16:creationId xmlns:a16="http://schemas.microsoft.com/office/drawing/2014/main" id="{FE00178A-A71A-24AD-F6B3-F37D6373E355}"/>
              </a:ext>
            </a:extLst>
          </p:cNvPr>
          <p:cNvSpPr/>
          <p:nvPr/>
        </p:nvSpPr>
        <p:spPr>
          <a:xfrm>
            <a:off x="-1671" y="2528038"/>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Типове клиенти</a:t>
            </a:r>
            <a:endParaRPr lang="en-GB" sz="1400">
              <a:latin typeface="Aptos"/>
              <a:ea typeface="Calibri"/>
              <a:cs typeface="Calibri"/>
            </a:endParaRPr>
          </a:p>
        </p:txBody>
      </p:sp>
      <p:sp>
        <p:nvSpPr>
          <p:cNvPr id="27" name="Rectangle 30">
            <a:extLst>
              <a:ext uri="{FF2B5EF4-FFF2-40B4-BE49-F238E27FC236}">
                <a16:creationId xmlns:a16="http://schemas.microsoft.com/office/drawing/2014/main" id="{30A15F02-3BB2-439B-D7A6-006108E46908}"/>
              </a:ext>
            </a:extLst>
          </p:cNvPr>
          <p:cNvSpPr/>
          <p:nvPr/>
        </p:nvSpPr>
        <p:spPr>
          <a:xfrm>
            <a:off x="8626" y="1913210"/>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002060"/>
                </a:solidFill>
                <a:latin typeface="Aptos"/>
                <a:ea typeface="Calibri"/>
                <a:cs typeface="Calibri"/>
              </a:rPr>
              <a:t>Сценарии</a:t>
            </a:r>
            <a:endParaRPr lang="en-GB" sz="1400">
              <a:solidFill>
                <a:srgbClr val="002060"/>
              </a:solidFill>
              <a:latin typeface="Aptos"/>
              <a:ea typeface="Calibri"/>
              <a:cs typeface="Calibri"/>
            </a:endParaRPr>
          </a:p>
        </p:txBody>
      </p:sp>
      <p:sp>
        <p:nvSpPr>
          <p:cNvPr id="28" name="Rectangle 31">
            <a:extLst>
              <a:ext uri="{FF2B5EF4-FFF2-40B4-BE49-F238E27FC236}">
                <a16:creationId xmlns:a16="http://schemas.microsoft.com/office/drawing/2014/main" id="{AE5C830E-47F5-5ABB-9A10-7E79E6ED22C4}"/>
              </a:ext>
            </a:extLst>
          </p:cNvPr>
          <p:cNvSpPr/>
          <p:nvPr/>
        </p:nvSpPr>
        <p:spPr>
          <a:xfrm>
            <a:off x="-1671" y="1298382"/>
            <a:ext cx="1442908" cy="4485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chemeClr val="bg1"/>
                </a:solidFill>
                <a:latin typeface="Aptos"/>
                <a:ea typeface="Calibri"/>
                <a:cs typeface="Calibri"/>
              </a:rPr>
              <a:t>Стъпки в обаждането</a:t>
            </a:r>
            <a:endParaRPr lang="en-GB" sz="1400">
              <a:solidFill>
                <a:schemeClr val="bg1"/>
              </a:solidFill>
              <a:latin typeface="Aptos"/>
              <a:ea typeface="Calibri"/>
              <a:cs typeface="Calibri"/>
            </a:endParaRPr>
          </a:p>
        </p:txBody>
      </p:sp>
      <p:sp>
        <p:nvSpPr>
          <p:cNvPr id="29" name="Rectangle 3">
            <a:extLst>
              <a:ext uri="{FF2B5EF4-FFF2-40B4-BE49-F238E27FC236}">
                <a16:creationId xmlns:a16="http://schemas.microsoft.com/office/drawing/2014/main" id="{345F5124-7991-51ED-08F7-E3B3C8077F7A}"/>
              </a:ext>
            </a:extLst>
          </p:cNvPr>
          <p:cNvSpPr/>
          <p:nvPr/>
        </p:nvSpPr>
        <p:spPr>
          <a:xfrm>
            <a:off x="1443475" y="4245"/>
            <a:ext cx="5338363" cy="67724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30" name="Rectangle 4">
            <a:extLst>
              <a:ext uri="{FF2B5EF4-FFF2-40B4-BE49-F238E27FC236}">
                <a16:creationId xmlns:a16="http://schemas.microsoft.com/office/drawing/2014/main" id="{89223B44-BC15-C30C-D160-71C981A46926}"/>
              </a:ext>
            </a:extLst>
          </p:cNvPr>
          <p:cNvSpPr/>
          <p:nvPr/>
        </p:nvSpPr>
        <p:spPr>
          <a:xfrm>
            <a:off x="6788435" y="4245"/>
            <a:ext cx="5417300" cy="677242"/>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31" name="Rectangle 28">
            <a:extLst>
              <a:ext uri="{FF2B5EF4-FFF2-40B4-BE49-F238E27FC236}">
                <a16:creationId xmlns:a16="http://schemas.microsoft.com/office/drawing/2014/main" id="{D2B243F7-683B-DFDA-7769-84A646E69211}"/>
              </a:ext>
            </a:extLst>
          </p:cNvPr>
          <p:cNvSpPr/>
          <p:nvPr/>
        </p:nvSpPr>
        <p:spPr>
          <a:xfrm>
            <a:off x="-15827" y="690328"/>
            <a:ext cx="1465322"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FFFFFF"/>
                </a:solidFill>
                <a:latin typeface="Aptos"/>
                <a:ea typeface="Calibri"/>
                <a:cs typeface="Calibri"/>
              </a:rPr>
              <a:t>Подготовка</a:t>
            </a:r>
            <a:endParaRPr lang="en-GB" sz="1400">
              <a:solidFill>
                <a:srgbClr val="FFFFFF"/>
              </a:solidFill>
              <a:latin typeface="Aptos"/>
              <a:ea typeface="Calibri"/>
              <a:cs typeface="Calibri"/>
            </a:endParaRPr>
          </a:p>
        </p:txBody>
      </p:sp>
      <p:pic>
        <p:nvPicPr>
          <p:cNvPr id="2" name="Картина 1" descr="Картина, която съдържа текст, екранна снимка, софтуер, Уеб страница&#10;&#10;Генерирано от ИИ съдържание може да е неправилно.">
            <a:extLst>
              <a:ext uri="{FF2B5EF4-FFF2-40B4-BE49-F238E27FC236}">
                <a16:creationId xmlns:a16="http://schemas.microsoft.com/office/drawing/2014/main" id="{48C2DAEF-98A3-FD30-7560-92D327C2359C}"/>
              </a:ext>
            </a:extLst>
          </p:cNvPr>
          <p:cNvPicPr>
            <a:picLocks noChangeAspect="1"/>
          </p:cNvPicPr>
          <p:nvPr/>
        </p:nvPicPr>
        <p:blipFill>
          <a:blip r:embed="rId2"/>
          <a:stretch>
            <a:fillRect/>
          </a:stretch>
        </p:blipFill>
        <p:spPr>
          <a:xfrm>
            <a:off x="1574800" y="794695"/>
            <a:ext cx="10434320" cy="5868049"/>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Tree>
    <p:extLst>
      <p:ext uri="{BB962C8B-B14F-4D97-AF65-F5344CB8AC3E}">
        <p14:creationId xmlns:p14="http://schemas.microsoft.com/office/powerpoint/2010/main" val="1993283383"/>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33F338-C3C2-6670-E015-015B5BE1C338}"/>
            </a:ext>
          </a:extLst>
        </p:cNvPr>
        <p:cNvGrpSpPr/>
        <p:nvPr/>
      </p:nvGrpSpPr>
      <p:grpSpPr>
        <a:xfrm>
          <a:off x="0" y="0"/>
          <a:ext cx="0" cy="0"/>
          <a:chOff x="0" y="0"/>
          <a:chExt cx="0" cy="0"/>
        </a:xfrm>
      </p:grpSpPr>
      <p:sp>
        <p:nvSpPr>
          <p:cNvPr id="25" name="Rectangle 28">
            <a:extLst>
              <a:ext uri="{FF2B5EF4-FFF2-40B4-BE49-F238E27FC236}">
                <a16:creationId xmlns:a16="http://schemas.microsoft.com/office/drawing/2014/main" id="{DFFBF31B-4EA8-2716-1657-AB862DDA418E}"/>
              </a:ext>
            </a:extLst>
          </p:cNvPr>
          <p:cNvSpPr/>
          <p:nvPr/>
        </p:nvSpPr>
        <p:spPr>
          <a:xfrm>
            <a:off x="-15824" y="1599"/>
            <a:ext cx="1465320" cy="6859628"/>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400">
              <a:latin typeface="Aptos"/>
              <a:ea typeface="Calibri"/>
              <a:cs typeface="Calibri"/>
            </a:endParaRPr>
          </a:p>
        </p:txBody>
      </p:sp>
      <p:sp>
        <p:nvSpPr>
          <p:cNvPr id="26" name="Rectangle 29">
            <a:extLst>
              <a:ext uri="{FF2B5EF4-FFF2-40B4-BE49-F238E27FC236}">
                <a16:creationId xmlns:a16="http://schemas.microsoft.com/office/drawing/2014/main" id="{680C22B2-EA59-CCB1-E96A-F2427B555596}"/>
              </a:ext>
            </a:extLst>
          </p:cNvPr>
          <p:cNvSpPr/>
          <p:nvPr/>
        </p:nvSpPr>
        <p:spPr>
          <a:xfrm>
            <a:off x="-1671" y="2528038"/>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Типове клиенти</a:t>
            </a:r>
            <a:endParaRPr lang="en-GB" sz="1400">
              <a:latin typeface="Aptos"/>
              <a:ea typeface="Calibri"/>
              <a:cs typeface="Calibri"/>
            </a:endParaRPr>
          </a:p>
        </p:txBody>
      </p:sp>
      <p:sp>
        <p:nvSpPr>
          <p:cNvPr id="27" name="Rectangle 30">
            <a:extLst>
              <a:ext uri="{FF2B5EF4-FFF2-40B4-BE49-F238E27FC236}">
                <a16:creationId xmlns:a16="http://schemas.microsoft.com/office/drawing/2014/main" id="{38E9D686-4352-8EAD-6FB2-EF13EC25B058}"/>
              </a:ext>
            </a:extLst>
          </p:cNvPr>
          <p:cNvSpPr/>
          <p:nvPr/>
        </p:nvSpPr>
        <p:spPr>
          <a:xfrm>
            <a:off x="8626" y="1913210"/>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002060"/>
                </a:solidFill>
                <a:latin typeface="Aptos"/>
                <a:ea typeface="Calibri"/>
                <a:cs typeface="Calibri"/>
              </a:rPr>
              <a:t>Сценарии</a:t>
            </a:r>
            <a:endParaRPr lang="en-GB" sz="1400">
              <a:solidFill>
                <a:srgbClr val="002060"/>
              </a:solidFill>
              <a:latin typeface="Aptos"/>
              <a:ea typeface="Calibri"/>
              <a:cs typeface="Calibri"/>
            </a:endParaRPr>
          </a:p>
        </p:txBody>
      </p:sp>
      <p:sp>
        <p:nvSpPr>
          <p:cNvPr id="28" name="Rectangle 31">
            <a:extLst>
              <a:ext uri="{FF2B5EF4-FFF2-40B4-BE49-F238E27FC236}">
                <a16:creationId xmlns:a16="http://schemas.microsoft.com/office/drawing/2014/main" id="{C97EA999-F70C-A031-A226-A2D850A47A47}"/>
              </a:ext>
            </a:extLst>
          </p:cNvPr>
          <p:cNvSpPr/>
          <p:nvPr/>
        </p:nvSpPr>
        <p:spPr>
          <a:xfrm>
            <a:off x="-1671" y="1298382"/>
            <a:ext cx="1442908" cy="4485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chemeClr val="bg1"/>
                </a:solidFill>
                <a:latin typeface="Aptos"/>
                <a:ea typeface="Calibri"/>
                <a:cs typeface="Calibri"/>
              </a:rPr>
              <a:t>Стъпки в обаждането</a:t>
            </a:r>
            <a:endParaRPr lang="en-GB" sz="1400">
              <a:solidFill>
                <a:schemeClr val="bg1"/>
              </a:solidFill>
              <a:latin typeface="Aptos"/>
              <a:ea typeface="Calibri"/>
              <a:cs typeface="Calibri"/>
            </a:endParaRPr>
          </a:p>
        </p:txBody>
      </p:sp>
      <p:sp>
        <p:nvSpPr>
          <p:cNvPr id="29" name="Rectangle 3">
            <a:extLst>
              <a:ext uri="{FF2B5EF4-FFF2-40B4-BE49-F238E27FC236}">
                <a16:creationId xmlns:a16="http://schemas.microsoft.com/office/drawing/2014/main" id="{C91BB015-E3DF-2CBB-7D1B-ED17CD277CA1}"/>
              </a:ext>
            </a:extLst>
          </p:cNvPr>
          <p:cNvSpPr/>
          <p:nvPr/>
        </p:nvSpPr>
        <p:spPr>
          <a:xfrm>
            <a:off x="1443475" y="4245"/>
            <a:ext cx="5338363" cy="67724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30" name="Rectangle 4">
            <a:extLst>
              <a:ext uri="{FF2B5EF4-FFF2-40B4-BE49-F238E27FC236}">
                <a16:creationId xmlns:a16="http://schemas.microsoft.com/office/drawing/2014/main" id="{1E6636D1-A7BF-9C6D-18FD-EAFBB7337A16}"/>
              </a:ext>
            </a:extLst>
          </p:cNvPr>
          <p:cNvSpPr/>
          <p:nvPr/>
        </p:nvSpPr>
        <p:spPr>
          <a:xfrm>
            <a:off x="6788435" y="4245"/>
            <a:ext cx="5417300" cy="677242"/>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31" name="Rectangle 28">
            <a:extLst>
              <a:ext uri="{FF2B5EF4-FFF2-40B4-BE49-F238E27FC236}">
                <a16:creationId xmlns:a16="http://schemas.microsoft.com/office/drawing/2014/main" id="{0D91AB0E-2395-B959-6C15-56660003BDC0}"/>
              </a:ext>
            </a:extLst>
          </p:cNvPr>
          <p:cNvSpPr/>
          <p:nvPr/>
        </p:nvSpPr>
        <p:spPr>
          <a:xfrm>
            <a:off x="-15827" y="690328"/>
            <a:ext cx="1465322"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FFFFFF"/>
                </a:solidFill>
                <a:latin typeface="Aptos"/>
                <a:ea typeface="Calibri"/>
                <a:cs typeface="Calibri"/>
              </a:rPr>
              <a:t>Подготовка</a:t>
            </a:r>
            <a:endParaRPr lang="en-GB" sz="1400">
              <a:solidFill>
                <a:srgbClr val="FFFFFF"/>
              </a:solidFill>
              <a:latin typeface="Aptos"/>
              <a:ea typeface="Calibri"/>
              <a:cs typeface="Calibri"/>
            </a:endParaRPr>
          </a:p>
        </p:txBody>
      </p:sp>
      <p:pic>
        <p:nvPicPr>
          <p:cNvPr id="3" name="Картина 2" descr="Картина, която съдържа текст, екранна снимка, Шрифт, Уеб страница&#10;&#10;Генерирано от ИИ съдържание може да е неправилно.">
            <a:extLst>
              <a:ext uri="{FF2B5EF4-FFF2-40B4-BE49-F238E27FC236}">
                <a16:creationId xmlns:a16="http://schemas.microsoft.com/office/drawing/2014/main" id="{95B1BBD0-07ED-F2B5-9914-2EEEA06E5F5E}"/>
              </a:ext>
            </a:extLst>
          </p:cNvPr>
          <p:cNvPicPr>
            <a:picLocks noChangeAspect="1"/>
          </p:cNvPicPr>
          <p:nvPr/>
        </p:nvPicPr>
        <p:blipFill>
          <a:blip r:embed="rId2"/>
          <a:stretch>
            <a:fillRect/>
          </a:stretch>
        </p:blipFill>
        <p:spPr>
          <a:xfrm>
            <a:off x="1564640" y="807110"/>
            <a:ext cx="10525760" cy="5904180"/>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Tree>
    <p:extLst>
      <p:ext uri="{BB962C8B-B14F-4D97-AF65-F5344CB8AC3E}">
        <p14:creationId xmlns:p14="http://schemas.microsoft.com/office/powerpoint/2010/main" val="739002478"/>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7522B2-134E-8284-6C60-0E984E542192}"/>
            </a:ext>
          </a:extLst>
        </p:cNvPr>
        <p:cNvGrpSpPr/>
        <p:nvPr/>
      </p:nvGrpSpPr>
      <p:grpSpPr>
        <a:xfrm>
          <a:off x="0" y="0"/>
          <a:ext cx="0" cy="0"/>
          <a:chOff x="0" y="0"/>
          <a:chExt cx="0" cy="0"/>
        </a:xfrm>
      </p:grpSpPr>
      <p:sp>
        <p:nvSpPr>
          <p:cNvPr id="28" name="Правоъгълник: със заоблени ъгли 27">
            <a:extLst>
              <a:ext uri="{FF2B5EF4-FFF2-40B4-BE49-F238E27FC236}">
                <a16:creationId xmlns:a16="http://schemas.microsoft.com/office/drawing/2014/main" id="{0EFFC938-5E96-77FC-6C88-7E36F11A9E5A}"/>
              </a:ext>
            </a:extLst>
          </p:cNvPr>
          <p:cNvSpPr/>
          <p:nvPr/>
        </p:nvSpPr>
        <p:spPr>
          <a:xfrm>
            <a:off x="5298509" y="251749"/>
            <a:ext cx="3671794" cy="6172583"/>
          </a:xfrm>
          <a:prstGeom prst="roundRect">
            <a:avLst/>
          </a:prstGeom>
          <a:solidFill>
            <a:schemeClr val="bg1">
              <a:lumMod val="95000"/>
            </a:schemeClr>
          </a:solidFill>
          <a:ln>
            <a:noFill/>
          </a:ln>
          <a:effectLst>
            <a:outerShdw blurRad="63500" dist="38100" dir="270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pic>
        <p:nvPicPr>
          <p:cNvPr id="33" name="Picture 10" descr="Картина, която съдържа текст, екранна снимка&#10;&#10;Генерирано от ИИ съдържание може да е неправилно.">
            <a:extLst>
              <a:ext uri="{FF2B5EF4-FFF2-40B4-BE49-F238E27FC236}">
                <a16:creationId xmlns:a16="http://schemas.microsoft.com/office/drawing/2014/main" id="{1FB9F43D-6524-7525-3AC6-8B2E2225D415}"/>
              </a:ext>
            </a:extLst>
          </p:cNvPr>
          <p:cNvPicPr>
            <a:picLocks noChangeAspect="1"/>
          </p:cNvPicPr>
          <p:nvPr/>
        </p:nvPicPr>
        <p:blipFill>
          <a:blip r:embed="rId2"/>
          <a:srcRect b="88415"/>
          <a:stretch>
            <a:fillRect/>
          </a:stretch>
        </p:blipFill>
        <p:spPr>
          <a:xfrm>
            <a:off x="5267143" y="278693"/>
            <a:ext cx="3740239" cy="77148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43" name="Rectangle: Rounded Corners 11">
            <a:extLst>
              <a:ext uri="{FF2B5EF4-FFF2-40B4-BE49-F238E27FC236}">
                <a16:creationId xmlns:a16="http://schemas.microsoft.com/office/drawing/2014/main" id="{C54C8240-8562-8AC2-57FB-8D51E0B9C72F}"/>
              </a:ext>
            </a:extLst>
          </p:cNvPr>
          <p:cNvSpPr/>
          <p:nvPr/>
        </p:nvSpPr>
        <p:spPr>
          <a:xfrm>
            <a:off x="5263436" y="1046439"/>
            <a:ext cx="3740184" cy="355916"/>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r>
              <a:rPr lang="bg-BG" sz="1600"/>
              <a:t>Настоящ клиент за рефинансиране</a:t>
            </a:r>
            <a:endParaRPr lang="en-US"/>
          </a:p>
        </p:txBody>
      </p:sp>
      <p:sp>
        <p:nvSpPr>
          <p:cNvPr id="47" name="Правоъгълник: със заоблени ъгли 16">
            <a:extLst>
              <a:ext uri="{FF2B5EF4-FFF2-40B4-BE49-F238E27FC236}">
                <a16:creationId xmlns:a16="http://schemas.microsoft.com/office/drawing/2014/main" id="{72DF53BB-21DE-5975-BC54-9B876FC439D9}"/>
              </a:ext>
            </a:extLst>
          </p:cNvPr>
          <p:cNvSpPr/>
          <p:nvPr/>
        </p:nvSpPr>
        <p:spPr>
          <a:xfrm>
            <a:off x="5904554" y="5318755"/>
            <a:ext cx="2344027" cy="434737"/>
          </a:xfrm>
          <a:prstGeom prst="roundRect">
            <a:avLst>
              <a:gd name="adj" fmla="val 50000"/>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200"/>
              <a:t>Тренирай</a:t>
            </a:r>
          </a:p>
        </p:txBody>
      </p:sp>
      <p:sp>
        <p:nvSpPr>
          <p:cNvPr id="48" name="Знак за умножение 47">
            <a:extLst>
              <a:ext uri="{FF2B5EF4-FFF2-40B4-BE49-F238E27FC236}">
                <a16:creationId xmlns:a16="http://schemas.microsoft.com/office/drawing/2014/main" id="{E6AA47E7-FB4D-1DBB-5F0B-E5652F222439}"/>
              </a:ext>
            </a:extLst>
          </p:cNvPr>
          <p:cNvSpPr/>
          <p:nvPr/>
        </p:nvSpPr>
        <p:spPr>
          <a:xfrm>
            <a:off x="8740355" y="1018902"/>
            <a:ext cx="284933" cy="392280"/>
          </a:xfrm>
          <a:prstGeom prst="mathMultiply">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59" name="Правоъгълник: със заоблени ъгли 58">
            <a:extLst>
              <a:ext uri="{FF2B5EF4-FFF2-40B4-BE49-F238E27FC236}">
                <a16:creationId xmlns:a16="http://schemas.microsoft.com/office/drawing/2014/main" id="{D68D47C8-8547-0315-4353-43AECC4E2F69}"/>
              </a:ext>
            </a:extLst>
          </p:cNvPr>
          <p:cNvSpPr/>
          <p:nvPr/>
        </p:nvSpPr>
        <p:spPr>
          <a:xfrm>
            <a:off x="719415" y="256478"/>
            <a:ext cx="3671794" cy="6172583"/>
          </a:xfrm>
          <a:prstGeom prst="roundRect">
            <a:avLst/>
          </a:prstGeom>
          <a:solidFill>
            <a:schemeClr val="bg1">
              <a:lumMod val="95000"/>
            </a:schemeClr>
          </a:solidFill>
          <a:ln>
            <a:noFill/>
          </a:ln>
          <a:effectLst>
            <a:outerShdw blurRad="63500" dist="38100" dir="270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pic>
        <p:nvPicPr>
          <p:cNvPr id="60" name="Picture 10" descr="Картина, която съдържа текст, екранна снимка&#10;&#10;Генерирано от ИИ съдържание може да е неправилно.">
            <a:extLst>
              <a:ext uri="{FF2B5EF4-FFF2-40B4-BE49-F238E27FC236}">
                <a16:creationId xmlns:a16="http://schemas.microsoft.com/office/drawing/2014/main" id="{F2922CEA-DF04-7A99-FFDE-5A64E2477E2D}"/>
              </a:ext>
            </a:extLst>
          </p:cNvPr>
          <p:cNvPicPr>
            <a:picLocks noChangeAspect="1"/>
          </p:cNvPicPr>
          <p:nvPr/>
        </p:nvPicPr>
        <p:blipFill>
          <a:blip r:embed="rId2"/>
          <a:srcRect b="88415"/>
          <a:stretch>
            <a:fillRect/>
          </a:stretch>
        </p:blipFill>
        <p:spPr>
          <a:xfrm>
            <a:off x="688049" y="260331"/>
            <a:ext cx="3740239" cy="77148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62" name="Стрелка надясно 61">
            <a:extLst>
              <a:ext uri="{FF2B5EF4-FFF2-40B4-BE49-F238E27FC236}">
                <a16:creationId xmlns:a16="http://schemas.microsoft.com/office/drawing/2014/main" id="{EDD5C024-2DF8-20D3-97A0-1F58B2D568AB}"/>
              </a:ext>
            </a:extLst>
          </p:cNvPr>
          <p:cNvSpPr/>
          <p:nvPr/>
        </p:nvSpPr>
        <p:spPr>
          <a:xfrm>
            <a:off x="4584780" y="2818350"/>
            <a:ext cx="535883" cy="30763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3" name="Rectangle: Rounded Corners 2">
            <a:extLst>
              <a:ext uri="{FF2B5EF4-FFF2-40B4-BE49-F238E27FC236}">
                <a16:creationId xmlns:a16="http://schemas.microsoft.com/office/drawing/2014/main" id="{3D8989CD-78D5-729D-76CB-6670D89BD627}"/>
              </a:ext>
            </a:extLst>
          </p:cNvPr>
          <p:cNvSpPr/>
          <p:nvPr/>
        </p:nvSpPr>
        <p:spPr>
          <a:xfrm>
            <a:off x="1053381" y="2244970"/>
            <a:ext cx="2871747" cy="767079"/>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ru-RU" sz="1600"/>
              <a:t>Настоящ клиент за нов кредит</a:t>
            </a:r>
            <a:endParaRPr lang="en-GB" sz="1600"/>
          </a:p>
        </p:txBody>
      </p:sp>
      <p:sp>
        <p:nvSpPr>
          <p:cNvPr id="6" name="Rectangle: Rounded Corners 5">
            <a:extLst>
              <a:ext uri="{FF2B5EF4-FFF2-40B4-BE49-F238E27FC236}">
                <a16:creationId xmlns:a16="http://schemas.microsoft.com/office/drawing/2014/main" id="{5FEDEFCB-0116-A946-B25E-0C897358CA32}"/>
              </a:ext>
            </a:extLst>
          </p:cNvPr>
          <p:cNvSpPr/>
          <p:nvPr/>
        </p:nvSpPr>
        <p:spPr>
          <a:xfrm>
            <a:off x="1053381" y="1355245"/>
            <a:ext cx="2871747" cy="767079"/>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Нов клиент в офис</a:t>
            </a:r>
            <a:endParaRPr lang="en-GB" sz="1600"/>
          </a:p>
        </p:txBody>
      </p:sp>
      <p:sp>
        <p:nvSpPr>
          <p:cNvPr id="9" name="Rectangle: Rounded Corners 8">
            <a:extLst>
              <a:ext uri="{FF2B5EF4-FFF2-40B4-BE49-F238E27FC236}">
                <a16:creationId xmlns:a16="http://schemas.microsoft.com/office/drawing/2014/main" id="{98507FC4-0FA5-60F5-2189-AA4E4BDE8879}"/>
              </a:ext>
            </a:extLst>
          </p:cNvPr>
          <p:cNvSpPr/>
          <p:nvPr/>
        </p:nvSpPr>
        <p:spPr>
          <a:xfrm>
            <a:off x="1053381" y="3134695"/>
            <a:ext cx="2871747" cy="767079"/>
          </a:xfrm>
          <a:prstGeom prst="roundRect">
            <a:avLst/>
          </a:prstGeom>
          <a:solidFill>
            <a:srgbClr val="4472C4"/>
          </a:solidFill>
          <a:ln>
            <a:solidFill>
              <a:srgbClr val="A5A5A5"/>
            </a:solid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Настоящ клиент за рефинансиране</a:t>
            </a:r>
            <a:endParaRPr lang="en-GB" sz="1600"/>
          </a:p>
        </p:txBody>
      </p:sp>
      <p:sp>
        <p:nvSpPr>
          <p:cNvPr id="11" name="Rectangle 11">
            <a:extLst>
              <a:ext uri="{FF2B5EF4-FFF2-40B4-BE49-F238E27FC236}">
                <a16:creationId xmlns:a16="http://schemas.microsoft.com/office/drawing/2014/main" id="{527D045C-0D80-7FFC-5204-E745753AE0EC}"/>
              </a:ext>
            </a:extLst>
          </p:cNvPr>
          <p:cNvSpPr/>
          <p:nvPr/>
        </p:nvSpPr>
        <p:spPr>
          <a:xfrm>
            <a:off x="1053381" y="4024421"/>
            <a:ext cx="2871747" cy="767079"/>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Посещение на адрес</a:t>
            </a:r>
            <a:endParaRPr lang="en-GB" sz="1600"/>
          </a:p>
        </p:txBody>
      </p:sp>
      <p:sp>
        <p:nvSpPr>
          <p:cNvPr id="15" name="Rectangle: Rounded Corners 14">
            <a:extLst>
              <a:ext uri="{FF2B5EF4-FFF2-40B4-BE49-F238E27FC236}">
                <a16:creationId xmlns:a16="http://schemas.microsoft.com/office/drawing/2014/main" id="{8CA11172-0360-7673-8F13-FF198FA93DBC}"/>
              </a:ext>
            </a:extLst>
          </p:cNvPr>
          <p:cNvSpPr/>
          <p:nvPr/>
        </p:nvSpPr>
        <p:spPr>
          <a:xfrm>
            <a:off x="5329875" y="2002361"/>
            <a:ext cx="3671794" cy="467065"/>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600" dirty="0">
                <a:ea typeface="+mn-lt"/>
                <a:cs typeface="+mn-lt"/>
              </a:rPr>
              <a:t>Клиент </a:t>
            </a:r>
            <a:r>
              <a:rPr lang="ru-RU" sz="1600" dirty="0" err="1">
                <a:ea typeface="+mn-lt"/>
                <a:cs typeface="+mn-lt"/>
              </a:rPr>
              <a:t>влиза</a:t>
            </a:r>
            <a:r>
              <a:rPr lang="ru-RU" sz="1600" dirty="0">
                <a:ea typeface="+mn-lt"/>
                <a:cs typeface="+mn-lt"/>
              </a:rPr>
              <a:t> в </a:t>
            </a:r>
            <a:r>
              <a:rPr lang="ru-RU" sz="1600" dirty="0" err="1">
                <a:ea typeface="+mn-lt"/>
                <a:cs typeface="+mn-lt"/>
              </a:rPr>
              <a:t>Регионален</a:t>
            </a:r>
            <a:r>
              <a:rPr lang="ru-RU" sz="1600" dirty="0">
                <a:ea typeface="+mn-lt"/>
                <a:cs typeface="+mn-lt"/>
              </a:rPr>
              <a:t> офис</a:t>
            </a:r>
            <a:endParaRPr lang="en-US" dirty="0"/>
          </a:p>
        </p:txBody>
      </p:sp>
      <p:sp>
        <p:nvSpPr>
          <p:cNvPr id="21" name="Rectangle: Rounded Corners 1">
            <a:extLst>
              <a:ext uri="{FF2B5EF4-FFF2-40B4-BE49-F238E27FC236}">
                <a16:creationId xmlns:a16="http://schemas.microsoft.com/office/drawing/2014/main" id="{72FAB5D9-8A2A-83AC-F11D-41BD0E65EF1B}"/>
              </a:ext>
            </a:extLst>
          </p:cNvPr>
          <p:cNvSpPr/>
          <p:nvPr/>
        </p:nvSpPr>
        <p:spPr>
          <a:xfrm>
            <a:off x="5548849" y="4404358"/>
            <a:ext cx="3207574" cy="467065"/>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600"/>
              <a:t>Видео</a:t>
            </a:r>
            <a:endParaRPr lang="en-GB" sz="1600"/>
          </a:p>
        </p:txBody>
      </p:sp>
      <p:sp>
        <p:nvSpPr>
          <p:cNvPr id="41" name="Знак плюс 40">
            <a:extLst>
              <a:ext uri="{FF2B5EF4-FFF2-40B4-BE49-F238E27FC236}">
                <a16:creationId xmlns:a16="http://schemas.microsoft.com/office/drawing/2014/main" id="{F6A36532-F236-2DC6-AD43-442616432B1E}"/>
              </a:ext>
            </a:extLst>
          </p:cNvPr>
          <p:cNvSpPr/>
          <p:nvPr/>
        </p:nvSpPr>
        <p:spPr>
          <a:xfrm>
            <a:off x="8586566" y="2046746"/>
            <a:ext cx="317560" cy="337408"/>
          </a:xfrm>
          <a:prstGeom prst="mathPlu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Tree>
    <p:extLst>
      <p:ext uri="{BB962C8B-B14F-4D97-AF65-F5344CB8AC3E}">
        <p14:creationId xmlns:p14="http://schemas.microsoft.com/office/powerpoint/2010/main" val="3319480875"/>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0D04BA-5938-FA24-250A-4DF4E2F3BB38}"/>
            </a:ext>
          </a:extLst>
        </p:cNvPr>
        <p:cNvGrpSpPr/>
        <p:nvPr/>
      </p:nvGrpSpPr>
      <p:grpSpPr>
        <a:xfrm>
          <a:off x="0" y="0"/>
          <a:ext cx="0" cy="0"/>
          <a:chOff x="0" y="0"/>
          <a:chExt cx="0" cy="0"/>
        </a:xfrm>
      </p:grpSpPr>
      <p:sp>
        <p:nvSpPr>
          <p:cNvPr id="18" name="Rectangle: Rounded Corners 17">
            <a:extLst>
              <a:ext uri="{FF2B5EF4-FFF2-40B4-BE49-F238E27FC236}">
                <a16:creationId xmlns:a16="http://schemas.microsoft.com/office/drawing/2014/main" id="{D9C061D4-6860-3585-E803-4DFD92635064}"/>
              </a:ext>
            </a:extLst>
          </p:cNvPr>
          <p:cNvSpPr/>
          <p:nvPr/>
        </p:nvSpPr>
        <p:spPr>
          <a:xfrm>
            <a:off x="1896199" y="2037152"/>
            <a:ext cx="2871747" cy="767079"/>
          </a:xfrm>
          <a:prstGeom prst="roundRect">
            <a:avLst/>
          </a:prstGeom>
          <a:solidFill>
            <a:schemeClr val="bg2">
              <a:lumMod val="75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ru-RU" sz="1600"/>
              <a:t>Настоящ клиент за нов кредит</a:t>
            </a:r>
            <a:endParaRPr lang="en-GB" sz="1600"/>
          </a:p>
        </p:txBody>
      </p:sp>
      <p:sp>
        <p:nvSpPr>
          <p:cNvPr id="19" name="Rectangle: Rounded Corners 18">
            <a:extLst>
              <a:ext uri="{FF2B5EF4-FFF2-40B4-BE49-F238E27FC236}">
                <a16:creationId xmlns:a16="http://schemas.microsoft.com/office/drawing/2014/main" id="{6166EE1D-2FA6-5CA4-48D7-1921C3E70B96}"/>
              </a:ext>
            </a:extLst>
          </p:cNvPr>
          <p:cNvSpPr/>
          <p:nvPr/>
        </p:nvSpPr>
        <p:spPr>
          <a:xfrm>
            <a:off x="1896199" y="1147427"/>
            <a:ext cx="2871747" cy="767079"/>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Нов клиент в офис</a:t>
            </a:r>
            <a:endParaRPr lang="en-GB" sz="1600"/>
          </a:p>
        </p:txBody>
      </p:sp>
      <p:sp>
        <p:nvSpPr>
          <p:cNvPr id="25" name="Rectangle: Rounded Corners 24">
            <a:extLst>
              <a:ext uri="{FF2B5EF4-FFF2-40B4-BE49-F238E27FC236}">
                <a16:creationId xmlns:a16="http://schemas.microsoft.com/office/drawing/2014/main" id="{6FCB7A42-92C3-572E-4B0D-0CCBA4822A05}"/>
              </a:ext>
            </a:extLst>
          </p:cNvPr>
          <p:cNvSpPr/>
          <p:nvPr/>
        </p:nvSpPr>
        <p:spPr>
          <a:xfrm>
            <a:off x="1896199" y="2926877"/>
            <a:ext cx="2871747" cy="767079"/>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Настоящ клиент за рефинансиране</a:t>
            </a:r>
            <a:endParaRPr lang="en-GB" sz="1600"/>
          </a:p>
        </p:txBody>
      </p:sp>
      <p:sp>
        <p:nvSpPr>
          <p:cNvPr id="26" name="Rectangle 11">
            <a:extLst>
              <a:ext uri="{FF2B5EF4-FFF2-40B4-BE49-F238E27FC236}">
                <a16:creationId xmlns:a16="http://schemas.microsoft.com/office/drawing/2014/main" id="{ACC2567A-6E64-8AB8-BFF5-C1233DAE3ACF}"/>
              </a:ext>
            </a:extLst>
          </p:cNvPr>
          <p:cNvSpPr/>
          <p:nvPr/>
        </p:nvSpPr>
        <p:spPr>
          <a:xfrm>
            <a:off x="1896199" y="3816603"/>
            <a:ext cx="2871747" cy="767079"/>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Посещение на адрес</a:t>
            </a:r>
            <a:endParaRPr lang="en-GB" sz="1600"/>
          </a:p>
        </p:txBody>
      </p:sp>
      <p:sp>
        <p:nvSpPr>
          <p:cNvPr id="27" name="Rectangle 3">
            <a:extLst>
              <a:ext uri="{FF2B5EF4-FFF2-40B4-BE49-F238E27FC236}">
                <a16:creationId xmlns:a16="http://schemas.microsoft.com/office/drawing/2014/main" id="{E1A5CAAB-B3AF-D753-170C-023DE472964D}"/>
              </a:ext>
            </a:extLst>
          </p:cNvPr>
          <p:cNvSpPr/>
          <p:nvPr/>
        </p:nvSpPr>
        <p:spPr>
          <a:xfrm>
            <a:off x="1443475" y="4245"/>
            <a:ext cx="5338363" cy="677242"/>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28" name="Rectangle 4">
            <a:extLst>
              <a:ext uri="{FF2B5EF4-FFF2-40B4-BE49-F238E27FC236}">
                <a16:creationId xmlns:a16="http://schemas.microsoft.com/office/drawing/2014/main" id="{0D26CF9B-9510-8337-C32A-485C289F739C}"/>
              </a:ext>
            </a:extLst>
          </p:cNvPr>
          <p:cNvSpPr/>
          <p:nvPr/>
        </p:nvSpPr>
        <p:spPr>
          <a:xfrm>
            <a:off x="6788435" y="4245"/>
            <a:ext cx="5417300" cy="677242"/>
          </a:xfrm>
          <a:prstGeom prst="rect">
            <a:avLst/>
          </a:prstGeom>
          <a:solidFill>
            <a:schemeClr val="accent1"/>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29" name="Rectangle 28">
            <a:extLst>
              <a:ext uri="{FF2B5EF4-FFF2-40B4-BE49-F238E27FC236}">
                <a16:creationId xmlns:a16="http://schemas.microsoft.com/office/drawing/2014/main" id="{DAD80780-9DCB-718B-489A-C97079ED8E39}"/>
              </a:ext>
            </a:extLst>
          </p:cNvPr>
          <p:cNvSpPr/>
          <p:nvPr/>
        </p:nvSpPr>
        <p:spPr>
          <a:xfrm>
            <a:off x="-1671" y="1599"/>
            <a:ext cx="1451167" cy="6866954"/>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200">
              <a:latin typeface="Aptos"/>
              <a:ea typeface="Calibri"/>
              <a:cs typeface="Calibri"/>
            </a:endParaRPr>
          </a:p>
        </p:txBody>
      </p:sp>
      <p:sp>
        <p:nvSpPr>
          <p:cNvPr id="30" name="Rectangle 29">
            <a:extLst>
              <a:ext uri="{FF2B5EF4-FFF2-40B4-BE49-F238E27FC236}">
                <a16:creationId xmlns:a16="http://schemas.microsoft.com/office/drawing/2014/main" id="{13223E94-A472-AA73-CE53-C333B5B992B1}"/>
              </a:ext>
            </a:extLst>
          </p:cNvPr>
          <p:cNvSpPr/>
          <p:nvPr/>
        </p:nvSpPr>
        <p:spPr>
          <a:xfrm>
            <a:off x="-1671" y="2528038"/>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Типове клиенти</a:t>
            </a:r>
            <a:endParaRPr lang="en-GB" sz="1400">
              <a:latin typeface="Aptos"/>
              <a:ea typeface="Calibri"/>
              <a:cs typeface="Calibri"/>
            </a:endParaRPr>
          </a:p>
        </p:txBody>
      </p:sp>
      <p:sp>
        <p:nvSpPr>
          <p:cNvPr id="31" name="Rectangle 30">
            <a:extLst>
              <a:ext uri="{FF2B5EF4-FFF2-40B4-BE49-F238E27FC236}">
                <a16:creationId xmlns:a16="http://schemas.microsoft.com/office/drawing/2014/main" id="{A7DCBDD5-97E1-E5A7-2870-501514FE915F}"/>
              </a:ext>
            </a:extLst>
          </p:cNvPr>
          <p:cNvSpPr/>
          <p:nvPr/>
        </p:nvSpPr>
        <p:spPr>
          <a:xfrm>
            <a:off x="8626" y="1913210"/>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b="1">
                <a:solidFill>
                  <a:srgbClr val="2F5597"/>
                </a:solidFill>
                <a:latin typeface="Aptos"/>
                <a:ea typeface="Calibri"/>
                <a:cs typeface="Calibri"/>
              </a:rPr>
              <a:t>Сценарии</a:t>
            </a:r>
            <a:endParaRPr lang="en-GB" sz="1400" b="1">
              <a:solidFill>
                <a:srgbClr val="2F5597"/>
              </a:solidFill>
              <a:latin typeface="Aptos"/>
              <a:ea typeface="Calibri"/>
              <a:cs typeface="Calibri"/>
            </a:endParaRPr>
          </a:p>
        </p:txBody>
      </p:sp>
      <p:sp>
        <p:nvSpPr>
          <p:cNvPr id="32" name="Rectangle 31">
            <a:extLst>
              <a:ext uri="{FF2B5EF4-FFF2-40B4-BE49-F238E27FC236}">
                <a16:creationId xmlns:a16="http://schemas.microsoft.com/office/drawing/2014/main" id="{4469E736-FCA0-D74A-F91C-9DFFEA205A65}"/>
              </a:ext>
            </a:extLst>
          </p:cNvPr>
          <p:cNvSpPr/>
          <p:nvPr/>
        </p:nvSpPr>
        <p:spPr>
          <a:xfrm>
            <a:off x="-1671" y="1298382"/>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b="1">
                <a:solidFill>
                  <a:schemeClr val="bg1"/>
                </a:solidFill>
                <a:latin typeface="Aptos"/>
                <a:ea typeface="Calibri"/>
                <a:cs typeface="Calibri"/>
              </a:rPr>
              <a:t>Стъпки при среща</a:t>
            </a:r>
            <a:endParaRPr lang="bg-BG" sz="1400">
              <a:solidFill>
                <a:srgbClr val="000000"/>
              </a:solidFill>
              <a:latin typeface="Aptos"/>
              <a:ea typeface="Calibri"/>
              <a:cs typeface="Calibri"/>
            </a:endParaRPr>
          </a:p>
        </p:txBody>
      </p:sp>
      <p:sp>
        <p:nvSpPr>
          <p:cNvPr id="33" name="Rectangle 28">
            <a:extLst>
              <a:ext uri="{FF2B5EF4-FFF2-40B4-BE49-F238E27FC236}">
                <a16:creationId xmlns:a16="http://schemas.microsoft.com/office/drawing/2014/main" id="{8DFAB535-288B-2220-5D8C-64A18DFEFE52}"/>
              </a:ext>
            </a:extLst>
          </p:cNvPr>
          <p:cNvSpPr/>
          <p:nvPr/>
        </p:nvSpPr>
        <p:spPr>
          <a:xfrm>
            <a:off x="6154" y="690328"/>
            <a:ext cx="1435083"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a:solidFill>
                  <a:schemeClr val="bg1"/>
                </a:solidFill>
                <a:latin typeface="Aptos"/>
                <a:ea typeface="Calibri"/>
                <a:cs typeface="Calibri"/>
              </a:rPr>
              <a:t>Подготовка</a:t>
            </a:r>
            <a:endParaRPr lang="en-GB" sz="1400">
              <a:solidFill>
                <a:schemeClr val="bg1"/>
              </a:solidFill>
              <a:latin typeface="Aptos"/>
              <a:ea typeface="Calibri"/>
              <a:cs typeface="Calibri"/>
            </a:endParaRPr>
          </a:p>
        </p:txBody>
      </p:sp>
      <p:pic>
        <p:nvPicPr>
          <p:cNvPr id="35" name="Picture 34">
            <a:extLst>
              <a:ext uri="{FF2B5EF4-FFF2-40B4-BE49-F238E27FC236}">
                <a16:creationId xmlns:a16="http://schemas.microsoft.com/office/drawing/2014/main" id="{8ED3D758-EB92-BC7F-094F-CE6C6E3E5A13}"/>
              </a:ext>
            </a:extLst>
          </p:cNvPr>
          <p:cNvPicPr>
            <a:picLocks noChangeAspect="1"/>
          </p:cNvPicPr>
          <p:nvPr/>
        </p:nvPicPr>
        <p:blipFill>
          <a:blip r:embed="rId2"/>
          <a:stretch>
            <a:fillRect/>
          </a:stretch>
        </p:blipFill>
        <p:spPr>
          <a:xfrm>
            <a:off x="11031388" y="5709427"/>
            <a:ext cx="982751" cy="995681"/>
          </a:xfrm>
          <a:prstGeom prst="rect">
            <a:avLst/>
          </a:prstGeom>
        </p:spPr>
      </p:pic>
      <p:sp>
        <p:nvSpPr>
          <p:cNvPr id="3" name="Овал 2">
            <a:extLst>
              <a:ext uri="{FF2B5EF4-FFF2-40B4-BE49-F238E27FC236}">
                <a16:creationId xmlns:a16="http://schemas.microsoft.com/office/drawing/2014/main" id="{7479D17D-7C8F-5847-A88D-1ECFC3C347C9}"/>
              </a:ext>
            </a:extLst>
          </p:cNvPr>
          <p:cNvSpPr/>
          <p:nvPr/>
        </p:nvSpPr>
        <p:spPr>
          <a:xfrm>
            <a:off x="16277461" y="1430065"/>
            <a:ext cx="177402" cy="159446"/>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20" name="Правоъгълник: със заоблени ъгли 16">
            <a:extLst>
              <a:ext uri="{FF2B5EF4-FFF2-40B4-BE49-F238E27FC236}">
                <a16:creationId xmlns:a16="http://schemas.microsoft.com/office/drawing/2014/main" id="{BBA22E45-5D3A-B201-F520-D5921DB3EB13}"/>
              </a:ext>
            </a:extLst>
          </p:cNvPr>
          <p:cNvSpPr/>
          <p:nvPr/>
        </p:nvSpPr>
        <p:spPr>
          <a:xfrm>
            <a:off x="5294850" y="3553597"/>
            <a:ext cx="2013461" cy="519092"/>
          </a:xfrm>
          <a:prstGeom prst="roundRect">
            <a:avLst>
              <a:gd name="adj" fmla="val 50000"/>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Тренирай</a:t>
            </a:r>
          </a:p>
        </p:txBody>
      </p:sp>
      <p:sp>
        <p:nvSpPr>
          <p:cNvPr id="22" name="Rectangle: Rounded Corners 21">
            <a:extLst>
              <a:ext uri="{FF2B5EF4-FFF2-40B4-BE49-F238E27FC236}">
                <a16:creationId xmlns:a16="http://schemas.microsoft.com/office/drawing/2014/main" id="{4D39DA5B-4A59-A362-09F8-E2F2D1409B2C}"/>
              </a:ext>
            </a:extLst>
          </p:cNvPr>
          <p:cNvSpPr/>
          <p:nvPr/>
        </p:nvSpPr>
        <p:spPr>
          <a:xfrm>
            <a:off x="5375803" y="1552088"/>
            <a:ext cx="1841407" cy="467065"/>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600">
                <a:ea typeface="+mn-lt"/>
                <a:cs typeface="+mn-lt"/>
              </a:rPr>
              <a:t>Клиент влиза в Регионален офис</a:t>
            </a:r>
            <a:endParaRPr lang="en-US"/>
          </a:p>
        </p:txBody>
      </p:sp>
      <p:sp>
        <p:nvSpPr>
          <p:cNvPr id="39" name="Rectangle: Rounded Corners 1">
            <a:extLst>
              <a:ext uri="{FF2B5EF4-FFF2-40B4-BE49-F238E27FC236}">
                <a16:creationId xmlns:a16="http://schemas.microsoft.com/office/drawing/2014/main" id="{A7175DB9-3D2E-D593-D4E2-55296523829C}"/>
              </a:ext>
            </a:extLst>
          </p:cNvPr>
          <p:cNvSpPr/>
          <p:nvPr/>
        </p:nvSpPr>
        <p:spPr>
          <a:xfrm>
            <a:off x="7846395" y="1875905"/>
            <a:ext cx="3196027" cy="1667792"/>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600"/>
              <a:t>Видео</a:t>
            </a:r>
            <a:endParaRPr lang="en-GB" sz="1600"/>
          </a:p>
        </p:txBody>
      </p:sp>
    </p:spTree>
    <p:extLst>
      <p:ext uri="{BB962C8B-B14F-4D97-AF65-F5344CB8AC3E}">
        <p14:creationId xmlns:p14="http://schemas.microsoft.com/office/powerpoint/2010/main" val="1139830836"/>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AD026E-F1F0-023B-A781-E1615833844B}"/>
            </a:ext>
          </a:extLst>
        </p:cNvPr>
        <p:cNvGrpSpPr/>
        <p:nvPr/>
      </p:nvGrpSpPr>
      <p:grpSpPr>
        <a:xfrm>
          <a:off x="0" y="0"/>
          <a:ext cx="0" cy="0"/>
          <a:chOff x="0" y="0"/>
          <a:chExt cx="0" cy="0"/>
        </a:xfrm>
      </p:grpSpPr>
      <p:sp>
        <p:nvSpPr>
          <p:cNvPr id="27" name="Rectangle 3">
            <a:extLst>
              <a:ext uri="{FF2B5EF4-FFF2-40B4-BE49-F238E27FC236}">
                <a16:creationId xmlns:a16="http://schemas.microsoft.com/office/drawing/2014/main" id="{CD2D96B2-4A0F-518D-4F7A-DEECD6228720}"/>
              </a:ext>
            </a:extLst>
          </p:cNvPr>
          <p:cNvSpPr/>
          <p:nvPr/>
        </p:nvSpPr>
        <p:spPr>
          <a:xfrm>
            <a:off x="1443475" y="4245"/>
            <a:ext cx="5338363" cy="677242"/>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28" name="Rectangle 4">
            <a:extLst>
              <a:ext uri="{FF2B5EF4-FFF2-40B4-BE49-F238E27FC236}">
                <a16:creationId xmlns:a16="http://schemas.microsoft.com/office/drawing/2014/main" id="{E0F4D689-BF49-D60D-A491-C1EE1242155E}"/>
              </a:ext>
            </a:extLst>
          </p:cNvPr>
          <p:cNvSpPr/>
          <p:nvPr/>
        </p:nvSpPr>
        <p:spPr>
          <a:xfrm>
            <a:off x="6788435" y="4245"/>
            <a:ext cx="5417300" cy="677242"/>
          </a:xfrm>
          <a:prstGeom prst="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29" name="Rectangle 28">
            <a:extLst>
              <a:ext uri="{FF2B5EF4-FFF2-40B4-BE49-F238E27FC236}">
                <a16:creationId xmlns:a16="http://schemas.microsoft.com/office/drawing/2014/main" id="{65551F0B-B0C2-A407-F058-4DD5C3F1BD2C}"/>
              </a:ext>
            </a:extLst>
          </p:cNvPr>
          <p:cNvSpPr/>
          <p:nvPr/>
        </p:nvSpPr>
        <p:spPr>
          <a:xfrm>
            <a:off x="-1671" y="1599"/>
            <a:ext cx="1451167" cy="6866954"/>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200">
              <a:latin typeface="Aptos"/>
              <a:ea typeface="Calibri"/>
              <a:cs typeface="Calibri"/>
            </a:endParaRPr>
          </a:p>
        </p:txBody>
      </p:sp>
      <p:sp>
        <p:nvSpPr>
          <p:cNvPr id="30" name="Rectangle 29">
            <a:extLst>
              <a:ext uri="{FF2B5EF4-FFF2-40B4-BE49-F238E27FC236}">
                <a16:creationId xmlns:a16="http://schemas.microsoft.com/office/drawing/2014/main" id="{87177087-201A-E397-09FE-AE7A44C89E3E}"/>
              </a:ext>
            </a:extLst>
          </p:cNvPr>
          <p:cNvSpPr/>
          <p:nvPr/>
        </p:nvSpPr>
        <p:spPr>
          <a:xfrm>
            <a:off x="-1671" y="2528038"/>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Типове клиенти</a:t>
            </a:r>
            <a:endParaRPr lang="en-GB" sz="1400">
              <a:latin typeface="Aptos"/>
              <a:ea typeface="Calibri"/>
              <a:cs typeface="Calibri"/>
            </a:endParaRPr>
          </a:p>
        </p:txBody>
      </p:sp>
      <p:sp>
        <p:nvSpPr>
          <p:cNvPr id="31" name="Rectangle 30">
            <a:extLst>
              <a:ext uri="{FF2B5EF4-FFF2-40B4-BE49-F238E27FC236}">
                <a16:creationId xmlns:a16="http://schemas.microsoft.com/office/drawing/2014/main" id="{B3D388A6-9F91-4596-08D0-44AD27EBD339}"/>
              </a:ext>
            </a:extLst>
          </p:cNvPr>
          <p:cNvSpPr/>
          <p:nvPr/>
        </p:nvSpPr>
        <p:spPr>
          <a:xfrm>
            <a:off x="8626" y="1913210"/>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b="1">
                <a:solidFill>
                  <a:srgbClr val="2F5597"/>
                </a:solidFill>
                <a:latin typeface="Aptos"/>
                <a:ea typeface="Calibri"/>
                <a:cs typeface="Calibri"/>
              </a:rPr>
              <a:t>Сценарии</a:t>
            </a:r>
            <a:endParaRPr lang="en-GB" sz="1400" b="1">
              <a:solidFill>
                <a:srgbClr val="2F5597"/>
              </a:solidFill>
              <a:latin typeface="Aptos"/>
              <a:ea typeface="Calibri"/>
              <a:cs typeface="Calibri"/>
            </a:endParaRPr>
          </a:p>
        </p:txBody>
      </p:sp>
      <p:sp>
        <p:nvSpPr>
          <p:cNvPr id="32" name="Rectangle 31">
            <a:extLst>
              <a:ext uri="{FF2B5EF4-FFF2-40B4-BE49-F238E27FC236}">
                <a16:creationId xmlns:a16="http://schemas.microsoft.com/office/drawing/2014/main" id="{39ABE02A-2595-5F81-3CC8-C06D6B130F83}"/>
              </a:ext>
            </a:extLst>
          </p:cNvPr>
          <p:cNvSpPr/>
          <p:nvPr/>
        </p:nvSpPr>
        <p:spPr>
          <a:xfrm>
            <a:off x="-1671" y="1298382"/>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b="1">
                <a:solidFill>
                  <a:schemeClr val="bg1"/>
                </a:solidFill>
                <a:latin typeface="Aptos"/>
                <a:ea typeface="Calibri"/>
                <a:cs typeface="Calibri"/>
              </a:rPr>
              <a:t>Стъпки при среща</a:t>
            </a:r>
            <a:endParaRPr lang="bg-BG" sz="1400">
              <a:solidFill>
                <a:srgbClr val="000000"/>
              </a:solidFill>
              <a:latin typeface="Aptos"/>
              <a:ea typeface="Calibri"/>
              <a:cs typeface="Calibri"/>
            </a:endParaRPr>
          </a:p>
        </p:txBody>
      </p:sp>
      <p:sp>
        <p:nvSpPr>
          <p:cNvPr id="33" name="Rectangle 28">
            <a:extLst>
              <a:ext uri="{FF2B5EF4-FFF2-40B4-BE49-F238E27FC236}">
                <a16:creationId xmlns:a16="http://schemas.microsoft.com/office/drawing/2014/main" id="{EDEC2E9B-BB2E-576F-00E9-707755D79CCF}"/>
              </a:ext>
            </a:extLst>
          </p:cNvPr>
          <p:cNvSpPr/>
          <p:nvPr/>
        </p:nvSpPr>
        <p:spPr>
          <a:xfrm>
            <a:off x="6154" y="690328"/>
            <a:ext cx="1435083"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a:solidFill>
                  <a:schemeClr val="bg1"/>
                </a:solidFill>
                <a:latin typeface="Aptos"/>
                <a:ea typeface="Calibri"/>
                <a:cs typeface="Calibri"/>
              </a:rPr>
              <a:t>Подготовка</a:t>
            </a:r>
            <a:endParaRPr lang="en-GB" sz="1400">
              <a:solidFill>
                <a:schemeClr val="bg1"/>
              </a:solidFill>
              <a:latin typeface="Aptos"/>
              <a:ea typeface="Calibri"/>
              <a:cs typeface="Calibri"/>
            </a:endParaRPr>
          </a:p>
        </p:txBody>
      </p:sp>
      <p:pic>
        <p:nvPicPr>
          <p:cNvPr id="35" name="Picture 34">
            <a:extLst>
              <a:ext uri="{FF2B5EF4-FFF2-40B4-BE49-F238E27FC236}">
                <a16:creationId xmlns:a16="http://schemas.microsoft.com/office/drawing/2014/main" id="{C4E3F81D-87E7-FECA-1EF9-C4D7FC72DB74}"/>
              </a:ext>
            </a:extLst>
          </p:cNvPr>
          <p:cNvPicPr>
            <a:picLocks noChangeAspect="1"/>
          </p:cNvPicPr>
          <p:nvPr/>
        </p:nvPicPr>
        <p:blipFill>
          <a:blip r:embed="rId2"/>
          <a:stretch>
            <a:fillRect/>
          </a:stretch>
        </p:blipFill>
        <p:spPr>
          <a:xfrm>
            <a:off x="11031388" y="5709427"/>
            <a:ext cx="982751" cy="995681"/>
          </a:xfrm>
          <a:prstGeom prst="rect">
            <a:avLst/>
          </a:prstGeom>
        </p:spPr>
      </p:pic>
      <p:sp>
        <p:nvSpPr>
          <p:cNvPr id="3" name="Овал 2">
            <a:extLst>
              <a:ext uri="{FF2B5EF4-FFF2-40B4-BE49-F238E27FC236}">
                <a16:creationId xmlns:a16="http://schemas.microsoft.com/office/drawing/2014/main" id="{D9A2E4F5-8E95-5A6D-82E8-48C1B1A88BA3}"/>
              </a:ext>
            </a:extLst>
          </p:cNvPr>
          <p:cNvSpPr/>
          <p:nvPr/>
        </p:nvSpPr>
        <p:spPr>
          <a:xfrm>
            <a:off x="16277461" y="1430065"/>
            <a:ext cx="177402" cy="159446"/>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6" name="Rectangle: Rounded Corners 1">
            <a:extLst>
              <a:ext uri="{FF2B5EF4-FFF2-40B4-BE49-F238E27FC236}">
                <a16:creationId xmlns:a16="http://schemas.microsoft.com/office/drawing/2014/main" id="{5936988B-D3EF-3F01-6561-DCA2A87E2F49}"/>
              </a:ext>
            </a:extLst>
          </p:cNvPr>
          <p:cNvSpPr/>
          <p:nvPr/>
        </p:nvSpPr>
        <p:spPr>
          <a:xfrm>
            <a:off x="2167114" y="923406"/>
            <a:ext cx="8875308" cy="4942009"/>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endParaRPr lang="ru-RU" sz="1600" dirty="0"/>
          </a:p>
        </p:txBody>
      </p:sp>
      <p:sp>
        <p:nvSpPr>
          <p:cNvPr id="4" name="Знак за умножение 47">
            <a:extLst>
              <a:ext uri="{FF2B5EF4-FFF2-40B4-BE49-F238E27FC236}">
                <a16:creationId xmlns:a16="http://schemas.microsoft.com/office/drawing/2014/main" id="{DADC60C7-1E45-49E8-C746-A6CDF658B903}"/>
              </a:ext>
            </a:extLst>
          </p:cNvPr>
          <p:cNvSpPr/>
          <p:nvPr/>
        </p:nvSpPr>
        <p:spPr>
          <a:xfrm>
            <a:off x="10187866" y="1216258"/>
            <a:ext cx="446569" cy="496188"/>
          </a:xfrm>
          <a:prstGeom prst="mathMultiply">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8" name="Isosceles Triangle 7">
            <a:extLst>
              <a:ext uri="{FF2B5EF4-FFF2-40B4-BE49-F238E27FC236}">
                <a16:creationId xmlns:a16="http://schemas.microsoft.com/office/drawing/2014/main" id="{10500C8B-71B2-226A-314D-14D8806D151E}"/>
              </a:ext>
            </a:extLst>
          </p:cNvPr>
          <p:cNvSpPr/>
          <p:nvPr/>
        </p:nvSpPr>
        <p:spPr>
          <a:xfrm rot="5400000">
            <a:off x="6219467" y="3240570"/>
            <a:ext cx="758838" cy="729079"/>
          </a:xfrm>
          <a:prstGeom prst="triangl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49099410"/>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C8A6FD-AC5E-C354-B579-CB80BE8DFC4E}"/>
            </a:ext>
          </a:extLst>
        </p:cNvPr>
        <p:cNvGrpSpPr/>
        <p:nvPr/>
      </p:nvGrpSpPr>
      <p:grpSpPr>
        <a:xfrm>
          <a:off x="0" y="0"/>
          <a:ext cx="0" cy="0"/>
          <a:chOff x="0" y="0"/>
          <a:chExt cx="0" cy="0"/>
        </a:xfrm>
      </p:grpSpPr>
      <p:sp>
        <p:nvSpPr>
          <p:cNvPr id="18" name="Rectangle: Rounded Corners 17">
            <a:extLst>
              <a:ext uri="{FF2B5EF4-FFF2-40B4-BE49-F238E27FC236}">
                <a16:creationId xmlns:a16="http://schemas.microsoft.com/office/drawing/2014/main" id="{30D9DD31-4C4D-553F-5A30-3679EEC95956}"/>
              </a:ext>
            </a:extLst>
          </p:cNvPr>
          <p:cNvSpPr/>
          <p:nvPr/>
        </p:nvSpPr>
        <p:spPr>
          <a:xfrm>
            <a:off x="1896199" y="2037152"/>
            <a:ext cx="2871747" cy="767079"/>
          </a:xfrm>
          <a:prstGeom prst="roundRect">
            <a:avLst/>
          </a:prstGeom>
          <a:solidFill>
            <a:schemeClr val="bg2">
              <a:lumMod val="75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ru-RU" sz="1600"/>
              <a:t>Настоящ клиент за нов кредит</a:t>
            </a:r>
            <a:endParaRPr lang="en-GB" sz="1600"/>
          </a:p>
        </p:txBody>
      </p:sp>
      <p:sp>
        <p:nvSpPr>
          <p:cNvPr id="19" name="Rectangle: Rounded Corners 18">
            <a:extLst>
              <a:ext uri="{FF2B5EF4-FFF2-40B4-BE49-F238E27FC236}">
                <a16:creationId xmlns:a16="http://schemas.microsoft.com/office/drawing/2014/main" id="{F1D4778D-5D3C-C627-18AC-97F3ACF7ECEA}"/>
              </a:ext>
            </a:extLst>
          </p:cNvPr>
          <p:cNvSpPr/>
          <p:nvPr/>
        </p:nvSpPr>
        <p:spPr>
          <a:xfrm>
            <a:off x="1896199" y="1147427"/>
            <a:ext cx="2871747" cy="767079"/>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Нов клиент в офис</a:t>
            </a:r>
            <a:endParaRPr lang="en-GB" sz="1600"/>
          </a:p>
        </p:txBody>
      </p:sp>
      <p:sp>
        <p:nvSpPr>
          <p:cNvPr id="25" name="Rectangle: Rounded Corners 24">
            <a:extLst>
              <a:ext uri="{FF2B5EF4-FFF2-40B4-BE49-F238E27FC236}">
                <a16:creationId xmlns:a16="http://schemas.microsoft.com/office/drawing/2014/main" id="{F5604924-08FB-5572-E0DB-B6BD8871485B}"/>
              </a:ext>
            </a:extLst>
          </p:cNvPr>
          <p:cNvSpPr/>
          <p:nvPr/>
        </p:nvSpPr>
        <p:spPr>
          <a:xfrm>
            <a:off x="1896199" y="2926877"/>
            <a:ext cx="2871747" cy="767079"/>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Настоящ клиент за рефинансиране</a:t>
            </a:r>
            <a:endParaRPr lang="en-GB" sz="1600"/>
          </a:p>
        </p:txBody>
      </p:sp>
      <p:sp>
        <p:nvSpPr>
          <p:cNvPr id="26" name="Rectangle 11">
            <a:extLst>
              <a:ext uri="{FF2B5EF4-FFF2-40B4-BE49-F238E27FC236}">
                <a16:creationId xmlns:a16="http://schemas.microsoft.com/office/drawing/2014/main" id="{FA9076D8-CBD3-6556-F8DF-5898A2BC1062}"/>
              </a:ext>
            </a:extLst>
          </p:cNvPr>
          <p:cNvSpPr/>
          <p:nvPr/>
        </p:nvSpPr>
        <p:spPr>
          <a:xfrm>
            <a:off x="1896199" y="3816603"/>
            <a:ext cx="2871747" cy="767079"/>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Посещение на адрес</a:t>
            </a:r>
            <a:endParaRPr lang="en-GB" sz="1600"/>
          </a:p>
        </p:txBody>
      </p:sp>
      <p:sp>
        <p:nvSpPr>
          <p:cNvPr id="27" name="Rectangle 3">
            <a:extLst>
              <a:ext uri="{FF2B5EF4-FFF2-40B4-BE49-F238E27FC236}">
                <a16:creationId xmlns:a16="http://schemas.microsoft.com/office/drawing/2014/main" id="{A5A7C25A-0CFA-CD24-897D-76708365D6E8}"/>
              </a:ext>
            </a:extLst>
          </p:cNvPr>
          <p:cNvSpPr/>
          <p:nvPr/>
        </p:nvSpPr>
        <p:spPr>
          <a:xfrm>
            <a:off x="1443475" y="4245"/>
            <a:ext cx="5338363" cy="677242"/>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28" name="Rectangle 4">
            <a:extLst>
              <a:ext uri="{FF2B5EF4-FFF2-40B4-BE49-F238E27FC236}">
                <a16:creationId xmlns:a16="http://schemas.microsoft.com/office/drawing/2014/main" id="{196E83B0-DF4F-997D-59B1-2ED43E21C94C}"/>
              </a:ext>
            </a:extLst>
          </p:cNvPr>
          <p:cNvSpPr/>
          <p:nvPr/>
        </p:nvSpPr>
        <p:spPr>
          <a:xfrm>
            <a:off x="6788435" y="4245"/>
            <a:ext cx="5417300" cy="677242"/>
          </a:xfrm>
          <a:prstGeom prst="rect">
            <a:avLst/>
          </a:prstGeom>
          <a:solidFill>
            <a:schemeClr val="accent1"/>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29" name="Rectangle 28">
            <a:extLst>
              <a:ext uri="{FF2B5EF4-FFF2-40B4-BE49-F238E27FC236}">
                <a16:creationId xmlns:a16="http://schemas.microsoft.com/office/drawing/2014/main" id="{66BDD21F-D3A5-E52C-9633-202D18983235}"/>
              </a:ext>
            </a:extLst>
          </p:cNvPr>
          <p:cNvSpPr/>
          <p:nvPr/>
        </p:nvSpPr>
        <p:spPr>
          <a:xfrm>
            <a:off x="-1671" y="1599"/>
            <a:ext cx="1451167" cy="6866954"/>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200">
              <a:latin typeface="Aptos"/>
              <a:ea typeface="Calibri"/>
              <a:cs typeface="Calibri"/>
            </a:endParaRPr>
          </a:p>
        </p:txBody>
      </p:sp>
      <p:sp>
        <p:nvSpPr>
          <p:cNvPr id="30" name="Rectangle 29">
            <a:extLst>
              <a:ext uri="{FF2B5EF4-FFF2-40B4-BE49-F238E27FC236}">
                <a16:creationId xmlns:a16="http://schemas.microsoft.com/office/drawing/2014/main" id="{3B99982A-6E39-C545-8282-3840E22DB023}"/>
              </a:ext>
            </a:extLst>
          </p:cNvPr>
          <p:cNvSpPr/>
          <p:nvPr/>
        </p:nvSpPr>
        <p:spPr>
          <a:xfrm>
            <a:off x="-1671" y="2528038"/>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Типове клиенти</a:t>
            </a:r>
            <a:endParaRPr lang="en-GB" sz="1400">
              <a:latin typeface="Aptos"/>
              <a:ea typeface="Calibri"/>
              <a:cs typeface="Calibri"/>
            </a:endParaRPr>
          </a:p>
        </p:txBody>
      </p:sp>
      <p:sp>
        <p:nvSpPr>
          <p:cNvPr id="31" name="Rectangle 30">
            <a:extLst>
              <a:ext uri="{FF2B5EF4-FFF2-40B4-BE49-F238E27FC236}">
                <a16:creationId xmlns:a16="http://schemas.microsoft.com/office/drawing/2014/main" id="{34CA696B-5822-5351-3DD1-2E229A7FA8E7}"/>
              </a:ext>
            </a:extLst>
          </p:cNvPr>
          <p:cNvSpPr/>
          <p:nvPr/>
        </p:nvSpPr>
        <p:spPr>
          <a:xfrm>
            <a:off x="8626" y="1913210"/>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b="1">
                <a:solidFill>
                  <a:srgbClr val="2F5597"/>
                </a:solidFill>
                <a:latin typeface="Aptos"/>
                <a:ea typeface="Calibri"/>
                <a:cs typeface="Calibri"/>
              </a:rPr>
              <a:t>Сценарии</a:t>
            </a:r>
            <a:endParaRPr lang="en-GB" sz="1400" b="1">
              <a:solidFill>
                <a:srgbClr val="2F5597"/>
              </a:solidFill>
              <a:latin typeface="Aptos"/>
              <a:ea typeface="Calibri"/>
              <a:cs typeface="Calibri"/>
            </a:endParaRPr>
          </a:p>
        </p:txBody>
      </p:sp>
      <p:sp>
        <p:nvSpPr>
          <p:cNvPr id="32" name="Rectangle 31">
            <a:extLst>
              <a:ext uri="{FF2B5EF4-FFF2-40B4-BE49-F238E27FC236}">
                <a16:creationId xmlns:a16="http://schemas.microsoft.com/office/drawing/2014/main" id="{304D8B53-B134-7EE0-B4A2-9920E062D8D6}"/>
              </a:ext>
            </a:extLst>
          </p:cNvPr>
          <p:cNvSpPr/>
          <p:nvPr/>
        </p:nvSpPr>
        <p:spPr>
          <a:xfrm>
            <a:off x="-1671" y="1298382"/>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b="1">
                <a:solidFill>
                  <a:schemeClr val="bg1"/>
                </a:solidFill>
                <a:latin typeface="Aptos"/>
                <a:ea typeface="Calibri"/>
                <a:cs typeface="Calibri"/>
              </a:rPr>
              <a:t>Стъпки при среща</a:t>
            </a:r>
            <a:endParaRPr lang="bg-BG" sz="1400">
              <a:solidFill>
                <a:srgbClr val="000000"/>
              </a:solidFill>
              <a:latin typeface="Aptos"/>
              <a:ea typeface="Calibri"/>
              <a:cs typeface="Calibri"/>
            </a:endParaRPr>
          </a:p>
        </p:txBody>
      </p:sp>
      <p:sp>
        <p:nvSpPr>
          <p:cNvPr id="33" name="Rectangle 28">
            <a:extLst>
              <a:ext uri="{FF2B5EF4-FFF2-40B4-BE49-F238E27FC236}">
                <a16:creationId xmlns:a16="http://schemas.microsoft.com/office/drawing/2014/main" id="{5B525DC5-0D7C-E06F-C030-861F197C7267}"/>
              </a:ext>
            </a:extLst>
          </p:cNvPr>
          <p:cNvSpPr/>
          <p:nvPr/>
        </p:nvSpPr>
        <p:spPr>
          <a:xfrm>
            <a:off x="6154" y="690328"/>
            <a:ext cx="1435083"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a:solidFill>
                  <a:schemeClr val="bg1"/>
                </a:solidFill>
                <a:latin typeface="Aptos"/>
                <a:ea typeface="Calibri"/>
                <a:cs typeface="Calibri"/>
              </a:rPr>
              <a:t>Подготовка</a:t>
            </a:r>
            <a:endParaRPr lang="en-GB" sz="1400">
              <a:solidFill>
                <a:schemeClr val="bg1"/>
              </a:solidFill>
              <a:latin typeface="Aptos"/>
              <a:ea typeface="Calibri"/>
              <a:cs typeface="Calibri"/>
            </a:endParaRPr>
          </a:p>
        </p:txBody>
      </p:sp>
      <p:pic>
        <p:nvPicPr>
          <p:cNvPr id="35" name="Picture 34">
            <a:extLst>
              <a:ext uri="{FF2B5EF4-FFF2-40B4-BE49-F238E27FC236}">
                <a16:creationId xmlns:a16="http://schemas.microsoft.com/office/drawing/2014/main" id="{1AB29ECD-A1E8-B1E9-FB9B-018F04D2E2A2}"/>
              </a:ext>
            </a:extLst>
          </p:cNvPr>
          <p:cNvPicPr>
            <a:picLocks noChangeAspect="1"/>
          </p:cNvPicPr>
          <p:nvPr/>
        </p:nvPicPr>
        <p:blipFill>
          <a:blip r:embed="rId2"/>
          <a:stretch>
            <a:fillRect/>
          </a:stretch>
        </p:blipFill>
        <p:spPr>
          <a:xfrm>
            <a:off x="11031388" y="5709427"/>
            <a:ext cx="982751" cy="995681"/>
          </a:xfrm>
          <a:prstGeom prst="rect">
            <a:avLst/>
          </a:prstGeom>
        </p:spPr>
      </p:pic>
      <p:sp>
        <p:nvSpPr>
          <p:cNvPr id="3" name="Овал 2">
            <a:extLst>
              <a:ext uri="{FF2B5EF4-FFF2-40B4-BE49-F238E27FC236}">
                <a16:creationId xmlns:a16="http://schemas.microsoft.com/office/drawing/2014/main" id="{45C1DE17-9FCB-5FB8-3498-BBD59921D113}"/>
              </a:ext>
            </a:extLst>
          </p:cNvPr>
          <p:cNvSpPr/>
          <p:nvPr/>
        </p:nvSpPr>
        <p:spPr>
          <a:xfrm>
            <a:off x="16277461" y="1430065"/>
            <a:ext cx="177402" cy="159446"/>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20" name="Правоъгълник: със заоблени ъгли 16">
            <a:extLst>
              <a:ext uri="{FF2B5EF4-FFF2-40B4-BE49-F238E27FC236}">
                <a16:creationId xmlns:a16="http://schemas.microsoft.com/office/drawing/2014/main" id="{7B48F0C2-7BDF-E5F3-7FF9-A3641B93677A}"/>
              </a:ext>
            </a:extLst>
          </p:cNvPr>
          <p:cNvSpPr/>
          <p:nvPr/>
        </p:nvSpPr>
        <p:spPr>
          <a:xfrm>
            <a:off x="5294850" y="3553597"/>
            <a:ext cx="2013461" cy="519092"/>
          </a:xfrm>
          <a:prstGeom prst="roundRect">
            <a:avLst>
              <a:gd name="adj" fmla="val 50000"/>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Тренирай</a:t>
            </a:r>
          </a:p>
        </p:txBody>
      </p:sp>
      <p:sp>
        <p:nvSpPr>
          <p:cNvPr id="22" name="Rectangle: Rounded Corners 21">
            <a:extLst>
              <a:ext uri="{FF2B5EF4-FFF2-40B4-BE49-F238E27FC236}">
                <a16:creationId xmlns:a16="http://schemas.microsoft.com/office/drawing/2014/main" id="{5B48476B-BB51-AA57-7843-AA53EE3D5359}"/>
              </a:ext>
            </a:extLst>
          </p:cNvPr>
          <p:cNvSpPr/>
          <p:nvPr/>
        </p:nvSpPr>
        <p:spPr>
          <a:xfrm>
            <a:off x="5375803" y="1552088"/>
            <a:ext cx="1841407" cy="467065"/>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600">
                <a:ea typeface="+mn-lt"/>
                <a:cs typeface="+mn-lt"/>
              </a:rPr>
              <a:t>Клиент влиза в Регионален офис</a:t>
            </a:r>
            <a:endParaRPr lang="en-US"/>
          </a:p>
        </p:txBody>
      </p:sp>
      <p:sp>
        <p:nvSpPr>
          <p:cNvPr id="39" name="Rectangle: Rounded Corners 1">
            <a:extLst>
              <a:ext uri="{FF2B5EF4-FFF2-40B4-BE49-F238E27FC236}">
                <a16:creationId xmlns:a16="http://schemas.microsoft.com/office/drawing/2014/main" id="{7431120C-D520-7E78-B0B0-DCA1188ED339}"/>
              </a:ext>
            </a:extLst>
          </p:cNvPr>
          <p:cNvSpPr/>
          <p:nvPr/>
        </p:nvSpPr>
        <p:spPr>
          <a:xfrm>
            <a:off x="7846395" y="1875905"/>
            <a:ext cx="3196027" cy="1667792"/>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600"/>
              <a:t>Видео</a:t>
            </a:r>
            <a:endParaRPr lang="en-GB" sz="1600"/>
          </a:p>
        </p:txBody>
      </p:sp>
    </p:spTree>
    <p:extLst>
      <p:ext uri="{BB962C8B-B14F-4D97-AF65-F5344CB8AC3E}">
        <p14:creationId xmlns:p14="http://schemas.microsoft.com/office/powerpoint/2010/main" val="3881932739"/>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5145F6-0C05-6274-B318-A1424E652918}"/>
            </a:ext>
          </a:extLst>
        </p:cNvPr>
        <p:cNvGrpSpPr/>
        <p:nvPr/>
      </p:nvGrpSpPr>
      <p:grpSpPr>
        <a:xfrm>
          <a:off x="0" y="0"/>
          <a:ext cx="0" cy="0"/>
          <a:chOff x="0" y="0"/>
          <a:chExt cx="0" cy="0"/>
        </a:xfrm>
      </p:grpSpPr>
      <p:sp>
        <p:nvSpPr>
          <p:cNvPr id="18" name="Rectangle: Rounded Corners 17">
            <a:extLst>
              <a:ext uri="{FF2B5EF4-FFF2-40B4-BE49-F238E27FC236}">
                <a16:creationId xmlns:a16="http://schemas.microsoft.com/office/drawing/2014/main" id="{403FE291-08FD-7B57-CD1B-F8DA00EBB090}"/>
              </a:ext>
            </a:extLst>
          </p:cNvPr>
          <p:cNvSpPr/>
          <p:nvPr/>
        </p:nvSpPr>
        <p:spPr>
          <a:xfrm>
            <a:off x="1896199" y="2037152"/>
            <a:ext cx="2871747" cy="767079"/>
          </a:xfrm>
          <a:prstGeom prst="roundRect">
            <a:avLst/>
          </a:prstGeom>
          <a:solidFill>
            <a:schemeClr val="bg2">
              <a:lumMod val="75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ru-RU" sz="1600"/>
              <a:t>Настоящ клиент за нов кредит</a:t>
            </a:r>
            <a:endParaRPr lang="en-GB" sz="1600"/>
          </a:p>
        </p:txBody>
      </p:sp>
      <p:sp>
        <p:nvSpPr>
          <p:cNvPr id="19" name="Rectangle: Rounded Corners 18">
            <a:extLst>
              <a:ext uri="{FF2B5EF4-FFF2-40B4-BE49-F238E27FC236}">
                <a16:creationId xmlns:a16="http://schemas.microsoft.com/office/drawing/2014/main" id="{B52FDDC4-1FA6-E4A7-DAF7-45BCA9A64A12}"/>
              </a:ext>
            </a:extLst>
          </p:cNvPr>
          <p:cNvSpPr/>
          <p:nvPr/>
        </p:nvSpPr>
        <p:spPr>
          <a:xfrm>
            <a:off x="1896199" y="1147427"/>
            <a:ext cx="2871747" cy="767079"/>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Нов клиент в офис</a:t>
            </a:r>
            <a:endParaRPr lang="en-GB" sz="1600"/>
          </a:p>
        </p:txBody>
      </p:sp>
      <p:sp>
        <p:nvSpPr>
          <p:cNvPr id="25" name="Rectangle: Rounded Corners 24">
            <a:extLst>
              <a:ext uri="{FF2B5EF4-FFF2-40B4-BE49-F238E27FC236}">
                <a16:creationId xmlns:a16="http://schemas.microsoft.com/office/drawing/2014/main" id="{467228F6-B0A7-1106-8CCB-301BA7395C94}"/>
              </a:ext>
            </a:extLst>
          </p:cNvPr>
          <p:cNvSpPr/>
          <p:nvPr/>
        </p:nvSpPr>
        <p:spPr>
          <a:xfrm>
            <a:off x="1896199" y="2926877"/>
            <a:ext cx="2871747" cy="767079"/>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Настоящ клиент за рефинансиране</a:t>
            </a:r>
            <a:endParaRPr lang="en-GB" sz="1600"/>
          </a:p>
        </p:txBody>
      </p:sp>
      <p:sp>
        <p:nvSpPr>
          <p:cNvPr id="26" name="Rectangle 11">
            <a:extLst>
              <a:ext uri="{FF2B5EF4-FFF2-40B4-BE49-F238E27FC236}">
                <a16:creationId xmlns:a16="http://schemas.microsoft.com/office/drawing/2014/main" id="{CE78809C-0435-E91F-D729-3D6F2C03C0A8}"/>
              </a:ext>
            </a:extLst>
          </p:cNvPr>
          <p:cNvSpPr/>
          <p:nvPr/>
        </p:nvSpPr>
        <p:spPr>
          <a:xfrm>
            <a:off x="1896199" y="3816603"/>
            <a:ext cx="2871747" cy="767079"/>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Посещение на адрес</a:t>
            </a:r>
            <a:endParaRPr lang="en-GB" sz="1600"/>
          </a:p>
        </p:txBody>
      </p:sp>
      <p:sp>
        <p:nvSpPr>
          <p:cNvPr id="27" name="Rectangle 3">
            <a:extLst>
              <a:ext uri="{FF2B5EF4-FFF2-40B4-BE49-F238E27FC236}">
                <a16:creationId xmlns:a16="http://schemas.microsoft.com/office/drawing/2014/main" id="{39E457F9-4FB8-5DBE-447A-ED472FD24DEB}"/>
              </a:ext>
            </a:extLst>
          </p:cNvPr>
          <p:cNvSpPr/>
          <p:nvPr/>
        </p:nvSpPr>
        <p:spPr>
          <a:xfrm>
            <a:off x="1443475" y="4245"/>
            <a:ext cx="5338363" cy="677242"/>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28" name="Rectangle 4">
            <a:extLst>
              <a:ext uri="{FF2B5EF4-FFF2-40B4-BE49-F238E27FC236}">
                <a16:creationId xmlns:a16="http://schemas.microsoft.com/office/drawing/2014/main" id="{1A910976-DC0B-5D0C-BB2D-A2505D6EA015}"/>
              </a:ext>
            </a:extLst>
          </p:cNvPr>
          <p:cNvSpPr/>
          <p:nvPr/>
        </p:nvSpPr>
        <p:spPr>
          <a:xfrm>
            <a:off x="6788435" y="4245"/>
            <a:ext cx="5417300" cy="677242"/>
          </a:xfrm>
          <a:prstGeom prst="rect">
            <a:avLst/>
          </a:prstGeom>
          <a:solidFill>
            <a:schemeClr val="accent1"/>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29" name="Rectangle 28">
            <a:extLst>
              <a:ext uri="{FF2B5EF4-FFF2-40B4-BE49-F238E27FC236}">
                <a16:creationId xmlns:a16="http://schemas.microsoft.com/office/drawing/2014/main" id="{150BED4A-0904-8AFF-BDA6-38D6B51B2820}"/>
              </a:ext>
            </a:extLst>
          </p:cNvPr>
          <p:cNvSpPr/>
          <p:nvPr/>
        </p:nvSpPr>
        <p:spPr>
          <a:xfrm>
            <a:off x="-1671" y="1599"/>
            <a:ext cx="1451167" cy="6866954"/>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200">
              <a:latin typeface="Aptos"/>
              <a:ea typeface="Calibri"/>
              <a:cs typeface="Calibri"/>
            </a:endParaRPr>
          </a:p>
        </p:txBody>
      </p:sp>
      <p:sp>
        <p:nvSpPr>
          <p:cNvPr id="30" name="Rectangle 29">
            <a:extLst>
              <a:ext uri="{FF2B5EF4-FFF2-40B4-BE49-F238E27FC236}">
                <a16:creationId xmlns:a16="http://schemas.microsoft.com/office/drawing/2014/main" id="{66BAFEC4-03FA-41EF-9DEC-1D40C24992AB}"/>
              </a:ext>
            </a:extLst>
          </p:cNvPr>
          <p:cNvSpPr/>
          <p:nvPr/>
        </p:nvSpPr>
        <p:spPr>
          <a:xfrm>
            <a:off x="-1671" y="2528038"/>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Типове клиенти</a:t>
            </a:r>
            <a:endParaRPr lang="en-GB" sz="1400">
              <a:latin typeface="Aptos"/>
              <a:ea typeface="Calibri"/>
              <a:cs typeface="Calibri"/>
            </a:endParaRPr>
          </a:p>
        </p:txBody>
      </p:sp>
      <p:sp>
        <p:nvSpPr>
          <p:cNvPr id="31" name="Rectangle 30">
            <a:extLst>
              <a:ext uri="{FF2B5EF4-FFF2-40B4-BE49-F238E27FC236}">
                <a16:creationId xmlns:a16="http://schemas.microsoft.com/office/drawing/2014/main" id="{DCD21342-EAA6-71CF-BF14-FA0D08B324ED}"/>
              </a:ext>
            </a:extLst>
          </p:cNvPr>
          <p:cNvSpPr/>
          <p:nvPr/>
        </p:nvSpPr>
        <p:spPr>
          <a:xfrm>
            <a:off x="8626" y="1913210"/>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b="1">
                <a:solidFill>
                  <a:srgbClr val="2F5597"/>
                </a:solidFill>
                <a:latin typeface="Aptos"/>
                <a:ea typeface="Calibri"/>
                <a:cs typeface="Calibri"/>
              </a:rPr>
              <a:t>Сценарии</a:t>
            </a:r>
            <a:endParaRPr lang="en-GB" sz="1400" b="1">
              <a:solidFill>
                <a:srgbClr val="2F5597"/>
              </a:solidFill>
              <a:latin typeface="Aptos"/>
              <a:ea typeface="Calibri"/>
              <a:cs typeface="Calibri"/>
            </a:endParaRPr>
          </a:p>
        </p:txBody>
      </p:sp>
      <p:sp>
        <p:nvSpPr>
          <p:cNvPr id="32" name="Rectangle 31">
            <a:extLst>
              <a:ext uri="{FF2B5EF4-FFF2-40B4-BE49-F238E27FC236}">
                <a16:creationId xmlns:a16="http://schemas.microsoft.com/office/drawing/2014/main" id="{EDC0D924-B0BE-16D8-15D1-6E27F929DF4A}"/>
              </a:ext>
            </a:extLst>
          </p:cNvPr>
          <p:cNvSpPr/>
          <p:nvPr/>
        </p:nvSpPr>
        <p:spPr>
          <a:xfrm>
            <a:off x="-1671" y="1298382"/>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b="1">
                <a:solidFill>
                  <a:schemeClr val="bg1"/>
                </a:solidFill>
                <a:latin typeface="Aptos"/>
                <a:ea typeface="Calibri"/>
                <a:cs typeface="Calibri"/>
              </a:rPr>
              <a:t>Стъпки при среща</a:t>
            </a:r>
            <a:endParaRPr lang="bg-BG" sz="1400">
              <a:solidFill>
                <a:srgbClr val="000000"/>
              </a:solidFill>
              <a:latin typeface="Aptos"/>
              <a:ea typeface="Calibri"/>
              <a:cs typeface="Calibri"/>
            </a:endParaRPr>
          </a:p>
        </p:txBody>
      </p:sp>
      <p:sp>
        <p:nvSpPr>
          <p:cNvPr id="33" name="Rectangle 28">
            <a:extLst>
              <a:ext uri="{FF2B5EF4-FFF2-40B4-BE49-F238E27FC236}">
                <a16:creationId xmlns:a16="http://schemas.microsoft.com/office/drawing/2014/main" id="{803AEFF1-84BA-5050-DC1D-B410ECDB32F4}"/>
              </a:ext>
            </a:extLst>
          </p:cNvPr>
          <p:cNvSpPr/>
          <p:nvPr/>
        </p:nvSpPr>
        <p:spPr>
          <a:xfrm>
            <a:off x="6154" y="690328"/>
            <a:ext cx="1435083"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a:solidFill>
                  <a:schemeClr val="bg1"/>
                </a:solidFill>
                <a:latin typeface="Aptos"/>
                <a:ea typeface="Calibri"/>
                <a:cs typeface="Calibri"/>
              </a:rPr>
              <a:t>Подготовка</a:t>
            </a:r>
            <a:endParaRPr lang="en-GB" sz="1400">
              <a:solidFill>
                <a:schemeClr val="bg1"/>
              </a:solidFill>
              <a:latin typeface="Aptos"/>
              <a:ea typeface="Calibri"/>
              <a:cs typeface="Calibri"/>
            </a:endParaRPr>
          </a:p>
        </p:txBody>
      </p:sp>
      <p:sp>
        <p:nvSpPr>
          <p:cNvPr id="22" name="Rectangle: Rounded Corners 21">
            <a:extLst>
              <a:ext uri="{FF2B5EF4-FFF2-40B4-BE49-F238E27FC236}">
                <a16:creationId xmlns:a16="http://schemas.microsoft.com/office/drawing/2014/main" id="{B4BF151C-EACE-361A-5225-A341424C0651}"/>
              </a:ext>
            </a:extLst>
          </p:cNvPr>
          <p:cNvSpPr/>
          <p:nvPr/>
        </p:nvSpPr>
        <p:spPr>
          <a:xfrm>
            <a:off x="5456621" y="790087"/>
            <a:ext cx="6575043" cy="247703"/>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600">
                <a:ea typeface="+mn-lt"/>
                <a:cs typeface="+mn-lt"/>
              </a:rPr>
              <a:t>Клиент посетен на домашен адрес</a:t>
            </a:r>
            <a:endParaRPr lang="en-US"/>
          </a:p>
        </p:txBody>
      </p:sp>
      <p:sp>
        <p:nvSpPr>
          <p:cNvPr id="5" name="Rectangle: Rounded Corners 4">
            <a:extLst>
              <a:ext uri="{FF2B5EF4-FFF2-40B4-BE49-F238E27FC236}">
                <a16:creationId xmlns:a16="http://schemas.microsoft.com/office/drawing/2014/main" id="{16C4FDA0-9E39-148E-BCF3-A31D81B6219E}"/>
              </a:ext>
            </a:extLst>
          </p:cNvPr>
          <p:cNvSpPr/>
          <p:nvPr/>
        </p:nvSpPr>
        <p:spPr>
          <a:xfrm>
            <a:off x="5525738" y="1048764"/>
            <a:ext cx="6509640" cy="222105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100" b="1" dirty="0" err="1">
                <a:solidFill>
                  <a:schemeClr val="bg1"/>
                </a:solidFill>
                <a:latin typeface="Aptos"/>
                <a:ea typeface="Segoe UI"/>
                <a:cs typeface="Segoe UI"/>
              </a:rPr>
              <a:t>Начало</a:t>
            </a:r>
            <a:r>
              <a:rPr lang="en-US" sz="1100" b="1" dirty="0">
                <a:solidFill>
                  <a:schemeClr val="bg1"/>
                </a:solidFill>
                <a:latin typeface="Aptos"/>
                <a:ea typeface="Segoe UI"/>
                <a:cs typeface="Segoe UI"/>
              </a:rPr>
              <a:t> </a:t>
            </a:r>
            <a:r>
              <a:rPr lang="en-US" sz="1100" b="1" dirty="0" err="1">
                <a:solidFill>
                  <a:schemeClr val="bg1"/>
                </a:solidFill>
                <a:latin typeface="Aptos"/>
                <a:ea typeface="Segoe UI"/>
                <a:cs typeface="Segoe UI"/>
              </a:rPr>
              <a:t>на</a:t>
            </a:r>
            <a:r>
              <a:rPr lang="en-US" sz="1100" b="1" dirty="0">
                <a:solidFill>
                  <a:schemeClr val="bg1"/>
                </a:solidFill>
                <a:latin typeface="Aptos"/>
                <a:ea typeface="Segoe UI"/>
                <a:cs typeface="Segoe UI"/>
              </a:rPr>
              <a:t> </a:t>
            </a:r>
            <a:r>
              <a:rPr lang="en-US" sz="1100" b="1" dirty="0" err="1">
                <a:solidFill>
                  <a:schemeClr val="bg1"/>
                </a:solidFill>
                <a:latin typeface="Aptos"/>
                <a:ea typeface="Segoe UI"/>
                <a:cs typeface="Segoe UI"/>
              </a:rPr>
              <a:t>разговора</a:t>
            </a:r>
            <a:br>
              <a:rPr lang="en-US" sz="1100" b="1" dirty="0">
                <a:latin typeface="Aptos"/>
                <a:ea typeface="Segoe UI"/>
                <a:cs typeface="Segoe UI"/>
              </a:rPr>
            </a:br>
            <a:r>
              <a:rPr lang="en-US" sz="1100" b="1" dirty="0">
                <a:solidFill>
                  <a:schemeClr val="bg1"/>
                </a:solidFill>
                <a:latin typeface="Aptos"/>
                <a:ea typeface="Segoe UI"/>
                <a:cs typeface="Segoe UI"/>
              </a:rPr>
              <a:t> КК</a:t>
            </a:r>
            <a:r>
              <a:rPr lang="en-US" sz="1100" b="1" baseline="0" dirty="0">
                <a:solidFill>
                  <a:schemeClr val="bg1"/>
                </a:solidFill>
                <a:latin typeface="Aptos"/>
                <a:ea typeface="Segoe UI"/>
                <a:cs typeface="Segoe UI"/>
              </a:rPr>
              <a:t>: „</a:t>
            </a:r>
            <a:r>
              <a:rPr lang="en-US" sz="1100" b="1" dirty="0" err="1">
                <a:solidFill>
                  <a:schemeClr val="bg1"/>
                </a:solidFill>
                <a:latin typeface="Aptos"/>
                <a:ea typeface="Segoe UI"/>
                <a:cs typeface="Segoe UI"/>
              </a:rPr>
              <a:t>Здравейте</a:t>
            </a:r>
            <a:r>
              <a:rPr lang="en-US" sz="1100" b="1" dirty="0">
                <a:solidFill>
                  <a:schemeClr val="bg1"/>
                </a:solidFill>
                <a:latin typeface="Aptos"/>
                <a:ea typeface="Segoe UI"/>
                <a:cs typeface="Segoe UI"/>
              </a:rPr>
              <a:t>. </a:t>
            </a:r>
            <a:r>
              <a:rPr lang="en-US" sz="1100" b="1" dirty="0" err="1">
                <a:solidFill>
                  <a:schemeClr val="bg1"/>
                </a:solidFill>
                <a:latin typeface="Aptos"/>
                <a:ea typeface="Segoe UI"/>
                <a:cs typeface="Segoe UI"/>
              </a:rPr>
              <a:t>Аз</a:t>
            </a:r>
            <a:r>
              <a:rPr lang="en-US" sz="1100" b="1" dirty="0">
                <a:solidFill>
                  <a:schemeClr val="bg1"/>
                </a:solidFill>
                <a:latin typeface="Aptos"/>
                <a:ea typeface="Segoe UI"/>
                <a:cs typeface="Segoe UI"/>
              </a:rPr>
              <a:t> </a:t>
            </a:r>
            <a:r>
              <a:rPr lang="en-US" sz="1100" b="1" dirty="0" err="1">
                <a:solidFill>
                  <a:schemeClr val="bg1"/>
                </a:solidFill>
                <a:latin typeface="Aptos"/>
                <a:ea typeface="Segoe UI"/>
                <a:cs typeface="Segoe UI"/>
              </a:rPr>
              <a:t>съм</a:t>
            </a:r>
            <a:r>
              <a:rPr lang="en-US" sz="1100" b="1" dirty="0">
                <a:solidFill>
                  <a:schemeClr val="bg1"/>
                </a:solidFill>
                <a:latin typeface="Aptos"/>
                <a:ea typeface="Segoe UI"/>
                <a:cs typeface="Segoe UI"/>
              </a:rPr>
              <a:t> </a:t>
            </a:r>
            <a:r>
              <a:rPr lang="en-US" sz="1100" b="1" dirty="0" err="1">
                <a:solidFill>
                  <a:schemeClr val="bg1"/>
                </a:solidFill>
                <a:latin typeface="Aptos"/>
                <a:ea typeface="Segoe UI"/>
                <a:cs typeface="Segoe UI"/>
              </a:rPr>
              <a:t>Георги</a:t>
            </a:r>
            <a:r>
              <a:rPr lang="en-US" sz="1100" b="1" dirty="0">
                <a:solidFill>
                  <a:schemeClr val="bg1"/>
                </a:solidFill>
                <a:latin typeface="Aptos"/>
                <a:ea typeface="Segoe UI"/>
                <a:cs typeface="Segoe UI"/>
              </a:rPr>
              <a:t> </a:t>
            </a:r>
            <a:r>
              <a:rPr lang="en-US" sz="1100" b="1" dirty="0" err="1">
                <a:solidFill>
                  <a:schemeClr val="bg1"/>
                </a:solidFill>
                <a:latin typeface="Aptos"/>
                <a:ea typeface="Segoe UI"/>
                <a:cs typeface="Segoe UI"/>
              </a:rPr>
              <a:t>Георгиев</a:t>
            </a:r>
            <a:r>
              <a:rPr lang="en-US" sz="1100" b="1" dirty="0">
                <a:solidFill>
                  <a:schemeClr val="bg1"/>
                </a:solidFill>
                <a:latin typeface="Aptos"/>
                <a:ea typeface="Segoe UI"/>
                <a:cs typeface="Segoe UI"/>
              </a:rPr>
              <a:t> – </a:t>
            </a:r>
            <a:r>
              <a:rPr lang="en-US" sz="1100" b="1" dirty="0" err="1">
                <a:solidFill>
                  <a:schemeClr val="bg1"/>
                </a:solidFill>
                <a:latin typeface="Aptos"/>
                <a:ea typeface="Segoe UI"/>
                <a:cs typeface="Segoe UI"/>
              </a:rPr>
              <a:t>Вашият</a:t>
            </a:r>
            <a:r>
              <a:rPr lang="en-US" sz="1100" b="1" dirty="0">
                <a:solidFill>
                  <a:schemeClr val="bg1"/>
                </a:solidFill>
                <a:latin typeface="Aptos"/>
                <a:ea typeface="Segoe UI"/>
                <a:cs typeface="Segoe UI"/>
              </a:rPr>
              <a:t> </a:t>
            </a:r>
            <a:r>
              <a:rPr lang="en-US" sz="1100" b="1" dirty="0" err="1">
                <a:solidFill>
                  <a:schemeClr val="bg1"/>
                </a:solidFill>
                <a:latin typeface="Aptos"/>
                <a:ea typeface="Segoe UI"/>
                <a:cs typeface="Segoe UI"/>
              </a:rPr>
              <a:t>Кредитен</a:t>
            </a:r>
            <a:r>
              <a:rPr lang="en-US" sz="1100" b="1" dirty="0">
                <a:solidFill>
                  <a:schemeClr val="bg1"/>
                </a:solidFill>
                <a:latin typeface="Aptos"/>
                <a:ea typeface="Segoe UI"/>
                <a:cs typeface="Segoe UI"/>
              </a:rPr>
              <a:t> </a:t>
            </a:r>
            <a:r>
              <a:rPr lang="en-US" sz="1100" b="1" dirty="0" err="1">
                <a:solidFill>
                  <a:schemeClr val="bg1"/>
                </a:solidFill>
                <a:latin typeface="Aptos"/>
                <a:ea typeface="Segoe UI"/>
                <a:cs typeface="Segoe UI"/>
              </a:rPr>
              <a:t>Консултант</a:t>
            </a:r>
            <a:r>
              <a:rPr lang="en-US" sz="1100" b="1" dirty="0">
                <a:solidFill>
                  <a:schemeClr val="bg1"/>
                </a:solidFill>
                <a:latin typeface="Aptos"/>
                <a:ea typeface="Segoe UI"/>
                <a:cs typeface="Segoe UI"/>
              </a:rPr>
              <a:t> </a:t>
            </a:r>
            <a:r>
              <a:rPr lang="en-US" sz="1100" b="1" dirty="0" err="1">
                <a:solidFill>
                  <a:schemeClr val="bg1"/>
                </a:solidFill>
                <a:latin typeface="Aptos"/>
                <a:ea typeface="Segoe UI"/>
                <a:cs typeface="Segoe UI"/>
              </a:rPr>
              <a:t>от</a:t>
            </a:r>
            <a:r>
              <a:rPr lang="en-US" sz="1100" b="1" dirty="0">
                <a:solidFill>
                  <a:schemeClr val="bg1"/>
                </a:solidFill>
                <a:latin typeface="Aptos"/>
                <a:ea typeface="Segoe UI"/>
                <a:cs typeface="Segoe UI"/>
              </a:rPr>
              <a:t> „</a:t>
            </a:r>
            <a:r>
              <a:rPr lang="en-US" sz="1100" b="1" dirty="0" err="1">
                <a:solidFill>
                  <a:schemeClr val="bg1"/>
                </a:solidFill>
                <a:latin typeface="Aptos"/>
                <a:ea typeface="Segoe UI"/>
                <a:cs typeface="Segoe UI"/>
              </a:rPr>
              <a:t>Изи</a:t>
            </a:r>
            <a:r>
              <a:rPr lang="en-US" sz="1100" b="1" dirty="0">
                <a:solidFill>
                  <a:schemeClr val="bg1"/>
                </a:solidFill>
                <a:latin typeface="Aptos"/>
                <a:ea typeface="Segoe UI"/>
                <a:cs typeface="Segoe UI"/>
              </a:rPr>
              <a:t> </a:t>
            </a:r>
            <a:r>
              <a:rPr lang="en-US" sz="1100" b="1" dirty="0" err="1">
                <a:solidFill>
                  <a:schemeClr val="bg1"/>
                </a:solidFill>
                <a:latin typeface="Aptos"/>
                <a:ea typeface="Segoe UI"/>
                <a:cs typeface="Segoe UI"/>
              </a:rPr>
              <a:t>кредит</a:t>
            </a:r>
            <a:r>
              <a:rPr lang="en-US" sz="1100" b="1" dirty="0">
                <a:solidFill>
                  <a:schemeClr val="bg1"/>
                </a:solidFill>
                <a:latin typeface="Aptos"/>
                <a:ea typeface="Segoe UI"/>
                <a:cs typeface="Segoe UI"/>
              </a:rPr>
              <a:t>“. </a:t>
            </a:r>
            <a:r>
              <a:rPr lang="en-US" sz="1100" b="1" dirty="0" err="1">
                <a:solidFill>
                  <a:schemeClr val="bg1"/>
                </a:solidFill>
                <a:latin typeface="Aptos"/>
                <a:ea typeface="Segoe UI"/>
                <a:cs typeface="Segoe UI"/>
              </a:rPr>
              <a:t>Имаме</a:t>
            </a:r>
            <a:r>
              <a:rPr lang="en-US" sz="1100" b="1" dirty="0">
                <a:solidFill>
                  <a:schemeClr val="bg1"/>
                </a:solidFill>
                <a:latin typeface="Aptos"/>
                <a:ea typeface="Segoe UI"/>
                <a:cs typeface="Segoe UI"/>
              </a:rPr>
              <a:t> </a:t>
            </a:r>
            <a:r>
              <a:rPr lang="en-US" sz="1100" b="1" dirty="0" err="1">
                <a:solidFill>
                  <a:schemeClr val="bg1"/>
                </a:solidFill>
                <a:latin typeface="Aptos"/>
                <a:ea typeface="Segoe UI"/>
                <a:cs typeface="Segoe UI"/>
              </a:rPr>
              <a:t>уговорена</a:t>
            </a:r>
            <a:r>
              <a:rPr lang="en-US" sz="1100" b="1" dirty="0">
                <a:solidFill>
                  <a:schemeClr val="bg1"/>
                </a:solidFill>
                <a:latin typeface="Aptos"/>
                <a:ea typeface="Segoe UI"/>
                <a:cs typeface="Segoe UI"/>
              </a:rPr>
              <a:t> </a:t>
            </a:r>
            <a:r>
              <a:rPr lang="en-US" sz="1100" b="1" dirty="0" err="1">
                <a:solidFill>
                  <a:schemeClr val="bg1"/>
                </a:solidFill>
                <a:latin typeface="Aptos"/>
                <a:ea typeface="Segoe UI"/>
                <a:cs typeface="Segoe UI"/>
              </a:rPr>
              <a:t>среща</a:t>
            </a:r>
            <a:r>
              <a:rPr lang="en-US" sz="1100" b="1" dirty="0">
                <a:solidFill>
                  <a:schemeClr val="bg1"/>
                </a:solidFill>
                <a:latin typeface="Aptos"/>
                <a:ea typeface="Segoe UI"/>
                <a:cs typeface="Segoe UI"/>
              </a:rPr>
              <a:t> с </a:t>
            </a:r>
            <a:r>
              <a:rPr lang="en-US" sz="1100" b="1" dirty="0" err="1">
                <a:solidFill>
                  <a:schemeClr val="bg1"/>
                </a:solidFill>
                <a:latin typeface="Aptos"/>
                <a:ea typeface="Segoe UI"/>
                <a:cs typeface="Segoe UI"/>
              </a:rPr>
              <a:t>Вас</a:t>
            </a:r>
            <a:r>
              <a:rPr lang="en-US" sz="1100" b="1" dirty="0">
                <a:solidFill>
                  <a:schemeClr val="bg1"/>
                </a:solidFill>
                <a:latin typeface="Aptos"/>
                <a:ea typeface="Segoe UI"/>
                <a:cs typeface="Segoe UI"/>
              </a:rPr>
              <a:t> </a:t>
            </a:r>
            <a:r>
              <a:rPr lang="en-US" sz="1100" b="1" dirty="0" err="1">
                <a:solidFill>
                  <a:schemeClr val="bg1"/>
                </a:solidFill>
                <a:latin typeface="Aptos"/>
                <a:ea typeface="Segoe UI"/>
                <a:cs typeface="Segoe UI"/>
              </a:rPr>
              <a:t>за</a:t>
            </a:r>
            <a:r>
              <a:rPr lang="en-US" sz="1100" b="1" dirty="0">
                <a:solidFill>
                  <a:schemeClr val="bg1"/>
                </a:solidFill>
                <a:latin typeface="Aptos"/>
                <a:ea typeface="Segoe UI"/>
                <a:cs typeface="Segoe UI"/>
              </a:rPr>
              <a:t> </a:t>
            </a:r>
            <a:r>
              <a:rPr lang="en-US" sz="1100" b="1" dirty="0" err="1">
                <a:solidFill>
                  <a:schemeClr val="bg1"/>
                </a:solidFill>
                <a:latin typeface="Aptos"/>
                <a:ea typeface="Segoe UI"/>
                <a:cs typeface="Segoe UI"/>
              </a:rPr>
              <a:t>днес</a:t>
            </a:r>
            <a:r>
              <a:rPr lang="en-US" sz="1100" b="1" dirty="0">
                <a:solidFill>
                  <a:schemeClr val="bg1"/>
                </a:solidFill>
                <a:latin typeface="Aptos"/>
                <a:ea typeface="Segoe UI"/>
                <a:cs typeface="Segoe UI"/>
              </a:rPr>
              <a:t>, в </a:t>
            </a:r>
            <a:r>
              <a:rPr lang="en-US" sz="1100" b="1" dirty="0" err="1">
                <a:solidFill>
                  <a:schemeClr val="bg1"/>
                </a:solidFill>
                <a:latin typeface="Aptos"/>
                <a:ea typeface="Segoe UI"/>
                <a:cs typeface="Segoe UI"/>
              </a:rPr>
              <a:t>този</a:t>
            </a:r>
            <a:r>
              <a:rPr lang="en-US" sz="1100" b="1" dirty="0">
                <a:solidFill>
                  <a:schemeClr val="bg1"/>
                </a:solidFill>
                <a:latin typeface="Aptos"/>
                <a:ea typeface="Segoe UI"/>
                <a:cs typeface="Segoe UI"/>
              </a:rPr>
              <a:t> </a:t>
            </a:r>
            <a:r>
              <a:rPr lang="en-US" sz="1100" b="1" dirty="0" err="1">
                <a:solidFill>
                  <a:schemeClr val="bg1"/>
                </a:solidFill>
                <a:latin typeface="Aptos"/>
                <a:ea typeface="Segoe UI"/>
                <a:cs typeface="Segoe UI"/>
              </a:rPr>
              <a:t>час</a:t>
            </a:r>
            <a:r>
              <a:rPr lang="en-US" sz="1100" b="1" dirty="0">
                <a:solidFill>
                  <a:schemeClr val="bg1"/>
                </a:solidFill>
                <a:latin typeface="Aptos"/>
                <a:ea typeface="Segoe UI"/>
                <a:cs typeface="Segoe UI"/>
              </a:rPr>
              <a:t>.“ </a:t>
            </a:r>
            <a:endParaRPr lang="en-US" sz="1100" dirty="0">
              <a:solidFill>
                <a:schemeClr val="bg1"/>
              </a:solidFill>
              <a:latin typeface="Aptos"/>
              <a:ea typeface="Segoe UI"/>
              <a:cs typeface="Segoe UI"/>
            </a:endParaRPr>
          </a:p>
          <a:p>
            <a:r>
              <a:rPr lang="en-US" sz="1100" b="1" dirty="0" err="1">
                <a:solidFill>
                  <a:schemeClr val="bg1"/>
                </a:solidFill>
                <a:latin typeface="Aptos"/>
                <a:ea typeface="Segoe UI"/>
                <a:cs typeface="Segoe UI"/>
              </a:rPr>
              <a:t>Разчупване</a:t>
            </a:r>
            <a:r>
              <a:rPr lang="en-US" sz="1100" b="1" dirty="0">
                <a:solidFill>
                  <a:schemeClr val="bg1"/>
                </a:solidFill>
                <a:latin typeface="Aptos"/>
                <a:ea typeface="Segoe UI"/>
                <a:cs typeface="Segoe UI"/>
              </a:rPr>
              <a:t> </a:t>
            </a:r>
            <a:r>
              <a:rPr lang="en-US" sz="1100" b="1" dirty="0" err="1">
                <a:solidFill>
                  <a:schemeClr val="bg1"/>
                </a:solidFill>
                <a:latin typeface="Aptos"/>
                <a:ea typeface="Segoe UI"/>
                <a:cs typeface="Segoe UI"/>
              </a:rPr>
              <a:t>на</a:t>
            </a:r>
            <a:r>
              <a:rPr lang="en-US" sz="1100" b="1" dirty="0">
                <a:solidFill>
                  <a:schemeClr val="bg1"/>
                </a:solidFill>
                <a:latin typeface="Aptos"/>
                <a:ea typeface="Segoe UI"/>
                <a:cs typeface="Segoe UI"/>
              </a:rPr>
              <a:t> </a:t>
            </a:r>
            <a:r>
              <a:rPr lang="en-US" sz="1100" b="1" dirty="0" err="1">
                <a:solidFill>
                  <a:schemeClr val="bg1"/>
                </a:solidFill>
                <a:latin typeface="Aptos"/>
                <a:ea typeface="Segoe UI"/>
                <a:cs typeface="Segoe UI"/>
              </a:rPr>
              <a:t>леда</a:t>
            </a:r>
            <a:br>
              <a:rPr lang="en-US" sz="1100" b="1" dirty="0">
                <a:latin typeface="Aptos"/>
                <a:ea typeface="Segoe UI"/>
                <a:cs typeface="Segoe UI"/>
              </a:rPr>
            </a:br>
            <a:r>
              <a:rPr lang="en-US" sz="1100" b="1" dirty="0">
                <a:solidFill>
                  <a:schemeClr val="bg1"/>
                </a:solidFill>
                <a:latin typeface="Aptos"/>
                <a:ea typeface="Segoe UI"/>
                <a:cs typeface="Segoe UI"/>
              </a:rPr>
              <a:t> </a:t>
            </a:r>
            <a:r>
              <a:rPr lang="en-US" sz="1100" b="1" dirty="0" err="1">
                <a:solidFill>
                  <a:schemeClr val="bg1"/>
                </a:solidFill>
                <a:latin typeface="Aptos"/>
                <a:ea typeface="Segoe UI"/>
                <a:cs typeface="Segoe UI"/>
              </a:rPr>
              <a:t>Опитваме</a:t>
            </a:r>
            <a:r>
              <a:rPr lang="en-US" sz="1100" b="1" dirty="0">
                <a:solidFill>
                  <a:schemeClr val="bg1"/>
                </a:solidFill>
                <a:latin typeface="Aptos"/>
                <a:ea typeface="Segoe UI"/>
                <a:cs typeface="Segoe UI"/>
              </a:rPr>
              <a:t> </a:t>
            </a:r>
            <a:r>
              <a:rPr lang="en-US" sz="1100" b="1" dirty="0" err="1">
                <a:solidFill>
                  <a:schemeClr val="bg1"/>
                </a:solidFill>
                <a:latin typeface="Aptos"/>
                <a:ea typeface="Segoe UI"/>
                <a:cs typeface="Segoe UI"/>
              </a:rPr>
              <a:t>се</a:t>
            </a:r>
            <a:r>
              <a:rPr lang="en-US" sz="1100" b="1" dirty="0">
                <a:solidFill>
                  <a:schemeClr val="bg1"/>
                </a:solidFill>
                <a:latin typeface="Aptos"/>
                <a:ea typeface="Segoe UI"/>
                <a:cs typeface="Segoe UI"/>
              </a:rPr>
              <a:t> </a:t>
            </a:r>
            <a:r>
              <a:rPr lang="en-US" sz="1100" b="1" dirty="0" err="1">
                <a:solidFill>
                  <a:schemeClr val="bg1"/>
                </a:solidFill>
                <a:latin typeface="Aptos"/>
                <a:ea typeface="Segoe UI"/>
                <a:cs typeface="Segoe UI"/>
              </a:rPr>
              <a:t>да</a:t>
            </a:r>
            <a:r>
              <a:rPr lang="en-US" sz="1100" b="1" dirty="0">
                <a:solidFill>
                  <a:schemeClr val="bg1"/>
                </a:solidFill>
                <a:latin typeface="Aptos"/>
                <a:ea typeface="Segoe UI"/>
                <a:cs typeface="Segoe UI"/>
              </a:rPr>
              <a:t> </a:t>
            </a:r>
            <a:r>
              <a:rPr lang="en-US" sz="1100" b="1" dirty="0" err="1">
                <a:solidFill>
                  <a:schemeClr val="bg1"/>
                </a:solidFill>
                <a:latin typeface="Aptos"/>
                <a:ea typeface="Segoe UI"/>
                <a:cs typeface="Segoe UI"/>
              </a:rPr>
              <a:t>предразположим</a:t>
            </a:r>
            <a:r>
              <a:rPr lang="en-US" sz="1100" b="1" dirty="0">
                <a:solidFill>
                  <a:schemeClr val="bg1"/>
                </a:solidFill>
                <a:latin typeface="Aptos"/>
                <a:ea typeface="Segoe UI"/>
                <a:cs typeface="Segoe UI"/>
              </a:rPr>
              <a:t> и </a:t>
            </a:r>
            <a:r>
              <a:rPr lang="en-US" sz="1100" b="1" dirty="0" err="1">
                <a:solidFill>
                  <a:schemeClr val="bg1"/>
                </a:solidFill>
                <a:latin typeface="Aptos"/>
                <a:ea typeface="Segoe UI"/>
                <a:cs typeface="Segoe UI"/>
              </a:rPr>
              <a:t>да</a:t>
            </a:r>
            <a:r>
              <a:rPr lang="en-US" sz="1100" b="1" dirty="0">
                <a:solidFill>
                  <a:schemeClr val="bg1"/>
                </a:solidFill>
                <a:latin typeface="Aptos"/>
                <a:ea typeface="Segoe UI"/>
                <a:cs typeface="Segoe UI"/>
              </a:rPr>
              <a:t> </a:t>
            </a:r>
            <a:r>
              <a:rPr lang="en-US" sz="1100" b="1" dirty="0" err="1">
                <a:solidFill>
                  <a:schemeClr val="bg1"/>
                </a:solidFill>
                <a:latin typeface="Aptos"/>
                <a:ea typeface="Segoe UI"/>
                <a:cs typeface="Segoe UI"/>
              </a:rPr>
              <a:t>отпуснем</a:t>
            </a:r>
            <a:r>
              <a:rPr lang="en-US" sz="1100" b="1" dirty="0">
                <a:solidFill>
                  <a:schemeClr val="bg1"/>
                </a:solidFill>
                <a:latin typeface="Aptos"/>
                <a:ea typeface="Segoe UI"/>
                <a:cs typeface="Segoe UI"/>
              </a:rPr>
              <a:t> </a:t>
            </a:r>
            <a:r>
              <a:rPr lang="en-US" sz="1100" b="1" dirty="0" err="1">
                <a:solidFill>
                  <a:schemeClr val="bg1"/>
                </a:solidFill>
                <a:latin typeface="Aptos"/>
                <a:ea typeface="Segoe UI"/>
                <a:cs typeface="Segoe UI"/>
              </a:rPr>
              <a:t>клиента</a:t>
            </a:r>
            <a:r>
              <a:rPr lang="en-US" sz="1100" b="1" dirty="0">
                <a:solidFill>
                  <a:schemeClr val="bg1"/>
                </a:solidFill>
                <a:latin typeface="Aptos"/>
                <a:ea typeface="Segoe UI"/>
                <a:cs typeface="Segoe UI"/>
              </a:rPr>
              <a:t> </a:t>
            </a:r>
            <a:r>
              <a:rPr lang="en-US" sz="1100" b="1" dirty="0" err="1">
                <a:solidFill>
                  <a:schemeClr val="bg1"/>
                </a:solidFill>
                <a:latin typeface="Aptos"/>
                <a:ea typeface="Segoe UI"/>
                <a:cs typeface="Segoe UI"/>
              </a:rPr>
              <a:t>за</a:t>
            </a:r>
            <a:r>
              <a:rPr lang="en-US" sz="1100" b="1" dirty="0">
                <a:solidFill>
                  <a:schemeClr val="bg1"/>
                </a:solidFill>
                <a:latin typeface="Aptos"/>
                <a:ea typeface="Segoe UI"/>
                <a:cs typeface="Segoe UI"/>
              </a:rPr>
              <a:t> </a:t>
            </a:r>
            <a:r>
              <a:rPr lang="en-US" sz="1100" b="1" dirty="0" err="1">
                <a:solidFill>
                  <a:schemeClr val="bg1"/>
                </a:solidFill>
                <a:latin typeface="Aptos"/>
                <a:ea typeface="Segoe UI"/>
                <a:cs typeface="Segoe UI"/>
              </a:rPr>
              <a:t>разговор</a:t>
            </a:r>
            <a:r>
              <a:rPr lang="en-US" sz="1100" b="1" dirty="0">
                <a:solidFill>
                  <a:schemeClr val="bg1"/>
                </a:solidFill>
                <a:latin typeface="Aptos"/>
                <a:ea typeface="Segoe UI"/>
                <a:cs typeface="Segoe UI"/>
              </a:rPr>
              <a:t>, </a:t>
            </a:r>
            <a:r>
              <a:rPr lang="en-US" sz="1100" b="1" dirty="0" err="1">
                <a:solidFill>
                  <a:schemeClr val="bg1"/>
                </a:solidFill>
                <a:latin typeface="Aptos"/>
                <a:ea typeface="Segoe UI"/>
                <a:cs typeface="Segoe UI"/>
              </a:rPr>
              <a:t>като</a:t>
            </a:r>
            <a:r>
              <a:rPr lang="en-US" sz="1100" b="1" dirty="0">
                <a:solidFill>
                  <a:schemeClr val="bg1"/>
                </a:solidFill>
                <a:latin typeface="Aptos"/>
                <a:ea typeface="Segoe UI"/>
                <a:cs typeface="Segoe UI"/>
              </a:rPr>
              <a:t> </a:t>
            </a:r>
            <a:r>
              <a:rPr lang="en-US" sz="1100" b="1" dirty="0" err="1">
                <a:solidFill>
                  <a:schemeClr val="bg1"/>
                </a:solidFill>
                <a:latin typeface="Aptos"/>
                <a:ea typeface="Segoe UI"/>
                <a:cs typeface="Segoe UI"/>
              </a:rPr>
              <a:t>засягаме</a:t>
            </a:r>
            <a:r>
              <a:rPr lang="en-US" sz="1100" b="1" dirty="0">
                <a:solidFill>
                  <a:schemeClr val="bg1"/>
                </a:solidFill>
                <a:latin typeface="Aptos"/>
                <a:ea typeface="Segoe UI"/>
                <a:cs typeface="Segoe UI"/>
              </a:rPr>
              <a:t> „</a:t>
            </a:r>
            <a:r>
              <a:rPr lang="en-US" sz="1100" b="1" dirty="0" err="1">
                <a:solidFill>
                  <a:schemeClr val="bg1"/>
                </a:solidFill>
                <a:latin typeface="Aptos"/>
                <a:ea typeface="Segoe UI"/>
                <a:cs typeface="Segoe UI"/>
              </a:rPr>
              <a:t>леки</a:t>
            </a:r>
            <a:r>
              <a:rPr lang="en-US" sz="1100" b="1" dirty="0">
                <a:solidFill>
                  <a:schemeClr val="bg1"/>
                </a:solidFill>
                <a:latin typeface="Aptos"/>
                <a:ea typeface="Segoe UI"/>
                <a:cs typeface="Segoe UI"/>
              </a:rPr>
              <a:t>“, </a:t>
            </a:r>
            <a:r>
              <a:rPr lang="en-US" sz="1100" b="1" dirty="0" err="1">
                <a:solidFill>
                  <a:schemeClr val="bg1"/>
                </a:solidFill>
                <a:latin typeface="Aptos"/>
                <a:ea typeface="Segoe UI"/>
                <a:cs typeface="Segoe UI"/>
              </a:rPr>
              <a:t>ненапрягащи</a:t>
            </a:r>
            <a:r>
              <a:rPr lang="en-US" sz="1100" b="1" dirty="0">
                <a:solidFill>
                  <a:schemeClr val="bg1"/>
                </a:solidFill>
                <a:latin typeface="Aptos"/>
                <a:ea typeface="Segoe UI"/>
                <a:cs typeface="Segoe UI"/>
              </a:rPr>
              <a:t> </a:t>
            </a:r>
            <a:r>
              <a:rPr lang="en-US" sz="1100" b="1" dirty="0" err="1">
                <a:solidFill>
                  <a:schemeClr val="bg1"/>
                </a:solidFill>
                <a:latin typeface="Aptos"/>
                <a:ea typeface="Segoe UI"/>
                <a:cs typeface="Segoe UI"/>
              </a:rPr>
              <a:t>теми</a:t>
            </a:r>
            <a:r>
              <a:rPr lang="en-US" sz="1100" b="1" dirty="0">
                <a:solidFill>
                  <a:schemeClr val="bg1"/>
                </a:solidFill>
                <a:latin typeface="Aptos"/>
                <a:ea typeface="Segoe UI"/>
                <a:cs typeface="Segoe UI"/>
              </a:rPr>
              <a:t> – </a:t>
            </a:r>
            <a:r>
              <a:rPr lang="en-US" sz="1100" b="1" dirty="0" err="1">
                <a:solidFill>
                  <a:schemeClr val="bg1"/>
                </a:solidFill>
                <a:latin typeface="Aptos"/>
                <a:ea typeface="Segoe UI"/>
                <a:cs typeface="Segoe UI"/>
              </a:rPr>
              <a:t>времето</a:t>
            </a:r>
            <a:r>
              <a:rPr lang="en-US" sz="1100" b="1" dirty="0">
                <a:solidFill>
                  <a:schemeClr val="bg1"/>
                </a:solidFill>
                <a:latin typeface="Aptos"/>
                <a:ea typeface="Segoe UI"/>
                <a:cs typeface="Segoe UI"/>
              </a:rPr>
              <a:t>, </a:t>
            </a:r>
            <a:r>
              <a:rPr lang="en-US" sz="1100" b="1" dirty="0" err="1">
                <a:solidFill>
                  <a:schemeClr val="bg1"/>
                </a:solidFill>
                <a:latin typeface="Aptos"/>
                <a:ea typeface="Segoe UI"/>
                <a:cs typeface="Segoe UI"/>
              </a:rPr>
              <a:t>доставчик</a:t>
            </a:r>
            <a:r>
              <a:rPr lang="en-US" sz="1100" b="1" dirty="0">
                <a:solidFill>
                  <a:schemeClr val="bg1"/>
                </a:solidFill>
                <a:latin typeface="Aptos"/>
                <a:ea typeface="Segoe UI"/>
                <a:cs typeface="Segoe UI"/>
              </a:rPr>
              <a:t> </a:t>
            </a:r>
            <a:r>
              <a:rPr lang="en-US" sz="1100" b="1" dirty="0" err="1">
                <a:solidFill>
                  <a:schemeClr val="bg1"/>
                </a:solidFill>
                <a:latin typeface="Aptos"/>
                <a:ea typeface="Segoe UI"/>
                <a:cs typeface="Segoe UI"/>
              </a:rPr>
              <a:t>на</a:t>
            </a:r>
            <a:r>
              <a:rPr lang="en-US" sz="1100" b="1" dirty="0">
                <a:solidFill>
                  <a:schemeClr val="bg1"/>
                </a:solidFill>
                <a:latin typeface="Aptos"/>
                <a:ea typeface="Segoe UI"/>
                <a:cs typeface="Segoe UI"/>
              </a:rPr>
              <a:t> </a:t>
            </a:r>
            <a:r>
              <a:rPr lang="en-US" sz="1100" b="1" dirty="0" err="1">
                <a:solidFill>
                  <a:schemeClr val="bg1"/>
                </a:solidFill>
                <a:latin typeface="Aptos"/>
                <a:ea typeface="Segoe UI"/>
                <a:cs typeface="Segoe UI"/>
              </a:rPr>
              <a:t>интернет</a:t>
            </a:r>
            <a:r>
              <a:rPr lang="en-US" sz="1100" b="1" dirty="0">
                <a:solidFill>
                  <a:schemeClr val="bg1"/>
                </a:solidFill>
                <a:latin typeface="Aptos"/>
                <a:ea typeface="Segoe UI"/>
                <a:cs typeface="Segoe UI"/>
              </a:rPr>
              <a:t>/</a:t>
            </a:r>
            <a:r>
              <a:rPr lang="en-US" sz="1100" b="1" dirty="0" err="1">
                <a:solidFill>
                  <a:schemeClr val="bg1"/>
                </a:solidFill>
                <a:latin typeface="Aptos"/>
                <a:ea typeface="Segoe UI"/>
                <a:cs typeface="Segoe UI"/>
              </a:rPr>
              <a:t>кабелна</a:t>
            </a:r>
            <a:r>
              <a:rPr lang="en-US" sz="1100" b="1" dirty="0">
                <a:solidFill>
                  <a:schemeClr val="bg1"/>
                </a:solidFill>
                <a:latin typeface="Aptos"/>
                <a:ea typeface="Segoe UI"/>
                <a:cs typeface="Segoe UI"/>
              </a:rPr>
              <a:t> </a:t>
            </a:r>
            <a:r>
              <a:rPr lang="en-US" sz="1100" b="1" dirty="0" err="1">
                <a:solidFill>
                  <a:schemeClr val="bg1"/>
                </a:solidFill>
                <a:latin typeface="Aptos"/>
                <a:ea typeface="Segoe UI"/>
                <a:cs typeface="Segoe UI"/>
              </a:rPr>
              <a:t>телевизия</a:t>
            </a:r>
            <a:r>
              <a:rPr lang="en-US" sz="1100" b="1" baseline="0" dirty="0">
                <a:solidFill>
                  <a:schemeClr val="bg1"/>
                </a:solidFill>
                <a:latin typeface="Aptos"/>
                <a:ea typeface="Segoe UI"/>
                <a:cs typeface="Segoe UI"/>
              </a:rPr>
              <a:t>, </a:t>
            </a:r>
            <a:r>
              <a:rPr lang="en-US" sz="1100" b="1" dirty="0" err="1">
                <a:solidFill>
                  <a:schemeClr val="bg1"/>
                </a:solidFill>
                <a:latin typeface="Aptos"/>
                <a:ea typeface="Segoe UI"/>
                <a:cs typeface="Segoe UI"/>
              </a:rPr>
              <a:t>явни</a:t>
            </a:r>
            <a:r>
              <a:rPr lang="en-US" sz="1100" b="1" dirty="0">
                <a:solidFill>
                  <a:schemeClr val="bg1"/>
                </a:solidFill>
                <a:latin typeface="Aptos"/>
                <a:ea typeface="Segoe UI"/>
                <a:cs typeface="Segoe UI"/>
              </a:rPr>
              <a:t> </a:t>
            </a:r>
            <a:r>
              <a:rPr lang="en-US" sz="1100" b="1" dirty="0" err="1">
                <a:solidFill>
                  <a:schemeClr val="bg1"/>
                </a:solidFill>
                <a:latin typeface="Aptos"/>
                <a:ea typeface="Segoe UI"/>
                <a:cs typeface="Segoe UI"/>
              </a:rPr>
              <a:t>хобита</a:t>
            </a:r>
            <a:r>
              <a:rPr lang="en-US" sz="1100" b="1" dirty="0">
                <a:solidFill>
                  <a:schemeClr val="bg1"/>
                </a:solidFill>
                <a:latin typeface="Aptos"/>
                <a:ea typeface="Segoe UI"/>
                <a:cs typeface="Segoe UI"/>
              </a:rPr>
              <a:t> и </a:t>
            </a:r>
            <a:r>
              <a:rPr lang="en-US" sz="1100" b="1" dirty="0" err="1">
                <a:solidFill>
                  <a:schemeClr val="bg1"/>
                </a:solidFill>
                <a:latin typeface="Aptos"/>
                <a:ea typeface="Segoe UI"/>
                <a:cs typeface="Segoe UI"/>
              </a:rPr>
              <a:t>т.н</a:t>
            </a:r>
            <a:r>
              <a:rPr lang="en-US" sz="1100" b="1" dirty="0">
                <a:solidFill>
                  <a:schemeClr val="bg1"/>
                </a:solidFill>
                <a:latin typeface="Aptos"/>
                <a:ea typeface="Segoe UI"/>
                <a:cs typeface="Segoe UI"/>
              </a:rPr>
              <a:t>. </a:t>
            </a:r>
            <a:r>
              <a:rPr lang="en-US" sz="1100" b="1" dirty="0" err="1">
                <a:solidFill>
                  <a:schemeClr val="bg1"/>
                </a:solidFill>
                <a:latin typeface="Aptos"/>
                <a:ea typeface="Segoe UI"/>
                <a:cs typeface="Segoe UI"/>
              </a:rPr>
              <a:t>Ако</a:t>
            </a:r>
            <a:r>
              <a:rPr lang="en-US" sz="1100" b="1" dirty="0">
                <a:solidFill>
                  <a:schemeClr val="bg1"/>
                </a:solidFill>
                <a:latin typeface="Aptos"/>
                <a:ea typeface="Segoe UI"/>
                <a:cs typeface="Segoe UI"/>
              </a:rPr>
              <a:t> </a:t>
            </a:r>
            <a:r>
              <a:rPr lang="en-US" sz="1100" b="1" dirty="0" err="1">
                <a:solidFill>
                  <a:schemeClr val="bg1"/>
                </a:solidFill>
                <a:latin typeface="Aptos"/>
                <a:ea typeface="Segoe UI"/>
                <a:cs typeface="Segoe UI"/>
              </a:rPr>
              <a:t>клиентът</a:t>
            </a:r>
            <a:r>
              <a:rPr lang="en-US" sz="1100" b="1" dirty="0">
                <a:solidFill>
                  <a:schemeClr val="bg1"/>
                </a:solidFill>
                <a:latin typeface="Aptos"/>
                <a:ea typeface="Segoe UI"/>
                <a:cs typeface="Segoe UI"/>
              </a:rPr>
              <a:t> </a:t>
            </a:r>
            <a:r>
              <a:rPr lang="en-US" sz="1100" b="1" dirty="0" err="1">
                <a:solidFill>
                  <a:schemeClr val="bg1"/>
                </a:solidFill>
                <a:latin typeface="Aptos"/>
                <a:ea typeface="Segoe UI"/>
                <a:cs typeface="Segoe UI"/>
              </a:rPr>
              <a:t>ни</a:t>
            </a:r>
            <a:r>
              <a:rPr lang="en-US" sz="1100" b="1" dirty="0">
                <a:solidFill>
                  <a:schemeClr val="bg1"/>
                </a:solidFill>
                <a:latin typeface="Aptos"/>
                <a:ea typeface="Segoe UI"/>
                <a:cs typeface="Segoe UI"/>
              </a:rPr>
              <a:t> </a:t>
            </a:r>
            <a:r>
              <a:rPr lang="en-US" sz="1100" b="1" dirty="0" err="1">
                <a:solidFill>
                  <a:schemeClr val="bg1"/>
                </a:solidFill>
                <a:latin typeface="Aptos"/>
                <a:ea typeface="Segoe UI"/>
                <a:cs typeface="Segoe UI"/>
              </a:rPr>
              <a:t>предложи</a:t>
            </a:r>
            <a:r>
              <a:rPr lang="en-US" sz="1100" b="1" dirty="0">
                <a:solidFill>
                  <a:schemeClr val="bg1"/>
                </a:solidFill>
                <a:latin typeface="Aptos"/>
                <a:ea typeface="Segoe UI"/>
                <a:cs typeface="Segoe UI"/>
              </a:rPr>
              <a:t> </a:t>
            </a:r>
            <a:r>
              <a:rPr lang="en-US" sz="1100" b="1" dirty="0" err="1">
                <a:solidFill>
                  <a:schemeClr val="bg1"/>
                </a:solidFill>
                <a:latin typeface="Aptos"/>
                <a:ea typeface="Segoe UI"/>
                <a:cs typeface="Segoe UI"/>
              </a:rPr>
              <a:t>нещо</a:t>
            </a:r>
            <a:r>
              <a:rPr lang="en-US" sz="1100" b="1" dirty="0">
                <a:solidFill>
                  <a:schemeClr val="bg1"/>
                </a:solidFill>
                <a:latin typeface="Aptos"/>
                <a:ea typeface="Segoe UI"/>
                <a:cs typeface="Segoe UI"/>
              </a:rPr>
              <a:t> – </a:t>
            </a:r>
            <a:r>
              <a:rPr lang="en-US" sz="1100" b="1" baseline="0" dirty="0" err="1">
                <a:solidFill>
                  <a:schemeClr val="bg1"/>
                </a:solidFill>
                <a:latin typeface="Aptos"/>
                <a:ea typeface="Segoe UI"/>
                <a:cs typeface="Segoe UI"/>
              </a:rPr>
              <a:t>вода</a:t>
            </a:r>
            <a:r>
              <a:rPr lang="en-US" sz="1100" b="1" dirty="0">
                <a:solidFill>
                  <a:schemeClr val="bg1"/>
                </a:solidFill>
                <a:latin typeface="Aptos"/>
                <a:ea typeface="Segoe UI"/>
                <a:cs typeface="Segoe UI"/>
              </a:rPr>
              <a:t>,</a:t>
            </a:r>
            <a:r>
              <a:rPr lang="en-US" sz="1100" b="1" baseline="0" dirty="0">
                <a:solidFill>
                  <a:schemeClr val="bg1"/>
                </a:solidFill>
                <a:latin typeface="Aptos"/>
                <a:ea typeface="Segoe UI"/>
                <a:cs typeface="Segoe UI"/>
              </a:rPr>
              <a:t> </a:t>
            </a:r>
            <a:r>
              <a:rPr lang="en-US" sz="1100" b="1" baseline="0" dirty="0" err="1">
                <a:solidFill>
                  <a:schemeClr val="bg1"/>
                </a:solidFill>
                <a:latin typeface="Aptos"/>
                <a:ea typeface="Segoe UI"/>
                <a:cs typeface="Segoe UI"/>
              </a:rPr>
              <a:t>кафе</a:t>
            </a:r>
            <a:r>
              <a:rPr lang="en-US" sz="1100" b="1" dirty="0">
                <a:solidFill>
                  <a:schemeClr val="bg1"/>
                </a:solidFill>
                <a:latin typeface="Aptos"/>
                <a:ea typeface="Segoe UI"/>
                <a:cs typeface="Segoe UI"/>
              </a:rPr>
              <a:t> и </a:t>
            </a:r>
            <a:r>
              <a:rPr lang="en-US" sz="1100" b="1" dirty="0" err="1">
                <a:solidFill>
                  <a:schemeClr val="bg1"/>
                </a:solidFill>
                <a:latin typeface="Aptos"/>
                <a:ea typeface="Segoe UI"/>
                <a:cs typeface="Segoe UI"/>
              </a:rPr>
              <a:t>др</a:t>
            </a:r>
            <a:r>
              <a:rPr lang="en-US" sz="1100" b="1" dirty="0">
                <a:solidFill>
                  <a:schemeClr val="bg1"/>
                </a:solidFill>
                <a:latin typeface="Aptos"/>
                <a:ea typeface="Segoe UI"/>
                <a:cs typeface="Segoe UI"/>
              </a:rPr>
              <a:t>., </a:t>
            </a:r>
            <a:r>
              <a:rPr lang="en-US" sz="1100" b="1" dirty="0" err="1">
                <a:solidFill>
                  <a:schemeClr val="bg1"/>
                </a:solidFill>
                <a:latin typeface="Aptos"/>
                <a:ea typeface="Segoe UI"/>
                <a:cs typeface="Segoe UI"/>
              </a:rPr>
              <a:t>ние</a:t>
            </a:r>
            <a:r>
              <a:rPr lang="en-US" sz="1100" b="1" dirty="0">
                <a:solidFill>
                  <a:schemeClr val="bg1"/>
                </a:solidFill>
                <a:latin typeface="Aptos"/>
                <a:ea typeface="Segoe UI"/>
                <a:cs typeface="Segoe UI"/>
              </a:rPr>
              <a:t> </a:t>
            </a:r>
            <a:r>
              <a:rPr lang="en-US" sz="1100" b="1" dirty="0" err="1">
                <a:solidFill>
                  <a:schemeClr val="bg1"/>
                </a:solidFill>
                <a:latin typeface="Aptos"/>
                <a:ea typeface="Segoe UI"/>
                <a:cs typeface="Segoe UI"/>
              </a:rPr>
              <a:t>не</a:t>
            </a:r>
            <a:r>
              <a:rPr lang="en-US" sz="1100" b="1" dirty="0">
                <a:solidFill>
                  <a:schemeClr val="bg1"/>
                </a:solidFill>
                <a:latin typeface="Aptos"/>
                <a:ea typeface="Segoe UI"/>
                <a:cs typeface="Segoe UI"/>
              </a:rPr>
              <a:t> </a:t>
            </a:r>
            <a:r>
              <a:rPr lang="en-US" sz="1100" b="1" dirty="0" err="1">
                <a:solidFill>
                  <a:schemeClr val="bg1"/>
                </a:solidFill>
                <a:latin typeface="Aptos"/>
                <a:ea typeface="Segoe UI"/>
                <a:cs typeface="Segoe UI"/>
              </a:rPr>
              <a:t>му</a:t>
            </a:r>
            <a:r>
              <a:rPr lang="en-US" sz="1100" b="1" dirty="0">
                <a:solidFill>
                  <a:schemeClr val="bg1"/>
                </a:solidFill>
                <a:latin typeface="Aptos"/>
                <a:ea typeface="Segoe UI"/>
                <a:cs typeface="Segoe UI"/>
              </a:rPr>
              <a:t> </a:t>
            </a:r>
            <a:r>
              <a:rPr lang="en-US" sz="1100" b="1" dirty="0" err="1">
                <a:solidFill>
                  <a:schemeClr val="bg1"/>
                </a:solidFill>
                <a:latin typeface="Aptos"/>
                <a:ea typeface="Segoe UI"/>
                <a:cs typeface="Segoe UI"/>
              </a:rPr>
              <a:t>отказваме</a:t>
            </a:r>
            <a:r>
              <a:rPr lang="en-US" sz="1100" b="1" dirty="0">
                <a:solidFill>
                  <a:schemeClr val="bg1"/>
                </a:solidFill>
                <a:latin typeface="Aptos"/>
                <a:ea typeface="Segoe UI"/>
                <a:cs typeface="Segoe UI"/>
              </a:rPr>
              <a:t>, </a:t>
            </a:r>
            <a:r>
              <a:rPr lang="en-US" sz="1100" b="1" dirty="0" err="1">
                <a:solidFill>
                  <a:schemeClr val="bg1"/>
                </a:solidFill>
                <a:latin typeface="Aptos"/>
                <a:ea typeface="Segoe UI"/>
                <a:cs typeface="Segoe UI"/>
              </a:rPr>
              <a:t>защото</a:t>
            </a:r>
            <a:r>
              <a:rPr lang="en-US" sz="1100" b="1" dirty="0">
                <a:solidFill>
                  <a:schemeClr val="bg1"/>
                </a:solidFill>
                <a:latin typeface="Aptos"/>
                <a:ea typeface="Segoe UI"/>
                <a:cs typeface="Segoe UI"/>
              </a:rPr>
              <a:t> </a:t>
            </a:r>
            <a:r>
              <a:rPr lang="en-US" sz="1100" b="1" dirty="0" err="1">
                <a:solidFill>
                  <a:schemeClr val="bg1"/>
                </a:solidFill>
                <a:latin typeface="Aptos"/>
                <a:ea typeface="Segoe UI"/>
                <a:cs typeface="Segoe UI"/>
              </a:rPr>
              <a:t>по</a:t>
            </a:r>
            <a:r>
              <a:rPr lang="en-US" sz="1100" b="1" dirty="0">
                <a:solidFill>
                  <a:schemeClr val="bg1"/>
                </a:solidFill>
                <a:latin typeface="Aptos"/>
                <a:ea typeface="Segoe UI"/>
                <a:cs typeface="Segoe UI"/>
              </a:rPr>
              <a:t> </a:t>
            </a:r>
            <a:r>
              <a:rPr lang="en-US" sz="1100" b="1" dirty="0" err="1">
                <a:solidFill>
                  <a:schemeClr val="bg1"/>
                </a:solidFill>
                <a:latin typeface="Aptos"/>
                <a:ea typeface="Segoe UI"/>
                <a:cs typeface="Segoe UI"/>
              </a:rPr>
              <a:t>този</a:t>
            </a:r>
            <a:r>
              <a:rPr lang="en-US" sz="1100" b="1" dirty="0">
                <a:solidFill>
                  <a:schemeClr val="bg1"/>
                </a:solidFill>
                <a:latin typeface="Aptos"/>
                <a:ea typeface="Segoe UI"/>
                <a:cs typeface="Segoe UI"/>
              </a:rPr>
              <a:t> </a:t>
            </a:r>
            <a:r>
              <a:rPr lang="en-US" sz="1100" b="1" dirty="0" err="1">
                <a:solidFill>
                  <a:schemeClr val="bg1"/>
                </a:solidFill>
                <a:latin typeface="Aptos"/>
                <a:ea typeface="Segoe UI"/>
                <a:cs typeface="Segoe UI"/>
              </a:rPr>
              <a:t>начин</a:t>
            </a:r>
            <a:r>
              <a:rPr lang="en-US" sz="1100" b="1" dirty="0">
                <a:solidFill>
                  <a:schemeClr val="bg1"/>
                </a:solidFill>
                <a:latin typeface="Aptos"/>
                <a:ea typeface="Segoe UI"/>
                <a:cs typeface="Segoe UI"/>
              </a:rPr>
              <a:t> </a:t>
            </a:r>
            <a:r>
              <a:rPr lang="en-US" sz="1100" b="1" dirty="0" err="1">
                <a:solidFill>
                  <a:schemeClr val="bg1"/>
                </a:solidFill>
                <a:latin typeface="Aptos"/>
                <a:ea typeface="Segoe UI"/>
                <a:cs typeface="Segoe UI"/>
              </a:rPr>
              <a:t>скъсяваме</a:t>
            </a:r>
            <a:r>
              <a:rPr lang="en-US" sz="1100" b="1" dirty="0">
                <a:solidFill>
                  <a:schemeClr val="bg1"/>
                </a:solidFill>
                <a:latin typeface="Aptos"/>
                <a:ea typeface="Segoe UI"/>
                <a:cs typeface="Segoe UI"/>
              </a:rPr>
              <a:t> </a:t>
            </a:r>
            <a:r>
              <a:rPr lang="en-US" sz="1100" b="1" dirty="0" err="1">
                <a:solidFill>
                  <a:schemeClr val="bg1"/>
                </a:solidFill>
                <a:latin typeface="Aptos"/>
                <a:ea typeface="Segoe UI"/>
                <a:cs typeface="Segoe UI"/>
              </a:rPr>
              <a:t>дистанцията</a:t>
            </a:r>
            <a:r>
              <a:rPr lang="en-US" sz="1100" b="1" dirty="0">
                <a:solidFill>
                  <a:schemeClr val="bg1"/>
                </a:solidFill>
                <a:latin typeface="Aptos"/>
                <a:ea typeface="Segoe UI"/>
                <a:cs typeface="Segoe UI"/>
              </a:rPr>
              <a:t>. </a:t>
            </a:r>
            <a:endParaRPr lang="en-US" sz="1100" dirty="0">
              <a:solidFill>
                <a:schemeClr val="bg1"/>
              </a:solidFill>
              <a:latin typeface="Aptos"/>
              <a:ea typeface="Segoe UI"/>
              <a:cs typeface="Segoe UI"/>
            </a:endParaRPr>
          </a:p>
          <a:p>
            <a:r>
              <a:rPr lang="en-US" sz="1100" dirty="0">
                <a:solidFill>
                  <a:schemeClr val="bg1"/>
                </a:solidFill>
                <a:latin typeface="Aptos"/>
                <a:ea typeface="Segoe UI"/>
                <a:cs typeface="Segoe UI"/>
              </a:rPr>
              <a:t>КК: „</a:t>
            </a:r>
            <a:r>
              <a:rPr lang="en-US" sz="1100" dirty="0" err="1">
                <a:solidFill>
                  <a:schemeClr val="bg1"/>
                </a:solidFill>
                <a:latin typeface="Aptos"/>
                <a:ea typeface="Segoe UI"/>
                <a:cs typeface="Segoe UI"/>
              </a:rPr>
              <a:t>Имате</a:t>
            </a:r>
            <a:r>
              <a:rPr lang="en-US" sz="1100" dirty="0">
                <a:solidFill>
                  <a:schemeClr val="bg1"/>
                </a:solidFill>
                <a:latin typeface="Aptos"/>
                <a:ea typeface="Segoe UI"/>
                <a:cs typeface="Segoe UI"/>
              </a:rPr>
              <a:t> </a:t>
            </a:r>
            <a:r>
              <a:rPr lang="en-US" sz="1100" dirty="0" err="1">
                <a:solidFill>
                  <a:schemeClr val="bg1"/>
                </a:solidFill>
                <a:latin typeface="Aptos"/>
                <a:ea typeface="Segoe UI"/>
                <a:cs typeface="Segoe UI"/>
              </a:rPr>
              <a:t>ли</a:t>
            </a:r>
            <a:r>
              <a:rPr lang="en-US" sz="1100" dirty="0">
                <a:solidFill>
                  <a:schemeClr val="bg1"/>
                </a:solidFill>
                <a:latin typeface="Aptos"/>
                <a:ea typeface="Segoe UI"/>
                <a:cs typeface="Segoe UI"/>
              </a:rPr>
              <a:t> </a:t>
            </a:r>
            <a:r>
              <a:rPr lang="en-US" sz="1100" dirty="0" err="1">
                <a:solidFill>
                  <a:schemeClr val="bg1"/>
                </a:solidFill>
                <a:latin typeface="Aptos"/>
                <a:ea typeface="Segoe UI"/>
                <a:cs typeface="Segoe UI"/>
              </a:rPr>
              <a:t>нещо</a:t>
            </a:r>
            <a:r>
              <a:rPr lang="en-US" sz="1100" dirty="0">
                <a:solidFill>
                  <a:schemeClr val="bg1"/>
                </a:solidFill>
                <a:latin typeface="Aptos"/>
                <a:ea typeface="Segoe UI"/>
                <a:cs typeface="Segoe UI"/>
              </a:rPr>
              <a:t> </a:t>
            </a:r>
            <a:r>
              <a:rPr lang="en-US" sz="1100" dirty="0" err="1">
                <a:solidFill>
                  <a:schemeClr val="bg1"/>
                </a:solidFill>
                <a:latin typeface="Aptos"/>
                <a:ea typeface="Segoe UI"/>
                <a:cs typeface="Segoe UI"/>
              </a:rPr>
              <a:t>против</a:t>
            </a:r>
            <a:r>
              <a:rPr lang="en-US" sz="1100" dirty="0">
                <a:solidFill>
                  <a:schemeClr val="bg1"/>
                </a:solidFill>
                <a:latin typeface="Aptos"/>
                <a:ea typeface="Segoe UI"/>
                <a:cs typeface="Segoe UI"/>
              </a:rPr>
              <a:t> </a:t>
            </a:r>
            <a:r>
              <a:rPr lang="en-US" sz="1100" dirty="0" err="1">
                <a:solidFill>
                  <a:schemeClr val="bg1"/>
                </a:solidFill>
                <a:latin typeface="Aptos"/>
                <a:ea typeface="Segoe UI"/>
                <a:cs typeface="Segoe UI"/>
              </a:rPr>
              <a:t>да</a:t>
            </a:r>
            <a:r>
              <a:rPr lang="en-US" sz="1100" dirty="0">
                <a:solidFill>
                  <a:schemeClr val="bg1"/>
                </a:solidFill>
                <a:latin typeface="Aptos"/>
                <a:ea typeface="Segoe UI"/>
                <a:cs typeface="Segoe UI"/>
              </a:rPr>
              <a:t> </a:t>
            </a:r>
            <a:r>
              <a:rPr lang="en-US" sz="1100" dirty="0" err="1">
                <a:solidFill>
                  <a:schemeClr val="bg1"/>
                </a:solidFill>
                <a:latin typeface="Aptos"/>
                <a:ea typeface="Segoe UI"/>
                <a:cs typeface="Segoe UI"/>
              </a:rPr>
              <a:t>си</a:t>
            </a:r>
            <a:r>
              <a:rPr lang="en-US" sz="1100" dirty="0">
                <a:solidFill>
                  <a:schemeClr val="bg1"/>
                </a:solidFill>
                <a:latin typeface="Aptos"/>
                <a:ea typeface="Segoe UI"/>
                <a:cs typeface="Segoe UI"/>
              </a:rPr>
              <a:t> </a:t>
            </a:r>
            <a:r>
              <a:rPr lang="en-US" sz="1100" dirty="0" err="1">
                <a:solidFill>
                  <a:schemeClr val="bg1"/>
                </a:solidFill>
                <a:latin typeface="Aptos"/>
                <a:ea typeface="Segoe UI"/>
                <a:cs typeface="Segoe UI"/>
              </a:rPr>
              <a:t>говорим</a:t>
            </a:r>
            <a:r>
              <a:rPr lang="en-US" sz="1100" dirty="0">
                <a:solidFill>
                  <a:schemeClr val="bg1"/>
                </a:solidFill>
                <a:latin typeface="Aptos"/>
                <a:ea typeface="Segoe UI"/>
                <a:cs typeface="Segoe UI"/>
              </a:rPr>
              <a:t> </a:t>
            </a:r>
            <a:r>
              <a:rPr lang="en-US" sz="1100" dirty="0" err="1">
                <a:solidFill>
                  <a:schemeClr val="bg1"/>
                </a:solidFill>
                <a:latin typeface="Aptos"/>
                <a:ea typeface="Segoe UI"/>
                <a:cs typeface="Segoe UI"/>
              </a:rPr>
              <a:t>на</a:t>
            </a:r>
            <a:r>
              <a:rPr lang="en-US" sz="1100" dirty="0">
                <a:solidFill>
                  <a:schemeClr val="bg1"/>
                </a:solidFill>
                <a:latin typeface="Aptos"/>
                <a:ea typeface="Segoe UI"/>
                <a:cs typeface="Segoe UI"/>
              </a:rPr>
              <a:t> „</a:t>
            </a:r>
            <a:r>
              <a:rPr lang="en-US" sz="1100" dirty="0" err="1">
                <a:solidFill>
                  <a:schemeClr val="bg1"/>
                </a:solidFill>
                <a:latin typeface="Aptos"/>
                <a:ea typeface="Segoe UI"/>
                <a:cs typeface="Segoe UI"/>
              </a:rPr>
              <a:t>ти</a:t>
            </a:r>
            <a:r>
              <a:rPr lang="en-US" sz="1100" dirty="0">
                <a:solidFill>
                  <a:schemeClr val="bg1"/>
                </a:solidFill>
                <a:latin typeface="Aptos"/>
                <a:ea typeface="Segoe UI"/>
                <a:cs typeface="Segoe UI"/>
              </a:rPr>
              <a:t>“?“ </a:t>
            </a:r>
          </a:p>
          <a:p>
            <a:r>
              <a:rPr lang="en-US" sz="1100" dirty="0">
                <a:solidFill>
                  <a:schemeClr val="bg1"/>
                </a:solidFill>
                <a:latin typeface="Aptos"/>
                <a:ea typeface="Segoe UI"/>
                <a:cs typeface="Segoe UI"/>
              </a:rPr>
              <a:t>К: „</a:t>
            </a:r>
            <a:r>
              <a:rPr lang="en-US" sz="1100" dirty="0" err="1">
                <a:solidFill>
                  <a:schemeClr val="bg1"/>
                </a:solidFill>
                <a:latin typeface="Aptos"/>
                <a:ea typeface="Segoe UI"/>
                <a:cs typeface="Segoe UI"/>
              </a:rPr>
              <a:t>Не</a:t>
            </a:r>
            <a:r>
              <a:rPr lang="en-US" sz="1100" dirty="0">
                <a:solidFill>
                  <a:schemeClr val="bg1"/>
                </a:solidFill>
                <a:latin typeface="Aptos"/>
                <a:ea typeface="Segoe UI"/>
                <a:cs typeface="Segoe UI"/>
              </a:rPr>
              <a:t>, </a:t>
            </a:r>
            <a:r>
              <a:rPr lang="en-US" sz="1100" dirty="0" err="1">
                <a:solidFill>
                  <a:schemeClr val="bg1"/>
                </a:solidFill>
                <a:latin typeface="Aptos"/>
                <a:ea typeface="Segoe UI"/>
                <a:cs typeface="Segoe UI"/>
              </a:rPr>
              <a:t>нямам</a:t>
            </a:r>
            <a:r>
              <a:rPr lang="en-US" sz="1100" dirty="0">
                <a:solidFill>
                  <a:schemeClr val="bg1"/>
                </a:solidFill>
                <a:latin typeface="Aptos"/>
                <a:ea typeface="Segoe UI"/>
                <a:cs typeface="Segoe UI"/>
              </a:rPr>
              <a:t>.“ </a:t>
            </a:r>
            <a:endParaRPr lang="en-US" sz="1100">
              <a:solidFill>
                <a:schemeClr val="bg1"/>
              </a:solidFill>
            </a:endParaRPr>
          </a:p>
          <a:p>
            <a:r>
              <a:rPr lang="en-US" sz="1100" dirty="0">
                <a:solidFill>
                  <a:schemeClr val="bg1"/>
                </a:solidFill>
                <a:latin typeface="Aptos"/>
                <a:ea typeface="Segoe UI"/>
                <a:cs typeface="Segoe UI"/>
              </a:rPr>
              <a:t>КК</a:t>
            </a:r>
            <a:r>
              <a:rPr lang="en-US" sz="1100" baseline="0" dirty="0">
                <a:solidFill>
                  <a:schemeClr val="bg1"/>
                </a:solidFill>
                <a:latin typeface="Aptos"/>
                <a:ea typeface="Segoe UI"/>
                <a:cs typeface="Segoe UI"/>
              </a:rPr>
              <a:t>: „</a:t>
            </a:r>
            <a:r>
              <a:rPr lang="en-US" sz="1100" dirty="0" err="1">
                <a:solidFill>
                  <a:schemeClr val="bg1"/>
                </a:solidFill>
                <a:latin typeface="Aptos"/>
                <a:ea typeface="Segoe UI"/>
                <a:cs typeface="Segoe UI"/>
              </a:rPr>
              <a:t>Радвам</a:t>
            </a:r>
            <a:r>
              <a:rPr lang="en-US" sz="1100" dirty="0">
                <a:solidFill>
                  <a:schemeClr val="bg1"/>
                </a:solidFill>
                <a:latin typeface="Aptos"/>
                <a:ea typeface="Segoe UI"/>
                <a:cs typeface="Segoe UI"/>
              </a:rPr>
              <a:t> </a:t>
            </a:r>
            <a:r>
              <a:rPr lang="en-US" sz="1100" dirty="0" err="1">
                <a:solidFill>
                  <a:schemeClr val="bg1"/>
                </a:solidFill>
                <a:latin typeface="Aptos"/>
                <a:ea typeface="Segoe UI"/>
                <a:cs typeface="Segoe UI"/>
              </a:rPr>
              <a:t>се</a:t>
            </a:r>
            <a:r>
              <a:rPr lang="en-US" sz="1100" dirty="0">
                <a:solidFill>
                  <a:schemeClr val="bg1"/>
                </a:solidFill>
                <a:latin typeface="Aptos"/>
                <a:ea typeface="Segoe UI"/>
                <a:cs typeface="Segoe UI"/>
              </a:rPr>
              <a:t>, </a:t>
            </a:r>
            <a:r>
              <a:rPr lang="en-US" sz="1100" dirty="0" err="1">
                <a:solidFill>
                  <a:schemeClr val="bg1"/>
                </a:solidFill>
                <a:latin typeface="Aptos"/>
                <a:ea typeface="Segoe UI"/>
                <a:cs typeface="Segoe UI"/>
              </a:rPr>
              <a:t>че</a:t>
            </a:r>
            <a:r>
              <a:rPr lang="en-US" sz="1100" dirty="0">
                <a:solidFill>
                  <a:schemeClr val="bg1"/>
                </a:solidFill>
                <a:latin typeface="Aptos"/>
                <a:ea typeface="Segoe UI"/>
                <a:cs typeface="Segoe UI"/>
              </a:rPr>
              <a:t> </a:t>
            </a:r>
            <a:r>
              <a:rPr lang="en-US" sz="1100" dirty="0" err="1">
                <a:solidFill>
                  <a:schemeClr val="bg1"/>
                </a:solidFill>
                <a:latin typeface="Aptos"/>
                <a:ea typeface="Segoe UI"/>
                <a:cs typeface="Segoe UI"/>
              </a:rPr>
              <a:t>избра</a:t>
            </a:r>
            <a:r>
              <a:rPr lang="en-US" sz="1100" dirty="0">
                <a:solidFill>
                  <a:schemeClr val="bg1"/>
                </a:solidFill>
                <a:latin typeface="Aptos"/>
                <a:ea typeface="Segoe UI"/>
                <a:cs typeface="Segoe UI"/>
              </a:rPr>
              <a:t> </a:t>
            </a:r>
            <a:r>
              <a:rPr lang="en-US" sz="1100" dirty="0" err="1">
                <a:solidFill>
                  <a:schemeClr val="bg1"/>
                </a:solidFill>
                <a:latin typeface="Aptos"/>
                <a:ea typeface="Segoe UI"/>
                <a:cs typeface="Segoe UI"/>
              </a:rPr>
              <a:t>нас</a:t>
            </a:r>
            <a:r>
              <a:rPr lang="en-US" sz="1100" dirty="0">
                <a:solidFill>
                  <a:schemeClr val="bg1"/>
                </a:solidFill>
                <a:latin typeface="Aptos"/>
                <a:ea typeface="Segoe UI"/>
                <a:cs typeface="Segoe UI"/>
              </a:rPr>
              <a:t>. </a:t>
            </a:r>
            <a:r>
              <a:rPr lang="en-US" sz="1100" dirty="0" err="1">
                <a:solidFill>
                  <a:schemeClr val="bg1"/>
                </a:solidFill>
                <a:latin typeface="Aptos"/>
                <a:ea typeface="Segoe UI"/>
                <a:cs typeface="Segoe UI"/>
              </a:rPr>
              <a:t>Какво</a:t>
            </a:r>
            <a:r>
              <a:rPr lang="en-US" sz="1100" dirty="0">
                <a:solidFill>
                  <a:schemeClr val="bg1"/>
                </a:solidFill>
                <a:latin typeface="Aptos"/>
                <a:ea typeface="Segoe UI"/>
                <a:cs typeface="Segoe UI"/>
              </a:rPr>
              <a:t> </a:t>
            </a:r>
            <a:r>
              <a:rPr lang="en-US" sz="1100" dirty="0" err="1">
                <a:solidFill>
                  <a:schemeClr val="bg1"/>
                </a:solidFill>
                <a:latin typeface="Aptos"/>
                <a:ea typeface="Segoe UI"/>
                <a:cs typeface="Segoe UI"/>
              </a:rPr>
              <a:t>знаеш</a:t>
            </a:r>
            <a:r>
              <a:rPr lang="en-US" sz="1100" dirty="0">
                <a:solidFill>
                  <a:schemeClr val="bg1"/>
                </a:solidFill>
                <a:latin typeface="Aptos"/>
                <a:ea typeface="Segoe UI"/>
                <a:cs typeface="Segoe UI"/>
              </a:rPr>
              <a:t> </a:t>
            </a:r>
            <a:r>
              <a:rPr lang="en-US" sz="1100" dirty="0" err="1">
                <a:solidFill>
                  <a:schemeClr val="bg1"/>
                </a:solidFill>
                <a:latin typeface="Aptos"/>
                <a:ea typeface="Segoe UI"/>
                <a:cs typeface="Segoe UI"/>
              </a:rPr>
              <a:t>за</a:t>
            </a:r>
            <a:r>
              <a:rPr lang="en-US" sz="1100" dirty="0">
                <a:solidFill>
                  <a:schemeClr val="bg1"/>
                </a:solidFill>
                <a:latin typeface="Aptos"/>
                <a:ea typeface="Segoe UI"/>
                <a:cs typeface="Segoe UI"/>
              </a:rPr>
              <a:t> </a:t>
            </a:r>
            <a:r>
              <a:rPr lang="en-US" sz="1100" dirty="0" err="1">
                <a:solidFill>
                  <a:schemeClr val="bg1"/>
                </a:solidFill>
                <a:latin typeface="Aptos"/>
                <a:ea typeface="Segoe UI"/>
                <a:cs typeface="Segoe UI"/>
              </a:rPr>
              <a:t>нас</a:t>
            </a:r>
            <a:r>
              <a:rPr lang="en-US" sz="1100" baseline="0" dirty="0">
                <a:solidFill>
                  <a:schemeClr val="bg1"/>
                </a:solidFill>
                <a:latin typeface="Aptos"/>
                <a:ea typeface="Segoe UI"/>
                <a:cs typeface="Segoe UI"/>
              </a:rPr>
              <a:t>?“ </a:t>
            </a:r>
            <a:endParaRPr lang="en-US" sz="1100" dirty="0">
              <a:solidFill>
                <a:schemeClr val="bg1"/>
              </a:solidFill>
              <a:latin typeface="Aptos"/>
              <a:ea typeface="Segoe UI"/>
              <a:cs typeface="Segoe UI"/>
            </a:endParaRPr>
          </a:p>
          <a:p>
            <a:r>
              <a:rPr lang="en-US" sz="1100">
                <a:solidFill>
                  <a:schemeClr val="bg1"/>
                </a:solidFill>
                <a:latin typeface="Aptos"/>
                <a:cs typeface="Segoe UI"/>
              </a:rPr>
              <a:t>К: ………………. </a:t>
            </a:r>
            <a:endParaRPr lang="en-US" sz="1100">
              <a:solidFill>
                <a:schemeClr val="bg1"/>
              </a:solidFill>
            </a:endParaRPr>
          </a:p>
        </p:txBody>
      </p:sp>
      <p:sp>
        <p:nvSpPr>
          <p:cNvPr id="7" name="Rectangle: Rounded Corners 6">
            <a:extLst>
              <a:ext uri="{FF2B5EF4-FFF2-40B4-BE49-F238E27FC236}">
                <a16:creationId xmlns:a16="http://schemas.microsoft.com/office/drawing/2014/main" id="{6EBDC9C3-ED37-D7E9-20F4-BE11CC8E63EB}"/>
              </a:ext>
            </a:extLst>
          </p:cNvPr>
          <p:cNvSpPr/>
          <p:nvPr/>
        </p:nvSpPr>
        <p:spPr>
          <a:xfrm>
            <a:off x="5460098" y="3313409"/>
            <a:ext cx="6569682" cy="2520198"/>
          </a:xfrm>
          <a:prstGeom prst="roundRect">
            <a:avLst/>
          </a:prstGeom>
          <a:solidFill>
            <a:schemeClr val="accent1"/>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200" b="1" dirty="0" err="1">
                <a:solidFill>
                  <a:schemeClr val="bg1"/>
                </a:solidFill>
              </a:rPr>
              <a:t>Представяне</a:t>
            </a:r>
            <a:r>
              <a:rPr lang="en-US" sz="1200" b="1" dirty="0">
                <a:solidFill>
                  <a:schemeClr val="bg1"/>
                </a:solidFill>
              </a:rPr>
              <a:t> </a:t>
            </a:r>
            <a:r>
              <a:rPr lang="en-US" sz="1200" b="1" dirty="0" err="1">
                <a:solidFill>
                  <a:schemeClr val="bg1"/>
                </a:solidFill>
              </a:rPr>
              <a:t>на</a:t>
            </a:r>
            <a:r>
              <a:rPr lang="en-US" sz="1200" b="1" dirty="0">
                <a:solidFill>
                  <a:schemeClr val="bg1"/>
                </a:solidFill>
              </a:rPr>
              <a:t> </a:t>
            </a:r>
            <a:r>
              <a:rPr lang="en-US" sz="1200" b="1" dirty="0" err="1">
                <a:solidFill>
                  <a:schemeClr val="bg1"/>
                </a:solidFill>
              </a:rPr>
              <a:t>компанията</a:t>
            </a:r>
            <a:r>
              <a:rPr lang="en-US" sz="1200" b="1" dirty="0">
                <a:solidFill>
                  <a:schemeClr val="bg1"/>
                </a:solidFill>
              </a:rPr>
              <a:t> и </a:t>
            </a:r>
            <a:r>
              <a:rPr lang="en-US" sz="1200" b="1" dirty="0" err="1">
                <a:solidFill>
                  <a:schemeClr val="bg1"/>
                </a:solidFill>
              </a:rPr>
              <a:t>продукта</a:t>
            </a:r>
            <a:br>
              <a:rPr lang="en-US" sz="1200" b="1" dirty="0">
                <a:solidFill>
                  <a:schemeClr val="bg1"/>
                </a:solidFill>
              </a:rPr>
            </a:br>
            <a:r>
              <a:rPr lang="en-US" sz="1200" b="1" dirty="0">
                <a:solidFill>
                  <a:schemeClr val="bg1"/>
                </a:solidFill>
              </a:rPr>
              <a:t> КК: „</a:t>
            </a:r>
            <a:r>
              <a:rPr lang="en-US" sz="1200" b="1" dirty="0" err="1">
                <a:solidFill>
                  <a:schemeClr val="bg1"/>
                </a:solidFill>
              </a:rPr>
              <a:t>Изи</a:t>
            </a:r>
            <a:r>
              <a:rPr lang="en-US" sz="1200" b="1" dirty="0">
                <a:solidFill>
                  <a:schemeClr val="bg1"/>
                </a:solidFill>
              </a:rPr>
              <a:t> </a:t>
            </a:r>
            <a:r>
              <a:rPr lang="en-US" sz="1200" b="1" dirty="0" err="1">
                <a:solidFill>
                  <a:schemeClr val="bg1"/>
                </a:solidFill>
              </a:rPr>
              <a:t>Кредит</a:t>
            </a:r>
            <a:r>
              <a:rPr lang="en-US" sz="1200" b="1" dirty="0">
                <a:solidFill>
                  <a:schemeClr val="bg1"/>
                </a:solidFill>
              </a:rPr>
              <a:t> е </a:t>
            </a:r>
            <a:r>
              <a:rPr lang="en-US" sz="1200" b="1" dirty="0" err="1">
                <a:solidFill>
                  <a:schemeClr val="bg1"/>
                </a:solidFill>
              </a:rPr>
              <a:t>небанкова</a:t>
            </a:r>
            <a:r>
              <a:rPr lang="en-US" sz="1200" b="1" dirty="0">
                <a:solidFill>
                  <a:schemeClr val="bg1"/>
                </a:solidFill>
              </a:rPr>
              <a:t> </a:t>
            </a:r>
            <a:r>
              <a:rPr lang="en-US" sz="1200" b="1" dirty="0" err="1">
                <a:solidFill>
                  <a:schemeClr val="bg1"/>
                </a:solidFill>
              </a:rPr>
              <a:t>финансова</a:t>
            </a:r>
            <a:r>
              <a:rPr lang="en-US" sz="1200" b="1" dirty="0">
                <a:solidFill>
                  <a:schemeClr val="bg1"/>
                </a:solidFill>
              </a:rPr>
              <a:t> </a:t>
            </a:r>
            <a:r>
              <a:rPr lang="en-US" sz="1200" b="1" dirty="0" err="1">
                <a:solidFill>
                  <a:schemeClr val="bg1"/>
                </a:solidFill>
              </a:rPr>
              <a:t>институция</a:t>
            </a:r>
            <a:r>
              <a:rPr lang="en-US" sz="1200" b="1" dirty="0">
                <a:solidFill>
                  <a:schemeClr val="bg1"/>
                </a:solidFill>
              </a:rPr>
              <a:t>. </a:t>
            </a:r>
            <a:r>
              <a:rPr lang="en-US" sz="1200" b="1" dirty="0" err="1">
                <a:solidFill>
                  <a:schemeClr val="bg1"/>
                </a:solidFill>
              </a:rPr>
              <a:t>За</a:t>
            </a:r>
            <a:r>
              <a:rPr lang="en-US" sz="1200" b="1" dirty="0">
                <a:solidFill>
                  <a:schemeClr val="bg1"/>
                </a:solidFill>
              </a:rPr>
              <a:t> </a:t>
            </a:r>
            <a:r>
              <a:rPr lang="en-US" sz="1200" b="1" dirty="0" err="1">
                <a:solidFill>
                  <a:schemeClr val="bg1"/>
                </a:solidFill>
              </a:rPr>
              <a:t>кратко</a:t>
            </a:r>
            <a:r>
              <a:rPr lang="en-US" sz="1200" b="1" dirty="0">
                <a:solidFill>
                  <a:schemeClr val="bg1"/>
                </a:solidFill>
              </a:rPr>
              <a:t> </a:t>
            </a:r>
            <a:r>
              <a:rPr lang="en-US" sz="1200" b="1" dirty="0" err="1">
                <a:solidFill>
                  <a:schemeClr val="bg1"/>
                </a:solidFill>
              </a:rPr>
              <a:t>време</a:t>
            </a:r>
            <a:r>
              <a:rPr lang="en-US" sz="1200" b="1" dirty="0">
                <a:solidFill>
                  <a:schemeClr val="bg1"/>
                </a:solidFill>
              </a:rPr>
              <a:t> </a:t>
            </a:r>
            <a:r>
              <a:rPr lang="en-US" sz="1200" b="1" dirty="0" err="1">
                <a:solidFill>
                  <a:schemeClr val="bg1"/>
                </a:solidFill>
              </a:rPr>
              <a:t>успяхме</a:t>
            </a:r>
            <a:r>
              <a:rPr lang="en-US" sz="1200" b="1" dirty="0">
                <a:solidFill>
                  <a:schemeClr val="bg1"/>
                </a:solidFill>
              </a:rPr>
              <a:t> </a:t>
            </a:r>
            <a:r>
              <a:rPr lang="en-US" sz="1200" b="1" dirty="0" err="1">
                <a:solidFill>
                  <a:schemeClr val="bg1"/>
                </a:solidFill>
              </a:rPr>
              <a:t>да</a:t>
            </a:r>
            <a:r>
              <a:rPr lang="en-US" sz="1200" b="1" dirty="0">
                <a:solidFill>
                  <a:schemeClr val="bg1"/>
                </a:solidFill>
              </a:rPr>
              <a:t> </a:t>
            </a:r>
            <a:r>
              <a:rPr lang="en-US" sz="1200" b="1" dirty="0" err="1">
                <a:solidFill>
                  <a:schemeClr val="bg1"/>
                </a:solidFill>
              </a:rPr>
              <a:t>се</a:t>
            </a:r>
            <a:r>
              <a:rPr lang="en-US" sz="1200" b="1" dirty="0">
                <a:solidFill>
                  <a:schemeClr val="bg1"/>
                </a:solidFill>
              </a:rPr>
              <a:t> </a:t>
            </a:r>
            <a:r>
              <a:rPr lang="en-US" sz="1200" b="1" dirty="0" err="1">
                <a:solidFill>
                  <a:schemeClr val="bg1"/>
                </a:solidFill>
              </a:rPr>
              <a:t>наложим</a:t>
            </a:r>
            <a:r>
              <a:rPr lang="en-US" sz="1200" b="1" dirty="0">
                <a:solidFill>
                  <a:schemeClr val="bg1"/>
                </a:solidFill>
              </a:rPr>
              <a:t> </a:t>
            </a:r>
            <a:r>
              <a:rPr lang="en-US" sz="1200" b="1" dirty="0" err="1">
                <a:solidFill>
                  <a:schemeClr val="bg1"/>
                </a:solidFill>
              </a:rPr>
              <a:t>като</a:t>
            </a:r>
            <a:r>
              <a:rPr lang="en-US" sz="1200" b="1" dirty="0">
                <a:solidFill>
                  <a:schemeClr val="bg1"/>
                </a:solidFill>
              </a:rPr>
              <a:t> </a:t>
            </a:r>
            <a:r>
              <a:rPr lang="en-US" sz="1200" b="1" dirty="0" err="1">
                <a:solidFill>
                  <a:schemeClr val="bg1"/>
                </a:solidFill>
              </a:rPr>
              <a:t>лидер</a:t>
            </a:r>
            <a:r>
              <a:rPr lang="en-US" sz="1200" b="1" dirty="0">
                <a:solidFill>
                  <a:schemeClr val="bg1"/>
                </a:solidFill>
              </a:rPr>
              <a:t> </a:t>
            </a:r>
            <a:r>
              <a:rPr lang="en-US" sz="1200" b="1" dirty="0" err="1">
                <a:solidFill>
                  <a:schemeClr val="bg1"/>
                </a:solidFill>
              </a:rPr>
              <a:t>на</a:t>
            </a:r>
            <a:r>
              <a:rPr lang="en-US" sz="1200" b="1" dirty="0">
                <a:solidFill>
                  <a:schemeClr val="bg1"/>
                </a:solidFill>
              </a:rPr>
              <a:t> </a:t>
            </a:r>
            <a:r>
              <a:rPr lang="en-US" sz="1200" b="1" dirty="0" err="1">
                <a:solidFill>
                  <a:schemeClr val="bg1"/>
                </a:solidFill>
              </a:rPr>
              <a:t>пазара</a:t>
            </a:r>
            <a:r>
              <a:rPr lang="en-US" sz="1200" b="1" dirty="0">
                <a:solidFill>
                  <a:schemeClr val="bg1"/>
                </a:solidFill>
              </a:rPr>
              <a:t> </a:t>
            </a:r>
            <a:r>
              <a:rPr lang="en-US" sz="1200" b="1" dirty="0" err="1">
                <a:solidFill>
                  <a:schemeClr val="bg1"/>
                </a:solidFill>
              </a:rPr>
              <a:t>за</a:t>
            </a:r>
            <a:r>
              <a:rPr lang="en-US" sz="1200" b="1" dirty="0">
                <a:solidFill>
                  <a:schemeClr val="bg1"/>
                </a:solidFill>
              </a:rPr>
              <a:t> </a:t>
            </a:r>
            <a:r>
              <a:rPr lang="en-US" sz="1200" b="1" dirty="0" err="1">
                <a:solidFill>
                  <a:schemeClr val="bg1"/>
                </a:solidFill>
              </a:rPr>
              <a:t>малки</a:t>
            </a:r>
            <a:r>
              <a:rPr lang="en-US" sz="1200" b="1" dirty="0">
                <a:solidFill>
                  <a:schemeClr val="bg1"/>
                </a:solidFill>
              </a:rPr>
              <a:t> </a:t>
            </a:r>
            <a:r>
              <a:rPr lang="en-US" sz="1200" b="1" dirty="0" err="1">
                <a:solidFill>
                  <a:schemeClr val="bg1"/>
                </a:solidFill>
              </a:rPr>
              <a:t>потребителски</a:t>
            </a:r>
            <a:r>
              <a:rPr lang="en-US" sz="1200" b="1" dirty="0">
                <a:solidFill>
                  <a:schemeClr val="bg1"/>
                </a:solidFill>
              </a:rPr>
              <a:t> </a:t>
            </a:r>
            <a:r>
              <a:rPr lang="en-US" sz="1200" b="1" dirty="0" err="1">
                <a:solidFill>
                  <a:schemeClr val="bg1"/>
                </a:solidFill>
              </a:rPr>
              <a:t>заеми</a:t>
            </a:r>
            <a:r>
              <a:rPr lang="en-US" sz="1200" b="1" dirty="0">
                <a:solidFill>
                  <a:schemeClr val="bg1"/>
                </a:solidFill>
              </a:rPr>
              <a:t>, </a:t>
            </a:r>
            <a:r>
              <a:rPr lang="en-US" sz="1200" b="1" dirty="0" err="1">
                <a:solidFill>
                  <a:schemeClr val="bg1"/>
                </a:solidFill>
              </a:rPr>
              <a:t>благодарение</a:t>
            </a:r>
            <a:r>
              <a:rPr lang="en-US" sz="1200" b="1" dirty="0">
                <a:solidFill>
                  <a:schemeClr val="bg1"/>
                </a:solidFill>
              </a:rPr>
              <a:t> </a:t>
            </a:r>
            <a:r>
              <a:rPr lang="en-US" sz="1200" b="1" dirty="0" err="1">
                <a:solidFill>
                  <a:schemeClr val="bg1"/>
                </a:solidFill>
              </a:rPr>
              <a:t>на</a:t>
            </a:r>
            <a:r>
              <a:rPr lang="en-US" sz="1200" b="1" dirty="0">
                <a:solidFill>
                  <a:schemeClr val="bg1"/>
                </a:solidFill>
              </a:rPr>
              <a:t> </a:t>
            </a:r>
            <a:r>
              <a:rPr lang="en-US" sz="1200" b="1" dirty="0" err="1">
                <a:solidFill>
                  <a:schemeClr val="bg1"/>
                </a:solidFill>
              </a:rPr>
              <a:t>отношението</a:t>
            </a:r>
            <a:r>
              <a:rPr lang="en-US" sz="1200" b="1" dirty="0">
                <a:solidFill>
                  <a:schemeClr val="bg1"/>
                </a:solidFill>
              </a:rPr>
              <a:t> </a:t>
            </a:r>
            <a:r>
              <a:rPr lang="en-US" sz="1200" b="1" dirty="0" err="1">
                <a:solidFill>
                  <a:schemeClr val="bg1"/>
                </a:solidFill>
              </a:rPr>
              <a:t>ни</a:t>
            </a:r>
            <a:r>
              <a:rPr lang="en-US" sz="1200" b="1" dirty="0">
                <a:solidFill>
                  <a:schemeClr val="bg1"/>
                </a:solidFill>
              </a:rPr>
              <a:t> </a:t>
            </a:r>
            <a:r>
              <a:rPr lang="en-US" sz="1200" b="1" dirty="0" err="1">
                <a:solidFill>
                  <a:schemeClr val="bg1"/>
                </a:solidFill>
              </a:rPr>
              <a:t>към</a:t>
            </a:r>
            <a:r>
              <a:rPr lang="en-US" sz="1200" b="1" dirty="0">
                <a:solidFill>
                  <a:schemeClr val="bg1"/>
                </a:solidFill>
              </a:rPr>
              <a:t> </a:t>
            </a:r>
            <a:r>
              <a:rPr lang="en-US" sz="1200" b="1" dirty="0" err="1">
                <a:solidFill>
                  <a:schemeClr val="bg1"/>
                </a:solidFill>
              </a:rPr>
              <a:t>клиентите</a:t>
            </a:r>
            <a:r>
              <a:rPr lang="en-US" sz="1200" b="1" dirty="0">
                <a:solidFill>
                  <a:schemeClr val="bg1"/>
                </a:solidFill>
              </a:rPr>
              <a:t>. </a:t>
            </a:r>
            <a:r>
              <a:rPr lang="en-US" sz="1200" b="1" dirty="0" err="1">
                <a:solidFill>
                  <a:schemeClr val="bg1"/>
                </a:solidFill>
              </a:rPr>
              <a:t>Нашите</a:t>
            </a:r>
            <a:r>
              <a:rPr lang="en-US" sz="1200" b="1" dirty="0">
                <a:solidFill>
                  <a:schemeClr val="bg1"/>
                </a:solidFill>
              </a:rPr>
              <a:t> </a:t>
            </a:r>
            <a:r>
              <a:rPr lang="en-US" sz="1200" b="1" dirty="0" err="1">
                <a:solidFill>
                  <a:schemeClr val="bg1"/>
                </a:solidFill>
              </a:rPr>
              <a:t>кредити</a:t>
            </a:r>
            <a:r>
              <a:rPr lang="en-US" sz="1200" b="1" dirty="0">
                <a:solidFill>
                  <a:schemeClr val="bg1"/>
                </a:solidFill>
              </a:rPr>
              <a:t> </a:t>
            </a:r>
            <a:r>
              <a:rPr lang="en-US" sz="1200" b="1" dirty="0" err="1">
                <a:solidFill>
                  <a:schemeClr val="bg1"/>
                </a:solidFill>
              </a:rPr>
              <a:t>са</a:t>
            </a:r>
            <a:r>
              <a:rPr lang="en-US" sz="1200" b="1" dirty="0">
                <a:solidFill>
                  <a:schemeClr val="bg1"/>
                </a:solidFill>
              </a:rPr>
              <a:t> </a:t>
            </a:r>
            <a:r>
              <a:rPr lang="en-US" sz="1200" b="1" dirty="0" err="1">
                <a:solidFill>
                  <a:schemeClr val="bg1"/>
                </a:solidFill>
              </a:rPr>
              <a:t>лесно</a:t>
            </a:r>
            <a:r>
              <a:rPr lang="en-US" sz="1200" b="1" dirty="0">
                <a:solidFill>
                  <a:schemeClr val="bg1"/>
                </a:solidFill>
              </a:rPr>
              <a:t> </a:t>
            </a:r>
            <a:r>
              <a:rPr lang="en-US" sz="1200" b="1" dirty="0" err="1">
                <a:solidFill>
                  <a:schemeClr val="bg1"/>
                </a:solidFill>
              </a:rPr>
              <a:t>достъпни</a:t>
            </a:r>
            <a:r>
              <a:rPr lang="en-US" sz="1200" b="1" dirty="0">
                <a:solidFill>
                  <a:schemeClr val="bg1"/>
                </a:solidFill>
              </a:rPr>
              <a:t>, а </a:t>
            </a:r>
            <a:r>
              <a:rPr lang="en-US" sz="1200" b="1" dirty="0" err="1">
                <a:solidFill>
                  <a:schemeClr val="bg1"/>
                </a:solidFill>
              </a:rPr>
              <a:t>обслужването</a:t>
            </a:r>
            <a:r>
              <a:rPr lang="en-US" sz="1200" b="1" dirty="0">
                <a:solidFill>
                  <a:schemeClr val="bg1"/>
                </a:solidFill>
              </a:rPr>
              <a:t> </a:t>
            </a:r>
            <a:r>
              <a:rPr lang="en-US" sz="1200" b="1" dirty="0" err="1">
                <a:solidFill>
                  <a:schemeClr val="bg1"/>
                </a:solidFill>
              </a:rPr>
              <a:t>ни</a:t>
            </a:r>
            <a:r>
              <a:rPr lang="en-US" sz="1200" b="1" dirty="0">
                <a:solidFill>
                  <a:schemeClr val="bg1"/>
                </a:solidFill>
              </a:rPr>
              <a:t> е </a:t>
            </a:r>
            <a:r>
              <a:rPr lang="en-US" sz="1200" b="1" dirty="0" err="1">
                <a:solidFill>
                  <a:schemeClr val="bg1"/>
                </a:solidFill>
              </a:rPr>
              <a:t>най-бързо</a:t>
            </a:r>
            <a:r>
              <a:rPr lang="en-US" sz="1200" b="1" dirty="0">
                <a:solidFill>
                  <a:schemeClr val="bg1"/>
                </a:solidFill>
              </a:rPr>
              <a:t> и </a:t>
            </a:r>
            <a:r>
              <a:rPr lang="en-US" sz="1200" b="1" dirty="0" err="1">
                <a:solidFill>
                  <a:schemeClr val="bg1"/>
                </a:solidFill>
              </a:rPr>
              <a:t>удобно</a:t>
            </a:r>
            <a:r>
              <a:rPr lang="en-US" sz="1200" b="1" dirty="0">
                <a:solidFill>
                  <a:schemeClr val="bg1"/>
                </a:solidFill>
              </a:rPr>
              <a:t> в </a:t>
            </a:r>
            <a:r>
              <a:rPr lang="en-US" sz="1200" b="1" dirty="0" err="1">
                <a:solidFill>
                  <a:schemeClr val="bg1"/>
                </a:solidFill>
              </a:rPr>
              <a:t>бранша</a:t>
            </a:r>
            <a:r>
              <a:rPr lang="en-US" sz="1200" b="1" dirty="0">
                <a:solidFill>
                  <a:schemeClr val="bg1"/>
                </a:solidFill>
              </a:rPr>
              <a:t>. </a:t>
            </a:r>
            <a:r>
              <a:rPr lang="en-US" sz="1200" b="1" dirty="0" err="1">
                <a:solidFill>
                  <a:schemeClr val="bg1"/>
                </a:solidFill>
              </a:rPr>
              <a:t>Вариантите</a:t>
            </a:r>
            <a:r>
              <a:rPr lang="en-US" sz="1200" b="1" dirty="0">
                <a:solidFill>
                  <a:schemeClr val="bg1"/>
                </a:solidFill>
              </a:rPr>
              <a:t> </a:t>
            </a:r>
            <a:r>
              <a:rPr lang="en-US" sz="1200" b="1" dirty="0" err="1">
                <a:solidFill>
                  <a:schemeClr val="bg1"/>
                </a:solidFill>
              </a:rPr>
              <a:t>за</a:t>
            </a:r>
            <a:r>
              <a:rPr lang="en-US" sz="1200" b="1" dirty="0">
                <a:solidFill>
                  <a:schemeClr val="bg1"/>
                </a:solidFill>
              </a:rPr>
              <a:t> </a:t>
            </a:r>
            <a:r>
              <a:rPr lang="en-US" sz="1200" b="1" dirty="0" err="1">
                <a:solidFill>
                  <a:schemeClr val="bg1"/>
                </a:solidFill>
              </a:rPr>
              <a:t>изплащане</a:t>
            </a:r>
            <a:r>
              <a:rPr lang="en-US" sz="1200" b="1" dirty="0">
                <a:solidFill>
                  <a:schemeClr val="bg1"/>
                </a:solidFill>
              </a:rPr>
              <a:t> </a:t>
            </a:r>
            <a:r>
              <a:rPr lang="en-US" sz="1200" b="1" dirty="0" err="1">
                <a:solidFill>
                  <a:schemeClr val="bg1"/>
                </a:solidFill>
              </a:rPr>
              <a:t>на</a:t>
            </a:r>
            <a:r>
              <a:rPr lang="en-US" sz="1200" b="1" dirty="0">
                <a:solidFill>
                  <a:schemeClr val="bg1"/>
                </a:solidFill>
              </a:rPr>
              <a:t> </a:t>
            </a:r>
            <a:r>
              <a:rPr lang="en-US" sz="1200" b="1" dirty="0" err="1">
                <a:solidFill>
                  <a:schemeClr val="bg1"/>
                </a:solidFill>
              </a:rPr>
              <a:t>кредита</a:t>
            </a:r>
            <a:r>
              <a:rPr lang="en-US" sz="1200" b="1" dirty="0">
                <a:solidFill>
                  <a:schemeClr val="bg1"/>
                </a:solidFill>
              </a:rPr>
              <a:t> </a:t>
            </a:r>
            <a:r>
              <a:rPr lang="en-US" sz="1200" b="1" dirty="0" err="1">
                <a:solidFill>
                  <a:schemeClr val="bg1"/>
                </a:solidFill>
              </a:rPr>
              <a:t>са</a:t>
            </a:r>
            <a:r>
              <a:rPr lang="en-US" sz="1200" b="1" dirty="0">
                <a:solidFill>
                  <a:schemeClr val="bg1"/>
                </a:solidFill>
              </a:rPr>
              <a:t> </a:t>
            </a:r>
            <a:r>
              <a:rPr lang="en-US" sz="1200" b="1" dirty="0" err="1">
                <a:solidFill>
                  <a:schemeClr val="bg1"/>
                </a:solidFill>
              </a:rPr>
              <a:t>седмично</a:t>
            </a:r>
            <a:r>
              <a:rPr lang="en-US" sz="1200" b="1" dirty="0">
                <a:solidFill>
                  <a:schemeClr val="bg1"/>
                </a:solidFill>
              </a:rPr>
              <a:t>, </a:t>
            </a:r>
            <a:r>
              <a:rPr lang="en-US" sz="1200" b="1" dirty="0" err="1">
                <a:solidFill>
                  <a:schemeClr val="bg1"/>
                </a:solidFill>
              </a:rPr>
              <a:t>двуседмично</a:t>
            </a:r>
            <a:r>
              <a:rPr lang="en-US" sz="1200" b="1" dirty="0">
                <a:solidFill>
                  <a:schemeClr val="bg1"/>
                </a:solidFill>
              </a:rPr>
              <a:t> </a:t>
            </a:r>
            <a:r>
              <a:rPr lang="en-US" sz="1200" b="1" dirty="0" err="1">
                <a:solidFill>
                  <a:schemeClr val="bg1"/>
                </a:solidFill>
              </a:rPr>
              <a:t>или</a:t>
            </a:r>
            <a:r>
              <a:rPr lang="en-US" sz="1200" b="1" dirty="0">
                <a:solidFill>
                  <a:schemeClr val="bg1"/>
                </a:solidFill>
              </a:rPr>
              <a:t> </a:t>
            </a:r>
            <a:r>
              <a:rPr lang="en-US" sz="1200" b="1" dirty="0" err="1">
                <a:solidFill>
                  <a:schemeClr val="bg1"/>
                </a:solidFill>
              </a:rPr>
              <a:t>месечно</a:t>
            </a:r>
            <a:r>
              <a:rPr lang="en-US" sz="1200" b="1" dirty="0">
                <a:solidFill>
                  <a:schemeClr val="bg1"/>
                </a:solidFill>
              </a:rPr>
              <a:t> </a:t>
            </a:r>
            <a:r>
              <a:rPr lang="en-US" sz="1200" b="1" dirty="0" err="1">
                <a:solidFill>
                  <a:schemeClr val="bg1"/>
                </a:solidFill>
              </a:rPr>
              <a:t>погасяване</a:t>
            </a:r>
            <a:r>
              <a:rPr lang="en-US" sz="1200" b="1" dirty="0">
                <a:solidFill>
                  <a:schemeClr val="bg1"/>
                </a:solidFill>
              </a:rPr>
              <a:t>, в </a:t>
            </a:r>
            <a:r>
              <a:rPr lang="en-US" sz="1200" b="1" dirty="0" err="1">
                <a:solidFill>
                  <a:schemeClr val="bg1"/>
                </a:solidFill>
              </a:rPr>
              <a:t>зависимост</a:t>
            </a:r>
            <a:r>
              <a:rPr lang="en-US" sz="1200" b="1" dirty="0">
                <a:solidFill>
                  <a:schemeClr val="bg1"/>
                </a:solidFill>
              </a:rPr>
              <a:t> </a:t>
            </a:r>
            <a:r>
              <a:rPr lang="en-US" sz="1200" b="1" dirty="0" err="1">
                <a:solidFill>
                  <a:schemeClr val="bg1"/>
                </a:solidFill>
              </a:rPr>
              <a:t>от</a:t>
            </a:r>
            <a:r>
              <a:rPr lang="en-US" sz="1200" b="1" dirty="0">
                <a:solidFill>
                  <a:schemeClr val="bg1"/>
                </a:solidFill>
              </a:rPr>
              <a:t> </a:t>
            </a:r>
            <a:r>
              <a:rPr lang="en-US" sz="1200" b="1" dirty="0" err="1">
                <a:solidFill>
                  <a:schemeClr val="bg1"/>
                </a:solidFill>
              </a:rPr>
              <a:t>възможностите</a:t>
            </a:r>
            <a:r>
              <a:rPr lang="en-US" sz="1200" b="1" dirty="0">
                <a:solidFill>
                  <a:schemeClr val="bg1"/>
                </a:solidFill>
              </a:rPr>
              <a:t> </a:t>
            </a:r>
            <a:r>
              <a:rPr lang="en-US" sz="1200" b="1" dirty="0" err="1">
                <a:solidFill>
                  <a:schemeClr val="bg1"/>
                </a:solidFill>
              </a:rPr>
              <a:t>на</a:t>
            </a:r>
            <a:r>
              <a:rPr lang="en-US" sz="1200" b="1" dirty="0">
                <a:solidFill>
                  <a:schemeClr val="bg1"/>
                </a:solidFill>
              </a:rPr>
              <a:t> </a:t>
            </a:r>
            <a:r>
              <a:rPr lang="en-US" sz="1200" b="1" dirty="0" err="1">
                <a:solidFill>
                  <a:schemeClr val="bg1"/>
                </a:solidFill>
              </a:rPr>
              <a:t>клиента</a:t>
            </a:r>
            <a:r>
              <a:rPr lang="en-US" sz="1200" b="1" dirty="0">
                <a:solidFill>
                  <a:schemeClr val="bg1"/>
                </a:solidFill>
              </a:rPr>
              <a:t>.“ </a:t>
            </a:r>
            <a:endParaRPr lang="en-US" sz="1200" dirty="0">
              <a:solidFill>
                <a:schemeClr val="bg1"/>
              </a:solidFill>
            </a:endParaRPr>
          </a:p>
          <a:p>
            <a:r>
              <a:rPr lang="en-US" sz="1200" dirty="0">
                <a:solidFill>
                  <a:schemeClr val="bg1"/>
                </a:solidFill>
              </a:rPr>
              <a:t>КК: „</a:t>
            </a:r>
            <a:r>
              <a:rPr lang="en-US" sz="1200" dirty="0" err="1">
                <a:solidFill>
                  <a:schemeClr val="bg1"/>
                </a:solidFill>
              </a:rPr>
              <a:t>Нека</a:t>
            </a:r>
            <a:r>
              <a:rPr lang="en-US" sz="1200" dirty="0">
                <a:solidFill>
                  <a:schemeClr val="bg1"/>
                </a:solidFill>
              </a:rPr>
              <a:t> </a:t>
            </a:r>
            <a:r>
              <a:rPr lang="en-US" sz="1200" dirty="0" err="1">
                <a:solidFill>
                  <a:schemeClr val="bg1"/>
                </a:solidFill>
              </a:rPr>
              <a:t>сега</a:t>
            </a:r>
            <a:r>
              <a:rPr lang="en-US" sz="1200" dirty="0">
                <a:solidFill>
                  <a:schemeClr val="bg1"/>
                </a:solidFill>
              </a:rPr>
              <a:t> </a:t>
            </a:r>
            <a:r>
              <a:rPr lang="en-US" sz="1200" dirty="0" err="1">
                <a:solidFill>
                  <a:schemeClr val="bg1"/>
                </a:solidFill>
              </a:rPr>
              <a:t>обсъдим</a:t>
            </a:r>
            <a:r>
              <a:rPr lang="en-US" sz="1200" dirty="0">
                <a:solidFill>
                  <a:schemeClr val="bg1"/>
                </a:solidFill>
              </a:rPr>
              <a:t> </a:t>
            </a:r>
            <a:r>
              <a:rPr lang="en-US" sz="1200" dirty="0" err="1">
                <a:solidFill>
                  <a:schemeClr val="bg1"/>
                </a:solidFill>
              </a:rPr>
              <a:t>твоето</a:t>
            </a:r>
            <a:r>
              <a:rPr lang="en-US" sz="1200" dirty="0">
                <a:solidFill>
                  <a:schemeClr val="bg1"/>
                </a:solidFill>
              </a:rPr>
              <a:t> </a:t>
            </a:r>
            <a:r>
              <a:rPr lang="en-US" sz="1200" dirty="0" err="1">
                <a:solidFill>
                  <a:schemeClr val="bg1"/>
                </a:solidFill>
              </a:rPr>
              <a:t>желание</a:t>
            </a:r>
            <a:r>
              <a:rPr lang="en-US" sz="1200" dirty="0">
                <a:solidFill>
                  <a:schemeClr val="bg1"/>
                </a:solidFill>
              </a:rPr>
              <a:t>, </a:t>
            </a:r>
            <a:r>
              <a:rPr lang="en-US" sz="1200" dirty="0" err="1">
                <a:solidFill>
                  <a:schemeClr val="bg1"/>
                </a:solidFill>
              </a:rPr>
              <a:t>ще</a:t>
            </a:r>
            <a:r>
              <a:rPr lang="en-US" sz="1200" dirty="0">
                <a:solidFill>
                  <a:schemeClr val="bg1"/>
                </a:solidFill>
              </a:rPr>
              <a:t> </a:t>
            </a:r>
            <a:r>
              <a:rPr lang="en-US" sz="1200" dirty="0" err="1">
                <a:solidFill>
                  <a:schemeClr val="bg1"/>
                </a:solidFill>
              </a:rPr>
              <a:t>попълним</a:t>
            </a:r>
            <a:r>
              <a:rPr lang="en-US" sz="1200" dirty="0">
                <a:solidFill>
                  <a:schemeClr val="bg1"/>
                </a:solidFill>
              </a:rPr>
              <a:t> </a:t>
            </a:r>
            <a:r>
              <a:rPr lang="en-US" sz="1200" dirty="0" err="1">
                <a:solidFill>
                  <a:schemeClr val="bg1"/>
                </a:solidFill>
              </a:rPr>
              <a:t>нужните</a:t>
            </a:r>
            <a:r>
              <a:rPr lang="en-US" sz="1200" dirty="0">
                <a:solidFill>
                  <a:schemeClr val="bg1"/>
                </a:solidFill>
              </a:rPr>
              <a:t> </a:t>
            </a:r>
            <a:r>
              <a:rPr lang="en-US" sz="1200" dirty="0" err="1">
                <a:solidFill>
                  <a:schemeClr val="bg1"/>
                </a:solidFill>
              </a:rPr>
              <a:t>документи</a:t>
            </a:r>
            <a:r>
              <a:rPr lang="en-US" sz="1200" dirty="0">
                <a:solidFill>
                  <a:schemeClr val="bg1"/>
                </a:solidFill>
              </a:rPr>
              <a:t> и </a:t>
            </a:r>
            <a:r>
              <a:rPr lang="en-US" sz="1200" dirty="0" err="1">
                <a:solidFill>
                  <a:schemeClr val="bg1"/>
                </a:solidFill>
              </a:rPr>
              <a:t>до</a:t>
            </a:r>
            <a:r>
              <a:rPr lang="en-US" sz="1200" dirty="0">
                <a:solidFill>
                  <a:schemeClr val="bg1"/>
                </a:solidFill>
              </a:rPr>
              <a:t> </a:t>
            </a:r>
            <a:r>
              <a:rPr lang="en-US" sz="1200" dirty="0" err="1">
                <a:solidFill>
                  <a:schemeClr val="bg1"/>
                </a:solidFill>
              </a:rPr>
              <a:t>края</a:t>
            </a:r>
            <a:r>
              <a:rPr lang="en-US" sz="1200" dirty="0">
                <a:solidFill>
                  <a:schemeClr val="bg1"/>
                </a:solidFill>
              </a:rPr>
              <a:t> </a:t>
            </a:r>
            <a:r>
              <a:rPr lang="en-US" sz="1200" dirty="0" err="1">
                <a:solidFill>
                  <a:schemeClr val="bg1"/>
                </a:solidFill>
              </a:rPr>
              <a:t>на</a:t>
            </a:r>
            <a:r>
              <a:rPr lang="en-US" sz="1200" dirty="0">
                <a:solidFill>
                  <a:schemeClr val="bg1"/>
                </a:solidFill>
              </a:rPr>
              <a:t> </a:t>
            </a:r>
            <a:r>
              <a:rPr lang="en-US" sz="1200" dirty="0" err="1">
                <a:solidFill>
                  <a:schemeClr val="bg1"/>
                </a:solidFill>
              </a:rPr>
              <a:t>работния</a:t>
            </a:r>
            <a:r>
              <a:rPr lang="en-US" sz="1200" dirty="0">
                <a:solidFill>
                  <a:schemeClr val="bg1"/>
                </a:solidFill>
              </a:rPr>
              <a:t> </a:t>
            </a:r>
            <a:r>
              <a:rPr lang="en-US" sz="1200" dirty="0" err="1">
                <a:solidFill>
                  <a:schemeClr val="bg1"/>
                </a:solidFill>
              </a:rPr>
              <a:t>ден</a:t>
            </a:r>
            <a:r>
              <a:rPr lang="en-US" sz="1200" dirty="0">
                <a:solidFill>
                  <a:schemeClr val="bg1"/>
                </a:solidFill>
              </a:rPr>
              <a:t> </a:t>
            </a:r>
            <a:r>
              <a:rPr lang="en-US" sz="1200" dirty="0" err="1">
                <a:solidFill>
                  <a:schemeClr val="bg1"/>
                </a:solidFill>
              </a:rPr>
              <a:t>ще</a:t>
            </a:r>
            <a:r>
              <a:rPr lang="en-US" sz="1200" dirty="0">
                <a:solidFill>
                  <a:schemeClr val="bg1"/>
                </a:solidFill>
              </a:rPr>
              <a:t> </a:t>
            </a:r>
            <a:r>
              <a:rPr lang="en-US" sz="1200" dirty="0" err="1">
                <a:solidFill>
                  <a:schemeClr val="bg1"/>
                </a:solidFill>
              </a:rPr>
              <a:t>получиш</a:t>
            </a:r>
            <a:r>
              <a:rPr lang="en-US" sz="1200" dirty="0">
                <a:solidFill>
                  <a:schemeClr val="bg1"/>
                </a:solidFill>
              </a:rPr>
              <a:t> </a:t>
            </a:r>
            <a:r>
              <a:rPr lang="en-US" sz="1200" dirty="0" err="1">
                <a:solidFill>
                  <a:schemeClr val="bg1"/>
                </a:solidFill>
              </a:rPr>
              <a:t>отговор</a:t>
            </a:r>
            <a:r>
              <a:rPr lang="en-US" sz="1200" dirty="0">
                <a:solidFill>
                  <a:schemeClr val="bg1"/>
                </a:solidFill>
              </a:rPr>
              <a:t> </a:t>
            </a:r>
            <a:r>
              <a:rPr lang="en-US" sz="1200" dirty="0" err="1">
                <a:solidFill>
                  <a:schemeClr val="bg1"/>
                </a:solidFill>
              </a:rPr>
              <a:t>за</a:t>
            </a:r>
            <a:r>
              <a:rPr lang="en-US" sz="1200" dirty="0">
                <a:solidFill>
                  <a:schemeClr val="bg1"/>
                </a:solidFill>
              </a:rPr>
              <a:t> </a:t>
            </a:r>
            <a:r>
              <a:rPr lang="en-US" sz="1200" dirty="0" err="1">
                <a:solidFill>
                  <a:schemeClr val="bg1"/>
                </a:solidFill>
              </a:rPr>
              <a:t>каква</a:t>
            </a:r>
            <a:r>
              <a:rPr lang="en-US" sz="1200" dirty="0">
                <a:solidFill>
                  <a:schemeClr val="bg1"/>
                </a:solidFill>
              </a:rPr>
              <a:t> </a:t>
            </a:r>
            <a:r>
              <a:rPr lang="en-US" sz="1200" dirty="0" err="1">
                <a:solidFill>
                  <a:schemeClr val="bg1"/>
                </a:solidFill>
              </a:rPr>
              <a:t>сума</a:t>
            </a:r>
            <a:r>
              <a:rPr lang="en-US" sz="1200" dirty="0">
                <a:solidFill>
                  <a:schemeClr val="bg1"/>
                </a:solidFill>
              </a:rPr>
              <a:t> </a:t>
            </a:r>
            <a:r>
              <a:rPr lang="en-US" sz="1200" dirty="0" err="1">
                <a:solidFill>
                  <a:schemeClr val="bg1"/>
                </a:solidFill>
              </a:rPr>
              <a:t>си</a:t>
            </a:r>
            <a:r>
              <a:rPr lang="en-US" sz="1200" dirty="0">
                <a:solidFill>
                  <a:schemeClr val="bg1"/>
                </a:solidFill>
              </a:rPr>
              <a:t> </a:t>
            </a:r>
            <a:r>
              <a:rPr lang="en-US" sz="1200" dirty="0" err="1">
                <a:solidFill>
                  <a:schemeClr val="bg1"/>
                </a:solidFill>
              </a:rPr>
              <a:t>одобрен</a:t>
            </a:r>
            <a:r>
              <a:rPr lang="en-US" sz="1200" dirty="0">
                <a:solidFill>
                  <a:schemeClr val="bg1"/>
                </a:solidFill>
              </a:rPr>
              <a:t>/а. </a:t>
            </a:r>
            <a:r>
              <a:rPr lang="en-US" sz="1200" dirty="0" err="1">
                <a:solidFill>
                  <a:schemeClr val="bg1"/>
                </a:solidFill>
              </a:rPr>
              <a:t>За</a:t>
            </a:r>
            <a:r>
              <a:rPr lang="en-US" sz="1200" dirty="0">
                <a:solidFill>
                  <a:schemeClr val="bg1"/>
                </a:solidFill>
              </a:rPr>
              <a:t> </a:t>
            </a:r>
            <a:r>
              <a:rPr lang="en-US" sz="1200" dirty="0" err="1">
                <a:solidFill>
                  <a:schemeClr val="bg1"/>
                </a:solidFill>
              </a:rPr>
              <a:t>да</a:t>
            </a:r>
            <a:r>
              <a:rPr lang="en-US" sz="1200" dirty="0">
                <a:solidFill>
                  <a:schemeClr val="bg1"/>
                </a:solidFill>
              </a:rPr>
              <a:t> </a:t>
            </a:r>
            <a:r>
              <a:rPr lang="en-US" sz="1200" dirty="0" err="1">
                <a:solidFill>
                  <a:schemeClr val="bg1"/>
                </a:solidFill>
              </a:rPr>
              <a:t>разгледаме</a:t>
            </a:r>
            <a:r>
              <a:rPr lang="en-US" sz="1200" dirty="0">
                <a:solidFill>
                  <a:schemeClr val="bg1"/>
                </a:solidFill>
              </a:rPr>
              <a:t> </a:t>
            </a:r>
            <a:r>
              <a:rPr lang="en-US" sz="1200" dirty="0" err="1">
                <a:solidFill>
                  <a:schemeClr val="bg1"/>
                </a:solidFill>
              </a:rPr>
              <a:t>искането</a:t>
            </a:r>
            <a:r>
              <a:rPr lang="en-US" sz="1200" dirty="0">
                <a:solidFill>
                  <a:schemeClr val="bg1"/>
                </a:solidFill>
              </a:rPr>
              <a:t> </a:t>
            </a:r>
            <a:r>
              <a:rPr lang="en-US" sz="1200" dirty="0" err="1">
                <a:solidFill>
                  <a:schemeClr val="bg1"/>
                </a:solidFill>
              </a:rPr>
              <a:t>за</a:t>
            </a:r>
            <a:r>
              <a:rPr lang="en-US" sz="1200" dirty="0">
                <a:solidFill>
                  <a:schemeClr val="bg1"/>
                </a:solidFill>
              </a:rPr>
              <a:t> </a:t>
            </a:r>
            <a:r>
              <a:rPr lang="en-US" sz="1200" dirty="0" err="1">
                <a:solidFill>
                  <a:schemeClr val="bg1"/>
                </a:solidFill>
              </a:rPr>
              <a:t>кредит</a:t>
            </a:r>
            <a:r>
              <a:rPr lang="en-US" sz="1200" dirty="0">
                <a:solidFill>
                  <a:schemeClr val="bg1"/>
                </a:solidFill>
              </a:rPr>
              <a:t> е </a:t>
            </a:r>
            <a:r>
              <a:rPr lang="en-US" sz="1200" dirty="0" err="1">
                <a:solidFill>
                  <a:schemeClr val="bg1"/>
                </a:solidFill>
              </a:rPr>
              <a:t>необходимо</a:t>
            </a:r>
            <a:r>
              <a:rPr lang="en-US" sz="1200" dirty="0">
                <a:solidFill>
                  <a:schemeClr val="bg1"/>
                </a:solidFill>
              </a:rPr>
              <a:t> </a:t>
            </a:r>
            <a:r>
              <a:rPr lang="en-US" sz="1200" dirty="0" err="1">
                <a:solidFill>
                  <a:schemeClr val="bg1"/>
                </a:solidFill>
              </a:rPr>
              <a:t>да</a:t>
            </a:r>
            <a:r>
              <a:rPr lang="en-US" sz="1200" dirty="0">
                <a:solidFill>
                  <a:schemeClr val="bg1"/>
                </a:solidFill>
              </a:rPr>
              <a:t> </a:t>
            </a:r>
            <a:r>
              <a:rPr lang="en-US" sz="1200" dirty="0" err="1">
                <a:solidFill>
                  <a:schemeClr val="bg1"/>
                </a:solidFill>
              </a:rPr>
              <a:t>съберем</a:t>
            </a:r>
            <a:r>
              <a:rPr lang="en-US" sz="1200" dirty="0">
                <a:solidFill>
                  <a:schemeClr val="bg1"/>
                </a:solidFill>
              </a:rPr>
              <a:t> </a:t>
            </a:r>
            <a:r>
              <a:rPr lang="en-US" sz="1200" dirty="0" err="1">
                <a:solidFill>
                  <a:schemeClr val="bg1"/>
                </a:solidFill>
              </a:rPr>
              <a:t>нужната</a:t>
            </a:r>
            <a:r>
              <a:rPr lang="en-US" sz="1200" dirty="0">
                <a:solidFill>
                  <a:schemeClr val="bg1"/>
                </a:solidFill>
              </a:rPr>
              <a:t> </a:t>
            </a:r>
            <a:r>
              <a:rPr lang="en-US" sz="1200" dirty="0" err="1">
                <a:solidFill>
                  <a:schemeClr val="bg1"/>
                </a:solidFill>
              </a:rPr>
              <a:t>информация</a:t>
            </a:r>
            <a:r>
              <a:rPr lang="en-US" sz="1200" dirty="0">
                <a:solidFill>
                  <a:schemeClr val="bg1"/>
                </a:solidFill>
              </a:rPr>
              <a:t>.“ </a:t>
            </a:r>
          </a:p>
          <a:p>
            <a:r>
              <a:rPr lang="en-US" sz="1200" dirty="0">
                <a:solidFill>
                  <a:schemeClr val="bg1"/>
                </a:solidFill>
              </a:rPr>
              <a:t>КК: „</a:t>
            </a:r>
            <a:r>
              <a:rPr lang="en-US" sz="1200" dirty="0" err="1">
                <a:solidFill>
                  <a:schemeClr val="bg1"/>
                </a:solidFill>
              </a:rPr>
              <a:t>Каква</a:t>
            </a:r>
            <a:r>
              <a:rPr lang="en-US" sz="1200" dirty="0">
                <a:solidFill>
                  <a:schemeClr val="bg1"/>
                </a:solidFill>
              </a:rPr>
              <a:t> </a:t>
            </a:r>
            <a:r>
              <a:rPr lang="en-US" sz="1200" dirty="0" err="1">
                <a:solidFill>
                  <a:schemeClr val="bg1"/>
                </a:solidFill>
              </a:rPr>
              <a:t>сума</a:t>
            </a:r>
            <a:r>
              <a:rPr lang="en-US" sz="1200" dirty="0">
                <a:solidFill>
                  <a:schemeClr val="bg1"/>
                </a:solidFill>
              </a:rPr>
              <a:t> </a:t>
            </a:r>
            <a:r>
              <a:rPr lang="en-US" sz="1200" dirty="0" err="1">
                <a:solidFill>
                  <a:schemeClr val="bg1"/>
                </a:solidFill>
              </a:rPr>
              <a:t>можете</a:t>
            </a:r>
            <a:r>
              <a:rPr lang="en-US" sz="1200" dirty="0">
                <a:solidFill>
                  <a:schemeClr val="bg1"/>
                </a:solidFill>
              </a:rPr>
              <a:t> </a:t>
            </a:r>
            <a:r>
              <a:rPr lang="en-US" sz="1200" dirty="0" err="1">
                <a:solidFill>
                  <a:schemeClr val="bg1"/>
                </a:solidFill>
              </a:rPr>
              <a:t>да</a:t>
            </a:r>
            <a:r>
              <a:rPr lang="en-US" sz="1200" dirty="0">
                <a:solidFill>
                  <a:schemeClr val="bg1"/>
                </a:solidFill>
              </a:rPr>
              <a:t> </a:t>
            </a:r>
            <a:r>
              <a:rPr lang="en-US" sz="1200" dirty="0" err="1">
                <a:solidFill>
                  <a:schemeClr val="bg1"/>
                </a:solidFill>
              </a:rPr>
              <a:t>отделяте</a:t>
            </a:r>
            <a:r>
              <a:rPr lang="en-US" sz="1200" dirty="0">
                <a:solidFill>
                  <a:schemeClr val="bg1"/>
                </a:solidFill>
              </a:rPr>
              <a:t> </a:t>
            </a:r>
            <a:r>
              <a:rPr lang="en-US" sz="1200" dirty="0" err="1">
                <a:solidFill>
                  <a:schemeClr val="bg1"/>
                </a:solidFill>
              </a:rPr>
              <a:t>на</a:t>
            </a:r>
            <a:r>
              <a:rPr lang="en-US" sz="1200" dirty="0">
                <a:solidFill>
                  <a:schemeClr val="bg1"/>
                </a:solidFill>
              </a:rPr>
              <a:t> </a:t>
            </a:r>
            <a:r>
              <a:rPr lang="en-US" sz="1200" dirty="0" err="1">
                <a:solidFill>
                  <a:schemeClr val="bg1"/>
                </a:solidFill>
              </a:rPr>
              <a:t>месец</a:t>
            </a:r>
            <a:r>
              <a:rPr lang="en-US" sz="1200" dirty="0">
                <a:solidFill>
                  <a:schemeClr val="bg1"/>
                </a:solidFill>
              </a:rPr>
              <a:t> </a:t>
            </a:r>
            <a:r>
              <a:rPr lang="en-US" sz="1200" dirty="0" err="1">
                <a:solidFill>
                  <a:schemeClr val="bg1"/>
                </a:solidFill>
              </a:rPr>
              <a:t>за</a:t>
            </a:r>
            <a:r>
              <a:rPr lang="en-US" sz="1200" dirty="0">
                <a:solidFill>
                  <a:schemeClr val="bg1"/>
                </a:solidFill>
              </a:rPr>
              <a:t> </a:t>
            </a:r>
            <a:r>
              <a:rPr lang="en-US" sz="1200" dirty="0" err="1">
                <a:solidFill>
                  <a:schemeClr val="bg1"/>
                </a:solidFill>
              </a:rPr>
              <a:t>изплащане</a:t>
            </a:r>
            <a:r>
              <a:rPr lang="en-US" sz="1200" dirty="0">
                <a:solidFill>
                  <a:schemeClr val="bg1"/>
                </a:solidFill>
              </a:rPr>
              <a:t> </a:t>
            </a:r>
            <a:r>
              <a:rPr lang="en-US" sz="1200" dirty="0" err="1">
                <a:solidFill>
                  <a:schemeClr val="bg1"/>
                </a:solidFill>
              </a:rPr>
              <a:t>на</a:t>
            </a:r>
            <a:r>
              <a:rPr lang="en-US" sz="1200" dirty="0">
                <a:solidFill>
                  <a:schemeClr val="bg1"/>
                </a:solidFill>
              </a:rPr>
              <a:t> </a:t>
            </a:r>
            <a:r>
              <a:rPr lang="en-US" sz="1200" dirty="0" err="1">
                <a:solidFill>
                  <a:schemeClr val="bg1"/>
                </a:solidFill>
              </a:rPr>
              <a:t>кредита</a:t>
            </a:r>
            <a:r>
              <a:rPr lang="en-US" sz="1200" dirty="0">
                <a:solidFill>
                  <a:schemeClr val="bg1"/>
                </a:solidFill>
              </a:rPr>
              <a:t>, </a:t>
            </a:r>
            <a:r>
              <a:rPr lang="en-US" sz="1200" dirty="0" err="1">
                <a:solidFill>
                  <a:schemeClr val="bg1"/>
                </a:solidFill>
              </a:rPr>
              <a:t>без</a:t>
            </a:r>
            <a:r>
              <a:rPr lang="en-US" sz="1200" dirty="0">
                <a:solidFill>
                  <a:schemeClr val="bg1"/>
                </a:solidFill>
              </a:rPr>
              <a:t> </a:t>
            </a:r>
            <a:r>
              <a:rPr lang="en-US" sz="1200" dirty="0" err="1">
                <a:solidFill>
                  <a:schemeClr val="bg1"/>
                </a:solidFill>
              </a:rPr>
              <a:t>това</a:t>
            </a:r>
            <a:r>
              <a:rPr lang="en-US" sz="1200" dirty="0">
                <a:solidFill>
                  <a:schemeClr val="bg1"/>
                </a:solidFill>
              </a:rPr>
              <a:t> </a:t>
            </a:r>
            <a:r>
              <a:rPr lang="en-US" sz="1200" dirty="0" err="1">
                <a:solidFill>
                  <a:schemeClr val="bg1"/>
                </a:solidFill>
              </a:rPr>
              <a:t>да</a:t>
            </a:r>
            <a:r>
              <a:rPr lang="en-US" sz="1200" dirty="0">
                <a:solidFill>
                  <a:schemeClr val="bg1"/>
                </a:solidFill>
              </a:rPr>
              <a:t> </a:t>
            </a:r>
            <a:r>
              <a:rPr lang="en-US" sz="1200" dirty="0" err="1">
                <a:solidFill>
                  <a:schemeClr val="bg1"/>
                </a:solidFill>
              </a:rPr>
              <a:t>се</a:t>
            </a:r>
            <a:r>
              <a:rPr lang="en-US" sz="1200" dirty="0">
                <a:solidFill>
                  <a:schemeClr val="bg1"/>
                </a:solidFill>
              </a:rPr>
              <a:t> </a:t>
            </a:r>
            <a:r>
              <a:rPr lang="en-US" sz="1200" dirty="0" err="1">
                <a:solidFill>
                  <a:schemeClr val="bg1"/>
                </a:solidFill>
              </a:rPr>
              <a:t>отрази</a:t>
            </a:r>
            <a:r>
              <a:rPr lang="en-US" sz="1200" dirty="0">
                <a:solidFill>
                  <a:schemeClr val="bg1"/>
                </a:solidFill>
              </a:rPr>
              <a:t> </a:t>
            </a:r>
            <a:r>
              <a:rPr lang="en-US" sz="1200" dirty="0" err="1">
                <a:solidFill>
                  <a:schemeClr val="bg1"/>
                </a:solidFill>
              </a:rPr>
              <a:t>негативно</a:t>
            </a:r>
            <a:r>
              <a:rPr lang="en-US" sz="1200" dirty="0">
                <a:solidFill>
                  <a:schemeClr val="bg1"/>
                </a:solidFill>
              </a:rPr>
              <a:t> </a:t>
            </a:r>
            <a:r>
              <a:rPr lang="en-US" sz="1200" dirty="0" err="1">
                <a:solidFill>
                  <a:schemeClr val="bg1"/>
                </a:solidFill>
              </a:rPr>
              <a:t>на</a:t>
            </a:r>
            <a:r>
              <a:rPr lang="en-US" sz="1200" dirty="0">
                <a:solidFill>
                  <a:schemeClr val="bg1"/>
                </a:solidFill>
              </a:rPr>
              <a:t> </a:t>
            </a:r>
            <a:r>
              <a:rPr lang="en-US" sz="1200" dirty="0" err="1">
                <a:solidFill>
                  <a:schemeClr val="bg1"/>
                </a:solidFill>
              </a:rPr>
              <a:t>разпределението</a:t>
            </a:r>
            <a:r>
              <a:rPr lang="en-US" sz="1200" dirty="0">
                <a:solidFill>
                  <a:schemeClr val="bg1"/>
                </a:solidFill>
              </a:rPr>
              <a:t> </a:t>
            </a:r>
            <a:r>
              <a:rPr lang="en-US" sz="1200" dirty="0" err="1">
                <a:solidFill>
                  <a:schemeClr val="bg1"/>
                </a:solidFill>
              </a:rPr>
              <a:t>на</a:t>
            </a:r>
            <a:r>
              <a:rPr lang="en-US" sz="1200" dirty="0">
                <a:solidFill>
                  <a:schemeClr val="bg1"/>
                </a:solidFill>
              </a:rPr>
              <a:t> </a:t>
            </a:r>
            <a:r>
              <a:rPr lang="en-US" sz="1200" dirty="0" err="1">
                <a:solidFill>
                  <a:schemeClr val="bg1"/>
                </a:solidFill>
              </a:rPr>
              <a:t>семейния</a:t>
            </a:r>
            <a:r>
              <a:rPr lang="en-US" sz="1200" dirty="0">
                <a:solidFill>
                  <a:schemeClr val="bg1"/>
                </a:solidFill>
              </a:rPr>
              <a:t> </a:t>
            </a:r>
            <a:r>
              <a:rPr lang="en-US" sz="1200" dirty="0" err="1">
                <a:solidFill>
                  <a:schemeClr val="bg1"/>
                </a:solidFill>
              </a:rPr>
              <a:t>бюджет</a:t>
            </a:r>
            <a:r>
              <a:rPr lang="en-US" sz="1200" dirty="0">
                <a:solidFill>
                  <a:schemeClr val="bg1"/>
                </a:solidFill>
              </a:rPr>
              <a:t>?“ </a:t>
            </a:r>
            <a:endParaRPr lang="az-Cyrl-AZ" sz="1200">
              <a:solidFill>
                <a:schemeClr val="bg1"/>
              </a:solidFill>
            </a:endParaRPr>
          </a:p>
        </p:txBody>
      </p:sp>
      <p:sp>
        <p:nvSpPr>
          <p:cNvPr id="9" name="Rectangle: Rounded Corners 8">
            <a:extLst>
              <a:ext uri="{FF2B5EF4-FFF2-40B4-BE49-F238E27FC236}">
                <a16:creationId xmlns:a16="http://schemas.microsoft.com/office/drawing/2014/main" id="{DCBF4E48-F145-C8AD-C498-416895FFCD3B}"/>
              </a:ext>
            </a:extLst>
          </p:cNvPr>
          <p:cNvSpPr/>
          <p:nvPr/>
        </p:nvSpPr>
        <p:spPr>
          <a:xfrm>
            <a:off x="5471831" y="5923447"/>
            <a:ext cx="6512627" cy="736287"/>
          </a:xfrm>
          <a:prstGeom prst="roundRect">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r>
              <a:rPr lang="en-US" sz="1300" b="1" dirty="0" err="1">
                <a:solidFill>
                  <a:srgbClr val="FFFFFF"/>
                </a:solidFill>
              </a:rPr>
              <a:t>Събиране</a:t>
            </a:r>
            <a:r>
              <a:rPr lang="en-US" sz="1300" b="1" dirty="0">
                <a:solidFill>
                  <a:srgbClr val="FFFFFF"/>
                </a:solidFill>
              </a:rPr>
              <a:t> </a:t>
            </a:r>
            <a:r>
              <a:rPr lang="en-US" sz="1300" b="1" dirty="0" err="1">
                <a:solidFill>
                  <a:srgbClr val="FFFFFF"/>
                </a:solidFill>
              </a:rPr>
              <a:t>на</a:t>
            </a:r>
            <a:r>
              <a:rPr lang="en-US" sz="1300" b="1" dirty="0">
                <a:solidFill>
                  <a:srgbClr val="FFFFFF"/>
                </a:solidFill>
              </a:rPr>
              <a:t> </a:t>
            </a:r>
            <a:r>
              <a:rPr lang="en-US" sz="1300" b="1" dirty="0" err="1">
                <a:solidFill>
                  <a:srgbClr val="FFFFFF"/>
                </a:solidFill>
              </a:rPr>
              <a:t>документи</a:t>
            </a:r>
            <a:r>
              <a:rPr lang="en-US" sz="1300" b="1" dirty="0">
                <a:solidFill>
                  <a:srgbClr val="FFFFFF"/>
                </a:solidFill>
              </a:rPr>
              <a:t> </a:t>
            </a:r>
            <a:r>
              <a:rPr lang="en-US" sz="1300" b="1" dirty="0" err="1">
                <a:solidFill>
                  <a:srgbClr val="FFFFFF"/>
                </a:solidFill>
              </a:rPr>
              <a:t>за</a:t>
            </a:r>
            <a:r>
              <a:rPr lang="en-US" sz="1300" b="1" dirty="0">
                <a:solidFill>
                  <a:srgbClr val="FFFFFF"/>
                </a:solidFill>
              </a:rPr>
              <a:t> </a:t>
            </a:r>
            <a:r>
              <a:rPr lang="en-US" sz="1300" b="1" dirty="0" err="1">
                <a:solidFill>
                  <a:srgbClr val="FFFFFF"/>
                </a:solidFill>
              </a:rPr>
              <a:t>кандидатстване</a:t>
            </a:r>
            <a:endParaRPr lang="en-US" sz="1300" dirty="0" err="1">
              <a:solidFill>
                <a:srgbClr val="FFFFFF"/>
              </a:solidFill>
            </a:endParaRPr>
          </a:p>
          <a:p>
            <a:pPr marL="285750" indent="-285750">
              <a:buFont typeface="Arial,Sans-Serif"/>
              <a:buChar char="•"/>
            </a:pPr>
            <a:r>
              <a:rPr lang="en-US" sz="1300" dirty="0" err="1">
                <a:solidFill>
                  <a:srgbClr val="FFFFFF"/>
                </a:solidFill>
              </a:rPr>
              <a:t>Заверено</a:t>
            </a:r>
            <a:r>
              <a:rPr lang="en-US" sz="1300" dirty="0">
                <a:solidFill>
                  <a:srgbClr val="FFFFFF"/>
                </a:solidFill>
              </a:rPr>
              <a:t> </a:t>
            </a:r>
            <a:r>
              <a:rPr lang="en-US" sz="1300" dirty="0" err="1">
                <a:solidFill>
                  <a:srgbClr val="FFFFFF"/>
                </a:solidFill>
              </a:rPr>
              <a:t>копие</a:t>
            </a:r>
            <a:r>
              <a:rPr lang="en-US" sz="1300" dirty="0">
                <a:solidFill>
                  <a:srgbClr val="FFFFFF"/>
                </a:solidFill>
              </a:rPr>
              <a:t> </a:t>
            </a:r>
            <a:r>
              <a:rPr lang="en-US" sz="1300" dirty="0" err="1">
                <a:solidFill>
                  <a:srgbClr val="FFFFFF"/>
                </a:solidFill>
              </a:rPr>
              <a:t>на</a:t>
            </a:r>
            <a:r>
              <a:rPr lang="en-US" sz="1300" dirty="0">
                <a:solidFill>
                  <a:srgbClr val="FFFFFF"/>
                </a:solidFill>
              </a:rPr>
              <a:t> </a:t>
            </a:r>
            <a:r>
              <a:rPr lang="en-US" sz="1300" dirty="0" err="1">
                <a:solidFill>
                  <a:srgbClr val="FFFFFF"/>
                </a:solidFill>
              </a:rPr>
              <a:t>лична</a:t>
            </a:r>
            <a:r>
              <a:rPr lang="en-US" sz="1300" dirty="0">
                <a:solidFill>
                  <a:srgbClr val="FFFFFF"/>
                </a:solidFill>
              </a:rPr>
              <a:t> </a:t>
            </a:r>
            <a:r>
              <a:rPr lang="en-US" sz="1300" dirty="0" err="1">
                <a:solidFill>
                  <a:srgbClr val="FFFFFF"/>
                </a:solidFill>
              </a:rPr>
              <a:t>карта</a:t>
            </a:r>
            <a:r>
              <a:rPr lang="en-US" sz="1300" dirty="0">
                <a:solidFill>
                  <a:srgbClr val="FFFFFF"/>
                </a:solidFill>
              </a:rPr>
              <a:t> </a:t>
            </a:r>
          </a:p>
          <a:p>
            <a:pPr marL="285750" indent="-285750">
              <a:buFont typeface="Arial,Sans-Serif"/>
              <a:buChar char="•"/>
            </a:pPr>
            <a:r>
              <a:rPr lang="en-US" sz="1300" dirty="0" err="1">
                <a:solidFill>
                  <a:srgbClr val="FFFFFF"/>
                </a:solidFill>
              </a:rPr>
              <a:t>Попълване</a:t>
            </a:r>
            <a:r>
              <a:rPr lang="en-US" sz="1300" dirty="0">
                <a:solidFill>
                  <a:srgbClr val="FFFFFF"/>
                </a:solidFill>
              </a:rPr>
              <a:t> </a:t>
            </a:r>
            <a:r>
              <a:rPr lang="en-US" sz="1300" dirty="0" err="1">
                <a:solidFill>
                  <a:srgbClr val="FFFFFF"/>
                </a:solidFill>
              </a:rPr>
              <a:t>на</a:t>
            </a:r>
            <a:r>
              <a:rPr lang="en-US" sz="1300" dirty="0">
                <a:solidFill>
                  <a:srgbClr val="FFFFFF"/>
                </a:solidFill>
              </a:rPr>
              <a:t> </a:t>
            </a:r>
            <a:r>
              <a:rPr lang="en-US" sz="1300" dirty="0" err="1">
                <a:solidFill>
                  <a:srgbClr val="FFFFFF"/>
                </a:solidFill>
              </a:rPr>
              <a:t>Предложение</a:t>
            </a:r>
            <a:r>
              <a:rPr lang="en-US" sz="1300" dirty="0">
                <a:solidFill>
                  <a:srgbClr val="FFFFFF"/>
                </a:solidFill>
              </a:rPr>
              <a:t> </a:t>
            </a:r>
            <a:r>
              <a:rPr lang="en-US" sz="1300" dirty="0" err="1">
                <a:solidFill>
                  <a:srgbClr val="FFFFFF"/>
                </a:solidFill>
              </a:rPr>
              <a:t>за</a:t>
            </a:r>
            <a:r>
              <a:rPr lang="en-US" sz="1300" dirty="0">
                <a:solidFill>
                  <a:srgbClr val="FFFFFF"/>
                </a:solidFill>
              </a:rPr>
              <a:t> </a:t>
            </a:r>
            <a:r>
              <a:rPr lang="en-US" sz="1300" dirty="0" err="1">
                <a:solidFill>
                  <a:srgbClr val="FFFFFF"/>
                </a:solidFill>
              </a:rPr>
              <a:t>паричен</a:t>
            </a:r>
            <a:r>
              <a:rPr lang="en-US" sz="1300" dirty="0">
                <a:solidFill>
                  <a:srgbClr val="FFFFFF"/>
                </a:solidFill>
              </a:rPr>
              <a:t> </a:t>
            </a:r>
            <a:r>
              <a:rPr lang="en-US" sz="1300" dirty="0" err="1">
                <a:solidFill>
                  <a:srgbClr val="FFFFFF"/>
                </a:solidFill>
              </a:rPr>
              <a:t>заем</a:t>
            </a:r>
            <a:r>
              <a:rPr lang="en-US" sz="1300" dirty="0">
                <a:solidFill>
                  <a:srgbClr val="FFFFFF"/>
                </a:solidFill>
              </a:rPr>
              <a:t> /ППЗ/ </a:t>
            </a:r>
            <a:endParaRPr lang="en-US" dirty="0">
              <a:solidFill>
                <a:srgbClr val="FFFFFF"/>
              </a:solidFill>
            </a:endParaRPr>
          </a:p>
        </p:txBody>
      </p:sp>
      <p:sp>
        <p:nvSpPr>
          <p:cNvPr id="11" name="Rectangle: Rounded Corners 10">
            <a:extLst>
              <a:ext uri="{FF2B5EF4-FFF2-40B4-BE49-F238E27FC236}">
                <a16:creationId xmlns:a16="http://schemas.microsoft.com/office/drawing/2014/main" id="{AAC25E7A-FD22-55D1-BF9F-C1492D21C182}"/>
              </a:ext>
            </a:extLst>
          </p:cNvPr>
          <p:cNvSpPr/>
          <p:nvPr/>
        </p:nvSpPr>
        <p:spPr>
          <a:xfrm>
            <a:off x="5483204" y="6770226"/>
            <a:ext cx="6501255" cy="663396"/>
          </a:xfrm>
          <a:prstGeom prst="roundRect">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r>
              <a:rPr lang="en-US" sz="1300" b="1" dirty="0" err="1">
                <a:solidFill>
                  <a:srgbClr val="FFFFFF"/>
                </a:solidFill>
              </a:rPr>
              <a:t>Предоставяме</a:t>
            </a:r>
            <a:endParaRPr lang="en-US" sz="1300" dirty="0" err="1">
              <a:solidFill>
                <a:srgbClr val="FFFFFF"/>
              </a:solidFill>
            </a:endParaRPr>
          </a:p>
          <a:p>
            <a:pPr marL="285750" indent="-285750">
              <a:buFont typeface="Arial,Sans-Serif"/>
              <a:buChar char="•"/>
            </a:pPr>
            <a:r>
              <a:rPr lang="en-US" sz="1300" dirty="0" err="1">
                <a:solidFill>
                  <a:srgbClr val="FFFFFF"/>
                </a:solidFill>
              </a:rPr>
              <a:t>Погасителна</a:t>
            </a:r>
            <a:r>
              <a:rPr lang="en-US" sz="1300" dirty="0">
                <a:solidFill>
                  <a:srgbClr val="FFFFFF"/>
                </a:solidFill>
              </a:rPr>
              <a:t> </a:t>
            </a:r>
            <a:r>
              <a:rPr lang="en-US" sz="1300" dirty="0" err="1">
                <a:solidFill>
                  <a:srgbClr val="FFFFFF"/>
                </a:solidFill>
              </a:rPr>
              <a:t>таблица</a:t>
            </a:r>
            <a:r>
              <a:rPr lang="en-US" sz="1300" dirty="0">
                <a:solidFill>
                  <a:srgbClr val="FFFFFF"/>
                </a:solidFill>
              </a:rPr>
              <a:t> </a:t>
            </a:r>
          </a:p>
          <a:p>
            <a:pPr marL="285750" indent="-285750">
              <a:buFont typeface="Arial,Sans-Serif"/>
              <a:buChar char="•"/>
            </a:pPr>
            <a:r>
              <a:rPr lang="en-US" sz="1300" dirty="0" err="1">
                <a:solidFill>
                  <a:srgbClr val="FFFFFF"/>
                </a:solidFill>
              </a:rPr>
              <a:t>Преддоговорна</a:t>
            </a:r>
            <a:r>
              <a:rPr lang="en-US" sz="1300" dirty="0">
                <a:solidFill>
                  <a:srgbClr val="FFFFFF"/>
                </a:solidFill>
              </a:rPr>
              <a:t> </a:t>
            </a:r>
            <a:r>
              <a:rPr lang="en-US" sz="1300" dirty="0" err="1">
                <a:solidFill>
                  <a:srgbClr val="FFFFFF"/>
                </a:solidFill>
              </a:rPr>
              <a:t>информация</a:t>
            </a:r>
            <a:r>
              <a:rPr lang="en-US" sz="1300" dirty="0">
                <a:solidFill>
                  <a:srgbClr val="FFFFFF"/>
                </a:solidFill>
              </a:rPr>
              <a:t> </a:t>
            </a:r>
            <a:r>
              <a:rPr lang="en-US" sz="1300" dirty="0" err="1">
                <a:solidFill>
                  <a:srgbClr val="FFFFFF"/>
                </a:solidFill>
              </a:rPr>
              <a:t>на</a:t>
            </a:r>
            <a:r>
              <a:rPr lang="en-US" sz="1300" dirty="0">
                <a:solidFill>
                  <a:srgbClr val="FFFFFF"/>
                </a:solidFill>
              </a:rPr>
              <a:t> </a:t>
            </a:r>
            <a:r>
              <a:rPr lang="en-US" sz="1300" dirty="0" err="1">
                <a:solidFill>
                  <a:srgbClr val="FFFFFF"/>
                </a:solidFill>
              </a:rPr>
              <a:t>клиента</a:t>
            </a:r>
            <a:r>
              <a:rPr lang="en-US" sz="1300" dirty="0">
                <a:solidFill>
                  <a:srgbClr val="FFFFFF"/>
                </a:solidFill>
              </a:rPr>
              <a:t> – СЕФ </a:t>
            </a:r>
            <a:endParaRPr lang="en-US" dirty="0">
              <a:solidFill>
                <a:srgbClr val="FFFFFF"/>
              </a:solidFill>
            </a:endParaRPr>
          </a:p>
        </p:txBody>
      </p:sp>
      <p:sp>
        <p:nvSpPr>
          <p:cNvPr id="13" name="Rectangle: Rounded Corners 12">
            <a:extLst>
              <a:ext uri="{FF2B5EF4-FFF2-40B4-BE49-F238E27FC236}">
                <a16:creationId xmlns:a16="http://schemas.microsoft.com/office/drawing/2014/main" id="{666D9948-F9ED-C3A5-3D64-B0B269187497}"/>
              </a:ext>
            </a:extLst>
          </p:cNvPr>
          <p:cNvSpPr/>
          <p:nvPr/>
        </p:nvSpPr>
        <p:spPr>
          <a:xfrm>
            <a:off x="5471469" y="7545594"/>
            <a:ext cx="6512816" cy="1079947"/>
          </a:xfrm>
          <a:prstGeom prst="roundRect">
            <a:avLst/>
          </a:prstGeom>
          <a:solidFill>
            <a:schemeClr val="accent1"/>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300" b="1" dirty="0" err="1">
                <a:solidFill>
                  <a:srgbClr val="FFFFFF"/>
                </a:solidFill>
              </a:rPr>
              <a:t>Договаряне</a:t>
            </a:r>
            <a:r>
              <a:rPr lang="en-US" sz="1300" b="1" dirty="0">
                <a:solidFill>
                  <a:srgbClr val="FFFFFF"/>
                </a:solidFill>
              </a:rPr>
              <a:t> </a:t>
            </a:r>
            <a:r>
              <a:rPr lang="en-US" sz="1300" b="1" dirty="0" err="1">
                <a:solidFill>
                  <a:srgbClr val="FFFFFF"/>
                </a:solidFill>
              </a:rPr>
              <a:t>на</a:t>
            </a:r>
            <a:r>
              <a:rPr lang="en-US" sz="1300" b="1" dirty="0">
                <a:solidFill>
                  <a:srgbClr val="FFFFFF"/>
                </a:solidFill>
              </a:rPr>
              <a:t> </a:t>
            </a:r>
            <a:r>
              <a:rPr lang="en-US" sz="1300" b="1" dirty="0" err="1">
                <a:solidFill>
                  <a:srgbClr val="FFFFFF"/>
                </a:solidFill>
              </a:rPr>
              <a:t>сума</a:t>
            </a:r>
            <a:r>
              <a:rPr lang="en-US" sz="1300" b="1" dirty="0">
                <a:solidFill>
                  <a:srgbClr val="FFFFFF"/>
                </a:solidFill>
              </a:rPr>
              <a:t> </a:t>
            </a:r>
            <a:r>
              <a:rPr lang="en-US" sz="1300" b="1" dirty="0" err="1">
                <a:solidFill>
                  <a:srgbClr val="FFFFFF"/>
                </a:solidFill>
              </a:rPr>
              <a:t>за</a:t>
            </a:r>
            <a:r>
              <a:rPr lang="en-US" sz="1300" b="1" dirty="0">
                <a:solidFill>
                  <a:srgbClr val="FFFFFF"/>
                </a:solidFill>
              </a:rPr>
              <a:t> </a:t>
            </a:r>
            <a:r>
              <a:rPr lang="en-US" sz="1300" b="1" dirty="0" err="1">
                <a:solidFill>
                  <a:srgbClr val="FFFFFF"/>
                </a:solidFill>
              </a:rPr>
              <a:t>заем</a:t>
            </a:r>
            <a:endParaRPr lang="en-US" sz="1300" dirty="0" err="1">
              <a:solidFill>
                <a:srgbClr val="FFFFFF"/>
              </a:solidFill>
            </a:endParaRPr>
          </a:p>
          <a:p>
            <a:pPr marL="285750" indent="-285750">
              <a:buFont typeface="Arial,Sans-Serif"/>
              <a:buChar char="•"/>
            </a:pPr>
            <a:r>
              <a:rPr lang="en-US" sz="1300" dirty="0" err="1">
                <a:solidFill>
                  <a:srgbClr val="FFFFFF"/>
                </a:solidFill>
              </a:rPr>
              <a:t>Каква</a:t>
            </a:r>
            <a:r>
              <a:rPr lang="en-US" sz="1300" dirty="0">
                <a:solidFill>
                  <a:srgbClr val="FFFFFF"/>
                </a:solidFill>
              </a:rPr>
              <a:t> </a:t>
            </a:r>
            <a:r>
              <a:rPr lang="en-US" sz="1300" dirty="0" err="1">
                <a:solidFill>
                  <a:srgbClr val="FFFFFF"/>
                </a:solidFill>
              </a:rPr>
              <a:t>сума</a:t>
            </a:r>
            <a:r>
              <a:rPr lang="en-US" sz="1300" dirty="0">
                <a:solidFill>
                  <a:srgbClr val="FFFFFF"/>
                </a:solidFill>
              </a:rPr>
              <a:t> </a:t>
            </a:r>
            <a:r>
              <a:rPr lang="en-US" sz="1300" dirty="0" err="1">
                <a:solidFill>
                  <a:srgbClr val="FFFFFF"/>
                </a:solidFill>
              </a:rPr>
              <a:t>желае</a:t>
            </a:r>
            <a:r>
              <a:rPr lang="en-US" sz="1300" dirty="0">
                <a:solidFill>
                  <a:srgbClr val="FFFFFF"/>
                </a:solidFill>
              </a:rPr>
              <a:t> </a:t>
            </a:r>
            <a:r>
              <a:rPr lang="en-US" sz="1300" dirty="0" err="1">
                <a:solidFill>
                  <a:srgbClr val="FFFFFF"/>
                </a:solidFill>
              </a:rPr>
              <a:t>клиентът</a:t>
            </a:r>
            <a:r>
              <a:rPr lang="en-US" sz="1300" dirty="0">
                <a:solidFill>
                  <a:srgbClr val="FFFFFF"/>
                </a:solidFill>
              </a:rPr>
              <a:t> и </a:t>
            </a:r>
            <a:r>
              <a:rPr lang="en-US" sz="1300" dirty="0" err="1">
                <a:solidFill>
                  <a:srgbClr val="FFFFFF"/>
                </a:solidFill>
              </a:rPr>
              <a:t>за</a:t>
            </a:r>
            <a:r>
              <a:rPr lang="en-US" sz="1300" dirty="0">
                <a:solidFill>
                  <a:srgbClr val="FFFFFF"/>
                </a:solidFill>
              </a:rPr>
              <a:t> </a:t>
            </a:r>
            <a:r>
              <a:rPr lang="en-US" sz="1300" dirty="0" err="1">
                <a:solidFill>
                  <a:srgbClr val="FFFFFF"/>
                </a:solidFill>
              </a:rPr>
              <a:t>какво</a:t>
            </a:r>
            <a:r>
              <a:rPr lang="en-US" sz="1300" dirty="0">
                <a:solidFill>
                  <a:srgbClr val="FFFFFF"/>
                </a:solidFill>
              </a:rPr>
              <a:t> </a:t>
            </a:r>
            <a:r>
              <a:rPr lang="en-US" sz="1300" dirty="0" err="1">
                <a:solidFill>
                  <a:srgbClr val="FFFFFF"/>
                </a:solidFill>
              </a:rPr>
              <a:t>му</a:t>
            </a:r>
            <a:r>
              <a:rPr lang="en-US" sz="1300" dirty="0">
                <a:solidFill>
                  <a:srgbClr val="FFFFFF"/>
                </a:solidFill>
              </a:rPr>
              <a:t> е </a:t>
            </a:r>
            <a:r>
              <a:rPr lang="en-US" sz="1300" dirty="0" err="1">
                <a:solidFill>
                  <a:srgbClr val="FFFFFF"/>
                </a:solidFill>
              </a:rPr>
              <a:t>необходима</a:t>
            </a:r>
            <a:r>
              <a:rPr lang="en-US" sz="1300" dirty="0">
                <a:solidFill>
                  <a:srgbClr val="FFFFFF"/>
                </a:solidFill>
              </a:rPr>
              <a:t> </a:t>
            </a:r>
          </a:p>
          <a:p>
            <a:pPr marL="285750" indent="-285750">
              <a:buFont typeface="Arial,Sans-Serif"/>
              <a:buChar char="•"/>
            </a:pPr>
            <a:r>
              <a:rPr lang="en-US" sz="1300" dirty="0" err="1">
                <a:solidFill>
                  <a:srgbClr val="FFFFFF"/>
                </a:solidFill>
              </a:rPr>
              <a:t>Правим</a:t>
            </a:r>
            <a:r>
              <a:rPr lang="en-US" sz="1300" dirty="0">
                <a:solidFill>
                  <a:srgbClr val="FFFFFF"/>
                </a:solidFill>
              </a:rPr>
              <a:t> </a:t>
            </a:r>
            <a:r>
              <a:rPr lang="en-US" sz="1300" dirty="0" err="1">
                <a:solidFill>
                  <a:srgbClr val="FFFFFF"/>
                </a:solidFill>
              </a:rPr>
              <a:t>бюджет</a:t>
            </a:r>
            <a:r>
              <a:rPr lang="en-US" sz="1300" dirty="0">
                <a:solidFill>
                  <a:srgbClr val="FFFFFF"/>
                </a:solidFill>
              </a:rPr>
              <a:t> </a:t>
            </a:r>
            <a:r>
              <a:rPr lang="en-US" sz="1300" dirty="0" err="1">
                <a:solidFill>
                  <a:srgbClr val="FFFFFF"/>
                </a:solidFill>
              </a:rPr>
              <a:t>според</a:t>
            </a:r>
            <a:r>
              <a:rPr lang="en-US" sz="1300" dirty="0">
                <a:solidFill>
                  <a:srgbClr val="FFFFFF"/>
                </a:solidFill>
              </a:rPr>
              <a:t> </a:t>
            </a:r>
            <a:r>
              <a:rPr lang="en-US" sz="1300" dirty="0" err="1">
                <a:solidFill>
                  <a:srgbClr val="FFFFFF"/>
                </a:solidFill>
              </a:rPr>
              <a:t>приходите</a:t>
            </a:r>
            <a:r>
              <a:rPr lang="en-US" sz="1300" dirty="0">
                <a:solidFill>
                  <a:srgbClr val="FFFFFF"/>
                </a:solidFill>
              </a:rPr>
              <a:t> и </a:t>
            </a:r>
            <a:r>
              <a:rPr lang="en-US" sz="1300" dirty="0" err="1">
                <a:solidFill>
                  <a:srgbClr val="FFFFFF"/>
                </a:solidFill>
              </a:rPr>
              <a:t>разходите</a:t>
            </a:r>
            <a:r>
              <a:rPr lang="en-US" sz="1300" dirty="0">
                <a:solidFill>
                  <a:srgbClr val="FFFFFF"/>
                </a:solidFill>
              </a:rPr>
              <a:t> </a:t>
            </a:r>
            <a:r>
              <a:rPr lang="en-US" sz="1300" dirty="0" err="1">
                <a:solidFill>
                  <a:srgbClr val="FFFFFF"/>
                </a:solidFill>
              </a:rPr>
              <a:t>на</a:t>
            </a:r>
            <a:r>
              <a:rPr lang="en-US" sz="1300" dirty="0">
                <a:solidFill>
                  <a:srgbClr val="FFFFFF"/>
                </a:solidFill>
              </a:rPr>
              <a:t> </a:t>
            </a:r>
            <a:r>
              <a:rPr lang="en-US" sz="1300" dirty="0" err="1">
                <a:solidFill>
                  <a:srgbClr val="FFFFFF"/>
                </a:solidFill>
              </a:rPr>
              <a:t>клиента</a:t>
            </a:r>
            <a:r>
              <a:rPr lang="en-US" sz="1300" dirty="0">
                <a:solidFill>
                  <a:srgbClr val="FFFFFF"/>
                </a:solidFill>
              </a:rPr>
              <a:t> и </a:t>
            </a:r>
            <a:r>
              <a:rPr lang="en-US" sz="1300" dirty="0" err="1">
                <a:solidFill>
                  <a:srgbClr val="FFFFFF"/>
                </a:solidFill>
              </a:rPr>
              <a:t>според</a:t>
            </a:r>
            <a:r>
              <a:rPr lang="en-US" sz="1300" dirty="0">
                <a:solidFill>
                  <a:srgbClr val="FFFFFF"/>
                </a:solidFill>
              </a:rPr>
              <a:t> </a:t>
            </a:r>
            <a:r>
              <a:rPr lang="en-US" sz="1300" dirty="0" err="1">
                <a:solidFill>
                  <a:srgbClr val="FFFFFF"/>
                </a:solidFill>
              </a:rPr>
              <a:t>разполагаемия</a:t>
            </a:r>
            <a:r>
              <a:rPr lang="en-US" sz="1300" dirty="0">
                <a:solidFill>
                  <a:srgbClr val="FFFFFF"/>
                </a:solidFill>
              </a:rPr>
              <a:t> </a:t>
            </a:r>
            <a:r>
              <a:rPr lang="en-US" sz="1300" dirty="0" err="1">
                <a:solidFill>
                  <a:srgbClr val="FFFFFF"/>
                </a:solidFill>
              </a:rPr>
              <a:t>доход</a:t>
            </a:r>
            <a:r>
              <a:rPr lang="en-US" sz="1300" dirty="0">
                <a:solidFill>
                  <a:srgbClr val="FFFFFF"/>
                </a:solidFill>
              </a:rPr>
              <a:t> </a:t>
            </a:r>
            <a:r>
              <a:rPr lang="en-US" sz="1300" dirty="0" err="1">
                <a:solidFill>
                  <a:srgbClr val="FFFFFF"/>
                </a:solidFill>
              </a:rPr>
              <a:t>изготвяме</a:t>
            </a:r>
            <a:r>
              <a:rPr lang="en-US" sz="1300" dirty="0">
                <a:solidFill>
                  <a:srgbClr val="FFFFFF"/>
                </a:solidFill>
              </a:rPr>
              <a:t> </a:t>
            </a:r>
            <a:r>
              <a:rPr lang="en-US" sz="1300" dirty="0" err="1">
                <a:solidFill>
                  <a:srgbClr val="FFFFFF"/>
                </a:solidFill>
              </a:rPr>
              <a:t>оферта</a:t>
            </a:r>
            <a:r>
              <a:rPr lang="en-US" sz="1300" dirty="0">
                <a:solidFill>
                  <a:srgbClr val="FFFFFF"/>
                </a:solidFill>
              </a:rPr>
              <a:t> </a:t>
            </a:r>
            <a:r>
              <a:rPr lang="en-US" sz="1300" dirty="0" err="1">
                <a:solidFill>
                  <a:srgbClr val="FFFFFF"/>
                </a:solidFill>
              </a:rPr>
              <a:t>за</a:t>
            </a:r>
            <a:r>
              <a:rPr lang="en-US" sz="1300" dirty="0">
                <a:solidFill>
                  <a:srgbClr val="FFFFFF"/>
                </a:solidFill>
              </a:rPr>
              <a:t> </a:t>
            </a:r>
            <a:r>
              <a:rPr lang="en-US" sz="1300" dirty="0" err="1">
                <a:solidFill>
                  <a:srgbClr val="FFFFFF"/>
                </a:solidFill>
              </a:rPr>
              <a:t>клиента</a:t>
            </a:r>
            <a:r>
              <a:rPr lang="en-US" sz="1300" dirty="0">
                <a:solidFill>
                  <a:srgbClr val="FFFFFF"/>
                </a:solidFill>
              </a:rPr>
              <a:t> </a:t>
            </a:r>
          </a:p>
        </p:txBody>
      </p:sp>
      <p:sp>
        <p:nvSpPr>
          <p:cNvPr id="15" name="Rectangle: Rounded Corners 14">
            <a:extLst>
              <a:ext uri="{FF2B5EF4-FFF2-40B4-BE49-F238E27FC236}">
                <a16:creationId xmlns:a16="http://schemas.microsoft.com/office/drawing/2014/main" id="{D5CB58AB-ABD0-AE40-AB52-2C08CD443CFE}"/>
              </a:ext>
            </a:extLst>
          </p:cNvPr>
          <p:cNvSpPr/>
          <p:nvPr/>
        </p:nvSpPr>
        <p:spPr>
          <a:xfrm>
            <a:off x="5482841" y="8739945"/>
            <a:ext cx="6512816" cy="2062516"/>
          </a:xfrm>
          <a:prstGeom prst="roundRect">
            <a:avLst/>
          </a:prstGeom>
          <a:solidFill>
            <a:schemeClr val="accent1"/>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300" b="1" dirty="0" err="1">
                <a:solidFill>
                  <a:srgbClr val="FFFFFF"/>
                </a:solidFill>
              </a:rPr>
              <a:t>Обобщение</a:t>
            </a:r>
            <a:r>
              <a:rPr lang="en-US" sz="1300" b="1" dirty="0">
                <a:solidFill>
                  <a:srgbClr val="FFFFFF"/>
                </a:solidFill>
              </a:rPr>
              <a:t> в </a:t>
            </a:r>
            <a:r>
              <a:rPr lang="en-US" sz="1300" b="1" dirty="0" err="1">
                <a:solidFill>
                  <a:srgbClr val="FFFFFF"/>
                </a:solidFill>
              </a:rPr>
              <a:t>края</a:t>
            </a:r>
            <a:r>
              <a:rPr lang="en-US" sz="1300" b="1" dirty="0">
                <a:solidFill>
                  <a:srgbClr val="FFFFFF"/>
                </a:solidFill>
              </a:rPr>
              <a:t> </a:t>
            </a:r>
            <a:r>
              <a:rPr lang="en-US" sz="1300" b="1" dirty="0" err="1">
                <a:solidFill>
                  <a:srgbClr val="FFFFFF"/>
                </a:solidFill>
              </a:rPr>
              <a:t>на</a:t>
            </a:r>
            <a:r>
              <a:rPr lang="en-US" sz="1300" b="1" dirty="0">
                <a:solidFill>
                  <a:srgbClr val="FFFFFF"/>
                </a:solidFill>
              </a:rPr>
              <a:t> </a:t>
            </a:r>
            <a:r>
              <a:rPr lang="en-US" sz="1300" b="1" dirty="0" err="1">
                <a:solidFill>
                  <a:srgbClr val="FFFFFF"/>
                </a:solidFill>
              </a:rPr>
              <a:t>разговора</a:t>
            </a:r>
            <a:br>
              <a:rPr lang="en-US" sz="1300" b="1" dirty="0">
                <a:solidFill>
                  <a:srgbClr val="FFFFFF"/>
                </a:solidFill>
              </a:rPr>
            </a:br>
            <a:r>
              <a:rPr lang="en-US" sz="1300" b="1" dirty="0">
                <a:solidFill>
                  <a:srgbClr val="FFFFFF"/>
                </a:solidFill>
              </a:rPr>
              <a:t> КК: „</a:t>
            </a:r>
            <a:r>
              <a:rPr lang="en-US" sz="1300" b="1" dirty="0" err="1">
                <a:solidFill>
                  <a:srgbClr val="FFFFFF"/>
                </a:solidFill>
              </a:rPr>
              <a:t>Нека</a:t>
            </a:r>
            <a:r>
              <a:rPr lang="en-US" sz="1300" b="1" dirty="0">
                <a:solidFill>
                  <a:srgbClr val="FFFFFF"/>
                </a:solidFill>
              </a:rPr>
              <a:t> </a:t>
            </a:r>
            <a:r>
              <a:rPr lang="en-US" sz="1300" b="1" dirty="0" err="1">
                <a:solidFill>
                  <a:srgbClr val="FFFFFF"/>
                </a:solidFill>
              </a:rPr>
              <a:t>да</a:t>
            </a:r>
            <a:r>
              <a:rPr lang="en-US" sz="1300" b="1" dirty="0">
                <a:solidFill>
                  <a:srgbClr val="FFFFFF"/>
                </a:solidFill>
              </a:rPr>
              <a:t> </a:t>
            </a:r>
            <a:r>
              <a:rPr lang="en-US" sz="1300" b="1" dirty="0" err="1">
                <a:solidFill>
                  <a:srgbClr val="FFFFFF"/>
                </a:solidFill>
              </a:rPr>
              <a:t>обобщим</a:t>
            </a:r>
            <a:r>
              <a:rPr lang="en-US" sz="1300" b="1" dirty="0">
                <a:solidFill>
                  <a:srgbClr val="FFFFFF"/>
                </a:solidFill>
              </a:rPr>
              <a:t> </a:t>
            </a:r>
            <a:r>
              <a:rPr lang="en-US" sz="1300" b="1" dirty="0" err="1">
                <a:solidFill>
                  <a:srgbClr val="FFFFFF"/>
                </a:solidFill>
              </a:rPr>
              <a:t>твоето</a:t>
            </a:r>
            <a:r>
              <a:rPr lang="en-US" sz="1300" b="1" dirty="0">
                <a:solidFill>
                  <a:srgbClr val="FFFFFF"/>
                </a:solidFill>
              </a:rPr>
              <a:t> </a:t>
            </a:r>
            <a:r>
              <a:rPr lang="en-US" sz="1300" b="1" dirty="0" err="1">
                <a:solidFill>
                  <a:srgbClr val="FFFFFF"/>
                </a:solidFill>
              </a:rPr>
              <a:t>желание</a:t>
            </a:r>
            <a:r>
              <a:rPr lang="en-US" sz="1300" b="1" dirty="0">
                <a:solidFill>
                  <a:srgbClr val="FFFFFF"/>
                </a:solidFill>
              </a:rPr>
              <a:t> – </a:t>
            </a:r>
            <a:r>
              <a:rPr lang="en-US" sz="1300" b="1" dirty="0" err="1">
                <a:solidFill>
                  <a:srgbClr val="FFFFFF"/>
                </a:solidFill>
              </a:rPr>
              <a:t>кандидатстваш</a:t>
            </a:r>
            <a:r>
              <a:rPr lang="en-US" sz="1300" b="1" dirty="0">
                <a:solidFill>
                  <a:srgbClr val="FFFFFF"/>
                </a:solidFill>
              </a:rPr>
              <a:t> </a:t>
            </a:r>
            <a:r>
              <a:rPr lang="en-US" sz="1300" b="1" dirty="0" err="1">
                <a:solidFill>
                  <a:srgbClr val="FFFFFF"/>
                </a:solidFill>
              </a:rPr>
              <a:t>за</a:t>
            </a:r>
            <a:r>
              <a:rPr lang="en-US" sz="1300" b="1" dirty="0">
                <a:solidFill>
                  <a:srgbClr val="FFFFFF"/>
                </a:solidFill>
              </a:rPr>
              <a:t> .... </a:t>
            </a:r>
            <a:r>
              <a:rPr lang="en-US" sz="1300" b="1" dirty="0" err="1">
                <a:solidFill>
                  <a:srgbClr val="FFFFFF"/>
                </a:solidFill>
              </a:rPr>
              <a:t>лв</a:t>
            </a:r>
            <a:r>
              <a:rPr lang="en-US" sz="1300" b="1" dirty="0">
                <a:solidFill>
                  <a:srgbClr val="FFFFFF"/>
                </a:solidFill>
              </a:rPr>
              <a:t>., </a:t>
            </a:r>
            <a:r>
              <a:rPr lang="en-US" sz="1300" b="1" dirty="0" err="1">
                <a:solidFill>
                  <a:srgbClr val="FFFFFF"/>
                </a:solidFill>
              </a:rPr>
              <a:t>на</a:t>
            </a:r>
            <a:r>
              <a:rPr lang="en-US" sz="1300" b="1" dirty="0">
                <a:solidFill>
                  <a:srgbClr val="FFFFFF"/>
                </a:solidFill>
              </a:rPr>
              <a:t> ..................... </a:t>
            </a:r>
            <a:r>
              <a:rPr lang="en-US" sz="1300" b="1" dirty="0" err="1">
                <a:solidFill>
                  <a:srgbClr val="FFFFFF"/>
                </a:solidFill>
              </a:rPr>
              <a:t>период</a:t>
            </a:r>
            <a:r>
              <a:rPr lang="en-US" sz="1300" b="1" dirty="0">
                <a:solidFill>
                  <a:srgbClr val="FFFFFF"/>
                </a:solidFill>
              </a:rPr>
              <a:t>, </a:t>
            </a:r>
            <a:r>
              <a:rPr lang="en-US" sz="1300" b="1" dirty="0" err="1">
                <a:solidFill>
                  <a:srgbClr val="FFFFFF"/>
                </a:solidFill>
              </a:rPr>
              <a:t>размерът</a:t>
            </a:r>
            <a:r>
              <a:rPr lang="en-US" sz="1300" b="1" dirty="0">
                <a:solidFill>
                  <a:srgbClr val="FFFFFF"/>
                </a:solidFill>
              </a:rPr>
              <a:t> </a:t>
            </a:r>
            <a:r>
              <a:rPr lang="en-US" sz="1300" b="1" dirty="0" err="1">
                <a:solidFill>
                  <a:srgbClr val="FFFFFF"/>
                </a:solidFill>
              </a:rPr>
              <a:t>на</a:t>
            </a:r>
            <a:r>
              <a:rPr lang="en-US" sz="1300" b="1" dirty="0">
                <a:solidFill>
                  <a:srgbClr val="FFFFFF"/>
                </a:solidFill>
              </a:rPr>
              <a:t> </a:t>
            </a:r>
            <a:r>
              <a:rPr lang="en-US" sz="1300" b="1" dirty="0" err="1">
                <a:solidFill>
                  <a:srgbClr val="FFFFFF"/>
                </a:solidFill>
              </a:rPr>
              <a:t>избраната</a:t>
            </a:r>
            <a:r>
              <a:rPr lang="en-US" sz="1300" b="1" dirty="0">
                <a:solidFill>
                  <a:srgbClr val="FFFFFF"/>
                </a:solidFill>
              </a:rPr>
              <a:t> </a:t>
            </a:r>
            <a:r>
              <a:rPr lang="en-US" sz="1300" b="1" dirty="0" err="1">
                <a:solidFill>
                  <a:srgbClr val="FFFFFF"/>
                </a:solidFill>
              </a:rPr>
              <a:t>вноска</a:t>
            </a:r>
            <a:r>
              <a:rPr lang="en-US" sz="1300" b="1" dirty="0">
                <a:solidFill>
                  <a:srgbClr val="FFFFFF"/>
                </a:solidFill>
              </a:rPr>
              <a:t> е .............. </a:t>
            </a:r>
            <a:r>
              <a:rPr lang="en-US" sz="1300" b="1" dirty="0" err="1">
                <a:solidFill>
                  <a:srgbClr val="FFFFFF"/>
                </a:solidFill>
              </a:rPr>
              <a:t>лева</a:t>
            </a:r>
            <a:r>
              <a:rPr lang="en-US" sz="1300" b="1" dirty="0">
                <a:solidFill>
                  <a:srgbClr val="FFFFFF"/>
                </a:solidFill>
              </a:rPr>
              <a:t>. </a:t>
            </a:r>
            <a:r>
              <a:rPr lang="en-US" sz="1300" b="1" dirty="0" err="1">
                <a:solidFill>
                  <a:srgbClr val="FFFFFF"/>
                </a:solidFill>
              </a:rPr>
              <a:t>Предоставям</a:t>
            </a:r>
            <a:r>
              <a:rPr lang="en-US" sz="1300" b="1" dirty="0">
                <a:solidFill>
                  <a:srgbClr val="FFFFFF"/>
                </a:solidFill>
              </a:rPr>
              <a:t> и СЕФ, в </a:t>
            </a:r>
            <a:r>
              <a:rPr lang="en-US" sz="1300" b="1" dirty="0" err="1">
                <a:solidFill>
                  <a:srgbClr val="FFFFFF"/>
                </a:solidFill>
              </a:rPr>
              <a:t>него</a:t>
            </a:r>
            <a:r>
              <a:rPr lang="en-US" sz="1300" b="1" dirty="0">
                <a:solidFill>
                  <a:srgbClr val="FFFFFF"/>
                </a:solidFill>
              </a:rPr>
              <a:t> е </a:t>
            </a:r>
            <a:r>
              <a:rPr lang="en-US" sz="1300" b="1" dirty="0" err="1">
                <a:solidFill>
                  <a:srgbClr val="FFFFFF"/>
                </a:solidFill>
              </a:rPr>
              <a:t>обобщена</a:t>
            </a:r>
            <a:r>
              <a:rPr lang="en-US" sz="1300" b="1" dirty="0">
                <a:solidFill>
                  <a:srgbClr val="FFFFFF"/>
                </a:solidFill>
              </a:rPr>
              <a:t> </a:t>
            </a:r>
            <a:r>
              <a:rPr lang="en-US" sz="1300" b="1" dirty="0" err="1">
                <a:solidFill>
                  <a:srgbClr val="FFFFFF"/>
                </a:solidFill>
              </a:rPr>
              <a:t>информацията</a:t>
            </a:r>
            <a:r>
              <a:rPr lang="en-US" sz="1300" b="1" dirty="0">
                <a:solidFill>
                  <a:srgbClr val="FFFFFF"/>
                </a:solidFill>
              </a:rPr>
              <a:t> </a:t>
            </a:r>
            <a:r>
              <a:rPr lang="en-US" sz="1300" b="1" dirty="0" err="1">
                <a:solidFill>
                  <a:srgbClr val="FFFFFF"/>
                </a:solidFill>
              </a:rPr>
              <a:t>за</a:t>
            </a:r>
            <a:r>
              <a:rPr lang="en-US" sz="1300" b="1" dirty="0">
                <a:solidFill>
                  <a:srgbClr val="FFFFFF"/>
                </a:solidFill>
              </a:rPr>
              <a:t> </a:t>
            </a:r>
            <a:r>
              <a:rPr lang="en-US" sz="1300" b="1" dirty="0" err="1">
                <a:solidFill>
                  <a:srgbClr val="FFFFFF"/>
                </a:solidFill>
              </a:rPr>
              <a:t>кредита</a:t>
            </a:r>
            <a:r>
              <a:rPr lang="en-US" sz="1300" b="1" dirty="0">
                <a:solidFill>
                  <a:srgbClr val="FFFFFF"/>
                </a:solidFill>
              </a:rPr>
              <a:t>.“ </a:t>
            </a:r>
            <a:endParaRPr lang="en-US" sz="1300" dirty="0">
              <a:solidFill>
                <a:srgbClr val="FFFFFF"/>
              </a:solidFill>
            </a:endParaRPr>
          </a:p>
          <a:p>
            <a:r>
              <a:rPr lang="en-US" sz="1300" b="1" dirty="0" err="1">
                <a:solidFill>
                  <a:srgbClr val="FFFFFF"/>
                </a:solidFill>
              </a:rPr>
              <a:t>Приключване</a:t>
            </a:r>
            <a:r>
              <a:rPr lang="en-US" sz="1300" b="1" dirty="0">
                <a:solidFill>
                  <a:srgbClr val="FFFFFF"/>
                </a:solidFill>
              </a:rPr>
              <a:t> </a:t>
            </a:r>
            <a:r>
              <a:rPr lang="en-US" sz="1300" b="1" dirty="0" err="1">
                <a:solidFill>
                  <a:srgbClr val="FFFFFF"/>
                </a:solidFill>
              </a:rPr>
              <a:t>на</a:t>
            </a:r>
            <a:r>
              <a:rPr lang="en-US" sz="1300" b="1" dirty="0">
                <a:solidFill>
                  <a:srgbClr val="FFFFFF"/>
                </a:solidFill>
              </a:rPr>
              <a:t> </a:t>
            </a:r>
            <a:r>
              <a:rPr lang="en-US" sz="1300" b="1" dirty="0" err="1">
                <a:solidFill>
                  <a:srgbClr val="FFFFFF"/>
                </a:solidFill>
              </a:rPr>
              <a:t>срещата</a:t>
            </a:r>
            <a:br>
              <a:rPr lang="en-US" sz="1300" b="1" dirty="0">
                <a:solidFill>
                  <a:srgbClr val="FFFFFF"/>
                </a:solidFill>
              </a:rPr>
            </a:br>
            <a:r>
              <a:rPr lang="en-US" sz="1300" b="1" dirty="0">
                <a:solidFill>
                  <a:srgbClr val="FFFFFF"/>
                </a:solidFill>
              </a:rPr>
              <a:t> КК: „</a:t>
            </a:r>
            <a:r>
              <a:rPr lang="en-US" sz="1300" b="1" dirty="0" err="1">
                <a:solidFill>
                  <a:srgbClr val="FFFFFF"/>
                </a:solidFill>
              </a:rPr>
              <a:t>До</a:t>
            </a:r>
            <a:r>
              <a:rPr lang="en-US" sz="1300" b="1" dirty="0">
                <a:solidFill>
                  <a:srgbClr val="FFFFFF"/>
                </a:solidFill>
              </a:rPr>
              <a:t> </a:t>
            </a:r>
            <a:r>
              <a:rPr lang="en-US" sz="1300" b="1" dirty="0" err="1">
                <a:solidFill>
                  <a:srgbClr val="FFFFFF"/>
                </a:solidFill>
              </a:rPr>
              <a:t>края</a:t>
            </a:r>
            <a:r>
              <a:rPr lang="en-US" sz="1300" b="1" dirty="0">
                <a:solidFill>
                  <a:srgbClr val="FFFFFF"/>
                </a:solidFill>
              </a:rPr>
              <a:t> </a:t>
            </a:r>
            <a:r>
              <a:rPr lang="en-US" sz="1300" b="1" dirty="0" err="1">
                <a:solidFill>
                  <a:srgbClr val="FFFFFF"/>
                </a:solidFill>
              </a:rPr>
              <a:t>на</a:t>
            </a:r>
            <a:r>
              <a:rPr lang="en-US" sz="1300" b="1" dirty="0">
                <a:solidFill>
                  <a:srgbClr val="FFFFFF"/>
                </a:solidFill>
              </a:rPr>
              <a:t> </a:t>
            </a:r>
            <a:r>
              <a:rPr lang="en-US" sz="1300" b="1" dirty="0" err="1">
                <a:solidFill>
                  <a:srgbClr val="FFFFFF"/>
                </a:solidFill>
              </a:rPr>
              <a:t>работния</a:t>
            </a:r>
            <a:r>
              <a:rPr lang="en-US" sz="1300" b="1" dirty="0">
                <a:solidFill>
                  <a:srgbClr val="FFFFFF"/>
                </a:solidFill>
              </a:rPr>
              <a:t> </a:t>
            </a:r>
            <a:r>
              <a:rPr lang="en-US" sz="1300" b="1" dirty="0" err="1">
                <a:solidFill>
                  <a:srgbClr val="FFFFFF"/>
                </a:solidFill>
              </a:rPr>
              <a:t>ден</a:t>
            </a:r>
            <a:r>
              <a:rPr lang="en-US" sz="1300" b="1" dirty="0">
                <a:solidFill>
                  <a:srgbClr val="FFFFFF"/>
                </a:solidFill>
              </a:rPr>
              <a:t> </a:t>
            </a:r>
            <a:r>
              <a:rPr lang="en-US" sz="1300" b="1" dirty="0" err="1">
                <a:solidFill>
                  <a:srgbClr val="FFFFFF"/>
                </a:solidFill>
              </a:rPr>
              <a:t>ще</a:t>
            </a:r>
            <a:r>
              <a:rPr lang="en-US" sz="1300" b="1" dirty="0">
                <a:solidFill>
                  <a:srgbClr val="FFFFFF"/>
                </a:solidFill>
              </a:rPr>
              <a:t> </a:t>
            </a:r>
            <a:r>
              <a:rPr lang="en-US" sz="1300" b="1" dirty="0" err="1">
                <a:solidFill>
                  <a:srgbClr val="FFFFFF"/>
                </a:solidFill>
              </a:rPr>
              <a:t>получиш</a:t>
            </a:r>
            <a:r>
              <a:rPr lang="en-US" sz="1300" b="1" dirty="0">
                <a:solidFill>
                  <a:srgbClr val="FFFFFF"/>
                </a:solidFill>
              </a:rPr>
              <a:t> </a:t>
            </a:r>
            <a:r>
              <a:rPr lang="en-US" sz="1300" b="1" dirty="0" err="1">
                <a:solidFill>
                  <a:srgbClr val="FFFFFF"/>
                </a:solidFill>
              </a:rPr>
              <a:t>отговор</a:t>
            </a:r>
            <a:r>
              <a:rPr lang="en-US" sz="1300" b="1" dirty="0">
                <a:solidFill>
                  <a:srgbClr val="FFFFFF"/>
                </a:solidFill>
              </a:rPr>
              <a:t> </a:t>
            </a:r>
            <a:r>
              <a:rPr lang="en-US" sz="1300" b="1" dirty="0" err="1">
                <a:solidFill>
                  <a:srgbClr val="FFFFFF"/>
                </a:solidFill>
              </a:rPr>
              <a:t>за</a:t>
            </a:r>
            <a:r>
              <a:rPr lang="en-US" sz="1300" b="1" dirty="0">
                <a:solidFill>
                  <a:srgbClr val="FFFFFF"/>
                </a:solidFill>
              </a:rPr>
              <a:t> </a:t>
            </a:r>
            <a:r>
              <a:rPr lang="en-US" sz="1300" b="1" dirty="0" err="1">
                <a:solidFill>
                  <a:srgbClr val="FFFFFF"/>
                </a:solidFill>
              </a:rPr>
              <a:t>каква</a:t>
            </a:r>
            <a:r>
              <a:rPr lang="en-US" sz="1300" b="1" dirty="0">
                <a:solidFill>
                  <a:srgbClr val="FFFFFF"/>
                </a:solidFill>
              </a:rPr>
              <a:t> </a:t>
            </a:r>
            <a:r>
              <a:rPr lang="en-US" sz="1300" b="1" dirty="0" err="1">
                <a:solidFill>
                  <a:srgbClr val="FFFFFF"/>
                </a:solidFill>
              </a:rPr>
              <a:t>сума</a:t>
            </a:r>
            <a:r>
              <a:rPr lang="en-US" sz="1300" b="1" dirty="0">
                <a:solidFill>
                  <a:srgbClr val="FFFFFF"/>
                </a:solidFill>
              </a:rPr>
              <a:t> </a:t>
            </a:r>
            <a:r>
              <a:rPr lang="en-US" sz="1300" b="1" dirty="0" err="1">
                <a:solidFill>
                  <a:srgbClr val="FFFFFF"/>
                </a:solidFill>
              </a:rPr>
              <a:t>си</a:t>
            </a:r>
            <a:r>
              <a:rPr lang="en-US" sz="1300" b="1" dirty="0">
                <a:solidFill>
                  <a:srgbClr val="FFFFFF"/>
                </a:solidFill>
              </a:rPr>
              <a:t> </a:t>
            </a:r>
            <a:r>
              <a:rPr lang="en-US" sz="1300" b="1" dirty="0" err="1">
                <a:solidFill>
                  <a:srgbClr val="FFFFFF"/>
                </a:solidFill>
              </a:rPr>
              <a:t>одобрен</a:t>
            </a:r>
            <a:r>
              <a:rPr lang="en-US" sz="1300" b="1" dirty="0">
                <a:solidFill>
                  <a:srgbClr val="FFFFFF"/>
                </a:solidFill>
              </a:rPr>
              <a:t>. </a:t>
            </a:r>
            <a:r>
              <a:rPr lang="en-US" sz="1300" b="1" dirty="0" err="1">
                <a:solidFill>
                  <a:srgbClr val="FFFFFF"/>
                </a:solidFill>
              </a:rPr>
              <a:t>Оставям</a:t>
            </a:r>
            <a:r>
              <a:rPr lang="en-US" sz="1300" b="1" dirty="0">
                <a:solidFill>
                  <a:srgbClr val="FFFFFF"/>
                </a:solidFill>
              </a:rPr>
              <a:t> </a:t>
            </a:r>
            <a:r>
              <a:rPr lang="en-US" sz="1300" b="1" dirty="0" err="1">
                <a:solidFill>
                  <a:srgbClr val="FFFFFF"/>
                </a:solidFill>
              </a:rPr>
              <a:t>ти</a:t>
            </a:r>
            <a:r>
              <a:rPr lang="en-US" sz="1300" b="1" dirty="0">
                <a:solidFill>
                  <a:srgbClr val="FFFFFF"/>
                </a:solidFill>
              </a:rPr>
              <a:t> </a:t>
            </a:r>
            <a:r>
              <a:rPr lang="en-US" sz="1300" b="1" dirty="0" err="1">
                <a:solidFill>
                  <a:srgbClr val="FFFFFF"/>
                </a:solidFill>
              </a:rPr>
              <a:t>визитка</a:t>
            </a:r>
            <a:r>
              <a:rPr lang="en-US" sz="1300" b="1" dirty="0">
                <a:solidFill>
                  <a:srgbClr val="FFFFFF"/>
                </a:solidFill>
              </a:rPr>
              <a:t> </a:t>
            </a:r>
            <a:r>
              <a:rPr lang="en-US" sz="1300" b="1" dirty="0" err="1">
                <a:solidFill>
                  <a:srgbClr val="FFFFFF"/>
                </a:solidFill>
              </a:rPr>
              <a:t>си</a:t>
            </a:r>
            <a:r>
              <a:rPr lang="en-US" sz="1300" b="1" dirty="0">
                <a:solidFill>
                  <a:srgbClr val="FFFFFF"/>
                </a:solidFill>
              </a:rPr>
              <a:t>, в </a:t>
            </a:r>
            <a:r>
              <a:rPr lang="en-US" sz="1300" b="1" dirty="0" err="1">
                <a:solidFill>
                  <a:srgbClr val="FFFFFF"/>
                </a:solidFill>
              </a:rPr>
              <a:t>случай</a:t>
            </a:r>
            <a:r>
              <a:rPr lang="en-US" sz="1300" b="1" dirty="0">
                <a:solidFill>
                  <a:srgbClr val="FFFFFF"/>
                </a:solidFill>
              </a:rPr>
              <a:t> </a:t>
            </a:r>
            <a:r>
              <a:rPr lang="en-US" sz="1300" b="1" dirty="0" err="1">
                <a:solidFill>
                  <a:srgbClr val="FFFFFF"/>
                </a:solidFill>
              </a:rPr>
              <a:t>че</a:t>
            </a:r>
            <a:r>
              <a:rPr lang="en-US" sz="1300" b="1" dirty="0">
                <a:solidFill>
                  <a:srgbClr val="FFFFFF"/>
                </a:solidFill>
              </a:rPr>
              <a:t> </a:t>
            </a:r>
            <a:r>
              <a:rPr lang="en-US" sz="1300" b="1" dirty="0" err="1">
                <a:solidFill>
                  <a:srgbClr val="FFFFFF"/>
                </a:solidFill>
              </a:rPr>
              <a:t>имаш</a:t>
            </a:r>
            <a:r>
              <a:rPr lang="en-US" sz="1300" b="1" dirty="0">
                <a:solidFill>
                  <a:srgbClr val="FFFFFF"/>
                </a:solidFill>
              </a:rPr>
              <a:t> </a:t>
            </a:r>
            <a:r>
              <a:rPr lang="en-US" sz="1300" b="1" dirty="0" err="1">
                <a:solidFill>
                  <a:srgbClr val="FFFFFF"/>
                </a:solidFill>
              </a:rPr>
              <a:t>някакви</a:t>
            </a:r>
            <a:r>
              <a:rPr lang="en-US" sz="1300" b="1" dirty="0">
                <a:solidFill>
                  <a:srgbClr val="FFFFFF"/>
                </a:solidFill>
              </a:rPr>
              <a:t> </a:t>
            </a:r>
            <a:r>
              <a:rPr lang="en-US" sz="1300" b="1" dirty="0" err="1">
                <a:solidFill>
                  <a:srgbClr val="FFFFFF"/>
                </a:solidFill>
              </a:rPr>
              <a:t>въпроси</a:t>
            </a:r>
            <a:r>
              <a:rPr lang="en-US" sz="1300" b="1" dirty="0">
                <a:solidFill>
                  <a:srgbClr val="FFFFFF"/>
                </a:solidFill>
              </a:rPr>
              <a:t> </a:t>
            </a:r>
            <a:r>
              <a:rPr lang="en-US" sz="1300" b="1" dirty="0" err="1">
                <a:solidFill>
                  <a:srgbClr val="FFFFFF"/>
                </a:solidFill>
              </a:rPr>
              <a:t>дотогава</a:t>
            </a:r>
            <a:r>
              <a:rPr lang="en-US" sz="1300" b="1" dirty="0">
                <a:solidFill>
                  <a:srgbClr val="FFFFFF"/>
                </a:solidFill>
              </a:rPr>
              <a:t>. </a:t>
            </a:r>
            <a:r>
              <a:rPr lang="en-US" sz="1300" b="1" dirty="0" err="1">
                <a:solidFill>
                  <a:srgbClr val="FFFFFF"/>
                </a:solidFill>
              </a:rPr>
              <a:t>Аз</a:t>
            </a:r>
            <a:r>
              <a:rPr lang="en-US" sz="1300" b="1" dirty="0">
                <a:solidFill>
                  <a:srgbClr val="FFFFFF"/>
                </a:solidFill>
              </a:rPr>
              <a:t> </a:t>
            </a:r>
            <a:r>
              <a:rPr lang="en-US" sz="1300" b="1" dirty="0" err="1">
                <a:solidFill>
                  <a:srgbClr val="FFFFFF"/>
                </a:solidFill>
              </a:rPr>
              <a:t>ще</a:t>
            </a:r>
            <a:r>
              <a:rPr lang="en-US" sz="1300" b="1" dirty="0">
                <a:solidFill>
                  <a:srgbClr val="FFFFFF"/>
                </a:solidFill>
              </a:rPr>
              <a:t> </a:t>
            </a:r>
            <a:r>
              <a:rPr lang="en-US" sz="1300" b="1" dirty="0" err="1">
                <a:solidFill>
                  <a:srgbClr val="FFFFFF"/>
                </a:solidFill>
              </a:rPr>
              <a:t>се</a:t>
            </a:r>
            <a:r>
              <a:rPr lang="en-US" sz="1300" b="1" dirty="0">
                <a:solidFill>
                  <a:srgbClr val="FFFFFF"/>
                </a:solidFill>
              </a:rPr>
              <a:t> </a:t>
            </a:r>
            <a:r>
              <a:rPr lang="en-US" sz="1300" b="1" dirty="0" err="1">
                <a:solidFill>
                  <a:srgbClr val="FFFFFF"/>
                </a:solidFill>
              </a:rPr>
              <a:t>свържа</a:t>
            </a:r>
            <a:r>
              <a:rPr lang="en-US" sz="1300" b="1" dirty="0">
                <a:solidFill>
                  <a:srgbClr val="FFFFFF"/>
                </a:solidFill>
              </a:rPr>
              <a:t> с </a:t>
            </a:r>
            <a:r>
              <a:rPr lang="en-US" sz="1300" b="1" dirty="0" err="1">
                <a:solidFill>
                  <a:srgbClr val="FFFFFF"/>
                </a:solidFill>
              </a:rPr>
              <a:t>теб</a:t>
            </a:r>
            <a:r>
              <a:rPr lang="en-US" sz="1300" b="1" dirty="0">
                <a:solidFill>
                  <a:srgbClr val="FFFFFF"/>
                </a:solidFill>
              </a:rPr>
              <a:t>, </a:t>
            </a:r>
            <a:r>
              <a:rPr lang="en-US" sz="1300" b="1" dirty="0" err="1">
                <a:solidFill>
                  <a:srgbClr val="FFFFFF"/>
                </a:solidFill>
              </a:rPr>
              <a:t>за</a:t>
            </a:r>
            <a:r>
              <a:rPr lang="en-US" sz="1300" b="1" dirty="0">
                <a:solidFill>
                  <a:srgbClr val="FFFFFF"/>
                </a:solidFill>
              </a:rPr>
              <a:t> </a:t>
            </a:r>
            <a:r>
              <a:rPr lang="en-US" sz="1300" b="1" dirty="0" err="1">
                <a:solidFill>
                  <a:srgbClr val="FFFFFF"/>
                </a:solidFill>
              </a:rPr>
              <a:t>да</a:t>
            </a:r>
            <a:r>
              <a:rPr lang="en-US" sz="1300" b="1" dirty="0">
                <a:solidFill>
                  <a:srgbClr val="FFFFFF"/>
                </a:solidFill>
              </a:rPr>
              <a:t> </a:t>
            </a:r>
            <a:r>
              <a:rPr lang="en-US" sz="1300" b="1" dirty="0" err="1">
                <a:solidFill>
                  <a:srgbClr val="FFFFFF"/>
                </a:solidFill>
              </a:rPr>
              <a:t>се</a:t>
            </a:r>
            <a:r>
              <a:rPr lang="en-US" sz="1300" b="1" dirty="0">
                <a:solidFill>
                  <a:srgbClr val="FFFFFF"/>
                </a:solidFill>
              </a:rPr>
              <a:t> </a:t>
            </a:r>
            <a:r>
              <a:rPr lang="en-US" sz="1300" b="1" dirty="0" err="1">
                <a:solidFill>
                  <a:srgbClr val="FFFFFF"/>
                </a:solidFill>
              </a:rPr>
              <a:t>разберем</a:t>
            </a:r>
            <a:r>
              <a:rPr lang="en-US" sz="1300" b="1" dirty="0">
                <a:solidFill>
                  <a:srgbClr val="FFFFFF"/>
                </a:solidFill>
              </a:rPr>
              <a:t> </a:t>
            </a:r>
            <a:r>
              <a:rPr lang="en-US" sz="1300" b="1" dirty="0" err="1">
                <a:solidFill>
                  <a:srgbClr val="FFFFFF"/>
                </a:solidFill>
              </a:rPr>
              <a:t>кога</a:t>
            </a:r>
            <a:r>
              <a:rPr lang="en-US" sz="1300" b="1" dirty="0">
                <a:solidFill>
                  <a:srgbClr val="FFFFFF"/>
                </a:solidFill>
              </a:rPr>
              <a:t> е </a:t>
            </a:r>
            <a:r>
              <a:rPr lang="en-US" sz="1300" b="1" dirty="0" err="1">
                <a:solidFill>
                  <a:srgbClr val="FFFFFF"/>
                </a:solidFill>
              </a:rPr>
              <a:t>удобно</a:t>
            </a:r>
            <a:r>
              <a:rPr lang="en-US" sz="1300" b="1" dirty="0">
                <a:solidFill>
                  <a:srgbClr val="FFFFFF"/>
                </a:solidFill>
              </a:rPr>
              <a:t> </a:t>
            </a:r>
            <a:r>
              <a:rPr lang="en-US" sz="1300" b="1" dirty="0" err="1">
                <a:solidFill>
                  <a:srgbClr val="FFFFFF"/>
                </a:solidFill>
              </a:rPr>
              <a:t>да</a:t>
            </a:r>
            <a:r>
              <a:rPr lang="en-US" sz="1300" b="1" dirty="0">
                <a:solidFill>
                  <a:srgbClr val="FFFFFF"/>
                </a:solidFill>
              </a:rPr>
              <a:t> </a:t>
            </a:r>
            <a:r>
              <a:rPr lang="en-US" sz="1300" b="1" dirty="0" err="1">
                <a:solidFill>
                  <a:srgbClr val="FFFFFF"/>
                </a:solidFill>
              </a:rPr>
              <a:t>дойда</a:t>
            </a:r>
            <a:r>
              <a:rPr lang="en-US" sz="1300" b="1" dirty="0">
                <a:solidFill>
                  <a:srgbClr val="FFFFFF"/>
                </a:solidFill>
              </a:rPr>
              <a:t>, </a:t>
            </a:r>
            <a:r>
              <a:rPr lang="en-US" sz="1300" b="1" dirty="0" err="1">
                <a:solidFill>
                  <a:srgbClr val="FFFFFF"/>
                </a:solidFill>
              </a:rPr>
              <a:t>за</a:t>
            </a:r>
            <a:r>
              <a:rPr lang="en-US" sz="1300" b="1" dirty="0">
                <a:solidFill>
                  <a:srgbClr val="FFFFFF"/>
                </a:solidFill>
              </a:rPr>
              <a:t> </a:t>
            </a:r>
            <a:r>
              <a:rPr lang="en-US" sz="1300" b="1" dirty="0" err="1">
                <a:solidFill>
                  <a:srgbClr val="FFFFFF"/>
                </a:solidFill>
              </a:rPr>
              <a:t>да</a:t>
            </a:r>
            <a:r>
              <a:rPr lang="en-US" sz="1300" b="1" dirty="0">
                <a:solidFill>
                  <a:srgbClr val="FFFFFF"/>
                </a:solidFill>
              </a:rPr>
              <a:t> </a:t>
            </a:r>
            <a:r>
              <a:rPr lang="en-US" sz="1300" b="1" dirty="0" err="1">
                <a:solidFill>
                  <a:srgbClr val="FFFFFF"/>
                </a:solidFill>
              </a:rPr>
              <a:t>подпишем</a:t>
            </a:r>
            <a:r>
              <a:rPr lang="en-US" sz="1300" b="1" dirty="0">
                <a:solidFill>
                  <a:srgbClr val="FFFFFF"/>
                </a:solidFill>
              </a:rPr>
              <a:t> </a:t>
            </a:r>
            <a:r>
              <a:rPr lang="en-US" sz="1300" b="1" dirty="0" err="1">
                <a:solidFill>
                  <a:srgbClr val="FFFFFF"/>
                </a:solidFill>
              </a:rPr>
              <a:t>договора</a:t>
            </a:r>
            <a:r>
              <a:rPr lang="en-US" sz="1300" b="1" dirty="0">
                <a:solidFill>
                  <a:srgbClr val="FFFFFF"/>
                </a:solidFill>
              </a:rPr>
              <a:t>, </a:t>
            </a:r>
            <a:r>
              <a:rPr lang="en-US" sz="1300" b="1" dirty="0" err="1">
                <a:solidFill>
                  <a:srgbClr val="FFFFFF"/>
                </a:solidFill>
              </a:rPr>
              <a:t>да</a:t>
            </a:r>
            <a:r>
              <a:rPr lang="en-US" sz="1300" b="1" dirty="0">
                <a:solidFill>
                  <a:srgbClr val="FFFFFF"/>
                </a:solidFill>
              </a:rPr>
              <a:t> </a:t>
            </a:r>
            <a:r>
              <a:rPr lang="en-US" sz="1300" b="1" dirty="0" err="1">
                <a:solidFill>
                  <a:srgbClr val="FFFFFF"/>
                </a:solidFill>
              </a:rPr>
              <a:t>ти</a:t>
            </a:r>
            <a:r>
              <a:rPr lang="en-US" sz="1300" b="1" dirty="0">
                <a:solidFill>
                  <a:srgbClr val="FFFFFF"/>
                </a:solidFill>
              </a:rPr>
              <a:t> </a:t>
            </a:r>
            <a:r>
              <a:rPr lang="en-US" sz="1300" b="1" dirty="0" err="1">
                <a:solidFill>
                  <a:srgbClr val="FFFFFF"/>
                </a:solidFill>
              </a:rPr>
              <a:t>предам</a:t>
            </a:r>
            <a:r>
              <a:rPr lang="en-US" sz="1300" b="1" dirty="0">
                <a:solidFill>
                  <a:srgbClr val="FFFFFF"/>
                </a:solidFill>
              </a:rPr>
              <a:t> </a:t>
            </a:r>
            <a:r>
              <a:rPr lang="en-US" sz="1300" b="1" dirty="0" err="1">
                <a:solidFill>
                  <a:srgbClr val="FFFFFF"/>
                </a:solidFill>
              </a:rPr>
              <a:t>парите</a:t>
            </a:r>
            <a:r>
              <a:rPr lang="en-US" sz="1300" b="1" dirty="0">
                <a:solidFill>
                  <a:srgbClr val="FFFFFF"/>
                </a:solidFill>
              </a:rPr>
              <a:t> и </a:t>
            </a:r>
            <a:r>
              <a:rPr lang="en-US" sz="1300" b="1" dirty="0" err="1">
                <a:solidFill>
                  <a:srgbClr val="FFFFFF"/>
                </a:solidFill>
              </a:rPr>
              <a:t>да</a:t>
            </a:r>
            <a:r>
              <a:rPr lang="en-US" sz="1300" b="1" dirty="0">
                <a:solidFill>
                  <a:srgbClr val="FFFFFF"/>
                </a:solidFill>
              </a:rPr>
              <a:t> </a:t>
            </a:r>
            <a:r>
              <a:rPr lang="en-US" sz="1300" b="1" dirty="0" err="1">
                <a:solidFill>
                  <a:srgbClr val="FFFFFF"/>
                </a:solidFill>
              </a:rPr>
              <a:t>уточним</a:t>
            </a:r>
            <a:r>
              <a:rPr lang="en-US" sz="1300" b="1" dirty="0">
                <a:solidFill>
                  <a:srgbClr val="FFFFFF"/>
                </a:solidFill>
              </a:rPr>
              <a:t> </a:t>
            </a:r>
            <a:r>
              <a:rPr lang="en-US" sz="1300" b="1" dirty="0" err="1">
                <a:solidFill>
                  <a:srgbClr val="FFFFFF"/>
                </a:solidFill>
              </a:rPr>
              <a:t>подробностите</a:t>
            </a:r>
            <a:r>
              <a:rPr lang="en-US" sz="1300" b="1" dirty="0">
                <a:solidFill>
                  <a:srgbClr val="FFFFFF"/>
                </a:solidFill>
              </a:rPr>
              <a:t>.“</a:t>
            </a:r>
          </a:p>
        </p:txBody>
      </p:sp>
    </p:spTree>
    <p:extLst>
      <p:ext uri="{BB962C8B-B14F-4D97-AF65-F5344CB8AC3E}">
        <p14:creationId xmlns:p14="http://schemas.microsoft.com/office/powerpoint/2010/main" val="2776460957"/>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C821E-CC2A-4C61-0530-0CFCBD58A59F}"/>
            </a:ext>
          </a:extLst>
        </p:cNvPr>
        <p:cNvGrpSpPr/>
        <p:nvPr/>
      </p:nvGrpSpPr>
      <p:grpSpPr>
        <a:xfrm>
          <a:off x="0" y="0"/>
          <a:ext cx="0" cy="0"/>
          <a:chOff x="0" y="0"/>
          <a:chExt cx="0" cy="0"/>
        </a:xfrm>
      </p:grpSpPr>
      <p:sp>
        <p:nvSpPr>
          <p:cNvPr id="18" name="Rectangle: Rounded Corners 17">
            <a:extLst>
              <a:ext uri="{FF2B5EF4-FFF2-40B4-BE49-F238E27FC236}">
                <a16:creationId xmlns:a16="http://schemas.microsoft.com/office/drawing/2014/main" id="{4FBC7E17-BCCD-AEAA-BD45-83E8D8D1465C}"/>
              </a:ext>
            </a:extLst>
          </p:cNvPr>
          <p:cNvSpPr/>
          <p:nvPr/>
        </p:nvSpPr>
        <p:spPr>
          <a:xfrm>
            <a:off x="1896199" y="2037152"/>
            <a:ext cx="2871747" cy="767079"/>
          </a:xfrm>
          <a:prstGeom prst="roundRect">
            <a:avLst/>
          </a:prstGeom>
          <a:solidFill>
            <a:schemeClr val="bg2">
              <a:lumMod val="75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ru-RU" sz="1600"/>
              <a:t>Настоящ клиент за нов кредит</a:t>
            </a:r>
            <a:endParaRPr lang="en-GB" sz="1600"/>
          </a:p>
        </p:txBody>
      </p:sp>
      <p:sp>
        <p:nvSpPr>
          <p:cNvPr id="19" name="Rectangle: Rounded Corners 18">
            <a:extLst>
              <a:ext uri="{FF2B5EF4-FFF2-40B4-BE49-F238E27FC236}">
                <a16:creationId xmlns:a16="http://schemas.microsoft.com/office/drawing/2014/main" id="{BAD134CC-2A6F-F626-0DBC-0F3AB735630C}"/>
              </a:ext>
            </a:extLst>
          </p:cNvPr>
          <p:cNvSpPr/>
          <p:nvPr/>
        </p:nvSpPr>
        <p:spPr>
          <a:xfrm>
            <a:off x="1896199" y="1147427"/>
            <a:ext cx="2871747" cy="767079"/>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Нов клиент в офис</a:t>
            </a:r>
            <a:endParaRPr lang="en-GB" sz="1600"/>
          </a:p>
        </p:txBody>
      </p:sp>
      <p:sp>
        <p:nvSpPr>
          <p:cNvPr id="25" name="Rectangle: Rounded Corners 24">
            <a:extLst>
              <a:ext uri="{FF2B5EF4-FFF2-40B4-BE49-F238E27FC236}">
                <a16:creationId xmlns:a16="http://schemas.microsoft.com/office/drawing/2014/main" id="{8315B163-0D56-E4F3-989C-5AA1AD38D18F}"/>
              </a:ext>
            </a:extLst>
          </p:cNvPr>
          <p:cNvSpPr/>
          <p:nvPr/>
        </p:nvSpPr>
        <p:spPr>
          <a:xfrm>
            <a:off x="1896199" y="2926877"/>
            <a:ext cx="2871747" cy="767079"/>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Настоящ клиент за рефинансиране</a:t>
            </a:r>
            <a:endParaRPr lang="en-GB" sz="1600"/>
          </a:p>
        </p:txBody>
      </p:sp>
      <p:sp>
        <p:nvSpPr>
          <p:cNvPr id="26" name="Rectangle 11">
            <a:extLst>
              <a:ext uri="{FF2B5EF4-FFF2-40B4-BE49-F238E27FC236}">
                <a16:creationId xmlns:a16="http://schemas.microsoft.com/office/drawing/2014/main" id="{5936F161-1259-1765-8A47-F0E559F0AAD1}"/>
              </a:ext>
            </a:extLst>
          </p:cNvPr>
          <p:cNvSpPr/>
          <p:nvPr/>
        </p:nvSpPr>
        <p:spPr>
          <a:xfrm>
            <a:off x="1896199" y="3816603"/>
            <a:ext cx="2871747" cy="767079"/>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Посещение на адрес</a:t>
            </a:r>
            <a:endParaRPr lang="en-GB" sz="1600"/>
          </a:p>
        </p:txBody>
      </p:sp>
      <p:sp>
        <p:nvSpPr>
          <p:cNvPr id="27" name="Rectangle 3">
            <a:extLst>
              <a:ext uri="{FF2B5EF4-FFF2-40B4-BE49-F238E27FC236}">
                <a16:creationId xmlns:a16="http://schemas.microsoft.com/office/drawing/2014/main" id="{BD554BA7-F742-2DDF-2EC1-60C286D48B9F}"/>
              </a:ext>
            </a:extLst>
          </p:cNvPr>
          <p:cNvSpPr/>
          <p:nvPr/>
        </p:nvSpPr>
        <p:spPr>
          <a:xfrm>
            <a:off x="1443475" y="4245"/>
            <a:ext cx="5338363" cy="677242"/>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28" name="Rectangle 4">
            <a:extLst>
              <a:ext uri="{FF2B5EF4-FFF2-40B4-BE49-F238E27FC236}">
                <a16:creationId xmlns:a16="http://schemas.microsoft.com/office/drawing/2014/main" id="{325708B9-5F69-F28E-0B6A-7A1405D2B477}"/>
              </a:ext>
            </a:extLst>
          </p:cNvPr>
          <p:cNvSpPr/>
          <p:nvPr/>
        </p:nvSpPr>
        <p:spPr>
          <a:xfrm>
            <a:off x="6788435" y="4245"/>
            <a:ext cx="5417300" cy="677242"/>
          </a:xfrm>
          <a:prstGeom prst="rect">
            <a:avLst/>
          </a:prstGeom>
          <a:solidFill>
            <a:schemeClr val="accent1"/>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29" name="Rectangle 28">
            <a:extLst>
              <a:ext uri="{FF2B5EF4-FFF2-40B4-BE49-F238E27FC236}">
                <a16:creationId xmlns:a16="http://schemas.microsoft.com/office/drawing/2014/main" id="{6893BB7A-A585-8CDA-40D3-60F4F7CE28C7}"/>
              </a:ext>
            </a:extLst>
          </p:cNvPr>
          <p:cNvSpPr/>
          <p:nvPr/>
        </p:nvSpPr>
        <p:spPr>
          <a:xfrm>
            <a:off x="-1671" y="1599"/>
            <a:ext cx="1451167" cy="6866954"/>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200">
              <a:latin typeface="Aptos"/>
              <a:ea typeface="Calibri"/>
              <a:cs typeface="Calibri"/>
            </a:endParaRPr>
          </a:p>
        </p:txBody>
      </p:sp>
      <p:sp>
        <p:nvSpPr>
          <p:cNvPr id="30" name="Rectangle 29">
            <a:extLst>
              <a:ext uri="{FF2B5EF4-FFF2-40B4-BE49-F238E27FC236}">
                <a16:creationId xmlns:a16="http://schemas.microsoft.com/office/drawing/2014/main" id="{6F585169-912B-5607-1272-0500A42D6A70}"/>
              </a:ext>
            </a:extLst>
          </p:cNvPr>
          <p:cNvSpPr/>
          <p:nvPr/>
        </p:nvSpPr>
        <p:spPr>
          <a:xfrm>
            <a:off x="-1671" y="2528038"/>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Типове клиенти</a:t>
            </a:r>
            <a:endParaRPr lang="en-GB" sz="1400">
              <a:latin typeface="Aptos"/>
              <a:ea typeface="Calibri"/>
              <a:cs typeface="Calibri"/>
            </a:endParaRPr>
          </a:p>
        </p:txBody>
      </p:sp>
      <p:sp>
        <p:nvSpPr>
          <p:cNvPr id="31" name="Rectangle 30">
            <a:extLst>
              <a:ext uri="{FF2B5EF4-FFF2-40B4-BE49-F238E27FC236}">
                <a16:creationId xmlns:a16="http://schemas.microsoft.com/office/drawing/2014/main" id="{786FD595-4819-0400-99EE-E8D0CB073E15}"/>
              </a:ext>
            </a:extLst>
          </p:cNvPr>
          <p:cNvSpPr/>
          <p:nvPr/>
        </p:nvSpPr>
        <p:spPr>
          <a:xfrm>
            <a:off x="8626" y="1913210"/>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b="1">
                <a:solidFill>
                  <a:srgbClr val="2F5597"/>
                </a:solidFill>
                <a:latin typeface="Aptos"/>
                <a:ea typeface="Calibri"/>
                <a:cs typeface="Calibri"/>
              </a:rPr>
              <a:t>Сценарии</a:t>
            </a:r>
            <a:endParaRPr lang="en-GB" sz="1400" b="1">
              <a:solidFill>
                <a:srgbClr val="2F5597"/>
              </a:solidFill>
              <a:latin typeface="Aptos"/>
              <a:ea typeface="Calibri"/>
              <a:cs typeface="Calibri"/>
            </a:endParaRPr>
          </a:p>
        </p:txBody>
      </p:sp>
      <p:sp>
        <p:nvSpPr>
          <p:cNvPr id="32" name="Rectangle 31">
            <a:extLst>
              <a:ext uri="{FF2B5EF4-FFF2-40B4-BE49-F238E27FC236}">
                <a16:creationId xmlns:a16="http://schemas.microsoft.com/office/drawing/2014/main" id="{E8BF7B94-CC70-DCB6-5B5D-AA69D335F7EF}"/>
              </a:ext>
            </a:extLst>
          </p:cNvPr>
          <p:cNvSpPr/>
          <p:nvPr/>
        </p:nvSpPr>
        <p:spPr>
          <a:xfrm>
            <a:off x="-1671" y="1298382"/>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b="1">
                <a:solidFill>
                  <a:schemeClr val="bg1"/>
                </a:solidFill>
                <a:latin typeface="Aptos"/>
                <a:ea typeface="Calibri"/>
                <a:cs typeface="Calibri"/>
              </a:rPr>
              <a:t>Стъпки при среща</a:t>
            </a:r>
            <a:endParaRPr lang="bg-BG" sz="1400">
              <a:solidFill>
                <a:srgbClr val="000000"/>
              </a:solidFill>
              <a:latin typeface="Aptos"/>
              <a:ea typeface="Calibri"/>
              <a:cs typeface="Calibri"/>
            </a:endParaRPr>
          </a:p>
        </p:txBody>
      </p:sp>
      <p:sp>
        <p:nvSpPr>
          <p:cNvPr id="33" name="Rectangle 28">
            <a:extLst>
              <a:ext uri="{FF2B5EF4-FFF2-40B4-BE49-F238E27FC236}">
                <a16:creationId xmlns:a16="http://schemas.microsoft.com/office/drawing/2014/main" id="{F0ABCD89-AC96-C064-BF24-89A568E28099}"/>
              </a:ext>
            </a:extLst>
          </p:cNvPr>
          <p:cNvSpPr/>
          <p:nvPr/>
        </p:nvSpPr>
        <p:spPr>
          <a:xfrm>
            <a:off x="6154" y="690328"/>
            <a:ext cx="1435083"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a:solidFill>
                  <a:schemeClr val="bg1"/>
                </a:solidFill>
                <a:latin typeface="Aptos"/>
                <a:ea typeface="Calibri"/>
                <a:cs typeface="Calibri"/>
              </a:rPr>
              <a:t>Подготовка</a:t>
            </a:r>
            <a:endParaRPr lang="en-GB" sz="1400">
              <a:solidFill>
                <a:schemeClr val="bg1"/>
              </a:solidFill>
              <a:latin typeface="Aptos"/>
              <a:ea typeface="Calibri"/>
              <a:cs typeface="Calibri"/>
            </a:endParaRPr>
          </a:p>
        </p:txBody>
      </p:sp>
      <p:pic>
        <p:nvPicPr>
          <p:cNvPr id="35" name="Picture 34">
            <a:extLst>
              <a:ext uri="{FF2B5EF4-FFF2-40B4-BE49-F238E27FC236}">
                <a16:creationId xmlns:a16="http://schemas.microsoft.com/office/drawing/2014/main" id="{E12D2334-D50A-BFE0-6906-86398D3A0B57}"/>
              </a:ext>
            </a:extLst>
          </p:cNvPr>
          <p:cNvPicPr>
            <a:picLocks noChangeAspect="1"/>
          </p:cNvPicPr>
          <p:nvPr/>
        </p:nvPicPr>
        <p:blipFill>
          <a:blip r:embed="rId2"/>
          <a:stretch>
            <a:fillRect/>
          </a:stretch>
        </p:blipFill>
        <p:spPr>
          <a:xfrm>
            <a:off x="11031388" y="5709427"/>
            <a:ext cx="982751" cy="995681"/>
          </a:xfrm>
          <a:prstGeom prst="rect">
            <a:avLst/>
          </a:prstGeom>
        </p:spPr>
      </p:pic>
      <p:sp>
        <p:nvSpPr>
          <p:cNvPr id="3" name="Овал 2">
            <a:extLst>
              <a:ext uri="{FF2B5EF4-FFF2-40B4-BE49-F238E27FC236}">
                <a16:creationId xmlns:a16="http://schemas.microsoft.com/office/drawing/2014/main" id="{53E20CD9-8779-87D0-31EF-55CD78A206EE}"/>
              </a:ext>
            </a:extLst>
          </p:cNvPr>
          <p:cNvSpPr/>
          <p:nvPr/>
        </p:nvSpPr>
        <p:spPr>
          <a:xfrm>
            <a:off x="16277461" y="1430065"/>
            <a:ext cx="177402" cy="159446"/>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20" name="Правоъгълник: със заоблени ъгли 16">
            <a:extLst>
              <a:ext uri="{FF2B5EF4-FFF2-40B4-BE49-F238E27FC236}">
                <a16:creationId xmlns:a16="http://schemas.microsoft.com/office/drawing/2014/main" id="{5155F4B1-1A3C-250C-D815-E6331DCD8162}"/>
              </a:ext>
            </a:extLst>
          </p:cNvPr>
          <p:cNvSpPr/>
          <p:nvPr/>
        </p:nvSpPr>
        <p:spPr>
          <a:xfrm>
            <a:off x="5294850" y="3553597"/>
            <a:ext cx="2013461" cy="519092"/>
          </a:xfrm>
          <a:prstGeom prst="roundRect">
            <a:avLst>
              <a:gd name="adj" fmla="val 50000"/>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Тренирай</a:t>
            </a:r>
          </a:p>
        </p:txBody>
      </p:sp>
      <p:sp>
        <p:nvSpPr>
          <p:cNvPr id="22" name="Rectangle: Rounded Corners 21">
            <a:extLst>
              <a:ext uri="{FF2B5EF4-FFF2-40B4-BE49-F238E27FC236}">
                <a16:creationId xmlns:a16="http://schemas.microsoft.com/office/drawing/2014/main" id="{C98B83F9-A6EB-C6D4-2CED-A10B83629DFD}"/>
              </a:ext>
            </a:extLst>
          </p:cNvPr>
          <p:cNvSpPr/>
          <p:nvPr/>
        </p:nvSpPr>
        <p:spPr>
          <a:xfrm>
            <a:off x="5375803" y="1552088"/>
            <a:ext cx="1841407" cy="467065"/>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600">
                <a:ea typeface="+mn-lt"/>
                <a:cs typeface="+mn-lt"/>
              </a:rPr>
              <a:t>Клиент влиза в Регионален офис</a:t>
            </a:r>
            <a:endParaRPr lang="en-US"/>
          </a:p>
        </p:txBody>
      </p:sp>
      <p:sp>
        <p:nvSpPr>
          <p:cNvPr id="24" name="Rectangle: Rounded Corners 23">
            <a:extLst>
              <a:ext uri="{FF2B5EF4-FFF2-40B4-BE49-F238E27FC236}">
                <a16:creationId xmlns:a16="http://schemas.microsoft.com/office/drawing/2014/main" id="{CD493A9A-9A89-972C-CE79-BE3E397CB325}"/>
              </a:ext>
            </a:extLst>
          </p:cNvPr>
          <p:cNvSpPr/>
          <p:nvPr/>
        </p:nvSpPr>
        <p:spPr>
          <a:xfrm>
            <a:off x="5368965" y="2135814"/>
            <a:ext cx="1841407" cy="467065"/>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ru-RU" sz="1600"/>
              <a:t>Пример 2</a:t>
            </a:r>
            <a:endParaRPr lang="en-GB" sz="1600"/>
          </a:p>
        </p:txBody>
      </p:sp>
      <p:sp>
        <p:nvSpPr>
          <p:cNvPr id="37" name="Rectangle: Rounded Corners 36">
            <a:extLst>
              <a:ext uri="{FF2B5EF4-FFF2-40B4-BE49-F238E27FC236}">
                <a16:creationId xmlns:a16="http://schemas.microsoft.com/office/drawing/2014/main" id="{667223BA-7A74-38EA-3F61-FA40959F647F}"/>
              </a:ext>
            </a:extLst>
          </p:cNvPr>
          <p:cNvSpPr/>
          <p:nvPr/>
        </p:nvSpPr>
        <p:spPr>
          <a:xfrm>
            <a:off x="5363880" y="2747723"/>
            <a:ext cx="1841407" cy="467065"/>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ru-RU" sz="1600"/>
              <a:t>Пример 3</a:t>
            </a:r>
            <a:endParaRPr lang="en-GB" sz="1600"/>
          </a:p>
        </p:txBody>
      </p:sp>
      <p:sp>
        <p:nvSpPr>
          <p:cNvPr id="39" name="Rectangle: Rounded Corners 1">
            <a:extLst>
              <a:ext uri="{FF2B5EF4-FFF2-40B4-BE49-F238E27FC236}">
                <a16:creationId xmlns:a16="http://schemas.microsoft.com/office/drawing/2014/main" id="{66602A79-D670-49E6-FC93-01EC1943028A}"/>
              </a:ext>
            </a:extLst>
          </p:cNvPr>
          <p:cNvSpPr/>
          <p:nvPr/>
        </p:nvSpPr>
        <p:spPr>
          <a:xfrm>
            <a:off x="7846395" y="1875905"/>
            <a:ext cx="3196027" cy="1667792"/>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600"/>
              <a:t>Видео</a:t>
            </a:r>
            <a:endParaRPr lang="en-GB" sz="1600"/>
          </a:p>
        </p:txBody>
      </p:sp>
    </p:spTree>
    <p:extLst>
      <p:ext uri="{BB962C8B-B14F-4D97-AF65-F5344CB8AC3E}">
        <p14:creationId xmlns:p14="http://schemas.microsoft.com/office/powerpoint/2010/main" val="1767252465"/>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D3EDE0-6019-6DFE-2B7B-FB6893086ED9}"/>
            </a:ext>
          </a:extLst>
        </p:cNvPr>
        <p:cNvGrpSpPr/>
        <p:nvPr/>
      </p:nvGrpSpPr>
      <p:grpSpPr>
        <a:xfrm>
          <a:off x="0" y="0"/>
          <a:ext cx="0" cy="0"/>
          <a:chOff x="0" y="0"/>
          <a:chExt cx="0" cy="0"/>
        </a:xfrm>
      </p:grpSpPr>
      <p:sp>
        <p:nvSpPr>
          <p:cNvPr id="25" name="Rectangle 28">
            <a:extLst>
              <a:ext uri="{FF2B5EF4-FFF2-40B4-BE49-F238E27FC236}">
                <a16:creationId xmlns:a16="http://schemas.microsoft.com/office/drawing/2014/main" id="{A1E238A4-F449-A058-C03D-6F521EBF5C21}"/>
              </a:ext>
            </a:extLst>
          </p:cNvPr>
          <p:cNvSpPr/>
          <p:nvPr/>
        </p:nvSpPr>
        <p:spPr>
          <a:xfrm>
            <a:off x="-15824" y="1599"/>
            <a:ext cx="1465320" cy="6859628"/>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400">
              <a:latin typeface="Aptos"/>
              <a:ea typeface="Calibri"/>
              <a:cs typeface="Calibri"/>
            </a:endParaRPr>
          </a:p>
        </p:txBody>
      </p:sp>
      <p:sp>
        <p:nvSpPr>
          <p:cNvPr id="26" name="Rectangle 29">
            <a:extLst>
              <a:ext uri="{FF2B5EF4-FFF2-40B4-BE49-F238E27FC236}">
                <a16:creationId xmlns:a16="http://schemas.microsoft.com/office/drawing/2014/main" id="{B14C2B0B-CCCF-99CA-BEA5-62EE4B300B1C}"/>
              </a:ext>
            </a:extLst>
          </p:cNvPr>
          <p:cNvSpPr/>
          <p:nvPr/>
        </p:nvSpPr>
        <p:spPr>
          <a:xfrm>
            <a:off x="-1671" y="2528038"/>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Типове клиенти</a:t>
            </a:r>
            <a:endParaRPr lang="en-GB" sz="1400">
              <a:latin typeface="Aptos"/>
              <a:ea typeface="Calibri"/>
              <a:cs typeface="Calibri"/>
            </a:endParaRPr>
          </a:p>
        </p:txBody>
      </p:sp>
      <p:sp>
        <p:nvSpPr>
          <p:cNvPr id="27" name="Rectangle 30">
            <a:extLst>
              <a:ext uri="{FF2B5EF4-FFF2-40B4-BE49-F238E27FC236}">
                <a16:creationId xmlns:a16="http://schemas.microsoft.com/office/drawing/2014/main" id="{318C736B-AC09-210F-97E1-72D49C04D7CE}"/>
              </a:ext>
            </a:extLst>
          </p:cNvPr>
          <p:cNvSpPr/>
          <p:nvPr/>
        </p:nvSpPr>
        <p:spPr>
          <a:xfrm>
            <a:off x="8626" y="1913210"/>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002060"/>
                </a:solidFill>
                <a:latin typeface="Aptos"/>
                <a:ea typeface="Calibri"/>
                <a:cs typeface="Calibri"/>
              </a:rPr>
              <a:t>Сценарии</a:t>
            </a:r>
            <a:endParaRPr lang="en-GB" sz="1400">
              <a:solidFill>
                <a:srgbClr val="002060"/>
              </a:solidFill>
              <a:latin typeface="Aptos"/>
              <a:ea typeface="Calibri"/>
              <a:cs typeface="Calibri"/>
            </a:endParaRPr>
          </a:p>
        </p:txBody>
      </p:sp>
      <p:sp>
        <p:nvSpPr>
          <p:cNvPr id="28" name="Rectangle 31">
            <a:extLst>
              <a:ext uri="{FF2B5EF4-FFF2-40B4-BE49-F238E27FC236}">
                <a16:creationId xmlns:a16="http://schemas.microsoft.com/office/drawing/2014/main" id="{D4E9A658-83EE-8878-C288-C13596D1EC8F}"/>
              </a:ext>
            </a:extLst>
          </p:cNvPr>
          <p:cNvSpPr/>
          <p:nvPr/>
        </p:nvSpPr>
        <p:spPr>
          <a:xfrm>
            <a:off x="-1671" y="1298382"/>
            <a:ext cx="1442908" cy="4485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chemeClr val="bg1"/>
                </a:solidFill>
                <a:latin typeface="Aptos"/>
                <a:ea typeface="Calibri"/>
                <a:cs typeface="Calibri"/>
              </a:rPr>
              <a:t>Стъпки в обаждането</a:t>
            </a:r>
            <a:endParaRPr lang="en-GB" sz="1400">
              <a:solidFill>
                <a:schemeClr val="bg1"/>
              </a:solidFill>
              <a:latin typeface="Aptos"/>
              <a:ea typeface="Calibri"/>
              <a:cs typeface="Calibri"/>
            </a:endParaRPr>
          </a:p>
        </p:txBody>
      </p:sp>
      <p:sp>
        <p:nvSpPr>
          <p:cNvPr id="29" name="Rectangle 3">
            <a:extLst>
              <a:ext uri="{FF2B5EF4-FFF2-40B4-BE49-F238E27FC236}">
                <a16:creationId xmlns:a16="http://schemas.microsoft.com/office/drawing/2014/main" id="{F922A926-C5DE-AD7D-E921-4A611AB9DA2D}"/>
              </a:ext>
            </a:extLst>
          </p:cNvPr>
          <p:cNvSpPr/>
          <p:nvPr/>
        </p:nvSpPr>
        <p:spPr>
          <a:xfrm>
            <a:off x="1443475" y="4245"/>
            <a:ext cx="5338363" cy="67724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30" name="Rectangle 4">
            <a:extLst>
              <a:ext uri="{FF2B5EF4-FFF2-40B4-BE49-F238E27FC236}">
                <a16:creationId xmlns:a16="http://schemas.microsoft.com/office/drawing/2014/main" id="{03F9087F-1C67-91D4-38A3-C51D6317DEEC}"/>
              </a:ext>
            </a:extLst>
          </p:cNvPr>
          <p:cNvSpPr/>
          <p:nvPr/>
        </p:nvSpPr>
        <p:spPr>
          <a:xfrm>
            <a:off x="6788435" y="4245"/>
            <a:ext cx="5417300" cy="677242"/>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31" name="Rectangle 28">
            <a:extLst>
              <a:ext uri="{FF2B5EF4-FFF2-40B4-BE49-F238E27FC236}">
                <a16:creationId xmlns:a16="http://schemas.microsoft.com/office/drawing/2014/main" id="{EB750D8C-A860-706C-5787-4713E404B18D}"/>
              </a:ext>
            </a:extLst>
          </p:cNvPr>
          <p:cNvSpPr/>
          <p:nvPr/>
        </p:nvSpPr>
        <p:spPr>
          <a:xfrm>
            <a:off x="-15827" y="690328"/>
            <a:ext cx="1465322"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FFFFFF"/>
                </a:solidFill>
                <a:latin typeface="Aptos"/>
                <a:ea typeface="Calibri"/>
                <a:cs typeface="Calibri"/>
              </a:rPr>
              <a:t>Подготовка</a:t>
            </a:r>
            <a:endParaRPr lang="en-GB" sz="1400">
              <a:solidFill>
                <a:srgbClr val="FFFFFF"/>
              </a:solidFill>
              <a:latin typeface="Aptos"/>
              <a:ea typeface="Calibri"/>
              <a:cs typeface="Calibri"/>
            </a:endParaRPr>
          </a:p>
        </p:txBody>
      </p:sp>
      <p:pic>
        <p:nvPicPr>
          <p:cNvPr id="2" name="Картина 1" descr="Картина, която съдържа текст, екранна снимка, софтуер, Уеб страница&#10;&#10;Генерирано от ИИ съдържание може да е неправилно.">
            <a:extLst>
              <a:ext uri="{FF2B5EF4-FFF2-40B4-BE49-F238E27FC236}">
                <a16:creationId xmlns:a16="http://schemas.microsoft.com/office/drawing/2014/main" id="{7B366E3E-FD99-C32E-A605-A4522A5D41B8}"/>
              </a:ext>
            </a:extLst>
          </p:cNvPr>
          <p:cNvPicPr>
            <a:picLocks noChangeAspect="1"/>
          </p:cNvPicPr>
          <p:nvPr/>
        </p:nvPicPr>
        <p:blipFill>
          <a:blip r:embed="rId2"/>
          <a:stretch>
            <a:fillRect/>
          </a:stretch>
        </p:blipFill>
        <p:spPr>
          <a:xfrm>
            <a:off x="1574800" y="794695"/>
            <a:ext cx="10434320" cy="5868049"/>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
        <p:nvSpPr>
          <p:cNvPr id="4" name="Балонче за говор: правоъгълник със заоблени ъгли 10">
            <a:extLst>
              <a:ext uri="{FF2B5EF4-FFF2-40B4-BE49-F238E27FC236}">
                <a16:creationId xmlns:a16="http://schemas.microsoft.com/office/drawing/2014/main" id="{AD3A86B3-46D6-8AF5-774D-05E2542EEFA2}"/>
              </a:ext>
            </a:extLst>
          </p:cNvPr>
          <p:cNvSpPr/>
          <p:nvPr/>
        </p:nvSpPr>
        <p:spPr>
          <a:xfrm>
            <a:off x="2805449" y="1441929"/>
            <a:ext cx="8232097" cy="4291186"/>
          </a:xfrm>
          <a:prstGeom prst="roundRect">
            <a:avLst>
              <a:gd name="adj" fmla="val 3622"/>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bg-BG" sz="1400"/>
          </a:p>
        </p:txBody>
      </p:sp>
      <p:sp>
        <p:nvSpPr>
          <p:cNvPr id="6" name="Текстово поле 15">
            <a:extLst>
              <a:ext uri="{FF2B5EF4-FFF2-40B4-BE49-F238E27FC236}">
                <a16:creationId xmlns:a16="http://schemas.microsoft.com/office/drawing/2014/main" id="{13560017-6D3F-4BE9-2DD4-4AA1DC15F4BB}"/>
              </a:ext>
            </a:extLst>
          </p:cNvPr>
          <p:cNvSpPr txBox="1"/>
          <p:nvPr/>
        </p:nvSpPr>
        <p:spPr>
          <a:xfrm>
            <a:off x="2950194" y="1531807"/>
            <a:ext cx="8087351" cy="3416320"/>
          </a:xfrm>
          <a:prstGeom prst="rect">
            <a:avLst/>
          </a:prstGeom>
          <a:noFill/>
        </p:spPr>
        <p:txBody>
          <a:bodyPr wrap="square" rtlCol="0">
            <a:spAutoFit/>
          </a:bodyPr>
          <a:lstStyle/>
          <a:p>
            <a:r>
              <a:rPr lang="ru-RU" sz="1200" b="1">
                <a:solidFill>
                  <a:schemeClr val="bg1"/>
                </a:solidFill>
              </a:rPr>
              <a:t>Посещение на адрес</a:t>
            </a:r>
            <a:br>
              <a:rPr lang="ru-RU" sz="1200">
                <a:solidFill>
                  <a:schemeClr val="bg1"/>
                </a:solidFill>
              </a:rPr>
            </a:br>
            <a:r>
              <a:rPr lang="ru-RU" sz="1200">
                <a:solidFill>
                  <a:schemeClr val="bg1"/>
                </a:solidFill>
              </a:rPr>
              <a:t>Тип: </a:t>
            </a:r>
            <a:r>
              <a:rPr lang="ru-RU" sz="1200" b="1">
                <a:solidFill>
                  <a:schemeClr val="bg1"/>
                </a:solidFill>
              </a:rPr>
              <a:t>активен</a:t>
            </a:r>
            <a:br>
              <a:rPr lang="ru-RU" sz="1200">
                <a:solidFill>
                  <a:schemeClr val="bg1"/>
                </a:solidFill>
              </a:rPr>
            </a:br>
            <a:r>
              <a:rPr lang="ru-RU" sz="1200">
                <a:solidFill>
                  <a:schemeClr val="bg1"/>
                </a:solidFill>
              </a:rPr>
              <a:t>Персонаж: </a:t>
            </a:r>
            <a:r>
              <a:rPr lang="ru-RU" sz="1200" b="1">
                <a:solidFill>
                  <a:schemeClr val="bg1"/>
                </a:solidFill>
              </a:rPr>
              <a:t>Иван Колев</a:t>
            </a:r>
            <a:br>
              <a:rPr lang="ru-RU" sz="1200">
                <a:solidFill>
                  <a:schemeClr val="bg1"/>
                </a:solidFill>
              </a:rPr>
            </a:br>
            <a:r>
              <a:rPr lang="ru-RU" sz="1200">
                <a:solidFill>
                  <a:schemeClr val="bg1"/>
                </a:solidFill>
              </a:rPr>
              <a:t>Профил: </a:t>
            </a:r>
            <a:r>
              <a:rPr lang="ru-RU" sz="1200" b="1">
                <a:solidFill>
                  <a:schemeClr val="bg1"/>
                </a:solidFill>
              </a:rPr>
              <a:t>клиент при посещение на адрес, 52 г.</a:t>
            </a:r>
            <a:br>
              <a:rPr lang="ru-RU" sz="1200">
                <a:solidFill>
                  <a:schemeClr val="bg1"/>
                </a:solidFill>
              </a:rPr>
            </a:br>
            <a:r>
              <a:rPr lang="ru-RU" sz="1200">
                <a:solidFill>
                  <a:schemeClr val="bg1"/>
                </a:solidFill>
              </a:rPr>
              <a:t>Контекст: очаква служителят да бъде уверен, ясен и уважителен в домашна среда.</a:t>
            </a:r>
            <a:br>
              <a:rPr lang="ru-RU" sz="1200">
                <a:solidFill>
                  <a:schemeClr val="bg1"/>
                </a:solidFill>
              </a:rPr>
            </a:br>
            <a:r>
              <a:rPr lang="ru-RU" sz="1200">
                <a:solidFill>
                  <a:schemeClr val="bg1"/>
                </a:solidFill>
              </a:rPr>
              <a:t>Цел: да се проведе спокоен, структуриран и професионален разговор в домашна среда.</a:t>
            </a:r>
            <a:br>
              <a:rPr lang="ru-RU" sz="1200">
                <a:solidFill>
                  <a:schemeClr val="bg1"/>
                </a:solidFill>
              </a:rPr>
            </a:br>
            <a:r>
              <a:rPr lang="ru-RU" sz="1200">
                <a:solidFill>
                  <a:schemeClr val="bg1"/>
                </a:solidFill>
              </a:rPr>
              <a:t>Логика на разговора: представяш се уверено; уважаваш личното пространство; създаваш усещане за сигурност; уточняваш причината за срещата; минаваш през параметрите; обобщаваш и завършваш ясно.</a:t>
            </a:r>
            <a:br>
              <a:rPr lang="ru-RU" sz="1200">
                <a:solidFill>
                  <a:schemeClr val="bg1"/>
                </a:solidFill>
              </a:rPr>
            </a:br>
            <a:r>
              <a:rPr lang="ru-RU" sz="1200">
                <a:solidFill>
                  <a:schemeClr val="bg1"/>
                </a:solidFill>
              </a:rPr>
              <a:t>Примерни реплики: „Благодаря, че ни приемате.“ / „Ще мина през основните стъпки, за да бъде всичко ясно.“ / „Нека първо уточним най-важното.“</a:t>
            </a:r>
            <a:br>
              <a:rPr lang="ru-RU" sz="1200">
                <a:solidFill>
                  <a:schemeClr val="bg1"/>
                </a:solidFill>
              </a:rPr>
            </a:br>
            <a:r>
              <a:rPr lang="ru-RU" sz="1200">
                <a:solidFill>
                  <a:schemeClr val="bg1"/>
                </a:solidFill>
              </a:rPr>
              <a:t>Възможни възражения: „Не искам да бързам.“, „Не съм сигурен каква сума ми е нужна.“, „Ще си помисля.“</a:t>
            </a:r>
            <a:br>
              <a:rPr lang="ru-RU" sz="1200">
                <a:solidFill>
                  <a:schemeClr val="bg1"/>
                </a:solidFill>
              </a:rPr>
            </a:br>
            <a:r>
              <a:rPr lang="ru-RU" sz="1200">
                <a:solidFill>
                  <a:schemeClr val="bg1"/>
                </a:solidFill>
              </a:rPr>
              <a:t>Подходящи техники: </a:t>
            </a:r>
            <a:r>
              <a:rPr lang="ru-RU" sz="1200" b="1">
                <a:solidFill>
                  <a:schemeClr val="bg1"/>
                </a:solidFill>
              </a:rPr>
              <a:t>огледална; тирбушон; относителна</a:t>
            </a:r>
            <a:br>
              <a:rPr lang="ru-RU" sz="1200">
                <a:solidFill>
                  <a:schemeClr val="bg1"/>
                </a:solidFill>
              </a:rPr>
            </a:br>
            <a:r>
              <a:rPr lang="ru-RU" sz="1200">
                <a:solidFill>
                  <a:schemeClr val="bg1"/>
                </a:solidFill>
              </a:rPr>
              <a:t>Следваща стъпка / финализиране: посещението на адрес е приложимо основно при първо кандидатстване и за клиенти, свързали се с кредитен консултант, офис или чрез заявка от колцентър. При такава среща документите могат да се оформят на място чрез мобилното приложение на служителя, а сумата може да бъде получена според договорения процес — на адрес, в офис или по банков път.</a:t>
            </a:r>
            <a:br>
              <a:rPr lang="ru-RU" sz="1200">
                <a:solidFill>
                  <a:schemeClr val="bg1"/>
                </a:solidFill>
              </a:rPr>
            </a:br>
            <a:r>
              <a:rPr lang="ru-RU" sz="1200">
                <a:solidFill>
                  <a:schemeClr val="bg1"/>
                </a:solidFill>
              </a:rPr>
              <a:t>Какво да не правиш: да влизаш прекалено рязко в темата; да нарушаваш личното пространство; да звучиш прибързано. </a:t>
            </a:r>
            <a:endParaRPr lang="bg-BG" sz="1200">
              <a:solidFill>
                <a:schemeClr val="bg1"/>
              </a:solidFill>
            </a:endParaRPr>
          </a:p>
        </p:txBody>
      </p:sp>
      <p:sp>
        <p:nvSpPr>
          <p:cNvPr id="8" name="Правоъгълник: със заоблени ъгли 16">
            <a:extLst>
              <a:ext uri="{FF2B5EF4-FFF2-40B4-BE49-F238E27FC236}">
                <a16:creationId xmlns:a16="http://schemas.microsoft.com/office/drawing/2014/main" id="{604F3D0F-E792-6D61-534D-C0E4BE823535}"/>
              </a:ext>
            </a:extLst>
          </p:cNvPr>
          <p:cNvSpPr/>
          <p:nvPr/>
        </p:nvSpPr>
        <p:spPr>
          <a:xfrm>
            <a:off x="3833597" y="5057170"/>
            <a:ext cx="6166351" cy="439481"/>
          </a:xfrm>
          <a:prstGeom prst="roundRect">
            <a:avLst>
              <a:gd name="adj" fmla="val 50000"/>
            </a:avLst>
          </a:prstGeom>
          <a:solidFill>
            <a:schemeClr val="bg1"/>
          </a:solidFill>
          <a:ln>
            <a:noFill/>
          </a:ln>
          <a:effectLst>
            <a:outerShdw blurRad="50800" dist="38100" dir="5400000" algn="t" rotWithShape="0">
              <a:prstClr val="black">
                <a:alpha val="40000"/>
              </a:prstClr>
            </a:outerShdw>
          </a:effectLst>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bg-BG" b="1">
                <a:solidFill>
                  <a:srgbClr val="002060"/>
                </a:solidFill>
              </a:rPr>
              <a:t>Тренирай</a:t>
            </a:r>
          </a:p>
        </p:txBody>
      </p:sp>
    </p:spTree>
    <p:extLst>
      <p:ext uri="{BB962C8B-B14F-4D97-AF65-F5344CB8AC3E}">
        <p14:creationId xmlns:p14="http://schemas.microsoft.com/office/powerpoint/2010/main" val="1975809022"/>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90EBC5-131B-DEDF-5BBC-3E76EAB4738D}"/>
            </a:ext>
          </a:extLst>
        </p:cNvPr>
        <p:cNvGrpSpPr/>
        <p:nvPr/>
      </p:nvGrpSpPr>
      <p:grpSpPr>
        <a:xfrm>
          <a:off x="0" y="0"/>
          <a:ext cx="0" cy="0"/>
          <a:chOff x="0" y="0"/>
          <a:chExt cx="0" cy="0"/>
        </a:xfrm>
      </p:grpSpPr>
      <p:sp>
        <p:nvSpPr>
          <p:cNvPr id="25" name="Rectangle 28">
            <a:extLst>
              <a:ext uri="{FF2B5EF4-FFF2-40B4-BE49-F238E27FC236}">
                <a16:creationId xmlns:a16="http://schemas.microsoft.com/office/drawing/2014/main" id="{85025229-73A3-AEAC-8D1E-2797BDC1E851}"/>
              </a:ext>
            </a:extLst>
          </p:cNvPr>
          <p:cNvSpPr/>
          <p:nvPr/>
        </p:nvSpPr>
        <p:spPr>
          <a:xfrm>
            <a:off x="-15824" y="1599"/>
            <a:ext cx="1465320" cy="6859628"/>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400">
              <a:latin typeface="Aptos"/>
              <a:ea typeface="Calibri"/>
              <a:cs typeface="Calibri"/>
            </a:endParaRPr>
          </a:p>
        </p:txBody>
      </p:sp>
      <p:sp>
        <p:nvSpPr>
          <p:cNvPr id="26" name="Rectangle 29">
            <a:extLst>
              <a:ext uri="{FF2B5EF4-FFF2-40B4-BE49-F238E27FC236}">
                <a16:creationId xmlns:a16="http://schemas.microsoft.com/office/drawing/2014/main" id="{93F5A6A4-AAAE-D17E-B675-283CA3692AC0}"/>
              </a:ext>
            </a:extLst>
          </p:cNvPr>
          <p:cNvSpPr/>
          <p:nvPr/>
        </p:nvSpPr>
        <p:spPr>
          <a:xfrm>
            <a:off x="-1671" y="2528038"/>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Типове клиенти</a:t>
            </a:r>
            <a:endParaRPr lang="en-GB" sz="1400">
              <a:latin typeface="Aptos"/>
              <a:ea typeface="Calibri"/>
              <a:cs typeface="Calibri"/>
            </a:endParaRPr>
          </a:p>
        </p:txBody>
      </p:sp>
      <p:sp>
        <p:nvSpPr>
          <p:cNvPr id="27" name="Rectangle 30">
            <a:extLst>
              <a:ext uri="{FF2B5EF4-FFF2-40B4-BE49-F238E27FC236}">
                <a16:creationId xmlns:a16="http://schemas.microsoft.com/office/drawing/2014/main" id="{C754FC02-39FD-2A68-ED84-135A86491E8E}"/>
              </a:ext>
            </a:extLst>
          </p:cNvPr>
          <p:cNvSpPr/>
          <p:nvPr/>
        </p:nvSpPr>
        <p:spPr>
          <a:xfrm>
            <a:off x="8626" y="1913210"/>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002060"/>
                </a:solidFill>
                <a:latin typeface="Aptos"/>
                <a:ea typeface="Calibri"/>
                <a:cs typeface="Calibri"/>
              </a:rPr>
              <a:t>Сценарии</a:t>
            </a:r>
            <a:endParaRPr lang="en-GB" sz="1400">
              <a:solidFill>
                <a:srgbClr val="002060"/>
              </a:solidFill>
              <a:latin typeface="Aptos"/>
              <a:ea typeface="Calibri"/>
              <a:cs typeface="Calibri"/>
            </a:endParaRPr>
          </a:p>
        </p:txBody>
      </p:sp>
      <p:sp>
        <p:nvSpPr>
          <p:cNvPr id="28" name="Rectangle 31">
            <a:extLst>
              <a:ext uri="{FF2B5EF4-FFF2-40B4-BE49-F238E27FC236}">
                <a16:creationId xmlns:a16="http://schemas.microsoft.com/office/drawing/2014/main" id="{0EB0D523-9EAC-09AC-96C4-13D967100076}"/>
              </a:ext>
            </a:extLst>
          </p:cNvPr>
          <p:cNvSpPr/>
          <p:nvPr/>
        </p:nvSpPr>
        <p:spPr>
          <a:xfrm>
            <a:off x="-1671" y="1298382"/>
            <a:ext cx="1442908" cy="4485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chemeClr val="bg1"/>
                </a:solidFill>
                <a:latin typeface="Aptos"/>
                <a:ea typeface="Calibri"/>
                <a:cs typeface="Calibri"/>
              </a:rPr>
              <a:t>Стъпки в обаждането</a:t>
            </a:r>
            <a:endParaRPr lang="en-GB" sz="1400">
              <a:solidFill>
                <a:schemeClr val="bg1"/>
              </a:solidFill>
              <a:latin typeface="Aptos"/>
              <a:ea typeface="Calibri"/>
              <a:cs typeface="Calibri"/>
            </a:endParaRPr>
          </a:p>
        </p:txBody>
      </p:sp>
      <p:sp>
        <p:nvSpPr>
          <p:cNvPr id="29" name="Rectangle 3">
            <a:extLst>
              <a:ext uri="{FF2B5EF4-FFF2-40B4-BE49-F238E27FC236}">
                <a16:creationId xmlns:a16="http://schemas.microsoft.com/office/drawing/2014/main" id="{D3D0DDCA-302C-8DF9-707B-2A79D54A6871}"/>
              </a:ext>
            </a:extLst>
          </p:cNvPr>
          <p:cNvSpPr/>
          <p:nvPr/>
        </p:nvSpPr>
        <p:spPr>
          <a:xfrm>
            <a:off x="1443475" y="4245"/>
            <a:ext cx="5338363" cy="67724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30" name="Rectangle 4">
            <a:extLst>
              <a:ext uri="{FF2B5EF4-FFF2-40B4-BE49-F238E27FC236}">
                <a16:creationId xmlns:a16="http://schemas.microsoft.com/office/drawing/2014/main" id="{6B8CEE9D-C320-B099-22FB-0A7B73913F1B}"/>
              </a:ext>
            </a:extLst>
          </p:cNvPr>
          <p:cNvSpPr/>
          <p:nvPr/>
        </p:nvSpPr>
        <p:spPr>
          <a:xfrm>
            <a:off x="6788435" y="4245"/>
            <a:ext cx="5417300" cy="677242"/>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31" name="Rectangle 28">
            <a:extLst>
              <a:ext uri="{FF2B5EF4-FFF2-40B4-BE49-F238E27FC236}">
                <a16:creationId xmlns:a16="http://schemas.microsoft.com/office/drawing/2014/main" id="{DBC11BAE-C14E-71F7-6655-7B897CC4A648}"/>
              </a:ext>
            </a:extLst>
          </p:cNvPr>
          <p:cNvSpPr/>
          <p:nvPr/>
        </p:nvSpPr>
        <p:spPr>
          <a:xfrm>
            <a:off x="-15827" y="690328"/>
            <a:ext cx="1465322"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FFFFFF"/>
                </a:solidFill>
                <a:latin typeface="Aptos"/>
                <a:ea typeface="Calibri"/>
                <a:cs typeface="Calibri"/>
              </a:rPr>
              <a:t>Подготовка</a:t>
            </a:r>
            <a:endParaRPr lang="en-GB" sz="1400">
              <a:solidFill>
                <a:srgbClr val="FFFFFF"/>
              </a:solidFill>
              <a:latin typeface="Aptos"/>
              <a:ea typeface="Calibri"/>
              <a:cs typeface="Calibri"/>
            </a:endParaRPr>
          </a:p>
        </p:txBody>
      </p:sp>
      <p:pic>
        <p:nvPicPr>
          <p:cNvPr id="2" name="Картина 1" descr="Картина, която съдържа текст, екранна снимка, софтуер, Уеб страница&#10;&#10;Генерирано от ИИ съдържание може да е неправилно.">
            <a:extLst>
              <a:ext uri="{FF2B5EF4-FFF2-40B4-BE49-F238E27FC236}">
                <a16:creationId xmlns:a16="http://schemas.microsoft.com/office/drawing/2014/main" id="{4394E440-4967-E872-EBD1-CE818B9CBB6C}"/>
              </a:ext>
            </a:extLst>
          </p:cNvPr>
          <p:cNvPicPr>
            <a:picLocks noChangeAspect="1"/>
          </p:cNvPicPr>
          <p:nvPr/>
        </p:nvPicPr>
        <p:blipFill>
          <a:blip r:embed="rId2"/>
          <a:stretch>
            <a:fillRect/>
          </a:stretch>
        </p:blipFill>
        <p:spPr>
          <a:xfrm>
            <a:off x="1574800" y="794695"/>
            <a:ext cx="10434320" cy="5868049"/>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Tree>
    <p:extLst>
      <p:ext uri="{BB962C8B-B14F-4D97-AF65-F5344CB8AC3E}">
        <p14:creationId xmlns:p14="http://schemas.microsoft.com/office/powerpoint/2010/main" val="2585682097"/>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1A17A1-4E16-6062-97E0-299166BFBC9C}"/>
            </a:ext>
          </a:extLst>
        </p:cNvPr>
        <p:cNvGrpSpPr/>
        <p:nvPr/>
      </p:nvGrpSpPr>
      <p:grpSpPr>
        <a:xfrm>
          <a:off x="0" y="0"/>
          <a:ext cx="0" cy="0"/>
          <a:chOff x="0" y="0"/>
          <a:chExt cx="0" cy="0"/>
        </a:xfrm>
      </p:grpSpPr>
      <p:sp>
        <p:nvSpPr>
          <p:cNvPr id="25" name="Rectangle 28">
            <a:extLst>
              <a:ext uri="{FF2B5EF4-FFF2-40B4-BE49-F238E27FC236}">
                <a16:creationId xmlns:a16="http://schemas.microsoft.com/office/drawing/2014/main" id="{9C98E4F8-BD08-D50F-6D5A-9FE1F4222C53}"/>
              </a:ext>
            </a:extLst>
          </p:cNvPr>
          <p:cNvSpPr/>
          <p:nvPr/>
        </p:nvSpPr>
        <p:spPr>
          <a:xfrm>
            <a:off x="-15824" y="1599"/>
            <a:ext cx="1465320" cy="6859628"/>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400">
              <a:latin typeface="Aptos"/>
              <a:ea typeface="Calibri"/>
              <a:cs typeface="Calibri"/>
            </a:endParaRPr>
          </a:p>
        </p:txBody>
      </p:sp>
      <p:sp>
        <p:nvSpPr>
          <p:cNvPr id="26" name="Rectangle 29">
            <a:extLst>
              <a:ext uri="{FF2B5EF4-FFF2-40B4-BE49-F238E27FC236}">
                <a16:creationId xmlns:a16="http://schemas.microsoft.com/office/drawing/2014/main" id="{4B46E285-5824-DC50-7EE6-659D0D23566E}"/>
              </a:ext>
            </a:extLst>
          </p:cNvPr>
          <p:cNvSpPr/>
          <p:nvPr/>
        </p:nvSpPr>
        <p:spPr>
          <a:xfrm>
            <a:off x="-1671" y="2528038"/>
            <a:ext cx="1442908" cy="448571"/>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latin typeface="Aptos"/>
                <a:ea typeface="Calibri"/>
                <a:cs typeface="Calibri"/>
              </a:rPr>
              <a:t>Типове клиенти</a:t>
            </a:r>
            <a:endParaRPr lang="en-GB" sz="1400">
              <a:latin typeface="Aptos"/>
              <a:ea typeface="Calibri"/>
              <a:cs typeface="Calibri"/>
            </a:endParaRPr>
          </a:p>
        </p:txBody>
      </p:sp>
      <p:sp>
        <p:nvSpPr>
          <p:cNvPr id="27" name="Rectangle 30">
            <a:extLst>
              <a:ext uri="{FF2B5EF4-FFF2-40B4-BE49-F238E27FC236}">
                <a16:creationId xmlns:a16="http://schemas.microsoft.com/office/drawing/2014/main" id="{4FF1D86D-5FC4-0E45-496D-C6807548F9D5}"/>
              </a:ext>
            </a:extLst>
          </p:cNvPr>
          <p:cNvSpPr/>
          <p:nvPr/>
        </p:nvSpPr>
        <p:spPr>
          <a:xfrm>
            <a:off x="8626" y="1913210"/>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002060"/>
                </a:solidFill>
                <a:latin typeface="Aptos"/>
                <a:ea typeface="Calibri"/>
                <a:cs typeface="Calibri"/>
              </a:rPr>
              <a:t>Сценарии</a:t>
            </a:r>
            <a:endParaRPr lang="en-GB" sz="1400">
              <a:solidFill>
                <a:srgbClr val="002060"/>
              </a:solidFill>
              <a:latin typeface="Aptos"/>
              <a:ea typeface="Calibri"/>
              <a:cs typeface="Calibri"/>
            </a:endParaRPr>
          </a:p>
        </p:txBody>
      </p:sp>
      <p:sp>
        <p:nvSpPr>
          <p:cNvPr id="28" name="Rectangle 31">
            <a:extLst>
              <a:ext uri="{FF2B5EF4-FFF2-40B4-BE49-F238E27FC236}">
                <a16:creationId xmlns:a16="http://schemas.microsoft.com/office/drawing/2014/main" id="{C5DF94F7-07CF-B4A7-010B-29F8668B03DE}"/>
              </a:ext>
            </a:extLst>
          </p:cNvPr>
          <p:cNvSpPr/>
          <p:nvPr/>
        </p:nvSpPr>
        <p:spPr>
          <a:xfrm>
            <a:off x="-1671" y="1298382"/>
            <a:ext cx="1442908" cy="4485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chemeClr val="bg1"/>
                </a:solidFill>
                <a:latin typeface="Aptos"/>
                <a:ea typeface="Calibri"/>
                <a:cs typeface="Calibri"/>
              </a:rPr>
              <a:t>Стъпки в обаждането</a:t>
            </a:r>
            <a:endParaRPr lang="en-GB" sz="1400">
              <a:solidFill>
                <a:schemeClr val="bg1"/>
              </a:solidFill>
              <a:latin typeface="Aptos"/>
              <a:ea typeface="Calibri"/>
              <a:cs typeface="Calibri"/>
            </a:endParaRPr>
          </a:p>
        </p:txBody>
      </p:sp>
      <p:sp>
        <p:nvSpPr>
          <p:cNvPr id="29" name="Rectangle 3">
            <a:extLst>
              <a:ext uri="{FF2B5EF4-FFF2-40B4-BE49-F238E27FC236}">
                <a16:creationId xmlns:a16="http://schemas.microsoft.com/office/drawing/2014/main" id="{8170B513-ACF8-6F70-7CBC-AFBBE8CDA11A}"/>
              </a:ext>
            </a:extLst>
          </p:cNvPr>
          <p:cNvSpPr/>
          <p:nvPr/>
        </p:nvSpPr>
        <p:spPr>
          <a:xfrm>
            <a:off x="1443475" y="4245"/>
            <a:ext cx="5338363" cy="67724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30" name="Rectangle 4">
            <a:extLst>
              <a:ext uri="{FF2B5EF4-FFF2-40B4-BE49-F238E27FC236}">
                <a16:creationId xmlns:a16="http://schemas.microsoft.com/office/drawing/2014/main" id="{CCF224F4-3FCD-775D-7BEA-53946FE77068}"/>
              </a:ext>
            </a:extLst>
          </p:cNvPr>
          <p:cNvSpPr/>
          <p:nvPr/>
        </p:nvSpPr>
        <p:spPr>
          <a:xfrm>
            <a:off x="6788435" y="4245"/>
            <a:ext cx="5417300" cy="677242"/>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31" name="Rectangle 28">
            <a:extLst>
              <a:ext uri="{FF2B5EF4-FFF2-40B4-BE49-F238E27FC236}">
                <a16:creationId xmlns:a16="http://schemas.microsoft.com/office/drawing/2014/main" id="{F58F83C3-95EA-0B23-2AB1-9C6441BE10F4}"/>
              </a:ext>
            </a:extLst>
          </p:cNvPr>
          <p:cNvSpPr/>
          <p:nvPr/>
        </p:nvSpPr>
        <p:spPr>
          <a:xfrm>
            <a:off x="-15827" y="690328"/>
            <a:ext cx="1465322"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FFFFFF"/>
                </a:solidFill>
                <a:latin typeface="Aptos"/>
                <a:ea typeface="Calibri"/>
                <a:cs typeface="Calibri"/>
              </a:rPr>
              <a:t>Подготовка</a:t>
            </a:r>
            <a:endParaRPr lang="en-GB" sz="1400">
              <a:solidFill>
                <a:srgbClr val="FFFFFF"/>
              </a:solidFill>
              <a:latin typeface="Aptos"/>
              <a:ea typeface="Calibri"/>
              <a:cs typeface="Calibri"/>
            </a:endParaRPr>
          </a:p>
        </p:txBody>
      </p:sp>
      <p:pic>
        <p:nvPicPr>
          <p:cNvPr id="3" name="Картина 2" descr="Картина, която съдържа текст, екранна снимка, Шрифт, Уеб страница&#10;&#10;Генерирано от ИИ съдържание може да е неправилно.">
            <a:extLst>
              <a:ext uri="{FF2B5EF4-FFF2-40B4-BE49-F238E27FC236}">
                <a16:creationId xmlns:a16="http://schemas.microsoft.com/office/drawing/2014/main" id="{3DE00D8D-6598-DF3F-94DE-0013BC24C77E}"/>
              </a:ext>
            </a:extLst>
          </p:cNvPr>
          <p:cNvPicPr>
            <a:picLocks noChangeAspect="1"/>
          </p:cNvPicPr>
          <p:nvPr/>
        </p:nvPicPr>
        <p:blipFill>
          <a:blip r:embed="rId2"/>
          <a:stretch>
            <a:fillRect/>
          </a:stretch>
        </p:blipFill>
        <p:spPr>
          <a:xfrm>
            <a:off x="1564640" y="807110"/>
            <a:ext cx="10525760" cy="5904180"/>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Tree>
    <p:extLst>
      <p:ext uri="{BB962C8B-B14F-4D97-AF65-F5344CB8AC3E}">
        <p14:creationId xmlns:p14="http://schemas.microsoft.com/office/powerpoint/2010/main" val="100166314"/>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B22587-BBDE-B383-A4AD-E0A13CEBE670}"/>
            </a:ext>
          </a:extLst>
        </p:cNvPr>
        <p:cNvGrpSpPr/>
        <p:nvPr/>
      </p:nvGrpSpPr>
      <p:grpSpPr>
        <a:xfrm>
          <a:off x="0" y="0"/>
          <a:ext cx="0" cy="0"/>
          <a:chOff x="0" y="0"/>
          <a:chExt cx="0" cy="0"/>
        </a:xfrm>
      </p:grpSpPr>
      <p:sp>
        <p:nvSpPr>
          <p:cNvPr id="28" name="Правоъгълник: със заоблени ъгли 27">
            <a:extLst>
              <a:ext uri="{FF2B5EF4-FFF2-40B4-BE49-F238E27FC236}">
                <a16:creationId xmlns:a16="http://schemas.microsoft.com/office/drawing/2014/main" id="{E7A7E94C-43E9-AF3F-7023-C6148CD1573F}"/>
              </a:ext>
            </a:extLst>
          </p:cNvPr>
          <p:cNvSpPr/>
          <p:nvPr/>
        </p:nvSpPr>
        <p:spPr>
          <a:xfrm>
            <a:off x="5298509" y="251749"/>
            <a:ext cx="3671794" cy="6172583"/>
          </a:xfrm>
          <a:prstGeom prst="roundRect">
            <a:avLst/>
          </a:prstGeom>
          <a:solidFill>
            <a:schemeClr val="bg1">
              <a:lumMod val="95000"/>
            </a:schemeClr>
          </a:solidFill>
          <a:ln>
            <a:noFill/>
          </a:ln>
          <a:effectLst>
            <a:outerShdw blurRad="63500" dist="38100" dir="270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pic>
        <p:nvPicPr>
          <p:cNvPr id="33" name="Picture 10" descr="Картина, която съдържа текст, екранна снимка&#10;&#10;Генерирано от ИИ съдържание може да е неправилно.">
            <a:extLst>
              <a:ext uri="{FF2B5EF4-FFF2-40B4-BE49-F238E27FC236}">
                <a16:creationId xmlns:a16="http://schemas.microsoft.com/office/drawing/2014/main" id="{AD75EE51-77DE-BCC2-BE73-673FB8C33B5D}"/>
              </a:ext>
            </a:extLst>
          </p:cNvPr>
          <p:cNvPicPr>
            <a:picLocks noChangeAspect="1"/>
          </p:cNvPicPr>
          <p:nvPr/>
        </p:nvPicPr>
        <p:blipFill>
          <a:blip r:embed="rId2"/>
          <a:srcRect b="88415"/>
          <a:stretch>
            <a:fillRect/>
          </a:stretch>
        </p:blipFill>
        <p:spPr>
          <a:xfrm>
            <a:off x="5267143" y="278693"/>
            <a:ext cx="3740239" cy="77148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43" name="Rectangle: Rounded Corners 11">
            <a:extLst>
              <a:ext uri="{FF2B5EF4-FFF2-40B4-BE49-F238E27FC236}">
                <a16:creationId xmlns:a16="http://schemas.microsoft.com/office/drawing/2014/main" id="{AC8BE80C-7868-8483-DA3A-99854A6003C5}"/>
              </a:ext>
            </a:extLst>
          </p:cNvPr>
          <p:cNvSpPr/>
          <p:nvPr/>
        </p:nvSpPr>
        <p:spPr>
          <a:xfrm>
            <a:off x="5263436" y="1046439"/>
            <a:ext cx="3740184" cy="355916"/>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r>
              <a:rPr lang="bg-BG" sz="1600"/>
              <a:t>Посещение на адрес</a:t>
            </a:r>
          </a:p>
        </p:txBody>
      </p:sp>
      <p:sp>
        <p:nvSpPr>
          <p:cNvPr id="47" name="Правоъгълник: със заоблени ъгли 16">
            <a:extLst>
              <a:ext uri="{FF2B5EF4-FFF2-40B4-BE49-F238E27FC236}">
                <a16:creationId xmlns:a16="http://schemas.microsoft.com/office/drawing/2014/main" id="{E82E890C-A010-EF68-7251-F35F66B30D88}"/>
              </a:ext>
            </a:extLst>
          </p:cNvPr>
          <p:cNvSpPr/>
          <p:nvPr/>
        </p:nvSpPr>
        <p:spPr>
          <a:xfrm>
            <a:off x="5904554" y="5318755"/>
            <a:ext cx="2344027" cy="434737"/>
          </a:xfrm>
          <a:prstGeom prst="roundRect">
            <a:avLst>
              <a:gd name="adj" fmla="val 50000"/>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200"/>
              <a:t>Тренирай</a:t>
            </a:r>
          </a:p>
        </p:txBody>
      </p:sp>
      <p:sp>
        <p:nvSpPr>
          <p:cNvPr id="48" name="Знак за умножение 47">
            <a:extLst>
              <a:ext uri="{FF2B5EF4-FFF2-40B4-BE49-F238E27FC236}">
                <a16:creationId xmlns:a16="http://schemas.microsoft.com/office/drawing/2014/main" id="{6A6A1DCF-8263-64AC-3A40-E2EA3E9A9B44}"/>
              </a:ext>
            </a:extLst>
          </p:cNvPr>
          <p:cNvSpPr/>
          <p:nvPr/>
        </p:nvSpPr>
        <p:spPr>
          <a:xfrm>
            <a:off x="8740355" y="1018902"/>
            <a:ext cx="284933" cy="392280"/>
          </a:xfrm>
          <a:prstGeom prst="mathMultiply">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59" name="Правоъгълник: със заоблени ъгли 58">
            <a:extLst>
              <a:ext uri="{FF2B5EF4-FFF2-40B4-BE49-F238E27FC236}">
                <a16:creationId xmlns:a16="http://schemas.microsoft.com/office/drawing/2014/main" id="{EC43F2F9-4E2A-D249-E28D-89F7688A28D2}"/>
              </a:ext>
            </a:extLst>
          </p:cNvPr>
          <p:cNvSpPr/>
          <p:nvPr/>
        </p:nvSpPr>
        <p:spPr>
          <a:xfrm>
            <a:off x="719415" y="256478"/>
            <a:ext cx="3671794" cy="6172583"/>
          </a:xfrm>
          <a:prstGeom prst="roundRect">
            <a:avLst/>
          </a:prstGeom>
          <a:solidFill>
            <a:schemeClr val="bg1">
              <a:lumMod val="95000"/>
            </a:schemeClr>
          </a:solidFill>
          <a:ln>
            <a:noFill/>
          </a:ln>
          <a:effectLst>
            <a:outerShdw blurRad="63500" dist="38100" dir="270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pic>
        <p:nvPicPr>
          <p:cNvPr id="60" name="Picture 10" descr="Картина, която съдържа текст, екранна снимка&#10;&#10;Генерирано от ИИ съдържание може да е неправилно.">
            <a:extLst>
              <a:ext uri="{FF2B5EF4-FFF2-40B4-BE49-F238E27FC236}">
                <a16:creationId xmlns:a16="http://schemas.microsoft.com/office/drawing/2014/main" id="{7EC69509-6EE0-C57F-DC45-1564AABF8D7C}"/>
              </a:ext>
            </a:extLst>
          </p:cNvPr>
          <p:cNvPicPr>
            <a:picLocks noChangeAspect="1"/>
          </p:cNvPicPr>
          <p:nvPr/>
        </p:nvPicPr>
        <p:blipFill>
          <a:blip r:embed="rId2"/>
          <a:srcRect b="88415"/>
          <a:stretch>
            <a:fillRect/>
          </a:stretch>
        </p:blipFill>
        <p:spPr>
          <a:xfrm>
            <a:off x="688049" y="260331"/>
            <a:ext cx="3740239" cy="77148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62" name="Стрелка надясно 61">
            <a:extLst>
              <a:ext uri="{FF2B5EF4-FFF2-40B4-BE49-F238E27FC236}">
                <a16:creationId xmlns:a16="http://schemas.microsoft.com/office/drawing/2014/main" id="{BF562213-0411-A07B-ED93-A381632FAFEE}"/>
              </a:ext>
            </a:extLst>
          </p:cNvPr>
          <p:cNvSpPr/>
          <p:nvPr/>
        </p:nvSpPr>
        <p:spPr>
          <a:xfrm>
            <a:off x="4584780" y="2818350"/>
            <a:ext cx="535883" cy="30763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3" name="Rectangle: Rounded Corners 2">
            <a:extLst>
              <a:ext uri="{FF2B5EF4-FFF2-40B4-BE49-F238E27FC236}">
                <a16:creationId xmlns:a16="http://schemas.microsoft.com/office/drawing/2014/main" id="{EB0F5EC4-0422-C51C-1C64-6A7A8AB9E737}"/>
              </a:ext>
            </a:extLst>
          </p:cNvPr>
          <p:cNvSpPr/>
          <p:nvPr/>
        </p:nvSpPr>
        <p:spPr>
          <a:xfrm>
            <a:off x="1053381" y="2244970"/>
            <a:ext cx="2871747" cy="767079"/>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ru-RU" sz="1600"/>
              <a:t>Настоящ клиент за нов кредит</a:t>
            </a:r>
            <a:endParaRPr lang="en-GB" sz="1600"/>
          </a:p>
        </p:txBody>
      </p:sp>
      <p:sp>
        <p:nvSpPr>
          <p:cNvPr id="6" name="Rectangle: Rounded Corners 5">
            <a:extLst>
              <a:ext uri="{FF2B5EF4-FFF2-40B4-BE49-F238E27FC236}">
                <a16:creationId xmlns:a16="http://schemas.microsoft.com/office/drawing/2014/main" id="{66B97B33-73DD-0C61-A2C0-F618A8FD9FD4}"/>
              </a:ext>
            </a:extLst>
          </p:cNvPr>
          <p:cNvSpPr/>
          <p:nvPr/>
        </p:nvSpPr>
        <p:spPr>
          <a:xfrm>
            <a:off x="1053381" y="1355245"/>
            <a:ext cx="2871747" cy="767079"/>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Нов клиент в офис</a:t>
            </a:r>
            <a:endParaRPr lang="en-GB" sz="1600"/>
          </a:p>
        </p:txBody>
      </p:sp>
      <p:sp>
        <p:nvSpPr>
          <p:cNvPr id="9" name="Rectangle: Rounded Corners 8">
            <a:extLst>
              <a:ext uri="{FF2B5EF4-FFF2-40B4-BE49-F238E27FC236}">
                <a16:creationId xmlns:a16="http://schemas.microsoft.com/office/drawing/2014/main" id="{A4D28998-15E3-15AB-D13F-F34355F08611}"/>
              </a:ext>
            </a:extLst>
          </p:cNvPr>
          <p:cNvSpPr/>
          <p:nvPr/>
        </p:nvSpPr>
        <p:spPr>
          <a:xfrm>
            <a:off x="1053381" y="3134695"/>
            <a:ext cx="2871747" cy="767079"/>
          </a:xfrm>
          <a:prstGeom prst="roundRect">
            <a:avLst/>
          </a:prstGeom>
          <a:solidFill>
            <a:srgbClr val="A5A5A5"/>
          </a:solidFill>
          <a:ln>
            <a:solidFill>
              <a:srgbClr val="A5A5A5"/>
            </a:solid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Настоящ клиент за рефинансиране</a:t>
            </a:r>
            <a:endParaRPr lang="en-GB" sz="1600"/>
          </a:p>
        </p:txBody>
      </p:sp>
      <p:sp>
        <p:nvSpPr>
          <p:cNvPr id="11" name="Rectangle 11">
            <a:extLst>
              <a:ext uri="{FF2B5EF4-FFF2-40B4-BE49-F238E27FC236}">
                <a16:creationId xmlns:a16="http://schemas.microsoft.com/office/drawing/2014/main" id="{B36D872E-579B-20A2-CC39-737AE527BD45}"/>
              </a:ext>
            </a:extLst>
          </p:cNvPr>
          <p:cNvSpPr/>
          <p:nvPr/>
        </p:nvSpPr>
        <p:spPr>
          <a:xfrm>
            <a:off x="1053381" y="4024421"/>
            <a:ext cx="2871747" cy="767079"/>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Посещение на адрес</a:t>
            </a:r>
            <a:endParaRPr lang="en-GB" sz="1600"/>
          </a:p>
        </p:txBody>
      </p:sp>
      <p:sp>
        <p:nvSpPr>
          <p:cNvPr id="15" name="Rectangle: Rounded Corners 14">
            <a:extLst>
              <a:ext uri="{FF2B5EF4-FFF2-40B4-BE49-F238E27FC236}">
                <a16:creationId xmlns:a16="http://schemas.microsoft.com/office/drawing/2014/main" id="{E32FC501-EDB7-16B6-B02C-5D0E24A07C52}"/>
              </a:ext>
            </a:extLst>
          </p:cNvPr>
          <p:cNvSpPr/>
          <p:nvPr/>
        </p:nvSpPr>
        <p:spPr>
          <a:xfrm>
            <a:off x="5421985" y="2002361"/>
            <a:ext cx="3400041" cy="467065"/>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600">
                <a:ea typeface="+mn-lt"/>
                <a:cs typeface="+mn-lt"/>
              </a:rPr>
              <a:t>Клиент посетен на домашен адрес</a:t>
            </a:r>
            <a:endParaRPr lang="en-US"/>
          </a:p>
        </p:txBody>
      </p:sp>
      <p:sp>
        <p:nvSpPr>
          <p:cNvPr id="21" name="Rectangle: Rounded Corners 1">
            <a:extLst>
              <a:ext uri="{FF2B5EF4-FFF2-40B4-BE49-F238E27FC236}">
                <a16:creationId xmlns:a16="http://schemas.microsoft.com/office/drawing/2014/main" id="{2410C6DC-0A5B-0B27-F0FD-AD05B73FBEB0}"/>
              </a:ext>
            </a:extLst>
          </p:cNvPr>
          <p:cNvSpPr/>
          <p:nvPr/>
        </p:nvSpPr>
        <p:spPr>
          <a:xfrm>
            <a:off x="5548849" y="4404358"/>
            <a:ext cx="3207574" cy="467065"/>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ru-RU" sz="1600"/>
              <a:t>Видео</a:t>
            </a:r>
            <a:endParaRPr lang="en-GB" sz="1600"/>
          </a:p>
        </p:txBody>
      </p:sp>
      <p:sp>
        <p:nvSpPr>
          <p:cNvPr id="41" name="Знак плюс 40">
            <a:extLst>
              <a:ext uri="{FF2B5EF4-FFF2-40B4-BE49-F238E27FC236}">
                <a16:creationId xmlns:a16="http://schemas.microsoft.com/office/drawing/2014/main" id="{67F94478-2778-098A-6BAA-A2F342AF3D89}"/>
              </a:ext>
            </a:extLst>
          </p:cNvPr>
          <p:cNvSpPr/>
          <p:nvPr/>
        </p:nvSpPr>
        <p:spPr>
          <a:xfrm>
            <a:off x="8586566" y="2046746"/>
            <a:ext cx="317560" cy="337408"/>
          </a:xfrm>
          <a:prstGeom prst="mathPlu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Tree>
    <p:extLst>
      <p:ext uri="{BB962C8B-B14F-4D97-AF65-F5344CB8AC3E}">
        <p14:creationId xmlns:p14="http://schemas.microsoft.com/office/powerpoint/2010/main" val="3587944158"/>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3033A-5D61-806C-5706-D00B63399A32}"/>
            </a:ext>
          </a:extLst>
        </p:cNvPr>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1DC482E9-F920-CEFE-CC9F-9BBEB0A3FFD6}"/>
              </a:ext>
            </a:extLst>
          </p:cNvPr>
          <p:cNvSpPr/>
          <p:nvPr/>
        </p:nvSpPr>
        <p:spPr>
          <a:xfrm>
            <a:off x="1893066" y="1041323"/>
            <a:ext cx="2706332" cy="715919"/>
          </a:xfrm>
          <a:prstGeom prst="roundRect">
            <a:avLst/>
          </a:prstGeom>
          <a:solidFill>
            <a:schemeClr val="bg1">
              <a:lumMod val="65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Агресивен</a:t>
            </a:r>
            <a:endParaRPr lang="en-GB" sz="1600"/>
          </a:p>
        </p:txBody>
      </p:sp>
      <p:sp>
        <p:nvSpPr>
          <p:cNvPr id="12" name="Rectangle: Rounded Corners 11">
            <a:extLst>
              <a:ext uri="{FF2B5EF4-FFF2-40B4-BE49-F238E27FC236}">
                <a16:creationId xmlns:a16="http://schemas.microsoft.com/office/drawing/2014/main" id="{91C63CA6-DA39-EA3D-C278-8499AD99A112}"/>
              </a:ext>
            </a:extLst>
          </p:cNvPr>
          <p:cNvSpPr/>
          <p:nvPr/>
        </p:nvSpPr>
        <p:spPr>
          <a:xfrm>
            <a:off x="1893066" y="1871904"/>
            <a:ext cx="2706332" cy="705772"/>
          </a:xfrm>
          <a:prstGeom prst="roundRect">
            <a:avLst/>
          </a:prstGeom>
          <a:solidFill>
            <a:schemeClr val="bg1">
              <a:lumMod val="65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Аналитичен</a:t>
            </a:r>
            <a:endParaRPr lang="en-GB" sz="1600"/>
          </a:p>
        </p:txBody>
      </p:sp>
      <p:sp>
        <p:nvSpPr>
          <p:cNvPr id="14" name="Rectangle: Rounded Corners 13">
            <a:extLst>
              <a:ext uri="{FF2B5EF4-FFF2-40B4-BE49-F238E27FC236}">
                <a16:creationId xmlns:a16="http://schemas.microsoft.com/office/drawing/2014/main" id="{C11D2FF7-CD4D-BACB-09C2-B9AA2038FEC5}"/>
              </a:ext>
            </a:extLst>
          </p:cNvPr>
          <p:cNvSpPr/>
          <p:nvPr/>
        </p:nvSpPr>
        <p:spPr>
          <a:xfrm>
            <a:off x="1893066" y="2692338"/>
            <a:ext cx="2706332" cy="699716"/>
          </a:xfrm>
          <a:prstGeom prst="roundRect">
            <a:avLst/>
          </a:prstGeom>
          <a:solidFill>
            <a:schemeClr val="bg1">
              <a:lumMod val="65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Трудно схватлив</a:t>
            </a:r>
            <a:endParaRPr lang="en-GB" sz="1600"/>
          </a:p>
        </p:txBody>
      </p:sp>
      <p:sp>
        <p:nvSpPr>
          <p:cNvPr id="13" name="Rectangle 9">
            <a:extLst>
              <a:ext uri="{FF2B5EF4-FFF2-40B4-BE49-F238E27FC236}">
                <a16:creationId xmlns:a16="http://schemas.microsoft.com/office/drawing/2014/main" id="{38CA1562-FE80-1477-6E31-6D399F32C167}"/>
              </a:ext>
            </a:extLst>
          </p:cNvPr>
          <p:cNvSpPr/>
          <p:nvPr/>
        </p:nvSpPr>
        <p:spPr>
          <a:xfrm>
            <a:off x="1893066" y="3506716"/>
            <a:ext cx="2706332" cy="692699"/>
          </a:xfrm>
          <a:prstGeom prst="roundRect">
            <a:avLst/>
          </a:prstGeom>
          <a:solidFill>
            <a:schemeClr val="bg1">
              <a:lumMod val="65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Злонамерен</a:t>
            </a:r>
            <a:endParaRPr lang="en-GB" sz="1600"/>
          </a:p>
        </p:txBody>
      </p:sp>
      <p:sp>
        <p:nvSpPr>
          <p:cNvPr id="15" name="Rectangle 11">
            <a:extLst>
              <a:ext uri="{FF2B5EF4-FFF2-40B4-BE49-F238E27FC236}">
                <a16:creationId xmlns:a16="http://schemas.microsoft.com/office/drawing/2014/main" id="{0D08309A-65A1-95CE-CB62-410A275E6B6F}"/>
              </a:ext>
            </a:extLst>
          </p:cNvPr>
          <p:cNvSpPr/>
          <p:nvPr/>
        </p:nvSpPr>
        <p:spPr>
          <a:xfrm>
            <a:off x="1893066" y="4314076"/>
            <a:ext cx="2706332" cy="677242"/>
          </a:xfrm>
          <a:prstGeom prst="roundRect">
            <a:avLst/>
          </a:prstGeom>
          <a:solidFill>
            <a:schemeClr val="bg1">
              <a:lumMod val="65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ВИП</a:t>
            </a:r>
            <a:endParaRPr lang="en-GB" sz="1600"/>
          </a:p>
        </p:txBody>
      </p:sp>
      <p:sp>
        <p:nvSpPr>
          <p:cNvPr id="11" name="Rectangle 9">
            <a:extLst>
              <a:ext uri="{FF2B5EF4-FFF2-40B4-BE49-F238E27FC236}">
                <a16:creationId xmlns:a16="http://schemas.microsoft.com/office/drawing/2014/main" id="{2810FA1C-0DEB-6887-C701-53D388E0AD19}"/>
              </a:ext>
            </a:extLst>
          </p:cNvPr>
          <p:cNvSpPr/>
          <p:nvPr/>
        </p:nvSpPr>
        <p:spPr>
          <a:xfrm>
            <a:off x="5053978" y="1872908"/>
            <a:ext cx="2706332" cy="705772"/>
          </a:xfrm>
          <a:prstGeom prst="roundRect">
            <a:avLst/>
          </a:prstGeom>
          <a:solidFill>
            <a:schemeClr val="bg1">
              <a:lumMod val="65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Подозрителен</a:t>
            </a:r>
            <a:endParaRPr lang="en-GB" sz="1600"/>
          </a:p>
        </p:txBody>
      </p:sp>
      <p:sp>
        <p:nvSpPr>
          <p:cNvPr id="16" name="Rectangle 11">
            <a:extLst>
              <a:ext uri="{FF2B5EF4-FFF2-40B4-BE49-F238E27FC236}">
                <a16:creationId xmlns:a16="http://schemas.microsoft.com/office/drawing/2014/main" id="{ECE0AE59-EECA-FD4F-F099-12DA3EB8C509}"/>
              </a:ext>
            </a:extLst>
          </p:cNvPr>
          <p:cNvSpPr/>
          <p:nvPr/>
        </p:nvSpPr>
        <p:spPr>
          <a:xfrm>
            <a:off x="5053978" y="1041324"/>
            <a:ext cx="2706332" cy="715918"/>
          </a:xfrm>
          <a:prstGeom prst="roundRect">
            <a:avLst/>
          </a:prstGeom>
          <a:solidFill>
            <a:schemeClr val="bg1">
              <a:lumMod val="65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Манипулативен</a:t>
            </a:r>
            <a:endParaRPr lang="en-GB" sz="1600"/>
          </a:p>
        </p:txBody>
      </p:sp>
      <p:sp>
        <p:nvSpPr>
          <p:cNvPr id="17" name="Rectangle 13">
            <a:extLst>
              <a:ext uri="{FF2B5EF4-FFF2-40B4-BE49-F238E27FC236}">
                <a16:creationId xmlns:a16="http://schemas.microsoft.com/office/drawing/2014/main" id="{69E6ADC8-D8D9-2EA0-06E1-6A71794DB590}"/>
              </a:ext>
            </a:extLst>
          </p:cNvPr>
          <p:cNvSpPr/>
          <p:nvPr/>
        </p:nvSpPr>
        <p:spPr>
          <a:xfrm>
            <a:off x="5053978" y="2694346"/>
            <a:ext cx="2706332" cy="695699"/>
          </a:xfrm>
          <a:prstGeom prst="roundRect">
            <a:avLst/>
          </a:prstGeom>
          <a:solidFill>
            <a:schemeClr val="bg1">
              <a:lumMod val="65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Нерешителен</a:t>
            </a:r>
            <a:endParaRPr lang="en-GB" sz="1600"/>
          </a:p>
        </p:txBody>
      </p:sp>
      <p:sp>
        <p:nvSpPr>
          <p:cNvPr id="18" name="Rectangle 9">
            <a:extLst>
              <a:ext uri="{FF2B5EF4-FFF2-40B4-BE49-F238E27FC236}">
                <a16:creationId xmlns:a16="http://schemas.microsoft.com/office/drawing/2014/main" id="{BFB527E6-ED78-34BC-6351-D7AD74CCD226}"/>
              </a:ext>
            </a:extLst>
          </p:cNvPr>
          <p:cNvSpPr/>
          <p:nvPr/>
        </p:nvSpPr>
        <p:spPr>
          <a:xfrm>
            <a:off x="5053978" y="4314076"/>
            <a:ext cx="2706332" cy="677242"/>
          </a:xfrm>
          <a:prstGeom prst="roundRect">
            <a:avLst/>
          </a:prstGeom>
          <a:solidFill>
            <a:schemeClr val="bg1">
              <a:lumMod val="65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Търсещ социален контакт</a:t>
            </a:r>
            <a:endParaRPr lang="en-GB" sz="1600"/>
          </a:p>
        </p:txBody>
      </p:sp>
      <p:sp>
        <p:nvSpPr>
          <p:cNvPr id="19" name="Rectangle 11">
            <a:extLst>
              <a:ext uri="{FF2B5EF4-FFF2-40B4-BE49-F238E27FC236}">
                <a16:creationId xmlns:a16="http://schemas.microsoft.com/office/drawing/2014/main" id="{B78C18BE-3A26-7E4D-AC27-387430ED541D}"/>
              </a:ext>
            </a:extLst>
          </p:cNvPr>
          <p:cNvSpPr/>
          <p:nvPr/>
        </p:nvSpPr>
        <p:spPr>
          <a:xfrm>
            <a:off x="5053978" y="3505711"/>
            <a:ext cx="2706332" cy="692699"/>
          </a:xfrm>
          <a:prstGeom prst="roundRect">
            <a:avLst/>
          </a:prstGeom>
          <a:solidFill>
            <a:schemeClr val="bg1">
              <a:lumMod val="65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Импулсивен </a:t>
            </a:r>
            <a:endParaRPr lang="en-GB" sz="1600"/>
          </a:p>
        </p:txBody>
      </p:sp>
      <p:sp>
        <p:nvSpPr>
          <p:cNvPr id="21" name="Rectangle 28">
            <a:extLst>
              <a:ext uri="{FF2B5EF4-FFF2-40B4-BE49-F238E27FC236}">
                <a16:creationId xmlns:a16="http://schemas.microsoft.com/office/drawing/2014/main" id="{539BA86B-8A9D-4FF9-861D-BB38CA7CB393}"/>
              </a:ext>
            </a:extLst>
          </p:cNvPr>
          <p:cNvSpPr/>
          <p:nvPr/>
        </p:nvSpPr>
        <p:spPr>
          <a:xfrm>
            <a:off x="-15824" y="1599"/>
            <a:ext cx="1465320" cy="6859628"/>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400">
              <a:latin typeface="Aptos"/>
              <a:ea typeface="Calibri"/>
              <a:cs typeface="Calibri"/>
            </a:endParaRPr>
          </a:p>
        </p:txBody>
      </p:sp>
      <p:sp>
        <p:nvSpPr>
          <p:cNvPr id="23" name="Rectangle 29">
            <a:extLst>
              <a:ext uri="{FF2B5EF4-FFF2-40B4-BE49-F238E27FC236}">
                <a16:creationId xmlns:a16="http://schemas.microsoft.com/office/drawing/2014/main" id="{6019BC87-1CC8-4389-B2EF-CF6254CEA9E6}"/>
              </a:ext>
            </a:extLst>
          </p:cNvPr>
          <p:cNvSpPr/>
          <p:nvPr/>
        </p:nvSpPr>
        <p:spPr>
          <a:xfrm>
            <a:off x="-1671" y="2528038"/>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002060"/>
                </a:solidFill>
                <a:latin typeface="Aptos"/>
                <a:ea typeface="Calibri"/>
                <a:cs typeface="Calibri"/>
              </a:rPr>
              <a:t>Типове клиенти</a:t>
            </a:r>
            <a:endParaRPr lang="en-GB" sz="1400">
              <a:solidFill>
                <a:srgbClr val="002060"/>
              </a:solidFill>
              <a:latin typeface="Aptos"/>
              <a:ea typeface="Calibri"/>
              <a:cs typeface="Calibri"/>
            </a:endParaRPr>
          </a:p>
        </p:txBody>
      </p:sp>
      <p:sp>
        <p:nvSpPr>
          <p:cNvPr id="24" name="Rectangle 30">
            <a:extLst>
              <a:ext uri="{FF2B5EF4-FFF2-40B4-BE49-F238E27FC236}">
                <a16:creationId xmlns:a16="http://schemas.microsoft.com/office/drawing/2014/main" id="{DAAED59D-D396-491C-B431-881E9311CD16}"/>
              </a:ext>
            </a:extLst>
          </p:cNvPr>
          <p:cNvSpPr/>
          <p:nvPr/>
        </p:nvSpPr>
        <p:spPr>
          <a:xfrm>
            <a:off x="8626" y="1913210"/>
            <a:ext cx="1442908" cy="4485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chemeClr val="bg1"/>
                </a:solidFill>
                <a:latin typeface="Aptos"/>
                <a:ea typeface="Calibri"/>
                <a:cs typeface="Calibri"/>
              </a:rPr>
              <a:t>Сценарии</a:t>
            </a:r>
            <a:endParaRPr lang="en-GB" sz="1400">
              <a:solidFill>
                <a:schemeClr val="bg1"/>
              </a:solidFill>
              <a:latin typeface="Aptos"/>
              <a:ea typeface="Calibri"/>
              <a:cs typeface="Calibri"/>
            </a:endParaRPr>
          </a:p>
        </p:txBody>
      </p:sp>
      <p:sp>
        <p:nvSpPr>
          <p:cNvPr id="25" name="Rectangle 31">
            <a:extLst>
              <a:ext uri="{FF2B5EF4-FFF2-40B4-BE49-F238E27FC236}">
                <a16:creationId xmlns:a16="http://schemas.microsoft.com/office/drawing/2014/main" id="{EEFC3FFB-C879-4B10-9A61-04BB268C4203}"/>
              </a:ext>
            </a:extLst>
          </p:cNvPr>
          <p:cNvSpPr/>
          <p:nvPr/>
        </p:nvSpPr>
        <p:spPr>
          <a:xfrm>
            <a:off x="-1671" y="1298382"/>
            <a:ext cx="1442908" cy="4485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b="1">
                <a:solidFill>
                  <a:schemeClr val="bg1"/>
                </a:solidFill>
                <a:latin typeface="Aptos"/>
                <a:ea typeface="Calibri"/>
                <a:cs typeface="Calibri"/>
              </a:rPr>
              <a:t>Стъпки при среща</a:t>
            </a:r>
            <a:endParaRPr lang="bg-BG" sz="1400">
              <a:solidFill>
                <a:srgbClr val="000000"/>
              </a:solidFill>
              <a:latin typeface="Aptos"/>
              <a:ea typeface="Calibri"/>
              <a:cs typeface="Calibri"/>
            </a:endParaRPr>
          </a:p>
        </p:txBody>
      </p:sp>
      <p:sp>
        <p:nvSpPr>
          <p:cNvPr id="26" name="Rectangle 3">
            <a:extLst>
              <a:ext uri="{FF2B5EF4-FFF2-40B4-BE49-F238E27FC236}">
                <a16:creationId xmlns:a16="http://schemas.microsoft.com/office/drawing/2014/main" id="{11021AFC-D1D0-4168-AD67-280BE636FB9D}"/>
              </a:ext>
            </a:extLst>
          </p:cNvPr>
          <p:cNvSpPr/>
          <p:nvPr/>
        </p:nvSpPr>
        <p:spPr>
          <a:xfrm>
            <a:off x="1443475" y="4245"/>
            <a:ext cx="5338363" cy="677242"/>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27" name="Rectangle 4">
            <a:extLst>
              <a:ext uri="{FF2B5EF4-FFF2-40B4-BE49-F238E27FC236}">
                <a16:creationId xmlns:a16="http://schemas.microsoft.com/office/drawing/2014/main" id="{D36FD2B6-930C-4D18-8D34-FBB3AE283422}"/>
              </a:ext>
            </a:extLst>
          </p:cNvPr>
          <p:cNvSpPr/>
          <p:nvPr/>
        </p:nvSpPr>
        <p:spPr>
          <a:xfrm>
            <a:off x="6788435" y="4245"/>
            <a:ext cx="5417300" cy="677242"/>
          </a:xfrm>
          <a:prstGeom prst="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sp>
        <p:nvSpPr>
          <p:cNvPr id="28" name="Rectangle 28">
            <a:extLst>
              <a:ext uri="{FF2B5EF4-FFF2-40B4-BE49-F238E27FC236}">
                <a16:creationId xmlns:a16="http://schemas.microsoft.com/office/drawing/2014/main" id="{BFCA0291-EFA9-4CEA-A654-F76AFAD4EEED}"/>
              </a:ext>
            </a:extLst>
          </p:cNvPr>
          <p:cNvSpPr/>
          <p:nvPr/>
        </p:nvSpPr>
        <p:spPr>
          <a:xfrm>
            <a:off x="-15827" y="690328"/>
            <a:ext cx="1465322"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FFFFFF"/>
                </a:solidFill>
                <a:latin typeface="Aptos"/>
                <a:ea typeface="Calibri"/>
                <a:cs typeface="Calibri"/>
              </a:rPr>
              <a:t>Подготовка</a:t>
            </a:r>
            <a:endParaRPr lang="en-GB" sz="1400">
              <a:solidFill>
                <a:srgbClr val="FFFFFF"/>
              </a:solidFill>
              <a:latin typeface="Aptos"/>
              <a:ea typeface="Calibri"/>
              <a:cs typeface="Calibri"/>
            </a:endParaRPr>
          </a:p>
        </p:txBody>
      </p:sp>
      <p:pic>
        <p:nvPicPr>
          <p:cNvPr id="20" name="Picture 19">
            <a:extLst>
              <a:ext uri="{FF2B5EF4-FFF2-40B4-BE49-F238E27FC236}">
                <a16:creationId xmlns:a16="http://schemas.microsoft.com/office/drawing/2014/main" id="{54E854A1-4435-47D6-8AB7-9C3D54EE9F56}"/>
              </a:ext>
            </a:extLst>
          </p:cNvPr>
          <p:cNvPicPr>
            <a:picLocks noChangeAspect="1"/>
          </p:cNvPicPr>
          <p:nvPr/>
        </p:nvPicPr>
        <p:blipFill>
          <a:blip r:embed="rId2"/>
          <a:stretch>
            <a:fillRect/>
          </a:stretch>
        </p:blipFill>
        <p:spPr>
          <a:xfrm>
            <a:off x="10883590" y="5621341"/>
            <a:ext cx="982751" cy="995681"/>
          </a:xfrm>
          <a:prstGeom prst="rect">
            <a:avLst/>
          </a:prstGeom>
        </p:spPr>
      </p:pic>
    </p:spTree>
    <p:extLst>
      <p:ext uri="{BB962C8B-B14F-4D97-AF65-F5344CB8AC3E}">
        <p14:creationId xmlns:p14="http://schemas.microsoft.com/office/powerpoint/2010/main" val="3884422014"/>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0287C1-523B-A3B9-434A-290F129F68A1}"/>
            </a:ext>
          </a:extLst>
        </p:cNvPr>
        <p:cNvGrpSpPr/>
        <p:nvPr/>
      </p:nvGrpSpPr>
      <p:grpSpPr>
        <a:xfrm>
          <a:off x="0" y="0"/>
          <a:ext cx="0" cy="0"/>
          <a:chOff x="0" y="0"/>
          <a:chExt cx="0" cy="0"/>
        </a:xfrm>
      </p:grpSpPr>
      <p:sp>
        <p:nvSpPr>
          <p:cNvPr id="33" name="Rectangle 28">
            <a:extLst>
              <a:ext uri="{FF2B5EF4-FFF2-40B4-BE49-F238E27FC236}">
                <a16:creationId xmlns:a16="http://schemas.microsoft.com/office/drawing/2014/main" id="{08ECC4A9-8DA0-468D-ADCA-CA382E45F018}"/>
              </a:ext>
            </a:extLst>
          </p:cNvPr>
          <p:cNvSpPr/>
          <p:nvPr/>
        </p:nvSpPr>
        <p:spPr>
          <a:xfrm>
            <a:off x="-15824" y="1599"/>
            <a:ext cx="1465320" cy="6859628"/>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400">
              <a:latin typeface="Aptos"/>
              <a:ea typeface="Calibri"/>
              <a:cs typeface="Calibri"/>
            </a:endParaRPr>
          </a:p>
        </p:txBody>
      </p:sp>
      <p:sp>
        <p:nvSpPr>
          <p:cNvPr id="34" name="Rectangle 29">
            <a:extLst>
              <a:ext uri="{FF2B5EF4-FFF2-40B4-BE49-F238E27FC236}">
                <a16:creationId xmlns:a16="http://schemas.microsoft.com/office/drawing/2014/main" id="{33B41028-0E83-4BC8-B39E-CC09F86201F5}"/>
              </a:ext>
            </a:extLst>
          </p:cNvPr>
          <p:cNvSpPr/>
          <p:nvPr/>
        </p:nvSpPr>
        <p:spPr>
          <a:xfrm>
            <a:off x="-1671" y="2528038"/>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002060"/>
                </a:solidFill>
                <a:latin typeface="Aptos"/>
                <a:ea typeface="Calibri"/>
                <a:cs typeface="Calibri"/>
              </a:rPr>
              <a:t>Типове клиенти</a:t>
            </a:r>
            <a:endParaRPr lang="en-GB" sz="1400">
              <a:solidFill>
                <a:srgbClr val="002060"/>
              </a:solidFill>
              <a:latin typeface="Aptos"/>
              <a:ea typeface="Calibri"/>
              <a:cs typeface="Calibri"/>
            </a:endParaRPr>
          </a:p>
        </p:txBody>
      </p:sp>
      <p:sp>
        <p:nvSpPr>
          <p:cNvPr id="35" name="Rectangle 30">
            <a:extLst>
              <a:ext uri="{FF2B5EF4-FFF2-40B4-BE49-F238E27FC236}">
                <a16:creationId xmlns:a16="http://schemas.microsoft.com/office/drawing/2014/main" id="{8048FEA3-BEBF-4292-8F68-C029B13FC9BD}"/>
              </a:ext>
            </a:extLst>
          </p:cNvPr>
          <p:cNvSpPr/>
          <p:nvPr/>
        </p:nvSpPr>
        <p:spPr>
          <a:xfrm>
            <a:off x="8626" y="1913210"/>
            <a:ext cx="1442908" cy="4485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chemeClr val="bg1"/>
                </a:solidFill>
                <a:latin typeface="Aptos"/>
                <a:ea typeface="Calibri"/>
                <a:cs typeface="Calibri"/>
              </a:rPr>
              <a:t>Сценарии</a:t>
            </a:r>
            <a:endParaRPr lang="en-GB" sz="1400">
              <a:solidFill>
                <a:schemeClr val="bg1"/>
              </a:solidFill>
              <a:latin typeface="Aptos"/>
              <a:ea typeface="Calibri"/>
              <a:cs typeface="Calibri"/>
            </a:endParaRPr>
          </a:p>
        </p:txBody>
      </p:sp>
      <p:sp>
        <p:nvSpPr>
          <p:cNvPr id="36" name="Rectangle 31">
            <a:extLst>
              <a:ext uri="{FF2B5EF4-FFF2-40B4-BE49-F238E27FC236}">
                <a16:creationId xmlns:a16="http://schemas.microsoft.com/office/drawing/2014/main" id="{0770F462-5C92-4E0B-B416-A7E09DB8069A}"/>
              </a:ext>
            </a:extLst>
          </p:cNvPr>
          <p:cNvSpPr/>
          <p:nvPr/>
        </p:nvSpPr>
        <p:spPr>
          <a:xfrm>
            <a:off x="-1671" y="1298382"/>
            <a:ext cx="1442908" cy="4485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b="1">
                <a:solidFill>
                  <a:schemeClr val="bg1"/>
                </a:solidFill>
                <a:latin typeface="Aptos"/>
                <a:ea typeface="Calibri"/>
                <a:cs typeface="Calibri"/>
              </a:rPr>
              <a:t>Стъпки при среща</a:t>
            </a:r>
            <a:endParaRPr lang="bg-BG" sz="1400">
              <a:solidFill>
                <a:srgbClr val="000000"/>
              </a:solidFill>
              <a:latin typeface="Aptos"/>
              <a:ea typeface="Calibri"/>
              <a:cs typeface="Calibri"/>
            </a:endParaRPr>
          </a:p>
        </p:txBody>
      </p:sp>
      <p:sp>
        <p:nvSpPr>
          <p:cNvPr id="39" name="Rectangle 28">
            <a:extLst>
              <a:ext uri="{FF2B5EF4-FFF2-40B4-BE49-F238E27FC236}">
                <a16:creationId xmlns:a16="http://schemas.microsoft.com/office/drawing/2014/main" id="{7167A0BC-DE3A-4A78-A5D6-E86AAD065582}"/>
              </a:ext>
            </a:extLst>
          </p:cNvPr>
          <p:cNvSpPr/>
          <p:nvPr/>
        </p:nvSpPr>
        <p:spPr>
          <a:xfrm>
            <a:off x="-15827" y="690328"/>
            <a:ext cx="1465322"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FFFFFF"/>
                </a:solidFill>
                <a:latin typeface="Aptos"/>
                <a:ea typeface="Calibri"/>
                <a:cs typeface="Calibri"/>
              </a:rPr>
              <a:t>Подготовка</a:t>
            </a:r>
            <a:endParaRPr lang="en-GB" sz="1400">
              <a:solidFill>
                <a:srgbClr val="FFFFFF"/>
              </a:solidFill>
              <a:latin typeface="Aptos"/>
              <a:ea typeface="Calibri"/>
              <a:cs typeface="Calibri"/>
            </a:endParaRPr>
          </a:p>
        </p:txBody>
      </p:sp>
      <p:sp>
        <p:nvSpPr>
          <p:cNvPr id="40" name="Rectangle: Rounded Corners 39">
            <a:extLst>
              <a:ext uri="{FF2B5EF4-FFF2-40B4-BE49-F238E27FC236}">
                <a16:creationId xmlns:a16="http://schemas.microsoft.com/office/drawing/2014/main" id="{BC435E6C-7DDD-4162-817B-A0268A60C7F0}"/>
              </a:ext>
            </a:extLst>
          </p:cNvPr>
          <p:cNvSpPr/>
          <p:nvPr/>
        </p:nvSpPr>
        <p:spPr>
          <a:xfrm>
            <a:off x="1893066" y="1041323"/>
            <a:ext cx="2706332" cy="715919"/>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Агресивен</a:t>
            </a:r>
            <a:endParaRPr lang="en-GB" sz="1600"/>
          </a:p>
        </p:txBody>
      </p:sp>
      <p:sp>
        <p:nvSpPr>
          <p:cNvPr id="41" name="Rectangle: Rounded Corners 40">
            <a:extLst>
              <a:ext uri="{FF2B5EF4-FFF2-40B4-BE49-F238E27FC236}">
                <a16:creationId xmlns:a16="http://schemas.microsoft.com/office/drawing/2014/main" id="{37A55955-7DCA-43DE-8411-26A55C00A42F}"/>
              </a:ext>
            </a:extLst>
          </p:cNvPr>
          <p:cNvSpPr/>
          <p:nvPr/>
        </p:nvSpPr>
        <p:spPr>
          <a:xfrm>
            <a:off x="1893066" y="1871904"/>
            <a:ext cx="2706332" cy="705772"/>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Аналитичен</a:t>
            </a:r>
            <a:endParaRPr lang="en-GB" sz="1600"/>
          </a:p>
        </p:txBody>
      </p:sp>
      <p:sp>
        <p:nvSpPr>
          <p:cNvPr id="42" name="Rectangle: Rounded Corners 41">
            <a:extLst>
              <a:ext uri="{FF2B5EF4-FFF2-40B4-BE49-F238E27FC236}">
                <a16:creationId xmlns:a16="http://schemas.microsoft.com/office/drawing/2014/main" id="{99E90F0E-B615-4733-96EF-E03372929250}"/>
              </a:ext>
            </a:extLst>
          </p:cNvPr>
          <p:cNvSpPr/>
          <p:nvPr/>
        </p:nvSpPr>
        <p:spPr>
          <a:xfrm>
            <a:off x="1893066" y="2692338"/>
            <a:ext cx="2706332" cy="699716"/>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Трудно схватлив</a:t>
            </a:r>
            <a:endParaRPr lang="en-GB" sz="1600"/>
          </a:p>
        </p:txBody>
      </p:sp>
      <p:sp>
        <p:nvSpPr>
          <p:cNvPr id="43" name="Rectangle 9">
            <a:extLst>
              <a:ext uri="{FF2B5EF4-FFF2-40B4-BE49-F238E27FC236}">
                <a16:creationId xmlns:a16="http://schemas.microsoft.com/office/drawing/2014/main" id="{8407F19A-C89C-4D08-93B2-226EF133CF30}"/>
              </a:ext>
            </a:extLst>
          </p:cNvPr>
          <p:cNvSpPr/>
          <p:nvPr/>
        </p:nvSpPr>
        <p:spPr>
          <a:xfrm>
            <a:off x="1893066" y="3506716"/>
            <a:ext cx="2706332" cy="692699"/>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Злонамерен</a:t>
            </a:r>
            <a:endParaRPr lang="en-GB" sz="1600"/>
          </a:p>
        </p:txBody>
      </p:sp>
      <p:sp>
        <p:nvSpPr>
          <p:cNvPr id="44" name="Rectangle 11">
            <a:extLst>
              <a:ext uri="{FF2B5EF4-FFF2-40B4-BE49-F238E27FC236}">
                <a16:creationId xmlns:a16="http://schemas.microsoft.com/office/drawing/2014/main" id="{EE482162-6E34-4AAE-AA31-35AD180B5799}"/>
              </a:ext>
            </a:extLst>
          </p:cNvPr>
          <p:cNvSpPr/>
          <p:nvPr/>
        </p:nvSpPr>
        <p:spPr>
          <a:xfrm>
            <a:off x="1893066" y="4314076"/>
            <a:ext cx="2706332" cy="677242"/>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ВИП</a:t>
            </a:r>
            <a:endParaRPr lang="en-GB" sz="1600"/>
          </a:p>
        </p:txBody>
      </p:sp>
      <p:sp>
        <p:nvSpPr>
          <p:cNvPr id="45" name="Rectangle 9">
            <a:extLst>
              <a:ext uri="{FF2B5EF4-FFF2-40B4-BE49-F238E27FC236}">
                <a16:creationId xmlns:a16="http://schemas.microsoft.com/office/drawing/2014/main" id="{26D26A0B-CE6F-4E0D-8FBD-208BDD62AC31}"/>
              </a:ext>
            </a:extLst>
          </p:cNvPr>
          <p:cNvSpPr/>
          <p:nvPr/>
        </p:nvSpPr>
        <p:spPr>
          <a:xfrm>
            <a:off x="5053978" y="1872908"/>
            <a:ext cx="2706332" cy="705772"/>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Подозрителен</a:t>
            </a:r>
            <a:endParaRPr lang="en-GB" sz="1600"/>
          </a:p>
        </p:txBody>
      </p:sp>
      <p:sp>
        <p:nvSpPr>
          <p:cNvPr id="46" name="Rectangle 11">
            <a:extLst>
              <a:ext uri="{FF2B5EF4-FFF2-40B4-BE49-F238E27FC236}">
                <a16:creationId xmlns:a16="http://schemas.microsoft.com/office/drawing/2014/main" id="{ECA6E0D2-6B76-4519-9383-87BE9748AD2B}"/>
              </a:ext>
            </a:extLst>
          </p:cNvPr>
          <p:cNvSpPr/>
          <p:nvPr/>
        </p:nvSpPr>
        <p:spPr>
          <a:xfrm>
            <a:off x="5053978" y="1041324"/>
            <a:ext cx="2706332" cy="715918"/>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Манипулативен</a:t>
            </a:r>
            <a:endParaRPr lang="en-GB" sz="1600"/>
          </a:p>
        </p:txBody>
      </p:sp>
      <p:sp>
        <p:nvSpPr>
          <p:cNvPr id="47" name="Rectangle 13">
            <a:extLst>
              <a:ext uri="{FF2B5EF4-FFF2-40B4-BE49-F238E27FC236}">
                <a16:creationId xmlns:a16="http://schemas.microsoft.com/office/drawing/2014/main" id="{39821504-48B4-493A-BFF1-B48C4F6FCF71}"/>
              </a:ext>
            </a:extLst>
          </p:cNvPr>
          <p:cNvSpPr/>
          <p:nvPr/>
        </p:nvSpPr>
        <p:spPr>
          <a:xfrm>
            <a:off x="5053978" y="2694346"/>
            <a:ext cx="2706332" cy="695699"/>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Нерешителен</a:t>
            </a:r>
            <a:endParaRPr lang="en-GB" sz="1600"/>
          </a:p>
        </p:txBody>
      </p:sp>
      <p:sp>
        <p:nvSpPr>
          <p:cNvPr id="48" name="Rectangle 9">
            <a:extLst>
              <a:ext uri="{FF2B5EF4-FFF2-40B4-BE49-F238E27FC236}">
                <a16:creationId xmlns:a16="http://schemas.microsoft.com/office/drawing/2014/main" id="{74D10985-B725-4C7E-A6E0-74D689F0A439}"/>
              </a:ext>
            </a:extLst>
          </p:cNvPr>
          <p:cNvSpPr/>
          <p:nvPr/>
        </p:nvSpPr>
        <p:spPr>
          <a:xfrm>
            <a:off x="5053978" y="4314076"/>
            <a:ext cx="2706332" cy="677242"/>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Търсещ социален контакт</a:t>
            </a:r>
            <a:endParaRPr lang="en-GB" sz="1600"/>
          </a:p>
        </p:txBody>
      </p:sp>
      <p:sp>
        <p:nvSpPr>
          <p:cNvPr id="49" name="Rectangle 11">
            <a:extLst>
              <a:ext uri="{FF2B5EF4-FFF2-40B4-BE49-F238E27FC236}">
                <a16:creationId xmlns:a16="http://schemas.microsoft.com/office/drawing/2014/main" id="{9AD568F9-7E72-440E-A744-7CAF15155208}"/>
              </a:ext>
            </a:extLst>
          </p:cNvPr>
          <p:cNvSpPr/>
          <p:nvPr/>
        </p:nvSpPr>
        <p:spPr>
          <a:xfrm>
            <a:off x="5053978" y="3505711"/>
            <a:ext cx="2706332" cy="692699"/>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Импулсивен </a:t>
            </a:r>
            <a:endParaRPr lang="en-GB" sz="1600"/>
          </a:p>
        </p:txBody>
      </p:sp>
      <p:sp>
        <p:nvSpPr>
          <p:cNvPr id="21" name="Rectangle 3">
            <a:extLst>
              <a:ext uri="{FF2B5EF4-FFF2-40B4-BE49-F238E27FC236}">
                <a16:creationId xmlns:a16="http://schemas.microsoft.com/office/drawing/2014/main" id="{3E8E918B-635F-4082-BE76-FA82A2B28A39}"/>
              </a:ext>
            </a:extLst>
          </p:cNvPr>
          <p:cNvSpPr/>
          <p:nvPr/>
        </p:nvSpPr>
        <p:spPr>
          <a:xfrm>
            <a:off x="1443475" y="4245"/>
            <a:ext cx="5338363" cy="677242"/>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22" name="Rectangle 4">
            <a:extLst>
              <a:ext uri="{FF2B5EF4-FFF2-40B4-BE49-F238E27FC236}">
                <a16:creationId xmlns:a16="http://schemas.microsoft.com/office/drawing/2014/main" id="{A83EAE6B-E7FC-4582-B87F-F6BC26F93E6F}"/>
              </a:ext>
            </a:extLst>
          </p:cNvPr>
          <p:cNvSpPr/>
          <p:nvPr/>
        </p:nvSpPr>
        <p:spPr>
          <a:xfrm>
            <a:off x="6788435" y="4245"/>
            <a:ext cx="5417300" cy="677242"/>
          </a:xfrm>
          <a:prstGeom prst="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pic>
        <p:nvPicPr>
          <p:cNvPr id="23" name="Picture 22">
            <a:extLst>
              <a:ext uri="{FF2B5EF4-FFF2-40B4-BE49-F238E27FC236}">
                <a16:creationId xmlns:a16="http://schemas.microsoft.com/office/drawing/2014/main" id="{96BF8419-94FA-4C9C-A16A-1B28B3F91995}"/>
              </a:ext>
            </a:extLst>
          </p:cNvPr>
          <p:cNvPicPr>
            <a:picLocks noChangeAspect="1"/>
          </p:cNvPicPr>
          <p:nvPr/>
        </p:nvPicPr>
        <p:blipFill>
          <a:blip r:embed="rId3"/>
          <a:stretch>
            <a:fillRect/>
          </a:stretch>
        </p:blipFill>
        <p:spPr>
          <a:xfrm>
            <a:off x="10883590" y="5621341"/>
            <a:ext cx="982751" cy="995681"/>
          </a:xfrm>
          <a:prstGeom prst="rect">
            <a:avLst/>
          </a:prstGeom>
        </p:spPr>
      </p:pic>
      <p:sp>
        <p:nvSpPr>
          <p:cNvPr id="2" name="Балонче за говор: правоъгълник със заоблени ъгли 19">
            <a:extLst>
              <a:ext uri="{FF2B5EF4-FFF2-40B4-BE49-F238E27FC236}">
                <a16:creationId xmlns:a16="http://schemas.microsoft.com/office/drawing/2014/main" id="{452F2689-459A-DFDC-EFCD-2DBFF12B7C34}"/>
              </a:ext>
            </a:extLst>
          </p:cNvPr>
          <p:cNvSpPr/>
          <p:nvPr/>
        </p:nvSpPr>
        <p:spPr>
          <a:xfrm>
            <a:off x="8144487" y="1094244"/>
            <a:ext cx="3932813" cy="3196187"/>
          </a:xfrm>
          <a:prstGeom prst="roundRect">
            <a:avLst>
              <a:gd name="adj" fmla="val 8916"/>
            </a:avLst>
          </a:prstGeom>
          <a:solidFill>
            <a:srgbClr val="4472C4"/>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ru-RU" sz="1400" b="1" dirty="0" err="1"/>
              <a:t>Агресивен</a:t>
            </a:r>
            <a:br>
              <a:rPr lang="ru-RU" sz="1400" dirty="0"/>
            </a:br>
            <a:r>
              <a:rPr lang="ru-RU" sz="1400" b="1" dirty="0">
                <a:ea typeface="+mn-lt"/>
                <a:cs typeface="+mn-lt"/>
              </a:rPr>
              <a:t>Характеристики:</a:t>
            </a:r>
            <a:endParaRPr lang="bg-BG" sz="1400" b="1" dirty="0">
              <a:ea typeface="+mn-lt"/>
              <a:cs typeface="+mn-lt"/>
            </a:endParaRPr>
          </a:p>
          <a:p>
            <a:pPr marL="285750" indent="-285750">
              <a:buFont typeface="Arial"/>
              <a:buChar char="•"/>
            </a:pPr>
            <a:r>
              <a:rPr lang="ru-RU" sz="1400" dirty="0" err="1">
                <a:ea typeface="+mn-lt"/>
                <a:cs typeface="+mn-lt"/>
              </a:rPr>
              <a:t>Ядосани</a:t>
            </a:r>
            <a:r>
              <a:rPr lang="ru-RU" sz="1400" dirty="0">
                <a:ea typeface="+mn-lt"/>
                <a:cs typeface="+mn-lt"/>
              </a:rPr>
              <a:t>, </a:t>
            </a:r>
            <a:r>
              <a:rPr lang="ru-RU" sz="1400" dirty="0" err="1">
                <a:ea typeface="+mn-lt"/>
                <a:cs typeface="+mn-lt"/>
              </a:rPr>
              <a:t>емоционални</a:t>
            </a:r>
            <a:r>
              <a:rPr lang="ru-RU" sz="1400" dirty="0">
                <a:ea typeface="+mn-lt"/>
                <a:cs typeface="+mn-lt"/>
              </a:rPr>
              <a:t> </a:t>
            </a:r>
            <a:endParaRPr lang="ru-RU" dirty="0"/>
          </a:p>
          <a:p>
            <a:pPr marL="285750" indent="-285750">
              <a:buFont typeface="Arial"/>
              <a:buChar char="•"/>
            </a:pPr>
            <a:r>
              <a:rPr lang="ru-RU" sz="1400" dirty="0" err="1">
                <a:ea typeface="+mn-lt"/>
                <a:cs typeface="+mn-lt"/>
              </a:rPr>
              <a:t>Действат</a:t>
            </a:r>
            <a:r>
              <a:rPr lang="ru-RU" sz="1400" dirty="0">
                <a:ea typeface="+mn-lt"/>
                <a:cs typeface="+mn-lt"/>
              </a:rPr>
              <a:t> без да </a:t>
            </a:r>
            <a:r>
              <a:rPr lang="ru-RU" sz="1400" dirty="0" err="1">
                <a:ea typeface="+mn-lt"/>
                <a:cs typeface="+mn-lt"/>
              </a:rPr>
              <a:t>мислят</a:t>
            </a:r>
            <a:r>
              <a:rPr lang="ru-RU" sz="1400" dirty="0">
                <a:ea typeface="+mn-lt"/>
                <a:cs typeface="+mn-lt"/>
              </a:rPr>
              <a:t> </a:t>
            </a:r>
            <a:endParaRPr lang="ru-RU" dirty="0"/>
          </a:p>
          <a:p>
            <a:pPr marL="285750" indent="-285750">
              <a:buFont typeface="Arial"/>
              <a:buChar char="•"/>
            </a:pPr>
            <a:r>
              <a:rPr lang="ru-RU" sz="1400" dirty="0" err="1">
                <a:ea typeface="+mn-lt"/>
                <a:cs typeface="+mn-lt"/>
              </a:rPr>
              <a:t>Повишават</a:t>
            </a:r>
            <a:r>
              <a:rPr lang="ru-RU" sz="1400" dirty="0">
                <a:ea typeface="+mn-lt"/>
                <a:cs typeface="+mn-lt"/>
              </a:rPr>
              <a:t> тон, </a:t>
            </a:r>
            <a:r>
              <a:rPr lang="ru-RU" sz="1400" dirty="0" err="1">
                <a:ea typeface="+mn-lt"/>
                <a:cs typeface="+mn-lt"/>
              </a:rPr>
              <a:t>нападателни</a:t>
            </a:r>
            <a:r>
              <a:rPr lang="ru-RU" sz="1400" dirty="0">
                <a:ea typeface="+mn-lt"/>
                <a:cs typeface="+mn-lt"/>
              </a:rPr>
              <a:t> </a:t>
            </a:r>
            <a:endParaRPr lang="ru-RU" dirty="0"/>
          </a:p>
          <a:p>
            <a:pPr marL="285750" indent="-285750">
              <a:buFont typeface="Arial"/>
              <a:buChar char="•"/>
            </a:pPr>
            <a:r>
              <a:rPr lang="ru-RU" sz="1400" dirty="0" err="1">
                <a:ea typeface="+mn-lt"/>
                <a:cs typeface="+mn-lt"/>
              </a:rPr>
              <a:t>Обидни</a:t>
            </a:r>
            <a:r>
              <a:rPr lang="ru-RU" sz="1400" dirty="0">
                <a:ea typeface="+mn-lt"/>
                <a:cs typeface="+mn-lt"/>
              </a:rPr>
              <a:t> и </a:t>
            </a:r>
            <a:r>
              <a:rPr lang="ru-RU" sz="1400" dirty="0" err="1">
                <a:ea typeface="+mn-lt"/>
                <a:cs typeface="+mn-lt"/>
              </a:rPr>
              <a:t>настъпателни</a:t>
            </a:r>
            <a:r>
              <a:rPr lang="ru-RU" sz="1400" dirty="0">
                <a:ea typeface="+mn-lt"/>
                <a:cs typeface="+mn-lt"/>
              </a:rPr>
              <a:t> </a:t>
            </a:r>
            <a:endParaRPr lang="ru-RU" dirty="0"/>
          </a:p>
          <a:p>
            <a:pPr marL="285750" indent="-285750">
              <a:buFont typeface="Arial"/>
              <a:buChar char="•"/>
            </a:pPr>
            <a:r>
              <a:rPr lang="ru-RU" sz="1400" dirty="0" err="1">
                <a:ea typeface="+mn-lt"/>
                <a:cs typeface="+mn-lt"/>
              </a:rPr>
              <a:t>Отстояват</a:t>
            </a:r>
            <a:r>
              <a:rPr lang="ru-RU" sz="1400" dirty="0">
                <a:ea typeface="+mn-lt"/>
                <a:cs typeface="+mn-lt"/>
              </a:rPr>
              <a:t> </a:t>
            </a:r>
            <a:r>
              <a:rPr lang="ru-RU" sz="1400" dirty="0" err="1">
                <a:ea typeface="+mn-lt"/>
                <a:cs typeface="+mn-lt"/>
              </a:rPr>
              <a:t>твърдо</a:t>
            </a:r>
            <a:r>
              <a:rPr lang="ru-RU" sz="1400" dirty="0">
                <a:ea typeface="+mn-lt"/>
                <a:cs typeface="+mn-lt"/>
              </a:rPr>
              <a:t> </a:t>
            </a:r>
            <a:r>
              <a:rPr lang="ru-RU" sz="1400" dirty="0" err="1">
                <a:ea typeface="+mn-lt"/>
                <a:cs typeface="+mn-lt"/>
              </a:rPr>
              <a:t>позицията</a:t>
            </a:r>
            <a:r>
              <a:rPr lang="ru-RU" sz="1400" dirty="0">
                <a:ea typeface="+mn-lt"/>
                <a:cs typeface="+mn-lt"/>
              </a:rPr>
              <a:t> си </a:t>
            </a:r>
            <a:endParaRPr lang="ru-RU" dirty="0"/>
          </a:p>
          <a:p>
            <a:r>
              <a:rPr lang="ru-RU" sz="1400" b="1" dirty="0" err="1">
                <a:ea typeface="+mn-lt"/>
                <a:cs typeface="+mn-lt"/>
              </a:rPr>
              <a:t>Предпочитана</a:t>
            </a:r>
            <a:r>
              <a:rPr lang="ru-RU" sz="1400" b="1" dirty="0">
                <a:ea typeface="+mn-lt"/>
                <a:cs typeface="+mn-lt"/>
              </a:rPr>
              <a:t> </a:t>
            </a:r>
            <a:r>
              <a:rPr lang="ru-RU" sz="1400" b="1" dirty="0" err="1">
                <a:ea typeface="+mn-lt"/>
                <a:cs typeface="+mn-lt"/>
              </a:rPr>
              <a:t>комуникация</a:t>
            </a:r>
            <a:r>
              <a:rPr lang="ru-RU" sz="1400" b="1" dirty="0">
                <a:ea typeface="+mn-lt"/>
                <a:cs typeface="+mn-lt"/>
              </a:rPr>
              <a:t>:</a:t>
            </a:r>
            <a:endParaRPr lang="ru-RU" b="1" dirty="0">
              <a:ea typeface="+mn-lt"/>
              <a:cs typeface="+mn-lt"/>
            </a:endParaRPr>
          </a:p>
          <a:p>
            <a:pPr marL="285750" indent="-285750">
              <a:buFont typeface="Arial"/>
              <a:buChar char="•"/>
            </a:pPr>
            <a:r>
              <a:rPr lang="ru-RU" sz="1400" dirty="0" err="1">
                <a:ea typeface="+mn-lt"/>
                <a:cs typeface="+mn-lt"/>
              </a:rPr>
              <a:t>Остави</a:t>
            </a:r>
            <a:r>
              <a:rPr lang="ru-RU" sz="1400" dirty="0">
                <a:ea typeface="+mn-lt"/>
                <a:cs typeface="+mn-lt"/>
              </a:rPr>
              <a:t> клиента да „</a:t>
            </a:r>
            <a:r>
              <a:rPr lang="ru-RU" sz="1400" dirty="0" err="1">
                <a:ea typeface="+mn-lt"/>
                <a:cs typeface="+mn-lt"/>
              </a:rPr>
              <a:t>изпусне</a:t>
            </a:r>
            <a:r>
              <a:rPr lang="ru-RU" sz="1400" dirty="0">
                <a:ea typeface="+mn-lt"/>
                <a:cs typeface="+mn-lt"/>
              </a:rPr>
              <a:t> </a:t>
            </a:r>
            <a:r>
              <a:rPr lang="ru-RU" sz="1400" dirty="0" err="1">
                <a:ea typeface="+mn-lt"/>
                <a:cs typeface="+mn-lt"/>
              </a:rPr>
              <a:t>парата</a:t>
            </a:r>
            <a:r>
              <a:rPr lang="ru-RU" sz="1400" dirty="0">
                <a:ea typeface="+mn-lt"/>
                <a:cs typeface="+mn-lt"/>
              </a:rPr>
              <a:t>“ </a:t>
            </a:r>
            <a:endParaRPr lang="ru-RU" dirty="0"/>
          </a:p>
          <a:p>
            <a:pPr marL="285750" indent="-285750">
              <a:buFont typeface="Arial"/>
              <a:buChar char="•"/>
            </a:pPr>
            <a:r>
              <a:rPr lang="ru-RU" sz="1400" dirty="0">
                <a:ea typeface="+mn-lt"/>
                <a:cs typeface="+mn-lt"/>
              </a:rPr>
              <a:t>Не се поддавай на </a:t>
            </a:r>
            <a:r>
              <a:rPr lang="ru-RU" sz="1400" dirty="0" err="1">
                <a:ea typeface="+mn-lt"/>
                <a:cs typeface="+mn-lt"/>
              </a:rPr>
              <a:t>емоцията</a:t>
            </a:r>
            <a:r>
              <a:rPr lang="ru-RU" sz="1400" dirty="0">
                <a:ea typeface="+mn-lt"/>
                <a:cs typeface="+mn-lt"/>
              </a:rPr>
              <a:t> </a:t>
            </a:r>
            <a:endParaRPr lang="ru-RU" dirty="0"/>
          </a:p>
          <a:p>
            <a:pPr marL="285750" indent="-285750">
              <a:buFont typeface="Arial"/>
              <a:buChar char="•"/>
            </a:pPr>
            <a:r>
              <a:rPr lang="ru-RU" sz="1400" dirty="0">
                <a:ea typeface="+mn-lt"/>
                <a:cs typeface="+mn-lt"/>
              </a:rPr>
              <a:t>Разделяй </a:t>
            </a:r>
            <a:r>
              <a:rPr lang="ru-RU" sz="1400" dirty="0" err="1">
                <a:ea typeface="+mn-lt"/>
                <a:cs typeface="+mn-lt"/>
              </a:rPr>
              <a:t>човека</a:t>
            </a:r>
            <a:r>
              <a:rPr lang="ru-RU" sz="1400" dirty="0">
                <a:ea typeface="+mn-lt"/>
                <a:cs typeface="+mn-lt"/>
              </a:rPr>
              <a:t> от проблема </a:t>
            </a:r>
            <a:endParaRPr lang="ru-RU" dirty="0"/>
          </a:p>
          <a:p>
            <a:pPr marL="285750" indent="-285750">
              <a:buFont typeface="Arial"/>
              <a:buChar char="•"/>
            </a:pPr>
            <a:r>
              <a:rPr lang="ru-RU" sz="1400" dirty="0">
                <a:ea typeface="+mn-lt"/>
                <a:cs typeface="+mn-lt"/>
              </a:rPr>
              <a:t>Не </a:t>
            </a:r>
            <a:r>
              <a:rPr lang="ru-RU" sz="1400" dirty="0" err="1">
                <a:ea typeface="+mn-lt"/>
                <a:cs typeface="+mn-lt"/>
              </a:rPr>
              <a:t>влизай</a:t>
            </a:r>
            <a:r>
              <a:rPr lang="ru-RU" sz="1400" dirty="0">
                <a:ea typeface="+mn-lt"/>
                <a:cs typeface="+mn-lt"/>
              </a:rPr>
              <a:t> в спор </a:t>
            </a:r>
            <a:endParaRPr lang="ru-RU" dirty="0"/>
          </a:p>
          <a:p>
            <a:pPr marL="285750" indent="-285750">
              <a:buFont typeface="Arial"/>
              <a:buChar char="•"/>
            </a:pPr>
            <a:r>
              <a:rPr lang="ru-RU" sz="1400" dirty="0">
                <a:ea typeface="+mn-lt"/>
                <a:cs typeface="+mn-lt"/>
              </a:rPr>
              <a:t>Покажи </a:t>
            </a:r>
            <a:r>
              <a:rPr lang="ru-RU" sz="1400" dirty="0" err="1">
                <a:ea typeface="+mn-lt"/>
                <a:cs typeface="+mn-lt"/>
              </a:rPr>
              <a:t>разбиране</a:t>
            </a:r>
            <a:r>
              <a:rPr lang="ru-RU" sz="1400" dirty="0">
                <a:ea typeface="+mn-lt"/>
                <a:cs typeface="+mn-lt"/>
              </a:rPr>
              <a:t>, но </a:t>
            </a:r>
            <a:r>
              <a:rPr lang="ru-RU" sz="1400" dirty="0" err="1">
                <a:ea typeface="+mn-lt"/>
                <a:cs typeface="+mn-lt"/>
              </a:rPr>
              <a:t>запази</a:t>
            </a:r>
            <a:r>
              <a:rPr lang="ru-RU" sz="1400" dirty="0">
                <a:ea typeface="+mn-lt"/>
                <a:cs typeface="+mn-lt"/>
              </a:rPr>
              <a:t> позиция </a:t>
            </a:r>
            <a:endParaRPr lang="ru-RU" dirty="0"/>
          </a:p>
          <a:p>
            <a:pPr marL="285750" indent="-285750">
              <a:buFont typeface="Arial"/>
              <a:buChar char="•"/>
            </a:pPr>
            <a:r>
              <a:rPr lang="ru-RU" sz="1400" dirty="0">
                <a:ea typeface="+mn-lt"/>
                <a:cs typeface="+mn-lt"/>
              </a:rPr>
              <a:t>При грешка → </a:t>
            </a:r>
            <a:r>
              <a:rPr lang="ru-RU" sz="1400" dirty="0" err="1">
                <a:ea typeface="+mn-lt"/>
                <a:cs typeface="+mn-lt"/>
              </a:rPr>
              <a:t>искрено</a:t>
            </a:r>
            <a:r>
              <a:rPr lang="ru-RU" sz="1400" dirty="0">
                <a:ea typeface="+mn-lt"/>
                <a:cs typeface="+mn-lt"/>
              </a:rPr>
              <a:t> извинение</a:t>
            </a:r>
            <a:endParaRPr lang="ru-RU" dirty="0"/>
          </a:p>
          <a:p>
            <a:endParaRPr lang="ru-RU" sz="1400" dirty="0"/>
          </a:p>
        </p:txBody>
      </p:sp>
    </p:spTree>
    <p:extLst>
      <p:ext uri="{BB962C8B-B14F-4D97-AF65-F5344CB8AC3E}">
        <p14:creationId xmlns:p14="http://schemas.microsoft.com/office/powerpoint/2010/main" val="3725660723"/>
      </p:ext>
    </p:extLst>
  </p:cSld>
  <p:clrMapOvr>
    <a:masterClrMapping/>
  </p:clrMapOvr>
  <p:extLst>
    <p:ext uri="{6950BFC3-D8DA-4A85-94F7-54DA5524770B}">
      <p188:commentRel xmlns:p188="http://schemas.microsoft.com/office/powerpoint/2018/8/main" r:id="rId2"/>
    </p:ext>
  </p:extLst>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3EBB15-2423-C211-3354-95BD1FCDE3EF}"/>
            </a:ext>
          </a:extLst>
        </p:cNvPr>
        <p:cNvGrpSpPr/>
        <p:nvPr/>
      </p:nvGrpSpPr>
      <p:grpSpPr>
        <a:xfrm>
          <a:off x="0" y="0"/>
          <a:ext cx="0" cy="0"/>
          <a:chOff x="0" y="0"/>
          <a:chExt cx="0" cy="0"/>
        </a:xfrm>
      </p:grpSpPr>
      <p:sp>
        <p:nvSpPr>
          <p:cNvPr id="21" name="Rectangle: Rounded Corners 20">
            <a:extLst>
              <a:ext uri="{FF2B5EF4-FFF2-40B4-BE49-F238E27FC236}">
                <a16:creationId xmlns:a16="http://schemas.microsoft.com/office/drawing/2014/main" id="{070BF3FB-9B09-4F4B-919B-EFF40158745B}"/>
              </a:ext>
            </a:extLst>
          </p:cNvPr>
          <p:cNvSpPr/>
          <p:nvPr/>
        </p:nvSpPr>
        <p:spPr>
          <a:xfrm>
            <a:off x="1893066" y="1041323"/>
            <a:ext cx="2706332" cy="715919"/>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Агресивен</a:t>
            </a:r>
            <a:endParaRPr lang="en-GB" sz="1600"/>
          </a:p>
        </p:txBody>
      </p:sp>
      <p:sp>
        <p:nvSpPr>
          <p:cNvPr id="22" name="Rectangle: Rounded Corners 21">
            <a:extLst>
              <a:ext uri="{FF2B5EF4-FFF2-40B4-BE49-F238E27FC236}">
                <a16:creationId xmlns:a16="http://schemas.microsoft.com/office/drawing/2014/main" id="{1F7C0750-64F9-486A-A372-68C400335B69}"/>
              </a:ext>
            </a:extLst>
          </p:cNvPr>
          <p:cNvSpPr/>
          <p:nvPr/>
        </p:nvSpPr>
        <p:spPr>
          <a:xfrm>
            <a:off x="1893066" y="1871904"/>
            <a:ext cx="2706332" cy="705772"/>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Аналитичен</a:t>
            </a:r>
            <a:endParaRPr lang="en-GB" sz="1600"/>
          </a:p>
        </p:txBody>
      </p:sp>
      <p:sp>
        <p:nvSpPr>
          <p:cNvPr id="23" name="Rectangle: Rounded Corners 22">
            <a:extLst>
              <a:ext uri="{FF2B5EF4-FFF2-40B4-BE49-F238E27FC236}">
                <a16:creationId xmlns:a16="http://schemas.microsoft.com/office/drawing/2014/main" id="{F47167A1-195D-4674-BDB5-B47B9260B9AF}"/>
              </a:ext>
            </a:extLst>
          </p:cNvPr>
          <p:cNvSpPr/>
          <p:nvPr/>
        </p:nvSpPr>
        <p:spPr>
          <a:xfrm>
            <a:off x="1893066" y="2692338"/>
            <a:ext cx="2706332" cy="699716"/>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Трудно схватлив</a:t>
            </a:r>
            <a:endParaRPr lang="en-GB" sz="1600"/>
          </a:p>
        </p:txBody>
      </p:sp>
      <p:sp>
        <p:nvSpPr>
          <p:cNvPr id="24" name="Rectangle 9">
            <a:extLst>
              <a:ext uri="{FF2B5EF4-FFF2-40B4-BE49-F238E27FC236}">
                <a16:creationId xmlns:a16="http://schemas.microsoft.com/office/drawing/2014/main" id="{04B4FC01-968B-4A03-81E7-C13D1984F7E4}"/>
              </a:ext>
            </a:extLst>
          </p:cNvPr>
          <p:cNvSpPr/>
          <p:nvPr/>
        </p:nvSpPr>
        <p:spPr>
          <a:xfrm>
            <a:off x="1893066" y="3506716"/>
            <a:ext cx="2706332" cy="692699"/>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Злонамерен</a:t>
            </a:r>
            <a:endParaRPr lang="en-GB" sz="1600"/>
          </a:p>
        </p:txBody>
      </p:sp>
      <p:sp>
        <p:nvSpPr>
          <p:cNvPr id="26" name="Rectangle 11">
            <a:extLst>
              <a:ext uri="{FF2B5EF4-FFF2-40B4-BE49-F238E27FC236}">
                <a16:creationId xmlns:a16="http://schemas.microsoft.com/office/drawing/2014/main" id="{C4A5454E-15B5-4219-AF33-0C443A8E1338}"/>
              </a:ext>
            </a:extLst>
          </p:cNvPr>
          <p:cNvSpPr/>
          <p:nvPr/>
        </p:nvSpPr>
        <p:spPr>
          <a:xfrm>
            <a:off x="1893066" y="4314076"/>
            <a:ext cx="2706332" cy="677242"/>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ВИП</a:t>
            </a:r>
            <a:endParaRPr lang="en-GB" sz="1600"/>
          </a:p>
        </p:txBody>
      </p:sp>
      <p:sp>
        <p:nvSpPr>
          <p:cNvPr id="28" name="Rectangle 9">
            <a:extLst>
              <a:ext uri="{FF2B5EF4-FFF2-40B4-BE49-F238E27FC236}">
                <a16:creationId xmlns:a16="http://schemas.microsoft.com/office/drawing/2014/main" id="{1BD53EC7-AEF2-4AB3-A3A3-6DB2C647637D}"/>
              </a:ext>
            </a:extLst>
          </p:cNvPr>
          <p:cNvSpPr/>
          <p:nvPr/>
        </p:nvSpPr>
        <p:spPr>
          <a:xfrm>
            <a:off x="5053978" y="1872908"/>
            <a:ext cx="2706332" cy="705772"/>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Подозрителен</a:t>
            </a:r>
            <a:endParaRPr lang="en-GB" sz="1600"/>
          </a:p>
        </p:txBody>
      </p:sp>
      <p:sp>
        <p:nvSpPr>
          <p:cNvPr id="29" name="Rectangle 11">
            <a:extLst>
              <a:ext uri="{FF2B5EF4-FFF2-40B4-BE49-F238E27FC236}">
                <a16:creationId xmlns:a16="http://schemas.microsoft.com/office/drawing/2014/main" id="{82D2F05A-76FD-4319-86EE-0D4FA034A19F}"/>
              </a:ext>
            </a:extLst>
          </p:cNvPr>
          <p:cNvSpPr/>
          <p:nvPr/>
        </p:nvSpPr>
        <p:spPr>
          <a:xfrm>
            <a:off x="5053978" y="1041324"/>
            <a:ext cx="2706332" cy="715918"/>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Манипулативен</a:t>
            </a:r>
            <a:endParaRPr lang="en-GB" sz="1600"/>
          </a:p>
        </p:txBody>
      </p:sp>
      <p:sp>
        <p:nvSpPr>
          <p:cNvPr id="30" name="Rectangle 13">
            <a:extLst>
              <a:ext uri="{FF2B5EF4-FFF2-40B4-BE49-F238E27FC236}">
                <a16:creationId xmlns:a16="http://schemas.microsoft.com/office/drawing/2014/main" id="{9280A8B9-8E71-4D2F-83AF-09560EE21DF8}"/>
              </a:ext>
            </a:extLst>
          </p:cNvPr>
          <p:cNvSpPr/>
          <p:nvPr/>
        </p:nvSpPr>
        <p:spPr>
          <a:xfrm>
            <a:off x="5053978" y="2694346"/>
            <a:ext cx="2706332" cy="695699"/>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Нерешителен</a:t>
            </a:r>
            <a:endParaRPr lang="en-GB" sz="1600"/>
          </a:p>
        </p:txBody>
      </p:sp>
      <p:sp>
        <p:nvSpPr>
          <p:cNvPr id="31" name="Rectangle 9">
            <a:extLst>
              <a:ext uri="{FF2B5EF4-FFF2-40B4-BE49-F238E27FC236}">
                <a16:creationId xmlns:a16="http://schemas.microsoft.com/office/drawing/2014/main" id="{C7F54F83-FEC2-4BE1-B6A5-AFFBB2F87F18}"/>
              </a:ext>
            </a:extLst>
          </p:cNvPr>
          <p:cNvSpPr/>
          <p:nvPr/>
        </p:nvSpPr>
        <p:spPr>
          <a:xfrm>
            <a:off x="5053978" y="4314076"/>
            <a:ext cx="2706332" cy="677242"/>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Търсещ социален контакт</a:t>
            </a:r>
            <a:endParaRPr lang="en-GB" sz="1600"/>
          </a:p>
        </p:txBody>
      </p:sp>
      <p:sp>
        <p:nvSpPr>
          <p:cNvPr id="32" name="Rectangle 11">
            <a:extLst>
              <a:ext uri="{FF2B5EF4-FFF2-40B4-BE49-F238E27FC236}">
                <a16:creationId xmlns:a16="http://schemas.microsoft.com/office/drawing/2014/main" id="{ABAE9589-72B4-4647-9F85-C96E40F4EDAC}"/>
              </a:ext>
            </a:extLst>
          </p:cNvPr>
          <p:cNvSpPr/>
          <p:nvPr/>
        </p:nvSpPr>
        <p:spPr>
          <a:xfrm>
            <a:off x="5053978" y="3505711"/>
            <a:ext cx="2706332" cy="692699"/>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Импулсивен </a:t>
            </a:r>
            <a:endParaRPr lang="en-GB" sz="1600"/>
          </a:p>
        </p:txBody>
      </p:sp>
      <p:sp>
        <p:nvSpPr>
          <p:cNvPr id="33" name="Rectangle 28">
            <a:extLst>
              <a:ext uri="{FF2B5EF4-FFF2-40B4-BE49-F238E27FC236}">
                <a16:creationId xmlns:a16="http://schemas.microsoft.com/office/drawing/2014/main" id="{1F5A2A6D-7A89-49B7-B143-2B52942FB5D8}"/>
              </a:ext>
            </a:extLst>
          </p:cNvPr>
          <p:cNvSpPr/>
          <p:nvPr/>
        </p:nvSpPr>
        <p:spPr>
          <a:xfrm>
            <a:off x="-15824" y="1599"/>
            <a:ext cx="1465320" cy="6859628"/>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400">
              <a:latin typeface="Aptos"/>
              <a:ea typeface="Calibri"/>
              <a:cs typeface="Calibri"/>
            </a:endParaRPr>
          </a:p>
        </p:txBody>
      </p:sp>
      <p:sp>
        <p:nvSpPr>
          <p:cNvPr id="34" name="Rectangle 29">
            <a:extLst>
              <a:ext uri="{FF2B5EF4-FFF2-40B4-BE49-F238E27FC236}">
                <a16:creationId xmlns:a16="http://schemas.microsoft.com/office/drawing/2014/main" id="{E58614E7-A154-42E9-BD6C-A33C0FD98F7C}"/>
              </a:ext>
            </a:extLst>
          </p:cNvPr>
          <p:cNvSpPr/>
          <p:nvPr/>
        </p:nvSpPr>
        <p:spPr>
          <a:xfrm>
            <a:off x="-1671" y="2528038"/>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002060"/>
                </a:solidFill>
                <a:latin typeface="Aptos"/>
                <a:ea typeface="Calibri"/>
                <a:cs typeface="Calibri"/>
              </a:rPr>
              <a:t>Типове клиенти</a:t>
            </a:r>
            <a:endParaRPr lang="en-GB" sz="1400">
              <a:solidFill>
                <a:srgbClr val="002060"/>
              </a:solidFill>
              <a:latin typeface="Aptos"/>
              <a:ea typeface="Calibri"/>
              <a:cs typeface="Calibri"/>
            </a:endParaRPr>
          </a:p>
        </p:txBody>
      </p:sp>
      <p:sp>
        <p:nvSpPr>
          <p:cNvPr id="35" name="Rectangle 30">
            <a:extLst>
              <a:ext uri="{FF2B5EF4-FFF2-40B4-BE49-F238E27FC236}">
                <a16:creationId xmlns:a16="http://schemas.microsoft.com/office/drawing/2014/main" id="{8BC4A531-8DBA-4B9D-9A89-F298084DB14D}"/>
              </a:ext>
            </a:extLst>
          </p:cNvPr>
          <p:cNvSpPr/>
          <p:nvPr/>
        </p:nvSpPr>
        <p:spPr>
          <a:xfrm>
            <a:off x="8626" y="1913210"/>
            <a:ext cx="1442908" cy="4485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chemeClr val="bg1"/>
                </a:solidFill>
                <a:latin typeface="Aptos"/>
                <a:ea typeface="Calibri"/>
                <a:cs typeface="Calibri"/>
              </a:rPr>
              <a:t>Сценарии</a:t>
            </a:r>
            <a:endParaRPr lang="en-GB" sz="1400">
              <a:solidFill>
                <a:schemeClr val="bg1"/>
              </a:solidFill>
              <a:latin typeface="Aptos"/>
              <a:ea typeface="Calibri"/>
              <a:cs typeface="Calibri"/>
            </a:endParaRPr>
          </a:p>
        </p:txBody>
      </p:sp>
      <p:sp>
        <p:nvSpPr>
          <p:cNvPr id="36" name="Rectangle 31">
            <a:extLst>
              <a:ext uri="{FF2B5EF4-FFF2-40B4-BE49-F238E27FC236}">
                <a16:creationId xmlns:a16="http://schemas.microsoft.com/office/drawing/2014/main" id="{7280696B-FACB-493D-B9C7-7564FE845341}"/>
              </a:ext>
            </a:extLst>
          </p:cNvPr>
          <p:cNvSpPr/>
          <p:nvPr/>
        </p:nvSpPr>
        <p:spPr>
          <a:xfrm>
            <a:off x="-1671" y="1298382"/>
            <a:ext cx="1442908" cy="4485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b="1">
                <a:solidFill>
                  <a:schemeClr val="bg1"/>
                </a:solidFill>
                <a:latin typeface="Aptos"/>
                <a:ea typeface="Calibri"/>
                <a:cs typeface="Calibri"/>
              </a:rPr>
              <a:t>Стъпки при среща</a:t>
            </a:r>
            <a:endParaRPr lang="bg-BG" sz="1400">
              <a:solidFill>
                <a:srgbClr val="000000"/>
              </a:solidFill>
              <a:latin typeface="Aptos"/>
              <a:ea typeface="Calibri"/>
              <a:cs typeface="Calibri"/>
            </a:endParaRPr>
          </a:p>
        </p:txBody>
      </p:sp>
      <p:sp>
        <p:nvSpPr>
          <p:cNvPr id="39" name="Rectangle 28">
            <a:extLst>
              <a:ext uri="{FF2B5EF4-FFF2-40B4-BE49-F238E27FC236}">
                <a16:creationId xmlns:a16="http://schemas.microsoft.com/office/drawing/2014/main" id="{D4B9742F-497C-4CBE-8BDF-748C67FC6FFF}"/>
              </a:ext>
            </a:extLst>
          </p:cNvPr>
          <p:cNvSpPr/>
          <p:nvPr/>
        </p:nvSpPr>
        <p:spPr>
          <a:xfrm>
            <a:off x="-15827" y="690328"/>
            <a:ext cx="1465322"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FFFFFF"/>
                </a:solidFill>
                <a:latin typeface="Aptos"/>
                <a:ea typeface="Calibri"/>
                <a:cs typeface="Calibri"/>
              </a:rPr>
              <a:t>Подготовка</a:t>
            </a:r>
            <a:endParaRPr lang="en-GB" sz="1400">
              <a:solidFill>
                <a:srgbClr val="FFFFFF"/>
              </a:solidFill>
              <a:latin typeface="Aptos"/>
              <a:ea typeface="Calibri"/>
              <a:cs typeface="Calibri"/>
            </a:endParaRPr>
          </a:p>
        </p:txBody>
      </p:sp>
      <p:sp>
        <p:nvSpPr>
          <p:cNvPr id="25" name="Rectangle 3">
            <a:extLst>
              <a:ext uri="{FF2B5EF4-FFF2-40B4-BE49-F238E27FC236}">
                <a16:creationId xmlns:a16="http://schemas.microsoft.com/office/drawing/2014/main" id="{001D38AD-D5ED-46D1-82E8-732554C61FDA}"/>
              </a:ext>
            </a:extLst>
          </p:cNvPr>
          <p:cNvSpPr/>
          <p:nvPr/>
        </p:nvSpPr>
        <p:spPr>
          <a:xfrm>
            <a:off x="1443475" y="4245"/>
            <a:ext cx="5338363" cy="677242"/>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27" name="Rectangle 4">
            <a:extLst>
              <a:ext uri="{FF2B5EF4-FFF2-40B4-BE49-F238E27FC236}">
                <a16:creationId xmlns:a16="http://schemas.microsoft.com/office/drawing/2014/main" id="{3498E1A0-C2DE-496D-A5CD-6BA47852D0FB}"/>
              </a:ext>
            </a:extLst>
          </p:cNvPr>
          <p:cNvSpPr/>
          <p:nvPr/>
        </p:nvSpPr>
        <p:spPr>
          <a:xfrm>
            <a:off x="6788435" y="4245"/>
            <a:ext cx="5417300" cy="677242"/>
          </a:xfrm>
          <a:prstGeom prst="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pic>
        <p:nvPicPr>
          <p:cNvPr id="40" name="Picture 39">
            <a:extLst>
              <a:ext uri="{FF2B5EF4-FFF2-40B4-BE49-F238E27FC236}">
                <a16:creationId xmlns:a16="http://schemas.microsoft.com/office/drawing/2014/main" id="{0124D4DD-C5B7-44CF-BDC5-024CA33435E4}"/>
              </a:ext>
            </a:extLst>
          </p:cNvPr>
          <p:cNvPicPr>
            <a:picLocks noChangeAspect="1"/>
          </p:cNvPicPr>
          <p:nvPr/>
        </p:nvPicPr>
        <p:blipFill>
          <a:blip r:embed="rId3"/>
          <a:stretch>
            <a:fillRect/>
          </a:stretch>
        </p:blipFill>
        <p:spPr>
          <a:xfrm>
            <a:off x="10883590" y="5621341"/>
            <a:ext cx="982751" cy="995681"/>
          </a:xfrm>
          <a:prstGeom prst="rect">
            <a:avLst/>
          </a:prstGeom>
        </p:spPr>
      </p:pic>
      <p:sp>
        <p:nvSpPr>
          <p:cNvPr id="2" name="Балонче за говор: правоъгълник със заоблени ъгли 19">
            <a:extLst>
              <a:ext uri="{FF2B5EF4-FFF2-40B4-BE49-F238E27FC236}">
                <a16:creationId xmlns:a16="http://schemas.microsoft.com/office/drawing/2014/main" id="{B4D03683-DBA0-48D9-CAF4-3B378AE48FA2}"/>
              </a:ext>
            </a:extLst>
          </p:cNvPr>
          <p:cNvSpPr/>
          <p:nvPr/>
        </p:nvSpPr>
        <p:spPr>
          <a:xfrm>
            <a:off x="8203880" y="1045302"/>
            <a:ext cx="3572887" cy="2956969"/>
          </a:xfrm>
          <a:prstGeom prst="roundRect">
            <a:avLst>
              <a:gd name="adj" fmla="val 9600"/>
            </a:avLst>
          </a:prstGeom>
          <a:solidFill>
            <a:srgbClr val="4472C4"/>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ru-RU" sz="1400" b="1" dirty="0" err="1">
                <a:solidFill>
                  <a:schemeClr val="bg1"/>
                </a:solidFill>
                <a:ea typeface="+mn-lt"/>
                <a:cs typeface="+mn-lt"/>
              </a:rPr>
              <a:t>Аналитичен</a:t>
            </a:r>
            <a:br>
              <a:rPr lang="ru-RU" sz="1400" dirty="0"/>
            </a:br>
            <a:r>
              <a:rPr lang="ru-RU" sz="1400" b="1" dirty="0">
                <a:ea typeface="+mn-lt"/>
                <a:cs typeface="+mn-lt"/>
              </a:rPr>
              <a:t>Характеристики:</a:t>
            </a:r>
            <a:endParaRPr lang="bg-BG" sz="1400" b="1" dirty="0">
              <a:ea typeface="+mn-lt"/>
              <a:cs typeface="+mn-lt"/>
            </a:endParaRPr>
          </a:p>
          <a:p>
            <a:pPr marL="285750" indent="-285750">
              <a:buFont typeface="Arial"/>
              <a:buChar char="•"/>
            </a:pPr>
            <a:r>
              <a:rPr lang="ru-RU" sz="1400" dirty="0" err="1">
                <a:ea typeface="+mn-lt"/>
                <a:cs typeface="+mn-lt"/>
              </a:rPr>
              <a:t>Търсят</a:t>
            </a:r>
            <a:r>
              <a:rPr lang="ru-RU" sz="1400" dirty="0">
                <a:ea typeface="+mn-lt"/>
                <a:cs typeface="+mn-lt"/>
              </a:rPr>
              <a:t> </a:t>
            </a:r>
            <a:r>
              <a:rPr lang="ru-RU" sz="1400" dirty="0" err="1">
                <a:ea typeface="+mn-lt"/>
                <a:cs typeface="+mn-lt"/>
              </a:rPr>
              <a:t>факти</a:t>
            </a:r>
            <a:r>
              <a:rPr lang="ru-RU" sz="1400" dirty="0">
                <a:ea typeface="+mn-lt"/>
                <a:cs typeface="+mn-lt"/>
              </a:rPr>
              <a:t> и логика </a:t>
            </a:r>
            <a:endParaRPr lang="ru-RU" dirty="0"/>
          </a:p>
          <a:p>
            <a:pPr marL="285750" indent="-285750">
              <a:buFont typeface="Arial"/>
              <a:buChar char="•"/>
            </a:pPr>
            <a:r>
              <a:rPr lang="ru-RU" sz="1400" dirty="0" err="1">
                <a:ea typeface="+mn-lt"/>
                <a:cs typeface="+mn-lt"/>
              </a:rPr>
              <a:t>Мислят</a:t>
            </a:r>
            <a:r>
              <a:rPr lang="ru-RU" sz="1400" dirty="0">
                <a:ea typeface="+mn-lt"/>
                <a:cs typeface="+mn-lt"/>
              </a:rPr>
              <a:t> в правила и </a:t>
            </a:r>
            <a:r>
              <a:rPr lang="ru-RU" sz="1400" dirty="0" err="1">
                <a:ea typeface="+mn-lt"/>
                <a:cs typeface="+mn-lt"/>
              </a:rPr>
              <a:t>структури</a:t>
            </a:r>
            <a:r>
              <a:rPr lang="ru-RU" sz="1400" dirty="0">
                <a:ea typeface="+mn-lt"/>
                <a:cs typeface="+mn-lt"/>
              </a:rPr>
              <a:t> </a:t>
            </a:r>
            <a:endParaRPr lang="ru-RU" dirty="0"/>
          </a:p>
          <a:p>
            <a:pPr marL="285750" indent="-285750">
              <a:buFont typeface="Arial"/>
              <a:buChar char="•"/>
            </a:pPr>
            <a:r>
              <a:rPr lang="ru-RU" sz="1400" dirty="0" err="1">
                <a:ea typeface="+mn-lt"/>
                <a:cs typeface="+mn-lt"/>
              </a:rPr>
              <a:t>Вземат</a:t>
            </a:r>
            <a:r>
              <a:rPr lang="ru-RU" sz="1400" dirty="0">
                <a:ea typeface="+mn-lt"/>
                <a:cs typeface="+mn-lt"/>
              </a:rPr>
              <a:t> </a:t>
            </a:r>
            <a:r>
              <a:rPr lang="ru-RU" sz="1400" dirty="0" err="1">
                <a:ea typeface="+mn-lt"/>
                <a:cs typeface="+mn-lt"/>
              </a:rPr>
              <a:t>бавни</a:t>
            </a:r>
            <a:r>
              <a:rPr lang="ru-RU" sz="1400" dirty="0">
                <a:ea typeface="+mn-lt"/>
                <a:cs typeface="+mn-lt"/>
              </a:rPr>
              <a:t> решения </a:t>
            </a:r>
            <a:endParaRPr lang="ru-RU" dirty="0"/>
          </a:p>
          <a:p>
            <a:pPr marL="285750" indent="-285750">
              <a:buFont typeface="Arial"/>
              <a:buChar char="•"/>
            </a:pPr>
            <a:r>
              <a:rPr lang="ru-RU" sz="1400" dirty="0" err="1">
                <a:ea typeface="+mn-lt"/>
                <a:cs typeface="+mn-lt"/>
              </a:rPr>
              <a:t>Ориентирани</a:t>
            </a:r>
            <a:r>
              <a:rPr lang="ru-RU" sz="1400" dirty="0">
                <a:ea typeface="+mn-lt"/>
                <a:cs typeface="+mn-lt"/>
              </a:rPr>
              <a:t> </a:t>
            </a:r>
            <a:r>
              <a:rPr lang="ru-RU" sz="1400" dirty="0" err="1">
                <a:ea typeface="+mn-lt"/>
                <a:cs typeface="+mn-lt"/>
              </a:rPr>
              <a:t>към</a:t>
            </a:r>
            <a:r>
              <a:rPr lang="ru-RU" sz="1400" dirty="0">
                <a:ea typeface="+mn-lt"/>
                <a:cs typeface="+mn-lt"/>
              </a:rPr>
              <a:t> </a:t>
            </a:r>
            <a:r>
              <a:rPr lang="ru-RU" sz="1400" dirty="0" err="1">
                <a:ea typeface="+mn-lt"/>
                <a:cs typeface="+mn-lt"/>
              </a:rPr>
              <a:t>точност</a:t>
            </a:r>
            <a:r>
              <a:rPr lang="ru-RU" sz="1400" dirty="0">
                <a:ea typeface="+mn-lt"/>
                <a:cs typeface="+mn-lt"/>
              </a:rPr>
              <a:t> и </a:t>
            </a:r>
            <a:r>
              <a:rPr lang="ru-RU" sz="1400" dirty="0" err="1">
                <a:ea typeface="+mn-lt"/>
                <a:cs typeface="+mn-lt"/>
              </a:rPr>
              <a:t>детайл</a:t>
            </a:r>
            <a:r>
              <a:rPr lang="ru-RU" sz="1400" dirty="0">
                <a:ea typeface="+mn-lt"/>
                <a:cs typeface="+mn-lt"/>
              </a:rPr>
              <a:t> </a:t>
            </a:r>
            <a:endParaRPr lang="ru-RU" dirty="0"/>
          </a:p>
          <a:p>
            <a:pPr marL="285750" indent="-285750">
              <a:buFont typeface="Arial"/>
              <a:buChar char="•"/>
            </a:pPr>
            <a:r>
              <a:rPr lang="ru-RU" sz="1400" dirty="0">
                <a:ea typeface="+mn-lt"/>
                <a:cs typeface="+mn-lt"/>
              </a:rPr>
              <a:t>Не </a:t>
            </a:r>
            <a:r>
              <a:rPr lang="ru-RU" sz="1400" dirty="0" err="1">
                <a:ea typeface="+mn-lt"/>
                <a:cs typeface="+mn-lt"/>
              </a:rPr>
              <a:t>действат</a:t>
            </a:r>
            <a:r>
              <a:rPr lang="ru-RU" sz="1400" dirty="0">
                <a:ea typeface="+mn-lt"/>
                <a:cs typeface="+mn-lt"/>
              </a:rPr>
              <a:t> </a:t>
            </a:r>
            <a:r>
              <a:rPr lang="ru-RU" sz="1400" dirty="0" err="1">
                <a:ea typeface="+mn-lt"/>
                <a:cs typeface="+mn-lt"/>
              </a:rPr>
              <a:t>импулсивно</a:t>
            </a:r>
            <a:r>
              <a:rPr lang="ru-RU" sz="1400" dirty="0">
                <a:ea typeface="+mn-lt"/>
                <a:cs typeface="+mn-lt"/>
              </a:rPr>
              <a:t> </a:t>
            </a:r>
            <a:endParaRPr lang="ru-RU" dirty="0"/>
          </a:p>
          <a:p>
            <a:r>
              <a:rPr lang="ru-RU" sz="1400" b="1" dirty="0" err="1">
                <a:ea typeface="+mn-lt"/>
                <a:cs typeface="+mn-lt"/>
              </a:rPr>
              <a:t>Предпочитана</a:t>
            </a:r>
            <a:r>
              <a:rPr lang="ru-RU" sz="1400" b="1" dirty="0">
                <a:ea typeface="+mn-lt"/>
                <a:cs typeface="+mn-lt"/>
              </a:rPr>
              <a:t> </a:t>
            </a:r>
            <a:r>
              <a:rPr lang="ru-RU" sz="1400" b="1" dirty="0" err="1">
                <a:ea typeface="+mn-lt"/>
                <a:cs typeface="+mn-lt"/>
              </a:rPr>
              <a:t>комуникация</a:t>
            </a:r>
            <a:r>
              <a:rPr lang="ru-RU" sz="1400" b="1" dirty="0">
                <a:ea typeface="+mn-lt"/>
                <a:cs typeface="+mn-lt"/>
              </a:rPr>
              <a:t>:</a:t>
            </a:r>
            <a:endParaRPr lang="ru-RU" b="1" dirty="0">
              <a:ea typeface="+mn-lt"/>
              <a:cs typeface="+mn-lt"/>
            </a:endParaRPr>
          </a:p>
          <a:p>
            <a:pPr marL="285750" indent="-285750">
              <a:buFont typeface="Arial"/>
              <a:buChar char="•"/>
            </a:pPr>
            <a:r>
              <a:rPr lang="ru-RU" sz="1400" dirty="0" err="1">
                <a:ea typeface="+mn-lt"/>
                <a:cs typeface="+mn-lt"/>
              </a:rPr>
              <a:t>Бавен</a:t>
            </a:r>
            <a:r>
              <a:rPr lang="ru-RU" sz="1400" dirty="0">
                <a:ea typeface="+mn-lt"/>
                <a:cs typeface="+mn-lt"/>
              </a:rPr>
              <a:t> и методичен разговор </a:t>
            </a:r>
            <a:endParaRPr lang="ru-RU" dirty="0"/>
          </a:p>
          <a:p>
            <a:pPr marL="285750" indent="-285750">
              <a:buFont typeface="Arial"/>
              <a:buChar char="•"/>
            </a:pPr>
            <a:r>
              <a:rPr lang="ru-RU" sz="1400" dirty="0" err="1">
                <a:ea typeface="+mn-lt"/>
                <a:cs typeface="+mn-lt"/>
              </a:rPr>
              <a:t>Ясни</a:t>
            </a:r>
            <a:r>
              <a:rPr lang="ru-RU" sz="1400" dirty="0">
                <a:ea typeface="+mn-lt"/>
                <a:cs typeface="+mn-lt"/>
              </a:rPr>
              <a:t>, </a:t>
            </a:r>
            <a:r>
              <a:rPr lang="ru-RU" sz="1400" dirty="0" err="1">
                <a:ea typeface="+mn-lt"/>
                <a:cs typeface="+mn-lt"/>
              </a:rPr>
              <a:t>точни</a:t>
            </a:r>
            <a:r>
              <a:rPr lang="ru-RU" sz="1400" dirty="0">
                <a:ea typeface="+mn-lt"/>
                <a:cs typeface="+mn-lt"/>
              </a:rPr>
              <a:t> </a:t>
            </a:r>
            <a:r>
              <a:rPr lang="ru-RU" sz="1400" dirty="0" err="1">
                <a:ea typeface="+mn-lt"/>
                <a:cs typeface="+mn-lt"/>
              </a:rPr>
              <a:t>факти</a:t>
            </a:r>
            <a:r>
              <a:rPr lang="ru-RU" sz="1400" dirty="0">
                <a:ea typeface="+mn-lt"/>
                <a:cs typeface="+mn-lt"/>
              </a:rPr>
              <a:t> </a:t>
            </a:r>
            <a:endParaRPr lang="ru-RU" dirty="0"/>
          </a:p>
          <a:p>
            <a:pPr marL="285750" indent="-285750">
              <a:buFont typeface="Arial"/>
              <a:buChar char="•"/>
            </a:pPr>
            <a:r>
              <a:rPr lang="ru-RU" sz="1400" dirty="0" err="1">
                <a:ea typeface="+mn-lt"/>
                <a:cs typeface="+mn-lt"/>
              </a:rPr>
              <a:t>Стандартни</a:t>
            </a:r>
            <a:r>
              <a:rPr lang="ru-RU" sz="1400" dirty="0">
                <a:ea typeface="+mn-lt"/>
                <a:cs typeface="+mn-lt"/>
              </a:rPr>
              <a:t> </a:t>
            </a:r>
            <a:r>
              <a:rPr lang="ru-RU" sz="1400" dirty="0" err="1">
                <a:ea typeface="+mn-lt"/>
                <a:cs typeface="+mn-lt"/>
              </a:rPr>
              <a:t>процедури</a:t>
            </a:r>
            <a:r>
              <a:rPr lang="ru-RU" sz="1400" dirty="0">
                <a:ea typeface="+mn-lt"/>
                <a:cs typeface="+mn-lt"/>
              </a:rPr>
              <a:t> </a:t>
            </a:r>
            <a:endParaRPr lang="ru-RU" dirty="0"/>
          </a:p>
          <a:p>
            <a:pPr marL="285750" indent="-285750">
              <a:buFont typeface="Arial"/>
              <a:buChar char="•"/>
            </a:pPr>
            <a:r>
              <a:rPr lang="ru-RU" sz="1400" dirty="0" err="1">
                <a:ea typeface="+mn-lt"/>
                <a:cs typeface="+mn-lt"/>
              </a:rPr>
              <a:t>Позоваване</a:t>
            </a:r>
            <a:r>
              <a:rPr lang="ru-RU" sz="1400" dirty="0">
                <a:ea typeface="+mn-lt"/>
                <a:cs typeface="+mn-lt"/>
              </a:rPr>
              <a:t> на </a:t>
            </a:r>
            <a:r>
              <a:rPr lang="ru-RU" sz="1400" dirty="0" err="1">
                <a:ea typeface="+mn-lt"/>
                <a:cs typeface="+mn-lt"/>
              </a:rPr>
              <a:t>законови</a:t>
            </a:r>
            <a:r>
              <a:rPr lang="ru-RU" sz="1400" dirty="0">
                <a:ea typeface="+mn-lt"/>
                <a:cs typeface="+mn-lt"/>
              </a:rPr>
              <a:t> </a:t>
            </a:r>
            <a:r>
              <a:rPr lang="ru-RU" sz="1400" dirty="0" err="1">
                <a:ea typeface="+mn-lt"/>
                <a:cs typeface="+mn-lt"/>
              </a:rPr>
              <a:t>източници</a:t>
            </a:r>
            <a:endParaRPr lang="ru-RU" dirty="0"/>
          </a:p>
          <a:p>
            <a:endParaRPr lang="ru-RU" sz="1400" dirty="0"/>
          </a:p>
        </p:txBody>
      </p:sp>
    </p:spTree>
    <p:extLst>
      <p:ext uri="{BB962C8B-B14F-4D97-AF65-F5344CB8AC3E}">
        <p14:creationId xmlns:p14="http://schemas.microsoft.com/office/powerpoint/2010/main" val="126677092"/>
      </p:ext>
    </p:extLst>
  </p:cSld>
  <p:clrMapOvr>
    <a:masterClrMapping/>
  </p:clrMapOvr>
  <p:extLst>
    <p:ext uri="{6950BFC3-D8DA-4A85-94F7-54DA5524770B}">
      <p188:commentRel xmlns:p188="http://schemas.microsoft.com/office/powerpoint/2018/8/main" r:id="rId2"/>
    </p:ext>
  </p:extLst>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F9FCCD-5AF9-4DF5-DC65-D52504984D29}"/>
            </a:ext>
          </a:extLst>
        </p:cNvPr>
        <p:cNvGrpSpPr/>
        <p:nvPr/>
      </p:nvGrpSpPr>
      <p:grpSpPr>
        <a:xfrm>
          <a:off x="0" y="0"/>
          <a:ext cx="0" cy="0"/>
          <a:chOff x="0" y="0"/>
          <a:chExt cx="0" cy="0"/>
        </a:xfrm>
      </p:grpSpPr>
      <p:sp>
        <p:nvSpPr>
          <p:cNvPr id="20" name="Балонче за говор: правоъгълник със заоблени ъгли 19">
            <a:extLst>
              <a:ext uri="{FF2B5EF4-FFF2-40B4-BE49-F238E27FC236}">
                <a16:creationId xmlns:a16="http://schemas.microsoft.com/office/drawing/2014/main" id="{59498A88-C811-20A2-6B19-FCD7509986C8}"/>
              </a:ext>
            </a:extLst>
          </p:cNvPr>
          <p:cNvSpPr/>
          <p:nvPr/>
        </p:nvSpPr>
        <p:spPr>
          <a:xfrm>
            <a:off x="8106937" y="1045302"/>
            <a:ext cx="3770802" cy="3582200"/>
          </a:xfrm>
          <a:prstGeom prst="roundRect">
            <a:avLst>
              <a:gd name="adj" fmla="val 10885"/>
            </a:avLst>
          </a:prstGeom>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ru-RU" sz="1400" b="1"/>
              <a:t>Трудно схватлив</a:t>
            </a:r>
            <a:br>
              <a:rPr lang="ru-RU" sz="1400"/>
            </a:br>
            <a:r>
              <a:rPr lang="ru-RU" sz="1400" b="1">
                <a:ea typeface="+mn-lt"/>
                <a:cs typeface="+mn-lt"/>
              </a:rPr>
              <a:t>Характеристики:</a:t>
            </a:r>
            <a:endParaRPr lang="bg-BG" sz="1400" b="1">
              <a:ea typeface="+mn-lt"/>
              <a:cs typeface="+mn-lt"/>
            </a:endParaRPr>
          </a:p>
          <a:p>
            <a:pPr marL="285750" indent="-285750">
              <a:buFont typeface="Arial"/>
              <a:buChar char="•"/>
            </a:pPr>
            <a:r>
              <a:rPr lang="ru-RU" sz="1400">
                <a:ea typeface="+mn-lt"/>
                <a:cs typeface="+mn-lt"/>
              </a:rPr>
              <a:t>Сърдечни и добронамерени </a:t>
            </a:r>
            <a:endParaRPr lang="ru-RU"/>
          </a:p>
          <a:p>
            <a:pPr marL="285750" indent="-285750">
              <a:buFont typeface="Arial"/>
              <a:buChar char="•"/>
            </a:pPr>
            <a:r>
              <a:rPr lang="ru-RU" sz="1400">
                <a:ea typeface="+mn-lt"/>
                <a:cs typeface="+mn-lt"/>
              </a:rPr>
              <a:t>Не разбират добре информацията </a:t>
            </a:r>
            <a:endParaRPr lang="ru-RU">
              <a:ea typeface="+mn-lt"/>
              <a:cs typeface="+mn-lt"/>
            </a:endParaRPr>
          </a:p>
          <a:p>
            <a:pPr marL="285750" indent="-285750">
              <a:buFont typeface="Arial"/>
              <a:buChar char="•"/>
            </a:pPr>
            <a:r>
              <a:rPr lang="ru-RU" sz="1400">
                <a:ea typeface="+mn-lt"/>
                <a:cs typeface="+mn-lt"/>
              </a:rPr>
              <a:t>Съгласни са с всичко </a:t>
            </a:r>
            <a:endParaRPr lang="ru-RU">
              <a:ea typeface="+mn-lt"/>
              <a:cs typeface="+mn-lt"/>
            </a:endParaRPr>
          </a:p>
          <a:p>
            <a:pPr marL="285750" indent="-285750">
              <a:buFont typeface="Arial"/>
              <a:buChar char="•"/>
            </a:pPr>
            <a:r>
              <a:rPr lang="ru-RU" sz="1400">
                <a:ea typeface="+mn-lt"/>
                <a:cs typeface="+mn-lt"/>
              </a:rPr>
              <a:t>Вземат бавни, емоционални решения </a:t>
            </a:r>
            <a:endParaRPr lang="ru-RU"/>
          </a:p>
          <a:p>
            <a:pPr marL="285750" indent="-285750">
              <a:buFont typeface="Arial"/>
              <a:buChar char="•"/>
            </a:pPr>
            <a:r>
              <a:rPr lang="ru-RU" sz="1400">
                <a:ea typeface="+mn-lt"/>
                <a:cs typeface="+mn-lt"/>
              </a:rPr>
              <a:t>Често сменят мнение </a:t>
            </a:r>
            <a:endParaRPr lang="ru-RU"/>
          </a:p>
          <a:p>
            <a:r>
              <a:rPr lang="ru-RU" sz="1400" b="1">
                <a:ea typeface="+mn-lt"/>
                <a:cs typeface="+mn-lt"/>
              </a:rPr>
              <a:t>Предпочитана комуникация:</a:t>
            </a:r>
            <a:endParaRPr lang="ru-RU" b="1">
              <a:ea typeface="+mn-lt"/>
              <a:cs typeface="+mn-lt"/>
            </a:endParaRPr>
          </a:p>
          <a:p>
            <a:pPr marL="285750" indent="-285750">
              <a:buFont typeface="Arial"/>
              <a:buChar char="•"/>
            </a:pPr>
            <a:r>
              <a:rPr lang="ru-RU" sz="1400">
                <a:ea typeface="+mn-lt"/>
                <a:cs typeface="+mn-lt"/>
              </a:rPr>
              <a:t>Прост и достъпен език </a:t>
            </a:r>
            <a:endParaRPr lang="ru-RU"/>
          </a:p>
          <a:p>
            <a:pPr marL="285750" indent="-285750">
              <a:buFont typeface="Arial"/>
              <a:buChar char="•"/>
            </a:pPr>
            <a:r>
              <a:rPr lang="ru-RU" sz="1400">
                <a:ea typeface="+mn-lt"/>
                <a:cs typeface="+mn-lt"/>
              </a:rPr>
              <a:t>Бавен разговор </a:t>
            </a:r>
            <a:endParaRPr lang="ru-RU"/>
          </a:p>
          <a:p>
            <a:pPr marL="285750" indent="-285750">
              <a:buFont typeface="Arial"/>
              <a:buChar char="•"/>
            </a:pPr>
            <a:r>
              <a:rPr lang="ru-RU" sz="1400">
                <a:ea typeface="+mn-lt"/>
                <a:cs typeface="+mn-lt"/>
              </a:rPr>
              <a:t>Неформално отношение </a:t>
            </a:r>
            <a:endParaRPr lang="ru-RU"/>
          </a:p>
          <a:p>
            <a:pPr marL="285750" indent="-285750">
              <a:buFont typeface="Arial"/>
              <a:buChar char="•"/>
            </a:pPr>
            <a:r>
              <a:rPr lang="ru-RU" sz="1400">
                <a:ea typeface="+mn-lt"/>
                <a:cs typeface="+mn-lt"/>
              </a:rPr>
              <a:t>Без снизхождение </a:t>
            </a:r>
            <a:endParaRPr lang="ru-RU"/>
          </a:p>
          <a:p>
            <a:pPr marL="285750" indent="-285750">
              <a:buFont typeface="Arial"/>
              <a:buChar char="•"/>
            </a:pPr>
            <a:r>
              <a:rPr lang="ru-RU" sz="1400">
                <a:ea typeface="+mn-lt"/>
                <a:cs typeface="+mn-lt"/>
              </a:rPr>
              <a:t>Потвърждаване на разбиране </a:t>
            </a:r>
            <a:endParaRPr lang="ru-RU"/>
          </a:p>
          <a:p>
            <a:pPr marL="285750" indent="-285750">
              <a:buFont typeface="Arial"/>
              <a:buChar char="•"/>
            </a:pPr>
            <a:r>
              <a:rPr lang="ru-RU" sz="1400">
                <a:ea typeface="+mn-lt"/>
                <a:cs typeface="+mn-lt"/>
              </a:rPr>
              <a:t>Търсене на съгласие</a:t>
            </a:r>
            <a:endParaRPr lang="ru-RU"/>
          </a:p>
          <a:p>
            <a:endParaRPr lang="ru-RU" sz="1400"/>
          </a:p>
        </p:txBody>
      </p:sp>
      <p:sp>
        <p:nvSpPr>
          <p:cNvPr id="22" name="Rectangle: Rounded Corners 21">
            <a:extLst>
              <a:ext uri="{FF2B5EF4-FFF2-40B4-BE49-F238E27FC236}">
                <a16:creationId xmlns:a16="http://schemas.microsoft.com/office/drawing/2014/main" id="{38DC9F31-BBF4-4EF9-8E18-A36AA5A6417A}"/>
              </a:ext>
            </a:extLst>
          </p:cNvPr>
          <p:cNvSpPr/>
          <p:nvPr/>
        </p:nvSpPr>
        <p:spPr>
          <a:xfrm>
            <a:off x="1893066" y="1041323"/>
            <a:ext cx="2706332" cy="715919"/>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Агресивен</a:t>
            </a:r>
            <a:endParaRPr lang="en-GB" sz="1600"/>
          </a:p>
        </p:txBody>
      </p:sp>
      <p:sp>
        <p:nvSpPr>
          <p:cNvPr id="24" name="Rectangle: Rounded Corners 23">
            <a:extLst>
              <a:ext uri="{FF2B5EF4-FFF2-40B4-BE49-F238E27FC236}">
                <a16:creationId xmlns:a16="http://schemas.microsoft.com/office/drawing/2014/main" id="{30ED84BD-2756-4A3A-9517-1678FFE199B4}"/>
              </a:ext>
            </a:extLst>
          </p:cNvPr>
          <p:cNvSpPr/>
          <p:nvPr/>
        </p:nvSpPr>
        <p:spPr>
          <a:xfrm>
            <a:off x="1893066" y="1871904"/>
            <a:ext cx="2706332" cy="705772"/>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Аналитичен</a:t>
            </a:r>
            <a:endParaRPr lang="en-GB" sz="1600"/>
          </a:p>
        </p:txBody>
      </p:sp>
      <p:sp>
        <p:nvSpPr>
          <p:cNvPr id="25" name="Rectangle: Rounded Corners 24">
            <a:extLst>
              <a:ext uri="{FF2B5EF4-FFF2-40B4-BE49-F238E27FC236}">
                <a16:creationId xmlns:a16="http://schemas.microsoft.com/office/drawing/2014/main" id="{EEC4077F-50B3-42B0-BCF5-B3FC48F2044D}"/>
              </a:ext>
            </a:extLst>
          </p:cNvPr>
          <p:cNvSpPr/>
          <p:nvPr/>
        </p:nvSpPr>
        <p:spPr>
          <a:xfrm>
            <a:off x="1893066" y="2692338"/>
            <a:ext cx="2706332" cy="699716"/>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Трудно схватлив</a:t>
            </a:r>
            <a:endParaRPr lang="en-GB" sz="1600"/>
          </a:p>
        </p:txBody>
      </p:sp>
      <p:sp>
        <p:nvSpPr>
          <p:cNvPr id="26" name="Rectangle 9">
            <a:extLst>
              <a:ext uri="{FF2B5EF4-FFF2-40B4-BE49-F238E27FC236}">
                <a16:creationId xmlns:a16="http://schemas.microsoft.com/office/drawing/2014/main" id="{FEE1105E-B7FD-47EF-BEA4-2D44EDE09B87}"/>
              </a:ext>
            </a:extLst>
          </p:cNvPr>
          <p:cNvSpPr/>
          <p:nvPr/>
        </p:nvSpPr>
        <p:spPr>
          <a:xfrm>
            <a:off x="1893066" y="3506716"/>
            <a:ext cx="2706332" cy="692699"/>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Злонамерен</a:t>
            </a:r>
            <a:endParaRPr lang="en-GB" sz="1600"/>
          </a:p>
        </p:txBody>
      </p:sp>
      <p:sp>
        <p:nvSpPr>
          <p:cNvPr id="27" name="Rectangle 11">
            <a:extLst>
              <a:ext uri="{FF2B5EF4-FFF2-40B4-BE49-F238E27FC236}">
                <a16:creationId xmlns:a16="http://schemas.microsoft.com/office/drawing/2014/main" id="{BA4964D0-30B3-44D6-A134-98A89CB0DDCC}"/>
              </a:ext>
            </a:extLst>
          </p:cNvPr>
          <p:cNvSpPr/>
          <p:nvPr/>
        </p:nvSpPr>
        <p:spPr>
          <a:xfrm>
            <a:off x="1893066" y="4314076"/>
            <a:ext cx="2706332" cy="677242"/>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ВИП</a:t>
            </a:r>
            <a:endParaRPr lang="en-GB" sz="1600"/>
          </a:p>
        </p:txBody>
      </p:sp>
      <p:sp>
        <p:nvSpPr>
          <p:cNvPr id="28" name="Rectangle 9">
            <a:extLst>
              <a:ext uri="{FF2B5EF4-FFF2-40B4-BE49-F238E27FC236}">
                <a16:creationId xmlns:a16="http://schemas.microsoft.com/office/drawing/2014/main" id="{6C293509-E470-4B3A-B955-3C99880603E5}"/>
              </a:ext>
            </a:extLst>
          </p:cNvPr>
          <p:cNvSpPr/>
          <p:nvPr/>
        </p:nvSpPr>
        <p:spPr>
          <a:xfrm>
            <a:off x="5053978" y="1872908"/>
            <a:ext cx="2706332" cy="705772"/>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Подозрителен</a:t>
            </a:r>
            <a:endParaRPr lang="en-GB" sz="1600"/>
          </a:p>
        </p:txBody>
      </p:sp>
      <p:sp>
        <p:nvSpPr>
          <p:cNvPr id="29" name="Rectangle 11">
            <a:extLst>
              <a:ext uri="{FF2B5EF4-FFF2-40B4-BE49-F238E27FC236}">
                <a16:creationId xmlns:a16="http://schemas.microsoft.com/office/drawing/2014/main" id="{EF7CE810-96F1-41E5-B4A1-A2DA09EFD2B1}"/>
              </a:ext>
            </a:extLst>
          </p:cNvPr>
          <p:cNvSpPr/>
          <p:nvPr/>
        </p:nvSpPr>
        <p:spPr>
          <a:xfrm>
            <a:off x="5053978" y="1041324"/>
            <a:ext cx="2706332" cy="715918"/>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Манипулативен</a:t>
            </a:r>
            <a:endParaRPr lang="en-GB" sz="1600"/>
          </a:p>
        </p:txBody>
      </p:sp>
      <p:sp>
        <p:nvSpPr>
          <p:cNvPr id="30" name="Rectangle 13">
            <a:extLst>
              <a:ext uri="{FF2B5EF4-FFF2-40B4-BE49-F238E27FC236}">
                <a16:creationId xmlns:a16="http://schemas.microsoft.com/office/drawing/2014/main" id="{B6A3657A-A115-4A1F-AB2E-672C5EC0D692}"/>
              </a:ext>
            </a:extLst>
          </p:cNvPr>
          <p:cNvSpPr/>
          <p:nvPr/>
        </p:nvSpPr>
        <p:spPr>
          <a:xfrm>
            <a:off x="5053978" y="2694346"/>
            <a:ext cx="2706332" cy="695699"/>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Нерешителен</a:t>
            </a:r>
            <a:endParaRPr lang="en-GB" sz="1600"/>
          </a:p>
        </p:txBody>
      </p:sp>
      <p:sp>
        <p:nvSpPr>
          <p:cNvPr id="31" name="Rectangle 9">
            <a:extLst>
              <a:ext uri="{FF2B5EF4-FFF2-40B4-BE49-F238E27FC236}">
                <a16:creationId xmlns:a16="http://schemas.microsoft.com/office/drawing/2014/main" id="{7F118B1A-ABB8-48A0-970F-A4ADCA563C4F}"/>
              </a:ext>
            </a:extLst>
          </p:cNvPr>
          <p:cNvSpPr/>
          <p:nvPr/>
        </p:nvSpPr>
        <p:spPr>
          <a:xfrm>
            <a:off x="5053978" y="4314076"/>
            <a:ext cx="2706332" cy="677242"/>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Търсещ социален контакт</a:t>
            </a:r>
            <a:endParaRPr lang="en-GB" sz="1600"/>
          </a:p>
        </p:txBody>
      </p:sp>
      <p:sp>
        <p:nvSpPr>
          <p:cNvPr id="32" name="Rectangle 11">
            <a:extLst>
              <a:ext uri="{FF2B5EF4-FFF2-40B4-BE49-F238E27FC236}">
                <a16:creationId xmlns:a16="http://schemas.microsoft.com/office/drawing/2014/main" id="{299A3662-D24D-4BC1-8B5D-3F50ABE0E25F}"/>
              </a:ext>
            </a:extLst>
          </p:cNvPr>
          <p:cNvSpPr/>
          <p:nvPr/>
        </p:nvSpPr>
        <p:spPr>
          <a:xfrm>
            <a:off x="5053978" y="3505711"/>
            <a:ext cx="2706332" cy="692699"/>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Импулсивен </a:t>
            </a:r>
            <a:endParaRPr lang="en-GB" sz="1600"/>
          </a:p>
        </p:txBody>
      </p:sp>
      <p:sp>
        <p:nvSpPr>
          <p:cNvPr id="33" name="Rectangle 28">
            <a:extLst>
              <a:ext uri="{FF2B5EF4-FFF2-40B4-BE49-F238E27FC236}">
                <a16:creationId xmlns:a16="http://schemas.microsoft.com/office/drawing/2014/main" id="{C3DE53E7-0E2D-466E-8710-1D7C44AB0E22}"/>
              </a:ext>
            </a:extLst>
          </p:cNvPr>
          <p:cNvSpPr/>
          <p:nvPr/>
        </p:nvSpPr>
        <p:spPr>
          <a:xfrm>
            <a:off x="-15824" y="1599"/>
            <a:ext cx="1465320" cy="6859628"/>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400">
              <a:latin typeface="Aptos"/>
              <a:ea typeface="Calibri"/>
              <a:cs typeface="Calibri"/>
            </a:endParaRPr>
          </a:p>
        </p:txBody>
      </p:sp>
      <p:sp>
        <p:nvSpPr>
          <p:cNvPr id="34" name="Rectangle 29">
            <a:extLst>
              <a:ext uri="{FF2B5EF4-FFF2-40B4-BE49-F238E27FC236}">
                <a16:creationId xmlns:a16="http://schemas.microsoft.com/office/drawing/2014/main" id="{AE5796AE-2EAD-4FE4-9B38-D8096E78FDC8}"/>
              </a:ext>
            </a:extLst>
          </p:cNvPr>
          <p:cNvSpPr/>
          <p:nvPr/>
        </p:nvSpPr>
        <p:spPr>
          <a:xfrm>
            <a:off x="-1671" y="2528038"/>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002060"/>
                </a:solidFill>
                <a:latin typeface="Aptos"/>
                <a:ea typeface="Calibri"/>
                <a:cs typeface="Calibri"/>
              </a:rPr>
              <a:t>Типове клиенти</a:t>
            </a:r>
            <a:endParaRPr lang="en-GB" sz="1400">
              <a:solidFill>
                <a:srgbClr val="002060"/>
              </a:solidFill>
              <a:latin typeface="Aptos"/>
              <a:ea typeface="Calibri"/>
              <a:cs typeface="Calibri"/>
            </a:endParaRPr>
          </a:p>
        </p:txBody>
      </p:sp>
      <p:sp>
        <p:nvSpPr>
          <p:cNvPr id="35" name="Rectangle 30">
            <a:extLst>
              <a:ext uri="{FF2B5EF4-FFF2-40B4-BE49-F238E27FC236}">
                <a16:creationId xmlns:a16="http://schemas.microsoft.com/office/drawing/2014/main" id="{3EB834B8-69DF-4201-9CE2-1558C5012DBC}"/>
              </a:ext>
            </a:extLst>
          </p:cNvPr>
          <p:cNvSpPr/>
          <p:nvPr/>
        </p:nvSpPr>
        <p:spPr>
          <a:xfrm>
            <a:off x="8626" y="1913210"/>
            <a:ext cx="1442908" cy="4485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chemeClr val="bg1"/>
                </a:solidFill>
                <a:latin typeface="Aptos"/>
                <a:ea typeface="Calibri"/>
                <a:cs typeface="Calibri"/>
              </a:rPr>
              <a:t>Сценарии</a:t>
            </a:r>
            <a:endParaRPr lang="en-GB" sz="1400">
              <a:solidFill>
                <a:schemeClr val="bg1"/>
              </a:solidFill>
              <a:latin typeface="Aptos"/>
              <a:ea typeface="Calibri"/>
              <a:cs typeface="Calibri"/>
            </a:endParaRPr>
          </a:p>
        </p:txBody>
      </p:sp>
      <p:sp>
        <p:nvSpPr>
          <p:cNvPr id="36" name="Rectangle 31">
            <a:extLst>
              <a:ext uri="{FF2B5EF4-FFF2-40B4-BE49-F238E27FC236}">
                <a16:creationId xmlns:a16="http://schemas.microsoft.com/office/drawing/2014/main" id="{DED23D5E-3193-495E-8088-EA4BA5D49441}"/>
              </a:ext>
            </a:extLst>
          </p:cNvPr>
          <p:cNvSpPr/>
          <p:nvPr/>
        </p:nvSpPr>
        <p:spPr>
          <a:xfrm>
            <a:off x="-1671" y="1298382"/>
            <a:ext cx="1442908" cy="4485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b="1">
                <a:solidFill>
                  <a:schemeClr val="bg1"/>
                </a:solidFill>
                <a:latin typeface="Aptos"/>
                <a:ea typeface="Calibri"/>
                <a:cs typeface="Calibri"/>
              </a:rPr>
              <a:t>Стъпки при среща</a:t>
            </a:r>
            <a:endParaRPr lang="bg-BG" sz="1400">
              <a:solidFill>
                <a:srgbClr val="000000"/>
              </a:solidFill>
              <a:latin typeface="Aptos"/>
              <a:ea typeface="Calibri"/>
              <a:cs typeface="Calibri"/>
            </a:endParaRPr>
          </a:p>
        </p:txBody>
      </p:sp>
      <p:sp>
        <p:nvSpPr>
          <p:cNvPr id="39" name="Rectangle 28">
            <a:extLst>
              <a:ext uri="{FF2B5EF4-FFF2-40B4-BE49-F238E27FC236}">
                <a16:creationId xmlns:a16="http://schemas.microsoft.com/office/drawing/2014/main" id="{862CE976-BF0E-4B69-A3A6-397F276F6B04}"/>
              </a:ext>
            </a:extLst>
          </p:cNvPr>
          <p:cNvSpPr/>
          <p:nvPr/>
        </p:nvSpPr>
        <p:spPr>
          <a:xfrm>
            <a:off x="-15827" y="690328"/>
            <a:ext cx="1465322"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FFFFFF"/>
                </a:solidFill>
                <a:latin typeface="Aptos"/>
                <a:ea typeface="Calibri"/>
                <a:cs typeface="Calibri"/>
              </a:rPr>
              <a:t>Подготовка</a:t>
            </a:r>
            <a:endParaRPr lang="en-GB" sz="1400">
              <a:solidFill>
                <a:srgbClr val="FFFFFF"/>
              </a:solidFill>
              <a:latin typeface="Aptos"/>
              <a:ea typeface="Calibri"/>
              <a:cs typeface="Calibri"/>
            </a:endParaRPr>
          </a:p>
        </p:txBody>
      </p:sp>
      <p:sp>
        <p:nvSpPr>
          <p:cNvPr id="21" name="Rectangle 3">
            <a:extLst>
              <a:ext uri="{FF2B5EF4-FFF2-40B4-BE49-F238E27FC236}">
                <a16:creationId xmlns:a16="http://schemas.microsoft.com/office/drawing/2014/main" id="{FD939EBB-ABA8-4C4A-94DF-3406F69D54DA}"/>
              </a:ext>
            </a:extLst>
          </p:cNvPr>
          <p:cNvSpPr/>
          <p:nvPr/>
        </p:nvSpPr>
        <p:spPr>
          <a:xfrm>
            <a:off x="1443475" y="4245"/>
            <a:ext cx="5338363" cy="677242"/>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23" name="Rectangle 4">
            <a:extLst>
              <a:ext uri="{FF2B5EF4-FFF2-40B4-BE49-F238E27FC236}">
                <a16:creationId xmlns:a16="http://schemas.microsoft.com/office/drawing/2014/main" id="{6509CE1B-7119-4D40-B460-87B04519FD8E}"/>
              </a:ext>
            </a:extLst>
          </p:cNvPr>
          <p:cNvSpPr/>
          <p:nvPr/>
        </p:nvSpPr>
        <p:spPr>
          <a:xfrm>
            <a:off x="6788435" y="4245"/>
            <a:ext cx="5417300" cy="677242"/>
          </a:xfrm>
          <a:prstGeom prst="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pic>
        <p:nvPicPr>
          <p:cNvPr id="40" name="Picture 39">
            <a:extLst>
              <a:ext uri="{FF2B5EF4-FFF2-40B4-BE49-F238E27FC236}">
                <a16:creationId xmlns:a16="http://schemas.microsoft.com/office/drawing/2014/main" id="{F64D0860-3787-4925-ACCA-6D234064986F}"/>
              </a:ext>
            </a:extLst>
          </p:cNvPr>
          <p:cNvPicPr>
            <a:picLocks noChangeAspect="1"/>
          </p:cNvPicPr>
          <p:nvPr/>
        </p:nvPicPr>
        <p:blipFill>
          <a:blip r:embed="rId2"/>
          <a:stretch>
            <a:fillRect/>
          </a:stretch>
        </p:blipFill>
        <p:spPr>
          <a:xfrm>
            <a:off x="10883590" y="5621341"/>
            <a:ext cx="982751" cy="995681"/>
          </a:xfrm>
          <a:prstGeom prst="rect">
            <a:avLst/>
          </a:prstGeom>
        </p:spPr>
      </p:pic>
    </p:spTree>
    <p:extLst>
      <p:ext uri="{BB962C8B-B14F-4D97-AF65-F5344CB8AC3E}">
        <p14:creationId xmlns:p14="http://schemas.microsoft.com/office/powerpoint/2010/main" val="3513079750"/>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1D2C93-C77F-8F92-E327-E90CD1988773}"/>
            </a:ext>
          </a:extLst>
        </p:cNvPr>
        <p:cNvGrpSpPr/>
        <p:nvPr/>
      </p:nvGrpSpPr>
      <p:grpSpPr>
        <a:xfrm>
          <a:off x="0" y="0"/>
          <a:ext cx="0" cy="0"/>
          <a:chOff x="0" y="0"/>
          <a:chExt cx="0" cy="0"/>
        </a:xfrm>
      </p:grpSpPr>
      <p:sp>
        <p:nvSpPr>
          <p:cNvPr id="20" name="Балонче за говор: правоъгълник със заоблени ъгли 19">
            <a:extLst>
              <a:ext uri="{FF2B5EF4-FFF2-40B4-BE49-F238E27FC236}">
                <a16:creationId xmlns:a16="http://schemas.microsoft.com/office/drawing/2014/main" id="{76FCCC8C-7D1D-BFF0-B340-2230CB07062D}"/>
              </a:ext>
            </a:extLst>
          </p:cNvPr>
          <p:cNvSpPr/>
          <p:nvPr/>
        </p:nvSpPr>
        <p:spPr>
          <a:xfrm>
            <a:off x="8084634" y="1012016"/>
            <a:ext cx="3508488" cy="3210969"/>
          </a:xfrm>
          <a:prstGeom prst="roundRect">
            <a:avLst>
              <a:gd name="adj" fmla="val 8958"/>
            </a:avLst>
          </a:prstGeom>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ru-RU" sz="1400" b="1"/>
              <a:t>Злонамерен</a:t>
            </a:r>
            <a:br>
              <a:rPr lang="ru-RU" sz="1400"/>
            </a:br>
            <a:r>
              <a:rPr lang="ru-RU" sz="1400" b="1">
                <a:ea typeface="+mn-lt"/>
                <a:cs typeface="+mn-lt"/>
              </a:rPr>
              <a:t>Характеристики:</a:t>
            </a:r>
            <a:endParaRPr lang="bg-BG" sz="1400"/>
          </a:p>
          <a:p>
            <a:pPr marL="285750" indent="-285750">
              <a:buFont typeface="Arial"/>
              <a:buChar char="•"/>
            </a:pPr>
            <a:r>
              <a:rPr lang="ru-RU" sz="1400">
                <a:ea typeface="+mn-lt"/>
                <a:cs typeface="+mn-lt"/>
              </a:rPr>
              <a:t>Висок социален статус </a:t>
            </a:r>
            <a:endParaRPr lang="ru-RU"/>
          </a:p>
          <a:p>
            <a:pPr marL="285750" indent="-285750">
              <a:buFont typeface="Arial"/>
              <a:buChar char="•"/>
            </a:pPr>
            <a:r>
              <a:rPr lang="ru-RU" sz="1400">
                <a:ea typeface="+mn-lt"/>
                <a:cs typeface="+mn-lt"/>
              </a:rPr>
              <a:t>Ограничено време </a:t>
            </a:r>
            <a:endParaRPr lang="ru-RU"/>
          </a:p>
          <a:p>
            <a:pPr marL="285750" indent="-285750">
              <a:buFont typeface="Arial"/>
              <a:buChar char="•"/>
            </a:pPr>
            <a:r>
              <a:rPr lang="ru-RU" sz="1400">
                <a:ea typeface="+mn-lt"/>
                <a:cs typeface="+mn-lt"/>
              </a:rPr>
              <a:t>Свикнали на специално отношение </a:t>
            </a:r>
            <a:endParaRPr lang="ru-RU"/>
          </a:p>
          <a:p>
            <a:pPr marL="285750" indent="-285750">
              <a:buFont typeface="Arial"/>
              <a:buChar char="•"/>
            </a:pPr>
            <a:r>
              <a:rPr lang="ru-RU" sz="1400">
                <a:ea typeface="+mn-lt"/>
                <a:cs typeface="+mn-lt"/>
              </a:rPr>
              <a:t>Високо самочувствие </a:t>
            </a:r>
            <a:endParaRPr lang="ru-RU"/>
          </a:p>
          <a:p>
            <a:pPr marL="285750" indent="-285750">
              <a:buFont typeface="Arial"/>
              <a:buChar char="•"/>
            </a:pPr>
            <a:r>
              <a:rPr lang="ru-RU" sz="1400">
                <a:ea typeface="+mn-lt"/>
                <a:cs typeface="+mn-lt"/>
              </a:rPr>
              <a:t>Лоялни клиенти </a:t>
            </a:r>
            <a:endParaRPr lang="ru-RU"/>
          </a:p>
          <a:p>
            <a:r>
              <a:rPr lang="ru-RU" sz="1400" b="1">
                <a:ea typeface="+mn-lt"/>
                <a:cs typeface="+mn-lt"/>
              </a:rPr>
              <a:t>Предпочитана комуникация:</a:t>
            </a:r>
            <a:endParaRPr lang="ru-RU" b="1">
              <a:ea typeface="+mn-lt"/>
              <a:cs typeface="+mn-lt"/>
            </a:endParaRPr>
          </a:p>
          <a:p>
            <a:pPr marL="285750" indent="-285750">
              <a:buFont typeface="Arial"/>
              <a:buChar char="•"/>
            </a:pPr>
            <a:r>
              <a:rPr lang="ru-RU" sz="1400">
                <a:ea typeface="+mn-lt"/>
                <a:cs typeface="+mn-lt"/>
              </a:rPr>
              <a:t>Делови и кратък разговор </a:t>
            </a:r>
            <a:endParaRPr lang="ru-RU"/>
          </a:p>
          <a:p>
            <a:pPr marL="285750" indent="-285750">
              <a:buFont typeface="Arial"/>
              <a:buChar char="•"/>
            </a:pPr>
            <a:r>
              <a:rPr lang="ru-RU" sz="1400">
                <a:ea typeface="+mn-lt"/>
                <a:cs typeface="+mn-lt"/>
              </a:rPr>
              <a:t>Любезност и уважение </a:t>
            </a:r>
            <a:endParaRPr lang="ru-RU"/>
          </a:p>
          <a:p>
            <a:pPr marL="285750" indent="-285750">
              <a:buFont typeface="Arial"/>
              <a:buChar char="•"/>
            </a:pPr>
            <a:r>
              <a:rPr lang="ru-RU" sz="1400">
                <a:ea typeface="+mn-lt"/>
                <a:cs typeface="+mn-lt"/>
              </a:rPr>
              <a:t>Ясни решения </a:t>
            </a:r>
            <a:endParaRPr lang="ru-RU"/>
          </a:p>
          <a:p>
            <a:pPr marL="285750" indent="-285750">
              <a:buFont typeface="Arial"/>
              <a:buChar char="•"/>
            </a:pPr>
            <a:r>
              <a:rPr lang="ru-RU" sz="1400">
                <a:ea typeface="+mn-lt"/>
                <a:cs typeface="+mn-lt"/>
              </a:rPr>
              <a:t>Професионализъм </a:t>
            </a:r>
            <a:endParaRPr lang="ru-RU"/>
          </a:p>
          <a:p>
            <a:pPr marL="285750" indent="-285750">
              <a:buFont typeface="Arial"/>
              <a:buChar char="•"/>
            </a:pPr>
            <a:r>
              <a:rPr lang="ru-RU" sz="1400">
                <a:ea typeface="+mn-lt"/>
                <a:cs typeface="+mn-lt"/>
              </a:rPr>
              <a:t>Спазване на процедури</a:t>
            </a:r>
            <a:endParaRPr lang="ru-RU"/>
          </a:p>
          <a:p>
            <a:endParaRPr lang="bg-BG" sz="1400"/>
          </a:p>
        </p:txBody>
      </p:sp>
      <p:sp>
        <p:nvSpPr>
          <p:cNvPr id="21" name="Rectangle 28">
            <a:extLst>
              <a:ext uri="{FF2B5EF4-FFF2-40B4-BE49-F238E27FC236}">
                <a16:creationId xmlns:a16="http://schemas.microsoft.com/office/drawing/2014/main" id="{E4E33190-ACDB-4455-B8A6-B0400E4DA860}"/>
              </a:ext>
            </a:extLst>
          </p:cNvPr>
          <p:cNvSpPr/>
          <p:nvPr/>
        </p:nvSpPr>
        <p:spPr>
          <a:xfrm>
            <a:off x="-15824" y="1599"/>
            <a:ext cx="1465320" cy="6859628"/>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400">
              <a:latin typeface="Aptos"/>
              <a:ea typeface="Calibri"/>
              <a:cs typeface="Calibri"/>
            </a:endParaRPr>
          </a:p>
        </p:txBody>
      </p:sp>
      <p:sp>
        <p:nvSpPr>
          <p:cNvPr id="23" name="Rectangle 29">
            <a:extLst>
              <a:ext uri="{FF2B5EF4-FFF2-40B4-BE49-F238E27FC236}">
                <a16:creationId xmlns:a16="http://schemas.microsoft.com/office/drawing/2014/main" id="{44252046-B5C9-4DDF-9396-03D7BB4DB257}"/>
              </a:ext>
            </a:extLst>
          </p:cNvPr>
          <p:cNvSpPr/>
          <p:nvPr/>
        </p:nvSpPr>
        <p:spPr>
          <a:xfrm>
            <a:off x="-1671" y="2528038"/>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002060"/>
                </a:solidFill>
                <a:latin typeface="Aptos"/>
                <a:ea typeface="Calibri"/>
                <a:cs typeface="Calibri"/>
              </a:rPr>
              <a:t>Типове клиенти</a:t>
            </a:r>
            <a:endParaRPr lang="en-GB" sz="1400">
              <a:solidFill>
                <a:srgbClr val="002060"/>
              </a:solidFill>
              <a:latin typeface="Aptos"/>
              <a:ea typeface="Calibri"/>
              <a:cs typeface="Calibri"/>
            </a:endParaRPr>
          </a:p>
        </p:txBody>
      </p:sp>
      <p:sp>
        <p:nvSpPr>
          <p:cNvPr id="25" name="Rectangle 30">
            <a:extLst>
              <a:ext uri="{FF2B5EF4-FFF2-40B4-BE49-F238E27FC236}">
                <a16:creationId xmlns:a16="http://schemas.microsoft.com/office/drawing/2014/main" id="{9BC92CAC-382A-4BB9-AB3F-710D90741082}"/>
              </a:ext>
            </a:extLst>
          </p:cNvPr>
          <p:cNvSpPr/>
          <p:nvPr/>
        </p:nvSpPr>
        <p:spPr>
          <a:xfrm>
            <a:off x="8626" y="1913210"/>
            <a:ext cx="1442908" cy="4485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chemeClr val="bg1"/>
                </a:solidFill>
                <a:latin typeface="Aptos"/>
                <a:ea typeface="Calibri"/>
                <a:cs typeface="Calibri"/>
              </a:rPr>
              <a:t>Сценарии</a:t>
            </a:r>
            <a:endParaRPr lang="en-GB" sz="1400">
              <a:solidFill>
                <a:schemeClr val="bg1"/>
              </a:solidFill>
              <a:latin typeface="Aptos"/>
              <a:ea typeface="Calibri"/>
              <a:cs typeface="Calibri"/>
            </a:endParaRPr>
          </a:p>
        </p:txBody>
      </p:sp>
      <p:sp>
        <p:nvSpPr>
          <p:cNvPr id="26" name="Rectangle 31">
            <a:extLst>
              <a:ext uri="{FF2B5EF4-FFF2-40B4-BE49-F238E27FC236}">
                <a16:creationId xmlns:a16="http://schemas.microsoft.com/office/drawing/2014/main" id="{610EC713-8CD3-43BB-B57A-B089FF3E6459}"/>
              </a:ext>
            </a:extLst>
          </p:cNvPr>
          <p:cNvSpPr/>
          <p:nvPr/>
        </p:nvSpPr>
        <p:spPr>
          <a:xfrm>
            <a:off x="-1671" y="1298382"/>
            <a:ext cx="1442908" cy="4485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b="1">
                <a:solidFill>
                  <a:schemeClr val="bg1"/>
                </a:solidFill>
                <a:latin typeface="Aptos"/>
                <a:ea typeface="Calibri"/>
                <a:cs typeface="Calibri"/>
              </a:rPr>
              <a:t>Стъпки при среща</a:t>
            </a:r>
            <a:endParaRPr lang="bg-BG" sz="1400">
              <a:solidFill>
                <a:schemeClr val="bg1"/>
              </a:solidFill>
              <a:latin typeface="Aptos"/>
              <a:ea typeface="Calibri"/>
              <a:cs typeface="Calibri"/>
            </a:endParaRPr>
          </a:p>
        </p:txBody>
      </p:sp>
      <p:sp>
        <p:nvSpPr>
          <p:cNvPr id="29" name="Rectangle 28">
            <a:extLst>
              <a:ext uri="{FF2B5EF4-FFF2-40B4-BE49-F238E27FC236}">
                <a16:creationId xmlns:a16="http://schemas.microsoft.com/office/drawing/2014/main" id="{10E03BB3-2CE0-4292-A60C-E3A0745B5546}"/>
              </a:ext>
            </a:extLst>
          </p:cNvPr>
          <p:cNvSpPr/>
          <p:nvPr/>
        </p:nvSpPr>
        <p:spPr>
          <a:xfrm>
            <a:off x="-15827" y="690328"/>
            <a:ext cx="1465322"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FFFFFF"/>
                </a:solidFill>
                <a:latin typeface="Aptos"/>
                <a:ea typeface="Calibri"/>
                <a:cs typeface="Calibri"/>
              </a:rPr>
              <a:t>Подготовка</a:t>
            </a:r>
            <a:endParaRPr lang="en-GB" sz="1400">
              <a:solidFill>
                <a:srgbClr val="FFFFFF"/>
              </a:solidFill>
              <a:latin typeface="Aptos"/>
              <a:ea typeface="Calibri"/>
              <a:cs typeface="Calibri"/>
            </a:endParaRPr>
          </a:p>
        </p:txBody>
      </p:sp>
      <p:sp>
        <p:nvSpPr>
          <p:cNvPr id="30" name="Rectangle: Rounded Corners 29">
            <a:extLst>
              <a:ext uri="{FF2B5EF4-FFF2-40B4-BE49-F238E27FC236}">
                <a16:creationId xmlns:a16="http://schemas.microsoft.com/office/drawing/2014/main" id="{008B1C21-7FF7-4F4D-A43F-21908256969E}"/>
              </a:ext>
            </a:extLst>
          </p:cNvPr>
          <p:cNvSpPr/>
          <p:nvPr/>
        </p:nvSpPr>
        <p:spPr>
          <a:xfrm>
            <a:off x="1893066" y="1041323"/>
            <a:ext cx="2706332" cy="715919"/>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Агресивен</a:t>
            </a:r>
            <a:endParaRPr lang="en-GB" sz="1600"/>
          </a:p>
        </p:txBody>
      </p:sp>
      <p:sp>
        <p:nvSpPr>
          <p:cNvPr id="31" name="Rectangle: Rounded Corners 30">
            <a:extLst>
              <a:ext uri="{FF2B5EF4-FFF2-40B4-BE49-F238E27FC236}">
                <a16:creationId xmlns:a16="http://schemas.microsoft.com/office/drawing/2014/main" id="{768CA04C-CF96-415D-9D7A-B8594755E9FB}"/>
              </a:ext>
            </a:extLst>
          </p:cNvPr>
          <p:cNvSpPr/>
          <p:nvPr/>
        </p:nvSpPr>
        <p:spPr>
          <a:xfrm>
            <a:off x="1893066" y="1871904"/>
            <a:ext cx="2706332" cy="705772"/>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Аналитичен</a:t>
            </a:r>
            <a:endParaRPr lang="en-GB" sz="1600"/>
          </a:p>
        </p:txBody>
      </p:sp>
      <p:sp>
        <p:nvSpPr>
          <p:cNvPr id="32" name="Rectangle: Rounded Corners 31">
            <a:extLst>
              <a:ext uri="{FF2B5EF4-FFF2-40B4-BE49-F238E27FC236}">
                <a16:creationId xmlns:a16="http://schemas.microsoft.com/office/drawing/2014/main" id="{2C9EE984-EF69-4A1D-8DC4-59E5F60B6A72}"/>
              </a:ext>
            </a:extLst>
          </p:cNvPr>
          <p:cNvSpPr/>
          <p:nvPr/>
        </p:nvSpPr>
        <p:spPr>
          <a:xfrm>
            <a:off x="1893066" y="2692338"/>
            <a:ext cx="2706332" cy="699716"/>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Трудно схватлив</a:t>
            </a:r>
            <a:endParaRPr lang="en-GB" sz="1600"/>
          </a:p>
        </p:txBody>
      </p:sp>
      <p:sp>
        <p:nvSpPr>
          <p:cNvPr id="33" name="Rectangle 9">
            <a:extLst>
              <a:ext uri="{FF2B5EF4-FFF2-40B4-BE49-F238E27FC236}">
                <a16:creationId xmlns:a16="http://schemas.microsoft.com/office/drawing/2014/main" id="{C344A3F7-F22E-433C-B921-43D565AACE21}"/>
              </a:ext>
            </a:extLst>
          </p:cNvPr>
          <p:cNvSpPr/>
          <p:nvPr/>
        </p:nvSpPr>
        <p:spPr>
          <a:xfrm>
            <a:off x="1893066" y="3506716"/>
            <a:ext cx="2706332" cy="692699"/>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Злонамерен</a:t>
            </a:r>
            <a:endParaRPr lang="en-GB" sz="1600"/>
          </a:p>
        </p:txBody>
      </p:sp>
      <p:sp>
        <p:nvSpPr>
          <p:cNvPr id="34" name="Rectangle 11">
            <a:extLst>
              <a:ext uri="{FF2B5EF4-FFF2-40B4-BE49-F238E27FC236}">
                <a16:creationId xmlns:a16="http://schemas.microsoft.com/office/drawing/2014/main" id="{F07CDA58-8343-4426-BE5A-EF5EED9301ED}"/>
              </a:ext>
            </a:extLst>
          </p:cNvPr>
          <p:cNvSpPr/>
          <p:nvPr/>
        </p:nvSpPr>
        <p:spPr>
          <a:xfrm>
            <a:off x="1893066" y="4314076"/>
            <a:ext cx="2706332" cy="677242"/>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ВИП</a:t>
            </a:r>
            <a:endParaRPr lang="en-GB" sz="1600"/>
          </a:p>
        </p:txBody>
      </p:sp>
      <p:sp>
        <p:nvSpPr>
          <p:cNvPr id="35" name="Rectangle 9">
            <a:extLst>
              <a:ext uri="{FF2B5EF4-FFF2-40B4-BE49-F238E27FC236}">
                <a16:creationId xmlns:a16="http://schemas.microsoft.com/office/drawing/2014/main" id="{47AD426C-CFFD-4BF3-8204-CC9E86965CF9}"/>
              </a:ext>
            </a:extLst>
          </p:cNvPr>
          <p:cNvSpPr/>
          <p:nvPr/>
        </p:nvSpPr>
        <p:spPr>
          <a:xfrm>
            <a:off x="5053978" y="1872908"/>
            <a:ext cx="2706332" cy="705772"/>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Подозрителен</a:t>
            </a:r>
            <a:endParaRPr lang="en-GB" sz="1600"/>
          </a:p>
        </p:txBody>
      </p:sp>
      <p:sp>
        <p:nvSpPr>
          <p:cNvPr id="36" name="Rectangle 11">
            <a:extLst>
              <a:ext uri="{FF2B5EF4-FFF2-40B4-BE49-F238E27FC236}">
                <a16:creationId xmlns:a16="http://schemas.microsoft.com/office/drawing/2014/main" id="{25B3C970-BCBE-4A19-AE74-97B248A4C368}"/>
              </a:ext>
            </a:extLst>
          </p:cNvPr>
          <p:cNvSpPr/>
          <p:nvPr/>
        </p:nvSpPr>
        <p:spPr>
          <a:xfrm>
            <a:off x="5053978" y="1041324"/>
            <a:ext cx="2706332" cy="715918"/>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Манипулативен</a:t>
            </a:r>
            <a:endParaRPr lang="en-GB" sz="1600"/>
          </a:p>
        </p:txBody>
      </p:sp>
      <p:sp>
        <p:nvSpPr>
          <p:cNvPr id="37" name="Rectangle 13">
            <a:extLst>
              <a:ext uri="{FF2B5EF4-FFF2-40B4-BE49-F238E27FC236}">
                <a16:creationId xmlns:a16="http://schemas.microsoft.com/office/drawing/2014/main" id="{FFA836F4-9ADE-4448-8E2A-5C47012CAD0A}"/>
              </a:ext>
            </a:extLst>
          </p:cNvPr>
          <p:cNvSpPr/>
          <p:nvPr/>
        </p:nvSpPr>
        <p:spPr>
          <a:xfrm>
            <a:off x="5053978" y="2694346"/>
            <a:ext cx="2706332" cy="695699"/>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Нерешителен</a:t>
            </a:r>
            <a:endParaRPr lang="en-GB" sz="1600"/>
          </a:p>
        </p:txBody>
      </p:sp>
      <p:sp>
        <p:nvSpPr>
          <p:cNvPr id="38" name="Rectangle 9">
            <a:extLst>
              <a:ext uri="{FF2B5EF4-FFF2-40B4-BE49-F238E27FC236}">
                <a16:creationId xmlns:a16="http://schemas.microsoft.com/office/drawing/2014/main" id="{26AEC8D3-ECE6-41E3-BC85-0E53DB63E618}"/>
              </a:ext>
            </a:extLst>
          </p:cNvPr>
          <p:cNvSpPr/>
          <p:nvPr/>
        </p:nvSpPr>
        <p:spPr>
          <a:xfrm>
            <a:off x="5053978" y="4314076"/>
            <a:ext cx="2706332" cy="677242"/>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Търсещ социален контакт</a:t>
            </a:r>
            <a:endParaRPr lang="en-GB" sz="1600"/>
          </a:p>
        </p:txBody>
      </p:sp>
      <p:sp>
        <p:nvSpPr>
          <p:cNvPr id="39" name="Rectangle 11">
            <a:extLst>
              <a:ext uri="{FF2B5EF4-FFF2-40B4-BE49-F238E27FC236}">
                <a16:creationId xmlns:a16="http://schemas.microsoft.com/office/drawing/2014/main" id="{A75F6735-29F5-491B-BC5C-13C4E9F778A2}"/>
              </a:ext>
            </a:extLst>
          </p:cNvPr>
          <p:cNvSpPr/>
          <p:nvPr/>
        </p:nvSpPr>
        <p:spPr>
          <a:xfrm>
            <a:off x="5053978" y="3505711"/>
            <a:ext cx="2706332" cy="692699"/>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Импулсивен </a:t>
            </a:r>
            <a:endParaRPr lang="en-GB" sz="1600"/>
          </a:p>
        </p:txBody>
      </p:sp>
      <p:sp>
        <p:nvSpPr>
          <p:cNvPr id="22" name="Rectangle 3">
            <a:extLst>
              <a:ext uri="{FF2B5EF4-FFF2-40B4-BE49-F238E27FC236}">
                <a16:creationId xmlns:a16="http://schemas.microsoft.com/office/drawing/2014/main" id="{CFAB740F-582E-4E32-AA1D-15E1114731A8}"/>
              </a:ext>
            </a:extLst>
          </p:cNvPr>
          <p:cNvSpPr/>
          <p:nvPr/>
        </p:nvSpPr>
        <p:spPr>
          <a:xfrm>
            <a:off x="1443475" y="4245"/>
            <a:ext cx="5338363" cy="677242"/>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24" name="Rectangle 4">
            <a:extLst>
              <a:ext uri="{FF2B5EF4-FFF2-40B4-BE49-F238E27FC236}">
                <a16:creationId xmlns:a16="http://schemas.microsoft.com/office/drawing/2014/main" id="{8BE832FA-684A-4578-834C-06701CA807FE}"/>
              </a:ext>
            </a:extLst>
          </p:cNvPr>
          <p:cNvSpPr/>
          <p:nvPr/>
        </p:nvSpPr>
        <p:spPr>
          <a:xfrm>
            <a:off x="6788435" y="4245"/>
            <a:ext cx="5417300" cy="677242"/>
          </a:xfrm>
          <a:prstGeom prst="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pic>
        <p:nvPicPr>
          <p:cNvPr id="40" name="Picture 39">
            <a:extLst>
              <a:ext uri="{FF2B5EF4-FFF2-40B4-BE49-F238E27FC236}">
                <a16:creationId xmlns:a16="http://schemas.microsoft.com/office/drawing/2014/main" id="{A9C985BB-BBF9-4D51-A330-AC8687B1344A}"/>
              </a:ext>
            </a:extLst>
          </p:cNvPr>
          <p:cNvPicPr>
            <a:picLocks noChangeAspect="1"/>
          </p:cNvPicPr>
          <p:nvPr/>
        </p:nvPicPr>
        <p:blipFill>
          <a:blip r:embed="rId2"/>
          <a:stretch>
            <a:fillRect/>
          </a:stretch>
        </p:blipFill>
        <p:spPr>
          <a:xfrm>
            <a:off x="10883590" y="5621341"/>
            <a:ext cx="982751" cy="995681"/>
          </a:xfrm>
          <a:prstGeom prst="rect">
            <a:avLst/>
          </a:prstGeom>
        </p:spPr>
      </p:pic>
    </p:spTree>
    <p:extLst>
      <p:ext uri="{BB962C8B-B14F-4D97-AF65-F5344CB8AC3E}">
        <p14:creationId xmlns:p14="http://schemas.microsoft.com/office/powerpoint/2010/main" val="3580442080"/>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68C320-AC3F-77C6-43E9-12160563AF3D}"/>
            </a:ext>
          </a:extLst>
        </p:cNvPr>
        <p:cNvGrpSpPr/>
        <p:nvPr/>
      </p:nvGrpSpPr>
      <p:grpSpPr>
        <a:xfrm>
          <a:off x="0" y="0"/>
          <a:ext cx="0" cy="0"/>
          <a:chOff x="0" y="0"/>
          <a:chExt cx="0" cy="0"/>
        </a:xfrm>
      </p:grpSpPr>
      <p:sp>
        <p:nvSpPr>
          <p:cNvPr id="20" name="Балонче за говор: правоъгълник със заоблени ъгли 19">
            <a:extLst>
              <a:ext uri="{FF2B5EF4-FFF2-40B4-BE49-F238E27FC236}">
                <a16:creationId xmlns:a16="http://schemas.microsoft.com/office/drawing/2014/main" id="{DBDF0AC8-E256-39BC-2CB9-972B971D9719}"/>
              </a:ext>
            </a:extLst>
          </p:cNvPr>
          <p:cNvSpPr/>
          <p:nvPr/>
        </p:nvSpPr>
        <p:spPr>
          <a:xfrm>
            <a:off x="8080336" y="1012016"/>
            <a:ext cx="3570523" cy="3210969"/>
          </a:xfrm>
          <a:prstGeom prst="roundRect">
            <a:avLst>
              <a:gd name="adj" fmla="val 8958"/>
            </a:avLst>
          </a:prstGeom>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ru-RU" sz="1400" b="1"/>
              <a:t>VIP</a:t>
            </a:r>
            <a:br>
              <a:rPr lang="ru-RU" sz="1400"/>
            </a:br>
            <a:r>
              <a:rPr lang="ru-RU" sz="1400" b="1">
                <a:ea typeface="+mn-lt"/>
                <a:cs typeface="+mn-lt"/>
              </a:rPr>
              <a:t>Характеристики:</a:t>
            </a:r>
            <a:endParaRPr lang="ru-RU" sz="1400"/>
          </a:p>
          <a:p>
            <a:pPr marL="285750" indent="-285750">
              <a:buFont typeface="Arial"/>
              <a:buChar char="•"/>
            </a:pPr>
            <a:r>
              <a:rPr lang="ru-RU" sz="1400">
                <a:ea typeface="+mn-lt"/>
                <a:cs typeface="+mn-lt"/>
              </a:rPr>
              <a:t>Висок социален статус </a:t>
            </a:r>
            <a:endParaRPr lang="ru-RU"/>
          </a:p>
          <a:p>
            <a:pPr marL="285750" indent="-285750">
              <a:buFont typeface="Arial"/>
              <a:buChar char="•"/>
            </a:pPr>
            <a:r>
              <a:rPr lang="ru-RU" sz="1400">
                <a:ea typeface="+mn-lt"/>
                <a:cs typeface="+mn-lt"/>
              </a:rPr>
              <a:t>Ограничено време </a:t>
            </a:r>
            <a:endParaRPr lang="ru-RU"/>
          </a:p>
          <a:p>
            <a:pPr marL="285750" indent="-285750">
              <a:buFont typeface="Arial"/>
              <a:buChar char="•"/>
            </a:pPr>
            <a:r>
              <a:rPr lang="ru-RU" sz="1400">
                <a:ea typeface="+mn-lt"/>
                <a:cs typeface="+mn-lt"/>
              </a:rPr>
              <a:t>Свикнали на специално отношение </a:t>
            </a:r>
            <a:endParaRPr lang="ru-RU"/>
          </a:p>
          <a:p>
            <a:pPr marL="285750" indent="-285750">
              <a:buFont typeface="Arial"/>
              <a:buChar char="•"/>
            </a:pPr>
            <a:r>
              <a:rPr lang="ru-RU" sz="1400">
                <a:ea typeface="+mn-lt"/>
                <a:cs typeface="+mn-lt"/>
              </a:rPr>
              <a:t>Високо самочувствие </a:t>
            </a:r>
            <a:endParaRPr lang="ru-RU"/>
          </a:p>
          <a:p>
            <a:pPr marL="285750" indent="-285750">
              <a:buFont typeface="Arial"/>
              <a:buChar char="•"/>
            </a:pPr>
            <a:r>
              <a:rPr lang="ru-RU" sz="1400">
                <a:ea typeface="+mn-lt"/>
                <a:cs typeface="+mn-lt"/>
              </a:rPr>
              <a:t>Лоялни клиенти </a:t>
            </a:r>
            <a:endParaRPr lang="ru-RU"/>
          </a:p>
          <a:p>
            <a:r>
              <a:rPr lang="ru-RU" sz="1400" b="1">
                <a:ea typeface="+mn-lt"/>
                <a:cs typeface="+mn-lt"/>
              </a:rPr>
              <a:t>Предпочитана комуникация:</a:t>
            </a:r>
            <a:endParaRPr lang="ru-RU"/>
          </a:p>
          <a:p>
            <a:pPr marL="285750" indent="-285750">
              <a:buFont typeface="Arial"/>
              <a:buChar char="•"/>
            </a:pPr>
            <a:r>
              <a:rPr lang="ru-RU" sz="1400">
                <a:ea typeface="+mn-lt"/>
                <a:cs typeface="+mn-lt"/>
              </a:rPr>
              <a:t>Делови и кратък разговор </a:t>
            </a:r>
            <a:endParaRPr lang="ru-RU"/>
          </a:p>
          <a:p>
            <a:pPr marL="285750" indent="-285750">
              <a:buFont typeface="Arial"/>
              <a:buChar char="•"/>
            </a:pPr>
            <a:r>
              <a:rPr lang="ru-RU" sz="1400">
                <a:ea typeface="+mn-lt"/>
                <a:cs typeface="+mn-lt"/>
              </a:rPr>
              <a:t>Любезност и уважение </a:t>
            </a:r>
            <a:endParaRPr lang="ru-RU"/>
          </a:p>
          <a:p>
            <a:pPr marL="285750" indent="-285750">
              <a:buFont typeface="Arial"/>
              <a:buChar char="•"/>
            </a:pPr>
            <a:r>
              <a:rPr lang="ru-RU" sz="1400">
                <a:ea typeface="+mn-lt"/>
                <a:cs typeface="+mn-lt"/>
              </a:rPr>
              <a:t>Ясни решения </a:t>
            </a:r>
            <a:endParaRPr lang="ru-RU"/>
          </a:p>
          <a:p>
            <a:pPr marL="285750" indent="-285750">
              <a:buFont typeface="Arial"/>
              <a:buChar char="•"/>
            </a:pPr>
            <a:r>
              <a:rPr lang="ru-RU" sz="1400">
                <a:ea typeface="+mn-lt"/>
                <a:cs typeface="+mn-lt"/>
              </a:rPr>
              <a:t>Професионализъм </a:t>
            </a:r>
            <a:endParaRPr lang="ru-RU"/>
          </a:p>
          <a:p>
            <a:pPr marL="285750" indent="-285750">
              <a:buFont typeface="Arial"/>
              <a:buChar char="•"/>
            </a:pPr>
            <a:r>
              <a:rPr lang="ru-RU" sz="1400">
                <a:ea typeface="+mn-lt"/>
                <a:cs typeface="+mn-lt"/>
              </a:rPr>
              <a:t>Спазване на процедури</a:t>
            </a:r>
            <a:endParaRPr lang="ru-RU"/>
          </a:p>
          <a:p>
            <a:endParaRPr lang="ru-RU" sz="1400"/>
          </a:p>
        </p:txBody>
      </p:sp>
      <p:sp>
        <p:nvSpPr>
          <p:cNvPr id="22" name="Rectangle: Rounded Corners 21">
            <a:extLst>
              <a:ext uri="{FF2B5EF4-FFF2-40B4-BE49-F238E27FC236}">
                <a16:creationId xmlns:a16="http://schemas.microsoft.com/office/drawing/2014/main" id="{01DAD843-09B5-4B29-8366-8E20AE19B9DF}"/>
              </a:ext>
            </a:extLst>
          </p:cNvPr>
          <p:cNvSpPr/>
          <p:nvPr/>
        </p:nvSpPr>
        <p:spPr>
          <a:xfrm>
            <a:off x="1893066" y="1041323"/>
            <a:ext cx="2706332" cy="715919"/>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Агресивен</a:t>
            </a:r>
            <a:endParaRPr lang="en-GB" sz="1600"/>
          </a:p>
        </p:txBody>
      </p:sp>
      <p:sp>
        <p:nvSpPr>
          <p:cNvPr id="24" name="Rectangle: Rounded Corners 23">
            <a:extLst>
              <a:ext uri="{FF2B5EF4-FFF2-40B4-BE49-F238E27FC236}">
                <a16:creationId xmlns:a16="http://schemas.microsoft.com/office/drawing/2014/main" id="{EDB7D10B-D8BB-4B5F-A700-E7FD6804CE1B}"/>
              </a:ext>
            </a:extLst>
          </p:cNvPr>
          <p:cNvSpPr/>
          <p:nvPr/>
        </p:nvSpPr>
        <p:spPr>
          <a:xfrm>
            <a:off x="1893066" y="1871904"/>
            <a:ext cx="2706332" cy="705772"/>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Аналитичен</a:t>
            </a:r>
            <a:endParaRPr lang="en-GB" sz="1600"/>
          </a:p>
        </p:txBody>
      </p:sp>
      <p:sp>
        <p:nvSpPr>
          <p:cNvPr id="25" name="Rectangle: Rounded Corners 24">
            <a:extLst>
              <a:ext uri="{FF2B5EF4-FFF2-40B4-BE49-F238E27FC236}">
                <a16:creationId xmlns:a16="http://schemas.microsoft.com/office/drawing/2014/main" id="{3F92FD76-7819-4F71-A9F4-2AEC6C6A05B8}"/>
              </a:ext>
            </a:extLst>
          </p:cNvPr>
          <p:cNvSpPr/>
          <p:nvPr/>
        </p:nvSpPr>
        <p:spPr>
          <a:xfrm>
            <a:off x="1893066" y="2692338"/>
            <a:ext cx="2706332" cy="699716"/>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Трудно схватлив</a:t>
            </a:r>
            <a:endParaRPr lang="en-GB" sz="1600"/>
          </a:p>
        </p:txBody>
      </p:sp>
      <p:sp>
        <p:nvSpPr>
          <p:cNvPr id="26" name="Rectangle 9">
            <a:extLst>
              <a:ext uri="{FF2B5EF4-FFF2-40B4-BE49-F238E27FC236}">
                <a16:creationId xmlns:a16="http://schemas.microsoft.com/office/drawing/2014/main" id="{658E693D-DF7D-4940-8077-FDE1A5ED6180}"/>
              </a:ext>
            </a:extLst>
          </p:cNvPr>
          <p:cNvSpPr/>
          <p:nvPr/>
        </p:nvSpPr>
        <p:spPr>
          <a:xfrm>
            <a:off x="1893066" y="3506716"/>
            <a:ext cx="2706332" cy="692699"/>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Злонамерен</a:t>
            </a:r>
            <a:endParaRPr lang="en-GB" sz="1600"/>
          </a:p>
        </p:txBody>
      </p:sp>
      <p:sp>
        <p:nvSpPr>
          <p:cNvPr id="27" name="Rectangle 11">
            <a:extLst>
              <a:ext uri="{FF2B5EF4-FFF2-40B4-BE49-F238E27FC236}">
                <a16:creationId xmlns:a16="http://schemas.microsoft.com/office/drawing/2014/main" id="{A72EBDA5-FE9A-4F76-819B-48ED2BAA249C}"/>
              </a:ext>
            </a:extLst>
          </p:cNvPr>
          <p:cNvSpPr/>
          <p:nvPr/>
        </p:nvSpPr>
        <p:spPr>
          <a:xfrm>
            <a:off x="1893066" y="4314076"/>
            <a:ext cx="2706332" cy="677242"/>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ВИП</a:t>
            </a:r>
            <a:endParaRPr lang="en-GB" sz="1600"/>
          </a:p>
        </p:txBody>
      </p:sp>
      <p:sp>
        <p:nvSpPr>
          <p:cNvPr id="28" name="Rectangle 9">
            <a:extLst>
              <a:ext uri="{FF2B5EF4-FFF2-40B4-BE49-F238E27FC236}">
                <a16:creationId xmlns:a16="http://schemas.microsoft.com/office/drawing/2014/main" id="{7D06F5B2-DA5E-4E3A-A2F7-1AEEFACF7760}"/>
              </a:ext>
            </a:extLst>
          </p:cNvPr>
          <p:cNvSpPr/>
          <p:nvPr/>
        </p:nvSpPr>
        <p:spPr>
          <a:xfrm>
            <a:off x="5053978" y="1872908"/>
            <a:ext cx="2706332" cy="705772"/>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Подозрителен</a:t>
            </a:r>
            <a:endParaRPr lang="en-GB" sz="1600"/>
          </a:p>
        </p:txBody>
      </p:sp>
      <p:sp>
        <p:nvSpPr>
          <p:cNvPr id="29" name="Rectangle 11">
            <a:extLst>
              <a:ext uri="{FF2B5EF4-FFF2-40B4-BE49-F238E27FC236}">
                <a16:creationId xmlns:a16="http://schemas.microsoft.com/office/drawing/2014/main" id="{958E3A95-4DEA-4C0D-A49B-FF4F337BAAEF}"/>
              </a:ext>
            </a:extLst>
          </p:cNvPr>
          <p:cNvSpPr/>
          <p:nvPr/>
        </p:nvSpPr>
        <p:spPr>
          <a:xfrm>
            <a:off x="5053978" y="1041324"/>
            <a:ext cx="2706332" cy="715918"/>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Манипулативен</a:t>
            </a:r>
            <a:endParaRPr lang="en-GB" sz="1600"/>
          </a:p>
        </p:txBody>
      </p:sp>
      <p:sp>
        <p:nvSpPr>
          <p:cNvPr id="30" name="Rectangle 13">
            <a:extLst>
              <a:ext uri="{FF2B5EF4-FFF2-40B4-BE49-F238E27FC236}">
                <a16:creationId xmlns:a16="http://schemas.microsoft.com/office/drawing/2014/main" id="{3684EC93-1A71-472F-B5FC-5BEEE1F469C6}"/>
              </a:ext>
            </a:extLst>
          </p:cNvPr>
          <p:cNvSpPr/>
          <p:nvPr/>
        </p:nvSpPr>
        <p:spPr>
          <a:xfrm>
            <a:off x="5053978" y="2694346"/>
            <a:ext cx="2706332" cy="695699"/>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Нерешителен</a:t>
            </a:r>
            <a:endParaRPr lang="en-GB" sz="1600"/>
          </a:p>
        </p:txBody>
      </p:sp>
      <p:sp>
        <p:nvSpPr>
          <p:cNvPr id="31" name="Rectangle 9">
            <a:extLst>
              <a:ext uri="{FF2B5EF4-FFF2-40B4-BE49-F238E27FC236}">
                <a16:creationId xmlns:a16="http://schemas.microsoft.com/office/drawing/2014/main" id="{AAA44480-B286-4D80-89F1-5E25AE7E58BC}"/>
              </a:ext>
            </a:extLst>
          </p:cNvPr>
          <p:cNvSpPr/>
          <p:nvPr/>
        </p:nvSpPr>
        <p:spPr>
          <a:xfrm>
            <a:off x="5053978" y="4314076"/>
            <a:ext cx="2706332" cy="677242"/>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Търсещ социален контакт</a:t>
            </a:r>
            <a:endParaRPr lang="en-GB" sz="1600"/>
          </a:p>
        </p:txBody>
      </p:sp>
      <p:sp>
        <p:nvSpPr>
          <p:cNvPr id="32" name="Rectangle 11">
            <a:extLst>
              <a:ext uri="{FF2B5EF4-FFF2-40B4-BE49-F238E27FC236}">
                <a16:creationId xmlns:a16="http://schemas.microsoft.com/office/drawing/2014/main" id="{292568D3-7458-4567-97E2-A8E5AAE2D862}"/>
              </a:ext>
            </a:extLst>
          </p:cNvPr>
          <p:cNvSpPr/>
          <p:nvPr/>
        </p:nvSpPr>
        <p:spPr>
          <a:xfrm>
            <a:off x="5053978" y="3505711"/>
            <a:ext cx="2706332" cy="692699"/>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Импулсивен </a:t>
            </a:r>
            <a:endParaRPr lang="en-GB" sz="1600"/>
          </a:p>
        </p:txBody>
      </p:sp>
      <p:sp>
        <p:nvSpPr>
          <p:cNvPr id="33" name="Rectangle 28">
            <a:extLst>
              <a:ext uri="{FF2B5EF4-FFF2-40B4-BE49-F238E27FC236}">
                <a16:creationId xmlns:a16="http://schemas.microsoft.com/office/drawing/2014/main" id="{F77DCFBF-EEB1-48E6-A054-FE8EE525DD3B}"/>
              </a:ext>
            </a:extLst>
          </p:cNvPr>
          <p:cNvSpPr/>
          <p:nvPr/>
        </p:nvSpPr>
        <p:spPr>
          <a:xfrm>
            <a:off x="-15824" y="1599"/>
            <a:ext cx="1465320" cy="6859628"/>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400">
              <a:latin typeface="Aptos"/>
              <a:ea typeface="Calibri"/>
              <a:cs typeface="Calibri"/>
            </a:endParaRPr>
          </a:p>
        </p:txBody>
      </p:sp>
      <p:sp>
        <p:nvSpPr>
          <p:cNvPr id="34" name="Rectangle 29">
            <a:extLst>
              <a:ext uri="{FF2B5EF4-FFF2-40B4-BE49-F238E27FC236}">
                <a16:creationId xmlns:a16="http://schemas.microsoft.com/office/drawing/2014/main" id="{8261C58B-001E-4A82-BD55-E9365B47B619}"/>
              </a:ext>
            </a:extLst>
          </p:cNvPr>
          <p:cNvSpPr/>
          <p:nvPr/>
        </p:nvSpPr>
        <p:spPr>
          <a:xfrm>
            <a:off x="-1671" y="2528038"/>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002060"/>
                </a:solidFill>
                <a:latin typeface="Aptos"/>
                <a:ea typeface="Calibri"/>
                <a:cs typeface="Calibri"/>
              </a:rPr>
              <a:t>Типове клиенти</a:t>
            </a:r>
            <a:endParaRPr lang="en-GB" sz="1400">
              <a:solidFill>
                <a:srgbClr val="002060"/>
              </a:solidFill>
              <a:latin typeface="Aptos"/>
              <a:ea typeface="Calibri"/>
              <a:cs typeface="Calibri"/>
            </a:endParaRPr>
          </a:p>
        </p:txBody>
      </p:sp>
      <p:sp>
        <p:nvSpPr>
          <p:cNvPr id="35" name="Rectangle 30">
            <a:extLst>
              <a:ext uri="{FF2B5EF4-FFF2-40B4-BE49-F238E27FC236}">
                <a16:creationId xmlns:a16="http://schemas.microsoft.com/office/drawing/2014/main" id="{ED63DDFD-5AD2-4EEB-8F7F-7FD12D565802}"/>
              </a:ext>
            </a:extLst>
          </p:cNvPr>
          <p:cNvSpPr/>
          <p:nvPr/>
        </p:nvSpPr>
        <p:spPr>
          <a:xfrm>
            <a:off x="8626" y="1913210"/>
            <a:ext cx="1442908" cy="4485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chemeClr val="bg1"/>
                </a:solidFill>
                <a:latin typeface="Aptos"/>
                <a:ea typeface="Calibri"/>
                <a:cs typeface="Calibri"/>
              </a:rPr>
              <a:t>Сценарии</a:t>
            </a:r>
            <a:endParaRPr lang="en-GB" sz="1400">
              <a:solidFill>
                <a:schemeClr val="bg1"/>
              </a:solidFill>
              <a:latin typeface="Aptos"/>
              <a:ea typeface="Calibri"/>
              <a:cs typeface="Calibri"/>
            </a:endParaRPr>
          </a:p>
        </p:txBody>
      </p:sp>
      <p:sp>
        <p:nvSpPr>
          <p:cNvPr id="36" name="Rectangle 31">
            <a:extLst>
              <a:ext uri="{FF2B5EF4-FFF2-40B4-BE49-F238E27FC236}">
                <a16:creationId xmlns:a16="http://schemas.microsoft.com/office/drawing/2014/main" id="{9BE39944-9235-45CA-9E6A-26C1D4887835}"/>
              </a:ext>
            </a:extLst>
          </p:cNvPr>
          <p:cNvSpPr/>
          <p:nvPr/>
        </p:nvSpPr>
        <p:spPr>
          <a:xfrm>
            <a:off x="-1671" y="1298382"/>
            <a:ext cx="1442908" cy="4485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b="1">
                <a:solidFill>
                  <a:schemeClr val="bg1"/>
                </a:solidFill>
                <a:latin typeface="Aptos"/>
                <a:ea typeface="Calibri"/>
                <a:cs typeface="Calibri"/>
              </a:rPr>
              <a:t>Стъпки при среща</a:t>
            </a:r>
            <a:endParaRPr lang="bg-BG" sz="1400">
              <a:solidFill>
                <a:srgbClr val="000000"/>
              </a:solidFill>
              <a:latin typeface="Aptos"/>
              <a:ea typeface="Calibri"/>
              <a:cs typeface="Calibri"/>
            </a:endParaRPr>
          </a:p>
        </p:txBody>
      </p:sp>
      <p:sp>
        <p:nvSpPr>
          <p:cNvPr id="39" name="Rectangle 28">
            <a:extLst>
              <a:ext uri="{FF2B5EF4-FFF2-40B4-BE49-F238E27FC236}">
                <a16:creationId xmlns:a16="http://schemas.microsoft.com/office/drawing/2014/main" id="{1B561D90-635A-40B0-A9D6-6E298EE3F3B2}"/>
              </a:ext>
            </a:extLst>
          </p:cNvPr>
          <p:cNvSpPr/>
          <p:nvPr/>
        </p:nvSpPr>
        <p:spPr>
          <a:xfrm>
            <a:off x="-15827" y="690328"/>
            <a:ext cx="1465322"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FFFFFF"/>
                </a:solidFill>
                <a:latin typeface="Aptos"/>
                <a:ea typeface="Calibri"/>
                <a:cs typeface="Calibri"/>
              </a:rPr>
              <a:t>Подготовка</a:t>
            </a:r>
            <a:endParaRPr lang="en-GB" sz="1400">
              <a:solidFill>
                <a:srgbClr val="FFFFFF"/>
              </a:solidFill>
              <a:latin typeface="Aptos"/>
              <a:ea typeface="Calibri"/>
              <a:cs typeface="Calibri"/>
            </a:endParaRPr>
          </a:p>
        </p:txBody>
      </p:sp>
      <p:sp>
        <p:nvSpPr>
          <p:cNvPr id="21" name="Rectangle 3">
            <a:extLst>
              <a:ext uri="{FF2B5EF4-FFF2-40B4-BE49-F238E27FC236}">
                <a16:creationId xmlns:a16="http://schemas.microsoft.com/office/drawing/2014/main" id="{E18846F6-B45A-4D5E-8A72-40229885A48B}"/>
              </a:ext>
            </a:extLst>
          </p:cNvPr>
          <p:cNvSpPr/>
          <p:nvPr/>
        </p:nvSpPr>
        <p:spPr>
          <a:xfrm>
            <a:off x="1443475" y="4245"/>
            <a:ext cx="5338363" cy="677242"/>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23" name="Rectangle 4">
            <a:extLst>
              <a:ext uri="{FF2B5EF4-FFF2-40B4-BE49-F238E27FC236}">
                <a16:creationId xmlns:a16="http://schemas.microsoft.com/office/drawing/2014/main" id="{FA94F588-96D3-405F-B48D-40FD4A4638A1}"/>
              </a:ext>
            </a:extLst>
          </p:cNvPr>
          <p:cNvSpPr/>
          <p:nvPr/>
        </p:nvSpPr>
        <p:spPr>
          <a:xfrm>
            <a:off x="6788435" y="4245"/>
            <a:ext cx="5417300" cy="677242"/>
          </a:xfrm>
          <a:prstGeom prst="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pic>
        <p:nvPicPr>
          <p:cNvPr id="40" name="Picture 39">
            <a:extLst>
              <a:ext uri="{FF2B5EF4-FFF2-40B4-BE49-F238E27FC236}">
                <a16:creationId xmlns:a16="http://schemas.microsoft.com/office/drawing/2014/main" id="{7CB45BB4-E052-4864-8498-0C7610868E93}"/>
              </a:ext>
            </a:extLst>
          </p:cNvPr>
          <p:cNvPicPr>
            <a:picLocks noChangeAspect="1"/>
          </p:cNvPicPr>
          <p:nvPr/>
        </p:nvPicPr>
        <p:blipFill>
          <a:blip r:embed="rId2"/>
          <a:stretch>
            <a:fillRect/>
          </a:stretch>
        </p:blipFill>
        <p:spPr>
          <a:xfrm>
            <a:off x="10883590" y="5621341"/>
            <a:ext cx="982751" cy="995681"/>
          </a:xfrm>
          <a:prstGeom prst="rect">
            <a:avLst/>
          </a:prstGeom>
        </p:spPr>
      </p:pic>
    </p:spTree>
    <p:extLst>
      <p:ext uri="{BB962C8B-B14F-4D97-AF65-F5344CB8AC3E}">
        <p14:creationId xmlns:p14="http://schemas.microsoft.com/office/powerpoint/2010/main" val="6015148"/>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FE9E67-ABD9-D7F4-F615-7B425D0401C6}"/>
            </a:ext>
          </a:extLst>
        </p:cNvPr>
        <p:cNvGrpSpPr/>
        <p:nvPr/>
      </p:nvGrpSpPr>
      <p:grpSpPr>
        <a:xfrm>
          <a:off x="0" y="0"/>
          <a:ext cx="0" cy="0"/>
          <a:chOff x="0" y="0"/>
          <a:chExt cx="0" cy="0"/>
        </a:xfrm>
      </p:grpSpPr>
      <p:sp>
        <p:nvSpPr>
          <p:cNvPr id="20" name="Балонче за говор: правоъгълник със заоблени ъгли 19">
            <a:extLst>
              <a:ext uri="{FF2B5EF4-FFF2-40B4-BE49-F238E27FC236}">
                <a16:creationId xmlns:a16="http://schemas.microsoft.com/office/drawing/2014/main" id="{BF7DBCBF-B1BA-0D84-1458-FB4C20A6DDF7}"/>
              </a:ext>
            </a:extLst>
          </p:cNvPr>
          <p:cNvSpPr/>
          <p:nvPr/>
        </p:nvSpPr>
        <p:spPr>
          <a:xfrm>
            <a:off x="8141771" y="1036460"/>
            <a:ext cx="3714240" cy="3044892"/>
          </a:xfrm>
          <a:prstGeom prst="roundRect">
            <a:avLst>
              <a:gd name="adj" fmla="val 10885"/>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ru-RU" sz="1400" b="1"/>
              <a:t>Манипулативен</a:t>
            </a:r>
            <a:endParaRPr lang="bg-BG" sz="1400"/>
          </a:p>
          <a:p>
            <a:r>
              <a:rPr lang="ru-RU" sz="1400" b="1">
                <a:ea typeface="+mn-lt"/>
                <a:cs typeface="+mn-lt"/>
              </a:rPr>
              <a:t>Характеристики:</a:t>
            </a:r>
            <a:endParaRPr lang="bg-BG" sz="1400"/>
          </a:p>
          <a:p>
            <a:pPr marL="285750" indent="-285750">
              <a:buFont typeface="Arial"/>
              <a:buChar char="•"/>
            </a:pPr>
            <a:r>
              <a:rPr lang="ru-RU" sz="1400">
                <a:ea typeface="+mn-lt"/>
                <a:cs typeface="+mn-lt"/>
              </a:rPr>
              <a:t>Вменяват вина </a:t>
            </a:r>
            <a:endParaRPr lang="ru-RU"/>
          </a:p>
          <a:p>
            <a:pPr marL="285750" indent="-285750">
              <a:buFont typeface="Arial"/>
              <a:buChar char="•"/>
            </a:pPr>
            <a:r>
              <a:rPr lang="ru-RU" sz="1400">
                <a:ea typeface="+mn-lt"/>
                <a:cs typeface="+mn-lt"/>
              </a:rPr>
              <a:t>Представят се за жертви </a:t>
            </a:r>
            <a:endParaRPr lang="ru-RU"/>
          </a:p>
          <a:p>
            <a:pPr marL="285750" indent="-285750">
              <a:buFont typeface="Arial"/>
              <a:buChar char="•"/>
            </a:pPr>
            <a:r>
              <a:rPr lang="ru-RU" sz="1400">
                <a:ea typeface="+mn-lt"/>
                <a:cs typeface="+mn-lt"/>
              </a:rPr>
              <a:t>Търсят съчувствие </a:t>
            </a:r>
            <a:endParaRPr lang="ru-RU"/>
          </a:p>
          <a:p>
            <a:pPr marL="285750" indent="-285750">
              <a:buFont typeface="Arial"/>
              <a:buChar char="•"/>
            </a:pPr>
            <a:r>
              <a:rPr lang="ru-RU" sz="1400">
                <a:ea typeface="+mn-lt"/>
                <a:cs typeface="+mn-lt"/>
              </a:rPr>
              <a:t>Пасивно-агресивни </a:t>
            </a:r>
            <a:endParaRPr lang="ru-RU"/>
          </a:p>
          <a:p>
            <a:pPr marL="285750" indent="-285750">
              <a:buFont typeface="Arial"/>
              <a:buChar char="•"/>
            </a:pPr>
            <a:r>
              <a:rPr lang="ru-RU" sz="1400">
                <a:ea typeface="+mn-lt"/>
                <a:cs typeface="+mn-lt"/>
              </a:rPr>
              <a:t>Изкривяват фактите </a:t>
            </a:r>
            <a:endParaRPr lang="ru-RU"/>
          </a:p>
          <a:p>
            <a:r>
              <a:rPr lang="ru-RU" sz="1400" b="1">
                <a:ea typeface="+mn-lt"/>
                <a:cs typeface="+mn-lt"/>
              </a:rPr>
              <a:t>Предпочитана комуникация:</a:t>
            </a:r>
            <a:endParaRPr lang="ru-RU" b="1">
              <a:ea typeface="+mn-lt"/>
              <a:cs typeface="+mn-lt"/>
            </a:endParaRPr>
          </a:p>
          <a:p>
            <a:pPr marL="285750" indent="-285750">
              <a:buFont typeface="Arial"/>
              <a:buChar char="•"/>
            </a:pPr>
            <a:r>
              <a:rPr lang="ru-RU" sz="1400">
                <a:ea typeface="+mn-lt"/>
                <a:cs typeface="+mn-lt"/>
              </a:rPr>
              <a:t>Не приемай лично </a:t>
            </a:r>
            <a:endParaRPr lang="ru-RU"/>
          </a:p>
          <a:p>
            <a:pPr marL="285750" indent="-285750">
              <a:buFont typeface="Arial"/>
              <a:buChar char="•"/>
            </a:pPr>
            <a:r>
              <a:rPr lang="ru-RU" sz="1400">
                <a:ea typeface="+mn-lt"/>
                <a:cs typeface="+mn-lt"/>
              </a:rPr>
              <a:t>Не се поддавай на вина </a:t>
            </a:r>
            <a:endParaRPr lang="ru-RU">
              <a:ea typeface="+mn-lt"/>
              <a:cs typeface="+mn-lt"/>
            </a:endParaRPr>
          </a:p>
          <a:p>
            <a:pPr marL="285750" indent="-285750">
              <a:buFont typeface="Arial"/>
              <a:buChar char="•"/>
            </a:pPr>
            <a:r>
              <a:rPr lang="ru-RU" sz="1400">
                <a:ea typeface="+mn-lt"/>
                <a:cs typeface="+mn-lt"/>
              </a:rPr>
              <a:t>Ясен и структуриран изказ </a:t>
            </a:r>
            <a:endParaRPr lang="ru-RU"/>
          </a:p>
          <a:p>
            <a:pPr marL="285750" indent="-285750">
              <a:buFont typeface="Arial"/>
              <a:buChar char="•"/>
            </a:pPr>
            <a:r>
              <a:rPr lang="ru-RU" sz="1400">
                <a:ea typeface="+mn-lt"/>
                <a:cs typeface="+mn-lt"/>
              </a:rPr>
              <a:t>Фокус върху факти и ползи </a:t>
            </a:r>
            <a:endParaRPr lang="ru-RU"/>
          </a:p>
          <a:p>
            <a:pPr marL="285750" indent="-285750">
              <a:buFont typeface="Arial"/>
              <a:buChar char="•"/>
            </a:pPr>
            <a:r>
              <a:rPr lang="ru-RU" sz="1400">
                <a:ea typeface="+mn-lt"/>
                <a:cs typeface="+mn-lt"/>
              </a:rPr>
              <a:t>Без емоционално въвличане</a:t>
            </a:r>
            <a:endParaRPr lang="ru-RU"/>
          </a:p>
          <a:p>
            <a:endParaRPr lang="ru-RU" sz="1400" b="1"/>
          </a:p>
        </p:txBody>
      </p:sp>
      <p:sp>
        <p:nvSpPr>
          <p:cNvPr id="22" name="Rectangle 28">
            <a:extLst>
              <a:ext uri="{FF2B5EF4-FFF2-40B4-BE49-F238E27FC236}">
                <a16:creationId xmlns:a16="http://schemas.microsoft.com/office/drawing/2014/main" id="{DE6CFECF-6F48-459B-9CEE-BB0644480CEB}"/>
              </a:ext>
            </a:extLst>
          </p:cNvPr>
          <p:cNvSpPr/>
          <p:nvPr/>
        </p:nvSpPr>
        <p:spPr>
          <a:xfrm>
            <a:off x="-15824" y="1599"/>
            <a:ext cx="1465320" cy="6859628"/>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400">
              <a:latin typeface="Aptos"/>
              <a:ea typeface="Calibri"/>
              <a:cs typeface="Calibri"/>
            </a:endParaRPr>
          </a:p>
        </p:txBody>
      </p:sp>
      <p:sp>
        <p:nvSpPr>
          <p:cNvPr id="24" name="Rectangle 29">
            <a:extLst>
              <a:ext uri="{FF2B5EF4-FFF2-40B4-BE49-F238E27FC236}">
                <a16:creationId xmlns:a16="http://schemas.microsoft.com/office/drawing/2014/main" id="{4A63B2FF-A1F7-4D2A-A354-3B06F0A52392}"/>
              </a:ext>
            </a:extLst>
          </p:cNvPr>
          <p:cNvSpPr/>
          <p:nvPr/>
        </p:nvSpPr>
        <p:spPr>
          <a:xfrm>
            <a:off x="-1671" y="2528038"/>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002060"/>
                </a:solidFill>
                <a:latin typeface="Aptos"/>
                <a:ea typeface="Calibri"/>
                <a:cs typeface="Calibri"/>
              </a:rPr>
              <a:t>Типове клиенти</a:t>
            </a:r>
            <a:endParaRPr lang="en-GB" sz="1400">
              <a:solidFill>
                <a:srgbClr val="002060"/>
              </a:solidFill>
              <a:latin typeface="Aptos"/>
              <a:ea typeface="Calibri"/>
              <a:cs typeface="Calibri"/>
            </a:endParaRPr>
          </a:p>
        </p:txBody>
      </p:sp>
      <p:sp>
        <p:nvSpPr>
          <p:cNvPr id="25" name="Rectangle 30">
            <a:extLst>
              <a:ext uri="{FF2B5EF4-FFF2-40B4-BE49-F238E27FC236}">
                <a16:creationId xmlns:a16="http://schemas.microsoft.com/office/drawing/2014/main" id="{1F4B7717-D993-48E0-B894-3FCF923D33A6}"/>
              </a:ext>
            </a:extLst>
          </p:cNvPr>
          <p:cNvSpPr/>
          <p:nvPr/>
        </p:nvSpPr>
        <p:spPr>
          <a:xfrm>
            <a:off x="8626" y="1913210"/>
            <a:ext cx="1442908" cy="4485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chemeClr val="bg1"/>
                </a:solidFill>
                <a:latin typeface="Aptos"/>
                <a:ea typeface="Calibri"/>
                <a:cs typeface="Calibri"/>
              </a:rPr>
              <a:t>Сценарии</a:t>
            </a:r>
            <a:endParaRPr lang="en-GB" sz="1400">
              <a:solidFill>
                <a:schemeClr val="bg1"/>
              </a:solidFill>
              <a:latin typeface="Aptos"/>
              <a:ea typeface="Calibri"/>
              <a:cs typeface="Calibri"/>
            </a:endParaRPr>
          </a:p>
        </p:txBody>
      </p:sp>
      <p:sp>
        <p:nvSpPr>
          <p:cNvPr id="26" name="Rectangle 31">
            <a:extLst>
              <a:ext uri="{FF2B5EF4-FFF2-40B4-BE49-F238E27FC236}">
                <a16:creationId xmlns:a16="http://schemas.microsoft.com/office/drawing/2014/main" id="{615CFC92-7A0B-46C3-822E-D51E6607E8EC}"/>
              </a:ext>
            </a:extLst>
          </p:cNvPr>
          <p:cNvSpPr/>
          <p:nvPr/>
        </p:nvSpPr>
        <p:spPr>
          <a:xfrm>
            <a:off x="-1671" y="1298382"/>
            <a:ext cx="1442908" cy="4485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b="1">
                <a:solidFill>
                  <a:schemeClr val="bg1"/>
                </a:solidFill>
                <a:latin typeface="Aptos"/>
                <a:ea typeface="Calibri"/>
                <a:cs typeface="Calibri"/>
              </a:rPr>
              <a:t>Стъпки при среща</a:t>
            </a:r>
            <a:endParaRPr lang="bg-BG" sz="1400">
              <a:solidFill>
                <a:srgbClr val="000000"/>
              </a:solidFill>
              <a:latin typeface="Aptos"/>
              <a:ea typeface="Calibri"/>
              <a:cs typeface="Calibri"/>
            </a:endParaRPr>
          </a:p>
        </p:txBody>
      </p:sp>
      <p:sp>
        <p:nvSpPr>
          <p:cNvPr id="29" name="Rectangle 28">
            <a:extLst>
              <a:ext uri="{FF2B5EF4-FFF2-40B4-BE49-F238E27FC236}">
                <a16:creationId xmlns:a16="http://schemas.microsoft.com/office/drawing/2014/main" id="{2F5B1E28-DC04-4503-983C-3878059F0B67}"/>
              </a:ext>
            </a:extLst>
          </p:cNvPr>
          <p:cNvSpPr/>
          <p:nvPr/>
        </p:nvSpPr>
        <p:spPr>
          <a:xfrm>
            <a:off x="-15827" y="690328"/>
            <a:ext cx="1465322"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FFFFFF"/>
                </a:solidFill>
                <a:latin typeface="Aptos"/>
                <a:ea typeface="Calibri"/>
                <a:cs typeface="Calibri"/>
              </a:rPr>
              <a:t>Подготовка</a:t>
            </a:r>
            <a:endParaRPr lang="en-GB" sz="1400">
              <a:solidFill>
                <a:srgbClr val="FFFFFF"/>
              </a:solidFill>
              <a:latin typeface="Aptos"/>
              <a:ea typeface="Calibri"/>
              <a:cs typeface="Calibri"/>
            </a:endParaRPr>
          </a:p>
        </p:txBody>
      </p:sp>
      <p:sp>
        <p:nvSpPr>
          <p:cNvPr id="30" name="Rectangle: Rounded Corners 29">
            <a:extLst>
              <a:ext uri="{FF2B5EF4-FFF2-40B4-BE49-F238E27FC236}">
                <a16:creationId xmlns:a16="http://schemas.microsoft.com/office/drawing/2014/main" id="{BB3722C1-181B-49DE-A8EF-9841694E140E}"/>
              </a:ext>
            </a:extLst>
          </p:cNvPr>
          <p:cNvSpPr/>
          <p:nvPr/>
        </p:nvSpPr>
        <p:spPr>
          <a:xfrm>
            <a:off x="1893066" y="1041323"/>
            <a:ext cx="2706332" cy="715919"/>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Агресивен</a:t>
            </a:r>
            <a:endParaRPr lang="en-GB" sz="1600"/>
          </a:p>
        </p:txBody>
      </p:sp>
      <p:sp>
        <p:nvSpPr>
          <p:cNvPr id="31" name="Rectangle: Rounded Corners 30">
            <a:extLst>
              <a:ext uri="{FF2B5EF4-FFF2-40B4-BE49-F238E27FC236}">
                <a16:creationId xmlns:a16="http://schemas.microsoft.com/office/drawing/2014/main" id="{F16C5BDF-8617-47C1-9408-697994CC11BD}"/>
              </a:ext>
            </a:extLst>
          </p:cNvPr>
          <p:cNvSpPr/>
          <p:nvPr/>
        </p:nvSpPr>
        <p:spPr>
          <a:xfrm>
            <a:off x="1893066" y="1871904"/>
            <a:ext cx="2706332" cy="705772"/>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Аналитичен</a:t>
            </a:r>
            <a:endParaRPr lang="en-GB" sz="1600"/>
          </a:p>
        </p:txBody>
      </p:sp>
      <p:sp>
        <p:nvSpPr>
          <p:cNvPr id="32" name="Rectangle: Rounded Corners 31">
            <a:extLst>
              <a:ext uri="{FF2B5EF4-FFF2-40B4-BE49-F238E27FC236}">
                <a16:creationId xmlns:a16="http://schemas.microsoft.com/office/drawing/2014/main" id="{09CAA5F8-904B-4C1C-8628-A34B3EFBBF6C}"/>
              </a:ext>
            </a:extLst>
          </p:cNvPr>
          <p:cNvSpPr/>
          <p:nvPr/>
        </p:nvSpPr>
        <p:spPr>
          <a:xfrm>
            <a:off x="1893066" y="2692338"/>
            <a:ext cx="2706332" cy="699716"/>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Трудно схватлив</a:t>
            </a:r>
            <a:endParaRPr lang="en-GB" sz="1600"/>
          </a:p>
        </p:txBody>
      </p:sp>
      <p:sp>
        <p:nvSpPr>
          <p:cNvPr id="33" name="Rectangle 9">
            <a:extLst>
              <a:ext uri="{FF2B5EF4-FFF2-40B4-BE49-F238E27FC236}">
                <a16:creationId xmlns:a16="http://schemas.microsoft.com/office/drawing/2014/main" id="{BD075C37-9D19-4781-9FDE-050EE3DEF1A0}"/>
              </a:ext>
            </a:extLst>
          </p:cNvPr>
          <p:cNvSpPr/>
          <p:nvPr/>
        </p:nvSpPr>
        <p:spPr>
          <a:xfrm>
            <a:off x="1893066" y="3506716"/>
            <a:ext cx="2706332" cy="692699"/>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Злонамерен</a:t>
            </a:r>
            <a:endParaRPr lang="en-GB" sz="1600"/>
          </a:p>
        </p:txBody>
      </p:sp>
      <p:sp>
        <p:nvSpPr>
          <p:cNvPr id="34" name="Rectangle 11">
            <a:extLst>
              <a:ext uri="{FF2B5EF4-FFF2-40B4-BE49-F238E27FC236}">
                <a16:creationId xmlns:a16="http://schemas.microsoft.com/office/drawing/2014/main" id="{6D6790BD-4327-41DF-9D8E-548789F5B8B4}"/>
              </a:ext>
            </a:extLst>
          </p:cNvPr>
          <p:cNvSpPr/>
          <p:nvPr/>
        </p:nvSpPr>
        <p:spPr>
          <a:xfrm>
            <a:off x="1893066" y="4314076"/>
            <a:ext cx="2706332" cy="677242"/>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ВИП</a:t>
            </a:r>
            <a:endParaRPr lang="en-GB" sz="1600"/>
          </a:p>
        </p:txBody>
      </p:sp>
      <p:sp>
        <p:nvSpPr>
          <p:cNvPr id="35" name="Rectangle 9">
            <a:extLst>
              <a:ext uri="{FF2B5EF4-FFF2-40B4-BE49-F238E27FC236}">
                <a16:creationId xmlns:a16="http://schemas.microsoft.com/office/drawing/2014/main" id="{C4ED62B4-9CBA-432A-9E4F-5E9A91D6D6B3}"/>
              </a:ext>
            </a:extLst>
          </p:cNvPr>
          <p:cNvSpPr/>
          <p:nvPr/>
        </p:nvSpPr>
        <p:spPr>
          <a:xfrm>
            <a:off x="5053978" y="1872908"/>
            <a:ext cx="2706332" cy="705772"/>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Подозрителен</a:t>
            </a:r>
            <a:endParaRPr lang="en-GB" sz="1600"/>
          </a:p>
        </p:txBody>
      </p:sp>
      <p:sp>
        <p:nvSpPr>
          <p:cNvPr id="36" name="Rectangle 11">
            <a:extLst>
              <a:ext uri="{FF2B5EF4-FFF2-40B4-BE49-F238E27FC236}">
                <a16:creationId xmlns:a16="http://schemas.microsoft.com/office/drawing/2014/main" id="{7AF39AB5-64C1-4B63-AA8A-91982FAF3785}"/>
              </a:ext>
            </a:extLst>
          </p:cNvPr>
          <p:cNvSpPr/>
          <p:nvPr/>
        </p:nvSpPr>
        <p:spPr>
          <a:xfrm>
            <a:off x="5053978" y="1041324"/>
            <a:ext cx="2706332" cy="715918"/>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Манипулативен</a:t>
            </a:r>
            <a:endParaRPr lang="en-GB" sz="1600"/>
          </a:p>
        </p:txBody>
      </p:sp>
      <p:sp>
        <p:nvSpPr>
          <p:cNvPr id="37" name="Rectangle 13">
            <a:extLst>
              <a:ext uri="{FF2B5EF4-FFF2-40B4-BE49-F238E27FC236}">
                <a16:creationId xmlns:a16="http://schemas.microsoft.com/office/drawing/2014/main" id="{006E0D66-E7B0-438E-BAA1-0360179863E4}"/>
              </a:ext>
            </a:extLst>
          </p:cNvPr>
          <p:cNvSpPr/>
          <p:nvPr/>
        </p:nvSpPr>
        <p:spPr>
          <a:xfrm>
            <a:off x="5053978" y="2694346"/>
            <a:ext cx="2706332" cy="695699"/>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Нерешителен</a:t>
            </a:r>
            <a:endParaRPr lang="en-GB" sz="1600"/>
          </a:p>
        </p:txBody>
      </p:sp>
      <p:sp>
        <p:nvSpPr>
          <p:cNvPr id="38" name="Rectangle 9">
            <a:extLst>
              <a:ext uri="{FF2B5EF4-FFF2-40B4-BE49-F238E27FC236}">
                <a16:creationId xmlns:a16="http://schemas.microsoft.com/office/drawing/2014/main" id="{FD4FFC9D-8254-4FC2-9D6C-FD9146C58D2A}"/>
              </a:ext>
            </a:extLst>
          </p:cNvPr>
          <p:cNvSpPr/>
          <p:nvPr/>
        </p:nvSpPr>
        <p:spPr>
          <a:xfrm>
            <a:off x="5053978" y="4314076"/>
            <a:ext cx="2706332" cy="677242"/>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Търсещ социален контакт</a:t>
            </a:r>
            <a:endParaRPr lang="en-GB" sz="1600"/>
          </a:p>
        </p:txBody>
      </p:sp>
      <p:sp>
        <p:nvSpPr>
          <p:cNvPr id="39" name="Rectangle 11">
            <a:extLst>
              <a:ext uri="{FF2B5EF4-FFF2-40B4-BE49-F238E27FC236}">
                <a16:creationId xmlns:a16="http://schemas.microsoft.com/office/drawing/2014/main" id="{6367A231-2378-4883-AEBF-671CDEF9CC8E}"/>
              </a:ext>
            </a:extLst>
          </p:cNvPr>
          <p:cNvSpPr/>
          <p:nvPr/>
        </p:nvSpPr>
        <p:spPr>
          <a:xfrm>
            <a:off x="5053978" y="3505711"/>
            <a:ext cx="2706332" cy="692699"/>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Импулсивен </a:t>
            </a:r>
            <a:endParaRPr lang="en-GB" sz="1600"/>
          </a:p>
        </p:txBody>
      </p:sp>
      <p:sp>
        <p:nvSpPr>
          <p:cNvPr id="21" name="Rectangle 3">
            <a:extLst>
              <a:ext uri="{FF2B5EF4-FFF2-40B4-BE49-F238E27FC236}">
                <a16:creationId xmlns:a16="http://schemas.microsoft.com/office/drawing/2014/main" id="{1D897007-2D81-478C-9741-7D2D0995F313}"/>
              </a:ext>
            </a:extLst>
          </p:cNvPr>
          <p:cNvSpPr/>
          <p:nvPr/>
        </p:nvSpPr>
        <p:spPr>
          <a:xfrm>
            <a:off x="1443475" y="4245"/>
            <a:ext cx="5338363" cy="677242"/>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23" name="Rectangle 4">
            <a:extLst>
              <a:ext uri="{FF2B5EF4-FFF2-40B4-BE49-F238E27FC236}">
                <a16:creationId xmlns:a16="http://schemas.microsoft.com/office/drawing/2014/main" id="{AB98B1C1-F004-436D-95C9-8645237D747E}"/>
              </a:ext>
            </a:extLst>
          </p:cNvPr>
          <p:cNvSpPr/>
          <p:nvPr/>
        </p:nvSpPr>
        <p:spPr>
          <a:xfrm>
            <a:off x="6788435" y="4245"/>
            <a:ext cx="5417300" cy="677242"/>
          </a:xfrm>
          <a:prstGeom prst="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pic>
        <p:nvPicPr>
          <p:cNvPr id="40" name="Picture 39">
            <a:extLst>
              <a:ext uri="{FF2B5EF4-FFF2-40B4-BE49-F238E27FC236}">
                <a16:creationId xmlns:a16="http://schemas.microsoft.com/office/drawing/2014/main" id="{3A64972F-F0A1-49F3-9E63-B7C84415876E}"/>
              </a:ext>
            </a:extLst>
          </p:cNvPr>
          <p:cNvPicPr>
            <a:picLocks noChangeAspect="1"/>
          </p:cNvPicPr>
          <p:nvPr/>
        </p:nvPicPr>
        <p:blipFill>
          <a:blip r:embed="rId2"/>
          <a:stretch>
            <a:fillRect/>
          </a:stretch>
        </p:blipFill>
        <p:spPr>
          <a:xfrm>
            <a:off x="10883590" y="5621341"/>
            <a:ext cx="982751" cy="995681"/>
          </a:xfrm>
          <a:prstGeom prst="rect">
            <a:avLst/>
          </a:prstGeom>
        </p:spPr>
      </p:pic>
    </p:spTree>
    <p:extLst>
      <p:ext uri="{BB962C8B-B14F-4D97-AF65-F5344CB8AC3E}">
        <p14:creationId xmlns:p14="http://schemas.microsoft.com/office/powerpoint/2010/main" val="1952221135"/>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782BBF-4ADF-1323-8848-24ED43541664}"/>
            </a:ext>
          </a:extLst>
        </p:cNvPr>
        <p:cNvGrpSpPr/>
        <p:nvPr/>
      </p:nvGrpSpPr>
      <p:grpSpPr>
        <a:xfrm>
          <a:off x="0" y="0"/>
          <a:ext cx="0" cy="0"/>
          <a:chOff x="0" y="0"/>
          <a:chExt cx="0" cy="0"/>
        </a:xfrm>
      </p:grpSpPr>
      <p:sp>
        <p:nvSpPr>
          <p:cNvPr id="20" name="Балонче за говор: правоъгълник със заоблени ъгли 19">
            <a:extLst>
              <a:ext uri="{FF2B5EF4-FFF2-40B4-BE49-F238E27FC236}">
                <a16:creationId xmlns:a16="http://schemas.microsoft.com/office/drawing/2014/main" id="{FF214559-3E3C-166D-D0AB-EAA4E96694A1}"/>
              </a:ext>
            </a:extLst>
          </p:cNvPr>
          <p:cNvSpPr/>
          <p:nvPr/>
        </p:nvSpPr>
        <p:spPr>
          <a:xfrm>
            <a:off x="8203880" y="1012016"/>
            <a:ext cx="3850974" cy="2986276"/>
          </a:xfrm>
          <a:prstGeom prst="roundRect">
            <a:avLst>
              <a:gd name="adj" fmla="val 8958"/>
            </a:avLst>
          </a:prstGeom>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ru-RU" sz="1400" b="1"/>
              <a:t>Подозрителен</a:t>
            </a:r>
            <a:endParaRPr lang="bg-BG" sz="1400"/>
          </a:p>
          <a:p>
            <a:r>
              <a:rPr lang="ru-RU" sz="1400" b="1">
                <a:ea typeface="+mn-lt"/>
                <a:cs typeface="+mn-lt"/>
              </a:rPr>
              <a:t>Характеристики:</a:t>
            </a:r>
            <a:endParaRPr lang="ru-RU"/>
          </a:p>
          <a:p>
            <a:pPr marL="285750" indent="-285750">
              <a:buFont typeface="Arial"/>
              <a:buChar char="•"/>
            </a:pPr>
            <a:r>
              <a:rPr lang="ru-RU" sz="1400">
                <a:ea typeface="+mn-lt"/>
                <a:cs typeface="+mn-lt"/>
              </a:rPr>
              <a:t>Не се доверяват </a:t>
            </a:r>
            <a:endParaRPr lang="ru-RU"/>
          </a:p>
          <a:p>
            <a:pPr marL="285750" indent="-285750">
              <a:buFont typeface="Arial"/>
              <a:buChar char="•"/>
            </a:pPr>
            <a:r>
              <a:rPr lang="ru-RU" sz="1400">
                <a:ea typeface="+mn-lt"/>
                <a:cs typeface="+mn-lt"/>
              </a:rPr>
              <a:t>Търсят „уловка“ </a:t>
            </a:r>
            <a:endParaRPr lang="ru-RU"/>
          </a:p>
          <a:p>
            <a:pPr marL="285750" indent="-285750">
              <a:buFont typeface="Arial"/>
              <a:buChar char="•"/>
            </a:pPr>
            <a:r>
              <a:rPr lang="ru-RU" sz="1400">
                <a:ea typeface="+mn-lt"/>
                <a:cs typeface="+mn-lt"/>
              </a:rPr>
              <a:t>Сериозни и резервирани </a:t>
            </a:r>
            <a:endParaRPr lang="ru-RU"/>
          </a:p>
          <a:p>
            <a:pPr marL="285750" indent="-285750">
              <a:buFont typeface="Arial"/>
              <a:buChar char="•"/>
            </a:pPr>
            <a:r>
              <a:rPr lang="ru-RU" sz="1400">
                <a:ea typeface="+mn-lt"/>
                <a:cs typeface="+mn-lt"/>
              </a:rPr>
              <a:t>С предварително мнение </a:t>
            </a:r>
            <a:endParaRPr lang="ru-RU"/>
          </a:p>
          <a:p>
            <a:pPr marL="285750" indent="-285750">
              <a:buFont typeface="Arial"/>
              <a:buChar char="•"/>
            </a:pPr>
            <a:r>
              <a:rPr lang="ru-RU" sz="1400">
                <a:ea typeface="+mn-lt"/>
                <a:cs typeface="+mn-lt"/>
              </a:rPr>
              <a:t>Трудно приемат съвет </a:t>
            </a:r>
            <a:endParaRPr lang="ru-RU"/>
          </a:p>
          <a:p>
            <a:r>
              <a:rPr lang="ru-RU" sz="1400" b="1">
                <a:ea typeface="+mn-lt"/>
                <a:cs typeface="+mn-lt"/>
              </a:rPr>
              <a:t>Предпочитана комуникация:</a:t>
            </a:r>
            <a:endParaRPr lang="ru-RU" b="1">
              <a:ea typeface="+mn-lt"/>
              <a:cs typeface="+mn-lt"/>
            </a:endParaRPr>
          </a:p>
          <a:p>
            <a:pPr marL="285750" indent="-285750">
              <a:buFont typeface="Arial"/>
              <a:buChar char="•"/>
            </a:pPr>
            <a:r>
              <a:rPr lang="ru-RU" sz="1400">
                <a:ea typeface="+mn-lt"/>
                <a:cs typeface="+mn-lt"/>
              </a:rPr>
              <a:t>Делови и стриктен подход </a:t>
            </a:r>
            <a:endParaRPr lang="ru-RU"/>
          </a:p>
          <a:p>
            <a:pPr marL="285750" indent="-285750">
              <a:buFont typeface="Arial"/>
              <a:buChar char="•"/>
            </a:pPr>
            <a:r>
              <a:rPr lang="ru-RU" sz="1400">
                <a:ea typeface="+mn-lt"/>
                <a:cs typeface="+mn-lt"/>
              </a:rPr>
              <a:t>Без шеги и сближаване </a:t>
            </a:r>
            <a:endParaRPr lang="ru-RU"/>
          </a:p>
          <a:p>
            <a:pPr marL="285750" indent="-285750">
              <a:buFont typeface="Arial"/>
              <a:buChar char="•"/>
            </a:pPr>
            <a:r>
              <a:rPr lang="ru-RU" sz="1400">
                <a:ea typeface="+mn-lt"/>
                <a:cs typeface="+mn-lt"/>
              </a:rPr>
              <a:t>Без излишни извинения </a:t>
            </a:r>
            <a:endParaRPr lang="ru-RU"/>
          </a:p>
          <a:p>
            <a:pPr marL="285750" indent="-285750">
              <a:buFont typeface="Arial"/>
              <a:buChar char="•"/>
            </a:pPr>
            <a:r>
              <a:rPr lang="ru-RU" sz="1400">
                <a:ea typeface="+mn-lt"/>
                <a:cs typeface="+mn-lt"/>
              </a:rPr>
              <a:t>Деликатно изясняване на съмнения </a:t>
            </a:r>
            <a:endParaRPr lang="ru-RU"/>
          </a:p>
          <a:p>
            <a:pPr marL="285750" indent="-285750">
              <a:buFont typeface="Arial"/>
              <a:buChar char="•"/>
            </a:pPr>
            <a:r>
              <a:rPr lang="ru-RU" sz="1400">
                <a:ea typeface="+mn-lt"/>
                <a:cs typeface="+mn-lt"/>
              </a:rPr>
              <a:t>Позитивно оборване на възражения</a:t>
            </a:r>
            <a:endParaRPr lang="ru-RU"/>
          </a:p>
          <a:p>
            <a:endParaRPr lang="ru-RU" sz="1400"/>
          </a:p>
        </p:txBody>
      </p:sp>
      <p:sp>
        <p:nvSpPr>
          <p:cNvPr id="22" name="Rectangle 28">
            <a:extLst>
              <a:ext uri="{FF2B5EF4-FFF2-40B4-BE49-F238E27FC236}">
                <a16:creationId xmlns:a16="http://schemas.microsoft.com/office/drawing/2014/main" id="{76A478A2-B32B-440C-A086-73E65502C6D8}"/>
              </a:ext>
            </a:extLst>
          </p:cNvPr>
          <p:cNvSpPr/>
          <p:nvPr/>
        </p:nvSpPr>
        <p:spPr>
          <a:xfrm>
            <a:off x="-15824" y="1599"/>
            <a:ext cx="1465320" cy="6859628"/>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400">
              <a:latin typeface="Aptos"/>
              <a:ea typeface="Calibri"/>
              <a:cs typeface="Calibri"/>
            </a:endParaRPr>
          </a:p>
        </p:txBody>
      </p:sp>
      <p:sp>
        <p:nvSpPr>
          <p:cNvPr id="24" name="Rectangle 29">
            <a:extLst>
              <a:ext uri="{FF2B5EF4-FFF2-40B4-BE49-F238E27FC236}">
                <a16:creationId xmlns:a16="http://schemas.microsoft.com/office/drawing/2014/main" id="{E886570F-B5A8-4FEE-B7DA-EFA33AAB7FE8}"/>
              </a:ext>
            </a:extLst>
          </p:cNvPr>
          <p:cNvSpPr/>
          <p:nvPr/>
        </p:nvSpPr>
        <p:spPr>
          <a:xfrm>
            <a:off x="-1671" y="2528038"/>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002060"/>
                </a:solidFill>
                <a:latin typeface="Aptos"/>
                <a:ea typeface="Calibri"/>
                <a:cs typeface="Calibri"/>
              </a:rPr>
              <a:t>Типове клиенти</a:t>
            </a:r>
            <a:endParaRPr lang="en-GB" sz="1400">
              <a:solidFill>
                <a:srgbClr val="002060"/>
              </a:solidFill>
              <a:latin typeface="Aptos"/>
              <a:ea typeface="Calibri"/>
              <a:cs typeface="Calibri"/>
            </a:endParaRPr>
          </a:p>
        </p:txBody>
      </p:sp>
      <p:sp>
        <p:nvSpPr>
          <p:cNvPr id="25" name="Rectangle 30">
            <a:extLst>
              <a:ext uri="{FF2B5EF4-FFF2-40B4-BE49-F238E27FC236}">
                <a16:creationId xmlns:a16="http://schemas.microsoft.com/office/drawing/2014/main" id="{7F031E1F-2DB3-4B80-B936-F08FE10F6808}"/>
              </a:ext>
            </a:extLst>
          </p:cNvPr>
          <p:cNvSpPr/>
          <p:nvPr/>
        </p:nvSpPr>
        <p:spPr>
          <a:xfrm>
            <a:off x="8626" y="1913210"/>
            <a:ext cx="1442908" cy="4485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chemeClr val="bg1"/>
                </a:solidFill>
                <a:latin typeface="Aptos"/>
                <a:ea typeface="Calibri"/>
                <a:cs typeface="Calibri"/>
              </a:rPr>
              <a:t>Сценарии</a:t>
            </a:r>
            <a:endParaRPr lang="en-GB" sz="1400">
              <a:solidFill>
                <a:schemeClr val="bg1"/>
              </a:solidFill>
              <a:latin typeface="Aptos"/>
              <a:ea typeface="Calibri"/>
              <a:cs typeface="Calibri"/>
            </a:endParaRPr>
          </a:p>
        </p:txBody>
      </p:sp>
      <p:sp>
        <p:nvSpPr>
          <p:cNvPr id="26" name="Rectangle 31">
            <a:extLst>
              <a:ext uri="{FF2B5EF4-FFF2-40B4-BE49-F238E27FC236}">
                <a16:creationId xmlns:a16="http://schemas.microsoft.com/office/drawing/2014/main" id="{044F6783-7221-45A9-85BA-8BFA55D5A6D8}"/>
              </a:ext>
            </a:extLst>
          </p:cNvPr>
          <p:cNvSpPr/>
          <p:nvPr/>
        </p:nvSpPr>
        <p:spPr>
          <a:xfrm>
            <a:off x="-1671" y="1298382"/>
            <a:ext cx="1442908" cy="4485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b="1">
                <a:solidFill>
                  <a:schemeClr val="bg1"/>
                </a:solidFill>
                <a:latin typeface="Aptos"/>
                <a:ea typeface="Calibri"/>
                <a:cs typeface="Calibri"/>
              </a:rPr>
              <a:t>Стъпки при среща</a:t>
            </a:r>
            <a:endParaRPr lang="bg-BG" sz="1400">
              <a:solidFill>
                <a:schemeClr val="bg1"/>
              </a:solidFill>
              <a:latin typeface="Aptos"/>
              <a:ea typeface="Calibri"/>
              <a:cs typeface="Calibri"/>
            </a:endParaRPr>
          </a:p>
        </p:txBody>
      </p:sp>
      <p:sp>
        <p:nvSpPr>
          <p:cNvPr id="29" name="Rectangle 28">
            <a:extLst>
              <a:ext uri="{FF2B5EF4-FFF2-40B4-BE49-F238E27FC236}">
                <a16:creationId xmlns:a16="http://schemas.microsoft.com/office/drawing/2014/main" id="{5852173F-53C4-4FC1-8389-B763C6DAE74E}"/>
              </a:ext>
            </a:extLst>
          </p:cNvPr>
          <p:cNvSpPr/>
          <p:nvPr/>
        </p:nvSpPr>
        <p:spPr>
          <a:xfrm>
            <a:off x="-15827" y="690328"/>
            <a:ext cx="1465322"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FFFFFF"/>
                </a:solidFill>
                <a:latin typeface="Aptos"/>
                <a:ea typeface="Calibri"/>
                <a:cs typeface="Calibri"/>
              </a:rPr>
              <a:t>Подготовка</a:t>
            </a:r>
            <a:endParaRPr lang="en-GB" sz="1400">
              <a:solidFill>
                <a:srgbClr val="FFFFFF"/>
              </a:solidFill>
              <a:latin typeface="Aptos"/>
              <a:ea typeface="Calibri"/>
              <a:cs typeface="Calibri"/>
            </a:endParaRPr>
          </a:p>
        </p:txBody>
      </p:sp>
      <p:sp>
        <p:nvSpPr>
          <p:cNvPr id="30" name="Rectangle: Rounded Corners 29">
            <a:extLst>
              <a:ext uri="{FF2B5EF4-FFF2-40B4-BE49-F238E27FC236}">
                <a16:creationId xmlns:a16="http://schemas.microsoft.com/office/drawing/2014/main" id="{D722ADB4-0DB7-44D0-B8AC-438FCE051C0B}"/>
              </a:ext>
            </a:extLst>
          </p:cNvPr>
          <p:cNvSpPr/>
          <p:nvPr/>
        </p:nvSpPr>
        <p:spPr>
          <a:xfrm>
            <a:off x="1893066" y="1041323"/>
            <a:ext cx="2706332" cy="715919"/>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Агресивен</a:t>
            </a:r>
            <a:endParaRPr lang="en-GB" sz="1600"/>
          </a:p>
        </p:txBody>
      </p:sp>
      <p:sp>
        <p:nvSpPr>
          <p:cNvPr id="31" name="Rectangle: Rounded Corners 30">
            <a:extLst>
              <a:ext uri="{FF2B5EF4-FFF2-40B4-BE49-F238E27FC236}">
                <a16:creationId xmlns:a16="http://schemas.microsoft.com/office/drawing/2014/main" id="{126A2F86-C6AD-4EBC-842D-94A5FDC524A1}"/>
              </a:ext>
            </a:extLst>
          </p:cNvPr>
          <p:cNvSpPr/>
          <p:nvPr/>
        </p:nvSpPr>
        <p:spPr>
          <a:xfrm>
            <a:off x="1893066" y="1871904"/>
            <a:ext cx="2706332" cy="705772"/>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Аналитичен</a:t>
            </a:r>
            <a:endParaRPr lang="en-GB" sz="1600"/>
          </a:p>
        </p:txBody>
      </p:sp>
      <p:sp>
        <p:nvSpPr>
          <p:cNvPr id="32" name="Rectangle: Rounded Corners 31">
            <a:extLst>
              <a:ext uri="{FF2B5EF4-FFF2-40B4-BE49-F238E27FC236}">
                <a16:creationId xmlns:a16="http://schemas.microsoft.com/office/drawing/2014/main" id="{EF6B1914-D739-48BD-B975-0015F91C0E97}"/>
              </a:ext>
            </a:extLst>
          </p:cNvPr>
          <p:cNvSpPr/>
          <p:nvPr/>
        </p:nvSpPr>
        <p:spPr>
          <a:xfrm>
            <a:off x="1893066" y="2692338"/>
            <a:ext cx="2706332" cy="699716"/>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Трудно схватлив</a:t>
            </a:r>
            <a:endParaRPr lang="en-GB" sz="1600"/>
          </a:p>
        </p:txBody>
      </p:sp>
      <p:sp>
        <p:nvSpPr>
          <p:cNvPr id="33" name="Rectangle 9">
            <a:extLst>
              <a:ext uri="{FF2B5EF4-FFF2-40B4-BE49-F238E27FC236}">
                <a16:creationId xmlns:a16="http://schemas.microsoft.com/office/drawing/2014/main" id="{DCE170E9-F7A9-43B0-A6D5-B677CCAAA13C}"/>
              </a:ext>
            </a:extLst>
          </p:cNvPr>
          <p:cNvSpPr/>
          <p:nvPr/>
        </p:nvSpPr>
        <p:spPr>
          <a:xfrm>
            <a:off x="1893066" y="3506716"/>
            <a:ext cx="2706332" cy="692699"/>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Злонамерен</a:t>
            </a:r>
            <a:endParaRPr lang="en-GB" sz="1600"/>
          </a:p>
        </p:txBody>
      </p:sp>
      <p:sp>
        <p:nvSpPr>
          <p:cNvPr id="34" name="Rectangle 11">
            <a:extLst>
              <a:ext uri="{FF2B5EF4-FFF2-40B4-BE49-F238E27FC236}">
                <a16:creationId xmlns:a16="http://schemas.microsoft.com/office/drawing/2014/main" id="{9A0083E1-3E68-4870-B6CA-AF435DF4D3E3}"/>
              </a:ext>
            </a:extLst>
          </p:cNvPr>
          <p:cNvSpPr/>
          <p:nvPr/>
        </p:nvSpPr>
        <p:spPr>
          <a:xfrm>
            <a:off x="1893066" y="4314076"/>
            <a:ext cx="2706332" cy="677242"/>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ВИП</a:t>
            </a:r>
            <a:endParaRPr lang="en-GB" sz="1600"/>
          </a:p>
        </p:txBody>
      </p:sp>
      <p:sp>
        <p:nvSpPr>
          <p:cNvPr id="35" name="Rectangle 9">
            <a:extLst>
              <a:ext uri="{FF2B5EF4-FFF2-40B4-BE49-F238E27FC236}">
                <a16:creationId xmlns:a16="http://schemas.microsoft.com/office/drawing/2014/main" id="{9CCB5F8E-D34C-4531-A241-DD395C54C420}"/>
              </a:ext>
            </a:extLst>
          </p:cNvPr>
          <p:cNvSpPr/>
          <p:nvPr/>
        </p:nvSpPr>
        <p:spPr>
          <a:xfrm>
            <a:off x="5053978" y="1872908"/>
            <a:ext cx="2706332" cy="705772"/>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Подозрителен</a:t>
            </a:r>
            <a:endParaRPr lang="en-GB" sz="1600"/>
          </a:p>
        </p:txBody>
      </p:sp>
      <p:sp>
        <p:nvSpPr>
          <p:cNvPr id="36" name="Rectangle 11">
            <a:extLst>
              <a:ext uri="{FF2B5EF4-FFF2-40B4-BE49-F238E27FC236}">
                <a16:creationId xmlns:a16="http://schemas.microsoft.com/office/drawing/2014/main" id="{1C795574-12BB-4017-9CB3-C79FA0CF9587}"/>
              </a:ext>
            </a:extLst>
          </p:cNvPr>
          <p:cNvSpPr/>
          <p:nvPr/>
        </p:nvSpPr>
        <p:spPr>
          <a:xfrm>
            <a:off x="5053978" y="1041324"/>
            <a:ext cx="2706332" cy="715918"/>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Манипулативен</a:t>
            </a:r>
            <a:endParaRPr lang="en-GB" sz="1600"/>
          </a:p>
        </p:txBody>
      </p:sp>
      <p:sp>
        <p:nvSpPr>
          <p:cNvPr id="37" name="Rectangle 13">
            <a:extLst>
              <a:ext uri="{FF2B5EF4-FFF2-40B4-BE49-F238E27FC236}">
                <a16:creationId xmlns:a16="http://schemas.microsoft.com/office/drawing/2014/main" id="{34926CF2-7416-4CAE-A61C-FD4F7DB2C29B}"/>
              </a:ext>
            </a:extLst>
          </p:cNvPr>
          <p:cNvSpPr/>
          <p:nvPr/>
        </p:nvSpPr>
        <p:spPr>
          <a:xfrm>
            <a:off x="5053978" y="2694346"/>
            <a:ext cx="2706332" cy="695699"/>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Нерешителен</a:t>
            </a:r>
            <a:endParaRPr lang="en-GB" sz="1600"/>
          </a:p>
        </p:txBody>
      </p:sp>
      <p:sp>
        <p:nvSpPr>
          <p:cNvPr id="38" name="Rectangle 9">
            <a:extLst>
              <a:ext uri="{FF2B5EF4-FFF2-40B4-BE49-F238E27FC236}">
                <a16:creationId xmlns:a16="http://schemas.microsoft.com/office/drawing/2014/main" id="{A990B95F-B170-4AF0-8ED6-23ABC5D4905F}"/>
              </a:ext>
            </a:extLst>
          </p:cNvPr>
          <p:cNvSpPr/>
          <p:nvPr/>
        </p:nvSpPr>
        <p:spPr>
          <a:xfrm>
            <a:off x="5053978" y="4314076"/>
            <a:ext cx="2706332" cy="677242"/>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Търсещ социален контакт</a:t>
            </a:r>
            <a:endParaRPr lang="en-GB" sz="1600"/>
          </a:p>
        </p:txBody>
      </p:sp>
      <p:sp>
        <p:nvSpPr>
          <p:cNvPr id="39" name="Rectangle 11">
            <a:extLst>
              <a:ext uri="{FF2B5EF4-FFF2-40B4-BE49-F238E27FC236}">
                <a16:creationId xmlns:a16="http://schemas.microsoft.com/office/drawing/2014/main" id="{902A0438-AEF8-43C8-BB1E-B33190B12B5C}"/>
              </a:ext>
            </a:extLst>
          </p:cNvPr>
          <p:cNvSpPr/>
          <p:nvPr/>
        </p:nvSpPr>
        <p:spPr>
          <a:xfrm>
            <a:off x="5053978" y="3505711"/>
            <a:ext cx="2706332" cy="692699"/>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Импулсивен </a:t>
            </a:r>
            <a:endParaRPr lang="en-GB" sz="1600"/>
          </a:p>
        </p:txBody>
      </p:sp>
      <p:sp>
        <p:nvSpPr>
          <p:cNvPr id="21" name="Rectangle 3">
            <a:extLst>
              <a:ext uri="{FF2B5EF4-FFF2-40B4-BE49-F238E27FC236}">
                <a16:creationId xmlns:a16="http://schemas.microsoft.com/office/drawing/2014/main" id="{E61FD26A-77F0-4B23-9AF0-572092424076}"/>
              </a:ext>
            </a:extLst>
          </p:cNvPr>
          <p:cNvSpPr/>
          <p:nvPr/>
        </p:nvSpPr>
        <p:spPr>
          <a:xfrm>
            <a:off x="1443475" y="4245"/>
            <a:ext cx="5338363" cy="677242"/>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23" name="Rectangle 4">
            <a:extLst>
              <a:ext uri="{FF2B5EF4-FFF2-40B4-BE49-F238E27FC236}">
                <a16:creationId xmlns:a16="http://schemas.microsoft.com/office/drawing/2014/main" id="{F25F966A-1FAD-43B1-81E9-D300C79F2963}"/>
              </a:ext>
            </a:extLst>
          </p:cNvPr>
          <p:cNvSpPr/>
          <p:nvPr/>
        </p:nvSpPr>
        <p:spPr>
          <a:xfrm>
            <a:off x="6788435" y="4245"/>
            <a:ext cx="5417300" cy="677242"/>
          </a:xfrm>
          <a:prstGeom prst="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pic>
        <p:nvPicPr>
          <p:cNvPr id="40" name="Picture 39">
            <a:extLst>
              <a:ext uri="{FF2B5EF4-FFF2-40B4-BE49-F238E27FC236}">
                <a16:creationId xmlns:a16="http://schemas.microsoft.com/office/drawing/2014/main" id="{07859BEB-3D16-4458-8082-F33C8BAFA873}"/>
              </a:ext>
            </a:extLst>
          </p:cNvPr>
          <p:cNvPicPr>
            <a:picLocks noChangeAspect="1"/>
          </p:cNvPicPr>
          <p:nvPr/>
        </p:nvPicPr>
        <p:blipFill>
          <a:blip r:embed="rId2"/>
          <a:stretch>
            <a:fillRect/>
          </a:stretch>
        </p:blipFill>
        <p:spPr>
          <a:xfrm>
            <a:off x="10883590" y="5621341"/>
            <a:ext cx="982751" cy="995681"/>
          </a:xfrm>
          <a:prstGeom prst="rect">
            <a:avLst/>
          </a:prstGeom>
        </p:spPr>
      </p:pic>
    </p:spTree>
    <p:extLst>
      <p:ext uri="{BB962C8B-B14F-4D97-AF65-F5344CB8AC3E}">
        <p14:creationId xmlns:p14="http://schemas.microsoft.com/office/powerpoint/2010/main" val="568188759"/>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2EBA80-1C1C-2B71-4EEA-9E2544F0EC2E}"/>
            </a:ext>
          </a:extLst>
        </p:cNvPr>
        <p:cNvGrpSpPr/>
        <p:nvPr/>
      </p:nvGrpSpPr>
      <p:grpSpPr>
        <a:xfrm>
          <a:off x="0" y="0"/>
          <a:ext cx="0" cy="0"/>
          <a:chOff x="0" y="0"/>
          <a:chExt cx="0" cy="0"/>
        </a:xfrm>
      </p:grpSpPr>
      <p:sp>
        <p:nvSpPr>
          <p:cNvPr id="20" name="Балонче за говор: правоъгълник със заоблени ъгли 19">
            <a:extLst>
              <a:ext uri="{FF2B5EF4-FFF2-40B4-BE49-F238E27FC236}">
                <a16:creationId xmlns:a16="http://schemas.microsoft.com/office/drawing/2014/main" id="{2945F269-F25D-4C1D-8382-378EC89977EB}"/>
              </a:ext>
            </a:extLst>
          </p:cNvPr>
          <p:cNvSpPr/>
          <p:nvPr/>
        </p:nvSpPr>
        <p:spPr>
          <a:xfrm>
            <a:off x="8143077" y="1045302"/>
            <a:ext cx="3713888" cy="3445431"/>
          </a:xfrm>
          <a:prstGeom prst="roundRect">
            <a:avLst>
              <a:gd name="adj" fmla="val 9600"/>
            </a:avLst>
          </a:prstGeom>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ru-RU" sz="1400" b="1"/>
              <a:t>Нерешителен</a:t>
            </a:r>
            <a:br>
              <a:rPr lang="ru-RU" sz="1400"/>
            </a:br>
            <a:r>
              <a:rPr lang="ru-RU" sz="1400" b="1">
                <a:ea typeface="+mn-lt"/>
                <a:cs typeface="+mn-lt"/>
              </a:rPr>
              <a:t>Характеристики:</a:t>
            </a:r>
            <a:endParaRPr lang="bg-BG" sz="1400"/>
          </a:p>
          <a:p>
            <a:pPr marL="285750" indent="-285750">
              <a:buFont typeface="Arial"/>
              <a:buChar char="•"/>
            </a:pPr>
            <a:r>
              <a:rPr lang="ru-RU" sz="1400">
                <a:ea typeface="+mn-lt"/>
                <a:cs typeface="+mn-lt"/>
              </a:rPr>
              <a:t>Страх от грешка </a:t>
            </a:r>
            <a:endParaRPr lang="ru-RU"/>
          </a:p>
          <a:p>
            <a:pPr marL="285750" indent="-285750">
              <a:buFont typeface="Arial"/>
              <a:buChar char="•"/>
            </a:pPr>
            <a:r>
              <a:rPr lang="ru-RU" sz="1400">
                <a:ea typeface="+mn-lt"/>
                <a:cs typeface="+mn-lt"/>
              </a:rPr>
              <a:t>Търсят одобрение от други </a:t>
            </a:r>
            <a:endParaRPr lang="ru-RU"/>
          </a:p>
          <a:p>
            <a:pPr marL="285750" indent="-285750">
              <a:buFont typeface="Arial"/>
              <a:buChar char="•"/>
            </a:pPr>
            <a:r>
              <a:rPr lang="ru-RU" sz="1400">
                <a:ea typeface="+mn-lt"/>
                <a:cs typeface="+mn-lt"/>
              </a:rPr>
              <a:t>Колебливи </a:t>
            </a:r>
            <a:endParaRPr lang="ru-RU"/>
          </a:p>
          <a:p>
            <a:pPr marL="285750" indent="-285750">
              <a:buFont typeface="Arial"/>
              <a:buChar char="•"/>
            </a:pPr>
            <a:r>
              <a:rPr lang="ru-RU" sz="1400">
                <a:ea typeface="+mn-lt"/>
                <a:cs typeface="+mn-lt"/>
              </a:rPr>
              <a:t>Не се доверяват лесно </a:t>
            </a:r>
            <a:endParaRPr lang="ru-RU"/>
          </a:p>
          <a:p>
            <a:pPr marL="285750" indent="-285750">
              <a:buFont typeface="Arial"/>
              <a:buChar char="•"/>
            </a:pPr>
            <a:r>
              <a:rPr lang="ru-RU" sz="1400">
                <a:ea typeface="+mn-lt"/>
                <a:cs typeface="+mn-lt"/>
              </a:rPr>
              <a:t>Често променят решение </a:t>
            </a:r>
            <a:endParaRPr lang="ru-RU"/>
          </a:p>
          <a:p>
            <a:r>
              <a:rPr lang="ru-RU" sz="1400" b="1">
                <a:ea typeface="+mn-lt"/>
                <a:cs typeface="+mn-lt"/>
              </a:rPr>
              <a:t>Предпочитана комуникация:</a:t>
            </a:r>
            <a:endParaRPr lang="ru-RU" b="1">
              <a:ea typeface="+mn-lt"/>
              <a:cs typeface="+mn-lt"/>
            </a:endParaRPr>
          </a:p>
          <a:p>
            <a:pPr marL="285750" indent="-285750">
              <a:buFont typeface="Arial"/>
              <a:buChar char="•"/>
            </a:pPr>
            <a:r>
              <a:rPr lang="ru-RU" sz="1400">
                <a:ea typeface="+mn-lt"/>
                <a:cs typeface="+mn-lt"/>
              </a:rPr>
              <a:t>Повтаряне на ползите </a:t>
            </a:r>
            <a:endParaRPr lang="ru-RU">
              <a:ea typeface="+mn-lt"/>
              <a:cs typeface="+mn-lt"/>
            </a:endParaRPr>
          </a:p>
          <a:p>
            <a:pPr marL="285750" indent="-285750">
              <a:buFont typeface="Arial"/>
              <a:buChar char="•"/>
            </a:pPr>
            <a:r>
              <a:rPr lang="ru-RU" sz="1400">
                <a:ea typeface="+mn-lt"/>
                <a:cs typeface="+mn-lt"/>
              </a:rPr>
              <a:t>Примери и гаранции </a:t>
            </a:r>
            <a:endParaRPr lang="ru-RU"/>
          </a:p>
          <a:p>
            <a:pPr marL="285750" indent="-285750">
              <a:buFont typeface="Arial"/>
              <a:buChar char="•"/>
            </a:pPr>
            <a:r>
              <a:rPr lang="ru-RU" sz="1400">
                <a:ea typeface="+mn-lt"/>
                <a:cs typeface="+mn-lt"/>
              </a:rPr>
              <a:t>Без натиск </a:t>
            </a:r>
            <a:endParaRPr lang="ru-RU"/>
          </a:p>
          <a:p>
            <a:pPr marL="285750" indent="-285750">
              <a:buFont typeface="Arial"/>
              <a:buChar char="•"/>
            </a:pPr>
            <a:r>
              <a:rPr lang="ru-RU" sz="1400">
                <a:ea typeface="+mn-lt"/>
                <a:cs typeface="+mn-lt"/>
              </a:rPr>
              <a:t>Повече време за решение </a:t>
            </a:r>
            <a:endParaRPr lang="ru-RU"/>
          </a:p>
          <a:p>
            <a:pPr marL="285750" indent="-285750">
              <a:buFont typeface="Arial"/>
              <a:buChar char="•"/>
            </a:pPr>
            <a:r>
              <a:rPr lang="ru-RU" sz="1400">
                <a:ea typeface="+mn-lt"/>
                <a:cs typeface="+mn-lt"/>
              </a:rPr>
              <a:t>Без много алтернативи → дай ясно доказателство</a:t>
            </a:r>
            <a:endParaRPr lang="ru-RU"/>
          </a:p>
          <a:p>
            <a:endParaRPr lang="ru-RU" sz="1400"/>
          </a:p>
        </p:txBody>
      </p:sp>
      <p:sp>
        <p:nvSpPr>
          <p:cNvPr id="22" name="Rectangle 28">
            <a:extLst>
              <a:ext uri="{FF2B5EF4-FFF2-40B4-BE49-F238E27FC236}">
                <a16:creationId xmlns:a16="http://schemas.microsoft.com/office/drawing/2014/main" id="{F98C86B0-FDF2-468D-AD48-DAB539A60018}"/>
              </a:ext>
            </a:extLst>
          </p:cNvPr>
          <p:cNvSpPr/>
          <p:nvPr/>
        </p:nvSpPr>
        <p:spPr>
          <a:xfrm>
            <a:off x="-15824" y="1599"/>
            <a:ext cx="1465320" cy="6859628"/>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400">
              <a:latin typeface="Aptos"/>
              <a:ea typeface="Calibri"/>
              <a:cs typeface="Calibri"/>
            </a:endParaRPr>
          </a:p>
        </p:txBody>
      </p:sp>
      <p:sp>
        <p:nvSpPr>
          <p:cNvPr id="24" name="Rectangle 29">
            <a:extLst>
              <a:ext uri="{FF2B5EF4-FFF2-40B4-BE49-F238E27FC236}">
                <a16:creationId xmlns:a16="http://schemas.microsoft.com/office/drawing/2014/main" id="{ABF239DA-F29F-4241-A136-D2AF4CD11B0F}"/>
              </a:ext>
            </a:extLst>
          </p:cNvPr>
          <p:cNvSpPr/>
          <p:nvPr/>
        </p:nvSpPr>
        <p:spPr>
          <a:xfrm>
            <a:off x="-1671" y="2528038"/>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002060"/>
                </a:solidFill>
                <a:latin typeface="Aptos"/>
                <a:ea typeface="Calibri"/>
                <a:cs typeface="Calibri"/>
              </a:rPr>
              <a:t>Типове клиенти</a:t>
            </a:r>
            <a:endParaRPr lang="en-GB" sz="1400">
              <a:solidFill>
                <a:srgbClr val="002060"/>
              </a:solidFill>
              <a:latin typeface="Aptos"/>
              <a:ea typeface="Calibri"/>
              <a:cs typeface="Calibri"/>
            </a:endParaRPr>
          </a:p>
        </p:txBody>
      </p:sp>
      <p:sp>
        <p:nvSpPr>
          <p:cNvPr id="25" name="Rectangle 30">
            <a:extLst>
              <a:ext uri="{FF2B5EF4-FFF2-40B4-BE49-F238E27FC236}">
                <a16:creationId xmlns:a16="http://schemas.microsoft.com/office/drawing/2014/main" id="{885EAE5B-CFCA-44F1-A62F-183C46DC9338}"/>
              </a:ext>
            </a:extLst>
          </p:cNvPr>
          <p:cNvSpPr/>
          <p:nvPr/>
        </p:nvSpPr>
        <p:spPr>
          <a:xfrm>
            <a:off x="8626" y="1913210"/>
            <a:ext cx="1442908" cy="4485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chemeClr val="bg1"/>
                </a:solidFill>
                <a:latin typeface="Aptos"/>
                <a:ea typeface="Calibri"/>
                <a:cs typeface="Calibri"/>
              </a:rPr>
              <a:t>Сценарии</a:t>
            </a:r>
            <a:endParaRPr lang="en-GB" sz="1400">
              <a:solidFill>
                <a:schemeClr val="bg1"/>
              </a:solidFill>
              <a:latin typeface="Aptos"/>
              <a:ea typeface="Calibri"/>
              <a:cs typeface="Calibri"/>
            </a:endParaRPr>
          </a:p>
        </p:txBody>
      </p:sp>
      <p:sp>
        <p:nvSpPr>
          <p:cNvPr id="26" name="Rectangle 31">
            <a:extLst>
              <a:ext uri="{FF2B5EF4-FFF2-40B4-BE49-F238E27FC236}">
                <a16:creationId xmlns:a16="http://schemas.microsoft.com/office/drawing/2014/main" id="{C54F7C36-507B-42DF-91B5-ADE9ADF3E4F5}"/>
              </a:ext>
            </a:extLst>
          </p:cNvPr>
          <p:cNvSpPr/>
          <p:nvPr/>
        </p:nvSpPr>
        <p:spPr>
          <a:xfrm>
            <a:off x="-1671" y="1298382"/>
            <a:ext cx="1442908" cy="4485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b="1">
                <a:solidFill>
                  <a:schemeClr val="bg1"/>
                </a:solidFill>
                <a:latin typeface="Aptos"/>
                <a:ea typeface="Calibri"/>
                <a:cs typeface="Calibri"/>
              </a:rPr>
              <a:t>Стъпки при среща</a:t>
            </a:r>
          </a:p>
        </p:txBody>
      </p:sp>
      <p:sp>
        <p:nvSpPr>
          <p:cNvPr id="29" name="Rectangle 28">
            <a:extLst>
              <a:ext uri="{FF2B5EF4-FFF2-40B4-BE49-F238E27FC236}">
                <a16:creationId xmlns:a16="http://schemas.microsoft.com/office/drawing/2014/main" id="{422FA89F-5724-4C38-96A8-19E5EB30517F}"/>
              </a:ext>
            </a:extLst>
          </p:cNvPr>
          <p:cNvSpPr/>
          <p:nvPr/>
        </p:nvSpPr>
        <p:spPr>
          <a:xfrm>
            <a:off x="-15827" y="690328"/>
            <a:ext cx="1465322"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FFFFFF"/>
                </a:solidFill>
                <a:latin typeface="Aptos"/>
                <a:ea typeface="Calibri"/>
                <a:cs typeface="Calibri"/>
              </a:rPr>
              <a:t>Подготовка</a:t>
            </a:r>
            <a:endParaRPr lang="en-GB" sz="1400">
              <a:solidFill>
                <a:srgbClr val="FFFFFF"/>
              </a:solidFill>
              <a:latin typeface="Aptos"/>
              <a:ea typeface="Calibri"/>
              <a:cs typeface="Calibri"/>
            </a:endParaRPr>
          </a:p>
        </p:txBody>
      </p:sp>
      <p:sp>
        <p:nvSpPr>
          <p:cNvPr id="30" name="Rectangle: Rounded Corners 29">
            <a:extLst>
              <a:ext uri="{FF2B5EF4-FFF2-40B4-BE49-F238E27FC236}">
                <a16:creationId xmlns:a16="http://schemas.microsoft.com/office/drawing/2014/main" id="{0CF4826F-DC37-457E-8EB6-AE36588C03BA}"/>
              </a:ext>
            </a:extLst>
          </p:cNvPr>
          <p:cNvSpPr/>
          <p:nvPr/>
        </p:nvSpPr>
        <p:spPr>
          <a:xfrm>
            <a:off x="1893066" y="1041323"/>
            <a:ext cx="2706332" cy="715919"/>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Агресивен</a:t>
            </a:r>
            <a:endParaRPr lang="en-GB" sz="1600"/>
          </a:p>
        </p:txBody>
      </p:sp>
      <p:sp>
        <p:nvSpPr>
          <p:cNvPr id="31" name="Rectangle: Rounded Corners 30">
            <a:extLst>
              <a:ext uri="{FF2B5EF4-FFF2-40B4-BE49-F238E27FC236}">
                <a16:creationId xmlns:a16="http://schemas.microsoft.com/office/drawing/2014/main" id="{E3D41C07-D87B-4734-AC0F-A41F12A6793E}"/>
              </a:ext>
            </a:extLst>
          </p:cNvPr>
          <p:cNvSpPr/>
          <p:nvPr/>
        </p:nvSpPr>
        <p:spPr>
          <a:xfrm>
            <a:off x="1893066" y="1871904"/>
            <a:ext cx="2706332" cy="705772"/>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Аналитичен</a:t>
            </a:r>
            <a:endParaRPr lang="en-GB" sz="1600"/>
          </a:p>
        </p:txBody>
      </p:sp>
      <p:sp>
        <p:nvSpPr>
          <p:cNvPr id="32" name="Rectangle: Rounded Corners 31">
            <a:extLst>
              <a:ext uri="{FF2B5EF4-FFF2-40B4-BE49-F238E27FC236}">
                <a16:creationId xmlns:a16="http://schemas.microsoft.com/office/drawing/2014/main" id="{7FBC07F7-742E-44C3-9491-26FADD450E3B}"/>
              </a:ext>
            </a:extLst>
          </p:cNvPr>
          <p:cNvSpPr/>
          <p:nvPr/>
        </p:nvSpPr>
        <p:spPr>
          <a:xfrm>
            <a:off x="1893066" y="2692338"/>
            <a:ext cx="2706332" cy="699716"/>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Трудно схватлив</a:t>
            </a:r>
            <a:endParaRPr lang="en-GB" sz="1600"/>
          </a:p>
        </p:txBody>
      </p:sp>
      <p:sp>
        <p:nvSpPr>
          <p:cNvPr id="33" name="Rectangle 9">
            <a:extLst>
              <a:ext uri="{FF2B5EF4-FFF2-40B4-BE49-F238E27FC236}">
                <a16:creationId xmlns:a16="http://schemas.microsoft.com/office/drawing/2014/main" id="{DC79C975-F375-4A0F-B263-6F5F63D54CD9}"/>
              </a:ext>
            </a:extLst>
          </p:cNvPr>
          <p:cNvSpPr/>
          <p:nvPr/>
        </p:nvSpPr>
        <p:spPr>
          <a:xfrm>
            <a:off x="1893066" y="3506716"/>
            <a:ext cx="2706332" cy="692699"/>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Злонамерен</a:t>
            </a:r>
            <a:endParaRPr lang="en-GB" sz="1600"/>
          </a:p>
        </p:txBody>
      </p:sp>
      <p:sp>
        <p:nvSpPr>
          <p:cNvPr id="34" name="Rectangle 11">
            <a:extLst>
              <a:ext uri="{FF2B5EF4-FFF2-40B4-BE49-F238E27FC236}">
                <a16:creationId xmlns:a16="http://schemas.microsoft.com/office/drawing/2014/main" id="{66A0DB77-03D5-49F5-8781-DFD66194BDDF}"/>
              </a:ext>
            </a:extLst>
          </p:cNvPr>
          <p:cNvSpPr/>
          <p:nvPr/>
        </p:nvSpPr>
        <p:spPr>
          <a:xfrm>
            <a:off x="1893066" y="4314076"/>
            <a:ext cx="2706332" cy="677242"/>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ВИП</a:t>
            </a:r>
            <a:endParaRPr lang="en-GB" sz="1600"/>
          </a:p>
        </p:txBody>
      </p:sp>
      <p:sp>
        <p:nvSpPr>
          <p:cNvPr id="35" name="Rectangle 9">
            <a:extLst>
              <a:ext uri="{FF2B5EF4-FFF2-40B4-BE49-F238E27FC236}">
                <a16:creationId xmlns:a16="http://schemas.microsoft.com/office/drawing/2014/main" id="{795C8693-171C-4B90-93B4-2C7D2278E0FA}"/>
              </a:ext>
            </a:extLst>
          </p:cNvPr>
          <p:cNvSpPr/>
          <p:nvPr/>
        </p:nvSpPr>
        <p:spPr>
          <a:xfrm>
            <a:off x="5053978" y="1872908"/>
            <a:ext cx="2706332" cy="705772"/>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Подозрителен</a:t>
            </a:r>
            <a:endParaRPr lang="en-GB" sz="1600"/>
          </a:p>
        </p:txBody>
      </p:sp>
      <p:sp>
        <p:nvSpPr>
          <p:cNvPr id="36" name="Rectangle 11">
            <a:extLst>
              <a:ext uri="{FF2B5EF4-FFF2-40B4-BE49-F238E27FC236}">
                <a16:creationId xmlns:a16="http://schemas.microsoft.com/office/drawing/2014/main" id="{7155CD6E-1A93-45BE-A991-DA35EA0B0E4F}"/>
              </a:ext>
            </a:extLst>
          </p:cNvPr>
          <p:cNvSpPr/>
          <p:nvPr/>
        </p:nvSpPr>
        <p:spPr>
          <a:xfrm>
            <a:off x="5053978" y="1041324"/>
            <a:ext cx="2706332" cy="715918"/>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Манипулативен</a:t>
            </a:r>
            <a:endParaRPr lang="en-GB" sz="1600"/>
          </a:p>
        </p:txBody>
      </p:sp>
      <p:sp>
        <p:nvSpPr>
          <p:cNvPr id="37" name="Rectangle 13">
            <a:extLst>
              <a:ext uri="{FF2B5EF4-FFF2-40B4-BE49-F238E27FC236}">
                <a16:creationId xmlns:a16="http://schemas.microsoft.com/office/drawing/2014/main" id="{F8CA3591-B615-4118-AACE-AAB729029296}"/>
              </a:ext>
            </a:extLst>
          </p:cNvPr>
          <p:cNvSpPr/>
          <p:nvPr/>
        </p:nvSpPr>
        <p:spPr>
          <a:xfrm>
            <a:off x="5053978" y="2694346"/>
            <a:ext cx="2706332" cy="695699"/>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Нерешителен</a:t>
            </a:r>
            <a:endParaRPr lang="en-GB" sz="1600"/>
          </a:p>
        </p:txBody>
      </p:sp>
      <p:sp>
        <p:nvSpPr>
          <p:cNvPr id="38" name="Rectangle 9">
            <a:extLst>
              <a:ext uri="{FF2B5EF4-FFF2-40B4-BE49-F238E27FC236}">
                <a16:creationId xmlns:a16="http://schemas.microsoft.com/office/drawing/2014/main" id="{2FBC05CF-44B4-4AA9-BE0E-AA2C70CBA635}"/>
              </a:ext>
            </a:extLst>
          </p:cNvPr>
          <p:cNvSpPr/>
          <p:nvPr/>
        </p:nvSpPr>
        <p:spPr>
          <a:xfrm>
            <a:off x="5053978" y="4314076"/>
            <a:ext cx="2706332" cy="677242"/>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Търсещ социален контакт</a:t>
            </a:r>
            <a:endParaRPr lang="en-GB" sz="1600"/>
          </a:p>
        </p:txBody>
      </p:sp>
      <p:sp>
        <p:nvSpPr>
          <p:cNvPr id="39" name="Rectangle 11">
            <a:extLst>
              <a:ext uri="{FF2B5EF4-FFF2-40B4-BE49-F238E27FC236}">
                <a16:creationId xmlns:a16="http://schemas.microsoft.com/office/drawing/2014/main" id="{D437ED14-60E6-4139-BCBC-FA02457D37ED}"/>
              </a:ext>
            </a:extLst>
          </p:cNvPr>
          <p:cNvSpPr/>
          <p:nvPr/>
        </p:nvSpPr>
        <p:spPr>
          <a:xfrm>
            <a:off x="5053978" y="3505711"/>
            <a:ext cx="2706332" cy="692699"/>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Импулсивен </a:t>
            </a:r>
            <a:endParaRPr lang="en-GB" sz="1600"/>
          </a:p>
        </p:txBody>
      </p:sp>
      <p:sp>
        <p:nvSpPr>
          <p:cNvPr id="21" name="Rectangle 3">
            <a:extLst>
              <a:ext uri="{FF2B5EF4-FFF2-40B4-BE49-F238E27FC236}">
                <a16:creationId xmlns:a16="http://schemas.microsoft.com/office/drawing/2014/main" id="{4B00E7C3-C65A-4EC7-A870-E5CD43E88BC3}"/>
              </a:ext>
            </a:extLst>
          </p:cNvPr>
          <p:cNvSpPr/>
          <p:nvPr/>
        </p:nvSpPr>
        <p:spPr>
          <a:xfrm>
            <a:off x="1443475" y="4245"/>
            <a:ext cx="5338363" cy="677242"/>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23" name="Rectangle 4">
            <a:extLst>
              <a:ext uri="{FF2B5EF4-FFF2-40B4-BE49-F238E27FC236}">
                <a16:creationId xmlns:a16="http://schemas.microsoft.com/office/drawing/2014/main" id="{2943646F-305C-437F-936B-24B450D56F9C}"/>
              </a:ext>
            </a:extLst>
          </p:cNvPr>
          <p:cNvSpPr/>
          <p:nvPr/>
        </p:nvSpPr>
        <p:spPr>
          <a:xfrm>
            <a:off x="6788435" y="4245"/>
            <a:ext cx="5417300" cy="677242"/>
          </a:xfrm>
          <a:prstGeom prst="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pic>
        <p:nvPicPr>
          <p:cNvPr id="40" name="Picture 39">
            <a:extLst>
              <a:ext uri="{FF2B5EF4-FFF2-40B4-BE49-F238E27FC236}">
                <a16:creationId xmlns:a16="http://schemas.microsoft.com/office/drawing/2014/main" id="{7AFD21D6-C5E1-462B-B152-821C08F892B1}"/>
              </a:ext>
            </a:extLst>
          </p:cNvPr>
          <p:cNvPicPr>
            <a:picLocks noChangeAspect="1"/>
          </p:cNvPicPr>
          <p:nvPr/>
        </p:nvPicPr>
        <p:blipFill>
          <a:blip r:embed="rId2"/>
          <a:stretch>
            <a:fillRect/>
          </a:stretch>
        </p:blipFill>
        <p:spPr>
          <a:xfrm>
            <a:off x="10883590" y="5621341"/>
            <a:ext cx="982751" cy="995681"/>
          </a:xfrm>
          <a:prstGeom prst="rect">
            <a:avLst/>
          </a:prstGeom>
        </p:spPr>
      </p:pic>
    </p:spTree>
    <p:extLst>
      <p:ext uri="{BB962C8B-B14F-4D97-AF65-F5344CB8AC3E}">
        <p14:creationId xmlns:p14="http://schemas.microsoft.com/office/powerpoint/2010/main" val="71270666"/>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2208E9-0227-2382-A66D-962958D41146}"/>
            </a:ext>
          </a:extLst>
        </p:cNvPr>
        <p:cNvGrpSpPr/>
        <p:nvPr/>
      </p:nvGrpSpPr>
      <p:grpSpPr>
        <a:xfrm>
          <a:off x="0" y="0"/>
          <a:ext cx="0" cy="0"/>
          <a:chOff x="0" y="0"/>
          <a:chExt cx="0" cy="0"/>
        </a:xfrm>
      </p:grpSpPr>
      <p:sp>
        <p:nvSpPr>
          <p:cNvPr id="20" name="Балонче за говор: правоъгълник със заоблени ъгли 19">
            <a:extLst>
              <a:ext uri="{FF2B5EF4-FFF2-40B4-BE49-F238E27FC236}">
                <a16:creationId xmlns:a16="http://schemas.microsoft.com/office/drawing/2014/main" id="{AD64AEF2-5B9D-E957-1B8C-B95B87C84ECD}"/>
              </a:ext>
            </a:extLst>
          </p:cNvPr>
          <p:cNvSpPr/>
          <p:nvPr/>
        </p:nvSpPr>
        <p:spPr>
          <a:xfrm>
            <a:off x="8164229" y="1045302"/>
            <a:ext cx="3716442" cy="3372486"/>
          </a:xfrm>
          <a:prstGeom prst="roundRect">
            <a:avLst>
              <a:gd name="adj" fmla="val 10243"/>
            </a:avLst>
          </a:prstGeom>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ru-RU" sz="1400" b="1"/>
              <a:t>Импулсивен</a:t>
            </a:r>
            <a:br>
              <a:rPr lang="ru-RU" sz="1400"/>
            </a:br>
            <a:r>
              <a:rPr lang="ru-RU" sz="1400" b="1">
                <a:ea typeface="+mn-lt"/>
                <a:cs typeface="+mn-lt"/>
              </a:rPr>
              <a:t>Характеристики:</a:t>
            </a:r>
            <a:endParaRPr lang="bg-BG" sz="1400"/>
          </a:p>
          <a:p>
            <a:pPr marL="285750" indent="-285750">
              <a:buFont typeface="Arial"/>
              <a:buChar char="•"/>
            </a:pPr>
            <a:r>
              <a:rPr lang="ru-RU" sz="1400">
                <a:ea typeface="+mn-lt"/>
                <a:cs typeface="+mn-lt"/>
              </a:rPr>
              <a:t>Водени от моментни желания </a:t>
            </a:r>
            <a:endParaRPr lang="ru-RU"/>
          </a:p>
          <a:p>
            <a:pPr marL="285750" indent="-285750">
              <a:buFont typeface="Arial"/>
              <a:buChar char="•"/>
            </a:pPr>
            <a:r>
              <a:rPr lang="ru-RU" sz="1400">
                <a:ea typeface="+mn-lt"/>
                <a:cs typeface="+mn-lt"/>
              </a:rPr>
              <a:t>Емоционални и непредсказуеми </a:t>
            </a:r>
            <a:endParaRPr lang="ru-RU"/>
          </a:p>
          <a:p>
            <a:pPr marL="285750" indent="-285750">
              <a:buFont typeface="Arial"/>
              <a:buChar char="•"/>
            </a:pPr>
            <a:r>
              <a:rPr lang="ru-RU" sz="1400">
                <a:ea typeface="+mn-lt"/>
                <a:cs typeface="+mn-lt"/>
              </a:rPr>
              <a:t>Често нямат реална нужда </a:t>
            </a:r>
            <a:endParaRPr lang="ru-RU"/>
          </a:p>
          <a:p>
            <a:pPr marL="285750" indent="-285750">
              <a:buFont typeface="Arial"/>
              <a:buChar char="•"/>
            </a:pPr>
            <a:r>
              <a:rPr lang="ru-RU" sz="1400">
                <a:ea typeface="+mn-lt"/>
                <a:cs typeface="+mn-lt"/>
              </a:rPr>
              <a:t>Лесно се увличат </a:t>
            </a:r>
            <a:endParaRPr lang="ru-RU"/>
          </a:p>
          <a:p>
            <a:pPr marL="285750" indent="-285750">
              <a:buFont typeface="Arial"/>
              <a:buChar char="•"/>
            </a:pPr>
            <a:r>
              <a:rPr lang="ru-RU" sz="1400">
                <a:ea typeface="+mn-lt"/>
                <a:cs typeface="+mn-lt"/>
              </a:rPr>
              <a:t>Склонни към бързи решения </a:t>
            </a:r>
            <a:endParaRPr lang="ru-RU"/>
          </a:p>
          <a:p>
            <a:r>
              <a:rPr lang="ru-RU" sz="1400" b="1">
                <a:ea typeface="+mn-lt"/>
                <a:cs typeface="+mn-lt"/>
              </a:rPr>
              <a:t>Предпочитана комуникация:</a:t>
            </a:r>
            <a:endParaRPr lang="ru-RU" b="1">
              <a:ea typeface="+mn-lt"/>
              <a:cs typeface="+mn-lt"/>
            </a:endParaRPr>
          </a:p>
          <a:p>
            <a:pPr marL="285750" indent="-285750">
              <a:buFont typeface="Arial"/>
              <a:buChar char="•"/>
            </a:pPr>
            <a:r>
              <a:rPr lang="ru-RU" sz="1400">
                <a:ea typeface="+mn-lt"/>
                <a:cs typeface="+mn-lt"/>
              </a:rPr>
              <a:t>Силни и ясни аргументи </a:t>
            </a:r>
            <a:endParaRPr lang="ru-RU"/>
          </a:p>
          <a:p>
            <a:pPr marL="285750" indent="-285750">
              <a:buFont typeface="Arial"/>
              <a:buChar char="•"/>
            </a:pPr>
            <a:r>
              <a:rPr lang="ru-RU" sz="1400">
                <a:ea typeface="+mn-lt"/>
                <a:cs typeface="+mn-lt"/>
              </a:rPr>
              <a:t>Улавяне на момента </a:t>
            </a:r>
            <a:endParaRPr lang="ru-RU"/>
          </a:p>
          <a:p>
            <a:pPr marL="285750" indent="-285750">
              <a:buFont typeface="Arial"/>
              <a:buChar char="•"/>
            </a:pPr>
            <a:r>
              <a:rPr lang="ru-RU" sz="1400">
                <a:ea typeface="+mn-lt"/>
                <a:cs typeface="+mn-lt"/>
              </a:rPr>
              <a:t>Контрол върху процеса </a:t>
            </a:r>
            <a:endParaRPr lang="ru-RU"/>
          </a:p>
          <a:p>
            <a:pPr marL="285750" indent="-285750">
              <a:buFont typeface="Arial"/>
              <a:buChar char="•"/>
            </a:pPr>
            <a:r>
              <a:rPr lang="ru-RU" sz="1400">
                <a:ea typeface="+mn-lt"/>
                <a:cs typeface="+mn-lt"/>
              </a:rPr>
              <a:t>Проверка дали разбират решението </a:t>
            </a:r>
            <a:endParaRPr lang="ru-RU"/>
          </a:p>
          <a:p>
            <a:pPr marL="285750" indent="-285750">
              <a:buFont typeface="Arial"/>
              <a:buChar char="•"/>
            </a:pPr>
            <a:r>
              <a:rPr lang="ru-RU" sz="1400">
                <a:ea typeface="+mn-lt"/>
                <a:cs typeface="+mn-lt"/>
              </a:rPr>
              <a:t>Оценка на реалните им възможности</a:t>
            </a:r>
            <a:endParaRPr lang="ru-RU"/>
          </a:p>
          <a:p>
            <a:endParaRPr lang="ru-RU" sz="1400"/>
          </a:p>
        </p:txBody>
      </p:sp>
      <p:sp>
        <p:nvSpPr>
          <p:cNvPr id="22" name="Rectangle 28">
            <a:extLst>
              <a:ext uri="{FF2B5EF4-FFF2-40B4-BE49-F238E27FC236}">
                <a16:creationId xmlns:a16="http://schemas.microsoft.com/office/drawing/2014/main" id="{1471356F-D761-49E5-B2CA-990B06B6E61A}"/>
              </a:ext>
            </a:extLst>
          </p:cNvPr>
          <p:cNvSpPr/>
          <p:nvPr/>
        </p:nvSpPr>
        <p:spPr>
          <a:xfrm>
            <a:off x="-15824" y="1599"/>
            <a:ext cx="1465320" cy="6859628"/>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400">
              <a:latin typeface="Aptos"/>
              <a:ea typeface="Calibri"/>
              <a:cs typeface="Calibri"/>
            </a:endParaRPr>
          </a:p>
        </p:txBody>
      </p:sp>
      <p:sp>
        <p:nvSpPr>
          <p:cNvPr id="24" name="Rectangle 29">
            <a:extLst>
              <a:ext uri="{FF2B5EF4-FFF2-40B4-BE49-F238E27FC236}">
                <a16:creationId xmlns:a16="http://schemas.microsoft.com/office/drawing/2014/main" id="{D52FD72D-9534-4D8D-BFEB-E5E86B371105}"/>
              </a:ext>
            </a:extLst>
          </p:cNvPr>
          <p:cNvSpPr/>
          <p:nvPr/>
        </p:nvSpPr>
        <p:spPr>
          <a:xfrm>
            <a:off x="-1671" y="2528038"/>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002060"/>
                </a:solidFill>
                <a:latin typeface="Aptos"/>
                <a:ea typeface="Calibri"/>
                <a:cs typeface="Calibri"/>
              </a:rPr>
              <a:t>Типове клиенти</a:t>
            </a:r>
            <a:endParaRPr lang="en-GB" sz="1400">
              <a:solidFill>
                <a:srgbClr val="002060"/>
              </a:solidFill>
              <a:latin typeface="Aptos"/>
              <a:ea typeface="Calibri"/>
              <a:cs typeface="Calibri"/>
            </a:endParaRPr>
          </a:p>
        </p:txBody>
      </p:sp>
      <p:sp>
        <p:nvSpPr>
          <p:cNvPr id="25" name="Rectangle 30">
            <a:extLst>
              <a:ext uri="{FF2B5EF4-FFF2-40B4-BE49-F238E27FC236}">
                <a16:creationId xmlns:a16="http://schemas.microsoft.com/office/drawing/2014/main" id="{B57202AB-E11F-410A-A169-A614466E0531}"/>
              </a:ext>
            </a:extLst>
          </p:cNvPr>
          <p:cNvSpPr/>
          <p:nvPr/>
        </p:nvSpPr>
        <p:spPr>
          <a:xfrm>
            <a:off x="8626" y="1913210"/>
            <a:ext cx="1442908" cy="4485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chemeClr val="bg1"/>
                </a:solidFill>
                <a:latin typeface="Aptos"/>
                <a:ea typeface="Calibri"/>
                <a:cs typeface="Calibri"/>
              </a:rPr>
              <a:t>Сценарии</a:t>
            </a:r>
            <a:endParaRPr lang="en-GB" sz="1400">
              <a:solidFill>
                <a:schemeClr val="bg1"/>
              </a:solidFill>
              <a:latin typeface="Aptos"/>
              <a:ea typeface="Calibri"/>
              <a:cs typeface="Calibri"/>
            </a:endParaRPr>
          </a:p>
        </p:txBody>
      </p:sp>
      <p:sp>
        <p:nvSpPr>
          <p:cNvPr id="26" name="Rectangle 31">
            <a:extLst>
              <a:ext uri="{FF2B5EF4-FFF2-40B4-BE49-F238E27FC236}">
                <a16:creationId xmlns:a16="http://schemas.microsoft.com/office/drawing/2014/main" id="{9BC33A8B-F642-4DF8-B219-E92969419064}"/>
              </a:ext>
            </a:extLst>
          </p:cNvPr>
          <p:cNvSpPr/>
          <p:nvPr/>
        </p:nvSpPr>
        <p:spPr>
          <a:xfrm>
            <a:off x="-1671" y="1298382"/>
            <a:ext cx="1442908" cy="4485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b="1">
                <a:solidFill>
                  <a:schemeClr val="bg1"/>
                </a:solidFill>
                <a:latin typeface="Aptos"/>
                <a:ea typeface="Calibri"/>
                <a:cs typeface="Calibri"/>
              </a:rPr>
              <a:t>Стъпки при среща</a:t>
            </a:r>
            <a:endParaRPr lang="bg-BG" sz="1400">
              <a:solidFill>
                <a:srgbClr val="000000"/>
              </a:solidFill>
              <a:latin typeface="Aptos"/>
              <a:ea typeface="Calibri"/>
              <a:cs typeface="Calibri"/>
            </a:endParaRPr>
          </a:p>
        </p:txBody>
      </p:sp>
      <p:sp>
        <p:nvSpPr>
          <p:cNvPr id="29" name="Rectangle 28">
            <a:extLst>
              <a:ext uri="{FF2B5EF4-FFF2-40B4-BE49-F238E27FC236}">
                <a16:creationId xmlns:a16="http://schemas.microsoft.com/office/drawing/2014/main" id="{ADF8B6F4-0C1C-4E79-9EF6-B458944B64E6}"/>
              </a:ext>
            </a:extLst>
          </p:cNvPr>
          <p:cNvSpPr/>
          <p:nvPr/>
        </p:nvSpPr>
        <p:spPr>
          <a:xfrm>
            <a:off x="-15827" y="690328"/>
            <a:ext cx="1465322"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FFFFFF"/>
                </a:solidFill>
                <a:latin typeface="Aptos"/>
                <a:ea typeface="Calibri"/>
                <a:cs typeface="Calibri"/>
              </a:rPr>
              <a:t>Подготовка</a:t>
            </a:r>
            <a:endParaRPr lang="en-GB" sz="1400">
              <a:solidFill>
                <a:srgbClr val="FFFFFF"/>
              </a:solidFill>
              <a:latin typeface="Aptos"/>
              <a:ea typeface="Calibri"/>
              <a:cs typeface="Calibri"/>
            </a:endParaRPr>
          </a:p>
        </p:txBody>
      </p:sp>
      <p:sp>
        <p:nvSpPr>
          <p:cNvPr id="30" name="Rectangle: Rounded Corners 29">
            <a:extLst>
              <a:ext uri="{FF2B5EF4-FFF2-40B4-BE49-F238E27FC236}">
                <a16:creationId xmlns:a16="http://schemas.microsoft.com/office/drawing/2014/main" id="{57062B37-A0FF-42E1-A95E-FD690C0A96EE}"/>
              </a:ext>
            </a:extLst>
          </p:cNvPr>
          <p:cNvSpPr/>
          <p:nvPr/>
        </p:nvSpPr>
        <p:spPr>
          <a:xfrm>
            <a:off x="1893066" y="1041323"/>
            <a:ext cx="2706332" cy="715919"/>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Агресивен</a:t>
            </a:r>
            <a:endParaRPr lang="en-GB" sz="1600"/>
          </a:p>
        </p:txBody>
      </p:sp>
      <p:sp>
        <p:nvSpPr>
          <p:cNvPr id="31" name="Rectangle: Rounded Corners 30">
            <a:extLst>
              <a:ext uri="{FF2B5EF4-FFF2-40B4-BE49-F238E27FC236}">
                <a16:creationId xmlns:a16="http://schemas.microsoft.com/office/drawing/2014/main" id="{651C11DD-5DED-4376-B3A1-CBC2F51876E8}"/>
              </a:ext>
            </a:extLst>
          </p:cNvPr>
          <p:cNvSpPr/>
          <p:nvPr/>
        </p:nvSpPr>
        <p:spPr>
          <a:xfrm>
            <a:off x="1893066" y="1871904"/>
            <a:ext cx="2706332" cy="705772"/>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Аналитичен</a:t>
            </a:r>
            <a:endParaRPr lang="en-GB" sz="1600"/>
          </a:p>
        </p:txBody>
      </p:sp>
      <p:sp>
        <p:nvSpPr>
          <p:cNvPr id="32" name="Rectangle: Rounded Corners 31">
            <a:extLst>
              <a:ext uri="{FF2B5EF4-FFF2-40B4-BE49-F238E27FC236}">
                <a16:creationId xmlns:a16="http://schemas.microsoft.com/office/drawing/2014/main" id="{4F798EF4-BE17-4149-B7CB-4DFB822D3187}"/>
              </a:ext>
            </a:extLst>
          </p:cNvPr>
          <p:cNvSpPr/>
          <p:nvPr/>
        </p:nvSpPr>
        <p:spPr>
          <a:xfrm>
            <a:off x="1893066" y="2692338"/>
            <a:ext cx="2706332" cy="699716"/>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Трудно схватлив</a:t>
            </a:r>
            <a:endParaRPr lang="en-GB" sz="1600"/>
          </a:p>
        </p:txBody>
      </p:sp>
      <p:sp>
        <p:nvSpPr>
          <p:cNvPr id="33" name="Rectangle 9">
            <a:extLst>
              <a:ext uri="{FF2B5EF4-FFF2-40B4-BE49-F238E27FC236}">
                <a16:creationId xmlns:a16="http://schemas.microsoft.com/office/drawing/2014/main" id="{594D4396-FD7C-4B41-A935-F102B87355BF}"/>
              </a:ext>
            </a:extLst>
          </p:cNvPr>
          <p:cNvSpPr/>
          <p:nvPr/>
        </p:nvSpPr>
        <p:spPr>
          <a:xfrm>
            <a:off x="1893066" y="3506716"/>
            <a:ext cx="2706332" cy="692699"/>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Злонамерен</a:t>
            </a:r>
            <a:endParaRPr lang="en-GB" sz="1600"/>
          </a:p>
        </p:txBody>
      </p:sp>
      <p:sp>
        <p:nvSpPr>
          <p:cNvPr id="34" name="Rectangle 11">
            <a:extLst>
              <a:ext uri="{FF2B5EF4-FFF2-40B4-BE49-F238E27FC236}">
                <a16:creationId xmlns:a16="http://schemas.microsoft.com/office/drawing/2014/main" id="{5F1E2D8B-4233-4599-B6D8-55EA8259D897}"/>
              </a:ext>
            </a:extLst>
          </p:cNvPr>
          <p:cNvSpPr/>
          <p:nvPr/>
        </p:nvSpPr>
        <p:spPr>
          <a:xfrm>
            <a:off x="1893066" y="4314076"/>
            <a:ext cx="2706332" cy="677242"/>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ВИП</a:t>
            </a:r>
            <a:endParaRPr lang="en-GB" sz="1600"/>
          </a:p>
        </p:txBody>
      </p:sp>
      <p:sp>
        <p:nvSpPr>
          <p:cNvPr id="35" name="Rectangle 9">
            <a:extLst>
              <a:ext uri="{FF2B5EF4-FFF2-40B4-BE49-F238E27FC236}">
                <a16:creationId xmlns:a16="http://schemas.microsoft.com/office/drawing/2014/main" id="{A0E8E9F1-4140-49D8-A99B-81012EFB54B2}"/>
              </a:ext>
            </a:extLst>
          </p:cNvPr>
          <p:cNvSpPr/>
          <p:nvPr/>
        </p:nvSpPr>
        <p:spPr>
          <a:xfrm>
            <a:off x="5053978" y="1872908"/>
            <a:ext cx="2706332" cy="705772"/>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Подозрителен</a:t>
            </a:r>
            <a:endParaRPr lang="en-GB" sz="1600"/>
          </a:p>
        </p:txBody>
      </p:sp>
      <p:sp>
        <p:nvSpPr>
          <p:cNvPr id="36" name="Rectangle 11">
            <a:extLst>
              <a:ext uri="{FF2B5EF4-FFF2-40B4-BE49-F238E27FC236}">
                <a16:creationId xmlns:a16="http://schemas.microsoft.com/office/drawing/2014/main" id="{DC5032D6-91D8-47D2-B738-D75866C7F259}"/>
              </a:ext>
            </a:extLst>
          </p:cNvPr>
          <p:cNvSpPr/>
          <p:nvPr/>
        </p:nvSpPr>
        <p:spPr>
          <a:xfrm>
            <a:off x="5053978" y="1041324"/>
            <a:ext cx="2706332" cy="715918"/>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Манипулативен</a:t>
            </a:r>
            <a:endParaRPr lang="en-GB" sz="1600"/>
          </a:p>
        </p:txBody>
      </p:sp>
      <p:sp>
        <p:nvSpPr>
          <p:cNvPr id="37" name="Rectangle 13">
            <a:extLst>
              <a:ext uri="{FF2B5EF4-FFF2-40B4-BE49-F238E27FC236}">
                <a16:creationId xmlns:a16="http://schemas.microsoft.com/office/drawing/2014/main" id="{C0034456-30C5-4257-845C-414F64C173C4}"/>
              </a:ext>
            </a:extLst>
          </p:cNvPr>
          <p:cNvSpPr/>
          <p:nvPr/>
        </p:nvSpPr>
        <p:spPr>
          <a:xfrm>
            <a:off x="5053978" y="2694346"/>
            <a:ext cx="2706332" cy="695699"/>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Нерешителен</a:t>
            </a:r>
            <a:endParaRPr lang="en-GB" sz="1600"/>
          </a:p>
        </p:txBody>
      </p:sp>
      <p:sp>
        <p:nvSpPr>
          <p:cNvPr id="38" name="Rectangle 9">
            <a:extLst>
              <a:ext uri="{FF2B5EF4-FFF2-40B4-BE49-F238E27FC236}">
                <a16:creationId xmlns:a16="http://schemas.microsoft.com/office/drawing/2014/main" id="{DA722C4C-2B5C-49B3-9B69-6CA47EADFEDD}"/>
              </a:ext>
            </a:extLst>
          </p:cNvPr>
          <p:cNvSpPr/>
          <p:nvPr/>
        </p:nvSpPr>
        <p:spPr>
          <a:xfrm>
            <a:off x="5053978" y="4314076"/>
            <a:ext cx="2706332" cy="677242"/>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Търсещ социален контакт</a:t>
            </a:r>
            <a:endParaRPr lang="en-GB" sz="1600"/>
          </a:p>
        </p:txBody>
      </p:sp>
      <p:sp>
        <p:nvSpPr>
          <p:cNvPr id="39" name="Rectangle 11">
            <a:extLst>
              <a:ext uri="{FF2B5EF4-FFF2-40B4-BE49-F238E27FC236}">
                <a16:creationId xmlns:a16="http://schemas.microsoft.com/office/drawing/2014/main" id="{CD9BEF81-A184-4714-92AF-34ACC2D93870}"/>
              </a:ext>
            </a:extLst>
          </p:cNvPr>
          <p:cNvSpPr/>
          <p:nvPr/>
        </p:nvSpPr>
        <p:spPr>
          <a:xfrm>
            <a:off x="5053978" y="3505711"/>
            <a:ext cx="2706332" cy="692699"/>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Импулсивен </a:t>
            </a:r>
            <a:endParaRPr lang="en-GB" sz="1600"/>
          </a:p>
        </p:txBody>
      </p:sp>
      <p:sp>
        <p:nvSpPr>
          <p:cNvPr id="21" name="Rectangle 3">
            <a:extLst>
              <a:ext uri="{FF2B5EF4-FFF2-40B4-BE49-F238E27FC236}">
                <a16:creationId xmlns:a16="http://schemas.microsoft.com/office/drawing/2014/main" id="{35B1B928-572A-41FD-86C3-B707EBE3AC34}"/>
              </a:ext>
            </a:extLst>
          </p:cNvPr>
          <p:cNvSpPr/>
          <p:nvPr/>
        </p:nvSpPr>
        <p:spPr>
          <a:xfrm>
            <a:off x="1443475" y="4245"/>
            <a:ext cx="5338363" cy="677242"/>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23" name="Rectangle 4">
            <a:extLst>
              <a:ext uri="{FF2B5EF4-FFF2-40B4-BE49-F238E27FC236}">
                <a16:creationId xmlns:a16="http://schemas.microsoft.com/office/drawing/2014/main" id="{505968F4-789F-4AAE-9287-0C183D9B942A}"/>
              </a:ext>
            </a:extLst>
          </p:cNvPr>
          <p:cNvSpPr/>
          <p:nvPr/>
        </p:nvSpPr>
        <p:spPr>
          <a:xfrm>
            <a:off x="6788435" y="4245"/>
            <a:ext cx="5417300" cy="677242"/>
          </a:xfrm>
          <a:prstGeom prst="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pic>
        <p:nvPicPr>
          <p:cNvPr id="40" name="Picture 39">
            <a:extLst>
              <a:ext uri="{FF2B5EF4-FFF2-40B4-BE49-F238E27FC236}">
                <a16:creationId xmlns:a16="http://schemas.microsoft.com/office/drawing/2014/main" id="{DE95A6FB-0C1A-4E1C-B99F-73E9C034D42D}"/>
              </a:ext>
            </a:extLst>
          </p:cNvPr>
          <p:cNvPicPr>
            <a:picLocks noChangeAspect="1"/>
          </p:cNvPicPr>
          <p:nvPr/>
        </p:nvPicPr>
        <p:blipFill>
          <a:blip r:embed="rId2"/>
          <a:stretch>
            <a:fillRect/>
          </a:stretch>
        </p:blipFill>
        <p:spPr>
          <a:xfrm>
            <a:off x="10883590" y="5621341"/>
            <a:ext cx="982751" cy="995681"/>
          </a:xfrm>
          <a:prstGeom prst="rect">
            <a:avLst/>
          </a:prstGeom>
        </p:spPr>
      </p:pic>
    </p:spTree>
    <p:extLst>
      <p:ext uri="{BB962C8B-B14F-4D97-AF65-F5344CB8AC3E}">
        <p14:creationId xmlns:p14="http://schemas.microsoft.com/office/powerpoint/2010/main" val="3007252018"/>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A43CD9-26BA-4CC5-E81E-CB672034D3D1}"/>
            </a:ext>
          </a:extLst>
        </p:cNvPr>
        <p:cNvGrpSpPr/>
        <p:nvPr/>
      </p:nvGrpSpPr>
      <p:grpSpPr>
        <a:xfrm>
          <a:off x="0" y="0"/>
          <a:ext cx="0" cy="0"/>
          <a:chOff x="0" y="0"/>
          <a:chExt cx="0" cy="0"/>
        </a:xfrm>
      </p:grpSpPr>
      <p:sp>
        <p:nvSpPr>
          <p:cNvPr id="20" name="Балонче за говор: правоъгълник със заоблени ъгли 19">
            <a:extLst>
              <a:ext uri="{FF2B5EF4-FFF2-40B4-BE49-F238E27FC236}">
                <a16:creationId xmlns:a16="http://schemas.microsoft.com/office/drawing/2014/main" id="{A11F27D1-DDD9-412A-7757-D83DD5C60979}"/>
              </a:ext>
            </a:extLst>
          </p:cNvPr>
          <p:cNvSpPr/>
          <p:nvPr/>
        </p:nvSpPr>
        <p:spPr>
          <a:xfrm>
            <a:off x="8214891" y="1012401"/>
            <a:ext cx="3426198" cy="3633381"/>
          </a:xfrm>
          <a:prstGeom prst="roundRect">
            <a:avLst>
              <a:gd name="adj" fmla="val 7673"/>
            </a:avLst>
          </a:prstGeom>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ru-RU" sz="1400" b="1"/>
              <a:t>Търсещ социален контакт</a:t>
            </a:r>
          </a:p>
          <a:p>
            <a:r>
              <a:rPr lang="ru-RU" sz="1400" b="1">
                <a:ea typeface="+mn-lt"/>
                <a:cs typeface="+mn-lt"/>
              </a:rPr>
              <a:t>Характеристики:</a:t>
            </a:r>
            <a:endParaRPr lang="ru-RU"/>
          </a:p>
          <a:p>
            <a:pPr marL="285750" indent="-285750">
              <a:buFont typeface="Arial"/>
              <a:buChar char="•"/>
            </a:pPr>
            <a:r>
              <a:rPr lang="ru-RU" sz="1400">
                <a:ea typeface="+mn-lt"/>
                <a:cs typeface="+mn-lt"/>
              </a:rPr>
              <a:t>Обичат да говорят </a:t>
            </a:r>
            <a:endParaRPr lang="ru-RU"/>
          </a:p>
          <a:p>
            <a:pPr marL="285750" indent="-285750">
              <a:buFont typeface="Arial"/>
              <a:buChar char="•"/>
            </a:pPr>
            <a:r>
              <a:rPr lang="ru-RU" sz="1400">
                <a:ea typeface="+mn-lt"/>
                <a:cs typeface="+mn-lt"/>
              </a:rPr>
              <a:t>Лесно създават връзка </a:t>
            </a:r>
            <a:endParaRPr lang="ru-RU"/>
          </a:p>
          <a:p>
            <a:pPr marL="285750" indent="-285750">
              <a:buFont typeface="Arial"/>
              <a:buChar char="•"/>
            </a:pPr>
            <a:r>
              <a:rPr lang="ru-RU" sz="1400">
                <a:ea typeface="+mn-lt"/>
                <a:cs typeface="+mn-lt"/>
              </a:rPr>
              <a:t>Общителни </a:t>
            </a:r>
            <a:endParaRPr lang="ru-RU"/>
          </a:p>
          <a:p>
            <a:pPr marL="285750" indent="-285750">
              <a:buFont typeface="Arial"/>
              <a:buChar char="•"/>
            </a:pPr>
            <a:r>
              <a:rPr lang="ru-RU" sz="1400">
                <a:ea typeface="+mn-lt"/>
                <a:cs typeface="+mn-lt"/>
              </a:rPr>
              <a:t>Чувстват се добре сред хора </a:t>
            </a:r>
            <a:endParaRPr lang="ru-RU"/>
          </a:p>
          <a:p>
            <a:pPr marL="285750" indent="-285750">
              <a:buFont typeface="Arial"/>
              <a:buChar char="•"/>
            </a:pPr>
            <a:r>
              <a:rPr lang="ru-RU" sz="1400">
                <a:ea typeface="+mn-lt"/>
                <a:cs typeface="+mn-lt"/>
              </a:rPr>
              <a:t>Могат да се разсейват </a:t>
            </a:r>
            <a:endParaRPr lang="ru-RU"/>
          </a:p>
          <a:p>
            <a:r>
              <a:rPr lang="ru-RU" sz="1400" b="1">
                <a:ea typeface="+mn-lt"/>
                <a:cs typeface="+mn-lt"/>
              </a:rPr>
              <a:t>Предпочитана комуникация:</a:t>
            </a:r>
            <a:endParaRPr lang="ru-RU"/>
          </a:p>
          <a:p>
            <a:pPr marL="285750" indent="-285750">
              <a:buFont typeface="Arial"/>
              <a:buChar char="•"/>
            </a:pPr>
            <a:r>
              <a:rPr lang="ru-RU" sz="1400">
                <a:ea typeface="+mn-lt"/>
                <a:cs typeface="+mn-lt"/>
              </a:rPr>
              <a:t>Приятелско отношение </a:t>
            </a:r>
            <a:endParaRPr lang="ru-RU"/>
          </a:p>
          <a:p>
            <a:pPr marL="285750" indent="-285750">
              <a:buFont typeface="Arial"/>
              <a:buChar char="•"/>
            </a:pPr>
            <a:r>
              <a:rPr lang="ru-RU" sz="1400">
                <a:ea typeface="+mn-lt"/>
                <a:cs typeface="+mn-lt"/>
              </a:rPr>
              <a:t>Дай им пространство да говорят </a:t>
            </a:r>
            <a:endParaRPr lang="ru-RU"/>
          </a:p>
          <a:p>
            <a:pPr marL="285750" indent="-285750">
              <a:buFont typeface="Arial"/>
              <a:buChar char="•"/>
            </a:pPr>
            <a:r>
              <a:rPr lang="ru-RU" sz="1400">
                <a:ea typeface="+mn-lt"/>
                <a:cs typeface="+mn-lt"/>
              </a:rPr>
              <a:t>Насочвай разговора внимателно </a:t>
            </a:r>
            <a:endParaRPr lang="ru-RU"/>
          </a:p>
          <a:p>
            <a:pPr marL="285750" indent="-285750">
              <a:buFont typeface="Arial"/>
              <a:buChar char="•"/>
            </a:pPr>
            <a:r>
              <a:rPr lang="ru-RU" sz="1400">
                <a:ea typeface="+mn-lt"/>
                <a:cs typeface="+mn-lt"/>
              </a:rPr>
              <a:t>Остави добро впечатление </a:t>
            </a:r>
            <a:endParaRPr lang="ru-RU"/>
          </a:p>
          <a:p>
            <a:pPr marL="285750" indent="-285750">
              <a:buFont typeface="Arial"/>
              <a:buChar char="•"/>
            </a:pPr>
            <a:r>
              <a:rPr lang="ru-RU" sz="1400">
                <a:ea typeface="+mn-lt"/>
                <a:cs typeface="+mn-lt"/>
              </a:rPr>
              <a:t>Води към решение без да ги прекъсваш рязко</a:t>
            </a:r>
            <a:endParaRPr lang="ru-RU"/>
          </a:p>
          <a:p>
            <a:endParaRPr lang="ru-RU" sz="1400" b="1"/>
          </a:p>
        </p:txBody>
      </p:sp>
      <p:sp>
        <p:nvSpPr>
          <p:cNvPr id="22" name="Rectangle 28">
            <a:extLst>
              <a:ext uri="{FF2B5EF4-FFF2-40B4-BE49-F238E27FC236}">
                <a16:creationId xmlns:a16="http://schemas.microsoft.com/office/drawing/2014/main" id="{0736983A-43CA-4255-927A-F8F64AA6B846}"/>
              </a:ext>
            </a:extLst>
          </p:cNvPr>
          <p:cNvSpPr/>
          <p:nvPr/>
        </p:nvSpPr>
        <p:spPr>
          <a:xfrm>
            <a:off x="-15824" y="1599"/>
            <a:ext cx="1465320" cy="6859628"/>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bg-BG" sz="1400">
              <a:latin typeface="Aptos"/>
              <a:ea typeface="Calibri"/>
              <a:cs typeface="Calibri"/>
            </a:endParaRPr>
          </a:p>
        </p:txBody>
      </p:sp>
      <p:sp>
        <p:nvSpPr>
          <p:cNvPr id="24" name="Rectangle 29">
            <a:extLst>
              <a:ext uri="{FF2B5EF4-FFF2-40B4-BE49-F238E27FC236}">
                <a16:creationId xmlns:a16="http://schemas.microsoft.com/office/drawing/2014/main" id="{34606510-574C-4B8D-8C2E-F68BE02F8846}"/>
              </a:ext>
            </a:extLst>
          </p:cNvPr>
          <p:cNvSpPr/>
          <p:nvPr/>
        </p:nvSpPr>
        <p:spPr>
          <a:xfrm>
            <a:off x="-1671" y="2528038"/>
            <a:ext cx="1442908" cy="448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002060"/>
                </a:solidFill>
                <a:latin typeface="Aptos"/>
                <a:ea typeface="Calibri"/>
                <a:cs typeface="Calibri"/>
              </a:rPr>
              <a:t>Типове клиенти</a:t>
            </a:r>
            <a:endParaRPr lang="en-GB" sz="1400">
              <a:solidFill>
                <a:srgbClr val="002060"/>
              </a:solidFill>
              <a:latin typeface="Aptos"/>
              <a:ea typeface="Calibri"/>
              <a:cs typeface="Calibri"/>
            </a:endParaRPr>
          </a:p>
        </p:txBody>
      </p:sp>
      <p:sp>
        <p:nvSpPr>
          <p:cNvPr id="25" name="Rectangle 30">
            <a:extLst>
              <a:ext uri="{FF2B5EF4-FFF2-40B4-BE49-F238E27FC236}">
                <a16:creationId xmlns:a16="http://schemas.microsoft.com/office/drawing/2014/main" id="{80EC2EB1-7D9E-4CBA-9D0F-9F9326F6B309}"/>
              </a:ext>
            </a:extLst>
          </p:cNvPr>
          <p:cNvSpPr/>
          <p:nvPr/>
        </p:nvSpPr>
        <p:spPr>
          <a:xfrm>
            <a:off x="8626" y="1913210"/>
            <a:ext cx="1442908" cy="4485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chemeClr val="bg1"/>
                </a:solidFill>
                <a:latin typeface="Aptos"/>
                <a:ea typeface="Calibri"/>
                <a:cs typeface="Calibri"/>
              </a:rPr>
              <a:t>Сценарии</a:t>
            </a:r>
            <a:endParaRPr lang="en-GB" sz="1400">
              <a:solidFill>
                <a:schemeClr val="bg1"/>
              </a:solidFill>
              <a:latin typeface="Aptos"/>
              <a:ea typeface="Calibri"/>
              <a:cs typeface="Calibri"/>
            </a:endParaRPr>
          </a:p>
        </p:txBody>
      </p:sp>
      <p:sp>
        <p:nvSpPr>
          <p:cNvPr id="26" name="Rectangle 31">
            <a:extLst>
              <a:ext uri="{FF2B5EF4-FFF2-40B4-BE49-F238E27FC236}">
                <a16:creationId xmlns:a16="http://schemas.microsoft.com/office/drawing/2014/main" id="{1F9716D3-9AFB-4A82-BD8F-00D417D6BE10}"/>
              </a:ext>
            </a:extLst>
          </p:cNvPr>
          <p:cNvSpPr/>
          <p:nvPr/>
        </p:nvSpPr>
        <p:spPr>
          <a:xfrm>
            <a:off x="-1671" y="1298382"/>
            <a:ext cx="1442908" cy="4485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bg-BG" sz="1400" b="1">
                <a:solidFill>
                  <a:schemeClr val="bg1"/>
                </a:solidFill>
                <a:latin typeface="Aptos"/>
                <a:ea typeface="Calibri"/>
                <a:cs typeface="Calibri"/>
              </a:rPr>
              <a:t>Стъпки при среща</a:t>
            </a:r>
          </a:p>
        </p:txBody>
      </p:sp>
      <p:sp>
        <p:nvSpPr>
          <p:cNvPr id="29" name="Rectangle 28">
            <a:extLst>
              <a:ext uri="{FF2B5EF4-FFF2-40B4-BE49-F238E27FC236}">
                <a16:creationId xmlns:a16="http://schemas.microsoft.com/office/drawing/2014/main" id="{07DF228F-5496-4402-849A-E9B199776730}"/>
              </a:ext>
            </a:extLst>
          </p:cNvPr>
          <p:cNvSpPr/>
          <p:nvPr/>
        </p:nvSpPr>
        <p:spPr>
          <a:xfrm>
            <a:off x="-15827" y="690328"/>
            <a:ext cx="1465322" cy="455898"/>
          </a:xfrm>
          <a:prstGeom prst="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sz="1400">
                <a:solidFill>
                  <a:srgbClr val="FFFFFF"/>
                </a:solidFill>
                <a:latin typeface="Aptos"/>
                <a:ea typeface="Calibri"/>
                <a:cs typeface="Calibri"/>
              </a:rPr>
              <a:t>Подготовка</a:t>
            </a:r>
            <a:endParaRPr lang="en-GB" sz="1400">
              <a:solidFill>
                <a:srgbClr val="FFFFFF"/>
              </a:solidFill>
              <a:latin typeface="Aptos"/>
              <a:ea typeface="Calibri"/>
              <a:cs typeface="Calibri"/>
            </a:endParaRPr>
          </a:p>
        </p:txBody>
      </p:sp>
      <p:sp>
        <p:nvSpPr>
          <p:cNvPr id="30" name="Rectangle: Rounded Corners 29">
            <a:extLst>
              <a:ext uri="{FF2B5EF4-FFF2-40B4-BE49-F238E27FC236}">
                <a16:creationId xmlns:a16="http://schemas.microsoft.com/office/drawing/2014/main" id="{3ABA9161-1A02-4BE2-8929-CFD7E72B3E4B}"/>
              </a:ext>
            </a:extLst>
          </p:cNvPr>
          <p:cNvSpPr/>
          <p:nvPr/>
        </p:nvSpPr>
        <p:spPr>
          <a:xfrm>
            <a:off x="1893066" y="1041323"/>
            <a:ext cx="2706332" cy="715919"/>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Агресивен</a:t>
            </a:r>
            <a:endParaRPr lang="en-GB" sz="1600"/>
          </a:p>
        </p:txBody>
      </p:sp>
      <p:sp>
        <p:nvSpPr>
          <p:cNvPr id="31" name="Rectangle: Rounded Corners 30">
            <a:extLst>
              <a:ext uri="{FF2B5EF4-FFF2-40B4-BE49-F238E27FC236}">
                <a16:creationId xmlns:a16="http://schemas.microsoft.com/office/drawing/2014/main" id="{7BA3F27F-7019-4F26-992F-FE74A688EB49}"/>
              </a:ext>
            </a:extLst>
          </p:cNvPr>
          <p:cNvSpPr/>
          <p:nvPr/>
        </p:nvSpPr>
        <p:spPr>
          <a:xfrm>
            <a:off x="1893066" y="1871904"/>
            <a:ext cx="2706332" cy="705772"/>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Аналитичен</a:t>
            </a:r>
            <a:endParaRPr lang="en-GB" sz="1600"/>
          </a:p>
        </p:txBody>
      </p:sp>
      <p:sp>
        <p:nvSpPr>
          <p:cNvPr id="32" name="Rectangle: Rounded Corners 31">
            <a:extLst>
              <a:ext uri="{FF2B5EF4-FFF2-40B4-BE49-F238E27FC236}">
                <a16:creationId xmlns:a16="http://schemas.microsoft.com/office/drawing/2014/main" id="{0FA9A639-DBB8-4A4B-8D9D-2AF7040336A2}"/>
              </a:ext>
            </a:extLst>
          </p:cNvPr>
          <p:cNvSpPr/>
          <p:nvPr/>
        </p:nvSpPr>
        <p:spPr>
          <a:xfrm>
            <a:off x="1893066" y="2692338"/>
            <a:ext cx="2706332" cy="699716"/>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Трудно схватлив</a:t>
            </a:r>
            <a:endParaRPr lang="en-GB" sz="1600"/>
          </a:p>
        </p:txBody>
      </p:sp>
      <p:sp>
        <p:nvSpPr>
          <p:cNvPr id="33" name="Rectangle 9">
            <a:extLst>
              <a:ext uri="{FF2B5EF4-FFF2-40B4-BE49-F238E27FC236}">
                <a16:creationId xmlns:a16="http://schemas.microsoft.com/office/drawing/2014/main" id="{1D207626-E951-47D8-8052-A69B8EB3246C}"/>
              </a:ext>
            </a:extLst>
          </p:cNvPr>
          <p:cNvSpPr/>
          <p:nvPr/>
        </p:nvSpPr>
        <p:spPr>
          <a:xfrm>
            <a:off x="1893066" y="3506716"/>
            <a:ext cx="2706332" cy="692699"/>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Злонамерен</a:t>
            </a:r>
            <a:endParaRPr lang="en-GB" sz="1600"/>
          </a:p>
        </p:txBody>
      </p:sp>
      <p:sp>
        <p:nvSpPr>
          <p:cNvPr id="34" name="Rectangle 11">
            <a:extLst>
              <a:ext uri="{FF2B5EF4-FFF2-40B4-BE49-F238E27FC236}">
                <a16:creationId xmlns:a16="http://schemas.microsoft.com/office/drawing/2014/main" id="{03D66CBF-D297-4FFD-A941-4DD6D5F6ADD5}"/>
              </a:ext>
            </a:extLst>
          </p:cNvPr>
          <p:cNvSpPr/>
          <p:nvPr/>
        </p:nvSpPr>
        <p:spPr>
          <a:xfrm>
            <a:off x="1893066" y="4314076"/>
            <a:ext cx="2706332" cy="677242"/>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ВИП</a:t>
            </a:r>
            <a:endParaRPr lang="en-GB" sz="1600"/>
          </a:p>
        </p:txBody>
      </p:sp>
      <p:sp>
        <p:nvSpPr>
          <p:cNvPr id="35" name="Rectangle 9">
            <a:extLst>
              <a:ext uri="{FF2B5EF4-FFF2-40B4-BE49-F238E27FC236}">
                <a16:creationId xmlns:a16="http://schemas.microsoft.com/office/drawing/2014/main" id="{C2021D89-CE2E-4890-9A08-DF873DF90921}"/>
              </a:ext>
            </a:extLst>
          </p:cNvPr>
          <p:cNvSpPr/>
          <p:nvPr/>
        </p:nvSpPr>
        <p:spPr>
          <a:xfrm>
            <a:off x="5053978" y="1872908"/>
            <a:ext cx="2706332" cy="705772"/>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Подозрителен</a:t>
            </a:r>
            <a:endParaRPr lang="en-GB" sz="1600"/>
          </a:p>
        </p:txBody>
      </p:sp>
      <p:sp>
        <p:nvSpPr>
          <p:cNvPr id="36" name="Rectangle 11">
            <a:extLst>
              <a:ext uri="{FF2B5EF4-FFF2-40B4-BE49-F238E27FC236}">
                <a16:creationId xmlns:a16="http://schemas.microsoft.com/office/drawing/2014/main" id="{85030444-76DC-42BB-898D-C93248CEB30A}"/>
              </a:ext>
            </a:extLst>
          </p:cNvPr>
          <p:cNvSpPr/>
          <p:nvPr/>
        </p:nvSpPr>
        <p:spPr>
          <a:xfrm>
            <a:off x="5053978" y="1041324"/>
            <a:ext cx="2706332" cy="715918"/>
          </a:xfrm>
          <a:prstGeom prst="roundRect">
            <a:avLst/>
          </a:prstGeom>
          <a:solidFill>
            <a:srgbClr val="A5A5A5"/>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Манипулативен</a:t>
            </a:r>
            <a:endParaRPr lang="en-GB" sz="1600"/>
          </a:p>
        </p:txBody>
      </p:sp>
      <p:sp>
        <p:nvSpPr>
          <p:cNvPr id="37" name="Rectangle 13">
            <a:extLst>
              <a:ext uri="{FF2B5EF4-FFF2-40B4-BE49-F238E27FC236}">
                <a16:creationId xmlns:a16="http://schemas.microsoft.com/office/drawing/2014/main" id="{5CE29D25-0525-49E9-8265-A59300DB3CF8}"/>
              </a:ext>
            </a:extLst>
          </p:cNvPr>
          <p:cNvSpPr/>
          <p:nvPr/>
        </p:nvSpPr>
        <p:spPr>
          <a:xfrm>
            <a:off x="5053978" y="2694346"/>
            <a:ext cx="2706332" cy="695699"/>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Нерешителен</a:t>
            </a:r>
            <a:endParaRPr lang="en-GB" sz="1600"/>
          </a:p>
        </p:txBody>
      </p:sp>
      <p:sp>
        <p:nvSpPr>
          <p:cNvPr id="38" name="Rectangle 9">
            <a:extLst>
              <a:ext uri="{FF2B5EF4-FFF2-40B4-BE49-F238E27FC236}">
                <a16:creationId xmlns:a16="http://schemas.microsoft.com/office/drawing/2014/main" id="{EFCC7A20-752E-4A37-AFA4-C8ADB52FE743}"/>
              </a:ext>
            </a:extLst>
          </p:cNvPr>
          <p:cNvSpPr/>
          <p:nvPr/>
        </p:nvSpPr>
        <p:spPr>
          <a:xfrm>
            <a:off x="5053978" y="4314076"/>
            <a:ext cx="2706332" cy="677242"/>
          </a:xfrm>
          <a:prstGeom prst="round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Търсещ социален контакт</a:t>
            </a:r>
            <a:endParaRPr lang="en-GB" sz="1600"/>
          </a:p>
        </p:txBody>
      </p:sp>
      <p:sp>
        <p:nvSpPr>
          <p:cNvPr id="39" name="Rectangle 11">
            <a:extLst>
              <a:ext uri="{FF2B5EF4-FFF2-40B4-BE49-F238E27FC236}">
                <a16:creationId xmlns:a16="http://schemas.microsoft.com/office/drawing/2014/main" id="{9D6B0CF1-775A-4B18-A3A0-19FEBB0FF46A}"/>
              </a:ext>
            </a:extLst>
          </p:cNvPr>
          <p:cNvSpPr/>
          <p:nvPr/>
        </p:nvSpPr>
        <p:spPr>
          <a:xfrm>
            <a:off x="5053978" y="3505711"/>
            <a:ext cx="2706332" cy="692699"/>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sz="1600"/>
              <a:t>Импулсивен </a:t>
            </a:r>
            <a:endParaRPr lang="en-GB" sz="1600"/>
          </a:p>
        </p:txBody>
      </p:sp>
      <p:sp>
        <p:nvSpPr>
          <p:cNvPr id="21" name="Rectangle 3">
            <a:extLst>
              <a:ext uri="{FF2B5EF4-FFF2-40B4-BE49-F238E27FC236}">
                <a16:creationId xmlns:a16="http://schemas.microsoft.com/office/drawing/2014/main" id="{003E2BEC-D86F-434C-BC7F-EA0273A0B619}"/>
              </a:ext>
            </a:extLst>
          </p:cNvPr>
          <p:cNvSpPr/>
          <p:nvPr/>
        </p:nvSpPr>
        <p:spPr>
          <a:xfrm>
            <a:off x="1443475" y="4245"/>
            <a:ext cx="5338363" cy="677242"/>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bg-BG">
                <a:latin typeface="Aptos"/>
                <a:ea typeface="Calibri"/>
                <a:cs typeface="Calibri"/>
              </a:rPr>
              <a:t>Обаждане на клиента</a:t>
            </a:r>
            <a:endParaRPr lang="en-GB">
              <a:latin typeface="Aptos"/>
              <a:ea typeface="Calibri"/>
              <a:cs typeface="Calibri"/>
            </a:endParaRPr>
          </a:p>
        </p:txBody>
      </p:sp>
      <p:sp>
        <p:nvSpPr>
          <p:cNvPr id="23" name="Rectangle 4">
            <a:extLst>
              <a:ext uri="{FF2B5EF4-FFF2-40B4-BE49-F238E27FC236}">
                <a16:creationId xmlns:a16="http://schemas.microsoft.com/office/drawing/2014/main" id="{3BF7802B-6970-4F36-B5FA-E30A7510BFA9}"/>
              </a:ext>
            </a:extLst>
          </p:cNvPr>
          <p:cNvSpPr/>
          <p:nvPr/>
        </p:nvSpPr>
        <p:spPr>
          <a:xfrm>
            <a:off x="6788435" y="4245"/>
            <a:ext cx="5417300" cy="677242"/>
          </a:xfrm>
          <a:prstGeom prst="rect">
            <a:avLst/>
          </a:prstGeom>
          <a:solidFill>
            <a:srgbClr val="4472C4"/>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bg-BG">
                <a:latin typeface="Aptos"/>
                <a:ea typeface="Calibri"/>
                <a:cs typeface="Calibri"/>
              </a:rPr>
              <a:t>Среща с клиента</a:t>
            </a:r>
            <a:endParaRPr lang="en-GB">
              <a:latin typeface="Aptos"/>
              <a:ea typeface="Calibri"/>
              <a:cs typeface="Calibri"/>
            </a:endParaRPr>
          </a:p>
        </p:txBody>
      </p:sp>
      <p:pic>
        <p:nvPicPr>
          <p:cNvPr id="40" name="Picture 39">
            <a:extLst>
              <a:ext uri="{FF2B5EF4-FFF2-40B4-BE49-F238E27FC236}">
                <a16:creationId xmlns:a16="http://schemas.microsoft.com/office/drawing/2014/main" id="{4AF939AD-A2A6-4CB8-B4F5-7584FAEF58FD}"/>
              </a:ext>
            </a:extLst>
          </p:cNvPr>
          <p:cNvPicPr>
            <a:picLocks noChangeAspect="1"/>
          </p:cNvPicPr>
          <p:nvPr/>
        </p:nvPicPr>
        <p:blipFill>
          <a:blip r:embed="rId2"/>
          <a:stretch>
            <a:fillRect/>
          </a:stretch>
        </p:blipFill>
        <p:spPr>
          <a:xfrm>
            <a:off x="10883590" y="5621341"/>
            <a:ext cx="982751" cy="995681"/>
          </a:xfrm>
          <a:prstGeom prst="rect">
            <a:avLst/>
          </a:prstGeom>
        </p:spPr>
      </p:pic>
    </p:spTree>
    <p:extLst>
      <p:ext uri="{BB962C8B-B14F-4D97-AF65-F5344CB8AC3E}">
        <p14:creationId xmlns:p14="http://schemas.microsoft.com/office/powerpoint/2010/main" val="3843213166"/>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D5EE63-3822-8A36-7DA2-F6B9BE89C9F7}"/>
            </a:ext>
          </a:extLst>
        </p:cNvPr>
        <p:cNvGrpSpPr/>
        <p:nvPr/>
      </p:nvGrpSpPr>
      <p:grpSpPr>
        <a:xfrm>
          <a:off x="0" y="0"/>
          <a:ext cx="0" cy="0"/>
          <a:chOff x="0" y="0"/>
          <a:chExt cx="0" cy="0"/>
        </a:xfrm>
      </p:grpSpPr>
      <p:grpSp>
        <p:nvGrpSpPr>
          <p:cNvPr id="3" name="Групиране 2">
            <a:extLst>
              <a:ext uri="{FF2B5EF4-FFF2-40B4-BE49-F238E27FC236}">
                <a16:creationId xmlns:a16="http://schemas.microsoft.com/office/drawing/2014/main" id="{A5983556-B657-C52B-6106-08A46FF841AC}"/>
              </a:ext>
            </a:extLst>
          </p:cNvPr>
          <p:cNvGrpSpPr/>
          <p:nvPr/>
        </p:nvGrpSpPr>
        <p:grpSpPr>
          <a:xfrm>
            <a:off x="337598" y="1546173"/>
            <a:ext cx="5689505" cy="3162464"/>
            <a:chOff x="1334922" y="1120350"/>
            <a:chExt cx="4680976" cy="2602171"/>
          </a:xfrm>
        </p:grpSpPr>
        <p:pic>
          <p:nvPicPr>
            <p:cNvPr id="2" name="Картина 1" descr="Картина, която съдържа текст, екранна снимка, Шрифт, номер&#10;&#10;Генерирано от ИИ съдържание може да е неправилно.">
              <a:extLst>
                <a:ext uri="{FF2B5EF4-FFF2-40B4-BE49-F238E27FC236}">
                  <a16:creationId xmlns:a16="http://schemas.microsoft.com/office/drawing/2014/main" id="{50BBB7C6-DDFB-AF79-7B1E-1C4EE012BE52}"/>
                </a:ext>
              </a:extLst>
            </p:cNvPr>
            <p:cNvPicPr>
              <a:picLocks noChangeAspect="1"/>
            </p:cNvPicPr>
            <p:nvPr/>
          </p:nvPicPr>
          <p:blipFill>
            <a:blip r:embed="rId3"/>
            <a:stretch>
              <a:fillRect/>
            </a:stretch>
          </p:blipFill>
          <p:spPr>
            <a:xfrm>
              <a:off x="1334922" y="1120350"/>
              <a:ext cx="4680976" cy="2602171"/>
            </a:xfrm>
            <a:prstGeom prst="roundRect">
              <a:avLst>
                <a:gd name="adj" fmla="val 7166"/>
              </a:avLst>
            </a:prstGeom>
            <a:solidFill>
              <a:srgbClr val="FFFFFF">
                <a:shade val="85000"/>
              </a:srgbClr>
            </a:solidFill>
            <a:ln>
              <a:noFill/>
            </a:ln>
            <a:effectLst>
              <a:outerShdw blurRad="50800" dist="38100" dir="13500000" algn="br" rotWithShape="0">
                <a:prstClr val="black">
                  <a:alpha val="40000"/>
                </a:prstClr>
              </a:outerShdw>
            </a:effectLst>
          </p:spPr>
        </p:pic>
        <p:pic>
          <p:nvPicPr>
            <p:cNvPr id="10" name="Picture 39" descr="Картина, която съдържа кръг&#10;&#10;Генерирано от ИИ съдържание може да е неправилно.">
              <a:extLst>
                <a:ext uri="{FF2B5EF4-FFF2-40B4-BE49-F238E27FC236}">
                  <a16:creationId xmlns:a16="http://schemas.microsoft.com/office/drawing/2014/main" id="{D8CECBCB-084A-3372-0D66-74EAC7214FE1}"/>
                </a:ext>
              </a:extLst>
            </p:cNvPr>
            <p:cNvPicPr>
              <a:picLocks noChangeAspect="1"/>
            </p:cNvPicPr>
            <p:nvPr/>
          </p:nvPicPr>
          <p:blipFill>
            <a:blip r:embed="rId4"/>
            <a:stretch>
              <a:fillRect/>
            </a:stretch>
          </p:blipFill>
          <p:spPr>
            <a:xfrm>
              <a:off x="5374030" y="3143034"/>
              <a:ext cx="458365" cy="471295"/>
            </a:xfrm>
            <a:prstGeom prst="rect">
              <a:avLst/>
            </a:prstGeom>
          </p:spPr>
        </p:pic>
      </p:grpSp>
      <p:sp>
        <p:nvSpPr>
          <p:cNvPr id="9" name="TextBox 1">
            <a:extLst>
              <a:ext uri="{FF2B5EF4-FFF2-40B4-BE49-F238E27FC236}">
                <a16:creationId xmlns:a16="http://schemas.microsoft.com/office/drawing/2014/main" id="{D8ED371A-EF44-F176-8E0D-F5CF39E4CDD0}"/>
              </a:ext>
            </a:extLst>
          </p:cNvPr>
          <p:cNvSpPr txBox="1"/>
          <p:nvPr/>
        </p:nvSpPr>
        <p:spPr>
          <a:xfrm>
            <a:off x="987553" y="481073"/>
            <a:ext cx="10012855" cy="584775"/>
          </a:xfrm>
          <a:prstGeom prst="rect">
            <a:avLst/>
          </a:prstGeom>
          <a:noFill/>
        </p:spPr>
        <p:txBody>
          <a:bodyPr wrap="square" lIns="91440" tIns="45720" rIns="91440" bIns="45720" rtlCol="0" anchor="t">
            <a:spAutoFit/>
          </a:bodyPr>
          <a:lstStyle/>
          <a:p>
            <a:pPr algn="ctr"/>
            <a:r>
              <a:rPr lang="bg-BG" sz="3200" b="1"/>
              <a:t>Примерна визуализация - Десктоп навигатор</a:t>
            </a:r>
          </a:p>
        </p:txBody>
      </p:sp>
    </p:spTree>
    <p:extLst>
      <p:ext uri="{BB962C8B-B14F-4D97-AF65-F5344CB8AC3E}">
        <p14:creationId xmlns:p14="http://schemas.microsoft.com/office/powerpoint/2010/main" val="592024212"/>
      </p:ext>
    </p:extLst>
  </p:cSld>
  <p:clrMapOvr>
    <a:masterClrMapping/>
  </p:clrMapOvr>
  <p:extLst>
    <p:ext uri="{6950BFC3-D8DA-4A85-94F7-54DA5524770B}">
      <p188:commentRel xmlns:p188="http://schemas.microsoft.com/office/powerpoint/2018/8/main" r:id="rId2"/>
    </p:ext>
  </p:extLst>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D0710F2-7EE9-46A0-848A-5BED23A8F6B3}"/>
              </a:ext>
            </a:extLst>
          </p:cNvPr>
          <p:cNvSpPr txBox="1"/>
          <p:nvPr/>
        </p:nvSpPr>
        <p:spPr>
          <a:xfrm>
            <a:off x="987553" y="481073"/>
            <a:ext cx="10012855" cy="584775"/>
          </a:xfrm>
          <a:prstGeom prst="rect">
            <a:avLst/>
          </a:prstGeom>
          <a:noFill/>
        </p:spPr>
        <p:txBody>
          <a:bodyPr wrap="square" lIns="91440" tIns="45720" rIns="91440" bIns="45720" rtlCol="0" anchor="t">
            <a:spAutoFit/>
          </a:bodyPr>
          <a:lstStyle/>
          <a:p>
            <a:pPr algn="ctr"/>
            <a:r>
              <a:rPr lang="bg-BG" sz="3200" b="1"/>
              <a:t>Примерна визуализация - Десктоп навигатор</a:t>
            </a:r>
          </a:p>
        </p:txBody>
      </p:sp>
      <p:pic>
        <p:nvPicPr>
          <p:cNvPr id="4" name="Picture 3">
            <a:extLst>
              <a:ext uri="{FF2B5EF4-FFF2-40B4-BE49-F238E27FC236}">
                <a16:creationId xmlns:a16="http://schemas.microsoft.com/office/drawing/2014/main" id="{1726AD0D-EFB3-489E-9563-79307BADE131}"/>
              </a:ext>
            </a:extLst>
          </p:cNvPr>
          <p:cNvPicPr>
            <a:picLocks noChangeAspect="1"/>
          </p:cNvPicPr>
          <p:nvPr/>
        </p:nvPicPr>
        <p:blipFill>
          <a:blip r:embed="rId3"/>
          <a:stretch>
            <a:fillRect/>
          </a:stretch>
        </p:blipFill>
        <p:spPr>
          <a:xfrm>
            <a:off x="382435" y="1588714"/>
            <a:ext cx="5607486" cy="3123010"/>
          </a:xfrm>
          <a:prstGeom prst="roundRect">
            <a:avLst>
              <a:gd name="adj" fmla="val 7166"/>
            </a:avLst>
          </a:prstGeom>
          <a:solidFill>
            <a:srgbClr val="FFFFFF">
              <a:shade val="85000"/>
            </a:srgbClr>
          </a:solidFill>
          <a:ln>
            <a:noFill/>
          </a:ln>
          <a:effectLst>
            <a:outerShdw blurRad="50800" dist="38100" dir="13500000" algn="br" rotWithShape="0">
              <a:prstClr val="black">
                <a:alpha val="40000"/>
              </a:prstClr>
            </a:outerShdw>
          </a:effectLst>
        </p:spPr>
      </p:pic>
      <p:pic>
        <p:nvPicPr>
          <p:cNvPr id="10" name="Picture 9">
            <a:extLst>
              <a:ext uri="{FF2B5EF4-FFF2-40B4-BE49-F238E27FC236}">
                <a16:creationId xmlns:a16="http://schemas.microsoft.com/office/drawing/2014/main" id="{46C2FF77-B67E-40B1-9763-7D798B238B23}"/>
              </a:ext>
            </a:extLst>
          </p:cNvPr>
          <p:cNvPicPr>
            <a:picLocks noChangeAspect="1"/>
          </p:cNvPicPr>
          <p:nvPr/>
        </p:nvPicPr>
        <p:blipFill>
          <a:blip r:embed="rId4"/>
          <a:stretch>
            <a:fillRect/>
          </a:stretch>
        </p:blipFill>
        <p:spPr>
          <a:xfrm>
            <a:off x="6096000" y="1588715"/>
            <a:ext cx="5561342" cy="3123009"/>
          </a:xfrm>
          <a:prstGeom prst="roundRect">
            <a:avLst>
              <a:gd name="adj" fmla="val 6095"/>
            </a:avLst>
          </a:prstGeom>
          <a:solidFill>
            <a:srgbClr val="FFFFFF">
              <a:shade val="85000"/>
            </a:srgbClr>
          </a:solidFill>
          <a:ln>
            <a:noFill/>
          </a:ln>
          <a:effectLst>
            <a:outerShdw blurRad="50800" dist="38100" dir="13500000" algn="br" rotWithShape="0">
              <a:prstClr val="black">
                <a:alpha val="40000"/>
              </a:prstClr>
            </a:outerShdw>
          </a:effectLst>
        </p:spPr>
      </p:pic>
      <p:pic>
        <p:nvPicPr>
          <p:cNvPr id="5" name="Picture 39" descr="Картина, която съдържа кръг&#10;&#10;Генерирано от ИИ съдържание може да е неправилно.">
            <a:extLst>
              <a:ext uri="{FF2B5EF4-FFF2-40B4-BE49-F238E27FC236}">
                <a16:creationId xmlns:a16="http://schemas.microsoft.com/office/drawing/2014/main" id="{80A4119C-D153-788A-A2AC-80700C774042}"/>
              </a:ext>
            </a:extLst>
          </p:cNvPr>
          <p:cNvPicPr>
            <a:picLocks noChangeAspect="1"/>
          </p:cNvPicPr>
          <p:nvPr/>
        </p:nvPicPr>
        <p:blipFill>
          <a:blip r:embed="rId5"/>
          <a:stretch>
            <a:fillRect/>
          </a:stretch>
        </p:blipFill>
        <p:spPr>
          <a:xfrm>
            <a:off x="5385719" y="4113728"/>
            <a:ext cx="458365" cy="471295"/>
          </a:xfrm>
          <a:prstGeom prst="rect">
            <a:avLst/>
          </a:prstGeom>
        </p:spPr>
      </p:pic>
      <p:pic>
        <p:nvPicPr>
          <p:cNvPr id="6" name="Picture 39" descr="Картина, която съдържа кръг&#10;&#10;Генерирано от ИИ съдържание може да е неправилно.">
            <a:extLst>
              <a:ext uri="{FF2B5EF4-FFF2-40B4-BE49-F238E27FC236}">
                <a16:creationId xmlns:a16="http://schemas.microsoft.com/office/drawing/2014/main" id="{43C0A6D9-B4F7-0340-B877-79E7871C90CB}"/>
              </a:ext>
            </a:extLst>
          </p:cNvPr>
          <p:cNvPicPr>
            <a:picLocks noChangeAspect="1"/>
          </p:cNvPicPr>
          <p:nvPr/>
        </p:nvPicPr>
        <p:blipFill>
          <a:blip r:embed="rId5"/>
          <a:stretch>
            <a:fillRect/>
          </a:stretch>
        </p:blipFill>
        <p:spPr>
          <a:xfrm>
            <a:off x="11072041" y="4113728"/>
            <a:ext cx="458365" cy="471295"/>
          </a:xfrm>
          <a:prstGeom prst="rect">
            <a:avLst/>
          </a:prstGeom>
        </p:spPr>
      </p:pic>
    </p:spTree>
    <p:extLst>
      <p:ext uri="{BB962C8B-B14F-4D97-AF65-F5344CB8AC3E}">
        <p14:creationId xmlns:p14="http://schemas.microsoft.com/office/powerpoint/2010/main" val="3797872990"/>
      </p:ext>
    </p:extLst>
  </p:cSld>
  <p:clrMapOvr>
    <a:masterClrMapping/>
  </p:clrMapOvr>
  <p:extLst>
    <p:ext uri="{6950BFC3-D8DA-4A85-94F7-54DA5524770B}">
      <p188:commentRel xmlns:p188="http://schemas.microsoft.com/office/powerpoint/2018/8/main" r:id="rId2"/>
    </p:ext>
  </p:extLst>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1CDF110-4BF1-4645-B305-3F34CD1A7CCA}"/>
              </a:ext>
            </a:extLst>
          </p:cNvPr>
          <p:cNvPicPr>
            <a:picLocks noChangeAspect="1"/>
          </p:cNvPicPr>
          <p:nvPr/>
        </p:nvPicPr>
        <p:blipFill rotWithShape="1">
          <a:blip r:embed="rId2"/>
          <a:srcRect b="2353"/>
          <a:stretch/>
        </p:blipFill>
        <p:spPr>
          <a:xfrm>
            <a:off x="3318563" y="1383280"/>
            <a:ext cx="2687477" cy="4737586"/>
          </a:xfrm>
          <a:prstGeom prst="roundRect">
            <a:avLst>
              <a:gd name="adj" fmla="val 7166"/>
            </a:avLst>
          </a:prstGeom>
          <a:solidFill>
            <a:srgbClr val="FFFFFF">
              <a:shade val="85000"/>
            </a:srgbClr>
          </a:solidFill>
          <a:ln>
            <a:noFill/>
          </a:ln>
          <a:effectLst>
            <a:outerShdw blurRad="50800" dist="38100" dir="13500000" algn="br" rotWithShape="0">
              <a:prstClr val="black">
                <a:alpha val="40000"/>
              </a:prstClr>
            </a:outerShdw>
          </a:effectLst>
        </p:spPr>
      </p:pic>
      <p:sp>
        <p:nvSpPr>
          <p:cNvPr id="8" name="TextBox 7">
            <a:extLst>
              <a:ext uri="{FF2B5EF4-FFF2-40B4-BE49-F238E27FC236}">
                <a16:creationId xmlns:a16="http://schemas.microsoft.com/office/drawing/2014/main" id="{9228B34E-9328-487B-8648-45F0534275DA}"/>
              </a:ext>
            </a:extLst>
          </p:cNvPr>
          <p:cNvSpPr txBox="1"/>
          <p:nvPr/>
        </p:nvSpPr>
        <p:spPr>
          <a:xfrm>
            <a:off x="976347" y="481073"/>
            <a:ext cx="10056036" cy="584775"/>
          </a:xfrm>
          <a:prstGeom prst="rect">
            <a:avLst/>
          </a:prstGeom>
          <a:noFill/>
        </p:spPr>
        <p:txBody>
          <a:bodyPr wrap="square" lIns="91440" tIns="45720" rIns="91440" bIns="45720" rtlCol="0" anchor="t">
            <a:spAutoFit/>
          </a:bodyPr>
          <a:lstStyle/>
          <a:p>
            <a:pPr algn="ctr"/>
            <a:r>
              <a:rPr lang="bg-BG" sz="3200" b="1"/>
              <a:t>Примерна визуализация – Мобилен навигатор</a:t>
            </a:r>
          </a:p>
        </p:txBody>
      </p:sp>
      <p:pic>
        <p:nvPicPr>
          <p:cNvPr id="11" name="Picture 10">
            <a:extLst>
              <a:ext uri="{FF2B5EF4-FFF2-40B4-BE49-F238E27FC236}">
                <a16:creationId xmlns:a16="http://schemas.microsoft.com/office/drawing/2014/main" id="{1B328334-3DE4-4582-A7C4-E3EDE438B912}"/>
              </a:ext>
            </a:extLst>
          </p:cNvPr>
          <p:cNvPicPr>
            <a:picLocks noChangeAspect="1"/>
          </p:cNvPicPr>
          <p:nvPr/>
        </p:nvPicPr>
        <p:blipFill>
          <a:blip r:embed="rId3"/>
          <a:stretch>
            <a:fillRect/>
          </a:stretch>
        </p:blipFill>
        <p:spPr>
          <a:xfrm>
            <a:off x="406591" y="1383280"/>
            <a:ext cx="2687477" cy="4755151"/>
          </a:xfrm>
          <a:prstGeom prst="roundRect">
            <a:avLst>
              <a:gd name="adj" fmla="val 7166"/>
            </a:avLst>
          </a:prstGeom>
          <a:solidFill>
            <a:srgbClr val="FFFFFF">
              <a:shade val="85000"/>
            </a:srgbClr>
          </a:solidFill>
          <a:ln>
            <a:noFill/>
          </a:ln>
          <a:effectLst>
            <a:outerShdw blurRad="50800" dist="38100" dir="13500000" algn="br" rotWithShape="0">
              <a:prstClr val="black">
                <a:alpha val="40000"/>
              </a:prstClr>
            </a:outerShdw>
          </a:effectLst>
        </p:spPr>
      </p:pic>
      <p:pic>
        <p:nvPicPr>
          <p:cNvPr id="13" name="Picture 12">
            <a:extLst>
              <a:ext uri="{FF2B5EF4-FFF2-40B4-BE49-F238E27FC236}">
                <a16:creationId xmlns:a16="http://schemas.microsoft.com/office/drawing/2014/main" id="{9C115777-67B6-4175-8A66-C4905699B887}"/>
              </a:ext>
            </a:extLst>
          </p:cNvPr>
          <p:cNvPicPr>
            <a:picLocks noChangeAspect="1"/>
          </p:cNvPicPr>
          <p:nvPr/>
        </p:nvPicPr>
        <p:blipFill rotWithShape="1">
          <a:blip r:embed="rId4"/>
          <a:srcRect l="1219" t="823" r="1610" b="1151"/>
          <a:stretch/>
        </p:blipFill>
        <p:spPr>
          <a:xfrm>
            <a:off x="6238729" y="1399667"/>
            <a:ext cx="2632209" cy="4737586"/>
          </a:xfrm>
          <a:prstGeom prst="roundRect">
            <a:avLst>
              <a:gd name="adj" fmla="val 7166"/>
            </a:avLst>
          </a:prstGeom>
          <a:solidFill>
            <a:srgbClr val="FFFFFF">
              <a:shade val="85000"/>
            </a:srgbClr>
          </a:solidFill>
          <a:ln>
            <a:noFill/>
          </a:ln>
          <a:effectLst>
            <a:outerShdw blurRad="50800" dist="38100" dir="13500000" algn="br" rotWithShape="0">
              <a:prstClr val="black">
                <a:alpha val="40000"/>
              </a:prstClr>
            </a:outerShdw>
          </a:effectLst>
        </p:spPr>
      </p:pic>
      <p:pic>
        <p:nvPicPr>
          <p:cNvPr id="3" name="Picture 39" descr="Картина, която съдържа кръг&#10;&#10;Генерирано от ИИ съдържание може да е неправилно.">
            <a:extLst>
              <a:ext uri="{FF2B5EF4-FFF2-40B4-BE49-F238E27FC236}">
                <a16:creationId xmlns:a16="http://schemas.microsoft.com/office/drawing/2014/main" id="{96727ACD-9DBE-AB04-FA66-51F71AF47742}"/>
              </a:ext>
            </a:extLst>
          </p:cNvPr>
          <p:cNvPicPr>
            <a:picLocks noChangeAspect="1"/>
          </p:cNvPicPr>
          <p:nvPr/>
        </p:nvPicPr>
        <p:blipFill>
          <a:blip r:embed="rId5"/>
          <a:stretch>
            <a:fillRect/>
          </a:stretch>
        </p:blipFill>
        <p:spPr>
          <a:xfrm>
            <a:off x="2427848" y="5375536"/>
            <a:ext cx="532106" cy="545036"/>
          </a:xfrm>
          <a:prstGeom prst="rect">
            <a:avLst/>
          </a:prstGeom>
        </p:spPr>
      </p:pic>
      <p:pic>
        <p:nvPicPr>
          <p:cNvPr id="4" name="Picture 39" descr="Картина, която съдържа кръг&#10;&#10;Генерирано от ИИ съдържание може да е неправилно.">
            <a:extLst>
              <a:ext uri="{FF2B5EF4-FFF2-40B4-BE49-F238E27FC236}">
                <a16:creationId xmlns:a16="http://schemas.microsoft.com/office/drawing/2014/main" id="{51D14210-98E3-7134-80CB-B2E56785144B}"/>
              </a:ext>
            </a:extLst>
          </p:cNvPr>
          <p:cNvPicPr>
            <a:picLocks noChangeAspect="1"/>
          </p:cNvPicPr>
          <p:nvPr/>
        </p:nvPicPr>
        <p:blipFill>
          <a:blip r:embed="rId5"/>
          <a:stretch>
            <a:fillRect/>
          </a:stretch>
        </p:blipFill>
        <p:spPr>
          <a:xfrm>
            <a:off x="8253460" y="5400117"/>
            <a:ext cx="532106" cy="545036"/>
          </a:xfrm>
          <a:prstGeom prst="rect">
            <a:avLst/>
          </a:prstGeom>
        </p:spPr>
      </p:pic>
      <p:sp>
        <p:nvSpPr>
          <p:cNvPr id="6" name="Овал 5">
            <a:extLst>
              <a:ext uri="{FF2B5EF4-FFF2-40B4-BE49-F238E27FC236}">
                <a16:creationId xmlns:a16="http://schemas.microsoft.com/office/drawing/2014/main" id="{C7509EDD-4C50-793E-AD97-E9E6F8927A20}"/>
              </a:ext>
            </a:extLst>
          </p:cNvPr>
          <p:cNvSpPr/>
          <p:nvPr/>
        </p:nvSpPr>
        <p:spPr>
          <a:xfrm>
            <a:off x="8271387" y="5407742"/>
            <a:ext cx="491612" cy="503903"/>
          </a:xfrm>
          <a:prstGeom prst="ellipse">
            <a:avLst/>
          </a:prstGeom>
          <a:solidFill>
            <a:srgbClr val="042047">
              <a:alpha val="2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grpSp>
        <p:nvGrpSpPr>
          <p:cNvPr id="17" name="Групиране 16">
            <a:extLst>
              <a:ext uri="{FF2B5EF4-FFF2-40B4-BE49-F238E27FC236}">
                <a16:creationId xmlns:a16="http://schemas.microsoft.com/office/drawing/2014/main" id="{1948095E-7811-716B-B0F6-C37109737614}"/>
              </a:ext>
            </a:extLst>
          </p:cNvPr>
          <p:cNvGrpSpPr/>
          <p:nvPr/>
        </p:nvGrpSpPr>
        <p:grpSpPr>
          <a:xfrm>
            <a:off x="9131052" y="1399667"/>
            <a:ext cx="2638957" cy="4743277"/>
            <a:chOff x="9131052" y="1399667"/>
            <a:chExt cx="2638957" cy="4743277"/>
          </a:xfrm>
        </p:grpSpPr>
        <p:pic>
          <p:nvPicPr>
            <p:cNvPr id="7" name="Picture 12" descr="Картина, която съдържа текст, електроника, екранна снимка, Комуникационно устройство&#10;&#10;Генерирано от ИИ съдържание може да е неправилно.">
              <a:extLst>
                <a:ext uri="{FF2B5EF4-FFF2-40B4-BE49-F238E27FC236}">
                  <a16:creationId xmlns:a16="http://schemas.microsoft.com/office/drawing/2014/main" id="{BDE589B2-88E1-5537-43E0-01F7C09D2523}"/>
                </a:ext>
              </a:extLst>
            </p:cNvPr>
            <p:cNvPicPr>
              <a:picLocks noChangeAspect="1"/>
            </p:cNvPicPr>
            <p:nvPr/>
          </p:nvPicPr>
          <p:blipFill rotWithShape="1">
            <a:blip r:embed="rId4"/>
            <a:srcRect l="1219" t="823" r="1610" b="1151"/>
            <a:stretch/>
          </p:blipFill>
          <p:spPr>
            <a:xfrm>
              <a:off x="9131052" y="1399667"/>
              <a:ext cx="2632209" cy="4737586"/>
            </a:xfrm>
            <a:prstGeom prst="roundRect">
              <a:avLst>
                <a:gd name="adj" fmla="val 7166"/>
              </a:avLst>
            </a:prstGeom>
            <a:solidFill>
              <a:srgbClr val="FFFFFF">
                <a:shade val="85000"/>
              </a:srgbClr>
            </a:solidFill>
            <a:ln>
              <a:noFill/>
            </a:ln>
            <a:effectLst>
              <a:outerShdw blurRad="50800" dist="38100" dir="13500000" algn="br" rotWithShape="0">
                <a:prstClr val="black">
                  <a:alpha val="40000"/>
                </a:prstClr>
              </a:outerShdw>
            </a:effectLst>
          </p:spPr>
        </p:pic>
        <p:pic>
          <p:nvPicPr>
            <p:cNvPr id="10" name="Картина 9" descr="Картина, която съдържа текст, електроника, екранна снимка, софтуер&#10;&#10;Генерирано от ИИ съдържание може да е неправилно.">
              <a:extLst>
                <a:ext uri="{FF2B5EF4-FFF2-40B4-BE49-F238E27FC236}">
                  <a16:creationId xmlns:a16="http://schemas.microsoft.com/office/drawing/2014/main" id="{30500411-57A0-CC92-1FC5-2317BD4CAA0B}"/>
                </a:ext>
              </a:extLst>
            </p:cNvPr>
            <p:cNvPicPr>
              <a:picLocks noChangeAspect="1"/>
            </p:cNvPicPr>
            <p:nvPr/>
          </p:nvPicPr>
          <p:blipFill>
            <a:blip r:embed="rId6"/>
            <a:srcRect t="5765" r="-341" b="-242"/>
            <a:stretch>
              <a:fillRect/>
            </a:stretch>
          </p:blipFill>
          <p:spPr>
            <a:xfrm>
              <a:off x="9135942" y="1896906"/>
              <a:ext cx="2634067" cy="4246038"/>
            </a:xfrm>
            <a:prstGeom prst="roundRect">
              <a:avLst>
                <a:gd name="adj" fmla="val 8594"/>
              </a:avLst>
            </a:prstGeom>
            <a:solidFill>
              <a:srgbClr val="FFFFFF">
                <a:shade val="85000"/>
              </a:srgbClr>
            </a:solidFill>
            <a:ln>
              <a:noFill/>
            </a:ln>
            <a:effectLst/>
          </p:spPr>
        </p:pic>
        <p:sp>
          <p:nvSpPr>
            <p:cNvPr id="12" name="Правоъгълник 11">
              <a:extLst>
                <a:ext uri="{FF2B5EF4-FFF2-40B4-BE49-F238E27FC236}">
                  <a16:creationId xmlns:a16="http://schemas.microsoft.com/office/drawing/2014/main" id="{694E44D5-B5B6-EA7F-E75C-82ADC86CA5A5}"/>
                </a:ext>
              </a:extLst>
            </p:cNvPr>
            <p:cNvSpPr/>
            <p:nvPr/>
          </p:nvSpPr>
          <p:spPr>
            <a:xfrm>
              <a:off x="11445486" y="1898804"/>
              <a:ext cx="315951" cy="13009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14" name="Правоъгълник 13">
              <a:extLst>
                <a:ext uri="{FF2B5EF4-FFF2-40B4-BE49-F238E27FC236}">
                  <a16:creationId xmlns:a16="http://schemas.microsoft.com/office/drawing/2014/main" id="{36BB07A8-F167-4735-FD79-76972FAFA656}"/>
                </a:ext>
              </a:extLst>
            </p:cNvPr>
            <p:cNvSpPr/>
            <p:nvPr/>
          </p:nvSpPr>
          <p:spPr>
            <a:xfrm>
              <a:off x="9311268" y="2880731"/>
              <a:ext cx="2323170" cy="2527609"/>
            </a:xfrm>
            <a:prstGeom prst="rect">
              <a:avLst/>
            </a:prstGeom>
            <a:solidFill>
              <a:srgbClr val="F5F5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15" name="Правоъгълник: с два горни заоблени ъгъла 14">
              <a:extLst>
                <a:ext uri="{FF2B5EF4-FFF2-40B4-BE49-F238E27FC236}">
                  <a16:creationId xmlns:a16="http://schemas.microsoft.com/office/drawing/2014/main" id="{866C6F0F-C54D-A4A8-3904-16B1896A239E}"/>
                </a:ext>
              </a:extLst>
            </p:cNvPr>
            <p:cNvSpPr/>
            <p:nvPr/>
          </p:nvSpPr>
          <p:spPr>
            <a:xfrm>
              <a:off x="9205310" y="2036380"/>
              <a:ext cx="2469931" cy="319688"/>
            </a:xfrm>
            <a:prstGeom prst="round2SameRect">
              <a:avLst/>
            </a:prstGeom>
            <a:solidFill>
              <a:srgbClr val="3E3E3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16" name="Знак за умножение 15">
              <a:extLst>
                <a:ext uri="{FF2B5EF4-FFF2-40B4-BE49-F238E27FC236}">
                  <a16:creationId xmlns:a16="http://schemas.microsoft.com/office/drawing/2014/main" id="{B1157361-3664-7804-C008-657C30A0142F}"/>
                </a:ext>
              </a:extLst>
            </p:cNvPr>
            <p:cNvSpPr/>
            <p:nvPr/>
          </p:nvSpPr>
          <p:spPr>
            <a:xfrm>
              <a:off x="11276725" y="2023241"/>
              <a:ext cx="359103" cy="345967"/>
            </a:xfrm>
            <a:prstGeom prst="mathMultiply">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grpSp>
    </p:spTree>
    <p:extLst>
      <p:ext uri="{BB962C8B-B14F-4D97-AF65-F5344CB8AC3E}">
        <p14:creationId xmlns:p14="http://schemas.microsoft.com/office/powerpoint/2010/main" val="37471673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на Office">
  <a:themeElements>
    <a:clrScheme name="О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О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О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87af0b5b-6f2e-4a37-89b5-3ccd29cd1f81">
      <Terms xmlns="http://schemas.microsoft.com/office/infopath/2007/PartnerControls"/>
    </lcf76f155ced4ddcb4097134ff3c332f>
    <TaxCatchAll xmlns="33c618e2-65cc-48be-b8c8-1f1c6afd011f" xsi:nil="true"/>
  </documentManagement>
</p:properties>
</file>

<file path=customXml/item3.xml><?xml version="1.0" encoding="utf-8"?>
<ct:contentTypeSchema xmlns:ct="http://schemas.microsoft.com/office/2006/metadata/contentType" xmlns:ma="http://schemas.microsoft.com/office/2006/metadata/properties/metaAttributes" ct:_="" ma:_="" ma:contentTypeName="Документ" ma:contentTypeID="0x0101001C5AE82A68986D4DA2F21D0AEDAA5276" ma:contentTypeVersion="18" ma:contentTypeDescription="Създаване на нов документ" ma:contentTypeScope="" ma:versionID="ed6190f0f20bc8176bfe0b51504477f3">
  <xsd:schema xmlns:xsd="http://www.w3.org/2001/XMLSchema" xmlns:xs="http://www.w3.org/2001/XMLSchema" xmlns:p="http://schemas.microsoft.com/office/2006/metadata/properties" xmlns:ns2="87af0b5b-6f2e-4a37-89b5-3ccd29cd1f81" xmlns:ns3="33c618e2-65cc-48be-b8c8-1f1c6afd011f" targetNamespace="http://schemas.microsoft.com/office/2006/metadata/properties" ma:root="true" ma:fieldsID="ca5bc3c339193496aefa7a72c6a829ac" ns2:_="" ns3:_="">
    <xsd:import namespace="87af0b5b-6f2e-4a37-89b5-3ccd29cd1f81"/>
    <xsd:import namespace="33c618e2-65cc-48be-b8c8-1f1c6afd011f"/>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3:SharedWithUsers" minOccurs="0"/>
                <xsd:element ref="ns3:SharedWithDetails" minOccurs="0"/>
                <xsd:element ref="ns2:MediaServiceAutoKeyPoints" minOccurs="0"/>
                <xsd:element ref="ns2:MediaServiceKeyPoints"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7af0b5b-6f2e-4a37-89b5-3ccd29cd1f8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Length (seconds)" ma:internalName="MediaLengthInSeconds" ma:readOnly="true">
      <xsd:simpleType>
        <xsd:restriction base="dms:Unknown"/>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lcf76f155ced4ddcb4097134ff3c332f" ma:index="21" nillable="true" ma:taxonomy="true" ma:internalName="lcf76f155ced4ddcb4097134ff3c332f" ma:taxonomyFieldName="MediaServiceImageTags" ma:displayName="Етикети за изображения" ma:readOnly="false" ma:fieldId="{5cf76f15-5ced-4ddc-b409-7134ff3c332f}" ma:taxonomyMulti="true" ma:sspId="c7ecf53b-e94e-4dbd-b621-9471d334a096"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ternalName="MediaServiceLocation" ma:readOnly="true">
      <xsd:simpleType>
        <xsd:restriction base="dms:Text"/>
      </xsd:simple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3c618e2-65cc-48be-b8c8-1f1c6afd011f" elementFormDefault="qualified">
    <xsd:import namespace="http://schemas.microsoft.com/office/2006/documentManagement/types"/>
    <xsd:import namespace="http://schemas.microsoft.com/office/infopath/2007/PartnerControls"/>
    <xsd:element name="SharedWithUsers" ma:index="16" nillable="true" ma:displayName="Споделено с"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Споделени с подробности" ma:internalName="SharedWithDetails" ma:readOnly="true">
      <xsd:simpleType>
        <xsd:restriction base="dms:Note">
          <xsd:maxLength value="255"/>
        </xsd:restriction>
      </xsd:simpleType>
    </xsd:element>
    <xsd:element name="TaxCatchAll" ma:index="22" nillable="true" ma:displayName="Taxonomy Catch All Column" ma:hidden="true" ma:list="{612ca0e0-732d-4776-ad0d-fd7954764c10}" ma:internalName="TaxCatchAll" ma:showField="CatchAllData" ma:web="33c618e2-65cc-48be-b8c8-1f1c6afd011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Тип съдържание"/>
        <xsd:element ref="dc:title" minOccurs="0" maxOccurs="1" ma:index="4" ma:displayName="Заглавие"/>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705B2E2-0F1A-46F6-965C-B084245B8F25}">
  <ds:schemaRefs>
    <ds:schemaRef ds:uri="http://schemas.microsoft.com/sharepoint/v3/contenttype/forms"/>
  </ds:schemaRefs>
</ds:datastoreItem>
</file>

<file path=customXml/itemProps2.xml><?xml version="1.0" encoding="utf-8"?>
<ds:datastoreItem xmlns:ds="http://schemas.openxmlformats.org/officeDocument/2006/customXml" ds:itemID="{BBEF1660-6313-4D86-85F6-A43D46BDB9E7}">
  <ds:schemaRefs>
    <ds:schemaRef ds:uri="33c618e2-65cc-48be-b8c8-1f1c6afd011f"/>
    <ds:schemaRef ds:uri="87af0b5b-6f2e-4a37-89b5-3ccd29cd1f81"/>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7EAEA1DB-8FA0-4A0A-AABE-19A794992C50}"/>
</file>

<file path=docProps/app.xml><?xml version="1.0" encoding="utf-8"?>
<Properties xmlns="http://schemas.openxmlformats.org/officeDocument/2006/extended-properties" xmlns:vt="http://schemas.openxmlformats.org/officeDocument/2006/docPropsVTypes">
  <TotalTime>378</TotalTime>
  <Words>14187</Words>
  <Application>Microsoft Office PowerPoint</Application>
  <PresentationFormat>Widescreen</PresentationFormat>
  <Paragraphs>2352</Paragraphs>
  <Slides>140</Slides>
  <Notes>7</Notes>
  <HiddenSlides>0</HiddenSlides>
  <MMClips>0</MMClips>
  <ScaleCrop>false</ScaleCrop>
  <HeadingPairs>
    <vt:vector size="4" baseType="variant">
      <vt:variant>
        <vt:lpstr>Theme</vt:lpstr>
      </vt:variant>
      <vt:variant>
        <vt:i4>1</vt:i4>
      </vt:variant>
      <vt:variant>
        <vt:lpstr>Slide Titles</vt:lpstr>
      </vt:variant>
      <vt:variant>
        <vt:i4>140</vt:i4>
      </vt:variant>
    </vt:vector>
  </HeadingPairs>
  <TitlesOfParts>
    <vt:vector size="141"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Навигационно дърво</dc:title>
  <dc:subject>Навигационно дърво за Cursor</dc:subject>
  <dc:creator>OpenAI</dc:creator>
  <cp:lastModifiedBy>Nina Stankova</cp:lastModifiedBy>
  <cp:revision>754</cp:revision>
  <dcterms:created xsi:type="dcterms:W3CDTF">2026-03-17T13:55:31Z</dcterms:created>
  <dcterms:modified xsi:type="dcterms:W3CDTF">2026-06-02T11:37:49Z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0x0101001C5AE82A68986D4DA2F21D0AEDAA5276</vt:lpwstr>
  </property>
  <property fmtid="{D5CDD505-2E9C-101B-9397-08002B2CF9AE}" pid="3" name="MediaServiceImageTags">
    <vt:lpwstr/>
  </property>
</Properties>
</file>